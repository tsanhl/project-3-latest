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3" r:id="rId5"/>
    <p:sldId id="344" r:id="rId6"/>
    <p:sldId id="273" r:id="rId7"/>
    <p:sldId id="274" r:id="rId8"/>
    <p:sldId id="348" r:id="rId9"/>
    <p:sldId id="275" r:id="rId10"/>
    <p:sldId id="276" r:id="rId11"/>
    <p:sldId id="277" r:id="rId12"/>
    <p:sldId id="347" r:id="rId13"/>
    <p:sldId id="349" r:id="rId14"/>
    <p:sldId id="345" r:id="rId15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73"/>
    <p:restoredTop sz="80408"/>
  </p:normalViewPr>
  <p:slideViewPr>
    <p:cSldViewPr snapToGrid="0">
      <p:cViewPr varScale="1">
        <p:scale>
          <a:sx n="102" d="100"/>
          <a:sy n="102" d="100"/>
        </p:scale>
        <p:origin x="285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9D8A62-74C2-5242-9BD3-050EC355532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4F2BC-F496-DB48-8E0C-0CAC888D8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365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42D98AC-6B06-4B79-949D-9F6CB8A1B0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22792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2D98AC-6B06-4B79-949D-9F6CB8A1B05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850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7057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7412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5139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58691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1992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67433-AAF2-45B7-B6EB-FAB131162DF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980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A0574-5B59-5A46-81A1-D83B7EA497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14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A0574-5B59-5A46-81A1-D83B7EA497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0655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A0574-5B59-5A46-81A1-D83B7EA497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88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A0574-5B59-5A46-81A1-D83B7EA497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35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1726C1-1128-4479-BE45-4CD17A5EDF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230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983E8-1028-4BC1-9CFE-648A544E84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737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B9E8DC-36F4-4970-9B12-3B0C0F30B5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636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4B6AE-D3EF-4CE1-BD2E-0DC8DE26E7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939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9FF88D-FF8B-4748-9EA9-7DC520BD5B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80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4EA3E-64A1-4BE8-9E90-BCA1288A25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8755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B6736-DFC6-43C1-895E-67B06B98272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199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35581-CF58-4CC2-91C4-5F75D839D2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519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3362D1-CB0C-4683-8025-7FC8116F65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0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CDB42C-3168-40D0-B126-AAE10438945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0691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49E5-00CC-42C8-9A2C-41186B9985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5769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/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12D67B0-B4C9-4845-85BE-85F4A7F9AB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sz="quarter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GB" altLang="en-US" dirty="0">
                <a:latin typeface="Calibri" panose="020F0502020204030204" pitchFamily="34" charset="0"/>
              </a:rPr>
              <a:t>Contemporary Issues in the Law of the Internal Market 2024/2025</a:t>
            </a:r>
          </a:p>
        </p:txBody>
      </p:sp>
      <p:sp>
        <p:nvSpPr>
          <p:cNvPr id="10243" name="Subtitle 2"/>
          <p:cNvSpPr>
            <a:spLocks noGrp="1"/>
          </p:cNvSpPr>
          <p:nvPr>
            <p:ph type="subTitle" sz="quarter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>
                <a:latin typeface="Calibri" panose="020F0502020204030204" pitchFamily="34" charset="0"/>
              </a:rPr>
              <a:t>Lecture 15: Establishment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2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>
                <a:latin typeface="Calibri" panose="020F0502020204030204" pitchFamily="34" charset="0"/>
              </a:rPr>
              <a:t>Prof Pierre Schammo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200" dirty="0">
              <a:latin typeface="Calibri" panose="020F050202020403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200" dirty="0" err="1">
                <a:latin typeface="Calibri" panose="020F0502020204030204" pitchFamily="34" charset="0"/>
              </a:rPr>
              <a:t>pierre.schammo@durham.ac.uk</a:t>
            </a:r>
            <a:r>
              <a:rPr lang="en-GB" altLang="en-US" sz="2200" dirty="0">
                <a:latin typeface="Calibri" panose="020F0502020204030204" pitchFamily="34" charset="0"/>
              </a:rPr>
              <a:t>  </a:t>
            </a:r>
            <a:endParaRPr lang="en-GB" altLang="en-US" sz="2200" dirty="0">
              <a:solidFill>
                <a:srgbClr val="663366"/>
              </a:solidFill>
              <a:latin typeface="Calibri" panose="020F0502020204030204" pitchFamily="34" charset="0"/>
            </a:endParaRPr>
          </a:p>
          <a:p>
            <a:pPr eaLnBrk="1" hangingPunct="1"/>
            <a:endParaRPr lang="en-GB" altLang="en-US" sz="22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4615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9393"/>
            <a:ext cx="7772400" cy="1061545"/>
          </a:xfrm>
        </p:spPr>
        <p:txBody>
          <a:bodyPr/>
          <a:lstStyle/>
          <a:p>
            <a:pPr algn="ctr"/>
            <a:r>
              <a:rPr lang="en-US" dirty="0"/>
              <a:t>Tax and social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555531"/>
            <a:ext cx="7772400" cy="450660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GB" sz="3800" dirty="0"/>
              <a:t>No comparable provision to Article 7(2) of Regulation 492/11 in relation to self-employed</a:t>
            </a:r>
          </a:p>
          <a:p>
            <a:pPr>
              <a:lnSpc>
                <a:spcPct val="120000"/>
              </a:lnSpc>
            </a:pPr>
            <a:r>
              <a:rPr lang="en-GB" sz="3800" dirty="0"/>
              <a:t>But Court has used Art 49 law to prohibit discrimination in relation to tax and social advantages: e.g.:</a:t>
            </a:r>
          </a:p>
          <a:p>
            <a:pPr lvl="1">
              <a:lnSpc>
                <a:spcPct val="120000"/>
              </a:lnSpc>
            </a:pPr>
            <a:r>
              <a:rPr lang="en-GB" sz="3800" dirty="0"/>
              <a:t>Case 197/84 </a:t>
            </a:r>
            <a:r>
              <a:rPr lang="en-GB" sz="3800" dirty="0" err="1"/>
              <a:t>Steinhauser</a:t>
            </a:r>
            <a:r>
              <a:rPr lang="en-GB" sz="3800" dirty="0"/>
              <a:t> (discrimination in relation to allocation of rented business premises (i.e., allocation of public property))</a:t>
            </a:r>
          </a:p>
          <a:p>
            <a:pPr lvl="1">
              <a:lnSpc>
                <a:spcPct val="120000"/>
              </a:lnSpc>
            </a:pPr>
            <a:r>
              <a:rPr lang="en-GB" sz="3800" dirty="0"/>
              <a:t>Case C-63/86 Commission v Italy (preferential treatment for access to social housing and reduced rate mortgage loans)</a:t>
            </a:r>
          </a:p>
          <a:p>
            <a:pPr>
              <a:lnSpc>
                <a:spcPct val="120000"/>
              </a:lnSpc>
            </a:pPr>
            <a:r>
              <a:rPr lang="en-GB" sz="3800" dirty="0"/>
              <a:t>See now also principle of equal treatment in Art 24(1) of Dir. 2004/38</a:t>
            </a:r>
          </a:p>
          <a:p>
            <a:pPr lvl="1"/>
            <a:endParaRPr lang="en-GB" dirty="0"/>
          </a:p>
          <a:p>
            <a:pPr lvl="1"/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56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307" y="363256"/>
            <a:ext cx="8342334" cy="1064712"/>
          </a:xfrm>
        </p:spPr>
        <p:txBody>
          <a:bodyPr>
            <a:noAutofit/>
          </a:bodyPr>
          <a:lstStyle/>
          <a:p>
            <a:r>
              <a:rPr lang="en-US" sz="3700" dirty="0"/>
              <a:t>Right to have more than one establishment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427968"/>
            <a:ext cx="7772400" cy="4377520"/>
          </a:xfrm>
        </p:spPr>
        <p:txBody>
          <a:bodyPr>
            <a:normAutofit/>
          </a:bodyPr>
          <a:lstStyle/>
          <a:p>
            <a:r>
              <a:rPr lang="en-US" sz="3000" dirty="0"/>
              <a:t>Article 49 includes primary and secondary establishment</a:t>
            </a:r>
          </a:p>
          <a:p>
            <a:pPr lvl="1"/>
            <a:r>
              <a:rPr lang="en-US" sz="3000" dirty="0"/>
              <a:t>Applies to natural and legal persons (e.g. a subsidiary or a branch)</a:t>
            </a:r>
          </a:p>
          <a:p>
            <a:pPr lvl="1"/>
            <a:r>
              <a:rPr lang="en-US" sz="3000" dirty="0"/>
              <a:t>E.g. Case 107/83 Klopp (G national wishes to practice law as ‘avocat’ in France whilst also maintaining his chambers in Germany)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0502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5678"/>
            <a:ext cx="7772400" cy="825789"/>
          </a:xfrm>
        </p:spPr>
        <p:txBody>
          <a:bodyPr/>
          <a:lstStyle/>
          <a:p>
            <a:r>
              <a:rPr lang="en-US" dirty="0"/>
              <a:t>Non-discriminatory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15" y="1327759"/>
            <a:ext cx="7968098" cy="473483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sz="2600" dirty="0"/>
              <a:t>Rules which hinder or make less attractive the exercise of the freedom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Case C-55/94 </a:t>
            </a:r>
            <a:r>
              <a:rPr lang="en-US" sz="2600" dirty="0" err="1"/>
              <a:t>Gebhard</a:t>
            </a:r>
            <a:r>
              <a:rPr lang="en-US" sz="2600" dirty="0"/>
              <a:t> (rules regulating the exercise of a profession or of an economic activity)</a:t>
            </a:r>
          </a:p>
          <a:p>
            <a:pPr lvl="2">
              <a:lnSpc>
                <a:spcPct val="110000"/>
              </a:lnSpc>
            </a:pPr>
            <a:r>
              <a:rPr lang="en-US" sz="2600" dirty="0"/>
              <a:t>‘</a:t>
            </a:r>
            <a:r>
              <a:rPr lang="en-US" sz="2600" u="sng" dirty="0"/>
              <a:t>national measures liable to hinder or make less attractive the exercise of fundamental freedoms </a:t>
            </a:r>
            <a:r>
              <a:rPr lang="en-US" sz="2600" dirty="0"/>
              <a:t>…’ 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Need to be justified and must be proportionate if caught</a:t>
            </a:r>
          </a:p>
          <a:p>
            <a:pPr lvl="1">
              <a:lnSpc>
                <a:spcPct val="110000"/>
              </a:lnSpc>
            </a:pPr>
            <a:r>
              <a:rPr lang="en-US" sz="2600" dirty="0"/>
              <a:t>Problems with a non-discrimination based 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2600" dirty="0"/>
              <a:t>    approach?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80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25678"/>
            <a:ext cx="7772400" cy="791922"/>
          </a:xfrm>
        </p:spPr>
        <p:txBody>
          <a:bodyPr/>
          <a:lstStyle/>
          <a:p>
            <a:r>
              <a:rPr lang="en-US" dirty="0"/>
              <a:t>Non-discriminatory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515" y="1327759"/>
            <a:ext cx="7968098" cy="4734837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Case C-442/02 Caixa-Bank (rules restricting types of ‘services’: F rules prohibiting the remuneration of ‘sight’ current accounts in euros; Caixa Bank (F subsidiary of Spanish company) argues that F rules are an obstacle to effective and profitable pursuit of banking business; F rules contrary to Art 49 TFEU?)</a:t>
            </a:r>
          </a:p>
          <a:p>
            <a:pPr marL="857250" lvl="1"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See legal opinion in this case</a:t>
            </a:r>
          </a:p>
        </p:txBody>
      </p:sp>
    </p:spTree>
    <p:extLst>
      <p:ext uri="{BB962C8B-B14F-4D97-AF65-F5344CB8AC3E}">
        <p14:creationId xmlns:p14="http://schemas.microsoft.com/office/powerpoint/2010/main" val="208875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8204"/>
            <a:ext cx="7772400" cy="951977"/>
          </a:xfrm>
        </p:spPr>
        <p:txBody>
          <a:bodyPr/>
          <a:lstStyle/>
          <a:p>
            <a:r>
              <a:rPr lang="en-US" dirty="0"/>
              <a:t>Case C-442/02 </a:t>
            </a:r>
            <a:r>
              <a:rPr lang="en-US" dirty="0" err="1"/>
              <a:t>Caixa</a:t>
            </a:r>
            <a:r>
              <a:rPr lang="en-US" dirty="0"/>
              <a:t>-Bank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255" y="1427967"/>
            <a:ext cx="8430016" cy="4722311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ECJ: Rate of remuneration paid on ‘sight’ accounts constitutes method to compete with domestic banks 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2500" dirty="0"/>
              <a:t>Prohibition of remuneration of ‘sight’ accounts ‘hinders credit institutions which are subsidiaries of foreign companies in raising capital from the public, </a:t>
            </a:r>
            <a:r>
              <a:rPr lang="en-US" sz="2500" b="1" dirty="0"/>
              <a:t>by depriving them of the possibility of competing more effectively</a:t>
            </a:r>
            <a:r>
              <a:rPr lang="en-US" sz="2500" dirty="0"/>
              <a:t>, by paying remuneration on sight accounts, </a:t>
            </a:r>
            <a:r>
              <a:rPr lang="en-US" sz="2500" u="sng" dirty="0"/>
              <a:t>with the credit institutions traditionally established in the Member State of establishment</a:t>
            </a:r>
            <a:r>
              <a:rPr lang="en-US" sz="2500" dirty="0"/>
              <a:t>, which have an </a:t>
            </a:r>
            <a:r>
              <a:rPr lang="en-US" sz="2500" u="sng" dirty="0"/>
              <a:t>extensive network of branches and therefore greater opportunities </a:t>
            </a:r>
            <a:r>
              <a:rPr lang="en-US" sz="2500" dirty="0"/>
              <a:t>than those subsidiaries for raising capital from the public’</a:t>
            </a: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259001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885" y="288100"/>
            <a:ext cx="8718115" cy="1014608"/>
          </a:xfrm>
        </p:spPr>
        <p:txBody>
          <a:bodyPr/>
          <a:lstStyle/>
          <a:p>
            <a:r>
              <a:rPr lang="en-US" dirty="0"/>
              <a:t>Non-discriminatory barriers -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515532"/>
            <a:ext cx="7772400" cy="45804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/>
              <a:t>Non-discriminatory measures will not be caught if the effect of the rule is </a:t>
            </a:r>
            <a:r>
              <a:rPr lang="en-US" sz="2600" u="sng" dirty="0"/>
              <a:t>too uncertain or indirect</a:t>
            </a:r>
            <a:r>
              <a:rPr lang="en-US" sz="2600" dirty="0"/>
              <a:t>: Case C-418/93 Casa Uno – Italian law requiring retail shops to close on Sundays and public holidays – breach of Art 49 TFEU?</a:t>
            </a:r>
          </a:p>
          <a:p>
            <a:pPr lvl="1"/>
            <a:r>
              <a:rPr lang="en-GB" sz="2600" dirty="0"/>
              <a:t>‘any restrictive effects which [legislation in question] might have on freedom of establishment are </a:t>
            </a:r>
            <a:r>
              <a:rPr lang="en-GB" sz="2600" u="sng" dirty="0"/>
              <a:t>too uncertain and indirect </a:t>
            </a:r>
            <a:r>
              <a:rPr lang="en-GB" sz="2600" dirty="0"/>
              <a:t>for the obligation laid down to be regarded as being capable of hindering that freedom’.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17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81" y="263047"/>
            <a:ext cx="8505129" cy="136533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Controversies: regulatory competition and the right of establishment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781" y="1913981"/>
            <a:ext cx="8082419" cy="381635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What is regulatory competition?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200" dirty="0"/>
              <a:t>What is regulatory arbitrage?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3000" dirty="0"/>
              <a:t>Requires legal diversity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3000" dirty="0"/>
              <a:t>Requires mobility (e.g. mobility in a physical sense or mobility in a legal sense) 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F12FF-335E-7340-9F03-82DB27441577}"/>
              </a:ext>
            </a:extLst>
          </p:cNvPr>
          <p:cNvSpPr txBox="1"/>
          <p:nvPr/>
        </p:nvSpPr>
        <p:spPr>
          <a:xfrm>
            <a:off x="7102258" y="6012493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399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81" y="263047"/>
            <a:ext cx="8505129" cy="1365337"/>
          </a:xfrm>
        </p:spPr>
        <p:txBody>
          <a:bodyPr>
            <a:normAutofit fontScale="90000"/>
          </a:bodyPr>
          <a:lstStyle/>
          <a:p>
            <a:r>
              <a:rPr lang="en-GB" dirty="0"/>
              <a:t>Controversies: regulatory 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567" y="1628384"/>
            <a:ext cx="8154443" cy="4101947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Origins of the debate on regulatory competition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3000" dirty="0"/>
              <a:t>Regulatory competition and its effects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3000" dirty="0"/>
              <a:t>Race to the bottom?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3000" dirty="0"/>
              <a:t>Race to the top?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0343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5781" y="263047"/>
            <a:ext cx="8505129" cy="1100086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Regulatory competition and the EU internal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304" y="1524000"/>
            <a:ext cx="8755606" cy="4676384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Regulatory competition/arbitrage and legal integration 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Positive integration</a:t>
            </a:r>
          </a:p>
          <a:p>
            <a:pPr lvl="2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Facilitates movement, but national laws replaced by EU legislative act</a:t>
            </a:r>
          </a:p>
          <a:p>
            <a:pPr lvl="1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Negative integration  </a:t>
            </a:r>
          </a:p>
          <a:p>
            <a:pPr lvl="2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Barriers to free movement struck down</a:t>
            </a:r>
          </a:p>
          <a:p>
            <a:pPr lvl="2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Facilitates movement </a:t>
            </a:r>
            <a:r>
              <a:rPr lang="en-GB" sz="2400" u="sng" dirty="0"/>
              <a:t>and</a:t>
            </a:r>
            <a:r>
              <a:rPr lang="en-GB" sz="2400" dirty="0"/>
              <a:t> legal diversity among Member States persists </a:t>
            </a:r>
          </a:p>
          <a:p>
            <a:pPr lvl="2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GB" sz="2400" dirty="0"/>
              <a:t>Hence, the way in which the Court applies right of establishment provisions can facilitate regulatory 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en-GB" sz="2400" dirty="0"/>
              <a:t>   arbitrage and regulatory competition</a:t>
            </a:r>
          </a:p>
          <a:p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342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909" y="262468"/>
            <a:ext cx="8119998" cy="778932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Company mobility </a:t>
            </a:r>
            <a:r>
              <a:rPr lang="en-GB"/>
              <a:t>– scenarios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909" y="1303867"/>
            <a:ext cx="7958704" cy="4775200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Companies may want </a:t>
            </a:r>
            <a:r>
              <a:rPr lang="en-GB" sz="2400"/>
              <a:t>to move in </a:t>
            </a:r>
            <a:r>
              <a:rPr lang="en-GB" sz="2400" dirty="0"/>
              <a:t>different ways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Scenario 1: incorporation – re-incorporation scenario (e.g. a German AG becomes an Irish plc)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Scenario 2: incorporation in one M-S, but actual place of business situated in another M-S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Possibilities to take advantage of scenario 1 or 2 must be seen against the background of the Court’s case law on the right of establishment 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Most of the case law on scenario 2</a:t>
            </a: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GB" sz="2400" dirty="0"/>
              <a:t>Case law somewhat complex and testifies to evolution in court’s thinking over time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5136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|32.7|23.1|126.7|7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14.3|5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1|25.2|91.8|41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8|136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15|219.7|47.7|91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|138.6|119.7"/>
</p:tagLst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9" ma:contentTypeDescription="Create a new document." ma:contentTypeScope="" ma:versionID="65e6d05ec05cb74dd9706b1e5cf7fbb0">
  <xsd:schema xmlns:xsd="http://www.w3.org/2001/XMLSchema" xmlns:xs="http://www.w3.org/2001/XMLSchema" xmlns:p="http://schemas.microsoft.com/office/2006/metadata/properties" xmlns:ns3="3cc0b812-7f7d-4aca-acca-000f424f7da7" targetNamespace="http://schemas.microsoft.com/office/2006/metadata/properties" ma:root="true" ma:fieldsID="d26e22a320b4c5202789874931af9409" ns3:_="">
    <xsd:import namespace="3cc0b812-7f7d-4aca-acca-000f424f7da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D00AA2-2D20-45D3-87DF-ADE1070BF29A}">
  <ds:schemaRefs>
    <ds:schemaRef ds:uri="http://purl.org/dc/dcmitype/"/>
    <ds:schemaRef ds:uri="http://schemas.microsoft.com/office/infopath/2007/PartnerControls"/>
    <ds:schemaRef ds:uri="http://www.w3.org/XML/1998/namespace"/>
    <ds:schemaRef ds:uri="3cc0b812-7f7d-4aca-acca-000f424f7da7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2E108D4-2630-4149-81E7-B1444E95F785}">
  <ds:schemaRefs>
    <ds:schemaRef ds:uri="3cc0b812-7f7d-4aca-acca-000f424f7da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9FEA3A7-1379-41AE-B8EB-45EA0BB6EB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732</Words>
  <Application>Microsoft Macintosh PowerPoint</Application>
  <PresentationFormat>On-screen Show (4:3)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</vt:lpstr>
      <vt:lpstr>Blank</vt:lpstr>
      <vt:lpstr>Contemporary Issues in the Law of the Internal Market 2024/2025</vt:lpstr>
      <vt:lpstr>Tax and social advantages</vt:lpstr>
      <vt:lpstr>Right to have more than one establishment</vt:lpstr>
      <vt:lpstr>Non-discriminatory barriers</vt:lpstr>
      <vt:lpstr>Non-discriminatory barriers</vt:lpstr>
      <vt:lpstr>Case C-442/02 Caixa-Bank</vt:lpstr>
      <vt:lpstr>Non-discriminatory barriers - limits</vt:lpstr>
      <vt:lpstr>Controversies: regulatory competition and the right of establishment</vt:lpstr>
      <vt:lpstr>Controversies: regulatory competition</vt:lpstr>
      <vt:lpstr>Regulatory competition and the EU internal market</vt:lpstr>
      <vt:lpstr>Company mobility – scenarios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Contemporary Issues in the Law of the Internal Market 2020/2021</dc:title>
  <dc:creator>Pierre Schammo</dc:creator>
  <cp:lastModifiedBy>SCHAMMO, PIERRE J.</cp:lastModifiedBy>
  <cp:revision>18</cp:revision>
  <cp:lastPrinted>2025-02-13T15:11:01Z</cp:lastPrinted>
  <dcterms:created xsi:type="dcterms:W3CDTF">2021-01-22T06:06:39Z</dcterms:created>
  <dcterms:modified xsi:type="dcterms:W3CDTF">2025-02-14T10:09:15Z</dcterms:modified>
</cp:coreProperties>
</file>