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23" r:id="rId5"/>
    <p:sldId id="338" r:id="rId6"/>
    <p:sldId id="339" r:id="rId7"/>
    <p:sldId id="270" r:id="rId8"/>
    <p:sldId id="271" r:id="rId9"/>
    <p:sldId id="340" r:id="rId10"/>
    <p:sldId id="341" r:id="rId11"/>
    <p:sldId id="342" r:id="rId12"/>
    <p:sldId id="260" r:id="rId13"/>
    <p:sldId id="272" r:id="rId14"/>
    <p:sldId id="343" r:id="rId15"/>
  </p:sldIdLst>
  <p:sldSz cx="9144000" cy="6858000" type="screen4x3"/>
  <p:notesSz cx="6797675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6"/>
    <p:restoredTop sz="45968" autoAdjust="0"/>
  </p:normalViewPr>
  <p:slideViewPr>
    <p:cSldViewPr snapToGrid="0">
      <p:cViewPr varScale="1">
        <p:scale>
          <a:sx n="82" d="100"/>
          <a:sy n="82" d="100"/>
        </p:scale>
        <p:origin x="552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D8A62-74C2-5242-9BD3-050EC3555325}" type="datetimeFigureOut">
              <a:rPr lang="en-US" smtClean="0"/>
              <a:t>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4F2BC-F496-DB48-8E0C-0CAC888D8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365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42D98AC-6B06-4B79-949D-9F6CB8A1B0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2792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2D98AC-6B06-4B79-949D-9F6CB8A1B05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850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1371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43695-3E1F-4671-8E4C-9741D5CEBDB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563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43695-3E1F-4671-8E4C-9741D5CEBDB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442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43695-3E1F-4671-8E4C-9741D5CEBDB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782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i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157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858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760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957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819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5516563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755650" y="47625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27088" y="2420938"/>
            <a:ext cx="7561262" cy="1752600"/>
          </a:xfrm>
        </p:spPr>
        <p:txBody>
          <a:bodyPr/>
          <a:lstStyle>
            <a:lvl1pPr marL="0" indent="0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726C1-1128-4479-BE45-4CD17A5EDF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30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983E8-1028-4BC1-9CFE-648A544E84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37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B9E8DC-36F4-4970-9B12-3B0C0F30B5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63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4B6AE-D3EF-4CE1-BD2E-0DC8DE26E7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939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FF88D-FF8B-4748-9EA9-7DC520BD5B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80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4EA3E-64A1-4BE8-9E90-BCA1288A25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75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B6736-DFC6-43C1-895E-67B06B9827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199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35581-CF58-4CC2-91C4-5F75D839D2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519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362D1-CB0C-4683-8025-7FC8116F65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90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CDB42C-3168-40D0-B126-AAE1043894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69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195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195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B049E5-00CC-42C8-9A2C-41186B9985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76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0" y="0"/>
            <a:ext cx="9140825" cy="6873875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r>
              <a:rPr lang="en-GB" altLang="en-US">
                <a:solidFill>
                  <a:srgbClr val="663366"/>
                </a:solidFill>
              </a:rPr>
              <a:t>∂</a:t>
            </a:r>
          </a:p>
        </p:txBody>
      </p:sp>
      <p:sp>
        <p:nvSpPr>
          <p:cNvPr id="1027" name="Rectangle 8"/>
          <p:cNvSpPr>
            <a:spLocks noChangeArrowheads="1"/>
          </p:cNvSpPr>
          <p:nvPr userDrawn="1"/>
        </p:nvSpPr>
        <p:spPr bwMode="auto">
          <a:xfrm>
            <a:off x="107950" y="107950"/>
            <a:ext cx="8924925" cy="665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Heading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12D67B0-B4C9-4845-85BE-85F4A7F9AB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790575" y="611188"/>
            <a:ext cx="8024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defRPr/>
            </a:pPr>
            <a:endParaRPr lang="en-US" altLang="en-US" sz="4400">
              <a:solidFill>
                <a:schemeClr val="bg1"/>
              </a:solidFill>
            </a:endParaRP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790575" y="1798638"/>
            <a:ext cx="8024813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1035" name="Picture 1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 sz="quarter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dirty="0">
                <a:latin typeface="Calibri" panose="020F0502020204030204" pitchFamily="34" charset="0"/>
              </a:rPr>
              <a:t>Contemporary Issues in the Law of the Internal Market 2024/2025</a:t>
            </a:r>
          </a:p>
        </p:txBody>
      </p:sp>
      <p:sp>
        <p:nvSpPr>
          <p:cNvPr id="10243" name="Subtitle 2"/>
          <p:cNvSpPr>
            <a:spLocks noGrp="1"/>
          </p:cNvSpPr>
          <p:nvPr>
            <p:ph type="subTitle" sz="quarter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200" dirty="0">
                <a:latin typeface="Calibri" panose="020F0502020204030204" pitchFamily="34" charset="0"/>
              </a:rPr>
              <a:t>Lecture 14: Establishment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sz="22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200">
                <a:latin typeface="Calibri" panose="020F0502020204030204" pitchFamily="34" charset="0"/>
              </a:rPr>
              <a:t>Prof Pierre </a:t>
            </a:r>
            <a:r>
              <a:rPr lang="en-GB" altLang="en-US" sz="2200" dirty="0">
                <a:latin typeface="Calibri" panose="020F0502020204030204" pitchFamily="34" charset="0"/>
              </a:rPr>
              <a:t>Schammo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sz="22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200" dirty="0" err="1">
                <a:latin typeface="Calibri" panose="020F0502020204030204" pitchFamily="34" charset="0"/>
              </a:rPr>
              <a:t>pierre.schammo@durham.ac.uk</a:t>
            </a:r>
            <a:r>
              <a:rPr lang="en-GB" altLang="en-US" sz="2200" dirty="0">
                <a:latin typeface="Calibri" panose="020F0502020204030204" pitchFamily="34" charset="0"/>
              </a:rPr>
              <a:t>  </a:t>
            </a:r>
            <a:endParaRPr lang="en-GB" altLang="en-US" sz="2200" dirty="0">
              <a:solidFill>
                <a:srgbClr val="663366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GB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615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88640"/>
            <a:ext cx="7772400" cy="1368152"/>
          </a:xfrm>
        </p:spPr>
        <p:txBody>
          <a:bodyPr/>
          <a:lstStyle/>
          <a:p>
            <a:r>
              <a:rPr lang="en-GB"/>
              <a:t>Right of Establishment - 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628800"/>
            <a:ext cx="7772400" cy="4176688"/>
          </a:xfrm>
        </p:spPr>
        <p:txBody>
          <a:bodyPr>
            <a:normAutofit/>
          </a:bodyPr>
          <a:lstStyle/>
          <a:p>
            <a:r>
              <a:rPr lang="en-GB" sz="2000"/>
              <a:t>Art 49 TFEU: restrictions on the freedom of establishment of nationals of a M-S in the territory of another M-S are prohibited</a:t>
            </a:r>
          </a:p>
          <a:p>
            <a:pPr lvl="1"/>
            <a:r>
              <a:rPr lang="en-GB" sz="2000"/>
              <a:t>Includes primary establishment </a:t>
            </a:r>
          </a:p>
          <a:p>
            <a:pPr lvl="2"/>
            <a:r>
              <a:rPr lang="en-GB" sz="2000"/>
              <a:t>In case of companies: right to set up and manage undertakings</a:t>
            </a:r>
          </a:p>
          <a:p>
            <a:pPr lvl="1"/>
            <a:r>
              <a:rPr lang="en-GB" sz="2000"/>
              <a:t>Includes secondary establishment</a:t>
            </a:r>
          </a:p>
          <a:p>
            <a:pPr lvl="2"/>
            <a:r>
              <a:rPr lang="en-GB" sz="2000"/>
              <a:t>In case of companies: right to set-up agencies, branches or subsidiaries </a:t>
            </a:r>
          </a:p>
          <a:p>
            <a:r>
              <a:rPr lang="en-GB" sz="2000"/>
              <a:t>Art 51 TFEU: exception for activities connected with exercise of official authority</a:t>
            </a:r>
          </a:p>
          <a:p>
            <a:r>
              <a:rPr lang="en-GB" sz="2000"/>
              <a:t>Art 52 TFEU: public policy,-security, -health justifications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424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personal scope of Art 49 TFEU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500"/>
              <a:t>Art 49 applies to self-employed persons</a:t>
            </a:r>
          </a:p>
          <a:p>
            <a:r>
              <a:rPr lang="en-GB" sz="2500"/>
              <a:t>Differentiate workers (Art 45 TFEU) from self-employed persons (Art 49 TFEU)</a:t>
            </a:r>
          </a:p>
          <a:p>
            <a:pPr lvl="1"/>
            <a:r>
              <a:rPr lang="en-GB" sz="2500"/>
              <a:t>Case C-268/99 </a:t>
            </a:r>
            <a:r>
              <a:rPr lang="en-GB" sz="2500" err="1"/>
              <a:t>Jany</a:t>
            </a:r>
          </a:p>
          <a:p>
            <a:r>
              <a:rPr lang="en-GB" sz="2500"/>
              <a:t>Differentiate free movement of services (Art 56 TFEU) from the right of establishment (Art 49 TFEU)</a:t>
            </a:r>
          </a:p>
          <a:p>
            <a:pPr lvl="1"/>
            <a:r>
              <a:rPr lang="en-GB" sz="2500"/>
              <a:t>Case C-55/94 </a:t>
            </a:r>
            <a:r>
              <a:rPr lang="en-GB" sz="2500" err="1"/>
              <a:t>Gebhard</a:t>
            </a:r>
            <a:endParaRPr lang="en-GB" sz="25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857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Art 49 TFEU vs Art 56 TFEU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752600"/>
            <a:ext cx="7772400" cy="4052888"/>
          </a:xfrm>
        </p:spPr>
        <p:txBody>
          <a:bodyPr>
            <a:norm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sz="2200" i="1"/>
              <a:t>‘The </a:t>
            </a:r>
            <a:r>
              <a:rPr lang="en-GB" sz="2200" b="1" i="1"/>
              <a:t>concept of establishment</a:t>
            </a:r>
            <a:r>
              <a:rPr lang="en-GB" sz="2200" i="1"/>
              <a:t> … is … a very broad one, allowing a Community national to participate, </a:t>
            </a:r>
            <a:r>
              <a:rPr lang="en-GB" sz="2200" i="1" u="sng"/>
              <a:t>on a stable and continuous basis</a:t>
            </a:r>
            <a:r>
              <a:rPr lang="en-GB" sz="2200" i="1"/>
              <a:t>, in the </a:t>
            </a:r>
            <a:r>
              <a:rPr lang="en-GB" sz="2200" i="1" u="sng"/>
              <a:t>economic life</a:t>
            </a:r>
            <a:r>
              <a:rPr lang="en-GB" sz="2200" i="1"/>
              <a:t> of a Member State other than his State of origin and to profit therefrom, so </a:t>
            </a:r>
            <a:r>
              <a:rPr lang="en-GB" sz="2200" i="1" u="sng"/>
              <a:t>contributing to economic and social interpenetration within the Community</a:t>
            </a:r>
            <a:r>
              <a:rPr lang="en-GB" sz="2200" i="1"/>
              <a:t> in the sphere of activities as self-employed persons … </a:t>
            </a:r>
            <a:r>
              <a:rPr lang="en-GB" sz="2200" b="1" i="1"/>
              <a:t>In contrast, where the provider of services</a:t>
            </a:r>
            <a:r>
              <a:rPr lang="en-GB" sz="2200" i="1"/>
              <a:t> moves to another Member State, the provisions of the chapter on services …  envisage that he is to pursue his activity there on </a:t>
            </a:r>
            <a:r>
              <a:rPr lang="en-GB" sz="2200" i="1" u="sng"/>
              <a:t>a temporary basis</a:t>
            </a:r>
            <a:r>
              <a:rPr lang="en-GB" sz="2200" i="1"/>
              <a:t>’. </a:t>
            </a:r>
            <a:r>
              <a:rPr lang="en-GB" sz="2200"/>
              <a:t>Case C-55/94 </a:t>
            </a:r>
            <a:r>
              <a:rPr lang="en-GB" sz="2200" err="1"/>
              <a:t>Gebhard</a:t>
            </a:r>
            <a:endParaRPr lang="en-GB" sz="2200"/>
          </a:p>
          <a:p>
            <a:endParaRPr lang="en-GB" b="1" i="1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39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424936" cy="1491952"/>
          </a:xfrm>
        </p:spPr>
        <p:txBody>
          <a:bodyPr>
            <a:normAutofit/>
          </a:bodyPr>
          <a:lstStyle/>
          <a:p>
            <a:r>
              <a:rPr lang="en-GB"/>
              <a:t>The personal scope of Art 49 TFEU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752600"/>
            <a:ext cx="7772400" cy="4484712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GB" sz="7600"/>
              <a:t>Art 49 TFEU applies to both individuals (= natural persons) and corporate entities (= legal persons)</a:t>
            </a:r>
          </a:p>
          <a:p>
            <a:pPr lvl="1">
              <a:lnSpc>
                <a:spcPct val="120000"/>
              </a:lnSpc>
            </a:pPr>
            <a:r>
              <a:rPr lang="en-GB" sz="7600"/>
              <a:t>For natural persons: presupposes that person is a national of a M-S (see Art 49 TFEU)</a:t>
            </a:r>
          </a:p>
          <a:p>
            <a:pPr lvl="1">
              <a:lnSpc>
                <a:spcPct val="120000"/>
              </a:lnSpc>
            </a:pPr>
            <a:r>
              <a:rPr lang="en-GB" sz="7600"/>
              <a:t>For legal persons, M-Ss have the power to define the connecting factor required of a company if it is to be regarded as incorporated under their laws (e.g. Case 210/06 </a:t>
            </a:r>
            <a:r>
              <a:rPr lang="en-GB" sz="7600" err="1"/>
              <a:t>Cartesio</a:t>
            </a:r>
            <a:r>
              <a:rPr lang="en-GB" sz="7600"/>
              <a:t>)</a:t>
            </a:r>
          </a:p>
          <a:p>
            <a:pPr lvl="3">
              <a:lnSpc>
                <a:spcPct val="120000"/>
              </a:lnSpc>
            </a:pPr>
            <a:r>
              <a:rPr lang="en-GB" sz="7600"/>
              <a:t>In this context, M-Ss have applied two different doctrines: </a:t>
            </a:r>
          </a:p>
          <a:p>
            <a:pPr lvl="4">
              <a:lnSpc>
                <a:spcPct val="120000"/>
              </a:lnSpc>
            </a:pPr>
            <a:r>
              <a:rPr lang="en-GB" sz="7600"/>
              <a:t>Incorporation doctrine </a:t>
            </a:r>
          </a:p>
          <a:p>
            <a:pPr lvl="4">
              <a:lnSpc>
                <a:spcPct val="120000"/>
              </a:lnSpc>
            </a:pPr>
            <a:r>
              <a:rPr lang="en-GB" sz="7600"/>
              <a:t>Real seat doctrine</a:t>
            </a:r>
          </a:p>
          <a:p>
            <a:pPr lvl="3">
              <a:lnSpc>
                <a:spcPct val="120000"/>
              </a:lnSpc>
            </a:pPr>
            <a:r>
              <a:rPr lang="en-GB" sz="7600"/>
              <a:t>Art 54 TFEU recognises variety of (nat.) </a:t>
            </a:r>
          </a:p>
          <a:p>
            <a:pPr marL="1371600" lvl="3" indent="0">
              <a:lnSpc>
                <a:spcPct val="120000"/>
              </a:lnSpc>
              <a:buNone/>
            </a:pPr>
            <a:r>
              <a:rPr lang="en-GB" sz="7600"/>
              <a:t>    connecting factors </a:t>
            </a:r>
          </a:p>
          <a:p>
            <a:pPr lvl="1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323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Purely Internal Situations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400"/>
              <a:t>Article 49 does not apply to purely internal situations</a:t>
            </a:r>
          </a:p>
          <a:p>
            <a:pPr lvl="1">
              <a:lnSpc>
                <a:spcPct val="120000"/>
              </a:lnSpc>
            </a:pPr>
            <a:r>
              <a:rPr lang="en-GB" sz="2400"/>
              <a:t>No intra-Union element</a:t>
            </a:r>
          </a:p>
          <a:p>
            <a:pPr>
              <a:lnSpc>
                <a:spcPct val="120000"/>
              </a:lnSpc>
            </a:pPr>
            <a:r>
              <a:rPr lang="en-GB" sz="2400"/>
              <a:t>But intra-Union element found in e.g.:</a:t>
            </a:r>
          </a:p>
          <a:p>
            <a:pPr lvl="1">
              <a:lnSpc>
                <a:spcPct val="120000"/>
              </a:lnSpc>
            </a:pPr>
            <a:r>
              <a:rPr lang="en-GB" sz="2400"/>
              <a:t>C-19/92 Kraus (German national having studied in the UK; G rules prevent use of British LLM title in Germany without prior authorisation)</a:t>
            </a:r>
            <a:endParaRPr lang="en-GB"/>
          </a:p>
          <a:p>
            <a:pPr lvl="1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256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08912" cy="1080120"/>
          </a:xfrm>
        </p:spPr>
        <p:txBody>
          <a:bodyPr>
            <a:normAutofit fontScale="90000"/>
          </a:bodyPr>
          <a:lstStyle/>
          <a:p>
            <a:r>
              <a:rPr lang="en-US"/>
              <a:t>Against whom can you rely on Art 49?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80920" cy="4896544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Vertical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Semi-horizontal (because of the ‘collective’ nature of private rules, private actions)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Horizontal?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400"/>
              <a:t>Case C-438/05 Viking (Finish operator of ferry services between Finland and Estonia; wishes to change its place of establishment to Estonia to benefit from lower wage levels; Finish trade union threatens strike action; can Viking rely on Art 49 TFEU?)’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159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1296144"/>
          </a:xfrm>
        </p:spPr>
        <p:txBody>
          <a:bodyPr>
            <a:normAutofit fontScale="90000"/>
          </a:bodyPr>
          <a:lstStyle/>
          <a:p>
            <a:r>
              <a:rPr lang="en-US"/>
              <a:t>Material scope – which rights are granted by Art 49 TFEU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772816"/>
            <a:ext cx="7772400" cy="4176464"/>
          </a:xfrm>
        </p:spPr>
        <p:txBody>
          <a:bodyPr>
            <a:normAutofit fontScale="92500"/>
          </a:bodyPr>
          <a:lstStyle/>
          <a:p>
            <a:r>
              <a:rPr lang="en-US" sz="2500"/>
              <a:t>Right to leave, enter and stay</a:t>
            </a:r>
          </a:p>
          <a:p>
            <a:pPr lvl="1"/>
            <a:r>
              <a:rPr lang="en-US" sz="2500"/>
              <a:t>Dir. 2004/38 applies to natural persons</a:t>
            </a:r>
          </a:p>
          <a:p>
            <a:pPr lvl="1"/>
            <a:r>
              <a:rPr lang="en-US" sz="2500"/>
              <a:t>For legal persons (companies), legal position is more complex (see below)</a:t>
            </a:r>
          </a:p>
          <a:p>
            <a:r>
              <a:rPr lang="en-US" sz="2500"/>
              <a:t>Right to bring family members</a:t>
            </a:r>
          </a:p>
          <a:p>
            <a:pPr lvl="1"/>
            <a:r>
              <a:rPr lang="en-US" sz="2500"/>
              <a:t>Dir. 2004/38 applies</a:t>
            </a:r>
          </a:p>
          <a:p>
            <a:r>
              <a:rPr lang="en-US" sz="2500"/>
              <a:t>Treaty derogations apply (public policy, -security, -health)</a:t>
            </a:r>
          </a:p>
          <a:p>
            <a:pPr lvl="1"/>
            <a:r>
              <a:rPr lang="en-US" sz="2500"/>
              <a:t>See Dir. 2004/38 (and Art 52 TFEU)</a:t>
            </a:r>
          </a:p>
          <a:p>
            <a:r>
              <a:rPr lang="en-US" sz="2500"/>
              <a:t>Retention of status of self-employed: Art 7(3) of</a:t>
            </a:r>
          </a:p>
          <a:p>
            <a:r>
              <a:rPr lang="en-US" sz="2500"/>
              <a:t>Dir. 2004/38 (same as for workers)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292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52928" cy="1080120"/>
          </a:xfrm>
        </p:spPr>
        <p:txBody>
          <a:bodyPr>
            <a:normAutofit fontScale="90000"/>
          </a:bodyPr>
          <a:lstStyle/>
          <a:p>
            <a:r>
              <a:rPr lang="en-US"/>
              <a:t>Which rights are granted – right not to be discriminated against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8208911" cy="41046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00"/>
              <a:t>Direct discrimination is prohibited</a:t>
            </a:r>
          </a:p>
          <a:p>
            <a:pPr lvl="1">
              <a:lnSpc>
                <a:spcPct val="120000"/>
              </a:lnSpc>
            </a:pPr>
            <a:r>
              <a:rPr lang="en-US" sz="2000"/>
              <a:t>can be </a:t>
            </a:r>
            <a:r>
              <a:rPr lang="en-US" sz="2000" u="sng"/>
              <a:t>justified,</a:t>
            </a:r>
            <a:r>
              <a:rPr lang="en-US" sz="2000"/>
              <a:t> but national measure will only be lawful if it is also </a:t>
            </a:r>
            <a:r>
              <a:rPr lang="en-US" sz="2000" u="sng"/>
              <a:t>proportionate</a:t>
            </a:r>
            <a:r>
              <a:rPr lang="en-US" sz="2000"/>
              <a:t>; where appropriate measure must also be </a:t>
            </a:r>
            <a:r>
              <a:rPr lang="en-US" sz="2000" u="sng"/>
              <a:t>compatible with FHR</a:t>
            </a:r>
          </a:p>
          <a:p>
            <a:pPr lvl="2">
              <a:lnSpc>
                <a:spcPct val="120000"/>
              </a:lnSpc>
            </a:pPr>
            <a:r>
              <a:rPr lang="en-US" sz="2000"/>
              <a:t>Justifications are limited: see Treaty derogations (Art 52 TFEU) and Dir. 2004/38: public policy, -security, -health</a:t>
            </a:r>
          </a:p>
          <a:p>
            <a:pPr lvl="2">
              <a:lnSpc>
                <a:spcPct val="120000"/>
              </a:lnSpc>
            </a:pPr>
            <a:r>
              <a:rPr lang="en-US" sz="2000"/>
              <a:t>Narrow interpretation</a:t>
            </a:r>
          </a:p>
          <a:p>
            <a:pPr lvl="1">
              <a:lnSpc>
                <a:spcPct val="120000"/>
              </a:lnSpc>
            </a:pPr>
            <a:r>
              <a:rPr lang="en-US" sz="2000"/>
              <a:t>M-S may also seek to rely on Art 51 TFEU (exception in case of activities ‘</a:t>
            </a:r>
            <a:r>
              <a:rPr lang="en-US" sz="2000" u="sng"/>
              <a:t>connected, even occasionally, with the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2000"/>
              <a:t>     </a:t>
            </a:r>
            <a:r>
              <a:rPr lang="en-US" sz="2000" u="sng"/>
              <a:t>exercise of official authority</a:t>
            </a:r>
            <a:r>
              <a:rPr lang="en-US" sz="2000"/>
              <a:t>’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225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496944" cy="1224136"/>
          </a:xfrm>
        </p:spPr>
        <p:txBody>
          <a:bodyPr>
            <a:noAutofit/>
          </a:bodyPr>
          <a:lstStyle/>
          <a:p>
            <a:r>
              <a:rPr lang="en-US" sz="3800"/>
              <a:t>Official authority exception (Art 51TFEU)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62" y="1700808"/>
            <a:ext cx="8496944" cy="439271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300" dirty="0"/>
              <a:t>Concept of ‘official authority’ given:</a:t>
            </a:r>
          </a:p>
          <a:p>
            <a:pPr lvl="1">
              <a:lnSpc>
                <a:spcPct val="120000"/>
              </a:lnSpc>
            </a:pPr>
            <a:r>
              <a:rPr lang="en-US" sz="2300" dirty="0"/>
              <a:t>Union meaning and narrow interpretation</a:t>
            </a:r>
          </a:p>
          <a:p>
            <a:pPr>
              <a:lnSpc>
                <a:spcPct val="120000"/>
              </a:lnSpc>
            </a:pPr>
            <a:r>
              <a:rPr lang="en-US" sz="2300" dirty="0"/>
              <a:t>Case 2/74 </a:t>
            </a:r>
            <a:r>
              <a:rPr lang="en-US" sz="2300" dirty="0" err="1"/>
              <a:t>Reyners</a:t>
            </a:r>
            <a:r>
              <a:rPr lang="en-US" sz="2300" dirty="0"/>
              <a:t> </a:t>
            </a:r>
          </a:p>
          <a:p>
            <a:pPr lvl="1">
              <a:lnSpc>
                <a:spcPct val="120000"/>
              </a:lnSpc>
            </a:pPr>
            <a:r>
              <a:rPr lang="en-US" sz="2300" dirty="0"/>
              <a:t>exclusion of non-nationals must be limited ‘</a:t>
            </a:r>
            <a:r>
              <a:rPr lang="en-US" sz="2300" u="sng" dirty="0"/>
              <a:t>to those activities which, taken on their own, constitute a direct and specific connection with the exercise of official authority …’</a:t>
            </a:r>
            <a:r>
              <a:rPr lang="en-US" sz="23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779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46841"/>
            <a:ext cx="7772400" cy="1166649"/>
          </a:xfrm>
        </p:spPr>
        <p:txBody>
          <a:bodyPr>
            <a:normAutofit fontScale="90000"/>
          </a:bodyPr>
          <a:lstStyle/>
          <a:p>
            <a:r>
              <a:rPr lang="en-US" dirty="0"/>
              <a:t>Which rights are granted – right not to be discriminated against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713186"/>
            <a:ext cx="7772400" cy="4092302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Indirect discrimination is caught by Art 49 TFEU</a:t>
            </a:r>
          </a:p>
          <a:p>
            <a:pPr lvl="1"/>
            <a:r>
              <a:rPr lang="en-US" sz="2600" dirty="0"/>
              <a:t>Indirect discrimination can be justified, but national measure will only be lawful if it is also proportionate; where appropriate, measure must also be compatible with FHR</a:t>
            </a:r>
          </a:p>
          <a:p>
            <a:r>
              <a:rPr lang="en-US" sz="2600" dirty="0"/>
              <a:t>Examples of indirect discrimination:</a:t>
            </a:r>
          </a:p>
          <a:p>
            <a:pPr lvl="1"/>
            <a:r>
              <a:rPr lang="en-US" sz="2600" dirty="0"/>
              <a:t>Prior residence requirement (Case C-111/91 Commission v Luxembourg: payment of childbirth and maternity allowances)</a:t>
            </a:r>
          </a:p>
          <a:p>
            <a:pPr lvl="1"/>
            <a:r>
              <a:rPr lang="en-US" sz="2600" dirty="0"/>
              <a:t>Qualification requirement (Case C-340/89 </a:t>
            </a:r>
            <a:r>
              <a:rPr lang="en-US" sz="2600" dirty="0" err="1"/>
              <a:t>Vlassopoulou</a:t>
            </a:r>
            <a:r>
              <a:rPr lang="en-US" sz="2600" dirty="0"/>
              <a:t>)</a:t>
            </a:r>
          </a:p>
          <a:p>
            <a:endParaRPr lang="en-US" sz="27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477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129.3|87.9|89|8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2|1.6|11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29.2|7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42.1|2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|14.4|36.5|28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|118.1|25.1|33.1|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2|10.3|8.7|9.9|51.1|15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64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66.1|4.3|54.5"/>
</p:tagLst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A4B24C251BCD4291F2C2F3A608C810" ma:contentTypeVersion="9" ma:contentTypeDescription="Create a new document." ma:contentTypeScope="" ma:versionID="65e6d05ec05cb74dd9706b1e5cf7fbb0">
  <xsd:schema xmlns:xsd="http://www.w3.org/2001/XMLSchema" xmlns:xs="http://www.w3.org/2001/XMLSchema" xmlns:p="http://schemas.microsoft.com/office/2006/metadata/properties" xmlns:ns3="3cc0b812-7f7d-4aca-acca-000f424f7da7" targetNamespace="http://schemas.microsoft.com/office/2006/metadata/properties" ma:root="true" ma:fieldsID="d26e22a320b4c5202789874931af9409" ns3:_="">
    <xsd:import namespace="3cc0b812-7f7d-4aca-acca-000f424f7da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c0b812-7f7d-4aca-acca-000f424f7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FEA3A7-1379-41AE-B8EB-45EA0BB6EB9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E108D4-2630-4149-81E7-B1444E95F785}">
  <ds:schemaRefs>
    <ds:schemaRef ds:uri="3cc0b812-7f7d-4aca-acca-000f424f7d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FD00AA2-2D20-45D3-87DF-ADE1070BF29A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3cc0b812-7f7d-4aca-acca-000f424f7da7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842</Words>
  <Application>Microsoft Macintosh PowerPoint</Application>
  <PresentationFormat>On-screen Show (4:3)</PresentationFormat>
  <Paragraphs>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</vt:lpstr>
      <vt:lpstr>Blank</vt:lpstr>
      <vt:lpstr>Contemporary Issues in the Law of the Internal Market 2024/2025</vt:lpstr>
      <vt:lpstr>Right of Establishment - Intro</vt:lpstr>
      <vt:lpstr>The personal scope of Art 49 TFEU</vt:lpstr>
      <vt:lpstr>Art 49 TFEU vs Art 56 TFEU</vt:lpstr>
      <vt:lpstr>The personal scope of Art 49 TFEU (II)</vt:lpstr>
      <vt:lpstr>Purely Internal Situations</vt:lpstr>
      <vt:lpstr>Against whom can you rely on Art 49?</vt:lpstr>
      <vt:lpstr>Material scope – which rights are granted by Art 49 TFEU</vt:lpstr>
      <vt:lpstr>Which rights are granted – right not to be discriminated against</vt:lpstr>
      <vt:lpstr>Official authority exception (Art 51TFEU)</vt:lpstr>
      <vt:lpstr>Which rights are granted – right not to be discriminated against (II)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Contemporary Issues in the Law of the Internal Market 2020/2021</dc:title>
  <dc:creator>Pierre Schammo</dc:creator>
  <cp:lastModifiedBy>SCHAMMO, PIERRE J.</cp:lastModifiedBy>
  <cp:revision>8</cp:revision>
  <cp:lastPrinted>1601-01-01T00:00:00Z</cp:lastPrinted>
  <dcterms:created xsi:type="dcterms:W3CDTF">2021-01-22T06:06:39Z</dcterms:created>
  <dcterms:modified xsi:type="dcterms:W3CDTF">2025-02-06T17:35:08Z</dcterms:modified>
</cp:coreProperties>
</file>