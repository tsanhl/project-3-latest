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6.xml" ContentType="application/vnd.openxmlformats-officedocument.presentationml.tags+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tags/tag8.xml" ContentType="application/vnd.openxmlformats-officedocument.presentationml.tags+xml"/>
  <Override PartName="/ppt/notesSlides/notesSlide12.xml" ContentType="application/vnd.openxmlformats-officedocument.presentationml.notesSlide+xml"/>
  <Override PartName="/ppt/tags/tag9.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4"/>
  </p:sldMasterIdLst>
  <p:notesMasterIdLst>
    <p:notesMasterId r:id="rId19"/>
  </p:notesMasterIdLst>
  <p:handoutMasterIdLst>
    <p:handoutMasterId r:id="rId20"/>
  </p:handoutMasterIdLst>
  <p:sldIdLst>
    <p:sldId id="323" r:id="rId5"/>
    <p:sldId id="344" r:id="rId6"/>
    <p:sldId id="350" r:id="rId7"/>
    <p:sldId id="351" r:id="rId8"/>
    <p:sldId id="352" r:id="rId9"/>
    <p:sldId id="346" r:id="rId10"/>
    <p:sldId id="265" r:id="rId11"/>
    <p:sldId id="266" r:id="rId12"/>
    <p:sldId id="353" r:id="rId13"/>
    <p:sldId id="267" r:id="rId14"/>
    <p:sldId id="268" r:id="rId15"/>
    <p:sldId id="269" r:id="rId16"/>
    <p:sldId id="270" r:id="rId17"/>
    <p:sldId id="271" r:id="rId18"/>
  </p:sldIdLst>
  <p:sldSz cx="9144000" cy="6858000" type="screen4x3"/>
  <p:notesSz cx="6797675" cy="9928225"/>
  <p:defaultTextStyle>
    <a:defPPr>
      <a:defRPr lang="en-GB"/>
    </a:defPPr>
    <a:lvl1pPr algn="l" rtl="0" eaLnBrk="0" fontAlgn="base" hangingPunct="0">
      <a:spcBef>
        <a:spcPct val="0"/>
      </a:spcBef>
      <a:spcAft>
        <a:spcPct val="0"/>
      </a:spcAft>
      <a:defRPr sz="2400" kern="1200">
        <a:solidFill>
          <a:schemeClr val="tx1"/>
        </a:solidFill>
        <a:latin typeface="Times"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pitchFamily="18" charset="0"/>
        <a:ea typeface="+mn-ea"/>
        <a:cs typeface="+mn-cs"/>
      </a:defRPr>
    </a:lvl5pPr>
    <a:lvl6pPr marL="2286000" algn="l" defTabSz="914400" rtl="0" eaLnBrk="1" latinLnBrk="0" hangingPunct="1">
      <a:defRPr sz="2400" kern="1200">
        <a:solidFill>
          <a:schemeClr val="tx1"/>
        </a:solidFill>
        <a:latin typeface="Times" pitchFamily="18" charset="0"/>
        <a:ea typeface="+mn-ea"/>
        <a:cs typeface="+mn-cs"/>
      </a:defRPr>
    </a:lvl6pPr>
    <a:lvl7pPr marL="2743200" algn="l" defTabSz="914400" rtl="0" eaLnBrk="1" latinLnBrk="0" hangingPunct="1">
      <a:defRPr sz="2400" kern="1200">
        <a:solidFill>
          <a:schemeClr val="tx1"/>
        </a:solidFill>
        <a:latin typeface="Times" pitchFamily="18" charset="0"/>
        <a:ea typeface="+mn-ea"/>
        <a:cs typeface="+mn-cs"/>
      </a:defRPr>
    </a:lvl7pPr>
    <a:lvl8pPr marL="3200400" algn="l" defTabSz="914400" rtl="0" eaLnBrk="1" latinLnBrk="0" hangingPunct="1">
      <a:defRPr sz="2400" kern="1200">
        <a:solidFill>
          <a:schemeClr val="tx1"/>
        </a:solidFill>
        <a:latin typeface="Times" pitchFamily="18" charset="0"/>
        <a:ea typeface="+mn-ea"/>
        <a:cs typeface="+mn-cs"/>
      </a:defRPr>
    </a:lvl8pPr>
    <a:lvl9pPr marL="3657600" algn="l" defTabSz="914400" rtl="0" eaLnBrk="1" latinLnBrk="0" hangingPunct="1">
      <a:defRPr sz="2400" kern="1200">
        <a:solidFill>
          <a:schemeClr val="tx1"/>
        </a:solidFill>
        <a:latin typeface="Times"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27">
          <p15:clr>
            <a:srgbClr val="A4A3A4"/>
          </p15:clr>
        </p15:guide>
        <p15:guide id="2" pos="214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2"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596"/>
    <p:restoredTop sz="60801"/>
  </p:normalViewPr>
  <p:slideViewPr>
    <p:cSldViewPr snapToGrid="0">
      <p:cViewPr varScale="1">
        <p:scale>
          <a:sx n="89" d="100"/>
          <a:sy n="89" d="100"/>
        </p:scale>
        <p:origin x="5424" y="168"/>
      </p:cViewPr>
      <p:guideLst>
        <p:guide orient="horz" pos="216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guide orient="horz" pos="3127"/>
        <p:guide pos="2141"/>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229D8A62-74C2-5242-9BD3-050EC3555325}" type="datetimeFigureOut">
              <a:rPr lang="en-US" smtClean="0"/>
              <a:t>2/28/25</a:t>
            </a:fld>
            <a:endParaRPr lang="en-US"/>
          </a:p>
        </p:txBody>
      </p:sp>
      <p:sp>
        <p:nvSpPr>
          <p:cNvPr id="4" name="Footer Placehold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D2C4F2BC-F496-DB48-8E0C-0CAC888D8F05}" type="slidenum">
              <a:rPr lang="en-US" smtClean="0"/>
              <a:t>‹#›</a:t>
            </a:fld>
            <a:endParaRPr lang="en-US"/>
          </a:p>
        </p:txBody>
      </p:sp>
    </p:spTree>
    <p:extLst>
      <p:ext uri="{BB962C8B-B14F-4D97-AF65-F5344CB8AC3E}">
        <p14:creationId xmlns:p14="http://schemas.microsoft.com/office/powerpoint/2010/main" val="27588365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pPr>
              <a:defRPr/>
            </a:pPr>
            <a:endParaRPr lang="en-GB"/>
          </a:p>
        </p:txBody>
      </p:sp>
      <p:sp>
        <p:nvSpPr>
          <p:cNvPr id="24579" name="Rectangle 3"/>
          <p:cNvSpPr>
            <a:spLocks noGrp="1" noChangeArrowheads="1"/>
          </p:cNvSpPr>
          <p:nvPr>
            <p:ph type="dt" idx="1"/>
          </p:nvPr>
        </p:nvSpPr>
        <p:spPr bwMode="auto">
          <a:xfrm>
            <a:off x="3850443" y="0"/>
            <a:ext cx="2945659" cy="49641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pPr>
              <a:defRPr/>
            </a:pPr>
            <a:endParaRPr lang="en-GB"/>
          </a:p>
        </p:txBody>
      </p:sp>
      <p:sp>
        <p:nvSpPr>
          <p:cNvPr id="12292" name="Rectangle 4"/>
          <p:cNvSpPr>
            <a:spLocks noGrp="1" noRot="1" noChangeAspect="1" noChangeArrowheads="1" noTextEdit="1"/>
          </p:cNvSpPr>
          <p:nvPr>
            <p:ph type="sldImg" idx="2"/>
          </p:nvPr>
        </p:nvSpPr>
        <p:spPr bwMode="auto">
          <a:xfrm>
            <a:off x="917575" y="744538"/>
            <a:ext cx="4962525" cy="3722687"/>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4581" name="Rectangle 5"/>
          <p:cNvSpPr>
            <a:spLocks noGrp="1" noChangeArrowheads="1"/>
          </p:cNvSpPr>
          <p:nvPr>
            <p:ph type="body" sz="quarter" idx="3"/>
          </p:nvPr>
        </p:nvSpPr>
        <p:spPr bwMode="auto">
          <a:xfrm>
            <a:off x="679768" y="4715907"/>
            <a:ext cx="5438140" cy="446770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24582" name="Rectangle 6"/>
          <p:cNvSpPr>
            <a:spLocks noGrp="1" noChangeArrowheads="1"/>
          </p:cNvSpPr>
          <p:nvPr>
            <p:ph type="ftr" sz="quarter" idx="4"/>
          </p:nvPr>
        </p:nvSpPr>
        <p:spPr bwMode="auto">
          <a:xfrm>
            <a:off x="0"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pPr>
              <a:defRPr/>
            </a:pPr>
            <a:endParaRPr lang="en-GB"/>
          </a:p>
        </p:txBody>
      </p:sp>
      <p:sp>
        <p:nvSpPr>
          <p:cNvPr id="24583" name="Rectangle 7"/>
          <p:cNvSpPr>
            <a:spLocks noGrp="1" noChangeArrowheads="1"/>
          </p:cNvSpPr>
          <p:nvPr>
            <p:ph type="sldNum" sz="quarter" idx="5"/>
          </p:nvPr>
        </p:nvSpPr>
        <p:spPr bwMode="auto">
          <a:xfrm>
            <a:off x="3850443" y="9430091"/>
            <a:ext cx="2945659" cy="496411"/>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pPr>
              <a:defRPr/>
            </a:pPr>
            <a:fld id="{242D98AC-6B06-4B79-949D-9F6CB8A1B058}" type="slidenum">
              <a:rPr lang="en-GB"/>
              <a:pPr>
                <a:defRPr/>
              </a:pPr>
              <a:t>‹#›</a:t>
            </a:fld>
            <a:endParaRPr lang="en-GB"/>
          </a:p>
        </p:txBody>
      </p:sp>
    </p:spTree>
    <p:extLst>
      <p:ext uri="{BB962C8B-B14F-4D97-AF65-F5344CB8AC3E}">
        <p14:creationId xmlns:p14="http://schemas.microsoft.com/office/powerpoint/2010/main" val="214227927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a:defRPr/>
            </a:pPr>
            <a:fld id="{242D98AC-6B06-4B79-949D-9F6CB8A1B058}" type="slidenum">
              <a:rPr lang="en-GB" smtClean="0"/>
              <a:pPr>
                <a:defRPr/>
              </a:pPr>
              <a:t>1</a:t>
            </a:fld>
            <a:endParaRPr lang="en-GB"/>
          </a:p>
        </p:txBody>
      </p:sp>
    </p:spTree>
    <p:extLst>
      <p:ext uri="{BB962C8B-B14F-4D97-AF65-F5344CB8AC3E}">
        <p14:creationId xmlns:p14="http://schemas.microsoft.com/office/powerpoint/2010/main" val="2221850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D67433-AAF2-45B7-B6EB-FAB131162DF8}" type="slidenum">
              <a:rPr lang="en-GB" smtClean="0"/>
              <a:t>2</a:t>
            </a:fld>
            <a:endParaRPr lang="en-GB"/>
          </a:p>
        </p:txBody>
      </p:sp>
    </p:spTree>
    <p:extLst>
      <p:ext uri="{BB962C8B-B14F-4D97-AF65-F5344CB8AC3E}">
        <p14:creationId xmlns:p14="http://schemas.microsoft.com/office/powerpoint/2010/main" val="947057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3</a:t>
            </a:fld>
            <a:endParaRPr lang="en-US"/>
          </a:p>
        </p:txBody>
      </p:sp>
    </p:spTree>
    <p:extLst>
      <p:ext uri="{BB962C8B-B14F-4D97-AF65-F5344CB8AC3E}">
        <p14:creationId xmlns:p14="http://schemas.microsoft.com/office/powerpoint/2010/main" val="3874151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2A0574-5B59-5A46-81A1-D83B7EA49736}" type="slidenum">
              <a:rPr lang="en-US" smtClean="0"/>
              <a:t>4</a:t>
            </a:fld>
            <a:endParaRPr lang="en-US"/>
          </a:p>
        </p:txBody>
      </p:sp>
    </p:spTree>
    <p:extLst>
      <p:ext uri="{BB962C8B-B14F-4D97-AF65-F5344CB8AC3E}">
        <p14:creationId xmlns:p14="http://schemas.microsoft.com/office/powerpoint/2010/main" val="1044723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3A39B-893B-9126-9015-D687B4D92F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0B48B-AEC3-DCDC-973A-FF246C388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EE535-5629-3490-FF08-D813A9C903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1CC437-02BB-6321-2AD4-C97FAA7C5F4E}"/>
              </a:ext>
            </a:extLst>
          </p:cNvPr>
          <p:cNvSpPr>
            <a:spLocks noGrp="1"/>
          </p:cNvSpPr>
          <p:nvPr>
            <p:ph type="sldNum" sz="quarter" idx="10"/>
          </p:nvPr>
        </p:nvSpPr>
        <p:spPr/>
        <p:txBody>
          <a:bodyPr/>
          <a:lstStyle/>
          <a:p>
            <a:fld id="{022A0574-5B59-5A46-81A1-D83B7EA49736}" type="slidenum">
              <a:rPr lang="en-US" smtClean="0"/>
              <a:t>5</a:t>
            </a:fld>
            <a:endParaRPr lang="en-US"/>
          </a:p>
        </p:txBody>
      </p:sp>
    </p:spTree>
    <p:extLst>
      <p:ext uri="{BB962C8B-B14F-4D97-AF65-F5344CB8AC3E}">
        <p14:creationId xmlns:p14="http://schemas.microsoft.com/office/powerpoint/2010/main" val="31815608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p:txBody>
      </p:sp>
      <p:sp>
        <p:nvSpPr>
          <p:cNvPr id="4" name="Slide Number Placeholder 3"/>
          <p:cNvSpPr>
            <a:spLocks noGrp="1"/>
          </p:cNvSpPr>
          <p:nvPr>
            <p:ph type="sldNum" sz="quarter" idx="10"/>
          </p:nvPr>
        </p:nvSpPr>
        <p:spPr/>
        <p:txBody>
          <a:bodyPr/>
          <a:lstStyle/>
          <a:p>
            <a:fld id="{4ED67433-AAF2-45B7-B6EB-FAB131162DF8}" type="slidenum">
              <a:rPr lang="en-GB" smtClean="0"/>
              <a:t>6</a:t>
            </a:fld>
            <a:endParaRPr lang="en-GB"/>
          </a:p>
        </p:txBody>
      </p:sp>
    </p:spTree>
    <p:extLst>
      <p:ext uri="{BB962C8B-B14F-4D97-AF65-F5344CB8AC3E}">
        <p14:creationId xmlns:p14="http://schemas.microsoft.com/office/powerpoint/2010/main" val="582262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A975E2-EE87-B547-84CF-7E903714DD2A}" type="slidenum">
              <a:rPr lang="en-US" smtClean="0"/>
              <a:t>7</a:t>
            </a:fld>
            <a:endParaRPr lang="en-US"/>
          </a:p>
        </p:txBody>
      </p:sp>
    </p:spTree>
    <p:extLst>
      <p:ext uri="{BB962C8B-B14F-4D97-AF65-F5344CB8AC3E}">
        <p14:creationId xmlns:p14="http://schemas.microsoft.com/office/powerpoint/2010/main" val="3999697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A975E2-EE87-B547-84CF-7E903714DD2A}" type="slidenum">
              <a:rPr lang="en-US" smtClean="0"/>
              <a:t>8</a:t>
            </a:fld>
            <a:endParaRPr lang="en-US"/>
          </a:p>
        </p:txBody>
      </p:sp>
    </p:spTree>
    <p:extLst>
      <p:ext uri="{BB962C8B-B14F-4D97-AF65-F5344CB8AC3E}">
        <p14:creationId xmlns:p14="http://schemas.microsoft.com/office/powerpoint/2010/main" val="2397349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BA975E2-EE87-B547-84CF-7E903714DD2A}" type="slidenum">
              <a:rPr lang="en-US" smtClean="0"/>
              <a:t>10</a:t>
            </a:fld>
            <a:endParaRPr lang="en-US"/>
          </a:p>
        </p:txBody>
      </p:sp>
    </p:spTree>
    <p:extLst>
      <p:ext uri="{BB962C8B-B14F-4D97-AF65-F5344CB8AC3E}">
        <p14:creationId xmlns:p14="http://schemas.microsoft.com/office/powerpoint/2010/main" val="3323786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1348D3E2-979C-8740-B2B1-9DE324B3C8BA}" type="slidenum">
              <a:rPr lang="en-US" smtClean="0"/>
              <a:t>11</a:t>
            </a:fld>
            <a:endParaRPr lang="en-US"/>
          </a:p>
        </p:txBody>
      </p:sp>
    </p:spTree>
    <p:extLst>
      <p:ext uri="{BB962C8B-B14F-4D97-AF65-F5344CB8AC3E}">
        <p14:creationId xmlns:p14="http://schemas.microsoft.com/office/powerpoint/2010/main" val="3898001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1348D3E2-979C-8740-B2B1-9DE324B3C8BA}" type="slidenum">
              <a:rPr lang="en-US" smtClean="0"/>
              <a:t>12</a:t>
            </a:fld>
            <a:endParaRPr lang="en-US"/>
          </a:p>
        </p:txBody>
      </p:sp>
    </p:spTree>
    <p:extLst>
      <p:ext uri="{BB962C8B-B14F-4D97-AF65-F5344CB8AC3E}">
        <p14:creationId xmlns:p14="http://schemas.microsoft.com/office/powerpoint/2010/main" val="13738738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48D3E2-979C-8740-B2B1-9DE324B3C8BA}" type="slidenum">
              <a:rPr lang="en-US" smtClean="0"/>
              <a:t>13</a:t>
            </a:fld>
            <a:endParaRPr lang="en-US"/>
          </a:p>
        </p:txBody>
      </p:sp>
    </p:spTree>
    <p:extLst>
      <p:ext uri="{BB962C8B-B14F-4D97-AF65-F5344CB8AC3E}">
        <p14:creationId xmlns:p14="http://schemas.microsoft.com/office/powerpoint/2010/main" val="23528141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348D3E2-979C-8740-B2B1-9DE324B3C8BA}" type="slidenum">
              <a:rPr lang="en-US" smtClean="0"/>
              <a:t>14</a:t>
            </a:fld>
            <a:endParaRPr lang="en-US"/>
          </a:p>
        </p:txBody>
      </p:sp>
    </p:spTree>
    <p:extLst>
      <p:ext uri="{BB962C8B-B14F-4D97-AF65-F5344CB8AC3E}">
        <p14:creationId xmlns:p14="http://schemas.microsoft.com/office/powerpoint/2010/main" val="135291261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7"/>
          <p:cNvSpPr>
            <a:spLocks noChangeArrowheads="1"/>
          </p:cNvSpPr>
          <p:nvPr userDrawn="1"/>
        </p:nvSpPr>
        <p:spPr bwMode="auto">
          <a:xfrm>
            <a:off x="0" y="0"/>
            <a:ext cx="9144000" cy="5516563"/>
          </a:xfrm>
          <a:prstGeom prst="rect">
            <a:avLst/>
          </a:prstGeom>
          <a:solidFill>
            <a:srgbClr val="6633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pic>
        <p:nvPicPr>
          <p:cNvPr id="5"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8203" name="Rectangle 11"/>
          <p:cNvSpPr>
            <a:spLocks noGrp="1" noChangeArrowheads="1"/>
          </p:cNvSpPr>
          <p:nvPr>
            <p:ph type="ctrTitle" sz="quarter"/>
          </p:nvPr>
        </p:nvSpPr>
        <p:spPr>
          <a:xfrm>
            <a:off x="755650" y="476250"/>
            <a:ext cx="7772400" cy="1470025"/>
          </a:xfrm>
        </p:spPr>
        <p:txBody>
          <a:bodyPr/>
          <a:lstStyle>
            <a:lvl1pPr>
              <a:defRPr>
                <a:solidFill>
                  <a:schemeClr val="bg1"/>
                </a:solidFill>
              </a:defRPr>
            </a:lvl1pPr>
          </a:lstStyle>
          <a:p>
            <a:r>
              <a:rPr lang="en-GB"/>
              <a:t>Click to edit Master title style</a:t>
            </a:r>
          </a:p>
        </p:txBody>
      </p:sp>
      <p:sp>
        <p:nvSpPr>
          <p:cNvPr id="8204" name="Rectangle 12"/>
          <p:cNvSpPr>
            <a:spLocks noGrp="1" noChangeArrowheads="1"/>
          </p:cNvSpPr>
          <p:nvPr>
            <p:ph type="subTitle" sz="quarter" idx="1"/>
          </p:nvPr>
        </p:nvSpPr>
        <p:spPr>
          <a:xfrm>
            <a:off x="827088" y="2420938"/>
            <a:ext cx="7561262" cy="1752600"/>
          </a:xfrm>
        </p:spPr>
        <p:txBody>
          <a:bodyPr/>
          <a:lstStyle>
            <a:lvl1pPr marL="0" indent="0">
              <a:defRPr b="1">
                <a:solidFill>
                  <a:schemeClr val="bg1"/>
                </a:solidFill>
              </a:defRPr>
            </a:lvl1pPr>
          </a:lstStyle>
          <a:p>
            <a:r>
              <a:rPr lang="en-GB"/>
              <a:t>Click to edit Master subtitle style</a:t>
            </a:r>
          </a:p>
        </p:txBody>
      </p:sp>
      <p:sp>
        <p:nvSpPr>
          <p:cNvPr id="6" name="Rectangle 6"/>
          <p:cNvSpPr>
            <a:spLocks noGrp="1" noChangeArrowheads="1"/>
          </p:cNvSpPr>
          <p:nvPr>
            <p:ph type="sldNum" sz="quarter" idx="10"/>
          </p:nvPr>
        </p:nvSpPr>
        <p:spPr>
          <a:xfrm>
            <a:off x="6553200" y="6245225"/>
            <a:ext cx="2133600" cy="476250"/>
          </a:xfrm>
        </p:spPr>
        <p:txBody>
          <a:bodyPr/>
          <a:lstStyle>
            <a:lvl1pPr>
              <a:defRPr/>
            </a:lvl1pPr>
          </a:lstStyle>
          <a:p>
            <a:pPr>
              <a:defRPr/>
            </a:pPr>
            <a:fld id="{F71726C1-1128-4479-BE45-4CD17A5EDFFA}" type="slidenum">
              <a:rPr lang="en-GB"/>
              <a:pPr>
                <a:defRPr/>
              </a:pPr>
              <a:t>‹#›</a:t>
            </a:fld>
            <a:endParaRPr lang="en-GB"/>
          </a:p>
        </p:txBody>
      </p:sp>
    </p:spTree>
    <p:extLst>
      <p:ext uri="{BB962C8B-B14F-4D97-AF65-F5344CB8AC3E}">
        <p14:creationId xmlns:p14="http://schemas.microsoft.com/office/powerpoint/2010/main" val="36323035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34C983E8-1028-4BC1-9CFE-648A544E8455}" type="slidenum">
              <a:rPr lang="en-GB"/>
              <a:pPr>
                <a:defRPr/>
              </a:pPr>
              <a:t>‹#›</a:t>
            </a:fld>
            <a:endParaRPr lang="en-GB"/>
          </a:p>
        </p:txBody>
      </p:sp>
    </p:spTree>
    <p:extLst>
      <p:ext uri="{BB962C8B-B14F-4D97-AF65-F5344CB8AC3E}">
        <p14:creationId xmlns:p14="http://schemas.microsoft.com/office/powerpoint/2010/main" val="80737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A8B9E8DC-36F4-4970-9B12-3B0C0F30B5E3}" type="slidenum">
              <a:rPr lang="en-GB"/>
              <a:pPr>
                <a:defRPr/>
              </a:pPr>
              <a:t>‹#›</a:t>
            </a:fld>
            <a:endParaRPr lang="en-GB"/>
          </a:p>
        </p:txBody>
      </p:sp>
    </p:spTree>
    <p:extLst>
      <p:ext uri="{BB962C8B-B14F-4D97-AF65-F5344CB8AC3E}">
        <p14:creationId xmlns:p14="http://schemas.microsoft.com/office/powerpoint/2010/main" val="33776361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6842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6613" y="1989138"/>
            <a:ext cx="3810000" cy="3816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EFD4B6AE-D3EF-4CE1-BD2E-0DC8DE26E7EC}" type="slidenum">
              <a:rPr lang="en-GB"/>
              <a:pPr>
                <a:defRPr/>
              </a:pPr>
              <a:t>‹#›</a:t>
            </a:fld>
            <a:endParaRPr lang="en-GB"/>
          </a:p>
        </p:txBody>
      </p:sp>
    </p:spTree>
    <p:extLst>
      <p:ext uri="{BB962C8B-B14F-4D97-AF65-F5344CB8AC3E}">
        <p14:creationId xmlns:p14="http://schemas.microsoft.com/office/powerpoint/2010/main" val="1441939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Rectangle 4"/>
          <p:cNvSpPr>
            <a:spLocks noGrp="1" noChangeArrowheads="1"/>
          </p:cNvSpPr>
          <p:nvPr>
            <p:ph type="dt" sz="half" idx="10"/>
          </p:nvPr>
        </p:nvSpPr>
        <p:spPr>
          <a:ln/>
        </p:spPr>
        <p:txBody>
          <a:bodyPr/>
          <a:lstStyle>
            <a:lvl1pPr>
              <a:defRPr/>
            </a:lvl1pPr>
          </a:lstStyle>
          <a:p>
            <a:pPr>
              <a:defRPr/>
            </a:pPr>
            <a:endParaRPr lang="en-GB"/>
          </a:p>
        </p:txBody>
      </p:sp>
      <p:sp>
        <p:nvSpPr>
          <p:cNvPr id="8" name="Rectangle 5"/>
          <p:cNvSpPr>
            <a:spLocks noGrp="1" noChangeArrowheads="1"/>
          </p:cNvSpPr>
          <p:nvPr>
            <p:ph type="ftr" sz="quarter" idx="11"/>
          </p:nvPr>
        </p:nvSpPr>
        <p:spPr>
          <a:ln/>
        </p:spPr>
        <p:txBody>
          <a:bodyPr/>
          <a:lstStyle>
            <a:lvl1pPr>
              <a:defRPr/>
            </a:lvl1pPr>
          </a:lstStyle>
          <a:p>
            <a:pPr>
              <a:defRPr/>
            </a:pPr>
            <a:endParaRPr lang="en-GB"/>
          </a:p>
        </p:txBody>
      </p:sp>
      <p:sp>
        <p:nvSpPr>
          <p:cNvPr id="9" name="Rectangle 6"/>
          <p:cNvSpPr>
            <a:spLocks noGrp="1" noChangeArrowheads="1"/>
          </p:cNvSpPr>
          <p:nvPr>
            <p:ph type="sldNum" sz="quarter" idx="12"/>
          </p:nvPr>
        </p:nvSpPr>
        <p:spPr>
          <a:ln/>
        </p:spPr>
        <p:txBody>
          <a:bodyPr/>
          <a:lstStyle>
            <a:lvl1pPr>
              <a:defRPr/>
            </a:lvl1pPr>
          </a:lstStyle>
          <a:p>
            <a:pPr>
              <a:defRPr/>
            </a:pPr>
            <a:fld id="{B39FF88D-FF8B-4748-9EA9-7DC520BD5BA0}" type="slidenum">
              <a:rPr lang="en-GB"/>
              <a:pPr>
                <a:defRPr/>
              </a:pPr>
              <a:t>‹#›</a:t>
            </a:fld>
            <a:endParaRPr lang="en-GB"/>
          </a:p>
        </p:txBody>
      </p:sp>
    </p:spTree>
    <p:extLst>
      <p:ext uri="{BB962C8B-B14F-4D97-AF65-F5344CB8AC3E}">
        <p14:creationId xmlns:p14="http://schemas.microsoft.com/office/powerpoint/2010/main" val="26948031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p:cNvSpPr>
            <a:spLocks noGrp="1" noChangeArrowheads="1"/>
          </p:cNvSpPr>
          <p:nvPr>
            <p:ph type="dt" sz="half" idx="10"/>
          </p:nvPr>
        </p:nvSpPr>
        <p:spPr>
          <a:ln/>
        </p:spPr>
        <p:txBody>
          <a:bodyPr/>
          <a:lstStyle>
            <a:lvl1pPr>
              <a:defRPr/>
            </a:lvl1pPr>
          </a:lstStyle>
          <a:p>
            <a:pPr>
              <a:defRPr/>
            </a:pPr>
            <a:endParaRPr lang="en-GB"/>
          </a:p>
        </p:txBody>
      </p:sp>
      <p:sp>
        <p:nvSpPr>
          <p:cNvPr id="4" name="Rectangle 5"/>
          <p:cNvSpPr>
            <a:spLocks noGrp="1" noChangeArrowheads="1"/>
          </p:cNvSpPr>
          <p:nvPr>
            <p:ph type="ftr" sz="quarter" idx="11"/>
          </p:nvPr>
        </p:nvSpPr>
        <p:spPr>
          <a:ln/>
        </p:spPr>
        <p:txBody>
          <a:bodyPr/>
          <a:lstStyle>
            <a:lvl1pPr>
              <a:defRPr/>
            </a:lvl1pPr>
          </a:lstStyle>
          <a:p>
            <a:pPr>
              <a:defRPr/>
            </a:pPr>
            <a:endParaRPr lang="en-GB"/>
          </a:p>
        </p:txBody>
      </p:sp>
      <p:sp>
        <p:nvSpPr>
          <p:cNvPr id="5" name="Rectangle 6"/>
          <p:cNvSpPr>
            <a:spLocks noGrp="1" noChangeArrowheads="1"/>
          </p:cNvSpPr>
          <p:nvPr>
            <p:ph type="sldNum" sz="quarter" idx="12"/>
          </p:nvPr>
        </p:nvSpPr>
        <p:spPr>
          <a:ln/>
        </p:spPr>
        <p:txBody>
          <a:bodyPr/>
          <a:lstStyle>
            <a:lvl1pPr>
              <a:defRPr/>
            </a:lvl1pPr>
          </a:lstStyle>
          <a:p>
            <a:pPr>
              <a:defRPr/>
            </a:pPr>
            <a:fld id="{88C4EA3E-64A1-4BE8-9E90-BCA1288A255F}" type="slidenum">
              <a:rPr lang="en-GB"/>
              <a:pPr>
                <a:defRPr/>
              </a:pPr>
              <a:t>‹#›</a:t>
            </a:fld>
            <a:endParaRPr lang="en-GB"/>
          </a:p>
        </p:txBody>
      </p:sp>
    </p:spTree>
    <p:extLst>
      <p:ext uri="{BB962C8B-B14F-4D97-AF65-F5344CB8AC3E}">
        <p14:creationId xmlns:p14="http://schemas.microsoft.com/office/powerpoint/2010/main" val="2278755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GB"/>
          </a:p>
        </p:txBody>
      </p:sp>
      <p:sp>
        <p:nvSpPr>
          <p:cNvPr id="3" name="Rectangle 5"/>
          <p:cNvSpPr>
            <a:spLocks noGrp="1" noChangeArrowheads="1"/>
          </p:cNvSpPr>
          <p:nvPr>
            <p:ph type="ftr" sz="quarter" idx="11"/>
          </p:nvPr>
        </p:nvSpPr>
        <p:spPr>
          <a:ln/>
        </p:spPr>
        <p:txBody>
          <a:bodyPr/>
          <a:lstStyle>
            <a:lvl1pPr>
              <a:defRPr/>
            </a:lvl1pPr>
          </a:lstStyle>
          <a:p>
            <a:pPr>
              <a:defRPr/>
            </a:pPr>
            <a:endParaRPr lang="en-GB"/>
          </a:p>
        </p:txBody>
      </p:sp>
      <p:sp>
        <p:nvSpPr>
          <p:cNvPr id="4" name="Rectangle 6"/>
          <p:cNvSpPr>
            <a:spLocks noGrp="1" noChangeArrowheads="1"/>
          </p:cNvSpPr>
          <p:nvPr>
            <p:ph type="sldNum" sz="quarter" idx="12"/>
          </p:nvPr>
        </p:nvSpPr>
        <p:spPr>
          <a:ln/>
        </p:spPr>
        <p:txBody>
          <a:bodyPr/>
          <a:lstStyle>
            <a:lvl1pPr>
              <a:defRPr/>
            </a:lvl1pPr>
          </a:lstStyle>
          <a:p>
            <a:pPr>
              <a:defRPr/>
            </a:pPr>
            <a:fld id="{244B6736-DFC6-43C1-895E-67B06B98272A}" type="slidenum">
              <a:rPr lang="en-GB"/>
              <a:pPr>
                <a:defRPr/>
              </a:pPr>
              <a:t>‹#›</a:t>
            </a:fld>
            <a:endParaRPr lang="en-GB"/>
          </a:p>
        </p:txBody>
      </p:sp>
    </p:spTree>
    <p:extLst>
      <p:ext uri="{BB962C8B-B14F-4D97-AF65-F5344CB8AC3E}">
        <p14:creationId xmlns:p14="http://schemas.microsoft.com/office/powerpoint/2010/main" val="43919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24D35581-CF58-4CC2-91C4-5F75D839D234}" type="slidenum">
              <a:rPr lang="en-GB"/>
              <a:pPr>
                <a:defRPr/>
              </a:pPr>
              <a:t>‹#›</a:t>
            </a:fld>
            <a:endParaRPr lang="en-GB"/>
          </a:p>
        </p:txBody>
      </p:sp>
    </p:spTree>
    <p:extLst>
      <p:ext uri="{BB962C8B-B14F-4D97-AF65-F5344CB8AC3E}">
        <p14:creationId xmlns:p14="http://schemas.microsoft.com/office/powerpoint/2010/main" val="3965196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GB"/>
          </a:p>
        </p:txBody>
      </p:sp>
      <p:sp>
        <p:nvSpPr>
          <p:cNvPr id="6" name="Rectangle 5"/>
          <p:cNvSpPr>
            <a:spLocks noGrp="1" noChangeArrowheads="1"/>
          </p:cNvSpPr>
          <p:nvPr>
            <p:ph type="ftr" sz="quarter" idx="11"/>
          </p:nvPr>
        </p:nvSpPr>
        <p:spPr>
          <a:ln/>
        </p:spPr>
        <p:txBody>
          <a:bodyPr/>
          <a:lstStyle>
            <a:lvl1pPr>
              <a:defRPr/>
            </a:lvl1pPr>
          </a:lstStyle>
          <a:p>
            <a:pPr>
              <a:defRPr/>
            </a:pPr>
            <a:endParaRPr lang="en-GB"/>
          </a:p>
        </p:txBody>
      </p:sp>
      <p:sp>
        <p:nvSpPr>
          <p:cNvPr id="7" name="Rectangle 6"/>
          <p:cNvSpPr>
            <a:spLocks noGrp="1" noChangeArrowheads="1"/>
          </p:cNvSpPr>
          <p:nvPr>
            <p:ph type="sldNum" sz="quarter" idx="12"/>
          </p:nvPr>
        </p:nvSpPr>
        <p:spPr>
          <a:ln/>
        </p:spPr>
        <p:txBody>
          <a:bodyPr/>
          <a:lstStyle>
            <a:lvl1pPr>
              <a:defRPr/>
            </a:lvl1pPr>
          </a:lstStyle>
          <a:p>
            <a:pPr>
              <a:defRPr/>
            </a:pPr>
            <a:fld id="{6C3362D1-CB0C-4683-8025-7FC8116F6589}" type="slidenum">
              <a:rPr lang="en-GB"/>
              <a:pPr>
                <a:defRPr/>
              </a:pPr>
              <a:t>‹#›</a:t>
            </a:fld>
            <a:endParaRPr lang="en-GB"/>
          </a:p>
        </p:txBody>
      </p:sp>
    </p:spTree>
    <p:extLst>
      <p:ext uri="{BB962C8B-B14F-4D97-AF65-F5344CB8AC3E}">
        <p14:creationId xmlns:p14="http://schemas.microsoft.com/office/powerpoint/2010/main" val="1890904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6CCDB42C-3168-40D0-B126-AAE104389456}" type="slidenum">
              <a:rPr lang="en-GB"/>
              <a:pPr>
                <a:defRPr/>
              </a:pPr>
              <a:t>‹#›</a:t>
            </a:fld>
            <a:endParaRPr lang="en-GB"/>
          </a:p>
        </p:txBody>
      </p:sp>
    </p:spTree>
    <p:extLst>
      <p:ext uri="{BB962C8B-B14F-4D97-AF65-F5344CB8AC3E}">
        <p14:creationId xmlns:p14="http://schemas.microsoft.com/office/powerpoint/2010/main" val="4100691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19588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684213" y="609600"/>
            <a:ext cx="5678487" cy="5195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Rectangle 4"/>
          <p:cNvSpPr>
            <a:spLocks noGrp="1" noChangeArrowheads="1"/>
          </p:cNvSpPr>
          <p:nvPr>
            <p:ph type="dt" sz="half" idx="10"/>
          </p:nvPr>
        </p:nvSpPr>
        <p:spPr>
          <a:ln/>
        </p:spPr>
        <p:txBody>
          <a:bodyPr/>
          <a:lstStyle>
            <a:lvl1pPr>
              <a:defRPr/>
            </a:lvl1pPr>
          </a:lstStyle>
          <a:p>
            <a:pPr>
              <a:defRPr/>
            </a:pPr>
            <a:endParaRPr lang="en-GB"/>
          </a:p>
        </p:txBody>
      </p:sp>
      <p:sp>
        <p:nvSpPr>
          <p:cNvPr id="5" name="Rectangle 5"/>
          <p:cNvSpPr>
            <a:spLocks noGrp="1" noChangeArrowheads="1"/>
          </p:cNvSpPr>
          <p:nvPr>
            <p:ph type="ftr" sz="quarter" idx="11"/>
          </p:nvPr>
        </p:nvSpPr>
        <p:spPr>
          <a:ln/>
        </p:spPr>
        <p:txBody>
          <a:bodyPr/>
          <a:lstStyle>
            <a:lvl1pPr>
              <a:defRPr/>
            </a:lvl1pPr>
          </a:lstStyle>
          <a:p>
            <a:pPr>
              <a:defRPr/>
            </a:pPr>
            <a:endParaRPr lang="en-GB"/>
          </a:p>
        </p:txBody>
      </p:sp>
      <p:sp>
        <p:nvSpPr>
          <p:cNvPr id="6" name="Rectangle 6"/>
          <p:cNvSpPr>
            <a:spLocks noGrp="1" noChangeArrowheads="1"/>
          </p:cNvSpPr>
          <p:nvPr>
            <p:ph type="sldNum" sz="quarter" idx="12"/>
          </p:nvPr>
        </p:nvSpPr>
        <p:spPr>
          <a:ln/>
        </p:spPr>
        <p:txBody>
          <a:bodyPr/>
          <a:lstStyle>
            <a:lvl1pPr>
              <a:defRPr/>
            </a:lvl1pPr>
          </a:lstStyle>
          <a:p>
            <a:pPr>
              <a:defRPr/>
            </a:pPr>
            <a:fld id="{49B049E5-00CC-42C8-9A2C-41186B9985CD}" type="slidenum">
              <a:rPr lang="en-GB"/>
              <a:pPr>
                <a:defRPr/>
              </a:pPr>
              <a:t>‹#›</a:t>
            </a:fld>
            <a:endParaRPr lang="en-GB"/>
          </a:p>
        </p:txBody>
      </p:sp>
    </p:spTree>
    <p:extLst>
      <p:ext uri="{BB962C8B-B14F-4D97-AF65-F5344CB8AC3E}">
        <p14:creationId xmlns:p14="http://schemas.microsoft.com/office/powerpoint/2010/main" val="3615769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7"/>
          <p:cNvSpPr>
            <a:spLocks noChangeArrowheads="1"/>
          </p:cNvSpPr>
          <p:nvPr userDrawn="1"/>
        </p:nvSpPr>
        <p:spPr bwMode="auto">
          <a:xfrm>
            <a:off x="0" y="0"/>
            <a:ext cx="9140825" cy="6873875"/>
          </a:xfrm>
          <a:prstGeom prst="rect">
            <a:avLst/>
          </a:prstGeom>
          <a:solidFill>
            <a:srgbClr val="663366"/>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r>
              <a:rPr lang="en-GB" altLang="en-US">
                <a:solidFill>
                  <a:srgbClr val="663366"/>
                </a:solidFill>
              </a:rPr>
              <a:t>∂</a:t>
            </a:r>
          </a:p>
        </p:txBody>
      </p:sp>
      <p:sp>
        <p:nvSpPr>
          <p:cNvPr id="1027" name="Rectangle 8"/>
          <p:cNvSpPr>
            <a:spLocks noChangeArrowheads="1"/>
          </p:cNvSpPr>
          <p:nvPr userDrawn="1"/>
        </p:nvSpPr>
        <p:spPr bwMode="auto">
          <a:xfrm>
            <a:off x="107950" y="107950"/>
            <a:ext cx="8924925" cy="6657975"/>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algn="ctr">
              <a:defRPr/>
            </a:pPr>
            <a:endParaRPr lang="en-US" altLang="en-US">
              <a:solidFill>
                <a:srgbClr val="663366"/>
              </a:solidFill>
            </a:endParaRPr>
          </a:p>
        </p:txBody>
      </p:sp>
      <p:sp>
        <p:nvSpPr>
          <p:cNvPr id="1028"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Heading style</a:t>
            </a:r>
          </a:p>
        </p:txBody>
      </p:sp>
      <p:sp>
        <p:nvSpPr>
          <p:cNvPr id="1029" name="Rectangle 3"/>
          <p:cNvSpPr>
            <a:spLocks noGrp="1" noChangeArrowheads="1"/>
          </p:cNvSpPr>
          <p:nvPr>
            <p:ph type="body" idx="1"/>
          </p:nvPr>
        </p:nvSpPr>
        <p:spPr bwMode="auto">
          <a:xfrm>
            <a:off x="684213" y="1989138"/>
            <a:ext cx="7772400" cy="38163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p>
        </p:txBody>
      </p:sp>
      <p:sp>
        <p:nvSpPr>
          <p:cNvPr id="2"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GB"/>
          </a:p>
        </p:txBody>
      </p:sp>
      <p:sp>
        <p:nvSpPr>
          <p:cNvPr id="3"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GB"/>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E12D67B0-B4C9-4845-85BE-85F4A7F9ABA9}" type="slidenum">
              <a:rPr lang="en-GB"/>
              <a:pPr>
                <a:defRPr/>
              </a:pPr>
              <a:t>‹#›</a:t>
            </a:fld>
            <a:endParaRPr lang="en-GB"/>
          </a:p>
        </p:txBody>
      </p:sp>
      <p:sp>
        <p:nvSpPr>
          <p:cNvPr id="1033" name="Rectangle 9"/>
          <p:cNvSpPr>
            <a:spLocks noChangeArrowheads="1"/>
          </p:cNvSpPr>
          <p:nvPr userDrawn="1"/>
        </p:nvSpPr>
        <p:spPr bwMode="auto">
          <a:xfrm>
            <a:off x="790575" y="611188"/>
            <a:ext cx="8024813"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defRPr/>
            </a:pPr>
            <a:endParaRPr lang="en-US" altLang="en-US" sz="4400">
              <a:solidFill>
                <a:schemeClr val="bg1"/>
              </a:solidFill>
            </a:endParaRPr>
          </a:p>
        </p:txBody>
      </p:sp>
      <p:sp>
        <p:nvSpPr>
          <p:cNvPr id="1034" name="Rectangle 10"/>
          <p:cNvSpPr>
            <a:spLocks noChangeArrowheads="1"/>
          </p:cNvSpPr>
          <p:nvPr userDrawn="1"/>
        </p:nvSpPr>
        <p:spPr bwMode="auto">
          <a:xfrm>
            <a:off x="790575" y="1798638"/>
            <a:ext cx="8024813" cy="38131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18" charset="0"/>
              </a:defRPr>
            </a:lvl1pPr>
            <a:lvl2pPr marL="742950" indent="-285750">
              <a:defRPr sz="2400">
                <a:solidFill>
                  <a:schemeClr val="tx1"/>
                </a:solidFill>
                <a:latin typeface="Times" pitchFamily="18" charset="0"/>
              </a:defRPr>
            </a:lvl2pPr>
            <a:lvl3pPr marL="1143000" indent="-228600">
              <a:defRPr sz="2400">
                <a:solidFill>
                  <a:schemeClr val="tx1"/>
                </a:solidFill>
                <a:latin typeface="Times" pitchFamily="18" charset="0"/>
              </a:defRPr>
            </a:lvl3pPr>
            <a:lvl4pPr marL="1600200" indent="-228600">
              <a:defRPr sz="2400">
                <a:solidFill>
                  <a:schemeClr val="tx1"/>
                </a:solidFill>
                <a:latin typeface="Times" pitchFamily="18" charset="0"/>
              </a:defRPr>
            </a:lvl4pPr>
            <a:lvl5pPr marL="2057400" indent="-228600">
              <a:defRPr sz="2400">
                <a:solidFill>
                  <a:schemeClr val="tx1"/>
                </a:solidFill>
                <a:latin typeface="Times" pitchFamily="18" charset="0"/>
              </a:defRPr>
            </a:lvl5pPr>
            <a:lvl6pPr marL="2514600" indent="-228600" eaLnBrk="0" fontAlgn="base" hangingPunct="0">
              <a:spcBef>
                <a:spcPct val="0"/>
              </a:spcBef>
              <a:spcAft>
                <a:spcPct val="0"/>
              </a:spcAft>
              <a:defRPr sz="2400">
                <a:solidFill>
                  <a:schemeClr val="tx1"/>
                </a:solidFill>
                <a:latin typeface="Times" pitchFamily="18" charset="0"/>
              </a:defRPr>
            </a:lvl6pPr>
            <a:lvl7pPr marL="2971800" indent="-228600" eaLnBrk="0" fontAlgn="base" hangingPunct="0">
              <a:spcBef>
                <a:spcPct val="0"/>
              </a:spcBef>
              <a:spcAft>
                <a:spcPct val="0"/>
              </a:spcAft>
              <a:defRPr sz="2400">
                <a:solidFill>
                  <a:schemeClr val="tx1"/>
                </a:solidFill>
                <a:latin typeface="Times" pitchFamily="18" charset="0"/>
              </a:defRPr>
            </a:lvl7pPr>
            <a:lvl8pPr marL="3429000" indent="-228600" eaLnBrk="0" fontAlgn="base" hangingPunct="0">
              <a:spcBef>
                <a:spcPct val="0"/>
              </a:spcBef>
              <a:spcAft>
                <a:spcPct val="0"/>
              </a:spcAft>
              <a:defRPr sz="2400">
                <a:solidFill>
                  <a:schemeClr val="tx1"/>
                </a:solidFill>
                <a:latin typeface="Times" pitchFamily="18" charset="0"/>
              </a:defRPr>
            </a:lvl8pPr>
            <a:lvl9pPr marL="3886200" indent="-228600" eaLnBrk="0" fontAlgn="base" hangingPunct="0">
              <a:spcBef>
                <a:spcPct val="0"/>
              </a:spcBef>
              <a:spcAft>
                <a:spcPct val="0"/>
              </a:spcAft>
              <a:defRPr sz="2400">
                <a:solidFill>
                  <a:schemeClr val="tx1"/>
                </a:solidFill>
                <a:latin typeface="Times" pitchFamily="18" charset="0"/>
              </a:defRPr>
            </a:lvl9pPr>
          </a:lstStyle>
          <a:p>
            <a:pPr eaLnBrk="1" hangingPunct="1">
              <a:spcBef>
                <a:spcPct val="20000"/>
              </a:spcBef>
              <a:defRPr/>
            </a:pPr>
            <a:endParaRPr lang="en-US" altLang="en-US" sz="1800" b="1">
              <a:solidFill>
                <a:schemeClr val="bg1"/>
              </a:solidFill>
              <a:latin typeface="Arial" charset="0"/>
            </a:endParaRPr>
          </a:p>
        </p:txBody>
      </p:sp>
      <p:pic>
        <p:nvPicPr>
          <p:cNvPr id="1035" name="Picture 11"/>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266700" y="5843588"/>
            <a:ext cx="1943100" cy="86201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731"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Lst>
  <p:txStyles>
    <p:titleStyle>
      <a:lvl1pPr algn="l" rtl="0" eaLnBrk="0" fontAlgn="base" hangingPunct="0">
        <a:spcBef>
          <a:spcPct val="0"/>
        </a:spcBef>
        <a:spcAft>
          <a:spcPct val="0"/>
        </a:spcAft>
        <a:defRPr sz="4400">
          <a:solidFill>
            <a:srgbClr val="663366"/>
          </a:solidFill>
          <a:latin typeface="+mj-lt"/>
          <a:ea typeface="+mj-ea"/>
          <a:cs typeface="+mj-cs"/>
        </a:defRPr>
      </a:lvl1pPr>
      <a:lvl2pPr algn="l" rtl="0" eaLnBrk="0" fontAlgn="base" hangingPunct="0">
        <a:spcBef>
          <a:spcPct val="0"/>
        </a:spcBef>
        <a:spcAft>
          <a:spcPct val="0"/>
        </a:spcAft>
        <a:defRPr sz="4400">
          <a:solidFill>
            <a:srgbClr val="663366"/>
          </a:solidFill>
          <a:latin typeface="Times" pitchFamily="18" charset="0"/>
        </a:defRPr>
      </a:lvl2pPr>
      <a:lvl3pPr algn="l" rtl="0" eaLnBrk="0" fontAlgn="base" hangingPunct="0">
        <a:spcBef>
          <a:spcPct val="0"/>
        </a:spcBef>
        <a:spcAft>
          <a:spcPct val="0"/>
        </a:spcAft>
        <a:defRPr sz="4400">
          <a:solidFill>
            <a:srgbClr val="663366"/>
          </a:solidFill>
          <a:latin typeface="Times" pitchFamily="18" charset="0"/>
        </a:defRPr>
      </a:lvl3pPr>
      <a:lvl4pPr algn="l" rtl="0" eaLnBrk="0" fontAlgn="base" hangingPunct="0">
        <a:spcBef>
          <a:spcPct val="0"/>
        </a:spcBef>
        <a:spcAft>
          <a:spcPct val="0"/>
        </a:spcAft>
        <a:defRPr sz="4400">
          <a:solidFill>
            <a:srgbClr val="663366"/>
          </a:solidFill>
          <a:latin typeface="Times" pitchFamily="18" charset="0"/>
        </a:defRPr>
      </a:lvl4pPr>
      <a:lvl5pPr algn="l" rtl="0" eaLnBrk="0" fontAlgn="base" hangingPunct="0">
        <a:spcBef>
          <a:spcPct val="0"/>
        </a:spcBef>
        <a:spcAft>
          <a:spcPct val="0"/>
        </a:spcAft>
        <a:defRPr sz="4400">
          <a:solidFill>
            <a:srgbClr val="663366"/>
          </a:solidFill>
          <a:latin typeface="Times" pitchFamily="18" charset="0"/>
        </a:defRPr>
      </a:lvl5pPr>
      <a:lvl6pPr marL="457200" algn="l" rtl="0" fontAlgn="base">
        <a:spcBef>
          <a:spcPct val="0"/>
        </a:spcBef>
        <a:spcAft>
          <a:spcPct val="0"/>
        </a:spcAft>
        <a:defRPr sz="4400">
          <a:solidFill>
            <a:srgbClr val="663366"/>
          </a:solidFill>
          <a:latin typeface="Times" pitchFamily="18" charset="0"/>
        </a:defRPr>
      </a:lvl6pPr>
      <a:lvl7pPr marL="914400" algn="l" rtl="0" fontAlgn="base">
        <a:spcBef>
          <a:spcPct val="0"/>
        </a:spcBef>
        <a:spcAft>
          <a:spcPct val="0"/>
        </a:spcAft>
        <a:defRPr sz="4400">
          <a:solidFill>
            <a:srgbClr val="663366"/>
          </a:solidFill>
          <a:latin typeface="Times" pitchFamily="18" charset="0"/>
        </a:defRPr>
      </a:lvl7pPr>
      <a:lvl8pPr marL="1371600" algn="l" rtl="0" fontAlgn="base">
        <a:spcBef>
          <a:spcPct val="0"/>
        </a:spcBef>
        <a:spcAft>
          <a:spcPct val="0"/>
        </a:spcAft>
        <a:defRPr sz="4400">
          <a:solidFill>
            <a:srgbClr val="663366"/>
          </a:solidFill>
          <a:latin typeface="Times" pitchFamily="18" charset="0"/>
        </a:defRPr>
      </a:lvl8pPr>
      <a:lvl9pPr marL="1828800" algn="l" rtl="0" fontAlgn="base">
        <a:spcBef>
          <a:spcPct val="0"/>
        </a:spcBef>
        <a:spcAft>
          <a:spcPct val="0"/>
        </a:spcAft>
        <a:defRPr sz="4400">
          <a:solidFill>
            <a:srgbClr val="663366"/>
          </a:solidFill>
          <a:latin typeface="Times" pitchFamily="18" charset="0"/>
        </a:defRPr>
      </a:lvl9pPr>
    </p:titleStyle>
    <p:bodyStyle>
      <a:lvl1pPr marL="342900" indent="-342900" algn="l" rtl="0" eaLnBrk="0" fontAlgn="base" hangingPunct="0">
        <a:spcBef>
          <a:spcPct val="20000"/>
        </a:spcBef>
        <a:spcAft>
          <a:spcPct val="0"/>
        </a:spcAft>
        <a:defRPr>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400">
          <a:solidFill>
            <a:schemeClr val="tx1"/>
          </a:solidFill>
          <a:latin typeface="+mn-lt"/>
        </a:defRPr>
      </a:lvl3pPr>
      <a:lvl4pPr marL="1600200" indent="-228600" algn="l" rtl="0" eaLnBrk="0" fontAlgn="base" hangingPunct="0">
        <a:spcBef>
          <a:spcPct val="20000"/>
        </a:spcBef>
        <a:spcAft>
          <a:spcPct val="0"/>
        </a:spcAft>
        <a:buChar char="–"/>
        <a:defRPr sz="1200">
          <a:solidFill>
            <a:schemeClr val="tx1"/>
          </a:solidFill>
          <a:latin typeface="+mn-lt"/>
        </a:defRPr>
      </a:lvl4pPr>
      <a:lvl5pPr marL="2057400" indent="-228600" algn="l" rtl="0" eaLnBrk="0" fontAlgn="base" hangingPunct="0">
        <a:spcBef>
          <a:spcPct val="20000"/>
        </a:spcBef>
        <a:spcAft>
          <a:spcPct val="0"/>
        </a:spcAft>
        <a:buChar char="»"/>
        <a:defRPr sz="1200">
          <a:solidFill>
            <a:schemeClr val="tx1"/>
          </a:solidFill>
          <a:latin typeface="+mn-lt"/>
        </a:defRPr>
      </a:lvl5pPr>
      <a:lvl6pPr marL="2514600" indent="-228600" algn="l" rtl="0" fontAlgn="base">
        <a:spcBef>
          <a:spcPct val="20000"/>
        </a:spcBef>
        <a:spcAft>
          <a:spcPct val="0"/>
        </a:spcAft>
        <a:buChar char="»"/>
        <a:defRPr sz="1200">
          <a:solidFill>
            <a:schemeClr val="tx1"/>
          </a:solidFill>
          <a:latin typeface="+mn-lt"/>
        </a:defRPr>
      </a:lvl6pPr>
      <a:lvl7pPr marL="2971800" indent="-228600" algn="l" rtl="0" fontAlgn="base">
        <a:spcBef>
          <a:spcPct val="20000"/>
        </a:spcBef>
        <a:spcAft>
          <a:spcPct val="0"/>
        </a:spcAft>
        <a:buChar char="»"/>
        <a:defRPr sz="1200">
          <a:solidFill>
            <a:schemeClr val="tx1"/>
          </a:solidFill>
          <a:latin typeface="+mn-lt"/>
        </a:defRPr>
      </a:lvl7pPr>
      <a:lvl8pPr marL="3429000" indent="-228600" algn="l" rtl="0" fontAlgn="base">
        <a:spcBef>
          <a:spcPct val="20000"/>
        </a:spcBef>
        <a:spcAft>
          <a:spcPct val="0"/>
        </a:spcAft>
        <a:buChar char="»"/>
        <a:defRPr sz="1200">
          <a:solidFill>
            <a:schemeClr val="tx1"/>
          </a:solidFill>
          <a:latin typeface="+mn-lt"/>
        </a:defRPr>
      </a:lvl8pPr>
      <a:lvl9pPr marL="3886200" indent="-228600" algn="l" rtl="0" fontAlgn="base">
        <a:spcBef>
          <a:spcPct val="20000"/>
        </a:spcBef>
        <a:spcAft>
          <a:spcPct val="0"/>
        </a:spcAft>
        <a:buChar char="»"/>
        <a:defRPr sz="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ctrTitle" sz="quarter"/>
          </p:nvPr>
        </p:nvSpPr>
        <p:spPr/>
        <p:txBody>
          <a:bodyPr>
            <a:normAutofit fontScale="90000"/>
          </a:bodyPr>
          <a:lstStyle/>
          <a:p>
            <a:pPr algn="ctr" eaLnBrk="1" hangingPunct="1"/>
            <a:r>
              <a:rPr lang="en-GB" altLang="en-US" dirty="0">
                <a:latin typeface="Calibri" panose="020F0502020204030204" pitchFamily="34" charset="0"/>
              </a:rPr>
              <a:t>Contemporary Issues in the Law of the Internal Market 2024/2025</a:t>
            </a:r>
          </a:p>
        </p:txBody>
      </p:sp>
      <p:sp>
        <p:nvSpPr>
          <p:cNvPr id="10243" name="Subtitle 2"/>
          <p:cNvSpPr>
            <a:spLocks noGrp="1"/>
          </p:cNvSpPr>
          <p:nvPr>
            <p:ph type="subTitle" sz="quarter" idx="1"/>
          </p:nvPr>
        </p:nvSpPr>
        <p:spPr/>
        <p:txBody>
          <a:bodyPr>
            <a:normAutofit fontScale="92500" lnSpcReduction="10000"/>
          </a:bodyPr>
          <a:lstStyle/>
          <a:p>
            <a:pPr eaLnBrk="1" hangingPunct="1">
              <a:lnSpc>
                <a:spcPct val="110000"/>
              </a:lnSpc>
              <a:spcBef>
                <a:spcPct val="0"/>
              </a:spcBef>
            </a:pPr>
            <a:r>
              <a:rPr lang="en-GB" altLang="en-US" sz="2200" dirty="0">
                <a:latin typeface="Calibri" panose="020F0502020204030204" pitchFamily="34" charset="0"/>
              </a:rPr>
              <a:t>Lecture 17: Establishment/Services</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Prof Pierre Schammo</a:t>
            </a:r>
          </a:p>
          <a:p>
            <a:pPr eaLnBrk="1" hangingPunct="1">
              <a:lnSpc>
                <a:spcPct val="110000"/>
              </a:lnSpc>
              <a:spcBef>
                <a:spcPct val="0"/>
              </a:spcBef>
            </a:pPr>
            <a:endParaRPr lang="en-GB" altLang="en-US" sz="2200" dirty="0">
              <a:latin typeface="Calibri" panose="020F0502020204030204" pitchFamily="34" charset="0"/>
            </a:endParaRPr>
          </a:p>
          <a:p>
            <a:pPr eaLnBrk="1" hangingPunct="1">
              <a:lnSpc>
                <a:spcPct val="110000"/>
              </a:lnSpc>
              <a:spcBef>
                <a:spcPct val="0"/>
              </a:spcBef>
            </a:pPr>
            <a:r>
              <a:rPr lang="en-GB" altLang="en-US" sz="2200" dirty="0">
                <a:latin typeface="Calibri" panose="020F0502020204030204" pitchFamily="34" charset="0"/>
              </a:rPr>
              <a:t>pierre.schammo@durham.ac.uk  </a:t>
            </a:r>
            <a:endParaRPr lang="en-GB" altLang="en-US" sz="2200" dirty="0">
              <a:solidFill>
                <a:srgbClr val="663366"/>
              </a:solidFill>
              <a:latin typeface="Calibri" panose="020F0502020204030204" pitchFamily="34" charset="0"/>
            </a:endParaRPr>
          </a:p>
          <a:p>
            <a:pPr eaLnBrk="1" hangingPunct="1"/>
            <a:endParaRPr lang="en-GB" altLang="en-US" sz="2200" dirty="0">
              <a:latin typeface="Calibri" panose="020F0502020204030204" pitchFamily="34" charset="0"/>
            </a:endParaRPr>
          </a:p>
        </p:txBody>
      </p:sp>
    </p:spTree>
    <p:extLst>
      <p:ext uri="{BB962C8B-B14F-4D97-AF65-F5344CB8AC3E}">
        <p14:creationId xmlns:p14="http://schemas.microsoft.com/office/powerpoint/2010/main" val="22846159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99393"/>
            <a:ext cx="7772400" cy="1061545"/>
          </a:xfrm>
        </p:spPr>
        <p:txBody>
          <a:bodyPr/>
          <a:lstStyle/>
          <a:p>
            <a:r>
              <a:rPr lang="en-US" dirty="0"/>
              <a:t>Overview</a:t>
            </a:r>
          </a:p>
        </p:txBody>
      </p:sp>
      <p:sp>
        <p:nvSpPr>
          <p:cNvPr id="3" name="Content Placeholder 2"/>
          <p:cNvSpPr>
            <a:spLocks noGrp="1"/>
          </p:cNvSpPr>
          <p:nvPr>
            <p:ph idx="1"/>
          </p:nvPr>
        </p:nvSpPr>
        <p:spPr>
          <a:xfrm>
            <a:off x="684213" y="1555531"/>
            <a:ext cx="7772400" cy="4249957"/>
          </a:xfrm>
        </p:spPr>
        <p:txBody>
          <a:bodyPr>
            <a:normAutofit/>
          </a:bodyPr>
          <a:lstStyle/>
          <a:p>
            <a:pPr marL="457200" indent="-457200">
              <a:lnSpc>
                <a:spcPct val="120000"/>
              </a:lnSpc>
              <a:buFont typeface="Arial" panose="020B0604020202020204" pitchFamily="34" charset="0"/>
              <a:buChar char="•"/>
            </a:pPr>
            <a:r>
              <a:rPr lang="en-GB" sz="3200" dirty="0"/>
              <a:t>Finish free movement of legal persons (company mobility)</a:t>
            </a:r>
          </a:p>
          <a:p>
            <a:pPr marL="457200" indent="-457200">
              <a:lnSpc>
                <a:spcPct val="120000"/>
              </a:lnSpc>
              <a:buFont typeface="Arial" panose="020B0604020202020204" pitchFamily="34" charset="0"/>
              <a:buChar char="•"/>
            </a:pPr>
            <a:r>
              <a:rPr lang="en-GB" sz="3200" dirty="0"/>
              <a:t>Right of establishment and social dumping</a:t>
            </a:r>
          </a:p>
          <a:p>
            <a:pPr marL="457200" indent="-457200">
              <a:lnSpc>
                <a:spcPct val="120000"/>
              </a:lnSpc>
              <a:buFont typeface="Arial" panose="020B0604020202020204" pitchFamily="34" charset="0"/>
              <a:buChar char="•"/>
            </a:pPr>
            <a:r>
              <a:rPr lang="en-GB" sz="3200" dirty="0"/>
              <a:t>Free movement of services</a:t>
            </a:r>
            <a:endParaRPr lang="en-GB" dirty="0"/>
          </a:p>
          <a:p>
            <a:pPr lvl="1"/>
            <a:endParaRPr lang="en-US" dirty="0"/>
          </a:p>
        </p:txBody>
      </p:sp>
    </p:spTree>
    <p:custDataLst>
      <p:tags r:id="rId1"/>
    </p:custDataLst>
    <p:extLst>
      <p:ext uri="{BB962C8B-B14F-4D97-AF65-F5344CB8AC3E}">
        <p14:creationId xmlns:p14="http://schemas.microsoft.com/office/powerpoint/2010/main" val="292565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94446"/>
            <a:ext cx="7772400" cy="842683"/>
          </a:xfrm>
        </p:spPr>
        <p:txBody>
          <a:bodyPr/>
          <a:lstStyle/>
          <a:p>
            <a:pPr algn="ctr"/>
            <a:r>
              <a:rPr lang="en-GB" dirty="0"/>
              <a:t>Case C-210/06 </a:t>
            </a:r>
            <a:r>
              <a:rPr lang="en-GB" dirty="0" err="1"/>
              <a:t>Cartesio</a:t>
            </a:r>
            <a:endParaRPr lang="en-US" dirty="0"/>
          </a:p>
        </p:txBody>
      </p:sp>
      <p:sp>
        <p:nvSpPr>
          <p:cNvPr id="3" name="Content Placeholder 2"/>
          <p:cNvSpPr>
            <a:spLocks noGrp="1"/>
          </p:cNvSpPr>
          <p:nvPr>
            <p:ph idx="1"/>
          </p:nvPr>
        </p:nvSpPr>
        <p:spPr>
          <a:xfrm>
            <a:off x="182880" y="1376313"/>
            <a:ext cx="8668512" cy="4786743"/>
          </a:xfrm>
        </p:spPr>
        <p:txBody>
          <a:bodyPr>
            <a:normAutofit fontScale="77500" lnSpcReduction="20000"/>
          </a:bodyPr>
          <a:lstStyle/>
          <a:p>
            <a:pPr algn="just">
              <a:lnSpc>
                <a:spcPct val="120000"/>
              </a:lnSpc>
              <a:buFont typeface="Arial" panose="020B0604020202020204" pitchFamily="34" charset="0"/>
              <a:buChar char="•"/>
            </a:pPr>
            <a:r>
              <a:rPr lang="en-US" sz="2800" dirty="0"/>
              <a:t>Transfer of the actual </a:t>
            </a:r>
            <a:r>
              <a:rPr lang="en-US" sz="2800" dirty="0" err="1"/>
              <a:t>centre</a:t>
            </a:r>
            <a:r>
              <a:rPr lang="en-US" sz="2800" dirty="0"/>
              <a:t> of administration of a Hungarian company to Italy</a:t>
            </a:r>
            <a:r>
              <a:rPr lang="en-GB" sz="2800" dirty="0">
                <a:effectLst/>
              </a:rPr>
              <a:t> </a:t>
            </a:r>
          </a:p>
          <a:p>
            <a:pPr algn="just">
              <a:lnSpc>
                <a:spcPct val="120000"/>
              </a:lnSpc>
              <a:buFont typeface="Arial" panose="020B0604020202020204" pitchFamily="34" charset="0"/>
              <a:buChar char="•"/>
            </a:pPr>
            <a:r>
              <a:rPr lang="en-GB" sz="2800" dirty="0"/>
              <a:t>‘</a:t>
            </a:r>
            <a:r>
              <a:rPr lang="en-US" sz="2800" dirty="0"/>
              <a:t>a Member State has the power to define both the connecting factor required of a company if it is to be regarded as incorporated under the law of that Member State and, as such, capable of enjoying the right of establishment, and that required if the company is to be able subsequently to maintain that status. That </a:t>
            </a:r>
            <a:r>
              <a:rPr lang="en-US" sz="2800" u="sng" dirty="0"/>
              <a:t>power includes the possibility for that Member State not to permit</a:t>
            </a:r>
            <a:r>
              <a:rPr lang="en-US" sz="2800" dirty="0"/>
              <a:t> a company governed by its law to retain that status if the company intends to </a:t>
            </a:r>
            <a:r>
              <a:rPr lang="en-US" sz="2800" dirty="0" err="1"/>
              <a:t>reorganise</a:t>
            </a:r>
            <a:r>
              <a:rPr lang="en-US" sz="2800" dirty="0"/>
              <a:t> itself in another Member State by moving its seat to the territory of the latter, thereby </a:t>
            </a:r>
          </a:p>
          <a:p>
            <a:pPr marL="0" indent="0" algn="just">
              <a:lnSpc>
                <a:spcPct val="120000"/>
              </a:lnSpc>
            </a:pPr>
            <a:r>
              <a:rPr lang="en-US" sz="2800" dirty="0"/>
              <a:t>     breaking the connecting factor required under the </a:t>
            </a:r>
          </a:p>
          <a:p>
            <a:pPr marL="0" indent="0" algn="just">
              <a:lnSpc>
                <a:spcPct val="120000"/>
              </a:lnSpc>
            </a:pPr>
            <a:r>
              <a:rPr lang="en-US" sz="2800" dirty="0"/>
              <a:t>     national law of the Member State of incorporation’.</a:t>
            </a:r>
            <a:endParaRPr lang="en-GB" sz="2800" dirty="0">
              <a:effectLst/>
            </a:endParaRPr>
          </a:p>
        </p:txBody>
      </p:sp>
    </p:spTree>
    <p:custDataLst>
      <p:tags r:id="rId1"/>
    </p:custDataLst>
    <p:extLst>
      <p:ext uri="{BB962C8B-B14F-4D97-AF65-F5344CB8AC3E}">
        <p14:creationId xmlns:p14="http://schemas.microsoft.com/office/powerpoint/2010/main" val="33732326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29184"/>
            <a:ext cx="7772400" cy="1225296"/>
          </a:xfrm>
        </p:spPr>
        <p:txBody>
          <a:bodyPr/>
          <a:lstStyle/>
          <a:p>
            <a:pPr algn="ctr"/>
            <a:r>
              <a:rPr lang="en-GB" dirty="0"/>
              <a:t>Case C-378/10 </a:t>
            </a:r>
            <a:r>
              <a:rPr lang="en-GB" i="1" dirty="0"/>
              <a:t>VALE</a:t>
            </a:r>
            <a:endParaRPr lang="en-US" dirty="0"/>
          </a:p>
        </p:txBody>
      </p:sp>
      <p:sp>
        <p:nvSpPr>
          <p:cNvPr id="3" name="Content Placeholder 2"/>
          <p:cNvSpPr>
            <a:spLocks noGrp="1"/>
          </p:cNvSpPr>
          <p:nvPr>
            <p:ph idx="1"/>
          </p:nvPr>
        </p:nvSpPr>
        <p:spPr>
          <a:xfrm>
            <a:off x="182880" y="1554480"/>
            <a:ext cx="8668512" cy="4608576"/>
          </a:xfrm>
        </p:spPr>
        <p:txBody>
          <a:bodyPr>
            <a:normAutofit/>
          </a:bodyPr>
          <a:lstStyle/>
          <a:p>
            <a:pPr algn="just">
              <a:buFont typeface="Arial" panose="020B0604020202020204" pitchFamily="34" charset="0"/>
              <a:buChar char="•"/>
            </a:pPr>
            <a:r>
              <a:rPr lang="en-US" sz="2800" u="sng" dirty="0"/>
              <a:t>Cross-border conversion (reincorporation)</a:t>
            </a:r>
            <a:r>
              <a:rPr lang="en-US" sz="2800" dirty="0"/>
              <a:t> of a </a:t>
            </a:r>
            <a:r>
              <a:rPr lang="en-US" sz="2800" dirty="0" err="1"/>
              <a:t>cpy</a:t>
            </a:r>
            <a:r>
              <a:rPr lang="en-US" sz="2800" dirty="0"/>
              <a:t>: Vale wishes to transfer from Italy to Hungary</a:t>
            </a:r>
            <a:r>
              <a:rPr lang="en-GB" sz="2800" dirty="0">
                <a:effectLst/>
              </a:rPr>
              <a:t> </a:t>
            </a:r>
          </a:p>
          <a:p>
            <a:pPr algn="just">
              <a:buFont typeface="Arial" panose="020B0604020202020204" pitchFamily="34" charset="0"/>
              <a:buChar char="•"/>
            </a:pPr>
            <a:r>
              <a:rPr lang="en-GB" sz="2800" dirty="0"/>
              <a:t>‘Articles 49 TFEU and 54 TFEU must be interpreted as precluding national legislation which enables companies established under national law to convert, but does not allow, in a general manner, companies governed by the law of another Member State to convert to companies governed by national law by incorporating such a company’</a:t>
            </a:r>
            <a:endParaRPr lang="en-GB" sz="2800" dirty="0">
              <a:effectLst/>
            </a:endParaRPr>
          </a:p>
        </p:txBody>
      </p:sp>
    </p:spTree>
    <p:custDataLst>
      <p:tags r:id="rId1"/>
    </p:custDataLst>
    <p:extLst>
      <p:ext uri="{BB962C8B-B14F-4D97-AF65-F5344CB8AC3E}">
        <p14:creationId xmlns:p14="http://schemas.microsoft.com/office/powerpoint/2010/main" val="634640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52DD09-D3B5-885D-525A-76DE5A1E58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72962-AC08-58BF-816C-031FA576B7EC}"/>
              </a:ext>
            </a:extLst>
          </p:cNvPr>
          <p:cNvSpPr>
            <a:spLocks noGrp="1"/>
          </p:cNvSpPr>
          <p:nvPr>
            <p:ph type="title"/>
          </p:nvPr>
        </p:nvSpPr>
        <p:spPr>
          <a:xfrm>
            <a:off x="685800" y="329185"/>
            <a:ext cx="7772400" cy="737616"/>
          </a:xfrm>
        </p:spPr>
        <p:txBody>
          <a:bodyPr/>
          <a:lstStyle/>
          <a:p>
            <a:pPr algn="ctr"/>
            <a:r>
              <a:rPr lang="en-GB" dirty="0"/>
              <a:t>Case C-378/10 </a:t>
            </a:r>
            <a:r>
              <a:rPr lang="en-GB" i="1" dirty="0"/>
              <a:t>VALE</a:t>
            </a:r>
            <a:endParaRPr lang="en-US" dirty="0"/>
          </a:p>
        </p:txBody>
      </p:sp>
      <p:sp>
        <p:nvSpPr>
          <p:cNvPr id="3" name="Content Placeholder 2">
            <a:extLst>
              <a:ext uri="{FF2B5EF4-FFF2-40B4-BE49-F238E27FC236}">
                <a16:creationId xmlns:a16="http://schemas.microsoft.com/office/drawing/2014/main" id="{F4C4BE72-A8C3-3D8A-55FA-7B50C0034C0B}"/>
              </a:ext>
            </a:extLst>
          </p:cNvPr>
          <p:cNvSpPr>
            <a:spLocks noGrp="1"/>
          </p:cNvSpPr>
          <p:nvPr>
            <p:ph idx="1"/>
          </p:nvPr>
        </p:nvSpPr>
        <p:spPr>
          <a:xfrm>
            <a:off x="484094" y="1201271"/>
            <a:ext cx="8367298" cy="4975411"/>
          </a:xfrm>
        </p:spPr>
        <p:txBody>
          <a:bodyPr>
            <a:noAutofit/>
          </a:bodyPr>
          <a:lstStyle/>
          <a:p>
            <a:r>
              <a:rPr lang="en-GB" sz="2400" dirty="0"/>
              <a:t>“</a:t>
            </a:r>
            <a:r>
              <a:rPr lang="en-GB" sz="2200" dirty="0"/>
              <a:t>It is thus apparent that the expression ‘</a:t>
            </a:r>
            <a:r>
              <a:rPr lang="en-GB" sz="2200" u="sng" dirty="0"/>
              <a:t>to the extent that it </a:t>
            </a:r>
          </a:p>
          <a:p>
            <a:r>
              <a:rPr lang="en-GB" sz="2200" u="sng" dirty="0"/>
              <a:t>is permitted </a:t>
            </a:r>
            <a:r>
              <a:rPr lang="en-GB" sz="2200" dirty="0"/>
              <a:t>under that law to do so’, in paragraph 112 of </a:t>
            </a:r>
          </a:p>
          <a:p>
            <a:r>
              <a:rPr lang="en-GB" sz="2200" i="1" dirty="0" err="1"/>
              <a:t>Cartesio</a:t>
            </a:r>
            <a:r>
              <a:rPr lang="en-GB" sz="2200" dirty="0"/>
              <a:t>, cannot be understood as seeking to remove, </a:t>
            </a:r>
          </a:p>
          <a:p>
            <a:r>
              <a:rPr lang="en-GB" sz="2200" dirty="0"/>
              <a:t>from the outset, the legislation of the host Member State </a:t>
            </a:r>
          </a:p>
          <a:p>
            <a:r>
              <a:rPr lang="en-GB" sz="2200" dirty="0"/>
              <a:t>on company conversions from the scope of the provisions </a:t>
            </a:r>
          </a:p>
          <a:p>
            <a:r>
              <a:rPr lang="en-GB" sz="2200" dirty="0"/>
              <a:t>of the Treaty on the Functioning of the European Union </a:t>
            </a:r>
          </a:p>
          <a:p>
            <a:r>
              <a:rPr lang="en-GB" sz="2200" dirty="0"/>
              <a:t>governing the freedom of establishment, </a:t>
            </a:r>
            <a:r>
              <a:rPr lang="en-GB" sz="2200" u="sng" dirty="0"/>
              <a:t>but as reflecting </a:t>
            </a:r>
          </a:p>
          <a:p>
            <a:r>
              <a:rPr lang="en-GB" sz="2200" u="sng" dirty="0"/>
              <a:t>the mere consideration that a company established in </a:t>
            </a:r>
          </a:p>
          <a:p>
            <a:r>
              <a:rPr lang="en-GB" sz="2200" u="sng" dirty="0"/>
              <a:t>accordance with national law exists only on the basis of </a:t>
            </a:r>
          </a:p>
          <a:p>
            <a:r>
              <a:rPr lang="en-GB" sz="2200" u="sng" dirty="0"/>
              <a:t>the national legislation which ‘permits’ the incorporation of </a:t>
            </a:r>
          </a:p>
          <a:p>
            <a:r>
              <a:rPr lang="en-GB" sz="2200" u="sng" dirty="0"/>
              <a:t>the company, provided the conditions laid down to that effect </a:t>
            </a:r>
          </a:p>
          <a:p>
            <a:r>
              <a:rPr lang="en-GB" sz="2200" u="sng" dirty="0"/>
              <a:t>are satisfied</a:t>
            </a:r>
            <a:r>
              <a:rPr lang="en-GB" sz="2200" dirty="0"/>
              <a:t>.”</a:t>
            </a:r>
          </a:p>
        </p:txBody>
      </p:sp>
    </p:spTree>
    <p:custDataLst>
      <p:tags r:id="rId1"/>
    </p:custDataLst>
    <p:extLst>
      <p:ext uri="{BB962C8B-B14F-4D97-AF65-F5344CB8AC3E}">
        <p14:creationId xmlns:p14="http://schemas.microsoft.com/office/powerpoint/2010/main" val="25962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99393"/>
            <a:ext cx="7772400" cy="1061545"/>
          </a:xfrm>
        </p:spPr>
        <p:txBody>
          <a:bodyPr/>
          <a:lstStyle/>
          <a:p>
            <a:pPr algn="ctr"/>
            <a:r>
              <a:rPr lang="en-US" dirty="0"/>
              <a:t>C-106/16 </a:t>
            </a:r>
            <a:r>
              <a:rPr lang="en-US" dirty="0" err="1"/>
              <a:t>Polbud</a:t>
            </a:r>
            <a:r>
              <a:rPr lang="en-US" dirty="0"/>
              <a:t> </a:t>
            </a:r>
          </a:p>
        </p:txBody>
      </p:sp>
      <p:sp>
        <p:nvSpPr>
          <p:cNvPr id="3" name="Content Placeholder 2"/>
          <p:cNvSpPr>
            <a:spLocks noGrp="1"/>
          </p:cNvSpPr>
          <p:nvPr>
            <p:ph idx="1"/>
          </p:nvPr>
        </p:nvSpPr>
        <p:spPr>
          <a:xfrm>
            <a:off x="684213" y="1555531"/>
            <a:ext cx="7772400" cy="4249957"/>
          </a:xfrm>
        </p:spPr>
        <p:txBody>
          <a:bodyPr>
            <a:normAutofit/>
          </a:bodyPr>
          <a:lstStyle/>
          <a:p>
            <a:pPr marL="457200" indent="-457200">
              <a:lnSpc>
                <a:spcPct val="120000"/>
              </a:lnSpc>
              <a:buFont typeface="Arial" panose="020B0604020202020204" pitchFamily="34" charset="0"/>
              <a:buChar char="•"/>
            </a:pPr>
            <a:r>
              <a:rPr lang="en-GB" sz="3200" dirty="0"/>
              <a:t>Cross-border conversion (Polish company wishes to convert to a Luxembourg company whilst keeping its real seat in Poland; Polish legislation requires liquidation of company)</a:t>
            </a:r>
          </a:p>
          <a:p>
            <a:pPr marL="457200" indent="-457200">
              <a:lnSpc>
                <a:spcPct val="120000"/>
              </a:lnSpc>
              <a:buFont typeface="Arial" panose="020B0604020202020204" pitchFamily="34" charset="0"/>
              <a:buChar char="•"/>
            </a:pPr>
            <a:endParaRPr lang="en-GB" dirty="0"/>
          </a:p>
          <a:p>
            <a:pPr lvl="1"/>
            <a:endParaRPr lang="en-US" dirty="0"/>
          </a:p>
        </p:txBody>
      </p:sp>
    </p:spTree>
    <p:custDataLst>
      <p:tags r:id="rId1"/>
    </p:custDataLst>
    <p:extLst>
      <p:ext uri="{BB962C8B-B14F-4D97-AF65-F5344CB8AC3E}">
        <p14:creationId xmlns:p14="http://schemas.microsoft.com/office/powerpoint/2010/main" val="3766840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85750"/>
            <a:ext cx="7772400" cy="1200150"/>
          </a:xfrm>
        </p:spPr>
        <p:txBody>
          <a:bodyPr>
            <a:normAutofit fontScale="90000"/>
          </a:bodyPr>
          <a:lstStyle/>
          <a:p>
            <a:r>
              <a:rPr lang="en-US" dirty="0"/>
              <a:t>Right of establishment and social dumping</a:t>
            </a:r>
          </a:p>
        </p:txBody>
      </p:sp>
      <p:sp>
        <p:nvSpPr>
          <p:cNvPr id="3" name="Content Placeholder 2"/>
          <p:cNvSpPr>
            <a:spLocks noGrp="1"/>
          </p:cNvSpPr>
          <p:nvPr>
            <p:ph idx="1"/>
          </p:nvPr>
        </p:nvSpPr>
        <p:spPr>
          <a:xfrm>
            <a:off x="684213" y="1643063"/>
            <a:ext cx="7772400" cy="4605337"/>
          </a:xfrm>
        </p:spPr>
        <p:txBody>
          <a:bodyPr>
            <a:noAutofit/>
          </a:bodyPr>
          <a:lstStyle/>
          <a:p>
            <a:pPr>
              <a:buFont typeface="Arial" panose="020B0604020202020204" pitchFamily="34" charset="0"/>
              <a:buChar char="•"/>
            </a:pPr>
            <a:r>
              <a:rPr lang="en-US" sz="2500" dirty="0"/>
              <a:t>Social dumping</a:t>
            </a:r>
          </a:p>
          <a:p>
            <a:pPr lvl="1"/>
            <a:r>
              <a:rPr lang="en-US" sz="2500" dirty="0"/>
              <a:t>Economic actors relocate to M-S with inferior </a:t>
            </a:r>
            <a:r>
              <a:rPr lang="en-US" sz="2500" dirty="0" err="1"/>
              <a:t>labour</a:t>
            </a:r>
            <a:r>
              <a:rPr lang="en-US" sz="2500" dirty="0"/>
              <a:t> standards (regulatory arbitrage)</a:t>
            </a:r>
          </a:p>
          <a:p>
            <a:pPr lvl="1"/>
            <a:r>
              <a:rPr lang="en-US" sz="2500" dirty="0"/>
              <a:t>Economic actors take advantage of cheaper </a:t>
            </a:r>
            <a:r>
              <a:rPr lang="en-US" sz="2500" dirty="0" err="1"/>
              <a:t>labour</a:t>
            </a:r>
            <a:r>
              <a:rPr lang="en-US" sz="2500" dirty="0"/>
              <a:t> in their home state to provide services in other member states (</a:t>
            </a:r>
            <a:r>
              <a:rPr lang="en-US" sz="2500" dirty="0" err="1"/>
              <a:t>ie</a:t>
            </a:r>
            <a:r>
              <a:rPr lang="en-US" sz="2500" dirty="0"/>
              <a:t>. by using their own work force to provide services in host state)</a:t>
            </a:r>
          </a:p>
          <a:p>
            <a:pPr lvl="1"/>
            <a:r>
              <a:rPr lang="en-US" sz="2500" dirty="0"/>
              <a:t>Opportunities for social dumping increase in larger union where wage levels and worker protections differ between M-Ss</a:t>
            </a:r>
          </a:p>
        </p:txBody>
      </p:sp>
    </p:spTree>
    <p:extLst>
      <p:ext uri="{BB962C8B-B14F-4D97-AF65-F5344CB8AC3E}">
        <p14:creationId xmlns:p14="http://schemas.microsoft.com/office/powerpoint/2010/main" val="957526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57188"/>
            <a:ext cx="7772400" cy="1057274"/>
          </a:xfrm>
        </p:spPr>
        <p:txBody>
          <a:bodyPr/>
          <a:lstStyle/>
          <a:p>
            <a:pPr algn="ctr"/>
            <a:r>
              <a:rPr lang="en-GB" dirty="0"/>
              <a:t>Case C-438/05 </a:t>
            </a:r>
            <a:r>
              <a:rPr lang="en-GB" i="1" dirty="0"/>
              <a:t>Viking</a:t>
            </a:r>
            <a:r>
              <a:rPr lang="en-GB" dirty="0"/>
              <a:t> </a:t>
            </a:r>
            <a:endParaRPr lang="en-US" dirty="0"/>
          </a:p>
        </p:txBody>
      </p:sp>
      <p:sp>
        <p:nvSpPr>
          <p:cNvPr id="3" name="Content Placeholder 2"/>
          <p:cNvSpPr>
            <a:spLocks noGrp="1"/>
          </p:cNvSpPr>
          <p:nvPr>
            <p:ph idx="1"/>
          </p:nvPr>
        </p:nvSpPr>
        <p:spPr>
          <a:xfrm>
            <a:off x="685799" y="1571625"/>
            <a:ext cx="7772401" cy="4786312"/>
          </a:xfrm>
        </p:spPr>
        <p:txBody>
          <a:bodyPr>
            <a:noAutofit/>
          </a:bodyPr>
          <a:lstStyle/>
          <a:p>
            <a:pPr marL="0" indent="0">
              <a:spcBef>
                <a:spcPts val="0"/>
              </a:spcBef>
            </a:pPr>
            <a:r>
              <a:rPr lang="en-US" sz="2700" dirty="0"/>
              <a:t>Finish operator of ferry services between Finland and Estonia; wishes to ‘reflag’ ships from Finland to Estonia, to benefit from lower wage levels; Finish trade union supported by int. association of trade unions threatens strike action; can Viking rely on Art 49 TFEU against collective </a:t>
            </a:r>
            <a:r>
              <a:rPr lang="en-US" sz="2700" dirty="0" err="1"/>
              <a:t>labour</a:t>
            </a:r>
            <a:r>
              <a:rPr lang="en-US" sz="2700" dirty="0"/>
              <a:t> action?</a:t>
            </a:r>
          </a:p>
        </p:txBody>
      </p:sp>
    </p:spTree>
    <p:extLst>
      <p:ext uri="{BB962C8B-B14F-4D97-AF65-F5344CB8AC3E}">
        <p14:creationId xmlns:p14="http://schemas.microsoft.com/office/powerpoint/2010/main" val="1469807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987DC-FB2A-43A5-0C63-044397F3339A}"/>
              </a:ext>
            </a:extLst>
          </p:cNvPr>
          <p:cNvSpPr>
            <a:spLocks noGrp="1"/>
          </p:cNvSpPr>
          <p:nvPr>
            <p:ph type="title"/>
          </p:nvPr>
        </p:nvSpPr>
        <p:spPr>
          <a:xfrm>
            <a:off x="685800" y="314326"/>
            <a:ext cx="7772400" cy="1085850"/>
          </a:xfrm>
        </p:spPr>
        <p:txBody>
          <a:bodyPr/>
          <a:lstStyle/>
          <a:p>
            <a:pPr algn="ctr"/>
            <a:r>
              <a:rPr lang="en-GB" dirty="0"/>
              <a:t>Case C-438/05 </a:t>
            </a:r>
            <a:r>
              <a:rPr lang="en-GB" i="1" dirty="0"/>
              <a:t>Viking</a:t>
            </a:r>
            <a:r>
              <a:rPr lang="en-GB" dirty="0"/>
              <a:t> </a:t>
            </a:r>
            <a:endParaRPr lang="en-US" dirty="0"/>
          </a:p>
        </p:txBody>
      </p:sp>
      <p:sp>
        <p:nvSpPr>
          <p:cNvPr id="3" name="Content Placeholder 2">
            <a:extLst>
              <a:ext uri="{FF2B5EF4-FFF2-40B4-BE49-F238E27FC236}">
                <a16:creationId xmlns:a16="http://schemas.microsoft.com/office/drawing/2014/main" id="{37FDD794-F805-D938-F7BF-7E97DB8AF4A3}"/>
              </a:ext>
            </a:extLst>
          </p:cNvPr>
          <p:cNvSpPr>
            <a:spLocks noGrp="1"/>
          </p:cNvSpPr>
          <p:nvPr>
            <p:ph idx="1"/>
          </p:nvPr>
        </p:nvSpPr>
        <p:spPr>
          <a:xfrm>
            <a:off x="0" y="1671638"/>
            <a:ext cx="8915400" cy="4343400"/>
          </a:xfrm>
        </p:spPr>
        <p:txBody>
          <a:bodyPr/>
          <a:lstStyle/>
          <a:p>
            <a:pPr marL="457200" lvl="1" indent="0">
              <a:spcBef>
                <a:spcPts val="0"/>
              </a:spcBef>
              <a:buNone/>
            </a:pPr>
            <a:r>
              <a:rPr lang="en-US" sz="2300" b="0" i="0" dirty="0">
                <a:effectLst/>
              </a:rPr>
              <a:t>‘collective action such as that at issue in the main proceedings </a:t>
            </a:r>
            <a:r>
              <a:rPr lang="en-US" sz="2300" b="0" i="0" u="sng" dirty="0">
                <a:effectLst/>
              </a:rPr>
              <a:t>constitutes a restriction on freedom of establishment </a:t>
            </a:r>
            <a:r>
              <a:rPr lang="en-US" sz="2300" b="0" i="0" dirty="0">
                <a:effectLst/>
              </a:rPr>
              <a:t>within the meaning of Article [49] .</a:t>
            </a:r>
            <a:r>
              <a:rPr lang="en-US" sz="2300" dirty="0"/>
              <a:t>.. even if that [collective] action – aimed at protecting the jobs and conditions of employment of the members of that union liable to be adversely affected by the reflagging of the </a:t>
            </a:r>
            <a:r>
              <a:rPr lang="en-US" sz="2300" i="1" dirty="0"/>
              <a:t>Rosella</a:t>
            </a:r>
            <a:r>
              <a:rPr lang="en-US" sz="2300" dirty="0"/>
              <a:t> – could reasonably be considered to fall, at first sight, within the objective of protecting workers, </a:t>
            </a:r>
            <a:r>
              <a:rPr lang="en-US" sz="2300" u="sng" dirty="0"/>
              <a:t>such a view would no longer be tenable if it were established that the jobs or conditions of employment at issue were not </a:t>
            </a:r>
            <a:r>
              <a:rPr lang="en-US" sz="2300" u="sng" dirty="0" err="1"/>
              <a:t>jeopardised</a:t>
            </a:r>
            <a:r>
              <a:rPr lang="en-US" sz="2300" u="sng" dirty="0"/>
              <a:t> or under serious threat’</a:t>
            </a:r>
          </a:p>
          <a:p>
            <a:endParaRPr lang="en-US" dirty="0"/>
          </a:p>
        </p:txBody>
      </p:sp>
    </p:spTree>
    <p:extLst>
      <p:ext uri="{BB962C8B-B14F-4D97-AF65-F5344CB8AC3E}">
        <p14:creationId xmlns:p14="http://schemas.microsoft.com/office/powerpoint/2010/main" val="38777622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36332"/>
            <a:ext cx="7772400" cy="903890"/>
          </a:xfrm>
        </p:spPr>
        <p:txBody>
          <a:bodyPr/>
          <a:lstStyle/>
          <a:p>
            <a:r>
              <a:rPr lang="en-GB" dirty="0"/>
              <a:t>Case C-341/05 </a:t>
            </a:r>
            <a:r>
              <a:rPr lang="en-GB" i="1" dirty="0"/>
              <a:t>Laval</a:t>
            </a:r>
            <a:r>
              <a:rPr lang="en-GB" dirty="0"/>
              <a:t> </a:t>
            </a:r>
            <a:endParaRPr lang="en-US" dirty="0"/>
          </a:p>
        </p:txBody>
      </p:sp>
      <p:sp>
        <p:nvSpPr>
          <p:cNvPr id="3" name="Content Placeholder 2"/>
          <p:cNvSpPr>
            <a:spLocks noGrp="1"/>
          </p:cNvSpPr>
          <p:nvPr>
            <p:ph idx="1"/>
          </p:nvPr>
        </p:nvSpPr>
        <p:spPr>
          <a:xfrm>
            <a:off x="287867" y="1388532"/>
            <a:ext cx="8636000" cy="4416955"/>
          </a:xfrm>
        </p:spPr>
        <p:txBody>
          <a:bodyPr/>
          <a:lstStyle/>
          <a:p>
            <a:pPr>
              <a:buFont typeface="Arial" panose="020B0604020202020204" pitchFamily="34" charset="0"/>
              <a:buChar char="•"/>
            </a:pPr>
            <a:r>
              <a:rPr lang="en-GB" sz="2800" dirty="0"/>
              <a:t>Case C-341/05 </a:t>
            </a:r>
            <a:r>
              <a:rPr lang="en-GB" sz="2800" i="1" dirty="0"/>
              <a:t>Laval</a:t>
            </a:r>
            <a:r>
              <a:rPr lang="en-GB" sz="2800" dirty="0"/>
              <a:t> (Laval, Latvian company, wins contract to refurbish school in Sweden using Latvian workers earning approx. 40% less than Swedish workers; Laval refuses to apply Swedish collective agreement; industrial action against Laval in Sweden; is collective action contrary to Art 56 TFEU and Posted Workers’ Directive 96/71?)</a:t>
            </a:r>
            <a:endParaRPr lang="en-US" sz="2800" dirty="0"/>
          </a:p>
        </p:txBody>
      </p:sp>
    </p:spTree>
    <p:extLst>
      <p:ext uri="{BB962C8B-B14F-4D97-AF65-F5344CB8AC3E}">
        <p14:creationId xmlns:p14="http://schemas.microsoft.com/office/powerpoint/2010/main" val="1207493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38668"/>
            <a:ext cx="8001000" cy="1117600"/>
          </a:xfrm>
        </p:spPr>
        <p:txBody>
          <a:bodyPr>
            <a:normAutofit fontScale="90000"/>
          </a:bodyPr>
          <a:lstStyle/>
          <a:p>
            <a:pPr algn="ctr"/>
            <a:r>
              <a:rPr lang="en-US" dirty="0"/>
              <a:t>Free Movement of Services - Introduction</a:t>
            </a:r>
          </a:p>
        </p:txBody>
      </p:sp>
      <p:sp>
        <p:nvSpPr>
          <p:cNvPr id="3" name="Content Placeholder 2"/>
          <p:cNvSpPr>
            <a:spLocks noGrp="1"/>
          </p:cNvSpPr>
          <p:nvPr>
            <p:ph idx="1"/>
          </p:nvPr>
        </p:nvSpPr>
        <p:spPr>
          <a:xfrm>
            <a:off x="684213" y="1727200"/>
            <a:ext cx="7772400" cy="4521200"/>
          </a:xfrm>
        </p:spPr>
        <p:txBody>
          <a:bodyPr>
            <a:normAutofit lnSpcReduction="10000"/>
          </a:bodyPr>
          <a:lstStyle/>
          <a:p>
            <a:r>
              <a:rPr lang="en-GB" sz="2200" dirty="0"/>
              <a:t>Art 56 TFEU ‘... restrictions on freedom to provide services within the Union shall be prohibited in respect of nationals of Member States who are established in a Member State other than that of the person for whom the services are intended’</a:t>
            </a:r>
          </a:p>
          <a:p>
            <a:r>
              <a:rPr lang="en-GB" sz="2200" dirty="0">
                <a:effectLst/>
              </a:rPr>
              <a:t>Art 57 TFEU: services are </a:t>
            </a:r>
            <a:r>
              <a:rPr lang="en-GB" sz="2200" dirty="0"/>
              <a:t>deemed services under the Treaties ‘</a:t>
            </a:r>
            <a:r>
              <a:rPr lang="en-GB" sz="2200" u="sng" dirty="0"/>
              <a:t>where they are normally provided for remuneration</a:t>
            </a:r>
            <a:r>
              <a:rPr lang="en-GB" sz="2200" dirty="0"/>
              <a:t>, in so far as they are not governed by the provisions relating to freedom of movement for goods, capital and persons’.</a:t>
            </a:r>
          </a:p>
          <a:p>
            <a:r>
              <a:rPr lang="en-GB" sz="2200" dirty="0"/>
              <a:t>Pursuant to Art 62 TFEU, the provisions on the ‘</a:t>
            </a:r>
            <a:r>
              <a:rPr lang="en-GB" sz="2200" u="sng" dirty="0"/>
              <a:t>exercise of official authority</a:t>
            </a:r>
            <a:r>
              <a:rPr lang="en-GB" sz="2200" dirty="0"/>
              <a:t>’ and ‘</a:t>
            </a:r>
            <a:r>
              <a:rPr lang="en-GB" sz="2200" u="sng" dirty="0"/>
              <a:t>public policy, -security, -health</a:t>
            </a:r>
            <a:r>
              <a:rPr lang="en-GB" sz="2200" dirty="0"/>
              <a:t>’ in chapter on establishment apply also to Art 56 TFEU </a:t>
            </a:r>
          </a:p>
          <a:p>
            <a:endParaRPr lang="en-US" dirty="0"/>
          </a:p>
        </p:txBody>
      </p:sp>
    </p:spTree>
    <p:custDataLst>
      <p:tags r:id="rId1"/>
    </p:custDataLst>
    <p:extLst>
      <p:ext uri="{BB962C8B-B14F-4D97-AF65-F5344CB8AC3E}">
        <p14:creationId xmlns:p14="http://schemas.microsoft.com/office/powerpoint/2010/main" val="388294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87868"/>
            <a:ext cx="7772400" cy="897466"/>
          </a:xfrm>
        </p:spPr>
        <p:txBody>
          <a:bodyPr/>
          <a:lstStyle/>
          <a:p>
            <a:r>
              <a:rPr lang="en-US" dirty="0"/>
              <a:t>Scope of Art 56 TFEU</a:t>
            </a:r>
          </a:p>
        </p:txBody>
      </p:sp>
      <p:sp>
        <p:nvSpPr>
          <p:cNvPr id="3" name="Content Placeholder 2"/>
          <p:cNvSpPr>
            <a:spLocks noGrp="1"/>
          </p:cNvSpPr>
          <p:nvPr>
            <p:ph idx="1"/>
          </p:nvPr>
        </p:nvSpPr>
        <p:spPr>
          <a:xfrm>
            <a:off x="389467" y="1185334"/>
            <a:ext cx="8297333" cy="5061954"/>
          </a:xfrm>
        </p:spPr>
        <p:txBody>
          <a:bodyPr>
            <a:noAutofit/>
          </a:bodyPr>
          <a:lstStyle/>
          <a:p>
            <a:pPr marL="342900" lvl="1" indent="-342900">
              <a:lnSpc>
                <a:spcPct val="120000"/>
              </a:lnSpc>
              <a:buFont typeface="Arial"/>
              <a:buChar char="•"/>
            </a:pPr>
            <a:r>
              <a:rPr lang="en-GB" sz="2200" dirty="0"/>
              <a:t>Article 56 TFEU applies to those who </a:t>
            </a:r>
            <a:r>
              <a:rPr lang="en-GB" sz="2200" b="1" dirty="0"/>
              <a:t>provide</a:t>
            </a:r>
            <a:r>
              <a:rPr lang="en-GB" sz="2200" dirty="0"/>
              <a:t> a service for </a:t>
            </a:r>
            <a:r>
              <a:rPr lang="en-GB" sz="2200" b="1" dirty="0"/>
              <a:t>remuneration</a:t>
            </a:r>
            <a:r>
              <a:rPr lang="en-GB" sz="2200" dirty="0"/>
              <a:t>, provided there is a </a:t>
            </a:r>
            <a:r>
              <a:rPr lang="en-GB" sz="2200" b="1" dirty="0"/>
              <a:t>cross- border</a:t>
            </a:r>
            <a:r>
              <a:rPr lang="en-GB" sz="2200" dirty="0"/>
              <a:t> element, and to those who move to </a:t>
            </a:r>
            <a:r>
              <a:rPr lang="en-GB" sz="2200" b="1" dirty="0"/>
              <a:t>receive</a:t>
            </a:r>
            <a:r>
              <a:rPr lang="en-GB" sz="2200" dirty="0"/>
              <a:t> a service provided for </a:t>
            </a:r>
            <a:r>
              <a:rPr lang="en-GB" sz="2200" b="1" dirty="0"/>
              <a:t>remuneration</a:t>
            </a:r>
            <a:r>
              <a:rPr lang="en-GB" sz="2200" dirty="0"/>
              <a:t> </a:t>
            </a:r>
          </a:p>
          <a:p>
            <a:pPr marL="342900" lvl="1" indent="-342900">
              <a:lnSpc>
                <a:spcPct val="120000"/>
              </a:lnSpc>
              <a:buFont typeface="Arial"/>
              <a:buChar char="•"/>
            </a:pPr>
            <a:r>
              <a:rPr lang="en-GB" sz="2200" dirty="0"/>
              <a:t>Remuneration = “consideration for the service provided” (Case 263/86 </a:t>
            </a:r>
            <a:r>
              <a:rPr lang="en-GB" sz="2200" i="1" dirty="0" err="1"/>
              <a:t>Humbel</a:t>
            </a:r>
            <a:r>
              <a:rPr lang="en-GB" sz="2200" i="1" dirty="0"/>
              <a:t>)</a:t>
            </a:r>
            <a:r>
              <a:rPr lang="en-GB" sz="2200" dirty="0"/>
              <a:t> </a:t>
            </a:r>
          </a:p>
          <a:p>
            <a:pPr marL="742950" lvl="2" indent="-342900">
              <a:lnSpc>
                <a:spcPct val="120000"/>
              </a:lnSpc>
            </a:pPr>
            <a:r>
              <a:rPr lang="en-US" sz="2200" dirty="0"/>
              <a:t>‘The essential characteristic of remuneration ... is absent in the case of </a:t>
            </a:r>
            <a:r>
              <a:rPr lang="en-US" sz="2200" u="sng" dirty="0"/>
              <a:t>courses provided </a:t>
            </a:r>
            <a:r>
              <a:rPr lang="en-US" sz="2200" b="1" u="sng" dirty="0"/>
              <a:t>under the national education system…</a:t>
            </a:r>
            <a:r>
              <a:rPr lang="en-US" sz="2200" dirty="0"/>
              <a:t>’.</a:t>
            </a:r>
          </a:p>
          <a:p>
            <a:pPr marL="742950" lvl="2" indent="-342900">
              <a:lnSpc>
                <a:spcPct val="120000"/>
              </a:lnSpc>
            </a:pPr>
            <a:r>
              <a:rPr lang="en-US" sz="2200" dirty="0"/>
              <a:t>But </a:t>
            </a:r>
            <a:r>
              <a:rPr lang="en-US" sz="2200" u="sng" dirty="0"/>
              <a:t>private education </a:t>
            </a:r>
            <a:r>
              <a:rPr lang="en-US" sz="2200" dirty="0"/>
              <a:t>falls within scope of Art </a:t>
            </a:r>
          </a:p>
          <a:p>
            <a:pPr marL="400050" lvl="2" indent="0">
              <a:lnSpc>
                <a:spcPct val="120000"/>
              </a:lnSpc>
              <a:buNone/>
            </a:pPr>
            <a:r>
              <a:rPr lang="en-US" sz="2200" dirty="0"/>
              <a:t>     56 TFEU (</a:t>
            </a:r>
            <a:r>
              <a:rPr lang="en-GB" sz="2200" dirty="0"/>
              <a:t>Case C-76/05 </a:t>
            </a:r>
            <a:r>
              <a:rPr lang="en-GB" sz="2200" i="1" dirty="0"/>
              <a:t>Schwarz)</a:t>
            </a:r>
            <a:r>
              <a:rPr lang="en-GB" sz="2200" dirty="0"/>
              <a:t> </a:t>
            </a:r>
          </a:p>
          <a:p>
            <a:pPr marL="342900" lvl="1" indent="-342900">
              <a:buFont typeface="Arial"/>
              <a:buChar char="•"/>
            </a:pPr>
            <a:endParaRPr lang="en-GB" sz="1800" dirty="0"/>
          </a:p>
          <a:p>
            <a:endParaRPr lang="en-US" sz="1800" dirty="0"/>
          </a:p>
        </p:txBody>
      </p:sp>
    </p:spTree>
    <p:custDataLst>
      <p:tags r:id="rId1"/>
    </p:custDataLst>
    <p:extLst>
      <p:ext uri="{BB962C8B-B14F-4D97-AF65-F5344CB8AC3E}">
        <p14:creationId xmlns:p14="http://schemas.microsoft.com/office/powerpoint/2010/main" val="736016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21733"/>
            <a:ext cx="7772400" cy="948267"/>
          </a:xfrm>
        </p:spPr>
        <p:txBody>
          <a:bodyPr/>
          <a:lstStyle/>
          <a:p>
            <a:r>
              <a:rPr lang="en-US" dirty="0"/>
              <a:t>Scope of Art 56 TFEU (II)</a:t>
            </a:r>
          </a:p>
        </p:txBody>
      </p:sp>
      <p:sp>
        <p:nvSpPr>
          <p:cNvPr id="3" name="Content Placeholder 2"/>
          <p:cNvSpPr>
            <a:spLocks noGrp="1"/>
          </p:cNvSpPr>
          <p:nvPr>
            <p:ph idx="1"/>
          </p:nvPr>
        </p:nvSpPr>
        <p:spPr>
          <a:xfrm>
            <a:off x="237067" y="1456267"/>
            <a:ext cx="8483600" cy="4349221"/>
          </a:xfrm>
        </p:spPr>
        <p:txBody>
          <a:bodyPr>
            <a:normAutofit/>
          </a:bodyPr>
          <a:lstStyle/>
          <a:p>
            <a:pPr>
              <a:buFont typeface="Arial" panose="020B0604020202020204" pitchFamily="34" charset="0"/>
              <a:buChar char="•"/>
            </a:pPr>
            <a:r>
              <a:rPr lang="en-GB" sz="2500" dirty="0"/>
              <a:t>Service does not need to be paid by the recipient (Case </a:t>
            </a:r>
            <a:r>
              <a:rPr lang="en-GB" sz="2700" dirty="0"/>
              <a:t>352/85 </a:t>
            </a:r>
            <a:r>
              <a:rPr lang="en-GB" sz="2700" i="1" dirty="0"/>
              <a:t>Bond van </a:t>
            </a:r>
            <a:r>
              <a:rPr lang="en-GB" sz="2700" i="1" dirty="0" err="1"/>
              <a:t>Adverteerders</a:t>
            </a:r>
            <a:r>
              <a:rPr lang="en-GB" sz="2700" dirty="0"/>
              <a:t>)</a:t>
            </a:r>
            <a:r>
              <a:rPr lang="en-GB" sz="2700" i="1" dirty="0"/>
              <a:t> </a:t>
            </a:r>
          </a:p>
          <a:p>
            <a:pPr>
              <a:buFont typeface="Arial" panose="020B0604020202020204" pitchFamily="34" charset="0"/>
              <a:buChar char="•"/>
            </a:pPr>
            <a:r>
              <a:rPr lang="en-GB" sz="2700" dirty="0"/>
              <a:t>But bottom line: Article 56 TFEU does not apply when an economic element is lacking (C-159/90 </a:t>
            </a:r>
            <a:r>
              <a:rPr lang="en-GB" sz="2700" i="1" dirty="0"/>
              <a:t>Grogan</a:t>
            </a:r>
            <a:r>
              <a:rPr lang="en-GB" sz="2700" dirty="0"/>
              <a:t>)</a:t>
            </a:r>
            <a:r>
              <a:rPr lang="en-GB" sz="2700" i="1" dirty="0"/>
              <a:t> </a:t>
            </a:r>
            <a:r>
              <a:rPr lang="en-GB" sz="2700" dirty="0"/>
              <a:t>– ‘t</a:t>
            </a:r>
            <a:r>
              <a:rPr lang="en-US" sz="2700" dirty="0"/>
              <a:t>he provision of information on an economic activity </a:t>
            </a:r>
            <a:r>
              <a:rPr lang="en-US" sz="2700" u="sng" dirty="0"/>
              <a:t>is not to be regarded as a provision of services</a:t>
            </a:r>
            <a:r>
              <a:rPr lang="en-US" sz="2700" dirty="0"/>
              <a:t> ... </a:t>
            </a:r>
            <a:r>
              <a:rPr lang="en-US" sz="2700" b="1" dirty="0"/>
              <a:t>where</a:t>
            </a:r>
            <a:r>
              <a:rPr lang="en-US" sz="2700" dirty="0"/>
              <a:t> the information is not distributed </a:t>
            </a:r>
            <a:r>
              <a:rPr lang="en-US" sz="2700" u="sng" dirty="0"/>
              <a:t>on behalf </a:t>
            </a:r>
            <a:r>
              <a:rPr lang="en-US" sz="2700" dirty="0"/>
              <a:t>of an economic operator but constitutes merely a manifestation of freedom of expression’.</a:t>
            </a:r>
          </a:p>
        </p:txBody>
      </p:sp>
    </p:spTree>
    <p:custDataLst>
      <p:tags r:id="rId1"/>
    </p:custDataLst>
    <p:extLst>
      <p:ext uri="{BB962C8B-B14F-4D97-AF65-F5344CB8AC3E}">
        <p14:creationId xmlns:p14="http://schemas.microsoft.com/office/powerpoint/2010/main" val="3725703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270934"/>
            <a:ext cx="7772400" cy="931334"/>
          </a:xfrm>
        </p:spPr>
        <p:txBody>
          <a:bodyPr/>
          <a:lstStyle/>
          <a:p>
            <a:r>
              <a:rPr lang="en-US" dirty="0"/>
              <a:t>Cross-border element</a:t>
            </a:r>
          </a:p>
        </p:txBody>
      </p:sp>
      <p:sp>
        <p:nvSpPr>
          <p:cNvPr id="3" name="Content Placeholder 2"/>
          <p:cNvSpPr>
            <a:spLocks noGrp="1"/>
          </p:cNvSpPr>
          <p:nvPr>
            <p:ph idx="1"/>
          </p:nvPr>
        </p:nvSpPr>
        <p:spPr>
          <a:xfrm>
            <a:off x="270933" y="1202267"/>
            <a:ext cx="8185680" cy="5012265"/>
          </a:xfrm>
        </p:spPr>
        <p:txBody>
          <a:bodyPr>
            <a:noAutofit/>
          </a:bodyPr>
          <a:lstStyle/>
          <a:p>
            <a:pPr>
              <a:buFont typeface="Arial" panose="020B0604020202020204" pitchFamily="34" charset="0"/>
              <a:buChar char="•"/>
            </a:pPr>
            <a:r>
              <a:rPr lang="en-US" sz="2200" dirty="0"/>
              <a:t>Number of possible scenarios </a:t>
            </a:r>
          </a:p>
          <a:p>
            <a:pPr>
              <a:buFont typeface="Arial" panose="020B0604020202020204" pitchFamily="34" charset="0"/>
              <a:buChar char="•"/>
            </a:pPr>
            <a:r>
              <a:rPr lang="en-US" sz="2200" dirty="0"/>
              <a:t>Art 56 applies where:</a:t>
            </a:r>
          </a:p>
          <a:p>
            <a:pPr lvl="1"/>
            <a:r>
              <a:rPr lang="en-GB" sz="2200" dirty="0"/>
              <a:t>the </a:t>
            </a:r>
            <a:r>
              <a:rPr lang="en-GB" sz="2200" b="1" dirty="0"/>
              <a:t>provider moves</a:t>
            </a:r>
            <a:r>
              <a:rPr lang="en-GB" sz="2200" dirty="0"/>
              <a:t> to provide the service in another M-S. It is immaterial whether the recipient of the service comes from the same M-S as the provider </a:t>
            </a:r>
            <a:r>
              <a:rPr lang="en-GB" sz="2200" dirty="0">
                <a:sym typeface="Wingdings"/>
              </a:rPr>
              <a:t></a:t>
            </a:r>
            <a:r>
              <a:rPr lang="en-GB" sz="2200" dirty="0"/>
              <a:t> e.g. a tourist guide who accompanies clients from her M-S to visit another country is protected by Article 56 TFEU in the country they are visiting (Case C-154/89 </a:t>
            </a:r>
            <a:r>
              <a:rPr lang="en-GB" sz="2200" i="1" dirty="0"/>
              <a:t>Commission v France</a:t>
            </a:r>
            <a:r>
              <a:rPr lang="en-GB" sz="2200" dirty="0"/>
              <a:t>); </a:t>
            </a:r>
          </a:p>
          <a:p>
            <a:pPr lvl="2"/>
            <a:r>
              <a:rPr lang="en-GB" sz="2200" dirty="0"/>
              <a:t>NB: remember fault line between </a:t>
            </a:r>
            <a:r>
              <a:rPr lang="en-GB" sz="2200" dirty="0" err="1"/>
              <a:t>RoE</a:t>
            </a:r>
            <a:r>
              <a:rPr lang="en-GB" sz="2200" dirty="0"/>
              <a:t> and services!</a:t>
            </a:r>
          </a:p>
          <a:p>
            <a:pPr lvl="1">
              <a:spcBef>
                <a:spcPts val="0"/>
              </a:spcBef>
            </a:pPr>
            <a:r>
              <a:rPr lang="en-GB" sz="2200" dirty="0"/>
              <a:t>the </a:t>
            </a:r>
            <a:r>
              <a:rPr lang="en-GB" sz="2200" b="1" dirty="0"/>
              <a:t>recipient moves</a:t>
            </a:r>
            <a:r>
              <a:rPr lang="en-GB" sz="2200" dirty="0"/>
              <a:t> to receive a service in another M-S </a:t>
            </a:r>
            <a:r>
              <a:rPr lang="en-GB" sz="2200" dirty="0">
                <a:sym typeface="Wingdings"/>
              </a:rPr>
              <a:t></a:t>
            </a:r>
            <a:r>
              <a:rPr lang="en-GB" sz="2200" dirty="0"/>
              <a:t> e.g. a person who travels to another M-S </a:t>
            </a:r>
          </a:p>
          <a:p>
            <a:pPr marL="457200" lvl="1" indent="0">
              <a:spcBef>
                <a:spcPts val="0"/>
              </a:spcBef>
              <a:buNone/>
            </a:pPr>
            <a:r>
              <a:rPr lang="en-GB" sz="2200" dirty="0"/>
              <a:t>     in order to receive medical treatment there</a:t>
            </a:r>
            <a:r>
              <a:rPr lang="en-GB" sz="2200" dirty="0">
                <a:effectLst/>
              </a:rPr>
              <a:t> </a:t>
            </a:r>
          </a:p>
        </p:txBody>
      </p:sp>
    </p:spTree>
    <p:custDataLst>
      <p:tags r:id="rId1"/>
    </p:custDataLst>
    <p:extLst>
      <p:ext uri="{BB962C8B-B14F-4D97-AF65-F5344CB8AC3E}">
        <p14:creationId xmlns:p14="http://schemas.microsoft.com/office/powerpoint/2010/main" val="571168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5.7|30.2|31.5"/>
</p:tagLst>
</file>

<file path=ppt/tags/tag2.xml><?xml version="1.0" encoding="utf-8"?>
<p:tagLst xmlns:a="http://schemas.openxmlformats.org/drawingml/2006/main" xmlns:r="http://schemas.openxmlformats.org/officeDocument/2006/relationships" xmlns:p="http://schemas.openxmlformats.org/presentationml/2006/main">
  <p:tag name="TIMING" val="|37.8|156"/>
</p:tagLst>
</file>

<file path=ppt/tags/tag3.xml><?xml version="1.0" encoding="utf-8"?>
<p:tagLst xmlns:a="http://schemas.openxmlformats.org/drawingml/2006/main" xmlns:r="http://schemas.openxmlformats.org/officeDocument/2006/relationships" xmlns:p="http://schemas.openxmlformats.org/presentationml/2006/main">
  <p:tag name="TIMING" val="|103.4|380.2"/>
</p:tagLst>
</file>

<file path=ppt/tags/tag4.xml><?xml version="1.0" encoding="utf-8"?>
<p:tagLst xmlns:a="http://schemas.openxmlformats.org/drawingml/2006/main" xmlns:r="http://schemas.openxmlformats.org/officeDocument/2006/relationships" xmlns:p="http://schemas.openxmlformats.org/presentationml/2006/main">
  <p:tag name="TIMING" val="|103.4|380.2"/>
</p:tagLst>
</file>

<file path=ppt/tags/tag5.xml><?xml version="1.0" encoding="utf-8"?>
<p:tagLst xmlns:a="http://schemas.openxmlformats.org/drawingml/2006/main" xmlns:r="http://schemas.openxmlformats.org/officeDocument/2006/relationships" xmlns:p="http://schemas.openxmlformats.org/presentationml/2006/main">
  <p:tag name="TIMING" val="|312.6"/>
</p:tagLst>
</file>

<file path=ppt/tags/tag6.xml><?xml version="1.0" encoding="utf-8"?>
<p:tagLst xmlns:a="http://schemas.openxmlformats.org/drawingml/2006/main" xmlns:r="http://schemas.openxmlformats.org/officeDocument/2006/relationships" xmlns:p="http://schemas.openxmlformats.org/presentationml/2006/main">
  <p:tag name="TIMING" val="|29|30.5|38.1"/>
</p:tagLst>
</file>

<file path=ppt/tags/tag7.xml><?xml version="1.0" encoding="utf-8"?>
<p:tagLst xmlns:a="http://schemas.openxmlformats.org/drawingml/2006/main" xmlns:r="http://schemas.openxmlformats.org/officeDocument/2006/relationships" xmlns:p="http://schemas.openxmlformats.org/presentationml/2006/main">
  <p:tag name="TIMING" val="|10|47.8|243.1|5.9"/>
</p:tagLst>
</file>

<file path=ppt/tags/tag8.xml><?xml version="1.0" encoding="utf-8"?>
<p:tagLst xmlns:a="http://schemas.openxmlformats.org/drawingml/2006/main" xmlns:r="http://schemas.openxmlformats.org/officeDocument/2006/relationships" xmlns:p="http://schemas.openxmlformats.org/presentationml/2006/main">
  <p:tag name="TIMING" val="|8.8|44.1"/>
</p:tagLst>
</file>

<file path=ppt/tags/tag9.xml><?xml version="1.0" encoding="utf-8"?>
<p:tagLst xmlns:a="http://schemas.openxmlformats.org/drawingml/2006/main" xmlns:r="http://schemas.openxmlformats.org/officeDocument/2006/relationships" xmlns:p="http://schemas.openxmlformats.org/presentationml/2006/main">
  <p:tag name="TIMING" val="|8.6|12.2|203.4"/>
</p:tagLst>
</file>

<file path=ppt/theme/theme1.xml><?xml version="1.0" encoding="utf-8"?>
<a:theme xmlns:a="http://schemas.openxmlformats.org/drawingml/2006/main" name="Blank">
  <a:themeElements>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a:majorFont>
        <a:latin typeface="Times"/>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GB"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Blank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9A4B24C251BCD4291F2C2F3A608C810" ma:contentTypeVersion="9" ma:contentTypeDescription="Create a new document." ma:contentTypeScope="" ma:versionID="65e6d05ec05cb74dd9706b1e5cf7fbb0">
  <xsd:schema xmlns:xsd="http://www.w3.org/2001/XMLSchema" xmlns:xs="http://www.w3.org/2001/XMLSchema" xmlns:p="http://schemas.microsoft.com/office/2006/metadata/properties" xmlns:ns3="3cc0b812-7f7d-4aca-acca-000f424f7da7" targetNamespace="http://schemas.microsoft.com/office/2006/metadata/properties" ma:root="true" ma:fieldsID="d26e22a320b4c5202789874931af9409" ns3:_="">
    <xsd:import namespace="3cc0b812-7f7d-4aca-acca-000f424f7da7"/>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cc0b812-7f7d-4aca-acca-000f424f7da7" elementFormDefault="qualified">
    <xsd:import namespace="http://schemas.microsoft.com/office/2006/documentManagement/types"/>
    <xsd:import namespace="http://schemas.microsoft.com/office/infopath/2007/PartnerControls"/>
    <xsd:element name="MediaServiceMetadata" ma:index="8" nillable="true" ma:displayName="MediaServiceMetadata" ma:description="" ma:hidden="true" ma:internalName="MediaServiceMetadata" ma:readOnly="true">
      <xsd:simpleType>
        <xsd:restriction base="dms:Note"/>
      </xsd:simpleType>
    </xsd:element>
    <xsd:element name="MediaServiceFastMetadata" ma:index="9" nillable="true" ma:displayName="MediaServiceFastMetadata" ma:description=""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FEA3A7-1379-41AE-B8EB-45EA0BB6EB92}">
  <ds:schemaRefs>
    <ds:schemaRef ds:uri="http://schemas.microsoft.com/sharepoint/v3/contenttype/forms"/>
  </ds:schemaRefs>
</ds:datastoreItem>
</file>

<file path=customXml/itemProps2.xml><?xml version="1.0" encoding="utf-8"?>
<ds:datastoreItem xmlns:ds="http://schemas.openxmlformats.org/officeDocument/2006/customXml" ds:itemID="{9FD00AA2-2D20-45D3-87DF-ADE1070BF29A}">
  <ds:schemaRefs>
    <ds:schemaRef ds:uri="3cc0b812-7f7d-4aca-acca-000f424f7da7"/>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2E108D4-2630-4149-81E7-B1444E95F785}">
  <ds:schemaRefs>
    <ds:schemaRef ds:uri="3cc0b812-7f7d-4aca-acca-000f424f7da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94</TotalTime>
  <Words>1157</Words>
  <Application>Microsoft Macintosh PowerPoint</Application>
  <PresentationFormat>On-screen Show (4:3)</PresentationFormat>
  <Paragraphs>77</Paragraphs>
  <Slides>14</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Times</vt:lpstr>
      <vt:lpstr>Wingdings</vt:lpstr>
      <vt:lpstr>Blank</vt:lpstr>
      <vt:lpstr>Contemporary Issues in the Law of the Internal Market 2024/2025</vt:lpstr>
      <vt:lpstr>Overview</vt:lpstr>
      <vt:lpstr>Case C-210/06 Cartesio</vt:lpstr>
      <vt:lpstr>Case C-378/10 VALE</vt:lpstr>
      <vt:lpstr>Case C-378/10 VALE</vt:lpstr>
      <vt:lpstr>C-106/16 Polbud </vt:lpstr>
      <vt:lpstr>Right of establishment and social dumping</vt:lpstr>
      <vt:lpstr>Case C-438/05 Viking </vt:lpstr>
      <vt:lpstr>Case C-438/05 Viking </vt:lpstr>
      <vt:lpstr>Case C-341/05 Laval </vt:lpstr>
      <vt:lpstr>Free Movement of Services - Introduction</vt:lpstr>
      <vt:lpstr>Scope of Art 56 TFEU</vt:lpstr>
      <vt:lpstr>Scope of Art 56 TFEU (II)</vt:lpstr>
      <vt:lpstr>Cross-border element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Contemporary Issues in the Law of the Internal Market 2020/2021</dc:title>
  <dc:creator>Pierre Schammo</dc:creator>
  <cp:lastModifiedBy>SCHAMMO, PIERRE J.</cp:lastModifiedBy>
  <cp:revision>14</cp:revision>
  <cp:lastPrinted>2023-02-20T09:12:53Z</cp:lastPrinted>
  <dcterms:created xsi:type="dcterms:W3CDTF">2021-01-22T06:06:39Z</dcterms:created>
  <dcterms:modified xsi:type="dcterms:W3CDTF">2025-02-28T08:12:41Z</dcterms:modified>
</cp:coreProperties>
</file>