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Lst>
  <p:notesMasterIdLst>
    <p:notesMasterId r:id="rId17"/>
  </p:notesMasterIdLst>
  <p:handoutMasterIdLst>
    <p:handoutMasterId r:id="rId18"/>
  </p:handoutMasterIdLst>
  <p:sldIdLst>
    <p:sldId id="323" r:id="rId5"/>
    <p:sldId id="349" r:id="rId6"/>
    <p:sldId id="345" r:id="rId7"/>
    <p:sldId id="260" r:id="rId8"/>
    <p:sldId id="261" r:id="rId9"/>
    <p:sldId id="348" r:id="rId10"/>
    <p:sldId id="347" r:id="rId11"/>
    <p:sldId id="263" r:id="rId12"/>
    <p:sldId id="346" r:id="rId13"/>
    <p:sldId id="350" r:id="rId14"/>
    <p:sldId id="351" r:id="rId15"/>
    <p:sldId id="352" r:id="rId16"/>
  </p:sldIdLst>
  <p:sldSz cx="9144000" cy="6858000" type="screen4x3"/>
  <p:notesSz cx="6797675" cy="9928225"/>
  <p:defaultTextStyle>
    <a:defPPr>
      <a:defRPr lang="en-GB"/>
    </a:defPPr>
    <a:lvl1pPr algn="l"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l" defTabSz="914400" rtl="0" eaLnBrk="1" latinLnBrk="0" hangingPunct="1">
      <a:defRPr sz="2400" kern="1200">
        <a:solidFill>
          <a:schemeClr val="tx1"/>
        </a:solidFill>
        <a:latin typeface="Times" pitchFamily="18" charset="0"/>
        <a:ea typeface="+mn-ea"/>
        <a:cs typeface="+mn-cs"/>
      </a:defRPr>
    </a:lvl6pPr>
    <a:lvl7pPr marL="2743200" algn="l" defTabSz="914400" rtl="0" eaLnBrk="1" latinLnBrk="0" hangingPunct="1">
      <a:defRPr sz="2400" kern="1200">
        <a:solidFill>
          <a:schemeClr val="tx1"/>
        </a:solidFill>
        <a:latin typeface="Times" pitchFamily="18" charset="0"/>
        <a:ea typeface="+mn-ea"/>
        <a:cs typeface="+mn-cs"/>
      </a:defRPr>
    </a:lvl7pPr>
    <a:lvl8pPr marL="3200400" algn="l" defTabSz="914400" rtl="0" eaLnBrk="1" latinLnBrk="0" hangingPunct="1">
      <a:defRPr sz="2400" kern="1200">
        <a:solidFill>
          <a:schemeClr val="tx1"/>
        </a:solidFill>
        <a:latin typeface="Times" pitchFamily="18" charset="0"/>
        <a:ea typeface="+mn-ea"/>
        <a:cs typeface="+mn-cs"/>
      </a:defRPr>
    </a:lvl8pPr>
    <a:lvl9pPr marL="3657600" algn="l" defTabSz="914400" rtl="0" eaLnBrk="1" latinLnBrk="0" hangingPunct="1">
      <a:defRPr sz="2400" kern="1200">
        <a:solidFill>
          <a:schemeClr val="tx1"/>
        </a:solidFill>
        <a:latin typeface="Times"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45"/>
    <p:restoredTop sz="77135" autoAdjust="0"/>
  </p:normalViewPr>
  <p:slideViewPr>
    <p:cSldViewPr snapToGrid="0">
      <p:cViewPr varScale="1">
        <p:scale>
          <a:sx n="143" d="100"/>
          <a:sy n="143" d="100"/>
        </p:scale>
        <p:origin x="4264" y="192"/>
      </p:cViewPr>
      <p:guideLst>
        <p:guide orient="horz" pos="2160"/>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229D8A62-74C2-5242-9BD3-050EC3555325}" type="datetimeFigureOut">
              <a:rPr lang="en-US" smtClean="0"/>
              <a:t>2/21/25</a:t>
            </a:fld>
            <a:endParaRPr lang="en-US"/>
          </a:p>
        </p:txBody>
      </p:sp>
      <p:sp>
        <p:nvSpPr>
          <p:cNvPr id="4" name="Footer Placeholder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D2C4F2BC-F496-DB48-8E0C-0CAC888D8F05}" type="slidenum">
              <a:rPr lang="en-US" smtClean="0"/>
              <a:t>‹#›</a:t>
            </a:fld>
            <a:endParaRPr lang="en-US"/>
          </a:p>
        </p:txBody>
      </p:sp>
    </p:spTree>
    <p:extLst>
      <p:ext uri="{BB962C8B-B14F-4D97-AF65-F5344CB8AC3E}">
        <p14:creationId xmlns:p14="http://schemas.microsoft.com/office/powerpoint/2010/main" val="27588365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24579" name="Rectangle 3"/>
          <p:cNvSpPr>
            <a:spLocks noGrp="1" noChangeArrowheads="1"/>
          </p:cNvSpPr>
          <p:nvPr>
            <p:ph type="dt" idx="1"/>
          </p:nvPr>
        </p:nvSpPr>
        <p:spPr bwMode="auto">
          <a:xfrm>
            <a:off x="3850443"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2292"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4581" name="Rectangle 5"/>
          <p:cNvSpPr>
            <a:spLocks noGrp="1" noChangeArrowheads="1"/>
          </p:cNvSpPr>
          <p:nvPr>
            <p:ph type="body" sz="quarter" idx="3"/>
          </p:nvPr>
        </p:nvSpPr>
        <p:spPr bwMode="auto">
          <a:xfrm>
            <a:off x="679768" y="4715907"/>
            <a:ext cx="5438140" cy="446770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p:cNvSpPr>
            <a:spLocks noGrp="1" noChangeArrowheads="1"/>
          </p:cNvSpPr>
          <p:nvPr>
            <p:ph type="ftr" sz="quarter" idx="4"/>
          </p:nvPr>
        </p:nvSpPr>
        <p:spPr bwMode="auto">
          <a:xfrm>
            <a:off x="0"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24583" name="Rectangle 7"/>
          <p:cNvSpPr>
            <a:spLocks noGrp="1" noChangeArrowheads="1"/>
          </p:cNvSpPr>
          <p:nvPr>
            <p:ph type="sldNum" sz="quarter" idx="5"/>
          </p:nvPr>
        </p:nvSpPr>
        <p:spPr bwMode="auto">
          <a:xfrm>
            <a:off x="3850443"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242D98AC-6B06-4B79-949D-9F6CB8A1B058}" type="slidenum">
              <a:rPr lang="en-GB"/>
              <a:pPr>
                <a:defRPr/>
              </a:pPr>
              <a:t>‹#›</a:t>
            </a:fld>
            <a:endParaRPr lang="en-GB"/>
          </a:p>
        </p:txBody>
      </p:sp>
    </p:spTree>
    <p:extLst>
      <p:ext uri="{BB962C8B-B14F-4D97-AF65-F5344CB8AC3E}">
        <p14:creationId xmlns:p14="http://schemas.microsoft.com/office/powerpoint/2010/main" val="21422792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1</a:t>
            </a:fld>
            <a:endParaRPr lang="en-GB"/>
          </a:p>
        </p:txBody>
      </p:sp>
    </p:spTree>
    <p:extLst>
      <p:ext uri="{BB962C8B-B14F-4D97-AF65-F5344CB8AC3E}">
        <p14:creationId xmlns:p14="http://schemas.microsoft.com/office/powerpoint/2010/main" val="2221850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22A0574-5B59-5A46-81A1-D83B7EA49736}" type="slidenum">
              <a:rPr lang="en-US" smtClean="0"/>
              <a:t>2</a:t>
            </a:fld>
            <a:endParaRPr lang="en-US"/>
          </a:p>
        </p:txBody>
      </p:sp>
    </p:spTree>
    <p:extLst>
      <p:ext uri="{BB962C8B-B14F-4D97-AF65-F5344CB8AC3E}">
        <p14:creationId xmlns:p14="http://schemas.microsoft.com/office/powerpoint/2010/main" val="1417088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22A0574-5B59-5A46-81A1-D83B7EA49736}" type="slidenum">
              <a:rPr lang="en-US" smtClean="0"/>
              <a:t>3</a:t>
            </a:fld>
            <a:endParaRPr lang="en-US"/>
          </a:p>
        </p:txBody>
      </p:sp>
    </p:spTree>
    <p:extLst>
      <p:ext uri="{BB962C8B-B14F-4D97-AF65-F5344CB8AC3E}">
        <p14:creationId xmlns:p14="http://schemas.microsoft.com/office/powerpoint/2010/main" val="1340358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22A0574-5B59-5A46-81A1-D83B7EA49736}" type="slidenum">
              <a:rPr lang="en-US" smtClean="0"/>
              <a:t>4</a:t>
            </a:fld>
            <a:endParaRPr lang="en-US"/>
          </a:p>
        </p:txBody>
      </p:sp>
    </p:spTree>
    <p:extLst>
      <p:ext uri="{BB962C8B-B14F-4D97-AF65-F5344CB8AC3E}">
        <p14:creationId xmlns:p14="http://schemas.microsoft.com/office/powerpoint/2010/main" val="3631701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2A0574-5B59-5A46-81A1-D83B7EA49736}" type="slidenum">
              <a:rPr lang="en-US" smtClean="0"/>
              <a:t>5</a:t>
            </a:fld>
            <a:endParaRPr lang="en-US"/>
          </a:p>
        </p:txBody>
      </p:sp>
    </p:spTree>
    <p:extLst>
      <p:ext uri="{BB962C8B-B14F-4D97-AF65-F5344CB8AC3E}">
        <p14:creationId xmlns:p14="http://schemas.microsoft.com/office/powerpoint/2010/main" val="1312834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2A0574-5B59-5A46-81A1-D83B7EA49736}" type="slidenum">
              <a:rPr lang="en-US" smtClean="0"/>
              <a:t>6</a:t>
            </a:fld>
            <a:endParaRPr lang="en-US"/>
          </a:p>
        </p:txBody>
      </p:sp>
    </p:spTree>
    <p:extLst>
      <p:ext uri="{BB962C8B-B14F-4D97-AF65-F5344CB8AC3E}">
        <p14:creationId xmlns:p14="http://schemas.microsoft.com/office/powerpoint/2010/main" val="3210948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2A0574-5B59-5A46-81A1-D83B7EA49736}" type="slidenum">
              <a:rPr lang="en-US" smtClean="0"/>
              <a:t>7</a:t>
            </a:fld>
            <a:endParaRPr lang="en-US"/>
          </a:p>
        </p:txBody>
      </p:sp>
    </p:spTree>
    <p:extLst>
      <p:ext uri="{BB962C8B-B14F-4D97-AF65-F5344CB8AC3E}">
        <p14:creationId xmlns:p14="http://schemas.microsoft.com/office/powerpoint/2010/main" val="2968784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2A0574-5B59-5A46-81A1-D83B7EA49736}" type="slidenum">
              <a:rPr lang="en-US" smtClean="0"/>
              <a:t>8</a:t>
            </a:fld>
            <a:endParaRPr lang="en-US"/>
          </a:p>
        </p:txBody>
      </p:sp>
    </p:spTree>
    <p:extLst>
      <p:ext uri="{BB962C8B-B14F-4D97-AF65-F5344CB8AC3E}">
        <p14:creationId xmlns:p14="http://schemas.microsoft.com/office/powerpoint/2010/main" val="34666065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2A0574-5B59-5A46-81A1-D83B7EA49736}" type="slidenum">
              <a:rPr lang="en-US" smtClean="0"/>
              <a:t>9</a:t>
            </a:fld>
            <a:endParaRPr lang="en-US"/>
          </a:p>
        </p:txBody>
      </p:sp>
    </p:spTree>
    <p:extLst>
      <p:ext uri="{BB962C8B-B14F-4D97-AF65-F5344CB8AC3E}">
        <p14:creationId xmlns:p14="http://schemas.microsoft.com/office/powerpoint/2010/main" val="3161699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2A0574-5B59-5A46-81A1-D83B7EA49736}" type="slidenum">
              <a:rPr lang="en-US" smtClean="0"/>
              <a:t>10</a:t>
            </a:fld>
            <a:endParaRPr lang="en-US"/>
          </a:p>
        </p:txBody>
      </p:sp>
    </p:spTree>
    <p:extLst>
      <p:ext uri="{BB962C8B-B14F-4D97-AF65-F5344CB8AC3E}">
        <p14:creationId xmlns:p14="http://schemas.microsoft.com/office/powerpoint/2010/main" val="38741515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2A0574-5B59-5A46-81A1-D83B7EA49736}" type="slidenum">
              <a:rPr lang="en-US" smtClean="0"/>
              <a:t>11</a:t>
            </a:fld>
            <a:endParaRPr lang="en-US"/>
          </a:p>
        </p:txBody>
      </p:sp>
    </p:spTree>
    <p:extLst>
      <p:ext uri="{BB962C8B-B14F-4D97-AF65-F5344CB8AC3E}">
        <p14:creationId xmlns:p14="http://schemas.microsoft.com/office/powerpoint/2010/main" val="10447236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3A39B-893B-9126-9015-D687B4D92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0B48B-AEC3-DCDC-973A-FF246C3887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EE535-5629-3490-FF08-D813A9C903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1CC437-02BB-6321-2AD4-C97FAA7C5F4E}"/>
              </a:ext>
            </a:extLst>
          </p:cNvPr>
          <p:cNvSpPr>
            <a:spLocks noGrp="1"/>
          </p:cNvSpPr>
          <p:nvPr>
            <p:ph type="sldNum" sz="quarter" idx="10"/>
          </p:nvPr>
        </p:nvSpPr>
        <p:spPr/>
        <p:txBody>
          <a:bodyPr/>
          <a:lstStyle/>
          <a:p>
            <a:fld id="{022A0574-5B59-5A46-81A1-D83B7EA49736}" type="slidenum">
              <a:rPr lang="en-US" smtClean="0"/>
              <a:t>12</a:t>
            </a:fld>
            <a:endParaRPr lang="en-US"/>
          </a:p>
        </p:txBody>
      </p:sp>
    </p:spTree>
    <p:extLst>
      <p:ext uri="{BB962C8B-B14F-4D97-AF65-F5344CB8AC3E}">
        <p14:creationId xmlns:p14="http://schemas.microsoft.com/office/powerpoint/2010/main" val="31815608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516563"/>
          </a:xfrm>
          <a:prstGeom prst="rect">
            <a:avLst/>
          </a:prstGeom>
          <a:solidFill>
            <a:srgbClr val="663366"/>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ndParaRPr>
          </a:p>
        </p:txBody>
      </p:sp>
      <p:pic>
        <p:nvPicPr>
          <p:cNvPr id="5"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F71726C1-1128-4479-BE45-4CD17A5EDFFA}" type="slidenum">
              <a:rPr lang="en-GB"/>
              <a:pPr>
                <a:defRPr/>
              </a:pPr>
              <a:t>‹#›</a:t>
            </a:fld>
            <a:endParaRPr lang="en-GB"/>
          </a:p>
        </p:txBody>
      </p:sp>
    </p:spTree>
    <p:extLst>
      <p:ext uri="{BB962C8B-B14F-4D97-AF65-F5344CB8AC3E}">
        <p14:creationId xmlns:p14="http://schemas.microsoft.com/office/powerpoint/2010/main" val="3632303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34C983E8-1028-4BC1-9CFE-648A544E8455}" type="slidenum">
              <a:rPr lang="en-GB"/>
              <a:pPr>
                <a:defRPr/>
              </a:pPr>
              <a:t>‹#›</a:t>
            </a:fld>
            <a:endParaRPr lang="en-GB"/>
          </a:p>
        </p:txBody>
      </p:sp>
    </p:spTree>
    <p:extLst>
      <p:ext uri="{BB962C8B-B14F-4D97-AF65-F5344CB8AC3E}">
        <p14:creationId xmlns:p14="http://schemas.microsoft.com/office/powerpoint/2010/main" val="807378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A8B9E8DC-36F4-4970-9B12-3B0C0F30B5E3}" type="slidenum">
              <a:rPr lang="en-GB"/>
              <a:pPr>
                <a:defRPr/>
              </a:pPr>
              <a:t>‹#›</a:t>
            </a:fld>
            <a:endParaRPr lang="en-GB"/>
          </a:p>
        </p:txBody>
      </p:sp>
    </p:spTree>
    <p:extLst>
      <p:ext uri="{BB962C8B-B14F-4D97-AF65-F5344CB8AC3E}">
        <p14:creationId xmlns:p14="http://schemas.microsoft.com/office/powerpoint/2010/main" val="3377636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EFD4B6AE-D3EF-4CE1-BD2E-0DC8DE26E7EC}" type="slidenum">
              <a:rPr lang="en-GB"/>
              <a:pPr>
                <a:defRPr/>
              </a:pPr>
              <a:t>‹#›</a:t>
            </a:fld>
            <a:endParaRPr lang="en-GB"/>
          </a:p>
        </p:txBody>
      </p:sp>
    </p:spTree>
    <p:extLst>
      <p:ext uri="{BB962C8B-B14F-4D97-AF65-F5344CB8AC3E}">
        <p14:creationId xmlns:p14="http://schemas.microsoft.com/office/powerpoint/2010/main" val="1441939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B39FF88D-FF8B-4748-9EA9-7DC520BD5BA0}" type="slidenum">
              <a:rPr lang="en-GB"/>
              <a:pPr>
                <a:defRPr/>
              </a:pPr>
              <a:t>‹#›</a:t>
            </a:fld>
            <a:endParaRPr lang="en-GB"/>
          </a:p>
        </p:txBody>
      </p:sp>
    </p:spTree>
    <p:extLst>
      <p:ext uri="{BB962C8B-B14F-4D97-AF65-F5344CB8AC3E}">
        <p14:creationId xmlns:p14="http://schemas.microsoft.com/office/powerpoint/2010/main" val="2694803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88C4EA3E-64A1-4BE8-9E90-BCA1288A255F}" type="slidenum">
              <a:rPr lang="en-GB"/>
              <a:pPr>
                <a:defRPr/>
              </a:pPr>
              <a:t>‹#›</a:t>
            </a:fld>
            <a:endParaRPr lang="en-GB"/>
          </a:p>
        </p:txBody>
      </p:sp>
    </p:spTree>
    <p:extLst>
      <p:ext uri="{BB962C8B-B14F-4D97-AF65-F5344CB8AC3E}">
        <p14:creationId xmlns:p14="http://schemas.microsoft.com/office/powerpoint/2010/main" val="2278755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244B6736-DFC6-43C1-895E-67B06B98272A}" type="slidenum">
              <a:rPr lang="en-GB"/>
              <a:pPr>
                <a:defRPr/>
              </a:pPr>
              <a:t>‹#›</a:t>
            </a:fld>
            <a:endParaRPr lang="en-GB"/>
          </a:p>
        </p:txBody>
      </p:sp>
    </p:spTree>
    <p:extLst>
      <p:ext uri="{BB962C8B-B14F-4D97-AF65-F5344CB8AC3E}">
        <p14:creationId xmlns:p14="http://schemas.microsoft.com/office/powerpoint/2010/main" val="439199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4D35581-CF58-4CC2-91C4-5F75D839D234}" type="slidenum">
              <a:rPr lang="en-GB"/>
              <a:pPr>
                <a:defRPr/>
              </a:pPr>
              <a:t>‹#›</a:t>
            </a:fld>
            <a:endParaRPr lang="en-GB"/>
          </a:p>
        </p:txBody>
      </p:sp>
    </p:spTree>
    <p:extLst>
      <p:ext uri="{BB962C8B-B14F-4D97-AF65-F5344CB8AC3E}">
        <p14:creationId xmlns:p14="http://schemas.microsoft.com/office/powerpoint/2010/main" val="3965196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6C3362D1-CB0C-4683-8025-7FC8116F6589}" type="slidenum">
              <a:rPr lang="en-GB"/>
              <a:pPr>
                <a:defRPr/>
              </a:pPr>
              <a:t>‹#›</a:t>
            </a:fld>
            <a:endParaRPr lang="en-GB"/>
          </a:p>
        </p:txBody>
      </p:sp>
    </p:spTree>
    <p:extLst>
      <p:ext uri="{BB962C8B-B14F-4D97-AF65-F5344CB8AC3E}">
        <p14:creationId xmlns:p14="http://schemas.microsoft.com/office/powerpoint/2010/main" val="1890904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CCDB42C-3168-40D0-B126-AAE104389456}" type="slidenum">
              <a:rPr lang="en-GB"/>
              <a:pPr>
                <a:defRPr/>
              </a:pPr>
              <a:t>‹#›</a:t>
            </a:fld>
            <a:endParaRPr lang="en-GB"/>
          </a:p>
        </p:txBody>
      </p:sp>
    </p:spTree>
    <p:extLst>
      <p:ext uri="{BB962C8B-B14F-4D97-AF65-F5344CB8AC3E}">
        <p14:creationId xmlns:p14="http://schemas.microsoft.com/office/powerpoint/2010/main" val="4100691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49B049E5-00CC-42C8-9A2C-41186B9985CD}" type="slidenum">
              <a:rPr lang="en-GB"/>
              <a:pPr>
                <a:defRPr/>
              </a:pPr>
              <a:t>‹#›</a:t>
            </a:fld>
            <a:endParaRPr lang="en-GB"/>
          </a:p>
        </p:txBody>
      </p:sp>
    </p:spTree>
    <p:extLst>
      <p:ext uri="{BB962C8B-B14F-4D97-AF65-F5344CB8AC3E}">
        <p14:creationId xmlns:p14="http://schemas.microsoft.com/office/powerpoint/2010/main" val="3615769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userDrawn="1"/>
        </p:nvSpPr>
        <p:spPr bwMode="auto">
          <a:xfrm>
            <a:off x="0" y="0"/>
            <a:ext cx="9140825" cy="6873875"/>
          </a:xfrm>
          <a:prstGeom prst="rect">
            <a:avLst/>
          </a:prstGeom>
          <a:solidFill>
            <a:srgbClr val="663366"/>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r>
              <a:rPr lang="en-GB" altLang="en-US">
                <a:solidFill>
                  <a:srgbClr val="663366"/>
                </a:solidFill>
              </a:rPr>
              <a:t>∂</a:t>
            </a:r>
          </a:p>
        </p:txBody>
      </p:sp>
      <p:sp>
        <p:nvSpPr>
          <p:cNvPr id="1027" name="Rectangle 8"/>
          <p:cNvSpPr>
            <a:spLocks noChangeArrowheads="1"/>
          </p:cNvSpPr>
          <p:nvPr userDrawn="1"/>
        </p:nvSpPr>
        <p:spPr bwMode="auto">
          <a:xfrm>
            <a:off x="107950" y="107950"/>
            <a:ext cx="8924925" cy="6657975"/>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ndParaRPr>
          </a:p>
        </p:txBody>
      </p:sp>
      <p:sp>
        <p:nvSpPr>
          <p:cNvPr id="102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E12D67B0-B4C9-4845-85BE-85F4A7F9ABA9}" type="slidenum">
              <a:rPr lang="en-GB"/>
              <a:pPr>
                <a:defRPr/>
              </a:pPr>
              <a:t>‹#›</a:t>
            </a:fld>
            <a:endParaRPr lang="en-GB"/>
          </a:p>
        </p:txBody>
      </p:sp>
      <p:sp>
        <p:nvSpPr>
          <p:cNvPr id="1033" name="Rectangle 9"/>
          <p:cNvSpPr>
            <a:spLocks noChangeArrowheads="1"/>
          </p:cNvSpPr>
          <p:nvPr userDrawn="1"/>
        </p:nvSpPr>
        <p:spPr bwMode="auto">
          <a:xfrm>
            <a:off x="790575" y="611188"/>
            <a:ext cx="8024813"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defRPr/>
            </a:pPr>
            <a:endParaRPr lang="en-US" altLang="en-US" sz="4400">
              <a:solidFill>
                <a:schemeClr val="bg1"/>
              </a:solidFill>
            </a:endParaRPr>
          </a:p>
        </p:txBody>
      </p:sp>
      <p:sp>
        <p:nvSpPr>
          <p:cNvPr id="1034" name="Rectangle 10"/>
          <p:cNvSpPr>
            <a:spLocks noChangeArrowheads="1"/>
          </p:cNvSpPr>
          <p:nvPr userDrawn="1"/>
        </p:nvSpPr>
        <p:spPr bwMode="auto">
          <a:xfrm>
            <a:off x="790575" y="1798638"/>
            <a:ext cx="8024813" cy="3813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spcBef>
                <a:spcPct val="20000"/>
              </a:spcBef>
              <a:defRPr/>
            </a:pPr>
            <a:endParaRPr lang="en-US" altLang="en-US" sz="1800" b="1">
              <a:solidFill>
                <a:schemeClr val="bg1"/>
              </a:solidFill>
              <a:latin typeface="Arial" charset="0"/>
            </a:endParaRPr>
          </a:p>
        </p:txBody>
      </p:sp>
      <p:pic>
        <p:nvPicPr>
          <p:cNvPr id="1035" name="Picture 11"/>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1"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sz="quarter"/>
          </p:nvPr>
        </p:nvSpPr>
        <p:spPr/>
        <p:txBody>
          <a:bodyPr>
            <a:normAutofit fontScale="90000"/>
          </a:bodyPr>
          <a:lstStyle/>
          <a:p>
            <a:pPr algn="ctr" eaLnBrk="1" hangingPunct="1"/>
            <a:r>
              <a:rPr lang="en-GB" altLang="en-US" dirty="0">
                <a:latin typeface="Calibri" panose="020F0502020204030204" pitchFamily="34" charset="0"/>
              </a:rPr>
              <a:t>Contemporary Issues in the Law of the Internal Market 2024/2025</a:t>
            </a:r>
          </a:p>
        </p:txBody>
      </p:sp>
      <p:sp>
        <p:nvSpPr>
          <p:cNvPr id="10243" name="Subtitle 2"/>
          <p:cNvSpPr>
            <a:spLocks noGrp="1"/>
          </p:cNvSpPr>
          <p:nvPr>
            <p:ph type="subTitle" sz="quarter" idx="1"/>
          </p:nvPr>
        </p:nvSpPr>
        <p:spPr/>
        <p:txBody>
          <a:bodyPr>
            <a:normAutofit fontScale="92500" lnSpcReduction="10000"/>
          </a:bodyPr>
          <a:lstStyle/>
          <a:p>
            <a:pPr eaLnBrk="1" hangingPunct="1">
              <a:lnSpc>
                <a:spcPct val="110000"/>
              </a:lnSpc>
              <a:spcBef>
                <a:spcPct val="0"/>
              </a:spcBef>
            </a:pPr>
            <a:r>
              <a:rPr lang="en-GB" altLang="en-US" sz="2200" dirty="0">
                <a:latin typeface="Calibri" panose="020F0502020204030204" pitchFamily="34" charset="0"/>
              </a:rPr>
              <a:t>Lecture 16: Establishment</a:t>
            </a:r>
          </a:p>
          <a:p>
            <a:pPr eaLnBrk="1" hangingPunct="1">
              <a:lnSpc>
                <a:spcPct val="110000"/>
              </a:lnSpc>
              <a:spcBef>
                <a:spcPct val="0"/>
              </a:spcBef>
            </a:pPr>
            <a:endParaRPr lang="en-GB" altLang="en-US" sz="2200" dirty="0">
              <a:latin typeface="Calibri" panose="020F0502020204030204" pitchFamily="34" charset="0"/>
            </a:endParaRPr>
          </a:p>
          <a:p>
            <a:pPr eaLnBrk="1" hangingPunct="1">
              <a:lnSpc>
                <a:spcPct val="110000"/>
              </a:lnSpc>
              <a:spcBef>
                <a:spcPct val="0"/>
              </a:spcBef>
            </a:pPr>
            <a:r>
              <a:rPr lang="en-GB" altLang="en-US" sz="2200" dirty="0">
                <a:latin typeface="Calibri" panose="020F0502020204030204" pitchFamily="34" charset="0"/>
              </a:rPr>
              <a:t>Prof Pierre Schammo</a:t>
            </a:r>
          </a:p>
          <a:p>
            <a:pPr eaLnBrk="1" hangingPunct="1">
              <a:lnSpc>
                <a:spcPct val="110000"/>
              </a:lnSpc>
              <a:spcBef>
                <a:spcPct val="0"/>
              </a:spcBef>
            </a:pPr>
            <a:endParaRPr lang="en-GB" altLang="en-US" sz="2200" dirty="0">
              <a:latin typeface="Calibri" panose="020F0502020204030204" pitchFamily="34" charset="0"/>
            </a:endParaRPr>
          </a:p>
          <a:p>
            <a:pPr eaLnBrk="1" hangingPunct="1">
              <a:lnSpc>
                <a:spcPct val="110000"/>
              </a:lnSpc>
              <a:spcBef>
                <a:spcPct val="0"/>
              </a:spcBef>
            </a:pPr>
            <a:r>
              <a:rPr lang="en-GB" altLang="en-US" sz="2200" dirty="0" err="1">
                <a:latin typeface="Calibri" panose="020F0502020204030204" pitchFamily="34" charset="0"/>
              </a:rPr>
              <a:t>pierre.schammo@durham.ac.uk</a:t>
            </a:r>
            <a:r>
              <a:rPr lang="en-GB" altLang="en-US" sz="2200" dirty="0">
                <a:latin typeface="Calibri" panose="020F0502020204030204" pitchFamily="34" charset="0"/>
              </a:rPr>
              <a:t>  </a:t>
            </a:r>
            <a:endParaRPr lang="en-GB" altLang="en-US" sz="2200" dirty="0">
              <a:solidFill>
                <a:srgbClr val="663366"/>
              </a:solidFill>
              <a:latin typeface="Calibri" panose="020F0502020204030204" pitchFamily="34" charset="0"/>
            </a:endParaRPr>
          </a:p>
          <a:p>
            <a:pPr eaLnBrk="1" hangingPunct="1"/>
            <a:endParaRPr lang="en-GB" altLang="en-US" sz="2200" dirty="0">
              <a:latin typeface="Calibri" panose="020F0502020204030204" pitchFamily="34" charset="0"/>
            </a:endParaRPr>
          </a:p>
        </p:txBody>
      </p:sp>
    </p:spTree>
    <p:extLst>
      <p:ext uri="{BB962C8B-B14F-4D97-AF65-F5344CB8AC3E}">
        <p14:creationId xmlns:p14="http://schemas.microsoft.com/office/powerpoint/2010/main" val="2284615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5781" y="263047"/>
            <a:ext cx="8505129" cy="1100086"/>
          </a:xfrm>
        </p:spPr>
        <p:txBody>
          <a:bodyPr>
            <a:normAutofit fontScale="90000"/>
          </a:bodyPr>
          <a:lstStyle/>
          <a:p>
            <a:pPr algn="ctr"/>
            <a:r>
              <a:rPr lang="en-GB" dirty="0"/>
              <a:t>Regulatory competition and the EU internal market</a:t>
            </a:r>
          </a:p>
        </p:txBody>
      </p:sp>
      <p:sp>
        <p:nvSpPr>
          <p:cNvPr id="3" name="Content Placeholder 2"/>
          <p:cNvSpPr>
            <a:spLocks noGrp="1"/>
          </p:cNvSpPr>
          <p:nvPr>
            <p:ph idx="1"/>
          </p:nvPr>
        </p:nvSpPr>
        <p:spPr>
          <a:xfrm>
            <a:off x="125304" y="1524000"/>
            <a:ext cx="8755606" cy="4676384"/>
          </a:xfrm>
        </p:spPr>
        <p:txBody>
          <a:bodyPr>
            <a:normAutofit lnSpcReduction="10000"/>
          </a:bodyPr>
          <a:lstStyle/>
          <a:p>
            <a:pPr>
              <a:lnSpc>
                <a:spcPct val="110000"/>
              </a:lnSpc>
              <a:buFont typeface="Arial" panose="020B0604020202020204" pitchFamily="34" charset="0"/>
              <a:buChar char="•"/>
            </a:pPr>
            <a:r>
              <a:rPr lang="en-GB" sz="2400" dirty="0"/>
              <a:t>Regulatory competition/arbitrage and legal integration </a:t>
            </a:r>
          </a:p>
          <a:p>
            <a:pPr lvl="1">
              <a:lnSpc>
                <a:spcPct val="110000"/>
              </a:lnSpc>
              <a:buFont typeface="Arial" panose="020B0604020202020204" pitchFamily="34" charset="0"/>
              <a:buChar char="•"/>
            </a:pPr>
            <a:r>
              <a:rPr lang="en-GB" sz="2400" dirty="0"/>
              <a:t>Positive integration</a:t>
            </a:r>
          </a:p>
          <a:p>
            <a:pPr lvl="2">
              <a:lnSpc>
                <a:spcPct val="110000"/>
              </a:lnSpc>
              <a:buFont typeface="Arial" panose="020B0604020202020204" pitchFamily="34" charset="0"/>
              <a:buChar char="•"/>
            </a:pPr>
            <a:r>
              <a:rPr lang="en-GB" sz="2400" dirty="0"/>
              <a:t>Facilitates movement, but national laws replaced by EU legislative act</a:t>
            </a:r>
          </a:p>
          <a:p>
            <a:pPr lvl="1">
              <a:lnSpc>
                <a:spcPct val="110000"/>
              </a:lnSpc>
              <a:buFont typeface="Arial" panose="020B0604020202020204" pitchFamily="34" charset="0"/>
              <a:buChar char="•"/>
            </a:pPr>
            <a:r>
              <a:rPr lang="en-GB" sz="2400" dirty="0"/>
              <a:t>Negative integration  </a:t>
            </a:r>
          </a:p>
          <a:p>
            <a:pPr lvl="2">
              <a:lnSpc>
                <a:spcPct val="110000"/>
              </a:lnSpc>
              <a:buFont typeface="Arial" panose="020B0604020202020204" pitchFamily="34" charset="0"/>
              <a:buChar char="•"/>
            </a:pPr>
            <a:r>
              <a:rPr lang="en-GB" sz="2400" dirty="0"/>
              <a:t>Barriers to free movement struck down</a:t>
            </a:r>
          </a:p>
          <a:p>
            <a:pPr lvl="2">
              <a:lnSpc>
                <a:spcPct val="110000"/>
              </a:lnSpc>
              <a:buFont typeface="Arial" panose="020B0604020202020204" pitchFamily="34" charset="0"/>
              <a:buChar char="•"/>
            </a:pPr>
            <a:r>
              <a:rPr lang="en-GB" sz="2400" dirty="0"/>
              <a:t>Facilitates movement </a:t>
            </a:r>
            <a:r>
              <a:rPr lang="en-GB" sz="2400" u="sng" dirty="0"/>
              <a:t>and</a:t>
            </a:r>
            <a:r>
              <a:rPr lang="en-GB" sz="2400" dirty="0"/>
              <a:t> legal diversity among Member States persists </a:t>
            </a:r>
          </a:p>
          <a:p>
            <a:pPr lvl="2">
              <a:lnSpc>
                <a:spcPct val="110000"/>
              </a:lnSpc>
              <a:buFont typeface="Arial" panose="020B0604020202020204" pitchFamily="34" charset="0"/>
              <a:buChar char="•"/>
            </a:pPr>
            <a:r>
              <a:rPr lang="en-GB" sz="2400" dirty="0"/>
              <a:t>Hence, the way in which the Court applies right of establishment provisions can facilitate regulatory </a:t>
            </a:r>
          </a:p>
          <a:p>
            <a:pPr marL="914400" lvl="2" indent="0">
              <a:lnSpc>
                <a:spcPct val="110000"/>
              </a:lnSpc>
              <a:buNone/>
            </a:pPr>
            <a:r>
              <a:rPr lang="en-GB" sz="2400" dirty="0"/>
              <a:t>   arbitrage and regulatory competition</a:t>
            </a:r>
          </a:p>
          <a:p>
            <a:endParaRPr lang="en-GB" dirty="0"/>
          </a:p>
        </p:txBody>
      </p:sp>
    </p:spTree>
    <p:custDataLst>
      <p:tags r:id="rId1"/>
    </p:custDataLst>
    <p:extLst>
      <p:ext uri="{BB962C8B-B14F-4D97-AF65-F5344CB8AC3E}">
        <p14:creationId xmlns:p14="http://schemas.microsoft.com/office/powerpoint/2010/main" val="388342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909" y="262468"/>
            <a:ext cx="8119998" cy="778932"/>
          </a:xfrm>
        </p:spPr>
        <p:txBody>
          <a:bodyPr>
            <a:normAutofit/>
          </a:bodyPr>
          <a:lstStyle/>
          <a:p>
            <a:pPr algn="ctr"/>
            <a:r>
              <a:rPr lang="en-GB" dirty="0"/>
              <a:t>Company mobility </a:t>
            </a:r>
            <a:r>
              <a:rPr lang="en-GB"/>
              <a:t>– scenarios</a:t>
            </a:r>
            <a:endParaRPr lang="en-GB" dirty="0"/>
          </a:p>
        </p:txBody>
      </p:sp>
      <p:sp>
        <p:nvSpPr>
          <p:cNvPr id="3" name="Content Placeholder 2"/>
          <p:cNvSpPr>
            <a:spLocks noGrp="1"/>
          </p:cNvSpPr>
          <p:nvPr>
            <p:ph idx="1"/>
          </p:nvPr>
        </p:nvSpPr>
        <p:spPr>
          <a:xfrm>
            <a:off x="497909" y="1303867"/>
            <a:ext cx="7958704" cy="4775200"/>
          </a:xfrm>
        </p:spPr>
        <p:txBody>
          <a:bodyPr>
            <a:normAutofit/>
          </a:bodyPr>
          <a:lstStyle/>
          <a:p>
            <a:pPr marL="457200" indent="-457200">
              <a:buFont typeface="Arial" panose="020B0604020202020204" pitchFamily="34" charset="0"/>
              <a:buChar char="•"/>
            </a:pPr>
            <a:r>
              <a:rPr lang="en-GB" sz="2400" dirty="0"/>
              <a:t>Companies may want </a:t>
            </a:r>
            <a:r>
              <a:rPr lang="en-GB" sz="2400"/>
              <a:t>to move in </a:t>
            </a:r>
            <a:r>
              <a:rPr lang="en-GB" sz="2400" dirty="0"/>
              <a:t>different ways</a:t>
            </a:r>
          </a:p>
          <a:p>
            <a:pPr marL="857250" lvl="1" indent="-457200">
              <a:buFont typeface="Arial" panose="020B0604020202020204" pitchFamily="34" charset="0"/>
              <a:buChar char="•"/>
            </a:pPr>
            <a:r>
              <a:rPr lang="en-GB" sz="2400" dirty="0"/>
              <a:t>Scenario 1: incorporation – re-incorporation scenario (e.g. a German AG becomes an Irish plc)</a:t>
            </a:r>
          </a:p>
          <a:p>
            <a:pPr marL="857250" lvl="1" indent="-457200">
              <a:buFont typeface="Arial" panose="020B0604020202020204" pitchFamily="34" charset="0"/>
              <a:buChar char="•"/>
            </a:pPr>
            <a:r>
              <a:rPr lang="en-GB" sz="2400" dirty="0"/>
              <a:t>Scenario 2: incorporation in one M-S, but actual place of business situated in another M-S</a:t>
            </a:r>
          </a:p>
          <a:p>
            <a:pPr marL="457200" indent="-457200">
              <a:buFont typeface="Arial" panose="020B0604020202020204" pitchFamily="34" charset="0"/>
              <a:buChar char="•"/>
            </a:pPr>
            <a:r>
              <a:rPr lang="en-GB" sz="2400" dirty="0"/>
              <a:t>Possibilities to take advantage of scenario 1 or 2 must be seen against the background of the Court’s case law on the right of establishment </a:t>
            </a:r>
          </a:p>
          <a:p>
            <a:pPr marL="857250" lvl="1" indent="-457200">
              <a:buFont typeface="Arial" panose="020B0604020202020204" pitchFamily="34" charset="0"/>
              <a:buChar char="•"/>
            </a:pPr>
            <a:r>
              <a:rPr lang="en-GB" sz="2400" dirty="0"/>
              <a:t>Most of the case law on scenario 2</a:t>
            </a:r>
          </a:p>
          <a:p>
            <a:pPr marL="857250" lvl="1" indent="-457200">
              <a:buFont typeface="Arial" panose="020B0604020202020204" pitchFamily="34" charset="0"/>
              <a:buChar char="•"/>
            </a:pPr>
            <a:r>
              <a:rPr lang="en-GB" sz="2400" dirty="0"/>
              <a:t>Case law somewhat complex and testifies to evolution in court’s thinking over time </a:t>
            </a:r>
          </a:p>
        </p:txBody>
      </p:sp>
    </p:spTree>
    <p:custDataLst>
      <p:tags r:id="rId1"/>
    </p:custDataLst>
    <p:extLst>
      <p:ext uri="{BB962C8B-B14F-4D97-AF65-F5344CB8AC3E}">
        <p14:creationId xmlns:p14="http://schemas.microsoft.com/office/powerpoint/2010/main" val="1325136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50730"/>
            <a:ext cx="7772400" cy="939452"/>
          </a:xfrm>
        </p:spPr>
        <p:txBody>
          <a:bodyPr/>
          <a:lstStyle/>
          <a:p>
            <a:r>
              <a:rPr lang="en-US"/>
              <a:t>Case C-81/87 Daily Mail</a:t>
            </a:r>
          </a:p>
        </p:txBody>
      </p:sp>
      <p:sp>
        <p:nvSpPr>
          <p:cNvPr id="3" name="Content Placeholder 2"/>
          <p:cNvSpPr>
            <a:spLocks noGrp="1"/>
          </p:cNvSpPr>
          <p:nvPr>
            <p:ph idx="1"/>
          </p:nvPr>
        </p:nvSpPr>
        <p:spPr>
          <a:xfrm>
            <a:off x="288099" y="1290182"/>
            <a:ext cx="8168514" cy="5217088"/>
          </a:xfrm>
        </p:spPr>
        <p:txBody>
          <a:bodyPr>
            <a:normAutofit/>
          </a:bodyPr>
          <a:lstStyle/>
          <a:p>
            <a:pPr>
              <a:lnSpc>
                <a:spcPct val="120000"/>
              </a:lnSpc>
              <a:buFont typeface="Arial" panose="020B0604020202020204" pitchFamily="34" charset="0"/>
              <a:buChar char="•"/>
            </a:pPr>
            <a:r>
              <a:rPr lang="en-GB" sz="1800"/>
              <a:t>Proposed transfer of the central management and control of Daily Mail from the UK to Netherlands whilst </a:t>
            </a:r>
            <a:r>
              <a:rPr lang="en-GB" sz="1800" err="1"/>
              <a:t>cpy</a:t>
            </a:r>
            <a:r>
              <a:rPr lang="en-GB" sz="1800"/>
              <a:t> wants to stay incorporated in the UK</a:t>
            </a:r>
            <a:endParaRPr lang="en-US" sz="1800"/>
          </a:p>
          <a:p>
            <a:pPr>
              <a:lnSpc>
                <a:spcPct val="120000"/>
              </a:lnSpc>
              <a:buFont typeface="Arial" panose="020B0604020202020204" pitchFamily="34" charset="0"/>
              <a:buChar char="•"/>
            </a:pPr>
            <a:r>
              <a:rPr lang="en-US" sz="1800"/>
              <a:t>CJEU: ‘The Treaty regards the differences in national legislation concerning the connecting factor required of companies incorporated thereunder and the question whether - and if so how - the registered office or real head office of a company incorporated under national law may be transferred from one Member State to another as problems which </a:t>
            </a:r>
            <a:r>
              <a:rPr lang="en-US" sz="1800" u="sng"/>
              <a:t>are not resolved by the rules concerning the right of establishment</a:t>
            </a:r>
            <a:r>
              <a:rPr lang="en-US" sz="1800"/>
              <a:t> but must be dealt with by future legislation or conventions, which have not yet been adopted or concluded. Therefore, in the present state of Community law, Articles [49] and [54] of the Treaty, properly construed, </a:t>
            </a:r>
            <a:r>
              <a:rPr lang="en-US" sz="1800" u="sng"/>
              <a:t>confer no right on a company incorporated under the legislation of a Member State and having its registered office there to transfer its central management and control to another Member State</a:t>
            </a:r>
            <a:r>
              <a:rPr lang="en-US" sz="1800"/>
              <a:t>’</a:t>
            </a:r>
            <a:r>
              <a:rPr lang="en-GB" sz="1800">
                <a:effectLst/>
              </a:rPr>
              <a:t> </a:t>
            </a:r>
            <a:endParaRPr lang="en-US" sz="1800"/>
          </a:p>
        </p:txBody>
      </p:sp>
    </p:spTree>
    <p:custDataLst>
      <p:tags r:id="rId1"/>
    </p:custDataLst>
    <p:extLst>
      <p:ext uri="{BB962C8B-B14F-4D97-AF65-F5344CB8AC3E}">
        <p14:creationId xmlns:p14="http://schemas.microsoft.com/office/powerpoint/2010/main" val="2642134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15310"/>
            <a:ext cx="7772400" cy="1072056"/>
          </a:xfrm>
        </p:spPr>
        <p:txBody>
          <a:bodyPr/>
          <a:lstStyle/>
          <a:p>
            <a:pPr algn="ctr"/>
            <a:r>
              <a:rPr lang="en-US" dirty="0"/>
              <a:t>Case C-212/97 Centros</a:t>
            </a:r>
          </a:p>
        </p:txBody>
      </p:sp>
      <p:sp>
        <p:nvSpPr>
          <p:cNvPr id="3" name="Content Placeholder 2"/>
          <p:cNvSpPr>
            <a:spLocks noGrp="1"/>
          </p:cNvSpPr>
          <p:nvPr>
            <p:ph idx="1"/>
          </p:nvPr>
        </p:nvSpPr>
        <p:spPr>
          <a:xfrm>
            <a:off x="231228" y="1387366"/>
            <a:ext cx="8618482" cy="4761186"/>
          </a:xfrm>
        </p:spPr>
        <p:txBody>
          <a:bodyPr>
            <a:normAutofit/>
          </a:bodyPr>
          <a:lstStyle/>
          <a:p>
            <a:pPr>
              <a:lnSpc>
                <a:spcPct val="120000"/>
              </a:lnSpc>
              <a:buFont typeface="Arial" panose="020B0604020202020204" pitchFamily="34" charset="0"/>
              <a:buChar char="•"/>
            </a:pPr>
            <a:r>
              <a:rPr lang="en-GB" sz="2100"/>
              <a:t>Danish nationals incorporating company in the UK and establishing of a branch in Denmark; scheme meant to allow owner to circumvent Danish company legislation </a:t>
            </a:r>
          </a:p>
          <a:p>
            <a:pPr>
              <a:lnSpc>
                <a:spcPct val="120000"/>
              </a:lnSpc>
              <a:buFont typeface="Arial" panose="020B0604020202020204" pitchFamily="34" charset="0"/>
              <a:buChar char="•"/>
            </a:pPr>
            <a:endParaRPr lang="en-US" sz="2100"/>
          </a:p>
        </p:txBody>
      </p:sp>
      <p:sp>
        <p:nvSpPr>
          <p:cNvPr id="10" name="Oval 9">
            <a:extLst>
              <a:ext uri="{FF2B5EF4-FFF2-40B4-BE49-F238E27FC236}">
                <a16:creationId xmlns:a16="http://schemas.microsoft.com/office/drawing/2014/main" id="{6E7247B9-E421-4B44-B66D-AA9053DA8722}"/>
              </a:ext>
            </a:extLst>
          </p:cNvPr>
          <p:cNvSpPr/>
          <p:nvPr/>
        </p:nvSpPr>
        <p:spPr bwMode="auto">
          <a:xfrm>
            <a:off x="5504688" y="3227778"/>
            <a:ext cx="2807208" cy="2314375"/>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18"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pitchFamily="18" charset="0"/>
              </a:rPr>
              <a:t>Denmark</a:t>
            </a:r>
          </a:p>
          <a:p>
            <a:pPr marL="0" marR="0" indent="0" algn="ctr" defTabSz="914400" rtl="0" eaLnBrk="0" fontAlgn="base" latinLnBrk="0" hangingPunct="0">
              <a:lnSpc>
                <a:spcPct val="100000"/>
              </a:lnSpc>
              <a:spcBef>
                <a:spcPct val="0"/>
              </a:spcBef>
              <a:spcAft>
                <a:spcPct val="0"/>
              </a:spcAft>
              <a:buClrTx/>
              <a:buSzTx/>
              <a:buFontTx/>
              <a:buNone/>
              <a:tabLst/>
            </a:pPr>
            <a:r>
              <a:rPr lang="en-US"/>
              <a:t>Danish branch</a:t>
            </a:r>
            <a:endParaRPr kumimoji="0" lang="en-US" sz="2400" b="0" i="0" u="none" strike="noStrike" cap="none" normalizeH="0" baseline="0">
              <a:ln>
                <a:noFill/>
              </a:ln>
              <a:solidFill>
                <a:schemeClr val="tx1"/>
              </a:solidFill>
              <a:effectLst/>
              <a:latin typeface="Times" pitchFamily="18" charset="0"/>
            </a:endParaRPr>
          </a:p>
        </p:txBody>
      </p:sp>
      <p:sp>
        <p:nvSpPr>
          <p:cNvPr id="12" name="Oval 11">
            <a:extLst>
              <a:ext uri="{FF2B5EF4-FFF2-40B4-BE49-F238E27FC236}">
                <a16:creationId xmlns:a16="http://schemas.microsoft.com/office/drawing/2014/main" id="{088A8158-9A58-8843-BBAA-8FA65FD5C945}"/>
              </a:ext>
            </a:extLst>
          </p:cNvPr>
          <p:cNvSpPr/>
          <p:nvPr/>
        </p:nvSpPr>
        <p:spPr bwMode="auto">
          <a:xfrm>
            <a:off x="315626" y="3323530"/>
            <a:ext cx="2390998" cy="23416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18" charset="0"/>
            </a:endParaRPr>
          </a:p>
          <a:p>
            <a:pPr marL="0" marR="0" indent="0" algn="ctr" defTabSz="914400" rtl="0" eaLnBrk="0" fontAlgn="base" latinLnBrk="0" hangingPunct="0">
              <a:lnSpc>
                <a:spcPct val="100000"/>
              </a:lnSpc>
              <a:spcBef>
                <a:spcPct val="0"/>
              </a:spcBef>
              <a:spcAft>
                <a:spcPct val="0"/>
              </a:spcAft>
              <a:buClrTx/>
              <a:buSzTx/>
              <a:buFontTx/>
              <a:buNone/>
              <a:tabLst/>
            </a:pPr>
            <a:r>
              <a:rPr lang="en-US"/>
              <a:t>U.K.</a:t>
            </a: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pitchFamily="18" charset="0"/>
              </a:rPr>
              <a:t>company</a:t>
            </a:r>
          </a:p>
        </p:txBody>
      </p:sp>
      <p:sp>
        <p:nvSpPr>
          <p:cNvPr id="14" name="Curved Right Arrow 13">
            <a:extLst>
              <a:ext uri="{FF2B5EF4-FFF2-40B4-BE49-F238E27FC236}">
                <a16:creationId xmlns:a16="http://schemas.microsoft.com/office/drawing/2014/main" id="{B9E57059-26D3-1E4F-BCD6-F2CF91386CC6}"/>
              </a:ext>
            </a:extLst>
          </p:cNvPr>
          <p:cNvSpPr/>
          <p:nvPr/>
        </p:nvSpPr>
        <p:spPr bwMode="auto">
          <a:xfrm>
            <a:off x="2265347" y="3602996"/>
            <a:ext cx="3753771" cy="1939157"/>
          </a:xfrm>
          <a:prstGeom prst="curvedRightArrow">
            <a:avLst>
              <a:gd name="adj1" fmla="val 25000"/>
              <a:gd name="adj2" fmla="val 50000"/>
              <a:gd name="adj3" fmla="val 25000"/>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18" charset="0"/>
            </a:endParaRPr>
          </a:p>
        </p:txBody>
      </p:sp>
    </p:spTree>
    <p:custDataLst>
      <p:tags r:id="rId1"/>
    </p:custDataLst>
    <p:extLst>
      <p:ext uri="{BB962C8B-B14F-4D97-AF65-F5344CB8AC3E}">
        <p14:creationId xmlns:p14="http://schemas.microsoft.com/office/powerpoint/2010/main" val="2520512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15310"/>
            <a:ext cx="7772400" cy="1072056"/>
          </a:xfrm>
        </p:spPr>
        <p:txBody>
          <a:bodyPr/>
          <a:lstStyle/>
          <a:p>
            <a:pPr algn="ctr"/>
            <a:r>
              <a:rPr lang="en-US" dirty="0"/>
              <a:t>Case C-212/97 Centros</a:t>
            </a:r>
          </a:p>
        </p:txBody>
      </p:sp>
      <p:sp>
        <p:nvSpPr>
          <p:cNvPr id="3" name="Content Placeholder 2"/>
          <p:cNvSpPr>
            <a:spLocks noGrp="1"/>
          </p:cNvSpPr>
          <p:nvPr>
            <p:ph idx="1"/>
          </p:nvPr>
        </p:nvSpPr>
        <p:spPr>
          <a:xfrm>
            <a:off x="231228" y="1387366"/>
            <a:ext cx="8618482" cy="4761186"/>
          </a:xfrm>
        </p:spPr>
        <p:txBody>
          <a:bodyPr>
            <a:normAutofit/>
          </a:bodyPr>
          <a:lstStyle/>
          <a:p>
            <a:pPr>
              <a:lnSpc>
                <a:spcPct val="120000"/>
              </a:lnSpc>
              <a:buFont typeface="Arial" panose="020B0604020202020204" pitchFamily="34" charset="0"/>
              <a:buChar char="•"/>
            </a:pPr>
            <a:r>
              <a:rPr lang="en-US" sz="2300" dirty="0"/>
              <a:t>CJEU: ‘the fact that a national of a Member State who wishes to set up a company chooses to form it in the Member State whose rules of company law </a:t>
            </a:r>
            <a:r>
              <a:rPr lang="en-US" sz="2300" u="sng" dirty="0"/>
              <a:t>seem to him the least restrictive </a:t>
            </a:r>
            <a:r>
              <a:rPr lang="en-US" sz="2300" dirty="0"/>
              <a:t>and to set up branches in other Member States </a:t>
            </a:r>
            <a:r>
              <a:rPr lang="en-US" sz="2300" u="sng" dirty="0"/>
              <a:t>cannot, in itself, constitute an abuse of the right of establishment</a:t>
            </a:r>
            <a:r>
              <a:rPr lang="en-US" sz="2300" dirty="0"/>
              <a:t>. The right to form a company in accordance with the law of a Member State and to set up branches in other Member States </a:t>
            </a:r>
            <a:r>
              <a:rPr lang="en-US" sz="2300" u="sng" dirty="0"/>
              <a:t>is inherent in the exercise, in a single market, of the freedom of establishment guaranteed by the Treaty</a:t>
            </a:r>
            <a:r>
              <a:rPr lang="en-US" sz="2300" dirty="0"/>
              <a:t>’.</a:t>
            </a:r>
          </a:p>
        </p:txBody>
      </p:sp>
    </p:spTree>
    <p:custDataLst>
      <p:tags r:id="rId1"/>
    </p:custDataLst>
    <p:extLst>
      <p:ext uri="{BB962C8B-B14F-4D97-AF65-F5344CB8AC3E}">
        <p14:creationId xmlns:p14="http://schemas.microsoft.com/office/powerpoint/2010/main" val="1323084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03412"/>
            <a:ext cx="7772400" cy="717176"/>
          </a:xfrm>
        </p:spPr>
        <p:txBody>
          <a:bodyPr/>
          <a:lstStyle/>
          <a:p>
            <a:pPr algn="ctr"/>
            <a:r>
              <a:rPr lang="en-US" dirty="0"/>
              <a:t>Impact of Centros</a:t>
            </a:r>
          </a:p>
        </p:txBody>
      </p:sp>
      <p:sp>
        <p:nvSpPr>
          <p:cNvPr id="3" name="Content Placeholder 2"/>
          <p:cNvSpPr>
            <a:spLocks noGrp="1"/>
          </p:cNvSpPr>
          <p:nvPr>
            <p:ph idx="1"/>
          </p:nvPr>
        </p:nvSpPr>
        <p:spPr>
          <a:xfrm>
            <a:off x="231228" y="1192306"/>
            <a:ext cx="8618482" cy="4956246"/>
          </a:xfrm>
        </p:spPr>
        <p:txBody>
          <a:bodyPr>
            <a:normAutofit/>
          </a:bodyPr>
          <a:lstStyle/>
          <a:p>
            <a:pPr>
              <a:buFont typeface="Arial" panose="020B0604020202020204" pitchFamily="34" charset="0"/>
              <a:buChar char="•"/>
            </a:pPr>
            <a:r>
              <a:rPr lang="en-GB" dirty="0"/>
              <a:t>‘Between 2003 and 2006 </a:t>
            </a:r>
            <a:r>
              <a:rPr lang="en-GB" u="sng" dirty="0"/>
              <a:t>over 67,000 new private limited companies </a:t>
            </a:r>
            <a:r>
              <a:rPr lang="en-GB" dirty="0"/>
              <a:t>were established in the U.K. from other E.U. Member States. The yearly average number of incorporations increased from 146 firms per country-year during the pre-Centros period to 671 firms per year after Centros. These numbers contain only true Centros-type incorporations, namely firms that incorporated in the U.K. without any operational activity there. … </a:t>
            </a:r>
          </a:p>
          <a:p>
            <a:pPr>
              <a:buFont typeface="Arial" panose="020B0604020202020204" pitchFamily="34" charset="0"/>
              <a:buChar char="•"/>
            </a:pPr>
            <a:r>
              <a:rPr lang="en-GB" dirty="0"/>
              <a:t>In absolute terms the largest flows of companies are from Germany, France, the Netherlands and Norway. Most of the new foreign limited companies are small entrepreneurial firms …</a:t>
            </a:r>
          </a:p>
          <a:p>
            <a:pPr>
              <a:buFont typeface="Arial" panose="020B0604020202020204" pitchFamily="34" charset="0"/>
              <a:buChar char="•"/>
            </a:pPr>
            <a:r>
              <a:rPr lang="en-GB" dirty="0"/>
              <a:t>[P]</a:t>
            </a:r>
            <a:r>
              <a:rPr lang="en-GB" dirty="0" err="1"/>
              <a:t>ost</a:t>
            </a:r>
            <a:r>
              <a:rPr lang="en-GB" dirty="0"/>
              <a:t>-Centros increases in </a:t>
            </a:r>
            <a:r>
              <a:rPr lang="en-GB" u="sng" dirty="0"/>
              <a:t>legal migration rates are explained by country-specific incorporation costs and minimum capital requirements</a:t>
            </a:r>
            <a:r>
              <a:rPr lang="en-GB" dirty="0"/>
              <a:t>. Small differences in setup costs and capital requirements between countries have surprisingly large effects on the probability that an entrepreneur will choose to incorporate in the U.K. rather than in her home country.’ </a:t>
            </a:r>
          </a:p>
          <a:p>
            <a:pPr marL="0" indent="0"/>
            <a:endParaRPr lang="en-GB" dirty="0"/>
          </a:p>
          <a:p>
            <a:pPr marL="0" indent="0"/>
            <a:r>
              <a:rPr lang="en-GB" sz="1500" i="1" dirty="0"/>
              <a:t>	Source: M Becht, C Mayer and H Wagner, ‘Where do firms incorporate? Deregulation 	and the cost of entry’ (2008) 14 Journal of Corporate Finance 241</a:t>
            </a:r>
          </a:p>
          <a:p>
            <a:pPr>
              <a:buFont typeface="Arial" panose="020B0604020202020204" pitchFamily="34" charset="0"/>
              <a:buChar char="•"/>
            </a:pPr>
            <a:endParaRPr lang="en-GB" dirty="0"/>
          </a:p>
        </p:txBody>
      </p:sp>
    </p:spTree>
    <p:custDataLst>
      <p:tags r:id="rId1"/>
    </p:custDataLst>
    <p:extLst>
      <p:ext uri="{BB962C8B-B14F-4D97-AF65-F5344CB8AC3E}">
        <p14:creationId xmlns:p14="http://schemas.microsoft.com/office/powerpoint/2010/main" val="3666308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56032"/>
            <a:ext cx="7772400" cy="1060704"/>
          </a:xfrm>
        </p:spPr>
        <p:txBody>
          <a:bodyPr/>
          <a:lstStyle/>
          <a:p>
            <a:r>
              <a:rPr lang="en-US"/>
              <a:t>Case C-167/01 Inspire Art</a:t>
            </a:r>
          </a:p>
        </p:txBody>
      </p:sp>
      <p:sp>
        <p:nvSpPr>
          <p:cNvPr id="3" name="Content Placeholder 2"/>
          <p:cNvSpPr>
            <a:spLocks noGrp="1"/>
          </p:cNvSpPr>
          <p:nvPr>
            <p:ph idx="1"/>
          </p:nvPr>
        </p:nvSpPr>
        <p:spPr>
          <a:xfrm>
            <a:off x="438912" y="1316736"/>
            <a:ext cx="8375904" cy="4754880"/>
          </a:xfrm>
        </p:spPr>
        <p:txBody>
          <a:bodyPr>
            <a:normAutofit fontScale="92500"/>
          </a:bodyPr>
          <a:lstStyle/>
          <a:p>
            <a:pPr>
              <a:lnSpc>
                <a:spcPct val="110000"/>
              </a:lnSpc>
              <a:buFont typeface="Arial" panose="020B0604020202020204" pitchFamily="34" charset="0"/>
              <a:buChar char="•"/>
            </a:pPr>
            <a:r>
              <a:rPr lang="en-US" sz="2200"/>
              <a:t>Incorporation of a company in the UK and establishment of a branch in the NL where all trading is done</a:t>
            </a:r>
          </a:p>
          <a:p>
            <a:pPr>
              <a:lnSpc>
                <a:spcPct val="110000"/>
              </a:lnSpc>
              <a:buFont typeface="Arial" panose="020B0604020202020204" pitchFamily="34" charset="0"/>
              <a:buChar char="•"/>
            </a:pPr>
            <a:r>
              <a:rPr lang="en-GB" sz="2200"/>
              <a:t>“It is contrary to [the </a:t>
            </a:r>
            <a:r>
              <a:rPr lang="en-GB" sz="2200" err="1"/>
              <a:t>RoE</a:t>
            </a:r>
            <a:r>
              <a:rPr lang="en-GB" sz="2200"/>
              <a:t>] for national legislation … to impose on the exercise of freedom of secondary establishment in that State by a company formed in accordance with the law of another Member State certain conditions provided for in domestic company law in respect of company formation relating to minimum capital and directors' liability. The </a:t>
            </a:r>
            <a:r>
              <a:rPr lang="en-GB" sz="2200" u="sng"/>
              <a:t>reasons for which the company was formed </a:t>
            </a:r>
            <a:r>
              <a:rPr lang="en-GB" sz="2200"/>
              <a:t>in that other Member State, and the fact that it carries on its activities exclusively or almost exclusively in the Member State of establishment, do not deprive it of the right to invoke the freedom of establishment guaranteed by the EC Treaty, save where the existence of an abuse is established on a case-by-case basis”.</a:t>
            </a:r>
          </a:p>
          <a:p>
            <a:endParaRPr lang="en-GB" sz="2400"/>
          </a:p>
        </p:txBody>
      </p:sp>
    </p:spTree>
    <p:custDataLst>
      <p:tags r:id="rId1"/>
    </p:custDataLst>
    <p:extLst>
      <p:ext uri="{BB962C8B-B14F-4D97-AF65-F5344CB8AC3E}">
        <p14:creationId xmlns:p14="http://schemas.microsoft.com/office/powerpoint/2010/main" val="308910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29184"/>
            <a:ext cx="7772400" cy="1225296"/>
          </a:xfrm>
        </p:spPr>
        <p:txBody>
          <a:bodyPr/>
          <a:lstStyle/>
          <a:p>
            <a:r>
              <a:rPr lang="en-GB" dirty="0"/>
              <a:t>Case C-208/00 </a:t>
            </a:r>
            <a:r>
              <a:rPr lang="en-GB" dirty="0" err="1"/>
              <a:t>Uberseering</a:t>
            </a:r>
            <a:endParaRPr lang="en-US" dirty="0"/>
          </a:p>
        </p:txBody>
      </p:sp>
      <p:sp>
        <p:nvSpPr>
          <p:cNvPr id="3" name="Content Placeholder 2"/>
          <p:cNvSpPr>
            <a:spLocks noGrp="1"/>
          </p:cNvSpPr>
          <p:nvPr>
            <p:ph idx="1"/>
          </p:nvPr>
        </p:nvSpPr>
        <p:spPr>
          <a:xfrm>
            <a:off x="182880" y="1554480"/>
            <a:ext cx="8668512" cy="4608576"/>
          </a:xfrm>
        </p:spPr>
        <p:txBody>
          <a:bodyPr>
            <a:normAutofit/>
          </a:bodyPr>
          <a:lstStyle/>
          <a:p>
            <a:pPr>
              <a:buFont typeface="Arial" panose="020B0604020202020204" pitchFamily="34" charset="0"/>
              <a:buChar char="•"/>
            </a:pPr>
            <a:r>
              <a:rPr lang="en-GB" sz="2400" dirty="0"/>
              <a:t>Transfer of actual centre of administration of a Dutch company from the Netherlands to Germany following the transfer of all the company’s shares to German nationals residing in Germany</a:t>
            </a:r>
            <a:r>
              <a:rPr lang="en-GB" sz="2400" dirty="0">
                <a:effectLst/>
              </a:rPr>
              <a:t> </a:t>
            </a:r>
          </a:p>
          <a:p>
            <a:pPr>
              <a:buFont typeface="Arial" panose="020B0604020202020204" pitchFamily="34" charset="0"/>
              <a:buChar char="•"/>
            </a:pPr>
            <a:r>
              <a:rPr lang="en-GB" sz="2400" i="1" dirty="0"/>
              <a:t>’[In Daily Mail] the Court did not rule on the question whether where, as here, a company incorporated under the law of a Member State (`A') is found, under the law of another Member State (`B'), to have moved its actual centre of administration to Member State B, that State is entitled to refuse to recognise the legal personality which the company enjoys under the law of its State of incorporation (`A').</a:t>
            </a:r>
            <a:endParaRPr lang="en-GB" sz="2400" dirty="0">
              <a:effectLst/>
            </a:endParaRPr>
          </a:p>
        </p:txBody>
      </p:sp>
    </p:spTree>
    <p:custDataLst>
      <p:tags r:id="rId1"/>
    </p:custDataLst>
    <p:extLst>
      <p:ext uri="{BB962C8B-B14F-4D97-AF65-F5344CB8AC3E}">
        <p14:creationId xmlns:p14="http://schemas.microsoft.com/office/powerpoint/2010/main" val="1428265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94446"/>
            <a:ext cx="7772400" cy="842683"/>
          </a:xfrm>
        </p:spPr>
        <p:txBody>
          <a:bodyPr/>
          <a:lstStyle/>
          <a:p>
            <a:pPr algn="ctr"/>
            <a:r>
              <a:rPr lang="en-GB" dirty="0"/>
              <a:t>Case C-210/06 </a:t>
            </a:r>
            <a:r>
              <a:rPr lang="en-GB" dirty="0" err="1"/>
              <a:t>Cartesio</a:t>
            </a:r>
            <a:endParaRPr lang="en-US" dirty="0"/>
          </a:p>
        </p:txBody>
      </p:sp>
      <p:sp>
        <p:nvSpPr>
          <p:cNvPr id="3" name="Content Placeholder 2"/>
          <p:cNvSpPr>
            <a:spLocks noGrp="1"/>
          </p:cNvSpPr>
          <p:nvPr>
            <p:ph idx="1"/>
          </p:nvPr>
        </p:nvSpPr>
        <p:spPr>
          <a:xfrm>
            <a:off x="182880" y="1376313"/>
            <a:ext cx="8668512" cy="4786743"/>
          </a:xfrm>
        </p:spPr>
        <p:txBody>
          <a:bodyPr>
            <a:normAutofit fontScale="77500" lnSpcReduction="20000"/>
          </a:bodyPr>
          <a:lstStyle/>
          <a:p>
            <a:pPr algn="just">
              <a:lnSpc>
                <a:spcPct val="120000"/>
              </a:lnSpc>
              <a:buFont typeface="Arial" panose="020B0604020202020204" pitchFamily="34" charset="0"/>
              <a:buChar char="•"/>
            </a:pPr>
            <a:r>
              <a:rPr lang="en-US" sz="2800" dirty="0"/>
              <a:t>Transfer of the actual </a:t>
            </a:r>
            <a:r>
              <a:rPr lang="en-US" sz="2800" dirty="0" err="1"/>
              <a:t>centre</a:t>
            </a:r>
            <a:r>
              <a:rPr lang="en-US" sz="2800" dirty="0"/>
              <a:t> of administration of a Hungarian company to Italy</a:t>
            </a:r>
            <a:r>
              <a:rPr lang="en-GB" sz="2800" dirty="0">
                <a:effectLst/>
              </a:rPr>
              <a:t> </a:t>
            </a:r>
          </a:p>
          <a:p>
            <a:pPr algn="just">
              <a:lnSpc>
                <a:spcPct val="120000"/>
              </a:lnSpc>
              <a:buFont typeface="Arial" panose="020B0604020202020204" pitchFamily="34" charset="0"/>
              <a:buChar char="•"/>
            </a:pPr>
            <a:r>
              <a:rPr lang="en-GB" sz="2800" dirty="0"/>
              <a:t>‘</a:t>
            </a:r>
            <a:r>
              <a:rPr lang="en-US" sz="2800" dirty="0"/>
              <a:t>a Member State has the power to define both the connecting factor required of a company if it is to be regarded as incorporated under the law of that Member State and, as such, capable of enjoying the right of establishment, and that required if the company is to be able subsequently to maintain that status. That </a:t>
            </a:r>
            <a:r>
              <a:rPr lang="en-US" sz="2800" u="sng" dirty="0"/>
              <a:t>power includes the possibility for that Member State not to permit</a:t>
            </a:r>
            <a:r>
              <a:rPr lang="en-US" sz="2800" dirty="0"/>
              <a:t> a company governed by its law to retain that status if the company intends to </a:t>
            </a:r>
            <a:r>
              <a:rPr lang="en-US" sz="2800" dirty="0" err="1"/>
              <a:t>reorganise</a:t>
            </a:r>
            <a:r>
              <a:rPr lang="en-US" sz="2800" dirty="0"/>
              <a:t> itself in another Member State by moving its seat to the territory of the latter, thereby </a:t>
            </a:r>
          </a:p>
          <a:p>
            <a:pPr marL="0" indent="0" algn="just">
              <a:lnSpc>
                <a:spcPct val="120000"/>
              </a:lnSpc>
            </a:pPr>
            <a:r>
              <a:rPr lang="en-US" sz="2800" dirty="0"/>
              <a:t>     breaking the connecting factor required under the </a:t>
            </a:r>
          </a:p>
          <a:p>
            <a:pPr marL="0" indent="0" algn="just">
              <a:lnSpc>
                <a:spcPct val="120000"/>
              </a:lnSpc>
            </a:pPr>
            <a:r>
              <a:rPr lang="en-US" sz="2800" dirty="0"/>
              <a:t>     national law of the Member State of incorporation’.</a:t>
            </a:r>
            <a:endParaRPr lang="en-GB" sz="2800" dirty="0">
              <a:effectLst/>
            </a:endParaRPr>
          </a:p>
        </p:txBody>
      </p:sp>
    </p:spTree>
    <p:custDataLst>
      <p:tags r:id="rId1"/>
    </p:custDataLst>
    <p:extLst>
      <p:ext uri="{BB962C8B-B14F-4D97-AF65-F5344CB8AC3E}">
        <p14:creationId xmlns:p14="http://schemas.microsoft.com/office/powerpoint/2010/main" val="3373232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29184"/>
            <a:ext cx="7772400" cy="1225296"/>
          </a:xfrm>
        </p:spPr>
        <p:txBody>
          <a:bodyPr/>
          <a:lstStyle/>
          <a:p>
            <a:pPr algn="ctr"/>
            <a:r>
              <a:rPr lang="en-GB" dirty="0"/>
              <a:t>Case C-378/10 </a:t>
            </a:r>
            <a:r>
              <a:rPr lang="en-GB" i="1" dirty="0"/>
              <a:t>VALE</a:t>
            </a:r>
            <a:endParaRPr lang="en-US" dirty="0"/>
          </a:p>
        </p:txBody>
      </p:sp>
      <p:sp>
        <p:nvSpPr>
          <p:cNvPr id="3" name="Content Placeholder 2"/>
          <p:cNvSpPr>
            <a:spLocks noGrp="1"/>
          </p:cNvSpPr>
          <p:nvPr>
            <p:ph idx="1"/>
          </p:nvPr>
        </p:nvSpPr>
        <p:spPr>
          <a:xfrm>
            <a:off x="182880" y="1554480"/>
            <a:ext cx="8668512" cy="4608576"/>
          </a:xfrm>
        </p:spPr>
        <p:txBody>
          <a:bodyPr>
            <a:normAutofit/>
          </a:bodyPr>
          <a:lstStyle/>
          <a:p>
            <a:pPr algn="just">
              <a:buFont typeface="Arial" panose="020B0604020202020204" pitchFamily="34" charset="0"/>
              <a:buChar char="•"/>
            </a:pPr>
            <a:r>
              <a:rPr lang="en-US" sz="2800" u="sng" dirty="0"/>
              <a:t>Cross-border conversion (reincorporation)</a:t>
            </a:r>
            <a:r>
              <a:rPr lang="en-US" sz="2800" dirty="0"/>
              <a:t> of a </a:t>
            </a:r>
            <a:r>
              <a:rPr lang="en-US" sz="2800" dirty="0" err="1"/>
              <a:t>cpy</a:t>
            </a:r>
            <a:r>
              <a:rPr lang="en-US" sz="2800" dirty="0"/>
              <a:t>: Vale wishes to transfer from Italy to Hungary</a:t>
            </a:r>
            <a:r>
              <a:rPr lang="en-GB" sz="2800" dirty="0">
                <a:effectLst/>
              </a:rPr>
              <a:t> </a:t>
            </a:r>
          </a:p>
          <a:p>
            <a:pPr algn="just">
              <a:buFont typeface="Arial" panose="020B0604020202020204" pitchFamily="34" charset="0"/>
              <a:buChar char="•"/>
            </a:pPr>
            <a:r>
              <a:rPr lang="en-GB" sz="2800" dirty="0"/>
              <a:t>‘Articles 49 TFEU and 54 TFEU must be interpreted as precluding national legislation which enables companies established under national law to convert, but does not allow, in a general manner, companies governed by the law of another Member State to convert to companies governed by national law by incorporating such a company’</a:t>
            </a:r>
            <a:endParaRPr lang="en-GB" sz="2800" dirty="0">
              <a:effectLst/>
            </a:endParaRPr>
          </a:p>
        </p:txBody>
      </p:sp>
    </p:spTree>
    <p:custDataLst>
      <p:tags r:id="rId1"/>
    </p:custDataLst>
    <p:extLst>
      <p:ext uri="{BB962C8B-B14F-4D97-AF65-F5344CB8AC3E}">
        <p14:creationId xmlns:p14="http://schemas.microsoft.com/office/powerpoint/2010/main" val="634640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2DD09-D3B5-885D-525A-76DE5A1E5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472962-AC08-58BF-816C-031FA576B7EC}"/>
              </a:ext>
            </a:extLst>
          </p:cNvPr>
          <p:cNvSpPr>
            <a:spLocks noGrp="1"/>
          </p:cNvSpPr>
          <p:nvPr>
            <p:ph type="title"/>
          </p:nvPr>
        </p:nvSpPr>
        <p:spPr>
          <a:xfrm>
            <a:off x="685800" y="329185"/>
            <a:ext cx="7772400" cy="737616"/>
          </a:xfrm>
        </p:spPr>
        <p:txBody>
          <a:bodyPr/>
          <a:lstStyle/>
          <a:p>
            <a:pPr algn="ctr"/>
            <a:r>
              <a:rPr lang="en-GB" dirty="0"/>
              <a:t>Case C-378/10 </a:t>
            </a:r>
            <a:r>
              <a:rPr lang="en-GB" i="1" dirty="0"/>
              <a:t>VALE</a:t>
            </a:r>
            <a:endParaRPr lang="en-US" dirty="0"/>
          </a:p>
        </p:txBody>
      </p:sp>
      <p:sp>
        <p:nvSpPr>
          <p:cNvPr id="3" name="Content Placeholder 2">
            <a:extLst>
              <a:ext uri="{FF2B5EF4-FFF2-40B4-BE49-F238E27FC236}">
                <a16:creationId xmlns:a16="http://schemas.microsoft.com/office/drawing/2014/main" id="{F4C4BE72-A8C3-3D8A-55FA-7B50C0034C0B}"/>
              </a:ext>
            </a:extLst>
          </p:cNvPr>
          <p:cNvSpPr>
            <a:spLocks noGrp="1"/>
          </p:cNvSpPr>
          <p:nvPr>
            <p:ph idx="1"/>
          </p:nvPr>
        </p:nvSpPr>
        <p:spPr>
          <a:xfrm>
            <a:off x="484094" y="1201271"/>
            <a:ext cx="8367298" cy="4975411"/>
          </a:xfrm>
        </p:spPr>
        <p:txBody>
          <a:bodyPr>
            <a:noAutofit/>
          </a:bodyPr>
          <a:lstStyle/>
          <a:p>
            <a:r>
              <a:rPr lang="en-GB" sz="2400" dirty="0"/>
              <a:t>“</a:t>
            </a:r>
            <a:r>
              <a:rPr lang="en-GB" sz="2200" dirty="0"/>
              <a:t>It is thus apparent that the expression ‘</a:t>
            </a:r>
            <a:r>
              <a:rPr lang="en-GB" sz="2200" u="sng" dirty="0"/>
              <a:t>to the extent that it </a:t>
            </a:r>
          </a:p>
          <a:p>
            <a:r>
              <a:rPr lang="en-GB" sz="2200" u="sng" dirty="0"/>
              <a:t>is permitted </a:t>
            </a:r>
            <a:r>
              <a:rPr lang="en-GB" sz="2200" dirty="0"/>
              <a:t>under that law to do so’, in paragraph 112 of </a:t>
            </a:r>
          </a:p>
          <a:p>
            <a:r>
              <a:rPr lang="en-GB" sz="2200" i="1" dirty="0" err="1"/>
              <a:t>Cartesio</a:t>
            </a:r>
            <a:r>
              <a:rPr lang="en-GB" sz="2200" dirty="0"/>
              <a:t>, cannot be understood as seeking to remove, </a:t>
            </a:r>
          </a:p>
          <a:p>
            <a:r>
              <a:rPr lang="en-GB" sz="2200" dirty="0"/>
              <a:t>from the outset, the legislation of the host Member State </a:t>
            </a:r>
          </a:p>
          <a:p>
            <a:r>
              <a:rPr lang="en-GB" sz="2200" dirty="0"/>
              <a:t>on company conversions from the scope of the provisions </a:t>
            </a:r>
          </a:p>
          <a:p>
            <a:r>
              <a:rPr lang="en-GB" sz="2200" dirty="0"/>
              <a:t>of the Treaty on the Functioning of the European Union </a:t>
            </a:r>
          </a:p>
          <a:p>
            <a:r>
              <a:rPr lang="en-GB" sz="2200" dirty="0"/>
              <a:t>governing the freedom of establishment, </a:t>
            </a:r>
            <a:r>
              <a:rPr lang="en-GB" sz="2200" u="sng" dirty="0"/>
              <a:t>but as reflecting </a:t>
            </a:r>
          </a:p>
          <a:p>
            <a:r>
              <a:rPr lang="en-GB" sz="2200" u="sng" dirty="0"/>
              <a:t>the mere consideration that a company established in </a:t>
            </a:r>
          </a:p>
          <a:p>
            <a:r>
              <a:rPr lang="en-GB" sz="2200" u="sng" dirty="0"/>
              <a:t>accordance with national law exists only on the basis of </a:t>
            </a:r>
          </a:p>
          <a:p>
            <a:r>
              <a:rPr lang="en-GB" sz="2200" u="sng" dirty="0"/>
              <a:t>the national legislation which ‘permits’ the incorporation of </a:t>
            </a:r>
          </a:p>
          <a:p>
            <a:r>
              <a:rPr lang="en-GB" sz="2200" u="sng" dirty="0"/>
              <a:t>the company, provided the conditions laid down to that effect </a:t>
            </a:r>
          </a:p>
          <a:p>
            <a:r>
              <a:rPr lang="en-GB" sz="2200" u="sng" dirty="0"/>
              <a:t>are satisfied</a:t>
            </a:r>
            <a:r>
              <a:rPr lang="en-GB" sz="2200" dirty="0"/>
              <a:t>.”</a:t>
            </a:r>
          </a:p>
        </p:txBody>
      </p:sp>
    </p:spTree>
    <p:custDataLst>
      <p:tags r:id="rId1"/>
    </p:custDataLst>
    <p:extLst>
      <p:ext uri="{BB962C8B-B14F-4D97-AF65-F5344CB8AC3E}">
        <p14:creationId xmlns:p14="http://schemas.microsoft.com/office/powerpoint/2010/main" val="259620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9.9|15|219.7|47.7|91.6"/>
</p:tagLst>
</file>

<file path=ppt/tags/tag2.xml><?xml version="1.0" encoding="utf-8"?>
<p:tagLst xmlns:a="http://schemas.openxmlformats.org/drawingml/2006/main" xmlns:r="http://schemas.openxmlformats.org/officeDocument/2006/relationships" xmlns:p="http://schemas.openxmlformats.org/presentationml/2006/main">
  <p:tag name="TIMING" val="|34.5|138.6|119.7"/>
</p:tagLst>
</file>

<file path=ppt/tags/tag3.xml><?xml version="1.0" encoding="utf-8"?>
<p:tagLst xmlns:a="http://schemas.openxmlformats.org/drawingml/2006/main" xmlns:r="http://schemas.openxmlformats.org/officeDocument/2006/relationships" xmlns:p="http://schemas.openxmlformats.org/presentationml/2006/main">
  <p:tag name="TIMING" val="|29.9|278.9"/>
</p:tagLst>
</file>

<file path=ppt/tags/tag4.xml><?xml version="1.0" encoding="utf-8"?>
<p:tagLst xmlns:a="http://schemas.openxmlformats.org/drawingml/2006/main" xmlns:r="http://schemas.openxmlformats.org/officeDocument/2006/relationships" xmlns:p="http://schemas.openxmlformats.org/presentationml/2006/main">
  <p:tag name="TIMING" val="|38.3"/>
</p:tagLst>
</file>

<file path=ppt/tags/tag5.xml><?xml version="1.0" encoding="utf-8"?>
<p:tagLst xmlns:a="http://schemas.openxmlformats.org/drawingml/2006/main" xmlns:r="http://schemas.openxmlformats.org/officeDocument/2006/relationships" xmlns:p="http://schemas.openxmlformats.org/presentationml/2006/main">
  <p:tag name="TIMING" val="|60.2"/>
</p:tagLst>
</file>

<file path=ppt/tags/tag6.xml><?xml version="1.0" encoding="utf-8"?>
<p:tagLst xmlns:a="http://schemas.openxmlformats.org/drawingml/2006/main" xmlns:r="http://schemas.openxmlformats.org/officeDocument/2006/relationships" xmlns:p="http://schemas.openxmlformats.org/presentationml/2006/main">
  <p:tag name="TIMING" val="|20|2.4|1.4|0.7|0.5"/>
</p:tagLst>
</file>

<file path=ppt/tags/tag7.xml><?xml version="1.0" encoding="utf-8"?>
<p:tagLst xmlns:a="http://schemas.openxmlformats.org/drawingml/2006/main" xmlns:r="http://schemas.openxmlformats.org/officeDocument/2006/relationships" xmlns:p="http://schemas.openxmlformats.org/presentationml/2006/main">
  <p:tag name="TIMING" val="|42|179.8"/>
</p:tagLst>
</file>

<file path=ppt/tags/tag8.xml><?xml version="1.0" encoding="utf-8"?>
<p:tagLst xmlns:a="http://schemas.openxmlformats.org/drawingml/2006/main" xmlns:r="http://schemas.openxmlformats.org/officeDocument/2006/relationships" xmlns:p="http://schemas.openxmlformats.org/presentationml/2006/main">
  <p:tag name="TIMING" val="|29.8|400.3"/>
</p:tagLst>
</file>

<file path=ppt/tags/tag9.xml><?xml version="1.0" encoding="utf-8"?>
<p:tagLst xmlns:a="http://schemas.openxmlformats.org/drawingml/2006/main" xmlns:r="http://schemas.openxmlformats.org/officeDocument/2006/relationships" xmlns:p="http://schemas.openxmlformats.org/presentationml/2006/main">
  <p:tag name="TIMING" val="|37.8|156"/>
</p:tagLst>
</file>

<file path=ppt/tags/tag10.xml><?xml version="1.0" encoding="utf-8"?>
<p:tagLst xmlns:a="http://schemas.openxmlformats.org/drawingml/2006/main" xmlns:r="http://schemas.openxmlformats.org/officeDocument/2006/relationships" xmlns:p="http://schemas.openxmlformats.org/presentationml/2006/main">
  <p:tag name="TIMING" val="|103.4|380.2"/>
</p:tagLst>
</file>

<file path=ppt/tags/tag11.xml><?xml version="1.0" encoding="utf-8"?>
<p:tagLst xmlns:a="http://schemas.openxmlformats.org/drawingml/2006/main" xmlns:r="http://schemas.openxmlformats.org/officeDocument/2006/relationships" xmlns:p="http://schemas.openxmlformats.org/presentationml/2006/main">
  <p:tag name="TIMING" val="|103.4|380.2"/>
</p:tagLst>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9A4B24C251BCD4291F2C2F3A608C810" ma:contentTypeVersion="9" ma:contentTypeDescription="Create a new document." ma:contentTypeScope="" ma:versionID="65e6d05ec05cb74dd9706b1e5cf7fbb0">
  <xsd:schema xmlns:xsd="http://www.w3.org/2001/XMLSchema" xmlns:xs="http://www.w3.org/2001/XMLSchema" xmlns:p="http://schemas.microsoft.com/office/2006/metadata/properties" xmlns:ns3="3cc0b812-7f7d-4aca-acca-000f424f7da7" targetNamespace="http://schemas.microsoft.com/office/2006/metadata/properties" ma:root="true" ma:fieldsID="d26e22a320b4c5202789874931af9409" ns3:_="">
    <xsd:import namespace="3cc0b812-7f7d-4aca-acca-000f424f7da7"/>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c0b812-7f7d-4aca-acca-000f424f7da7"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9FEA3A7-1379-41AE-B8EB-45EA0BB6EB92}">
  <ds:schemaRefs>
    <ds:schemaRef ds:uri="http://schemas.microsoft.com/sharepoint/v3/contenttype/forms"/>
  </ds:schemaRefs>
</ds:datastoreItem>
</file>

<file path=customXml/itemProps2.xml><?xml version="1.0" encoding="utf-8"?>
<ds:datastoreItem xmlns:ds="http://schemas.openxmlformats.org/officeDocument/2006/customXml" ds:itemID="{9FD00AA2-2D20-45D3-87DF-ADE1070BF29A}">
  <ds:schemaRefs>
    <ds:schemaRef ds:uri="http://schemas.microsoft.com/office/infopath/2007/PartnerControls"/>
    <ds:schemaRef ds:uri="http://schemas.microsoft.com/office/2006/metadata/properties"/>
    <ds:schemaRef ds:uri="3cc0b812-7f7d-4aca-acca-000f424f7da7"/>
    <ds:schemaRef ds:uri="http://schemas.openxmlformats.org/package/2006/metadata/core-properties"/>
    <ds:schemaRef ds:uri="http://purl.org/dc/elements/1.1/"/>
    <ds:schemaRef ds:uri="http://schemas.microsoft.com/office/2006/documentManagement/types"/>
    <ds:schemaRef ds:uri="http://purl.org/dc/dcmitype/"/>
    <ds:schemaRef ds:uri="http://purl.org/dc/terms/"/>
    <ds:schemaRef ds:uri="http://www.w3.org/XML/1998/namespace"/>
  </ds:schemaRefs>
</ds:datastoreItem>
</file>

<file path=customXml/itemProps3.xml><?xml version="1.0" encoding="utf-8"?>
<ds:datastoreItem xmlns:ds="http://schemas.openxmlformats.org/officeDocument/2006/customXml" ds:itemID="{E2E108D4-2630-4149-81E7-B1444E95F785}">
  <ds:schemaRefs>
    <ds:schemaRef ds:uri="3cc0b812-7f7d-4aca-acca-000f424f7da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463</TotalTime>
  <Words>1325</Words>
  <Application>Microsoft Macintosh PowerPoint</Application>
  <PresentationFormat>On-screen Show (4:3)</PresentationFormat>
  <Paragraphs>80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vt:lpstr>
      <vt:lpstr>Blank</vt:lpstr>
      <vt:lpstr>Contemporary Issues in the Law of the Internal Market 2024/2025</vt:lpstr>
      <vt:lpstr>Regulatory competition and the EU internal market</vt:lpstr>
      <vt:lpstr>Company mobility – scenarios</vt:lpstr>
      <vt:lpstr>Case C-81/87 Daily Mail</vt:lpstr>
      <vt:lpstr>Case C-212/97 Centros</vt:lpstr>
      <vt:lpstr>Case C-212/97 Centros</vt:lpstr>
      <vt:lpstr>Impact of Centros</vt:lpstr>
      <vt:lpstr>Case C-167/01 Inspire Art</vt:lpstr>
      <vt:lpstr>Case C-208/00 Uberseering</vt:lpstr>
      <vt:lpstr>Case C-210/06 Cartesio</vt:lpstr>
      <vt:lpstr>Case C-378/10 VALE</vt:lpstr>
      <vt:lpstr>Case C-378/10 VALE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Contemporary Issues in the Law of the Internal Market 2020/2021</dc:title>
  <dc:creator>Pierre Schammo</dc:creator>
  <cp:lastModifiedBy>SCHAMMO, PIERRE J.</cp:lastModifiedBy>
  <cp:revision>12</cp:revision>
  <cp:lastPrinted>2023-02-13T08:28:31Z</cp:lastPrinted>
  <dcterms:created xsi:type="dcterms:W3CDTF">2021-01-22T06:06:39Z</dcterms:created>
  <dcterms:modified xsi:type="dcterms:W3CDTF">2025-02-21T08:40:24Z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0x01010009A4B24C251BCD4291F2C2F3A608C810</vt:lpwstr>
  </property>
</Properties>
</file>