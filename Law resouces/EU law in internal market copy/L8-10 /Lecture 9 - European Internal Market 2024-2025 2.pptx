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tags/tag6.xml" ContentType="application/vnd.openxmlformats-officedocument.presentationml.tags+xml"/>
  <Override PartName="/ppt/notesSlides/notesSlide8.xml" ContentType="application/vnd.openxmlformats-officedocument.presentationml.notesSlide+xml"/>
  <Override PartName="/ppt/tags/tag7.xml" ContentType="application/vnd.openxmlformats-officedocument.presentationml.tags+xml"/>
  <Override PartName="/ppt/notesSlides/notesSlide9.xml" ContentType="application/vnd.openxmlformats-officedocument.presentationml.notesSlide+xml"/>
  <Override PartName="/ppt/tags/tag8.xml" ContentType="application/vnd.openxmlformats-officedocument.presentationml.tags+xml"/>
  <Override PartName="/ppt/notesSlides/notesSlide10.xml" ContentType="application/vnd.openxmlformats-officedocument.presentationml.notesSlide+xml"/>
  <Override PartName="/ppt/tags/tag9.xml" ContentType="application/vnd.openxmlformats-officedocument.presentationml.tags+xml"/>
  <Override PartName="/ppt/notesSlides/notesSlide11.xml" ContentType="application/vnd.openxmlformats-officedocument.presentationml.notesSlide+xml"/>
  <Override PartName="/ppt/tags/tag10.xml" ContentType="application/vnd.openxmlformats-officedocument.presentationml.tags+xml"/>
  <Override PartName="/ppt/notesSlides/notesSlide12.xml" ContentType="application/vnd.openxmlformats-officedocument.presentationml.notesSlide+xml"/>
  <Override PartName="/ppt/tags/tag11.xml" ContentType="application/vnd.openxmlformats-officedocument.presentationml.tags+xml"/>
  <Override PartName="/ppt/notesSlides/notesSlide13.xml" ContentType="application/vnd.openxmlformats-officedocument.presentationml.notesSlide+xml"/>
  <Override PartName="/ppt/tags/tag12.xml" ContentType="application/vnd.openxmlformats-officedocument.presentationml.tags+xml"/>
  <Override PartName="/ppt/notesSlides/notesSlide14.xml" ContentType="application/vnd.openxmlformats-officedocument.presentationml.notesSlide+xml"/>
  <Override PartName="/ppt/tags/tag13.xml" ContentType="application/vnd.openxmlformats-officedocument.presentationml.tags+xml"/>
  <Override PartName="/ppt/notesSlides/notesSlide15.xml" ContentType="application/vnd.openxmlformats-officedocument.presentationml.notesSlide+xml"/>
  <Override PartName="/ppt/tags/tag14.xml" ContentType="application/vnd.openxmlformats-officedocument.presentationml.tags+xml"/>
  <Override PartName="/ppt/notesSlides/notesSlide16.xml" ContentType="application/vnd.openxmlformats-officedocument.presentationml.notesSlide+xml"/>
  <Override PartName="/ppt/tags/tag15.xml" ContentType="application/vnd.openxmlformats-officedocument.presentationml.tags+xml"/>
  <Override PartName="/ppt/notesSlides/notesSlide17.xml" ContentType="application/vnd.openxmlformats-officedocument.presentationml.notesSlide+xml"/>
  <Override PartName="/ppt/tags/tag16.xml" ContentType="application/vnd.openxmlformats-officedocument.presentationml.tags+xml"/>
  <Override PartName="/ppt/notesSlides/notesSlide18.xml" ContentType="application/vnd.openxmlformats-officedocument.presentationml.notesSlide+xml"/>
  <Override PartName="/ppt/tags/tag17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1"/>
  </p:notesMasterIdLst>
  <p:sldIdLst>
    <p:sldId id="326" r:id="rId2"/>
    <p:sldId id="278" r:id="rId3"/>
    <p:sldId id="320" r:id="rId4"/>
    <p:sldId id="313" r:id="rId5"/>
    <p:sldId id="279" r:id="rId6"/>
    <p:sldId id="280" r:id="rId7"/>
    <p:sldId id="314" r:id="rId8"/>
    <p:sldId id="281" r:id="rId9"/>
    <p:sldId id="315" r:id="rId10"/>
    <p:sldId id="282" r:id="rId11"/>
    <p:sldId id="316" r:id="rId12"/>
    <p:sldId id="318" r:id="rId13"/>
    <p:sldId id="283" r:id="rId14"/>
    <p:sldId id="317" r:id="rId15"/>
    <p:sldId id="325" r:id="rId16"/>
    <p:sldId id="284" r:id="rId17"/>
    <p:sldId id="324" r:id="rId18"/>
    <p:sldId id="323" r:id="rId19"/>
    <p:sldId id="319" r:id="rId20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73"/>
    <p:restoredTop sz="66735"/>
  </p:normalViewPr>
  <p:slideViewPr>
    <p:cSldViewPr>
      <p:cViewPr varScale="1">
        <p:scale>
          <a:sx n="83" d="100"/>
          <a:sy n="83" d="100"/>
        </p:scale>
        <p:origin x="3288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15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DD96B72-7B78-4AF6-9E2A-ACF0D6FF50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0831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8444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33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542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1765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21624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637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0628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4443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331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343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1378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2049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76188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11183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36893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57905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23663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71896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D96B72-7B78-4AF6-9E2A-ACF0D6FF500F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3854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 userDrawn="1"/>
        </p:nvSpPr>
        <p:spPr bwMode="auto">
          <a:xfrm>
            <a:off x="0" y="0"/>
            <a:ext cx="9144000" cy="5516563"/>
          </a:xfrm>
          <a:prstGeom prst="rect">
            <a:avLst/>
          </a:prstGeom>
          <a:solidFill>
            <a:srgbClr val="66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>
              <a:solidFill>
                <a:srgbClr val="663366"/>
              </a:solidFill>
            </a:endParaRPr>
          </a:p>
        </p:txBody>
      </p:sp>
      <p:pic>
        <p:nvPicPr>
          <p:cNvPr id="5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5843588"/>
            <a:ext cx="19431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3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755650" y="47625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27088" y="2420938"/>
            <a:ext cx="7561262" cy="1752600"/>
          </a:xfrm>
        </p:spPr>
        <p:txBody>
          <a:bodyPr/>
          <a:lstStyle>
            <a:lvl1pPr marL="0" indent="0"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DA4C3F-C7EA-4ACD-A688-00B8AB7459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99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EBEF36-167C-4C49-8BEC-492A52FB25B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1360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B25EF-8505-41EF-9FA9-7086DB9CD6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6413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3" y="1989138"/>
            <a:ext cx="381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989138"/>
            <a:ext cx="381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592C22-D07F-40BC-BDA1-A66BDD0B51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299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D9969B-DFAC-45A2-A97A-3A45D334CBF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51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108585-A115-42BE-AB24-3F9E13C77F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729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6B4418-570D-4619-8178-AA43F1EEE1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319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14CDFD-3AD0-42DF-91C7-33373E0E8D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245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09D50C-17A8-4EF5-9234-192251A318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3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03C77-C923-4C93-BA88-C3252B5B2F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7176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195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4213" y="609600"/>
            <a:ext cx="5678487" cy="5195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064F13-510B-4910-B11C-E04CB8484A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11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 userDrawn="1"/>
        </p:nvSpPr>
        <p:spPr bwMode="auto">
          <a:xfrm>
            <a:off x="0" y="0"/>
            <a:ext cx="9140825" cy="6873875"/>
          </a:xfrm>
          <a:prstGeom prst="rect">
            <a:avLst/>
          </a:prstGeom>
          <a:solidFill>
            <a:srgbClr val="6633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r>
              <a:rPr lang="en-GB" altLang="en-US">
                <a:solidFill>
                  <a:srgbClr val="663366"/>
                </a:solidFill>
              </a:rPr>
              <a:t>∂</a:t>
            </a:r>
          </a:p>
        </p:txBody>
      </p:sp>
      <p:sp>
        <p:nvSpPr>
          <p:cNvPr id="1027" name="Rectangle 8"/>
          <p:cNvSpPr>
            <a:spLocks noChangeArrowheads="1"/>
          </p:cNvSpPr>
          <p:nvPr userDrawn="1"/>
        </p:nvSpPr>
        <p:spPr bwMode="auto">
          <a:xfrm>
            <a:off x="107950" y="107950"/>
            <a:ext cx="8924925" cy="665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>
              <a:solidFill>
                <a:srgbClr val="663366"/>
              </a:solidFill>
            </a:endParaRPr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Heading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989138"/>
            <a:ext cx="777240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A5A50F5-2650-4FA7-BA16-E4DBD2873D7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3" name="Rectangle 9"/>
          <p:cNvSpPr>
            <a:spLocks noChangeArrowheads="1"/>
          </p:cNvSpPr>
          <p:nvPr userDrawn="1"/>
        </p:nvSpPr>
        <p:spPr bwMode="auto">
          <a:xfrm>
            <a:off x="790575" y="611188"/>
            <a:ext cx="802481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>
              <a:defRPr/>
            </a:pPr>
            <a:endParaRPr lang="en-US" altLang="en-US" sz="4400">
              <a:solidFill>
                <a:schemeClr val="bg1"/>
              </a:solidFill>
            </a:endParaRPr>
          </a:p>
        </p:txBody>
      </p:sp>
      <p:sp>
        <p:nvSpPr>
          <p:cNvPr id="1034" name="Rectangle 10"/>
          <p:cNvSpPr>
            <a:spLocks noChangeArrowheads="1"/>
          </p:cNvSpPr>
          <p:nvPr userDrawn="1"/>
        </p:nvSpPr>
        <p:spPr bwMode="auto">
          <a:xfrm>
            <a:off x="790575" y="1798638"/>
            <a:ext cx="8024813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pic>
        <p:nvPicPr>
          <p:cNvPr id="1035" name="Picture 1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5843588"/>
            <a:ext cx="19431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arend.j.van-leeuwen@durham.ac.u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 sz="quarter"/>
          </p:nvPr>
        </p:nvSpPr>
        <p:spPr>
          <a:xfrm>
            <a:off x="755650" y="548680"/>
            <a:ext cx="7772400" cy="2016224"/>
          </a:xfrm>
        </p:spPr>
        <p:txBody>
          <a:bodyPr/>
          <a:lstStyle/>
          <a:p>
            <a:pPr eaLnBrk="1" hangingPunct="1"/>
            <a:r>
              <a:rPr lang="en-GB" altLang="en-US" dirty="0">
                <a:latin typeface="Calibri" panose="020F0502020204030204" pitchFamily="34" charset="0"/>
              </a:rPr>
              <a:t>Contemporary Issues in the Law of the Internal Market 2024/2025</a:t>
            </a:r>
            <a:endParaRPr lang="en-GB" altLang="en-US" dirty="0"/>
          </a:p>
        </p:txBody>
      </p:sp>
      <p:sp>
        <p:nvSpPr>
          <p:cNvPr id="10243" name="Subtitle 2"/>
          <p:cNvSpPr>
            <a:spLocks noGrp="1"/>
          </p:cNvSpPr>
          <p:nvPr>
            <p:ph type="subTitle" sz="quarter" idx="1"/>
          </p:nvPr>
        </p:nvSpPr>
        <p:spPr>
          <a:xfrm>
            <a:off x="755650" y="2817529"/>
            <a:ext cx="7561262" cy="17336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sz="2000" dirty="0">
                <a:latin typeface="+mj-lt"/>
              </a:rPr>
              <a:t>Lecture 9: EU citizenship - Directive 2004/38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GB" altLang="en-US" sz="2000" dirty="0">
              <a:latin typeface="+mj-lt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sz="2000" dirty="0">
                <a:latin typeface="+mj-lt"/>
              </a:rPr>
              <a:t>Prof Pierre Schammo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endParaRPr lang="en-GB" altLang="en-US" sz="2000" dirty="0">
              <a:latin typeface="+mj-lt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GB" altLang="en-US" sz="2000" dirty="0">
                <a:latin typeface="+mj-lt"/>
                <a:hlinkClick r:id="rId3"/>
              </a:rPr>
              <a:t>pierre.schammo@durham.ac.uk</a:t>
            </a:r>
            <a:r>
              <a:rPr lang="en-GB" altLang="en-US" sz="2000" dirty="0">
                <a:latin typeface="+mj-lt"/>
              </a:rPr>
              <a:t>  </a:t>
            </a:r>
            <a:endParaRPr lang="en-GB" altLang="en-US" sz="2000" dirty="0">
              <a:solidFill>
                <a:srgbClr val="663366"/>
              </a:solidFill>
              <a:latin typeface="+mj-lt"/>
            </a:endParaRPr>
          </a:p>
          <a:p>
            <a:pPr eaLnBrk="1" hangingPunct="1"/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1836306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500" dirty="0">
                <a:latin typeface="+mj-lt"/>
              </a:rPr>
              <a:t>The Citizen rights Directive 2004/38</a:t>
            </a:r>
          </a:p>
          <a:p>
            <a:pPr lvl="1"/>
            <a:r>
              <a:rPr lang="en-US" altLang="en-US" sz="3500" dirty="0">
                <a:latin typeface="+mj-lt"/>
              </a:rPr>
              <a:t>The scope of Directive 2004/38/EC</a:t>
            </a:r>
          </a:p>
          <a:p>
            <a:pPr lvl="1"/>
            <a:r>
              <a:rPr lang="en-US" altLang="en-US" sz="3500" dirty="0">
                <a:latin typeface="+mj-lt"/>
              </a:rPr>
              <a:t>The rights granted by Directive 2004/38/EC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scope of Directive 2004/38/EC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989138"/>
            <a:ext cx="7772400" cy="410415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Directive is applicable to Union citizens who move to, or are resident, in a Member State of which they do not hold the nationality (the ‘host Member State’) and their family members (regardless of whether they are Union citizens or not) – Art 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4700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404664"/>
            <a:ext cx="8352928" cy="1080120"/>
          </a:xfrm>
        </p:spPr>
        <p:txBody>
          <a:bodyPr/>
          <a:lstStyle/>
          <a:p>
            <a:r>
              <a:rPr lang="en-GB" dirty="0"/>
              <a:t>The scope of Directive 2004/38/EC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700808"/>
            <a:ext cx="7772400" cy="4392488"/>
          </a:xfrm>
        </p:spPr>
        <p:txBody>
          <a:bodyPr/>
          <a:lstStyle/>
          <a:p>
            <a:pPr marL="685800" lvl="1">
              <a:buFont typeface="Arial" panose="020B0604020202020204" pitchFamily="34" charset="0"/>
              <a:buChar char="•"/>
            </a:pPr>
            <a:r>
              <a:rPr lang="en-GB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Union citizens</a:t>
            </a:r>
            <a: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be a Union citizens who must hold the nationality of a MS</a:t>
            </a:r>
          </a:p>
          <a:p>
            <a:pPr marL="0" indent="0"/>
            <a: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=&gt; see C-200/02 Chen (Mrs Chen gives birth to her daughter Catherine in Belfast; mother and daughter move to Wales; UK authorities refuse them long-term residence permits; but Catherine is Irish and not Chinese; can she benefit from Union citizenship rights? UK cannot restrict the effects of </a:t>
            </a:r>
          </a:p>
          <a:p>
            <a:pPr marL="0" indent="0"/>
            <a:r>
              <a:rPr lang="en-GB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grant of nationality of another M-S)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3430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scope of Directive 2004/38/EC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989138"/>
            <a:ext cx="7772400" cy="4104158"/>
          </a:xfrm>
        </p:spPr>
        <p:txBody>
          <a:bodyPr/>
          <a:lstStyle/>
          <a:p>
            <a:pPr marL="285750">
              <a:buFont typeface="Arial" panose="020B0604020202020204" pitchFamily="34" charset="0"/>
              <a:buChar char="•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members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(Art 2(2)), including third-country family members: 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Spouse</a:t>
            </a:r>
          </a:p>
          <a:p>
            <a:pPr lvl="2" indent="-285750">
              <a:buFont typeface="Symbol" pitchFamily="2" charset="2"/>
              <a:buChar char="Þ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C-127/08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Metock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Registered partner if the host MS recognises registered partnership as equivalent </a:t>
            </a:r>
          </a:p>
          <a:p>
            <a:pPr marL="400050" lvl="1" indent="0"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to marriage</a:t>
            </a:r>
          </a:p>
          <a:p>
            <a:pPr marL="400050" lvl="1" indent="0"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next slide, continued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946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8495357" cy="864096"/>
          </a:xfrm>
        </p:spPr>
        <p:txBody>
          <a:bodyPr/>
          <a:lstStyle/>
          <a:p>
            <a:r>
              <a:rPr lang="en-GB" dirty="0"/>
              <a:t>The scope of Directive 2004/38/EC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412776"/>
            <a:ext cx="7772400" cy="5040560"/>
          </a:xfrm>
        </p:spPr>
        <p:txBody>
          <a:bodyPr>
            <a:noAutofit/>
          </a:bodyPr>
          <a:lstStyle/>
          <a:p>
            <a:pPr marL="4000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members (Article 2(2)), </a:t>
            </a:r>
            <a:r>
              <a:rPr lang="en-GB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continued:</a:t>
            </a:r>
          </a:p>
          <a:p>
            <a:pPr marL="80010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 descendants under the age of 21 or those who are dependants (and those of the spouse or registered partner)</a:t>
            </a:r>
          </a:p>
          <a:p>
            <a:pPr marL="800100" lvl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direct relatives in the ascending line (and those of the spouse or registered partner) </a:t>
            </a:r>
          </a:p>
          <a:p>
            <a:pPr marL="1200150" lvl="2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=&gt; Case C-1/05 Jia (meaning of dependency (Chinese mother-in-law of German self-employed migrant working in Sweden): dependency to be determined on basis of individual assessment; need for material </a:t>
            </a:r>
          </a:p>
          <a:p>
            <a:pPr marL="97155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support of dependent must exist in state of </a:t>
            </a:r>
          </a:p>
          <a:p>
            <a:pPr marL="97155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origin or country from which dependent </a:t>
            </a:r>
          </a:p>
          <a:p>
            <a:pPr marL="97155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comes; proof of dependency can be adduced </a:t>
            </a:r>
          </a:p>
          <a:p>
            <a:pPr marL="97155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by ‘appropriate means’.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19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282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609600"/>
            <a:ext cx="8568952" cy="803176"/>
          </a:xfrm>
        </p:spPr>
        <p:txBody>
          <a:bodyPr/>
          <a:lstStyle/>
          <a:p>
            <a:r>
              <a:rPr lang="en-GB" dirty="0"/>
              <a:t>The scope of Directive 2004/38/EC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752600"/>
            <a:ext cx="7772400" cy="434069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Article 3(2): a </a:t>
            </a:r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discretionary right of entry and residence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(MS “shall facilitate”):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other family members not falling under the definition of family member in Article 2(2) who are </a:t>
            </a:r>
            <a:r>
              <a:rPr lang="en-GB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dependents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GB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 of the household of the Union citizen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where </a:t>
            </a:r>
            <a:r>
              <a:rPr lang="en-GB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serious health grounds </a:t>
            </a: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the personal care of FM by UC</a:t>
            </a:r>
          </a:p>
          <a:p>
            <a:pPr marL="800100" lvl="1">
              <a:buFont typeface="Arial" panose="020B0604020202020204" pitchFamily="34" charset="0"/>
              <a:buChar char="•"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partner with whom the Union </a:t>
            </a:r>
          </a:p>
          <a:p>
            <a:pPr marL="514350" lvl="1" indent="0">
              <a:buNone/>
            </a:pPr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citizen has a </a:t>
            </a:r>
            <a:r>
              <a:rPr lang="en-GB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durable relationship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30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317" y="260647"/>
            <a:ext cx="7772400" cy="838711"/>
          </a:xfrm>
        </p:spPr>
        <p:txBody>
          <a:bodyPr/>
          <a:lstStyle/>
          <a:p>
            <a:r>
              <a:rPr lang="en-GB" dirty="0"/>
              <a:t>The scope of Directive 2004/38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340768"/>
            <a:ext cx="7772400" cy="5256584"/>
          </a:xfrm>
        </p:spPr>
        <p:txBody>
          <a:bodyPr/>
          <a:lstStyle/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900" dirty="0">
                <a:latin typeface="+mj-lt"/>
              </a:rPr>
              <a:t>The </a:t>
            </a:r>
            <a:r>
              <a:rPr lang="en-GB" sz="1900" b="1" dirty="0">
                <a:latin typeface="+mj-lt"/>
              </a:rPr>
              <a:t>cross-border element</a:t>
            </a:r>
            <a:r>
              <a:rPr lang="en-GB" sz="1900" dirty="0">
                <a:latin typeface="+mj-lt"/>
              </a:rPr>
              <a:t>: the Directive is applicable to Union citizens who move to, or are resident in, a Member State of which they do not hold the nationality and their family members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GB" sz="1900" b="1" dirty="0">
              <a:latin typeface="+mj-lt"/>
            </a:endParaRP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1900" b="1" dirty="0">
                <a:latin typeface="+mj-lt"/>
              </a:rPr>
              <a:t>Circular situations</a:t>
            </a:r>
            <a:r>
              <a:rPr lang="en-GB" sz="1900" dirty="0">
                <a:latin typeface="+mj-lt"/>
              </a:rPr>
              <a:t>: a Union citizen returns to their home Member State after having exercised their free movement rights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GB" sz="1900" dirty="0">
                <a:latin typeface="+mj-lt"/>
              </a:rPr>
              <a:t>Case C-456/12, </a:t>
            </a:r>
            <a:r>
              <a:rPr lang="en-GB" sz="1900" i="1" dirty="0">
                <a:latin typeface="+mj-lt"/>
              </a:rPr>
              <a:t>O and B: ‘</a:t>
            </a:r>
            <a:r>
              <a:rPr lang="en-GB" sz="1900" dirty="0">
                <a:latin typeface="+mj-lt"/>
              </a:rPr>
              <a:t>where a Union citizen has created or strengthened a family life with a third‑country national during genuine residence … in a Member State other than that of which he is a national, the provisions of [</a:t>
            </a:r>
            <a:r>
              <a:rPr lang="en-GB" sz="1900" dirty="0" err="1">
                <a:latin typeface="+mj-lt"/>
              </a:rPr>
              <a:t>dir</a:t>
            </a:r>
            <a:r>
              <a:rPr lang="en-GB" sz="1900" dirty="0">
                <a:latin typeface="+mj-lt"/>
              </a:rPr>
              <a:t> 2004/38] </a:t>
            </a:r>
            <a:r>
              <a:rPr lang="en-GB" sz="1900" u="sng" dirty="0">
                <a:latin typeface="+mj-lt"/>
              </a:rPr>
              <a:t>apply by analogy </a:t>
            </a:r>
            <a:r>
              <a:rPr lang="en-GB" sz="1900" dirty="0">
                <a:latin typeface="+mj-lt"/>
              </a:rPr>
              <a:t>where that Union citizen returns, with the family member in question, to his Member State of origin. Therefore</a:t>
            </a:r>
            <a:r>
              <a:rPr lang="en-GB" sz="1900" u="sng" dirty="0">
                <a:latin typeface="+mj-lt"/>
              </a:rPr>
              <a:t>, the conditions for granting a derived right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GB" sz="1900" u="sng" dirty="0">
                <a:latin typeface="+mj-lt"/>
              </a:rPr>
              <a:t>of residence to a third‑country national </a:t>
            </a:r>
            <a:r>
              <a:rPr lang="en-GB" sz="1900" dirty="0">
                <a:latin typeface="+mj-lt"/>
              </a:rPr>
              <a:t>who is a family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GB" sz="1900" dirty="0">
                <a:latin typeface="+mj-lt"/>
              </a:rPr>
              <a:t>member of that Union citizen, in the latter’s Member State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GB" sz="1900" dirty="0">
                <a:latin typeface="+mj-lt"/>
              </a:rPr>
              <a:t>of origin, should not, in principle, be more strict than those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GB" sz="1900" dirty="0">
                <a:latin typeface="+mj-lt"/>
              </a:rPr>
              <a:t>provided for by that directive…’.</a:t>
            </a:r>
            <a:endParaRPr lang="en-GB" sz="1900" i="1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9908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664" y="614920"/>
            <a:ext cx="8134672" cy="875184"/>
          </a:xfrm>
        </p:spPr>
        <p:txBody>
          <a:bodyPr/>
          <a:lstStyle/>
          <a:p>
            <a:r>
              <a:rPr lang="en-GB" dirty="0"/>
              <a:t>The scope of Directive 2004/38/EC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00050">
              <a:buFont typeface="Arial" panose="020B0604020202020204" pitchFamily="34" charset="0"/>
              <a:buChar char="•"/>
            </a:pPr>
            <a:r>
              <a:rPr lang="en-GB" sz="2600" dirty="0">
                <a:latin typeface="+mj-lt"/>
              </a:rPr>
              <a:t>Acquisition of nationality: a Union citizen acquires the nationality of the Member State in which they are residing (</a:t>
            </a:r>
            <a:r>
              <a:rPr lang="en-GB" sz="2600" b="1" dirty="0">
                <a:latin typeface="+mj-lt"/>
              </a:rPr>
              <a:t>double nationality</a:t>
            </a:r>
            <a:r>
              <a:rPr lang="en-GB" sz="2600" dirty="0">
                <a:latin typeface="+mj-lt"/>
              </a:rPr>
              <a:t>)</a:t>
            </a:r>
          </a:p>
          <a:p>
            <a:pPr marL="857250" lvl="1" indent="-342900"/>
            <a:r>
              <a:rPr lang="en-GB" sz="2600" dirty="0">
                <a:latin typeface="+mj-lt"/>
              </a:rPr>
              <a:t>Case C-165/16, </a:t>
            </a:r>
            <a:r>
              <a:rPr lang="en-GB" sz="2600" i="1" dirty="0" err="1">
                <a:latin typeface="+mj-lt"/>
              </a:rPr>
              <a:t>Lounes</a:t>
            </a:r>
            <a:r>
              <a:rPr lang="en-GB" sz="2600" i="1" dirty="0">
                <a:latin typeface="+mj-lt"/>
              </a:rPr>
              <a:t> </a:t>
            </a:r>
            <a:r>
              <a:rPr lang="en-GB" sz="2600" dirty="0">
                <a:latin typeface="+mj-lt"/>
              </a:rPr>
              <a:t>(dual national marries TCN in UK; Dir 2004/38 does not apply, but Art 21 TFEU can be applied in such a situation)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66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332656"/>
            <a:ext cx="8280920" cy="1359024"/>
          </a:xfrm>
        </p:spPr>
        <p:txBody>
          <a:bodyPr/>
          <a:lstStyle/>
          <a:p>
            <a:r>
              <a:rPr lang="en-GB" dirty="0"/>
              <a:t>Rights granted by Dir 2004/38/EC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916832"/>
            <a:ext cx="7772400" cy="424847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b="1" dirty="0">
                <a:latin typeface="+mj-lt"/>
              </a:rPr>
              <a:t>Right of exit and entry</a:t>
            </a:r>
            <a:r>
              <a:rPr lang="en-GB" sz="2200" dirty="0">
                <a:latin typeface="+mj-lt"/>
              </a:rPr>
              <a:t>: valid identity card or passport (Articles 4 and 5); visa might be required for TCN family member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GB" sz="2000" dirty="0">
                <a:latin typeface="+mj-lt"/>
              </a:rPr>
              <a:t>See also Art 5(4)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>
                <a:latin typeface="+mj-lt"/>
              </a:rPr>
              <a:t>Rights of </a:t>
            </a:r>
            <a:r>
              <a:rPr lang="en-GB" sz="2200" b="1" dirty="0">
                <a:latin typeface="+mj-lt"/>
              </a:rPr>
              <a:t>residence for up to 3 months </a:t>
            </a:r>
            <a:r>
              <a:rPr lang="en-GB" sz="2200" dirty="0">
                <a:latin typeface="+mj-lt"/>
              </a:rPr>
              <a:t>(Art 6): valid identity card or passport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>
                <a:latin typeface="+mj-lt"/>
              </a:rPr>
              <a:t>Right of residence as long as UC/FM not ‘unreasonable burden’ on the social assistance system of host M-S (Art 14(1))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2200" dirty="0">
                <a:latin typeface="+mj-lt"/>
              </a:rPr>
              <a:t>No obligation for host M-S to grant right to ‘social assistance’ (Art 24(2)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363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09600"/>
            <a:ext cx="7990656" cy="875184"/>
          </a:xfrm>
        </p:spPr>
        <p:txBody>
          <a:bodyPr/>
          <a:lstStyle/>
          <a:p>
            <a:r>
              <a:rPr lang="en-GB" dirty="0"/>
              <a:t>Rights granted by Dir 2004/38/EC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628800"/>
            <a:ext cx="7772400" cy="4536504"/>
          </a:xfrm>
        </p:spPr>
        <p:txBody>
          <a:bodyPr/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3200" dirty="0">
                <a:latin typeface="+mj-lt"/>
              </a:rPr>
              <a:t>Right of </a:t>
            </a:r>
            <a:r>
              <a:rPr lang="en-GB" sz="3200" b="1" dirty="0">
                <a:latin typeface="+mj-lt"/>
              </a:rPr>
              <a:t>residence for more than 3 months</a:t>
            </a:r>
            <a:r>
              <a:rPr lang="en-GB" sz="3200" dirty="0">
                <a:latin typeface="+mj-lt"/>
              </a:rPr>
              <a:t> (Article 7):</a:t>
            </a:r>
          </a:p>
          <a:p>
            <a:pPr marL="68580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3200" u="sng" dirty="0">
                <a:latin typeface="+mj-lt"/>
              </a:rPr>
              <a:t>Workers or self-employed </a:t>
            </a:r>
            <a:endParaRPr lang="en-GB" sz="3200" dirty="0">
              <a:latin typeface="+mj-lt"/>
            </a:endParaRPr>
          </a:p>
          <a:p>
            <a:pPr marL="1085850" lvl="2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3200" dirty="0">
                <a:latin typeface="+mj-lt"/>
              </a:rPr>
              <a:t>This also includes job-seekers if the conditions in Article 14(4)(b) are satisfied: EU citizen must provide evidence that continues to seek employment and has ‘genuine chance’ of being engaged.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8563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44" y="476672"/>
            <a:ext cx="8494712" cy="1152128"/>
          </a:xfrm>
        </p:spPr>
        <p:txBody>
          <a:bodyPr/>
          <a:lstStyle/>
          <a:p>
            <a:r>
              <a:rPr lang="en-GB" dirty="0"/>
              <a:t>Rights granted by Dir 2004/38/EC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44824"/>
            <a:ext cx="7772400" cy="417646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3200" dirty="0">
                <a:latin typeface="+mj-lt"/>
              </a:rPr>
              <a:t>Right of </a:t>
            </a:r>
            <a:r>
              <a:rPr lang="en-GB" sz="3200" b="1" dirty="0">
                <a:latin typeface="+mj-lt"/>
              </a:rPr>
              <a:t>residence for more than 3 months</a:t>
            </a:r>
            <a:r>
              <a:rPr lang="en-GB" sz="3200" dirty="0">
                <a:latin typeface="+mj-lt"/>
              </a:rPr>
              <a:t> (Article 7):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GB" sz="3200" u="sng" dirty="0">
                <a:latin typeface="+mj-lt"/>
              </a:rPr>
              <a:t>Economically independent citizens</a:t>
            </a:r>
            <a:r>
              <a:rPr lang="en-GB" sz="3200" dirty="0">
                <a:latin typeface="+mj-lt"/>
              </a:rPr>
              <a:t>: sufficient resources and comprehensive sickness insurance cover in the host Member State</a:t>
            </a:r>
          </a:p>
          <a:p>
            <a:pPr marL="800100" lvl="1" indent="-342900">
              <a:buFont typeface="+mj-lt"/>
              <a:buAutoNum type="alphaLcPeriod"/>
            </a:pPr>
            <a:endParaRPr lang="en-GB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4696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09600"/>
            <a:ext cx="8280920" cy="1019200"/>
          </a:xfrm>
        </p:spPr>
        <p:txBody>
          <a:bodyPr/>
          <a:lstStyle/>
          <a:p>
            <a:r>
              <a:rPr lang="en-GB" dirty="0"/>
              <a:t>Rights granted by Dir 2004/38/EC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844824"/>
            <a:ext cx="7772400" cy="4320480"/>
          </a:xfrm>
        </p:spPr>
        <p:txBody>
          <a:bodyPr/>
          <a:lstStyle/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of residence for more than three months (Article 7): 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Students: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be enrolled in educational establishment; must have comprehensive sickness insurance in host M-S and sufficient resources</a:t>
            </a:r>
          </a:p>
          <a:p>
            <a:pPr marL="68580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Family members </a:t>
            </a:r>
            <a:r>
              <a:rPr lang="en-GB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eligible Union citizens (workers, self-employed, eco independent, students), but more limited for students (i.e., spouse, registered partner or dependent children - see Art 7(4))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1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152636"/>
            <a:ext cx="7772400" cy="1026807"/>
          </a:xfrm>
        </p:spPr>
        <p:txBody>
          <a:bodyPr/>
          <a:lstStyle/>
          <a:p>
            <a:r>
              <a:rPr lang="en-GB" sz="4200" dirty="0"/>
              <a:t>Rights granted by Dir 2004/38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3" y="1340768"/>
            <a:ext cx="7772400" cy="4824536"/>
          </a:xfrm>
        </p:spPr>
        <p:txBody>
          <a:bodyPr/>
          <a:lstStyle/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of perm residence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(Article 16): generally, after </a:t>
            </a:r>
            <a:r>
              <a:rPr lang="en-GB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five years of continuous lawful residence</a:t>
            </a:r>
          </a:p>
          <a:p>
            <a:pPr marL="685800"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to Union citizens, including third country national family members</a:t>
            </a:r>
          </a:p>
          <a:p>
            <a:pPr marL="457200" lvl="1" indent="0">
              <a:buNone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978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2656"/>
            <a:ext cx="7772400" cy="1080120"/>
          </a:xfrm>
        </p:spPr>
        <p:txBody>
          <a:bodyPr/>
          <a:lstStyle/>
          <a:p>
            <a:r>
              <a:rPr lang="en-GB" sz="4200" dirty="0"/>
              <a:t>Rights granted by Dir 2004/38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412776"/>
            <a:ext cx="8424936" cy="4752528"/>
          </a:xfrm>
        </p:spPr>
        <p:txBody>
          <a:bodyPr/>
          <a:lstStyle/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acquired, right of perm residence only lost through absences from the host Member State for a period exceeding 2 consecutive years (Art 16(4)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permanent residence?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equal treatment 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 in Article 7 no longer apply (e.g. no need to have financial resources/sickness insurance or exercise eco activity)</a:t>
            </a:r>
          </a:p>
          <a:p>
            <a:pPr lvl="1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protection in case of expulsion (see next lecture)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77432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609600"/>
            <a:ext cx="8352928" cy="1143000"/>
          </a:xfrm>
        </p:spPr>
        <p:txBody>
          <a:bodyPr/>
          <a:lstStyle/>
          <a:p>
            <a:r>
              <a:rPr lang="en-GB" dirty="0"/>
              <a:t>Rights granted by Dir 2004/38/EC: Art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16832"/>
            <a:ext cx="7772400" cy="4104456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600" dirty="0">
                <a:latin typeface="+mj-lt"/>
              </a:rPr>
              <a:t>Article 24(1) sets out a right to equal treatment for Union citizens and their family members in the host Member 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600" dirty="0">
                <a:latin typeface="+mj-lt"/>
              </a:rPr>
              <a:t>But Article 24(2) sets out limitations in relation to equal treatment with respect to </a:t>
            </a:r>
            <a:r>
              <a:rPr lang="en-GB" sz="2600" b="1" dirty="0">
                <a:latin typeface="+mj-lt"/>
              </a:rPr>
              <a:t>social assistan</a:t>
            </a:r>
            <a:r>
              <a:rPr lang="en-GB" sz="2600" dirty="0">
                <a:latin typeface="+mj-lt"/>
              </a:rPr>
              <a:t>ce, as well as </a:t>
            </a:r>
            <a:r>
              <a:rPr lang="en-GB" sz="2600" b="1" dirty="0">
                <a:latin typeface="+mj-lt"/>
              </a:rPr>
              <a:t>maintenance aid</a:t>
            </a:r>
            <a:r>
              <a:rPr lang="en-GB" sz="2600" dirty="0">
                <a:latin typeface="+mj-lt"/>
              </a:rPr>
              <a:t> for studies</a:t>
            </a:r>
          </a:p>
          <a:p>
            <a:pPr lvl="1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latin typeface="+mj-lt"/>
              </a:rPr>
              <a:t>NB: recall that Union citizens (and their FM) 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GB" sz="2600" dirty="0">
                <a:latin typeface="+mj-lt"/>
              </a:rPr>
              <a:t>     who benefit from </a:t>
            </a:r>
            <a:r>
              <a:rPr lang="en-GB" sz="2600" u="sng" dirty="0">
                <a:latin typeface="+mj-lt"/>
              </a:rPr>
              <a:t>permanent residency </a:t>
            </a:r>
            <a:r>
              <a:rPr lang="en-GB" sz="2600" dirty="0">
                <a:latin typeface="+mj-lt"/>
              </a:rPr>
              <a:t>benefit 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GB" sz="2600" dirty="0">
                <a:latin typeface="+mj-lt"/>
              </a:rPr>
              <a:t>     from full equal treatment</a:t>
            </a:r>
            <a:r>
              <a:rPr lang="en-GB" sz="2600" i="1" dirty="0">
                <a:latin typeface="+mj-lt"/>
              </a:rPr>
              <a:t> </a:t>
            </a:r>
          </a:p>
          <a:p>
            <a:pPr marL="400050" lvl="1" indent="0">
              <a:spcBef>
                <a:spcPts val="0"/>
              </a:spcBef>
              <a:buNone/>
            </a:pPr>
            <a:endParaRPr lang="en-GB" sz="2400" i="1" dirty="0">
              <a:latin typeface="+mj-lt"/>
            </a:endParaRPr>
          </a:p>
          <a:p>
            <a:pPr marL="0" indent="0"/>
            <a:endParaRPr lang="en-GB" b="1" dirty="0">
              <a:latin typeface="+mj-lt"/>
            </a:endParaRPr>
          </a:p>
          <a:p>
            <a:pPr marL="400050" lvl="1" indent="0">
              <a:buNone/>
            </a:pPr>
            <a:endParaRPr lang="en-GB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191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1296144"/>
          </a:xfrm>
        </p:spPr>
        <p:txBody>
          <a:bodyPr/>
          <a:lstStyle/>
          <a:p>
            <a:pPr algn="ctr"/>
            <a:r>
              <a:rPr lang="en-GB" dirty="0"/>
              <a:t>Art 24 and social assistance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556792"/>
            <a:ext cx="7772400" cy="4464496"/>
          </a:xfrm>
        </p:spPr>
        <p:txBody>
          <a:bodyPr>
            <a:noAutofit/>
          </a:bodyPr>
          <a:lstStyle/>
          <a:p>
            <a:pPr marL="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latin typeface="+mj-lt"/>
              </a:rPr>
              <a:t>Under Art 24(2), MS are not obliged to provide social assistance </a:t>
            </a:r>
            <a:r>
              <a:rPr lang="en-GB" sz="2400" u="sng" dirty="0">
                <a:latin typeface="+mj-lt"/>
              </a:rPr>
              <a:t>during the first three months</a:t>
            </a:r>
            <a:r>
              <a:rPr lang="en-GB" sz="2400" dirty="0">
                <a:latin typeface="+mj-lt"/>
              </a:rPr>
              <a:t> of residence (or for longer periods in case of job seekers: see FMW lectures) </a:t>
            </a:r>
          </a:p>
          <a:p>
            <a:pPr marL="685800" lvl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+mj-lt"/>
              </a:rPr>
              <a:t>Note that limitations of Art 24(2) do not apply to economically active citizens (workers/self-employed and their family members): </a:t>
            </a:r>
          </a:p>
          <a:p>
            <a:pPr marL="400050" lvl="1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GB" sz="2400" dirty="0">
                <a:latin typeface="+mj-lt"/>
              </a:rPr>
              <a:t>    See Case C-299/14 </a:t>
            </a:r>
            <a:r>
              <a:rPr lang="en-GB" sz="2400" i="1" dirty="0">
                <a:latin typeface="+mj-lt"/>
              </a:rPr>
              <a:t>Garcia Nieto</a:t>
            </a:r>
          </a:p>
          <a:p>
            <a:pPr marL="0" indent="0"/>
            <a:endParaRPr lang="en-GB" sz="1700" dirty="0">
              <a:latin typeface="+mj-lt"/>
            </a:endParaRPr>
          </a:p>
          <a:p>
            <a:pPr marL="400050" lvl="1" indent="0">
              <a:buNone/>
            </a:pPr>
            <a:endParaRPr lang="en-GB" b="1" dirty="0">
              <a:latin typeface="+mj-lt"/>
            </a:endParaRPr>
          </a:p>
          <a:p>
            <a:pPr marL="400050" lvl="1" indent="0">
              <a:buNone/>
            </a:pPr>
            <a:endParaRPr lang="en-GB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564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556792"/>
          </a:xfrm>
        </p:spPr>
        <p:txBody>
          <a:bodyPr/>
          <a:lstStyle/>
          <a:p>
            <a:r>
              <a:rPr lang="en-GB" dirty="0"/>
              <a:t>Art 24 and social assistance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340768"/>
            <a:ext cx="7772400" cy="4680520"/>
          </a:xfrm>
        </p:spPr>
        <p:txBody>
          <a:bodyPr>
            <a:noAutofit/>
          </a:bodyPr>
          <a:lstStyle/>
          <a:p>
            <a:pPr marL="285750">
              <a:buFont typeface="Arial" panose="020B0604020202020204" pitchFamily="34" charset="0"/>
              <a:buChar char="•"/>
            </a:pPr>
            <a:r>
              <a:rPr lang="en-GB" sz="3000" u="sng" dirty="0">
                <a:latin typeface="+mj-lt"/>
              </a:rPr>
              <a:t>After three months</a:t>
            </a:r>
            <a:r>
              <a:rPr lang="en-GB" sz="3000" dirty="0">
                <a:latin typeface="+mj-lt"/>
              </a:rPr>
              <a:t>, principle of equal treatment with respect to social assistance applies (Art 24(1)), but see: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GB" sz="3000" dirty="0">
                <a:latin typeface="+mj-lt"/>
              </a:rPr>
              <a:t>Case C-333/13 Dano, making lawful residence in host M-S a pre-condition to protection of Art 24(1) in the case of residence &gt; 3 months but &lt; 5 years</a:t>
            </a:r>
          </a:p>
          <a:p>
            <a:pPr marL="685800" lvl="1">
              <a:buFont typeface="Arial" panose="020B0604020202020204" pitchFamily="34" charset="0"/>
              <a:buChar char="•"/>
            </a:pPr>
            <a:endParaRPr lang="en-GB" sz="3000" b="1" dirty="0">
              <a:latin typeface="+mj-lt"/>
            </a:endParaRPr>
          </a:p>
          <a:p>
            <a:pPr marL="400050" lvl="1" indent="0">
              <a:buNone/>
            </a:pPr>
            <a:endParaRPr lang="en-GB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965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Article 24 and maintenance aid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16832"/>
            <a:ext cx="7772400" cy="4104456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500" dirty="0">
                <a:latin typeface="+mj-lt"/>
              </a:rPr>
              <a:t>MS are </a:t>
            </a:r>
            <a:r>
              <a:rPr lang="en-GB" sz="2500" b="1" dirty="0">
                <a:latin typeface="+mj-lt"/>
              </a:rPr>
              <a:t>not obliged to provide maintenance grants or loans to students </a:t>
            </a:r>
            <a:r>
              <a:rPr lang="en-GB" sz="2500" u="sng" dirty="0">
                <a:latin typeface="+mj-lt"/>
              </a:rPr>
              <a:t>until</a:t>
            </a:r>
            <a:r>
              <a:rPr lang="en-GB" sz="2500" dirty="0">
                <a:latin typeface="+mj-lt"/>
              </a:rPr>
              <a:t> they have acquired the right of permanent residence (or unless they are workers/self-employed or are family members of workers/self-employed) (Article 24(2))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550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|11.3|136.5|13.6|8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7|1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7|16.1|23|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26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8|31.7|42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8|28.4|46.6|33.1|0.7|0.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0.6|39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54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110.8|82.5|11.7|10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3|140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2|13.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39.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6|18.8|36.7|5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"/>
</p:tagLst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1319</Words>
  <Application>Microsoft Macintosh PowerPoint</Application>
  <PresentationFormat>On-screen Show (4:3)</PresentationFormat>
  <Paragraphs>111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Symbol</vt:lpstr>
      <vt:lpstr>Times</vt:lpstr>
      <vt:lpstr>Times New Roman</vt:lpstr>
      <vt:lpstr>Blank</vt:lpstr>
      <vt:lpstr>Contemporary Issues in the Law of the Internal Market 2024/2025</vt:lpstr>
      <vt:lpstr>Intro</vt:lpstr>
      <vt:lpstr>The scope of Directive 2004/38/EC</vt:lpstr>
      <vt:lpstr>The scope of Directive 2004/38/EC</vt:lpstr>
      <vt:lpstr>The scope of Directive 2004/38/EC</vt:lpstr>
      <vt:lpstr>The scope of Directive 2004/38/EC</vt:lpstr>
      <vt:lpstr>The scope of Directive 2004/38/EC</vt:lpstr>
      <vt:lpstr>The scope of Directive 2004/38</vt:lpstr>
      <vt:lpstr>The scope of Directive 2004/38/EC</vt:lpstr>
      <vt:lpstr>Rights granted by Dir 2004/38/EC</vt:lpstr>
      <vt:lpstr>Rights granted by Dir 2004/38/EC</vt:lpstr>
      <vt:lpstr>Rights granted by Dir 2004/38/EC</vt:lpstr>
      <vt:lpstr>Rights granted by Dir 2004/38/EC</vt:lpstr>
      <vt:lpstr>Rights granted by Dir 2004/38</vt:lpstr>
      <vt:lpstr>Rights granted by Dir 2004/38</vt:lpstr>
      <vt:lpstr>Rights granted by Dir 2004/38/EC: Art 24</vt:lpstr>
      <vt:lpstr>Art 24 and social assistance</vt:lpstr>
      <vt:lpstr>Art 24 and social assistance</vt:lpstr>
      <vt:lpstr>Article 24 and maintenance aid</vt:lpstr>
    </vt:vector>
  </TitlesOfParts>
  <Company>MUFC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Heading style for title slide</dc:title>
  <dc:creator>Eric</dc:creator>
  <cp:lastModifiedBy>SCHAMMO, PIERRE J.</cp:lastModifiedBy>
  <cp:revision>128</cp:revision>
  <cp:lastPrinted>2020-11-30T08:44:22Z</cp:lastPrinted>
  <dcterms:created xsi:type="dcterms:W3CDTF">2005-05-25T16:21:13Z</dcterms:created>
  <dcterms:modified xsi:type="dcterms:W3CDTF">2024-12-06T08:17:14Z</dcterms:modified>
</cp:coreProperties>
</file>