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3"/>
  </p:notesMasterIdLst>
  <p:sldIdLst>
    <p:sldId id="312" r:id="rId2"/>
    <p:sldId id="304" r:id="rId3"/>
    <p:sldId id="314" r:id="rId4"/>
    <p:sldId id="305" r:id="rId5"/>
    <p:sldId id="313" r:id="rId6"/>
    <p:sldId id="306" r:id="rId7"/>
    <p:sldId id="307" r:id="rId8"/>
    <p:sldId id="308" r:id="rId9"/>
    <p:sldId id="309" r:id="rId10"/>
    <p:sldId id="310" r:id="rId11"/>
    <p:sldId id="311" r:id="rId12"/>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204" autoAdjust="0"/>
  </p:normalViewPr>
  <p:slideViewPr>
    <p:cSldViewPr>
      <p:cViewPr varScale="1">
        <p:scale>
          <a:sx n="88" d="100"/>
          <a:sy n="88" d="100"/>
        </p:scale>
        <p:origin x="286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DD96B72-7B78-4AF6-9E2A-ACF0D6FF500F}" type="slidenum">
              <a:rPr lang="en-GB" smtClean="0"/>
              <a:pPr>
                <a:defRPr/>
              </a:pPr>
              <a:t>1</a:t>
            </a:fld>
            <a:endParaRPr lang="en-GB"/>
          </a:p>
        </p:txBody>
      </p:sp>
    </p:spTree>
    <p:extLst>
      <p:ext uri="{BB962C8B-B14F-4D97-AF65-F5344CB8AC3E}">
        <p14:creationId xmlns:p14="http://schemas.microsoft.com/office/powerpoint/2010/main" val="1051844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2</a:t>
            </a:fld>
            <a:endParaRPr lang="en-GB"/>
          </a:p>
        </p:txBody>
      </p:sp>
    </p:spTree>
    <p:extLst>
      <p:ext uri="{BB962C8B-B14F-4D97-AF65-F5344CB8AC3E}">
        <p14:creationId xmlns:p14="http://schemas.microsoft.com/office/powerpoint/2010/main" val="1305253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3</a:t>
            </a:fld>
            <a:endParaRPr lang="en-GB"/>
          </a:p>
        </p:txBody>
      </p:sp>
    </p:spTree>
    <p:extLst>
      <p:ext uri="{BB962C8B-B14F-4D97-AF65-F5344CB8AC3E}">
        <p14:creationId xmlns:p14="http://schemas.microsoft.com/office/powerpoint/2010/main" val="240169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4</a:t>
            </a:fld>
            <a:endParaRPr lang="en-GB"/>
          </a:p>
        </p:txBody>
      </p:sp>
    </p:spTree>
    <p:extLst>
      <p:ext uri="{BB962C8B-B14F-4D97-AF65-F5344CB8AC3E}">
        <p14:creationId xmlns:p14="http://schemas.microsoft.com/office/powerpoint/2010/main" val="2039674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5</a:t>
            </a:fld>
            <a:endParaRPr lang="en-GB"/>
          </a:p>
        </p:txBody>
      </p:sp>
    </p:spTree>
    <p:extLst>
      <p:ext uri="{BB962C8B-B14F-4D97-AF65-F5344CB8AC3E}">
        <p14:creationId xmlns:p14="http://schemas.microsoft.com/office/powerpoint/2010/main" val="3933170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42D98AC-6B06-4B79-949D-9F6CB8A1B058}" type="slidenum">
              <a:rPr lang="en-GB" smtClean="0"/>
              <a:pPr>
                <a:defRPr/>
              </a:pPr>
              <a:t>6</a:t>
            </a:fld>
            <a:endParaRPr lang="en-GB"/>
          </a:p>
        </p:txBody>
      </p:sp>
    </p:spTree>
    <p:extLst>
      <p:ext uri="{BB962C8B-B14F-4D97-AF65-F5344CB8AC3E}">
        <p14:creationId xmlns:p14="http://schemas.microsoft.com/office/powerpoint/2010/main" val="1144185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1"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7</a:t>
            </a:fld>
            <a:endParaRPr lang="en-GB"/>
          </a:p>
        </p:txBody>
      </p:sp>
    </p:spTree>
    <p:extLst>
      <p:ext uri="{BB962C8B-B14F-4D97-AF65-F5344CB8AC3E}">
        <p14:creationId xmlns:p14="http://schemas.microsoft.com/office/powerpoint/2010/main" val="1026722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8</a:t>
            </a:fld>
            <a:endParaRPr lang="en-GB"/>
          </a:p>
        </p:txBody>
      </p:sp>
    </p:spTree>
    <p:extLst>
      <p:ext uri="{BB962C8B-B14F-4D97-AF65-F5344CB8AC3E}">
        <p14:creationId xmlns:p14="http://schemas.microsoft.com/office/powerpoint/2010/main" val="1724895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9</a:t>
            </a:fld>
            <a:endParaRPr lang="en-GB"/>
          </a:p>
        </p:txBody>
      </p:sp>
    </p:spTree>
    <p:extLst>
      <p:ext uri="{BB962C8B-B14F-4D97-AF65-F5344CB8AC3E}">
        <p14:creationId xmlns:p14="http://schemas.microsoft.com/office/powerpoint/2010/main" val="118601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pitchFamily="18" charset="0"/>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10</a:t>
            </a:fld>
            <a:endParaRPr lang="en-GB"/>
          </a:p>
        </p:txBody>
      </p:sp>
    </p:spTree>
    <p:extLst>
      <p:ext uri="{BB962C8B-B14F-4D97-AF65-F5344CB8AC3E}">
        <p14:creationId xmlns:p14="http://schemas.microsoft.com/office/powerpoint/2010/main" val="219461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11</a:t>
            </a:fld>
            <a:endParaRPr lang="en-GB"/>
          </a:p>
        </p:txBody>
      </p:sp>
    </p:spTree>
    <p:extLst>
      <p:ext uri="{BB962C8B-B14F-4D97-AF65-F5344CB8AC3E}">
        <p14:creationId xmlns:p14="http://schemas.microsoft.com/office/powerpoint/2010/main" val="3796652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arend.j.van-leeuwen@durham.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a:xfrm>
            <a:off x="755650" y="548680"/>
            <a:ext cx="7772400" cy="2016224"/>
          </a:xfrm>
        </p:spPr>
        <p:txBody>
          <a:bodyPr/>
          <a:lstStyle/>
          <a:p>
            <a:pPr eaLnBrk="1" hangingPunct="1"/>
            <a:r>
              <a:rPr lang="en-GB" altLang="en-US" dirty="0">
                <a:latin typeface="Calibri" panose="020F0502020204030204" pitchFamily="34" charset="0"/>
              </a:rPr>
              <a:t>Contemporary Issues in the Law of the Internal Market 2024/2025</a:t>
            </a:r>
            <a:endParaRPr lang="en-GB" altLang="en-US" dirty="0"/>
          </a:p>
        </p:txBody>
      </p:sp>
      <p:sp>
        <p:nvSpPr>
          <p:cNvPr id="10243" name="Subtitle 2"/>
          <p:cNvSpPr>
            <a:spLocks noGrp="1"/>
          </p:cNvSpPr>
          <p:nvPr>
            <p:ph type="subTitle" sz="quarter" idx="1"/>
          </p:nvPr>
        </p:nvSpPr>
        <p:spPr>
          <a:xfrm>
            <a:off x="755650" y="2817529"/>
            <a:ext cx="7561262" cy="1733600"/>
          </a:xfrm>
        </p:spPr>
        <p:txBody>
          <a:bodyPr/>
          <a:lstStyle/>
          <a:p>
            <a:pPr eaLnBrk="1" hangingPunct="1">
              <a:lnSpc>
                <a:spcPct val="110000"/>
              </a:lnSpc>
              <a:spcBef>
                <a:spcPct val="0"/>
              </a:spcBef>
            </a:pPr>
            <a:r>
              <a:rPr lang="en-GB" altLang="en-US" sz="2000" dirty="0">
                <a:latin typeface="+mj-lt"/>
              </a:rPr>
              <a:t>Lecture 8: EU citizenship </a:t>
            </a:r>
          </a:p>
          <a:p>
            <a:pPr eaLnBrk="1" hangingPunct="1">
              <a:lnSpc>
                <a:spcPct val="110000"/>
              </a:lnSpc>
              <a:spcBef>
                <a:spcPct val="0"/>
              </a:spcBef>
            </a:pPr>
            <a:endParaRPr lang="en-GB" altLang="en-US" sz="2000" dirty="0">
              <a:latin typeface="+mj-lt"/>
            </a:endParaRPr>
          </a:p>
          <a:p>
            <a:pPr eaLnBrk="1" hangingPunct="1">
              <a:lnSpc>
                <a:spcPct val="110000"/>
              </a:lnSpc>
              <a:spcBef>
                <a:spcPct val="0"/>
              </a:spcBef>
            </a:pPr>
            <a:r>
              <a:rPr lang="en-GB" altLang="en-US" sz="2000" dirty="0">
                <a:latin typeface="+mj-lt"/>
              </a:rPr>
              <a:t>Pierre Schammo</a:t>
            </a:r>
          </a:p>
          <a:p>
            <a:pPr eaLnBrk="1" hangingPunct="1">
              <a:lnSpc>
                <a:spcPct val="110000"/>
              </a:lnSpc>
              <a:spcBef>
                <a:spcPct val="0"/>
              </a:spcBef>
            </a:pPr>
            <a:endParaRPr lang="en-GB" altLang="en-US" sz="2000" dirty="0">
              <a:latin typeface="+mj-lt"/>
            </a:endParaRPr>
          </a:p>
          <a:p>
            <a:pPr eaLnBrk="1" hangingPunct="1">
              <a:lnSpc>
                <a:spcPct val="110000"/>
              </a:lnSpc>
              <a:spcBef>
                <a:spcPct val="0"/>
              </a:spcBef>
            </a:pPr>
            <a:r>
              <a:rPr lang="en-GB" altLang="en-US" sz="2000" dirty="0">
                <a:latin typeface="+mj-lt"/>
                <a:hlinkClick r:id="rId3"/>
              </a:rPr>
              <a:t>pierre.schammo@durham.ac.uk</a:t>
            </a:r>
            <a:r>
              <a:rPr lang="en-GB" altLang="en-US" sz="2000" dirty="0">
                <a:latin typeface="+mj-lt"/>
              </a:rPr>
              <a:t>  </a:t>
            </a:r>
            <a:endParaRPr lang="en-GB" altLang="en-US" sz="2000" dirty="0">
              <a:solidFill>
                <a:srgbClr val="663366"/>
              </a:solidFill>
              <a:latin typeface="+mj-lt"/>
            </a:endParaRPr>
          </a:p>
          <a:p>
            <a:pPr eaLnBrk="1" hangingPunct="1"/>
            <a:endParaRPr lang="en-GB" altLang="en-US" dirty="0"/>
          </a:p>
        </p:txBody>
      </p:sp>
    </p:spTree>
    <p:extLst>
      <p:ext uri="{BB962C8B-B14F-4D97-AF65-F5344CB8AC3E}">
        <p14:creationId xmlns:p14="http://schemas.microsoft.com/office/powerpoint/2010/main" val="1836306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1347936"/>
          </a:xfrm>
        </p:spPr>
        <p:txBody>
          <a:bodyPr/>
          <a:lstStyle/>
          <a:p>
            <a:r>
              <a:rPr lang="en-US" dirty="0"/>
              <a:t>EU citizenship - basics</a:t>
            </a:r>
          </a:p>
        </p:txBody>
      </p:sp>
      <p:sp>
        <p:nvSpPr>
          <p:cNvPr id="3" name="Content Placeholder 2"/>
          <p:cNvSpPr>
            <a:spLocks noGrp="1"/>
          </p:cNvSpPr>
          <p:nvPr>
            <p:ph idx="1"/>
          </p:nvPr>
        </p:nvSpPr>
        <p:spPr/>
        <p:txBody>
          <a:bodyPr/>
          <a:lstStyle/>
          <a:p>
            <a:pPr>
              <a:buFont typeface="Arial" charset="0"/>
              <a:buChar char="•"/>
            </a:pPr>
            <a:r>
              <a:rPr lang="en-GB" sz="2800" dirty="0"/>
              <a:t>Union citizenship is about persons</a:t>
            </a:r>
          </a:p>
          <a:p>
            <a:pPr>
              <a:buFont typeface="Arial" charset="0"/>
              <a:buChar char="•"/>
            </a:pPr>
            <a:r>
              <a:rPr lang="en-GB" sz="2800" dirty="0"/>
              <a:t>Primary sources:</a:t>
            </a:r>
          </a:p>
          <a:p>
            <a:pPr lvl="1">
              <a:buFont typeface="Arial" charset="0"/>
              <a:buChar char="•"/>
            </a:pPr>
            <a:r>
              <a:rPr lang="en-GB" sz="2800" dirty="0"/>
              <a:t>Treaties</a:t>
            </a:r>
          </a:p>
          <a:p>
            <a:pPr lvl="1">
              <a:buFont typeface="Arial" charset="0"/>
              <a:buChar char="•"/>
            </a:pPr>
            <a:r>
              <a:rPr lang="en-GB" sz="2800" dirty="0"/>
              <a:t>Secondary legislation </a:t>
            </a:r>
            <a:endParaRPr lang="is-IS" sz="2800" dirty="0"/>
          </a:p>
          <a:p>
            <a:pPr>
              <a:buFont typeface="Arial" charset="0"/>
              <a:buChar char="•"/>
            </a:pPr>
            <a:endParaRPr lang="en-US" sz="2800" dirty="0"/>
          </a:p>
        </p:txBody>
      </p:sp>
    </p:spTree>
    <p:custDataLst>
      <p:tags r:id="rId1"/>
    </p:custDataLst>
    <p:extLst>
      <p:ext uri="{BB962C8B-B14F-4D97-AF65-F5344CB8AC3E}">
        <p14:creationId xmlns:p14="http://schemas.microsoft.com/office/powerpoint/2010/main" val="189179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1347936"/>
          </a:xfrm>
        </p:spPr>
        <p:txBody>
          <a:bodyPr/>
          <a:lstStyle/>
          <a:p>
            <a:r>
              <a:rPr lang="en-US" dirty="0"/>
              <a:t>EU citizenship and the Free Movement of Persons</a:t>
            </a:r>
          </a:p>
        </p:txBody>
      </p:sp>
      <p:sp>
        <p:nvSpPr>
          <p:cNvPr id="3" name="Content Placeholder 2"/>
          <p:cNvSpPr>
            <a:spLocks noGrp="1"/>
          </p:cNvSpPr>
          <p:nvPr>
            <p:ph idx="1"/>
          </p:nvPr>
        </p:nvSpPr>
        <p:spPr/>
        <p:txBody>
          <a:bodyPr/>
          <a:lstStyle/>
          <a:p>
            <a:pPr>
              <a:buFont typeface="Arial" charset="0"/>
              <a:buChar char="•"/>
            </a:pPr>
            <a:r>
              <a:rPr lang="en-US" sz="2800" dirty="0"/>
              <a:t>Free movement of persons (free movement of workers; of services; right of establishment)</a:t>
            </a:r>
          </a:p>
          <a:p>
            <a:pPr>
              <a:buFont typeface="Arial" charset="0"/>
              <a:buChar char="•"/>
            </a:pPr>
            <a:r>
              <a:rPr lang="en-US" sz="2800" dirty="0"/>
              <a:t>Original rights testify to close link between free movement and the exercise of an economic activity of some sort</a:t>
            </a:r>
          </a:p>
          <a:p>
            <a:pPr>
              <a:buFont typeface="Arial" charset="0"/>
              <a:buChar char="•"/>
            </a:pPr>
            <a:r>
              <a:rPr lang="en-US" sz="2800" dirty="0"/>
              <a:t>Over time this link was eroded</a:t>
            </a:r>
            <a:r>
              <a:rPr lang="is-IS" sz="2800" dirty="0"/>
              <a:t>… see the early Residence Directives</a:t>
            </a:r>
          </a:p>
          <a:p>
            <a:pPr>
              <a:buFont typeface="Arial" charset="0"/>
              <a:buChar char="•"/>
            </a:pPr>
            <a:r>
              <a:rPr lang="is-IS" sz="2800" dirty="0"/>
              <a:t>Final act was EU citizenship @ Maastricht</a:t>
            </a:r>
          </a:p>
          <a:p>
            <a:pPr>
              <a:buFont typeface="Arial" charset="0"/>
              <a:buChar char="•"/>
            </a:pPr>
            <a:endParaRPr lang="en-US" sz="2800" dirty="0"/>
          </a:p>
        </p:txBody>
      </p:sp>
    </p:spTree>
    <p:custDataLst>
      <p:tags r:id="rId1"/>
    </p:custDataLst>
    <p:extLst>
      <p:ext uri="{BB962C8B-B14F-4D97-AF65-F5344CB8AC3E}">
        <p14:creationId xmlns:p14="http://schemas.microsoft.com/office/powerpoint/2010/main" val="47304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 citizenship and the Treaties</a:t>
            </a:r>
          </a:p>
        </p:txBody>
      </p:sp>
      <p:sp>
        <p:nvSpPr>
          <p:cNvPr id="3" name="Content Placeholder 2"/>
          <p:cNvSpPr>
            <a:spLocks noGrp="1"/>
          </p:cNvSpPr>
          <p:nvPr>
            <p:ph idx="1"/>
          </p:nvPr>
        </p:nvSpPr>
        <p:spPr>
          <a:xfrm>
            <a:off x="684213" y="1752600"/>
            <a:ext cx="7772400" cy="4052888"/>
          </a:xfrm>
        </p:spPr>
        <p:txBody>
          <a:bodyPr/>
          <a:lstStyle/>
          <a:p>
            <a:pPr marL="285750" indent="-285750">
              <a:spcBef>
                <a:spcPts val="0"/>
              </a:spcBef>
              <a:buFont typeface="Arial" charset="0"/>
              <a:buChar char="•"/>
            </a:pPr>
            <a:r>
              <a:rPr lang="en-US" sz="2800" dirty="0"/>
              <a:t>Art 20(1) TFEU: ‘Citizenship of the Union is hereby established. Every person holding the nationality of a Member State shall be a citizen of the Union. Citizenship of the Union shall be additional to and not replace national citizenship’</a:t>
            </a:r>
          </a:p>
        </p:txBody>
      </p:sp>
    </p:spTree>
    <p:extLst>
      <p:ext uri="{BB962C8B-B14F-4D97-AF65-F5344CB8AC3E}">
        <p14:creationId xmlns:p14="http://schemas.microsoft.com/office/powerpoint/2010/main" val="94223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0648"/>
            <a:ext cx="7772400" cy="936104"/>
          </a:xfrm>
        </p:spPr>
        <p:txBody>
          <a:bodyPr/>
          <a:lstStyle/>
          <a:p>
            <a:r>
              <a:rPr lang="en-US" dirty="0"/>
              <a:t>EU citizenship and the Treaties</a:t>
            </a:r>
          </a:p>
        </p:txBody>
      </p:sp>
      <p:sp>
        <p:nvSpPr>
          <p:cNvPr id="3" name="Content Placeholder 2"/>
          <p:cNvSpPr>
            <a:spLocks noGrp="1"/>
          </p:cNvSpPr>
          <p:nvPr>
            <p:ph idx="1"/>
          </p:nvPr>
        </p:nvSpPr>
        <p:spPr>
          <a:xfrm>
            <a:off x="467544" y="1199254"/>
            <a:ext cx="7990656" cy="4894042"/>
          </a:xfrm>
        </p:spPr>
        <p:txBody>
          <a:bodyPr/>
          <a:lstStyle/>
          <a:p>
            <a:pPr marL="285750" indent="-285750">
              <a:spcBef>
                <a:spcPts val="0"/>
              </a:spcBef>
              <a:buFont typeface="Arial" charset="0"/>
              <a:buChar char="•"/>
            </a:pPr>
            <a:r>
              <a:rPr lang="en-US" sz="2500" dirty="0"/>
              <a:t>Art 20(2) TFEU: EU citizens ‘shall enjoy the </a:t>
            </a:r>
            <a:r>
              <a:rPr lang="en-US" sz="2500" u="sng" dirty="0"/>
              <a:t>rights</a:t>
            </a:r>
            <a:r>
              <a:rPr lang="en-US" sz="2500" dirty="0"/>
              <a:t> and be subject to the </a:t>
            </a:r>
            <a:r>
              <a:rPr lang="en-US" sz="2500" u="sng" dirty="0"/>
              <a:t>duties</a:t>
            </a:r>
            <a:r>
              <a:rPr lang="en-US" sz="2500" dirty="0"/>
              <a:t> provided for in the Treaties’. </a:t>
            </a:r>
          </a:p>
          <a:p>
            <a:pPr marL="285750">
              <a:spcBef>
                <a:spcPts val="0"/>
              </a:spcBef>
              <a:buFont typeface="Arial" charset="0"/>
              <a:buChar char="•"/>
            </a:pPr>
            <a:r>
              <a:rPr lang="en-US" sz="2500" dirty="0"/>
              <a:t>Examples of rights (see also Arts 22-24 TFEU):</a:t>
            </a:r>
          </a:p>
          <a:p>
            <a:pPr marL="685800" lvl="1">
              <a:spcBef>
                <a:spcPts val="0"/>
              </a:spcBef>
              <a:buFont typeface="Arial" charset="0"/>
              <a:buChar char="•"/>
            </a:pPr>
            <a:r>
              <a:rPr lang="en-US" sz="2500" dirty="0"/>
              <a:t>Right to move/reside within other M-S</a:t>
            </a:r>
          </a:p>
          <a:p>
            <a:pPr marL="685800" lvl="1">
              <a:spcBef>
                <a:spcPts val="0"/>
              </a:spcBef>
              <a:buFont typeface="Arial" charset="0"/>
              <a:buChar char="•"/>
            </a:pPr>
            <a:r>
              <a:rPr lang="en-US" sz="2500" dirty="0"/>
              <a:t>Right to vote/stand as candidate in EP elections/locally in country of residence</a:t>
            </a:r>
          </a:p>
          <a:p>
            <a:pPr marL="685800" lvl="1">
              <a:spcBef>
                <a:spcPts val="0"/>
              </a:spcBef>
              <a:buFont typeface="Arial" charset="0"/>
              <a:buChar char="•"/>
            </a:pPr>
            <a:r>
              <a:rPr lang="en-US" sz="2500" dirty="0"/>
              <a:t>Right to diplomatic/consular protection by M-Ss in 3</a:t>
            </a:r>
            <a:r>
              <a:rPr lang="en-US" sz="2500" baseline="30000" dirty="0"/>
              <a:t>rd</a:t>
            </a:r>
            <a:r>
              <a:rPr lang="en-US" sz="2500" dirty="0"/>
              <a:t> countries where their own M-S is not represented</a:t>
            </a:r>
          </a:p>
          <a:p>
            <a:pPr marL="685800" lvl="1">
              <a:spcBef>
                <a:spcPts val="0"/>
              </a:spcBef>
              <a:buFont typeface="Arial" charset="0"/>
              <a:buChar char="•"/>
            </a:pPr>
            <a:r>
              <a:rPr lang="en-US" sz="2500" dirty="0"/>
              <a:t>Right to petition EP, </a:t>
            </a:r>
            <a:r>
              <a:rPr lang="en-US" sz="2500" dirty="0" err="1"/>
              <a:t>etc</a:t>
            </a:r>
            <a:endParaRPr lang="en-US" sz="2500" dirty="0"/>
          </a:p>
          <a:p>
            <a:pPr marL="285750">
              <a:spcBef>
                <a:spcPts val="0"/>
              </a:spcBef>
              <a:buFont typeface="Arial" charset="0"/>
              <a:buChar char="•"/>
            </a:pPr>
            <a:r>
              <a:rPr lang="en-US" sz="2500" dirty="0"/>
              <a:t>Partial rights with few duties?</a:t>
            </a:r>
          </a:p>
        </p:txBody>
      </p:sp>
    </p:spTree>
    <p:custDataLst>
      <p:tags r:id="rId1"/>
    </p:custDataLst>
    <p:extLst>
      <p:ext uri="{BB962C8B-B14F-4D97-AF65-F5344CB8AC3E}">
        <p14:creationId xmlns:p14="http://schemas.microsoft.com/office/powerpoint/2010/main" val="300197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 citizenship and the Treaties: Art 21(1) TFEU</a:t>
            </a:r>
          </a:p>
        </p:txBody>
      </p:sp>
      <p:sp>
        <p:nvSpPr>
          <p:cNvPr id="3" name="Content Placeholder 2"/>
          <p:cNvSpPr>
            <a:spLocks noGrp="1"/>
          </p:cNvSpPr>
          <p:nvPr>
            <p:ph idx="1"/>
          </p:nvPr>
        </p:nvSpPr>
        <p:spPr>
          <a:xfrm>
            <a:off x="684213" y="2132856"/>
            <a:ext cx="7772400" cy="3888432"/>
          </a:xfrm>
        </p:spPr>
        <p:txBody>
          <a:bodyPr/>
          <a:lstStyle/>
          <a:p>
            <a:pPr marL="457200" indent="-457200" eaLnBrk="1" hangingPunct="1">
              <a:spcBef>
                <a:spcPts val="0"/>
              </a:spcBef>
              <a:buFont typeface="Arial" charset="0"/>
              <a:buChar char="•"/>
            </a:pPr>
            <a:r>
              <a:rPr lang="en-US" altLang="x-none" sz="2900" dirty="0">
                <a:ea typeface="ＭＳ Ｐゴシック" charset="-128"/>
              </a:rPr>
              <a:t>Art 21 TFEU (ex Art 18(</a:t>
            </a:r>
            <a:r>
              <a:rPr lang="en-GB" altLang="x-none" sz="2900" dirty="0">
                <a:ea typeface="ＭＳ Ｐゴシック" charset="-128"/>
              </a:rPr>
              <a:t>1) EC): ‘Every citizen of the Union shall </a:t>
            </a:r>
            <a:r>
              <a:rPr lang="en-GB" altLang="x-none" sz="2900" b="1" dirty="0">
                <a:ea typeface="ＭＳ Ｐゴシック" charset="-128"/>
              </a:rPr>
              <a:t>have the right to move and reside freely</a:t>
            </a:r>
            <a:r>
              <a:rPr lang="en-GB" altLang="x-none" sz="2900" dirty="0">
                <a:ea typeface="ＭＳ Ｐゴシック" charset="-128"/>
              </a:rPr>
              <a:t> within the territory of the Member States, </a:t>
            </a:r>
            <a:r>
              <a:rPr lang="en-GB" altLang="x-none" sz="2900" u="sng" dirty="0">
                <a:ea typeface="ＭＳ Ｐゴシック" charset="-128"/>
              </a:rPr>
              <a:t>subject to the limitations and conditions laid down in the Treaties and by the measures adopted to give them effect</a:t>
            </a:r>
            <a:r>
              <a:rPr lang="en-GB" altLang="x-none" sz="2900" dirty="0">
                <a:ea typeface="ＭＳ Ｐゴシック" charset="-128"/>
              </a:rPr>
              <a:t>’. </a:t>
            </a:r>
          </a:p>
          <a:p>
            <a:pPr marL="457200" indent="-457200" eaLnBrk="1" hangingPunct="1">
              <a:spcBef>
                <a:spcPts val="0"/>
              </a:spcBef>
              <a:buFont typeface="Arial" charset="0"/>
              <a:buChar char="•"/>
            </a:pPr>
            <a:r>
              <a:rPr lang="en-GB" altLang="x-none" sz="2900" dirty="0">
                <a:ea typeface="ＭＳ Ｐゴシック" charset="-128"/>
              </a:rPr>
              <a:t>Given flesh by Directive 2004/38</a:t>
            </a:r>
          </a:p>
          <a:p>
            <a:pPr marL="0" indent="0">
              <a:spcBef>
                <a:spcPts val="0"/>
              </a:spcBef>
            </a:pPr>
            <a:endParaRPr lang="en-US" dirty="0"/>
          </a:p>
        </p:txBody>
      </p:sp>
    </p:spTree>
    <p:custDataLst>
      <p:tags r:id="rId1"/>
    </p:custDataLst>
    <p:extLst>
      <p:ext uri="{BB962C8B-B14F-4D97-AF65-F5344CB8AC3E}">
        <p14:creationId xmlns:p14="http://schemas.microsoft.com/office/powerpoint/2010/main" val="73678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C-184/99 </a:t>
            </a:r>
            <a:r>
              <a:rPr lang="en-GB" b="1" i="1" dirty="0" err="1"/>
              <a:t>Grzelczyk</a:t>
            </a:r>
            <a:r>
              <a:rPr lang="en-GB" dirty="0"/>
              <a:t> </a:t>
            </a:r>
            <a:endParaRPr lang="en-US" dirty="0"/>
          </a:p>
        </p:txBody>
      </p:sp>
      <p:sp>
        <p:nvSpPr>
          <p:cNvPr id="3" name="Content Placeholder 2"/>
          <p:cNvSpPr>
            <a:spLocks noGrp="1"/>
          </p:cNvSpPr>
          <p:nvPr>
            <p:ph idx="1"/>
          </p:nvPr>
        </p:nvSpPr>
        <p:spPr>
          <a:xfrm>
            <a:off x="684213" y="1844824"/>
            <a:ext cx="7772400" cy="3960664"/>
          </a:xfrm>
        </p:spPr>
        <p:txBody>
          <a:bodyPr/>
          <a:lstStyle/>
          <a:p>
            <a:pPr marL="0" indent="0">
              <a:spcBef>
                <a:spcPts val="0"/>
              </a:spcBef>
            </a:pPr>
            <a:r>
              <a:rPr lang="en-US" sz="3200" dirty="0"/>
              <a:t>‘Union citizenship is destined to be the </a:t>
            </a:r>
            <a:r>
              <a:rPr lang="en-US" sz="3200" u="sng" dirty="0"/>
              <a:t>fundamental status of nationals </a:t>
            </a:r>
            <a:r>
              <a:rPr lang="en-US" sz="3200" dirty="0"/>
              <a:t>of the Member States, enabling those who find themselves in the same situation to enjoy the same treatment in law irrespective of their nationality, subject to such exceptions as are expressly provided for’.</a:t>
            </a:r>
          </a:p>
          <a:p>
            <a:endParaRPr lang="en-US" sz="3200" dirty="0"/>
          </a:p>
        </p:txBody>
      </p:sp>
    </p:spTree>
    <p:extLst>
      <p:ext uri="{BB962C8B-B14F-4D97-AF65-F5344CB8AC3E}">
        <p14:creationId xmlns:p14="http://schemas.microsoft.com/office/powerpoint/2010/main" val="143529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752600"/>
          </a:xfrm>
        </p:spPr>
        <p:txBody>
          <a:bodyPr/>
          <a:lstStyle/>
          <a:p>
            <a:r>
              <a:rPr lang="en-US" dirty="0"/>
              <a:t>C-413/99 </a:t>
            </a:r>
            <a:r>
              <a:rPr lang="en-US" b="1" i="1" dirty="0" err="1"/>
              <a:t>Baumbast</a:t>
            </a:r>
            <a:endParaRPr lang="en-US" b="1" i="1" dirty="0"/>
          </a:p>
        </p:txBody>
      </p:sp>
      <p:sp>
        <p:nvSpPr>
          <p:cNvPr id="3" name="Content Placeholder 2"/>
          <p:cNvSpPr>
            <a:spLocks noGrp="1"/>
          </p:cNvSpPr>
          <p:nvPr>
            <p:ph idx="1"/>
          </p:nvPr>
        </p:nvSpPr>
        <p:spPr>
          <a:xfrm>
            <a:off x="323528" y="1484784"/>
            <a:ext cx="8496944" cy="4320704"/>
          </a:xfrm>
        </p:spPr>
        <p:txBody>
          <a:bodyPr>
            <a:noAutofit/>
          </a:bodyPr>
          <a:lstStyle/>
          <a:p>
            <a:pPr marL="0" indent="0">
              <a:spcBef>
                <a:spcPts val="0"/>
              </a:spcBef>
            </a:pPr>
            <a:r>
              <a:rPr lang="en-US" sz="2400" dirty="0"/>
              <a:t>‘</a:t>
            </a:r>
            <a:r>
              <a:rPr lang="en-GB" sz="2400" dirty="0"/>
              <a:t>Admittedly, [the] right for citizens of the Union to reside within the territory of another Member State is conferred subject to the limitations and conditions laid down by the EC Treaty and by the measures adopted to give it effect. </a:t>
            </a:r>
          </a:p>
          <a:p>
            <a:pPr marL="0" indent="0">
              <a:spcBef>
                <a:spcPts val="0"/>
              </a:spcBef>
            </a:pPr>
            <a:r>
              <a:rPr lang="en-GB" sz="2400" dirty="0"/>
              <a:t>…</a:t>
            </a:r>
          </a:p>
          <a:p>
            <a:pPr marL="0" indent="0">
              <a:spcBef>
                <a:spcPts val="0"/>
              </a:spcBef>
            </a:pPr>
            <a:r>
              <a:rPr lang="en-GB" sz="2400" dirty="0"/>
              <a:t>'However, those limitations and conditions must be applied in compliance with the limits imposed by Community law and in accordance with the general principles of that law, in particular the principle of proportionality. That means that national measures adopted on that subject must be necessary and appropriate to attain the objective pursued'</a:t>
            </a:r>
            <a:endParaRPr lang="en-US" sz="2400" dirty="0"/>
          </a:p>
        </p:txBody>
      </p:sp>
    </p:spTree>
    <p:extLst>
      <p:ext uri="{BB962C8B-B14F-4D97-AF65-F5344CB8AC3E}">
        <p14:creationId xmlns:p14="http://schemas.microsoft.com/office/powerpoint/2010/main" val="1186987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Case C-135/08 </a:t>
            </a:r>
            <a:r>
              <a:rPr lang="it-IT" b="1" i="1" dirty="0" err="1"/>
              <a:t>Rottmann</a:t>
            </a:r>
            <a:r>
              <a:rPr lang="en-US" dirty="0"/>
              <a:t> </a:t>
            </a:r>
          </a:p>
        </p:txBody>
      </p:sp>
      <p:sp>
        <p:nvSpPr>
          <p:cNvPr id="3" name="Content Placeholder 2"/>
          <p:cNvSpPr>
            <a:spLocks noGrp="1"/>
          </p:cNvSpPr>
          <p:nvPr>
            <p:ph idx="1"/>
          </p:nvPr>
        </p:nvSpPr>
        <p:spPr>
          <a:xfrm>
            <a:off x="395536" y="1752600"/>
            <a:ext cx="8280920" cy="4052888"/>
          </a:xfrm>
        </p:spPr>
        <p:txBody>
          <a:bodyPr/>
          <a:lstStyle/>
          <a:p>
            <a:pPr marL="0" indent="0">
              <a:spcBef>
                <a:spcPts val="0"/>
              </a:spcBef>
            </a:pPr>
            <a:r>
              <a:rPr lang="en-US" altLang="x-none" sz="3000" dirty="0"/>
              <a:t>‘... </a:t>
            </a:r>
            <a:r>
              <a:rPr lang="en-US" altLang="x-none" sz="3000" u="sng" dirty="0"/>
              <a:t>it is not contrary to European Union law</a:t>
            </a:r>
            <a:r>
              <a:rPr lang="en-US" altLang="x-none" sz="3000" dirty="0"/>
              <a:t>, in particular to Article [20 TFEU], for a Member State to withdraw from a citizen of the Union the nationality of that State acquired by </a:t>
            </a:r>
            <a:r>
              <a:rPr lang="en-US" altLang="x-none" sz="3000" dirty="0" err="1"/>
              <a:t>naturalisation</a:t>
            </a:r>
            <a:r>
              <a:rPr lang="en-US" altLang="x-none" sz="3000" dirty="0"/>
              <a:t> when that nationality has been obtained by deception, </a:t>
            </a:r>
            <a:r>
              <a:rPr lang="en-US" altLang="x-none" sz="3000" u="sng" dirty="0"/>
              <a:t>on condition</a:t>
            </a:r>
            <a:r>
              <a:rPr lang="en-US" altLang="x-none" sz="3000" dirty="0"/>
              <a:t> that the </a:t>
            </a:r>
            <a:r>
              <a:rPr lang="en-US" altLang="x-none" sz="3000" u="sng" dirty="0"/>
              <a:t>decision to withdraw observes the principle of proportionality</a:t>
            </a:r>
            <a:r>
              <a:rPr lang="en-US" altLang="x-none" sz="3000" dirty="0"/>
              <a:t>’ =&gt; EU law matters!</a:t>
            </a:r>
          </a:p>
        </p:txBody>
      </p:sp>
    </p:spTree>
    <p:extLst>
      <p:ext uri="{BB962C8B-B14F-4D97-AF65-F5344CB8AC3E}">
        <p14:creationId xmlns:p14="http://schemas.microsoft.com/office/powerpoint/2010/main" val="2024891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752600"/>
          </a:xfrm>
        </p:spPr>
        <p:txBody>
          <a:bodyPr/>
          <a:lstStyle/>
          <a:p>
            <a:r>
              <a:rPr lang="it-IT" dirty="0"/>
              <a:t>Case C-34/09 </a:t>
            </a:r>
            <a:r>
              <a:rPr lang="it-IT" b="1" i="1" dirty="0" err="1"/>
              <a:t>Ruiz</a:t>
            </a:r>
            <a:r>
              <a:rPr lang="it-IT" b="1" i="1" dirty="0"/>
              <a:t> Zambrano</a:t>
            </a:r>
            <a:endParaRPr lang="en-US" dirty="0"/>
          </a:p>
        </p:txBody>
      </p:sp>
      <p:sp>
        <p:nvSpPr>
          <p:cNvPr id="3" name="Content Placeholder 2"/>
          <p:cNvSpPr>
            <a:spLocks noGrp="1"/>
          </p:cNvSpPr>
          <p:nvPr>
            <p:ph idx="1"/>
          </p:nvPr>
        </p:nvSpPr>
        <p:spPr>
          <a:xfrm>
            <a:off x="467544" y="1556792"/>
            <a:ext cx="8208911" cy="4464496"/>
          </a:xfrm>
        </p:spPr>
        <p:txBody>
          <a:bodyPr/>
          <a:lstStyle/>
          <a:p>
            <a:pPr marL="0" indent="0">
              <a:spcBef>
                <a:spcPts val="0"/>
              </a:spcBef>
            </a:pPr>
            <a:r>
              <a:rPr lang="en-US" sz="2400" dirty="0"/>
              <a:t>‘As the Court has stated several times, citizenship of the Union is intended to be the fundamental status of nationals of the Member States </a:t>
            </a:r>
            <a:r>
              <a:rPr lang="is-IS" sz="2400" dirty="0"/>
              <a:t>…</a:t>
            </a:r>
            <a:r>
              <a:rPr lang="en-US" sz="2400" dirty="0"/>
              <a:t> In those circumstances, Article 20 TFEU precludes national measures which have the effect of depriving citizens of the Union of the </a:t>
            </a:r>
            <a:r>
              <a:rPr lang="en-US" sz="2400" u="sng" dirty="0"/>
              <a:t>genuine enjoyment of the substance of the rights</a:t>
            </a:r>
            <a:r>
              <a:rPr lang="en-US" sz="2400" dirty="0"/>
              <a:t> conferred by virtue of their status as citizens of the Union</a:t>
            </a:r>
            <a:r>
              <a:rPr lang="is-IS" sz="2400" dirty="0"/>
              <a:t>…</a:t>
            </a:r>
            <a:endParaRPr lang="en-US" sz="2400" dirty="0"/>
          </a:p>
          <a:p>
            <a:pPr marL="0" indent="0">
              <a:spcBef>
                <a:spcPts val="0"/>
              </a:spcBef>
            </a:pPr>
            <a:r>
              <a:rPr lang="en-US" sz="2400" dirty="0"/>
              <a:t>A refusal to grant a right of residence to a third country national with dependent minor children in the Member State where those children are nationals and reside, </a:t>
            </a:r>
          </a:p>
          <a:p>
            <a:pPr marL="0" indent="0">
              <a:spcBef>
                <a:spcPts val="0"/>
              </a:spcBef>
            </a:pPr>
            <a:r>
              <a:rPr lang="en-US" sz="2400" dirty="0"/>
              <a:t>and also a refusal to grant such a person a </a:t>
            </a:r>
          </a:p>
          <a:p>
            <a:pPr marL="0" indent="0">
              <a:spcBef>
                <a:spcPts val="0"/>
              </a:spcBef>
            </a:pPr>
            <a:r>
              <a:rPr lang="en-US" sz="2400" dirty="0"/>
              <a:t>work permit, </a:t>
            </a:r>
            <a:r>
              <a:rPr lang="en-US" sz="2400" u="sng" dirty="0"/>
              <a:t>has such an effect</a:t>
            </a:r>
            <a:r>
              <a:rPr lang="en-US" sz="2400" dirty="0"/>
              <a:t>’.</a:t>
            </a:r>
          </a:p>
          <a:p>
            <a:pPr marL="0" indent="0">
              <a:spcBef>
                <a:spcPts val="0"/>
              </a:spcBef>
            </a:pPr>
            <a:endParaRPr lang="en-US" dirty="0"/>
          </a:p>
        </p:txBody>
      </p:sp>
    </p:spTree>
    <p:extLst>
      <p:ext uri="{BB962C8B-B14F-4D97-AF65-F5344CB8AC3E}">
        <p14:creationId xmlns:p14="http://schemas.microsoft.com/office/powerpoint/2010/main" val="1050332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72400" cy="1419944"/>
          </a:xfrm>
        </p:spPr>
        <p:txBody>
          <a:bodyPr/>
          <a:lstStyle/>
          <a:p>
            <a:r>
              <a:rPr lang="fr-FR" dirty="0"/>
              <a:t>Case C-333/13 </a:t>
            </a:r>
            <a:r>
              <a:rPr lang="fr-FR" b="1" i="1" dirty="0"/>
              <a:t>Dano</a:t>
            </a:r>
            <a:r>
              <a:rPr lang="en-US" dirty="0"/>
              <a:t> </a:t>
            </a:r>
          </a:p>
        </p:txBody>
      </p:sp>
      <p:sp>
        <p:nvSpPr>
          <p:cNvPr id="3" name="Content Placeholder 2"/>
          <p:cNvSpPr>
            <a:spLocks noGrp="1"/>
          </p:cNvSpPr>
          <p:nvPr>
            <p:ph idx="1"/>
          </p:nvPr>
        </p:nvSpPr>
        <p:spPr>
          <a:xfrm>
            <a:off x="251520" y="1628800"/>
            <a:ext cx="8352927" cy="4320480"/>
          </a:xfrm>
        </p:spPr>
        <p:txBody>
          <a:bodyPr/>
          <a:lstStyle/>
          <a:p>
            <a:pPr marL="514350" indent="-457200">
              <a:buFont typeface="Arial" charset="0"/>
              <a:buChar char="•"/>
            </a:pPr>
            <a:r>
              <a:rPr lang="en-GB" sz="2900" dirty="0"/>
              <a:t>Ms </a:t>
            </a:r>
            <a:r>
              <a:rPr lang="en-GB" sz="2900" dirty="0" err="1"/>
              <a:t>Dano</a:t>
            </a:r>
            <a:r>
              <a:rPr lang="en-GB" sz="2900" dirty="0"/>
              <a:t> claims benefits from German </a:t>
            </a:r>
            <a:r>
              <a:rPr lang="en-GB" sz="2900" dirty="0" err="1"/>
              <a:t>Jobcenter</a:t>
            </a:r>
            <a:endParaRPr lang="en-US" sz="2900" dirty="0"/>
          </a:p>
          <a:p>
            <a:pPr marL="514350" indent="-457200">
              <a:buFont typeface="Arial" charset="0"/>
              <a:buChar char="•"/>
            </a:pPr>
            <a:r>
              <a:rPr lang="en-GB" sz="2900" dirty="0"/>
              <a:t>Ms </a:t>
            </a:r>
            <a:r>
              <a:rPr lang="en-GB" sz="2900" dirty="0" err="1"/>
              <a:t>Dano</a:t>
            </a:r>
            <a:r>
              <a:rPr lang="en-GB" sz="2900" dirty="0"/>
              <a:t> has no qualifications and is not looking for work</a:t>
            </a:r>
            <a:endParaRPr lang="en-US" sz="2900" dirty="0"/>
          </a:p>
          <a:p>
            <a:pPr marL="514350" indent="-457200">
              <a:buFont typeface="Arial" charset="0"/>
              <a:buChar char="•"/>
            </a:pPr>
            <a:r>
              <a:rPr lang="en-GB" sz="2900" dirty="0"/>
              <a:t>As economically inactive EU citizen, Ms </a:t>
            </a:r>
            <a:r>
              <a:rPr lang="en-GB" sz="2900" dirty="0" err="1"/>
              <a:t>Dano</a:t>
            </a:r>
            <a:r>
              <a:rPr lang="en-GB" sz="2900" dirty="0"/>
              <a:t> must comply with conditions of Art 7(1)(b) Dir. 2004/38 in order to benefit from equal treatment under Art 24 Dir. 2004/38</a:t>
            </a:r>
            <a:endParaRPr lang="en-US" sz="2900" dirty="0"/>
          </a:p>
          <a:p>
            <a:pPr marL="514350" indent="-457200">
              <a:buFont typeface="Arial" charset="0"/>
              <a:buChar char="•"/>
            </a:pPr>
            <a:r>
              <a:rPr lang="en-GB" sz="2900" dirty="0"/>
              <a:t>Ms </a:t>
            </a:r>
            <a:r>
              <a:rPr lang="en-GB" sz="2900" dirty="0" err="1"/>
              <a:t>Dano</a:t>
            </a:r>
            <a:r>
              <a:rPr lang="en-GB" sz="2900" dirty="0"/>
              <a:t> </a:t>
            </a:r>
            <a:r>
              <a:rPr lang="en-GB" sz="2900" b="1" dirty="0"/>
              <a:t>not</a:t>
            </a:r>
            <a:r>
              <a:rPr lang="en-GB" sz="2900" dirty="0"/>
              <a:t> entitled to equal treatment</a:t>
            </a:r>
            <a:endParaRPr lang="en-US" sz="2900" dirty="0"/>
          </a:p>
          <a:p>
            <a:r>
              <a:rPr lang="en-US" dirty="0"/>
              <a:t> </a:t>
            </a:r>
          </a:p>
          <a:p>
            <a:endParaRPr lang="en-US" dirty="0"/>
          </a:p>
        </p:txBody>
      </p:sp>
    </p:spTree>
    <p:extLst>
      <p:ext uri="{BB962C8B-B14F-4D97-AF65-F5344CB8AC3E}">
        <p14:creationId xmlns:p14="http://schemas.microsoft.com/office/powerpoint/2010/main" val="797530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5.5|22.1|106.9"/>
</p:tagLst>
</file>

<file path=ppt/tags/tag2.xml><?xml version="1.0" encoding="utf-8"?>
<p:tagLst xmlns:a="http://schemas.openxmlformats.org/drawingml/2006/main" xmlns:r="http://schemas.openxmlformats.org/officeDocument/2006/relationships" xmlns:p="http://schemas.openxmlformats.org/presentationml/2006/main">
  <p:tag name="TIMING" val="|11|45.5|22.1|106.9"/>
</p:tagLst>
</file>

<file path=ppt/tags/tag3.xml><?xml version="1.0" encoding="utf-8"?>
<p:tagLst xmlns:a="http://schemas.openxmlformats.org/drawingml/2006/main" xmlns:r="http://schemas.openxmlformats.org/officeDocument/2006/relationships" xmlns:p="http://schemas.openxmlformats.org/presentationml/2006/main">
  <p:tag name="TIMING" val="|1.4|160.4"/>
</p:tagLst>
</file>

<file path=ppt/tags/tag4.xml><?xml version="1.0" encoding="utf-8"?>
<p:tagLst xmlns:a="http://schemas.openxmlformats.org/drawingml/2006/main" xmlns:r="http://schemas.openxmlformats.org/officeDocument/2006/relationships" xmlns:p="http://schemas.openxmlformats.org/presentationml/2006/main">
  <p:tag name="TIMING" val="|1.2|52.2"/>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409</TotalTime>
  <Words>734</Words>
  <Application>Microsoft Macintosh PowerPoint</Application>
  <PresentationFormat>On-screen Show (4:3)</PresentationFormat>
  <Paragraphs>60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ＭＳ Ｐゴシック</vt:lpstr>
      <vt:lpstr>Arial</vt:lpstr>
      <vt:lpstr>Calibri</vt:lpstr>
      <vt:lpstr>Times</vt:lpstr>
      <vt:lpstr>Blank</vt:lpstr>
      <vt:lpstr>Contemporary Issues in the Law of the Internal Market 2024/2025</vt:lpstr>
      <vt:lpstr>EU citizenship - basics</vt:lpstr>
      <vt:lpstr>EU citizenship and the Free Movement of Persons</vt:lpstr>
      <vt:lpstr>EU citizenship and the Treaties</vt:lpstr>
      <vt:lpstr>EU citizenship and the Treaties</vt:lpstr>
      <vt:lpstr>EU citizenship and the Treaties: Art 21(1) TFEU</vt:lpstr>
      <vt:lpstr>C-184/99 Grzelczyk </vt:lpstr>
      <vt:lpstr>C-413/99 Baumbast</vt:lpstr>
      <vt:lpstr>Case C-135/08 Rottmann </vt:lpstr>
      <vt:lpstr>Case C-34/09 Ruiz Zambrano</vt:lpstr>
      <vt:lpstr>Case C-333/13 Dano </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SCHAMMO, PIERRE J.</cp:lastModifiedBy>
  <cp:revision>144</cp:revision>
  <cp:lastPrinted>2024-11-28T17:57:39Z</cp:lastPrinted>
  <dcterms:created xsi:type="dcterms:W3CDTF">2005-05-25T16:21:13Z</dcterms:created>
  <dcterms:modified xsi:type="dcterms:W3CDTF">2024-11-28T18:44:39Z</dcterms:modified>
</cp:coreProperties>
</file>