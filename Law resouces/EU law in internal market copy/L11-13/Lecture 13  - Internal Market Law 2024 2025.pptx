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24"/>
  </p:notesMasterIdLst>
  <p:handoutMasterIdLst>
    <p:handoutMasterId r:id="rId25"/>
  </p:handoutMasterIdLst>
  <p:sldIdLst>
    <p:sldId id="323" r:id="rId5"/>
    <p:sldId id="328" r:id="rId6"/>
    <p:sldId id="261" r:id="rId7"/>
    <p:sldId id="338" r:id="rId8"/>
    <p:sldId id="263" r:id="rId9"/>
    <p:sldId id="264" r:id="rId10"/>
    <p:sldId id="265" r:id="rId11"/>
    <p:sldId id="274" r:id="rId12"/>
    <p:sldId id="266" r:id="rId13"/>
    <p:sldId id="333" r:id="rId14"/>
    <p:sldId id="329" r:id="rId15"/>
    <p:sldId id="337" r:id="rId16"/>
    <p:sldId id="330" r:id="rId17"/>
    <p:sldId id="268" r:id="rId18"/>
    <p:sldId id="269" r:id="rId19"/>
    <p:sldId id="332" r:id="rId20"/>
    <p:sldId id="257" r:id="rId21"/>
    <p:sldId id="258" r:id="rId22"/>
    <p:sldId id="259" r:id="rId23"/>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50"/>
    <p:restoredTop sz="64354" autoAdjust="0"/>
  </p:normalViewPr>
  <p:slideViewPr>
    <p:cSldViewPr>
      <p:cViewPr varScale="1">
        <p:scale>
          <a:sx n="80" d="100"/>
          <a:sy n="80" d="100"/>
        </p:scale>
        <p:origin x="334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29D8A62-74C2-5242-9BD3-050EC3555325}" type="datetimeFigureOut">
              <a:rPr lang="en-US" smtClean="0"/>
              <a:t>1/30/25</a:t>
            </a:fld>
            <a:endParaRPr lang="en-US"/>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2C4F2BC-F496-DB48-8E0C-0CAC888D8F05}" type="slidenum">
              <a:rPr lang="en-US" smtClean="0"/>
              <a:t>‹#›</a:t>
            </a:fld>
            <a:endParaRPr lang="en-US"/>
          </a:p>
        </p:txBody>
      </p:sp>
    </p:spTree>
    <p:extLst>
      <p:ext uri="{BB962C8B-B14F-4D97-AF65-F5344CB8AC3E}">
        <p14:creationId xmlns:p14="http://schemas.microsoft.com/office/powerpoint/2010/main" val="2758836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a:t>
            </a:fld>
            <a:endParaRPr lang="en-GB"/>
          </a:p>
        </p:txBody>
      </p:sp>
    </p:spTree>
    <p:extLst>
      <p:ext uri="{BB962C8B-B14F-4D97-AF65-F5344CB8AC3E}">
        <p14:creationId xmlns:p14="http://schemas.microsoft.com/office/powerpoint/2010/main" val="222185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2</a:t>
            </a:fld>
            <a:endParaRPr lang="en-GB"/>
          </a:p>
        </p:txBody>
      </p:sp>
    </p:spTree>
    <p:extLst>
      <p:ext uri="{BB962C8B-B14F-4D97-AF65-F5344CB8AC3E}">
        <p14:creationId xmlns:p14="http://schemas.microsoft.com/office/powerpoint/2010/main" val="2715246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3</a:t>
            </a:fld>
            <a:endParaRPr lang="en-US"/>
          </a:p>
        </p:txBody>
      </p:sp>
    </p:spTree>
    <p:extLst>
      <p:ext uri="{BB962C8B-B14F-4D97-AF65-F5344CB8AC3E}">
        <p14:creationId xmlns:p14="http://schemas.microsoft.com/office/powerpoint/2010/main" val="3534892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4</a:t>
            </a:fld>
            <a:endParaRPr lang="en-US"/>
          </a:p>
        </p:txBody>
      </p:sp>
    </p:spTree>
    <p:extLst>
      <p:ext uri="{BB962C8B-B14F-4D97-AF65-F5344CB8AC3E}">
        <p14:creationId xmlns:p14="http://schemas.microsoft.com/office/powerpoint/2010/main" val="222218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5</a:t>
            </a:fld>
            <a:endParaRPr lang="en-US"/>
          </a:p>
        </p:txBody>
      </p:sp>
    </p:spTree>
    <p:extLst>
      <p:ext uri="{BB962C8B-B14F-4D97-AF65-F5344CB8AC3E}">
        <p14:creationId xmlns:p14="http://schemas.microsoft.com/office/powerpoint/2010/main" val="455113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6</a:t>
            </a:fld>
            <a:endParaRPr lang="en-US"/>
          </a:p>
        </p:txBody>
      </p:sp>
    </p:spTree>
    <p:extLst>
      <p:ext uri="{BB962C8B-B14F-4D97-AF65-F5344CB8AC3E}">
        <p14:creationId xmlns:p14="http://schemas.microsoft.com/office/powerpoint/2010/main" val="2550437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301D942-2252-404E-BB47-55118FCCCA36}" type="slidenum">
              <a:rPr lang="en-US" smtClean="0"/>
              <a:t>7</a:t>
            </a:fld>
            <a:endParaRPr lang="en-US"/>
          </a:p>
        </p:txBody>
      </p:sp>
    </p:spTree>
    <p:extLst>
      <p:ext uri="{BB962C8B-B14F-4D97-AF65-F5344CB8AC3E}">
        <p14:creationId xmlns:p14="http://schemas.microsoft.com/office/powerpoint/2010/main" val="244863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8</a:t>
            </a:fld>
            <a:endParaRPr lang="en-GB"/>
          </a:p>
        </p:txBody>
      </p:sp>
    </p:spTree>
    <p:extLst>
      <p:ext uri="{BB962C8B-B14F-4D97-AF65-F5344CB8AC3E}">
        <p14:creationId xmlns:p14="http://schemas.microsoft.com/office/powerpoint/2010/main" val="2510423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9</a:t>
            </a:fld>
            <a:endParaRPr lang="en-US"/>
          </a:p>
        </p:txBody>
      </p:sp>
    </p:spTree>
    <p:extLst>
      <p:ext uri="{BB962C8B-B14F-4D97-AF65-F5344CB8AC3E}">
        <p14:creationId xmlns:p14="http://schemas.microsoft.com/office/powerpoint/2010/main" val="2902232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10</a:t>
            </a:fld>
            <a:endParaRPr lang="en-GB"/>
          </a:p>
        </p:txBody>
      </p:sp>
    </p:spTree>
    <p:extLst>
      <p:ext uri="{BB962C8B-B14F-4D97-AF65-F5344CB8AC3E}">
        <p14:creationId xmlns:p14="http://schemas.microsoft.com/office/powerpoint/2010/main" val="3151778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11</a:t>
            </a:fld>
            <a:endParaRPr lang="en-US"/>
          </a:p>
        </p:txBody>
      </p:sp>
    </p:spTree>
    <p:extLst>
      <p:ext uri="{BB962C8B-B14F-4D97-AF65-F5344CB8AC3E}">
        <p14:creationId xmlns:p14="http://schemas.microsoft.com/office/powerpoint/2010/main" val="3283694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12</a:t>
            </a:fld>
            <a:endParaRPr lang="en-US"/>
          </a:p>
        </p:txBody>
      </p:sp>
    </p:spTree>
    <p:extLst>
      <p:ext uri="{BB962C8B-B14F-4D97-AF65-F5344CB8AC3E}">
        <p14:creationId xmlns:p14="http://schemas.microsoft.com/office/powerpoint/2010/main" val="428269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13</a:t>
            </a:fld>
            <a:endParaRPr lang="en-US"/>
          </a:p>
        </p:txBody>
      </p:sp>
    </p:spTree>
    <p:extLst>
      <p:ext uri="{BB962C8B-B14F-4D97-AF65-F5344CB8AC3E}">
        <p14:creationId xmlns:p14="http://schemas.microsoft.com/office/powerpoint/2010/main" val="711386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14</a:t>
            </a:fld>
            <a:endParaRPr lang="en-US"/>
          </a:p>
        </p:txBody>
      </p:sp>
    </p:spTree>
    <p:extLst>
      <p:ext uri="{BB962C8B-B14F-4D97-AF65-F5344CB8AC3E}">
        <p14:creationId xmlns:p14="http://schemas.microsoft.com/office/powerpoint/2010/main" val="2174666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15</a:t>
            </a:fld>
            <a:endParaRPr lang="en-US"/>
          </a:p>
        </p:txBody>
      </p:sp>
    </p:spTree>
    <p:extLst>
      <p:ext uri="{BB962C8B-B14F-4D97-AF65-F5344CB8AC3E}">
        <p14:creationId xmlns:p14="http://schemas.microsoft.com/office/powerpoint/2010/main" val="276540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endParaRPr lang="en-US" dirty="0"/>
          </a:p>
        </p:txBody>
      </p:sp>
      <p:sp>
        <p:nvSpPr>
          <p:cNvPr id="4" name="Slide Number Placeholder 3"/>
          <p:cNvSpPr>
            <a:spLocks noGrp="1"/>
          </p:cNvSpPr>
          <p:nvPr>
            <p:ph type="sldNum" sz="quarter" idx="10"/>
          </p:nvPr>
        </p:nvSpPr>
        <p:spPr/>
        <p:txBody>
          <a:bodyPr/>
          <a:lstStyle/>
          <a:p>
            <a:fld id="{4301D942-2252-404E-BB47-55118FCCCA36}" type="slidenum">
              <a:rPr lang="en-US" smtClean="0"/>
              <a:t>16</a:t>
            </a:fld>
            <a:endParaRPr lang="en-US"/>
          </a:p>
        </p:txBody>
      </p:sp>
    </p:spTree>
    <p:extLst>
      <p:ext uri="{BB962C8B-B14F-4D97-AF65-F5344CB8AC3E}">
        <p14:creationId xmlns:p14="http://schemas.microsoft.com/office/powerpoint/2010/main" val="850822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543695-3E1F-4671-8E4C-9741D5CEBDB9}" type="slidenum">
              <a:rPr lang="en-GB" smtClean="0"/>
              <a:t>17</a:t>
            </a:fld>
            <a:endParaRPr lang="en-GB"/>
          </a:p>
        </p:txBody>
      </p:sp>
    </p:spTree>
    <p:extLst>
      <p:ext uri="{BB962C8B-B14F-4D97-AF65-F5344CB8AC3E}">
        <p14:creationId xmlns:p14="http://schemas.microsoft.com/office/powerpoint/2010/main" val="1235392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B543695-3E1F-4671-8E4C-9741D5CEBDB9}" type="slidenum">
              <a:rPr lang="en-GB" smtClean="0"/>
              <a:t>18</a:t>
            </a:fld>
            <a:endParaRPr lang="en-GB"/>
          </a:p>
        </p:txBody>
      </p:sp>
    </p:spTree>
    <p:extLst>
      <p:ext uri="{BB962C8B-B14F-4D97-AF65-F5344CB8AC3E}">
        <p14:creationId xmlns:p14="http://schemas.microsoft.com/office/powerpoint/2010/main" val="3662217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B543695-3E1F-4671-8E4C-9741D5CEBDB9}" type="slidenum">
              <a:rPr lang="en-GB" smtClean="0"/>
              <a:t>19</a:t>
            </a:fld>
            <a:endParaRPr lang="en-GB"/>
          </a:p>
        </p:txBody>
      </p:sp>
    </p:spTree>
    <p:extLst>
      <p:ext uri="{BB962C8B-B14F-4D97-AF65-F5344CB8AC3E}">
        <p14:creationId xmlns:p14="http://schemas.microsoft.com/office/powerpoint/2010/main" val="2286969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hyperlink" Target="https://www.bbc.co.uk/sport/football/55219724"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normAutofit fontScale="90000"/>
          </a:bodyPr>
          <a:lstStyle/>
          <a:p>
            <a:pPr algn="ctr" eaLnBrk="1" hangingPunct="1"/>
            <a:r>
              <a:rPr lang="en-GB" altLang="en-US" dirty="0">
                <a:latin typeface="Calibri" panose="020F0502020204030204" pitchFamily="34" charset="0"/>
              </a:rPr>
              <a:t>Contemporary Issues in the Law of the Internal Market 2024/2025</a:t>
            </a:r>
          </a:p>
        </p:txBody>
      </p:sp>
      <p:sp>
        <p:nvSpPr>
          <p:cNvPr id="10243" name="Subtitle 2"/>
          <p:cNvSpPr>
            <a:spLocks noGrp="1"/>
          </p:cNvSpPr>
          <p:nvPr>
            <p:ph type="subTitle" sz="quarter" idx="1"/>
          </p:nvPr>
        </p:nvSpPr>
        <p:spPr/>
        <p:txBody>
          <a:bodyPr>
            <a:normAutofit fontScale="92500" lnSpcReduction="10000"/>
          </a:bodyPr>
          <a:lstStyle/>
          <a:p>
            <a:pPr eaLnBrk="1" hangingPunct="1">
              <a:lnSpc>
                <a:spcPct val="110000"/>
              </a:lnSpc>
              <a:spcBef>
                <a:spcPct val="0"/>
              </a:spcBef>
            </a:pPr>
            <a:r>
              <a:rPr lang="en-GB" altLang="en-US" sz="2200" dirty="0">
                <a:latin typeface="Calibri" panose="020F0502020204030204" pitchFamily="34" charset="0"/>
              </a:rPr>
              <a:t>Lecture 13: Free Movement of Workers</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Prof Pierre Schammo</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pierre.schammo@durham.ac.uk  </a:t>
            </a:r>
            <a:endParaRPr lang="en-GB" altLang="en-US" sz="2200" dirty="0">
              <a:solidFill>
                <a:srgbClr val="663366"/>
              </a:solidFill>
              <a:latin typeface="Calibri" panose="020F0502020204030204" pitchFamily="34" charset="0"/>
            </a:endParaRPr>
          </a:p>
          <a:p>
            <a:pPr eaLnBrk="1" hangingPunct="1"/>
            <a:endParaRPr lang="en-GB" altLang="en-US" sz="2200" dirty="0">
              <a:latin typeface="Calibri" panose="020F0502020204030204" pitchFamily="34" charset="0"/>
            </a:endParaRPr>
          </a:p>
        </p:txBody>
      </p:sp>
    </p:spTree>
    <p:extLst>
      <p:ext uri="{BB962C8B-B14F-4D97-AF65-F5344CB8AC3E}">
        <p14:creationId xmlns:p14="http://schemas.microsoft.com/office/powerpoint/2010/main" val="228461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C774-0B8D-F441-8DBF-C931C2DF5D1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53E2617F-0948-454F-9D69-3CD76A5872B7}"/>
              </a:ext>
            </a:extLst>
          </p:cNvPr>
          <p:cNvSpPr>
            <a:spLocks noGrp="1"/>
          </p:cNvSpPr>
          <p:nvPr>
            <p:ph idx="1"/>
          </p:nvPr>
        </p:nvSpPr>
        <p:spPr>
          <a:xfrm>
            <a:off x="685800" y="1752600"/>
            <a:ext cx="7772400" cy="4196680"/>
          </a:xfrm>
        </p:spPr>
        <p:txBody>
          <a:bodyPr/>
          <a:lstStyle/>
          <a:p>
            <a:pPr>
              <a:buFont typeface="Arial" panose="020B0604020202020204" pitchFamily="34" charset="0"/>
              <a:buChar char="•"/>
            </a:pPr>
            <a:r>
              <a:rPr lang="en-US" sz="2500" dirty="0"/>
              <a:t>Finish workers’ rights</a:t>
            </a:r>
          </a:p>
          <a:p>
            <a:pPr marL="0" indent="0"/>
            <a:endParaRPr lang="en-US" sz="2500" dirty="0"/>
          </a:p>
          <a:p>
            <a:pPr>
              <a:buFont typeface="Arial" panose="020B0604020202020204" pitchFamily="34" charset="0"/>
              <a:buChar char="•"/>
            </a:pPr>
            <a:r>
              <a:rPr lang="en-US" sz="2500" dirty="0"/>
              <a:t>Direct effect</a:t>
            </a:r>
          </a:p>
          <a:p>
            <a:pPr>
              <a:buFont typeface="Arial" panose="020B0604020202020204" pitchFamily="34" charset="0"/>
              <a:buChar char="•"/>
            </a:pPr>
            <a:endParaRPr lang="en-US" sz="2500" dirty="0"/>
          </a:p>
          <a:p>
            <a:pPr>
              <a:buFont typeface="Arial" panose="020B0604020202020204" pitchFamily="34" charset="0"/>
              <a:buChar char="•"/>
            </a:pPr>
            <a:r>
              <a:rPr lang="en-US" sz="2500" dirty="0"/>
              <a:t>Rights as family member </a:t>
            </a:r>
            <a:r>
              <a:rPr lang="en-US" sz="2500"/>
              <a:t>of worker</a:t>
            </a:r>
            <a:endParaRPr lang="en-US" sz="2500" dirty="0"/>
          </a:p>
        </p:txBody>
      </p:sp>
    </p:spTree>
    <p:extLst>
      <p:ext uri="{BB962C8B-B14F-4D97-AF65-F5344CB8AC3E}">
        <p14:creationId xmlns:p14="http://schemas.microsoft.com/office/powerpoint/2010/main" val="1841055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048" y="476672"/>
            <a:ext cx="7885384" cy="936104"/>
          </a:xfrm>
        </p:spPr>
        <p:txBody>
          <a:bodyPr>
            <a:normAutofit/>
          </a:bodyPr>
          <a:lstStyle/>
          <a:p>
            <a:r>
              <a:rPr lang="en-US" dirty="0"/>
              <a:t>Social adv.: Art 7(2) Reg. 492/11</a:t>
            </a:r>
          </a:p>
        </p:txBody>
      </p:sp>
      <p:sp>
        <p:nvSpPr>
          <p:cNvPr id="3" name="Content Placeholder 2"/>
          <p:cNvSpPr>
            <a:spLocks noGrp="1"/>
          </p:cNvSpPr>
          <p:nvPr>
            <p:ph idx="1"/>
          </p:nvPr>
        </p:nvSpPr>
        <p:spPr>
          <a:xfrm>
            <a:off x="323528" y="1556792"/>
            <a:ext cx="8568952" cy="5301208"/>
          </a:xfrm>
        </p:spPr>
        <p:txBody>
          <a:bodyPr>
            <a:normAutofit fontScale="62500" lnSpcReduction="20000"/>
          </a:bodyPr>
          <a:lstStyle/>
          <a:p>
            <a:pPr marL="571500" indent="-571500">
              <a:lnSpc>
                <a:spcPct val="120000"/>
              </a:lnSpc>
              <a:buFont typeface="Arial" panose="020B0604020202020204" pitchFamily="34" charset="0"/>
              <a:buChar char="•"/>
            </a:pPr>
            <a:r>
              <a:rPr lang="en-GB" sz="3500" dirty="0">
                <a:ea typeface="ＭＳ Ｐゴシック" charset="-128"/>
              </a:rPr>
              <a:t>Social and Tax Advantages</a:t>
            </a:r>
          </a:p>
          <a:p>
            <a:pPr lvl="1">
              <a:lnSpc>
                <a:spcPct val="120000"/>
              </a:lnSpc>
            </a:pPr>
            <a:r>
              <a:rPr lang="en-GB" sz="3500" dirty="0">
                <a:ea typeface="ＭＳ Ｐゴシック" charset="-128"/>
              </a:rPr>
              <a:t>Art 7(2): ‘[a worker who is a national of a Member State] shall enjoy the same social and tax advantages as national workers’</a:t>
            </a:r>
          </a:p>
          <a:p>
            <a:pPr marL="571500" indent="-571500">
              <a:lnSpc>
                <a:spcPct val="120000"/>
              </a:lnSpc>
              <a:buFont typeface="Arial" panose="020B0604020202020204" pitchFamily="34" charset="0"/>
              <a:buChar char="•"/>
            </a:pPr>
            <a:r>
              <a:rPr lang="en-GB" sz="3500" dirty="0"/>
              <a:t>Broad interpretation of social advantages:</a:t>
            </a:r>
          </a:p>
          <a:p>
            <a:pPr lvl="1">
              <a:lnSpc>
                <a:spcPct val="120000"/>
              </a:lnSpc>
            </a:pPr>
            <a:r>
              <a:rPr lang="en-GB" sz="3500" dirty="0"/>
              <a:t>ECJ has interpreted the concept of social advantage to </a:t>
            </a:r>
            <a:r>
              <a:rPr lang="en-GB" sz="3500" u="sng" dirty="0"/>
              <a:t>cover also </a:t>
            </a:r>
            <a:r>
              <a:rPr lang="en-GB" sz="3500" dirty="0"/>
              <a:t>advantages </a:t>
            </a:r>
            <a:r>
              <a:rPr lang="en-GB" sz="3500" u="sng" dirty="0"/>
              <a:t>which are not attached </a:t>
            </a:r>
            <a:r>
              <a:rPr lang="en-GB" sz="3500" dirty="0"/>
              <a:t>to the contract of employment, if they are generally granted to national workers primarily because of their objective status as workers, or by virtue of the mere fact that they reside in the national territory, or if they encourage mobility; </a:t>
            </a:r>
          </a:p>
          <a:p>
            <a:pPr lvl="1">
              <a:lnSpc>
                <a:spcPct val="120000"/>
              </a:lnSpc>
            </a:pPr>
            <a:r>
              <a:rPr lang="en-GB" sz="3500" dirty="0">
                <a:ea typeface="ＭＳ Ｐゴシック" charset="-128"/>
              </a:rPr>
              <a:t>Case 65/81 Reina (interest free childbirth loan)</a:t>
            </a:r>
          </a:p>
          <a:p>
            <a:endParaRPr lang="en-US" dirty="0"/>
          </a:p>
        </p:txBody>
      </p:sp>
    </p:spTree>
    <p:custDataLst>
      <p:tags r:id="rId1"/>
    </p:custDataLst>
    <p:extLst>
      <p:ext uri="{BB962C8B-B14F-4D97-AF65-F5344CB8AC3E}">
        <p14:creationId xmlns:p14="http://schemas.microsoft.com/office/powerpoint/2010/main" val="192012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352928" cy="936104"/>
          </a:xfrm>
        </p:spPr>
        <p:txBody>
          <a:bodyPr>
            <a:normAutofit/>
          </a:bodyPr>
          <a:lstStyle/>
          <a:p>
            <a:r>
              <a:rPr lang="en-US" dirty="0"/>
              <a:t>Social advantages (Art 7(2)) (II) </a:t>
            </a:r>
          </a:p>
        </p:txBody>
      </p:sp>
      <p:sp>
        <p:nvSpPr>
          <p:cNvPr id="3" name="Content Placeholder 2"/>
          <p:cNvSpPr>
            <a:spLocks noGrp="1"/>
          </p:cNvSpPr>
          <p:nvPr>
            <p:ph idx="1"/>
          </p:nvPr>
        </p:nvSpPr>
        <p:spPr>
          <a:xfrm>
            <a:off x="684213" y="1484784"/>
            <a:ext cx="7772400" cy="4763616"/>
          </a:xfrm>
        </p:spPr>
        <p:txBody>
          <a:bodyPr/>
          <a:lstStyle/>
          <a:p>
            <a:pPr>
              <a:buFont typeface="Arial" panose="020B0604020202020204" pitchFamily="34" charset="0"/>
              <a:buChar char="•"/>
            </a:pPr>
            <a:r>
              <a:rPr lang="en-US" sz="2800" dirty="0"/>
              <a:t>Social advantages can also benefit family member of worker</a:t>
            </a:r>
          </a:p>
          <a:p>
            <a:pPr lvl="1"/>
            <a:r>
              <a:rPr lang="en-US" sz="2800" dirty="0"/>
              <a:t>Case 316/85 </a:t>
            </a:r>
            <a:r>
              <a:rPr lang="en-US" sz="2800" dirty="0" err="1"/>
              <a:t>Lebon</a:t>
            </a:r>
            <a:r>
              <a:rPr lang="en-US" sz="2800" dirty="0"/>
              <a:t> (recipient must be an eligible family member: see Dir. 2004/38)</a:t>
            </a:r>
          </a:p>
          <a:p>
            <a:pPr lvl="1"/>
            <a:r>
              <a:rPr lang="en-GB" sz="2800" dirty="0">
                <a:ea typeface="ＭＳ Ｐゴシック" charset="-128"/>
              </a:rPr>
              <a:t>Case 32/75 </a:t>
            </a:r>
            <a:r>
              <a:rPr lang="en-GB" sz="2800" dirty="0" err="1">
                <a:ea typeface="ＭＳ Ｐゴシック" charset="-128"/>
              </a:rPr>
              <a:t>Christini</a:t>
            </a:r>
            <a:r>
              <a:rPr lang="en-GB" sz="2800" dirty="0">
                <a:ea typeface="ＭＳ Ｐゴシック" charset="-128"/>
              </a:rPr>
              <a:t> v SNCF (Art 7(2) applies in case of fair reduction card for large families, even if the benefit is sought after the worker’s death, to the benefit of his family members who stayed in the host M-S</a:t>
            </a:r>
            <a:r>
              <a:rPr lang="en-GB" sz="2700" dirty="0">
                <a:ea typeface="ＭＳ Ｐゴシック" charset="-128"/>
              </a:rPr>
              <a:t>)</a:t>
            </a:r>
          </a:p>
        </p:txBody>
      </p:sp>
    </p:spTree>
    <p:custDataLst>
      <p:tags r:id="rId1"/>
    </p:custDataLst>
    <p:extLst>
      <p:ext uri="{BB962C8B-B14F-4D97-AF65-F5344CB8AC3E}">
        <p14:creationId xmlns:p14="http://schemas.microsoft.com/office/powerpoint/2010/main" val="43666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032" y="332656"/>
            <a:ext cx="7772400" cy="936104"/>
          </a:xfrm>
        </p:spPr>
        <p:txBody>
          <a:bodyPr>
            <a:normAutofit/>
          </a:bodyPr>
          <a:lstStyle/>
          <a:p>
            <a:r>
              <a:rPr lang="en-US" dirty="0"/>
              <a:t>Social Advantages: Art 7(2)</a:t>
            </a:r>
          </a:p>
        </p:txBody>
      </p:sp>
      <p:sp>
        <p:nvSpPr>
          <p:cNvPr id="3" name="Content Placeholder 2"/>
          <p:cNvSpPr>
            <a:spLocks noGrp="1"/>
          </p:cNvSpPr>
          <p:nvPr>
            <p:ph idx="1"/>
          </p:nvPr>
        </p:nvSpPr>
        <p:spPr>
          <a:xfrm>
            <a:off x="684213" y="1556792"/>
            <a:ext cx="7772400" cy="4248696"/>
          </a:xfrm>
        </p:spPr>
        <p:txBody>
          <a:bodyPr>
            <a:noAutofit/>
          </a:bodyPr>
          <a:lstStyle/>
          <a:p>
            <a:pPr>
              <a:lnSpc>
                <a:spcPct val="110000"/>
              </a:lnSpc>
            </a:pPr>
            <a:r>
              <a:rPr lang="en-US" sz="2200" dirty="0"/>
              <a:t>Benefits awarded because of the special link of nationality....</a:t>
            </a:r>
          </a:p>
          <a:p>
            <a:pPr lvl="1">
              <a:lnSpc>
                <a:spcPct val="110000"/>
              </a:lnSpc>
            </a:pPr>
            <a:r>
              <a:rPr lang="en-US" sz="2200" dirty="0"/>
              <a:t>... are NOT included in the term social advantages: e.g.: </a:t>
            </a:r>
          </a:p>
          <a:p>
            <a:pPr lvl="2">
              <a:lnSpc>
                <a:spcPct val="110000"/>
              </a:lnSpc>
            </a:pPr>
            <a:r>
              <a:rPr lang="en-GB" sz="2200" dirty="0">
                <a:ea typeface="ＭＳ Ｐゴシック" charset="0"/>
              </a:rPr>
              <a:t>Case 207/78 Even (pension treatment – special arrangements for Belgium pensioners benefiting from a 2nd WW service invalidity pension; Belgium arrangements not considered a social advantage because their ‘essential objective is to give those nationals an advantage by reason of the hardship suffered for that country’) </a:t>
            </a:r>
            <a:endParaRPr lang="en-US" sz="2200" dirty="0">
              <a:ea typeface="ＭＳ Ｐゴシック" charset="0"/>
            </a:endParaRPr>
          </a:p>
        </p:txBody>
      </p:sp>
    </p:spTree>
    <p:custDataLst>
      <p:tags r:id="rId1"/>
    </p:custDataLst>
    <p:extLst>
      <p:ext uri="{BB962C8B-B14F-4D97-AF65-F5344CB8AC3E}">
        <p14:creationId xmlns:p14="http://schemas.microsoft.com/office/powerpoint/2010/main" val="290595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Advantages (Art 7(2)) (IV)</a:t>
            </a:r>
          </a:p>
        </p:txBody>
      </p:sp>
      <p:sp>
        <p:nvSpPr>
          <p:cNvPr id="3" name="Content Placeholder 2"/>
          <p:cNvSpPr>
            <a:spLocks noGrp="1"/>
          </p:cNvSpPr>
          <p:nvPr>
            <p:ph idx="1"/>
          </p:nvPr>
        </p:nvSpPr>
        <p:spPr/>
        <p:txBody>
          <a:bodyPr>
            <a:noAutofit/>
          </a:bodyPr>
          <a:lstStyle/>
          <a:p>
            <a:r>
              <a:rPr lang="en-US" sz="2500" dirty="0"/>
              <a:t>Work-seekers cannot rely on Art 7(2)</a:t>
            </a:r>
          </a:p>
          <a:p>
            <a:pPr lvl="1"/>
            <a:r>
              <a:rPr lang="en-US" sz="2500" dirty="0"/>
              <a:t>means first-time work seekers</a:t>
            </a:r>
          </a:p>
          <a:p>
            <a:pPr lvl="1"/>
            <a:r>
              <a:rPr lang="en-US" sz="2500" dirty="0"/>
              <a:t> Case 316/85 </a:t>
            </a:r>
            <a:r>
              <a:rPr lang="en-US" sz="2500" dirty="0" err="1"/>
              <a:t>Lebon</a:t>
            </a:r>
            <a:r>
              <a:rPr lang="en-US" sz="2500" dirty="0"/>
              <a:t> (Art 7(2) does not apply to nationals of M-Ss who move in search for employment)</a:t>
            </a:r>
          </a:p>
        </p:txBody>
      </p:sp>
    </p:spTree>
    <p:custDataLst>
      <p:tags r:id="rId1"/>
    </p:custDataLst>
    <p:extLst>
      <p:ext uri="{BB962C8B-B14F-4D97-AF65-F5344CB8AC3E}">
        <p14:creationId xmlns:p14="http://schemas.microsoft.com/office/powerpoint/2010/main" val="383696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FMW - non-discriminatory measures</a:t>
            </a:r>
          </a:p>
        </p:txBody>
      </p:sp>
      <p:sp>
        <p:nvSpPr>
          <p:cNvPr id="3" name="Content Placeholder 2"/>
          <p:cNvSpPr>
            <a:spLocks noGrp="1"/>
          </p:cNvSpPr>
          <p:nvPr>
            <p:ph idx="1"/>
          </p:nvPr>
        </p:nvSpPr>
        <p:spPr/>
        <p:txBody>
          <a:bodyPr/>
          <a:lstStyle/>
          <a:p>
            <a:pPr>
              <a:buFont typeface="Arial" panose="020B0604020202020204" pitchFamily="34" charset="0"/>
              <a:buChar char="•"/>
            </a:pPr>
            <a:r>
              <a:rPr lang="en-GB" sz="2500" dirty="0"/>
              <a:t>Rules which are neither directly nor indirectly discriminatory, </a:t>
            </a:r>
            <a:r>
              <a:rPr lang="en-GB" sz="2500" u="sng" dirty="0"/>
              <a:t>but which affect access to the employment market, or affect the workers’ ability to move</a:t>
            </a:r>
            <a:r>
              <a:rPr lang="en-GB" sz="2500" dirty="0"/>
              <a:t>, are also considered barriers caught by Article 45 TFEU </a:t>
            </a:r>
          </a:p>
          <a:p>
            <a:pPr lvl="1"/>
            <a:r>
              <a:rPr lang="en-GB" sz="2500" dirty="0"/>
              <a:t>How can such measures be justified? </a:t>
            </a:r>
          </a:p>
          <a:p>
            <a:pPr lvl="1"/>
            <a:r>
              <a:rPr lang="en-GB" sz="2500" dirty="0"/>
              <a:t>Do they need to be proportionate? </a:t>
            </a:r>
          </a:p>
        </p:txBody>
      </p:sp>
    </p:spTree>
    <p:custDataLst>
      <p:tags r:id="rId1"/>
    </p:custDataLst>
    <p:extLst>
      <p:ext uri="{BB962C8B-B14F-4D97-AF65-F5344CB8AC3E}">
        <p14:creationId xmlns:p14="http://schemas.microsoft.com/office/powerpoint/2010/main" val="423181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371128"/>
          </a:xfrm>
        </p:spPr>
        <p:txBody>
          <a:bodyPr>
            <a:normAutofit fontScale="90000"/>
          </a:bodyPr>
          <a:lstStyle/>
          <a:p>
            <a:endParaRPr lang="en-GB"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051720" y="1268760"/>
            <a:ext cx="5040560" cy="4752527"/>
          </a:xfrm>
        </p:spPr>
      </p:pic>
    </p:spTree>
    <p:extLst>
      <p:ext uri="{BB962C8B-B14F-4D97-AF65-F5344CB8AC3E}">
        <p14:creationId xmlns:p14="http://schemas.microsoft.com/office/powerpoint/2010/main" val="2540564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non-discriminatory measures caught by Art 45 TFEU</a:t>
            </a:r>
          </a:p>
        </p:txBody>
      </p:sp>
      <p:sp>
        <p:nvSpPr>
          <p:cNvPr id="3" name="Content Placeholder 2"/>
          <p:cNvSpPr>
            <a:spLocks noGrp="1"/>
          </p:cNvSpPr>
          <p:nvPr>
            <p:ph idx="1"/>
          </p:nvPr>
        </p:nvSpPr>
        <p:spPr/>
        <p:txBody>
          <a:bodyPr>
            <a:noAutofit/>
          </a:bodyPr>
          <a:lstStyle/>
          <a:p>
            <a:pPr marL="457200" indent="-457200">
              <a:lnSpc>
                <a:spcPct val="120000"/>
              </a:lnSpc>
              <a:buFont typeface="Arial" panose="020B0604020202020204" pitchFamily="34" charset="0"/>
              <a:buChar char="•"/>
            </a:pPr>
            <a:r>
              <a:rPr lang="en-US" sz="2700" dirty="0"/>
              <a:t>Case C-413/93 </a:t>
            </a:r>
            <a:r>
              <a:rPr lang="en-US" sz="2700" dirty="0" err="1"/>
              <a:t>Bosman</a:t>
            </a:r>
            <a:r>
              <a:rPr lang="en-US" sz="2700" dirty="0"/>
              <a:t> (rule requiring the payment of a football transfer fee)</a:t>
            </a:r>
          </a:p>
          <a:p>
            <a:pPr lvl="1">
              <a:lnSpc>
                <a:spcPct val="120000"/>
              </a:lnSpc>
            </a:pPr>
            <a:r>
              <a:rPr lang="en-US" sz="2700" dirty="0"/>
              <a:t>Rules ‘directly affect players’ access to the employment market in other M-S and are thus capable of impeding the FMW’</a:t>
            </a:r>
          </a:p>
        </p:txBody>
      </p:sp>
    </p:spTree>
    <p:custDataLst>
      <p:tags r:id="rId1"/>
    </p:custDataLst>
    <p:extLst>
      <p:ext uri="{BB962C8B-B14F-4D97-AF65-F5344CB8AC3E}">
        <p14:creationId xmlns:p14="http://schemas.microsoft.com/office/powerpoint/2010/main" val="406601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0D4D09-54BE-874F-B4F1-E1BACE808729}"/>
              </a:ext>
            </a:extLst>
          </p:cNvPr>
          <p:cNvSpPr>
            <a:spLocks noGrp="1"/>
          </p:cNvSpPr>
          <p:nvPr>
            <p:ph type="title"/>
          </p:nvPr>
        </p:nvSpPr>
        <p:spPr>
          <a:xfrm>
            <a:off x="685800" y="404664"/>
            <a:ext cx="7772400" cy="1008186"/>
          </a:xfrm>
        </p:spPr>
        <p:txBody>
          <a:bodyPr wrap="square" anchor="ctr">
            <a:normAutofit/>
          </a:bodyPr>
          <a:lstStyle/>
          <a:p>
            <a:r>
              <a:rPr lang="en-US" dirty="0"/>
              <a:t>Bosman today</a:t>
            </a:r>
          </a:p>
        </p:txBody>
      </p:sp>
      <p:sp>
        <p:nvSpPr>
          <p:cNvPr id="5" name="Content Placeholder 4">
            <a:extLst>
              <a:ext uri="{FF2B5EF4-FFF2-40B4-BE49-F238E27FC236}">
                <a16:creationId xmlns:a16="http://schemas.microsoft.com/office/drawing/2014/main" id="{A6F6747C-DC0A-664E-BD7F-F8FD7C09E995}"/>
              </a:ext>
            </a:extLst>
          </p:cNvPr>
          <p:cNvSpPr>
            <a:spLocks noGrp="1"/>
          </p:cNvSpPr>
          <p:nvPr>
            <p:ph sz="half" idx="1"/>
          </p:nvPr>
        </p:nvSpPr>
        <p:spPr>
          <a:xfrm>
            <a:off x="684213" y="1628800"/>
            <a:ext cx="3810000" cy="4176688"/>
          </a:xfrm>
        </p:spPr>
        <p:txBody>
          <a:bodyPr wrap="square" anchor="t">
            <a:normAutofit/>
          </a:bodyPr>
          <a:lstStyle/>
          <a:p>
            <a:pPr marL="457200" indent="-457200">
              <a:buFont typeface="Arial" panose="020B0604020202020204" pitchFamily="34" charset="0"/>
              <a:buChar char="•"/>
            </a:pPr>
            <a:r>
              <a:rPr lang="en-US" dirty="0"/>
              <a:t>Bosman’s personal story since the ruling has been an unhappy one</a:t>
            </a:r>
          </a:p>
          <a:p>
            <a:pPr marL="457200" indent="-457200">
              <a:buFont typeface="Arial" panose="020B0604020202020204" pitchFamily="34" charset="0"/>
              <a:buChar char="•"/>
            </a:pPr>
            <a:r>
              <a:rPr lang="en-US" dirty="0"/>
              <a:t>Follow this link now:</a:t>
            </a:r>
          </a:p>
          <a:p>
            <a:pPr marL="457200" indent="-457200">
              <a:buFont typeface="Arial" panose="020B0604020202020204" pitchFamily="34" charset="0"/>
              <a:buChar char="•"/>
            </a:pPr>
            <a:r>
              <a:rPr lang="en-US" dirty="0">
                <a:hlinkClick r:id="rId3"/>
              </a:rPr>
              <a:t>https://www.bbc.co.uk/sport/football/55219724</a:t>
            </a:r>
            <a:endParaRPr lang="en-US" dirty="0"/>
          </a:p>
          <a:p>
            <a:endParaRPr lang="en-US" dirty="0"/>
          </a:p>
        </p:txBody>
      </p:sp>
      <p:pic>
        <p:nvPicPr>
          <p:cNvPr id="4" name="Content Placeholder 3" descr="A person wearing glasses&#10;&#10;Description automatically generated with medium confidence"/>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l="19177" r="18425" b="-3"/>
          <a:stretch/>
        </p:blipFill>
        <p:spPr>
          <a:xfrm>
            <a:off x="4646613" y="1628800"/>
            <a:ext cx="3810000" cy="3816350"/>
          </a:xfrm>
          <a:noFill/>
        </p:spPr>
      </p:pic>
    </p:spTree>
    <p:extLst>
      <p:ext uri="{BB962C8B-B14F-4D97-AF65-F5344CB8AC3E}">
        <p14:creationId xmlns:p14="http://schemas.microsoft.com/office/powerpoint/2010/main" val="634088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1419944"/>
          </a:xfrm>
        </p:spPr>
        <p:txBody>
          <a:bodyPr>
            <a:normAutofit fontScale="90000"/>
          </a:bodyPr>
          <a:lstStyle/>
          <a:p>
            <a:r>
              <a:rPr lang="en-US" dirty="0"/>
              <a:t>Examples of non-discriminatory measures caught by Art 45 TFEU</a:t>
            </a:r>
          </a:p>
        </p:txBody>
      </p:sp>
      <p:sp>
        <p:nvSpPr>
          <p:cNvPr id="3" name="Content Placeholder 2"/>
          <p:cNvSpPr>
            <a:spLocks noGrp="1"/>
          </p:cNvSpPr>
          <p:nvPr>
            <p:ph idx="1"/>
          </p:nvPr>
        </p:nvSpPr>
        <p:spPr>
          <a:xfrm>
            <a:off x="684213" y="1844824"/>
            <a:ext cx="7772400" cy="4403576"/>
          </a:xfrm>
        </p:spPr>
        <p:txBody>
          <a:bodyPr>
            <a:noAutofit/>
          </a:bodyPr>
          <a:lstStyle/>
          <a:p>
            <a:pPr>
              <a:lnSpc>
                <a:spcPct val="120000"/>
              </a:lnSpc>
              <a:buFont typeface="Arial" panose="020B0604020202020204" pitchFamily="34" charset="0"/>
              <a:buChar char="•"/>
            </a:pPr>
            <a:r>
              <a:rPr lang="en-US" sz="2300" dirty="0"/>
              <a:t>Case C-176/96 Lehtonen (rules prohibiting basketball clubs from fielding players, who are transferred after a deadline, in national championships)</a:t>
            </a:r>
          </a:p>
          <a:p>
            <a:pPr lvl="1">
              <a:lnSpc>
                <a:spcPct val="120000"/>
              </a:lnSpc>
            </a:pPr>
            <a:r>
              <a:rPr lang="en-US" sz="2300" dirty="0"/>
              <a:t>‘The fact that the rules in question concern not the employment of such players … but the extent to which their clubs may field them … is irrelevant. … A </a:t>
            </a:r>
            <a:r>
              <a:rPr lang="en-US" sz="2300" u="sng" dirty="0"/>
              <a:t>rule which restricts participation obviously </a:t>
            </a:r>
          </a:p>
          <a:p>
            <a:pPr marL="457200" lvl="1" indent="0">
              <a:lnSpc>
                <a:spcPct val="120000"/>
              </a:lnSpc>
              <a:buNone/>
            </a:pPr>
            <a:r>
              <a:rPr lang="en-US" sz="2300" dirty="0"/>
              <a:t>    </a:t>
            </a:r>
            <a:r>
              <a:rPr lang="en-US" sz="2300" u="sng" dirty="0"/>
              <a:t>also restrict the chances of employment </a:t>
            </a:r>
          </a:p>
          <a:p>
            <a:pPr marL="457200" lvl="1" indent="0">
              <a:lnSpc>
                <a:spcPct val="120000"/>
              </a:lnSpc>
              <a:buNone/>
            </a:pPr>
            <a:r>
              <a:rPr lang="en-US" sz="2300" dirty="0"/>
              <a:t>    </a:t>
            </a:r>
            <a:r>
              <a:rPr lang="en-US" sz="2300" u="sng" dirty="0"/>
              <a:t>of the player concerned</a:t>
            </a:r>
            <a:r>
              <a:rPr lang="en-US" sz="2300" dirty="0"/>
              <a:t>’ </a:t>
            </a:r>
          </a:p>
        </p:txBody>
      </p:sp>
    </p:spTree>
    <p:custDataLst>
      <p:tags r:id="rId1"/>
    </p:custDataLst>
    <p:extLst>
      <p:ext uri="{BB962C8B-B14F-4D97-AF65-F5344CB8AC3E}">
        <p14:creationId xmlns:p14="http://schemas.microsoft.com/office/powerpoint/2010/main" val="313910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non-discriminatory measures - limits</a:t>
            </a:r>
          </a:p>
        </p:txBody>
      </p:sp>
      <p:sp>
        <p:nvSpPr>
          <p:cNvPr id="3" name="Content Placeholder 2"/>
          <p:cNvSpPr>
            <a:spLocks noGrp="1"/>
          </p:cNvSpPr>
          <p:nvPr>
            <p:ph idx="1"/>
          </p:nvPr>
        </p:nvSpPr>
        <p:spPr/>
        <p:txBody>
          <a:bodyPr>
            <a:normAutofit/>
          </a:bodyPr>
          <a:lstStyle/>
          <a:p>
            <a:pPr marL="457200" indent="-457200">
              <a:lnSpc>
                <a:spcPct val="110000"/>
              </a:lnSpc>
              <a:buFont typeface="Arial" panose="020B0604020202020204" pitchFamily="34" charset="0"/>
              <a:buChar char="•"/>
            </a:pPr>
            <a:r>
              <a:rPr lang="en-US" sz="2700" dirty="0"/>
              <a:t>Non-discriminatory measure will not be caught if the measure is </a:t>
            </a:r>
            <a:r>
              <a:rPr lang="en-US" sz="2700" b="1" dirty="0"/>
              <a:t>inherent</a:t>
            </a:r>
            <a:r>
              <a:rPr lang="en-US" sz="2700" dirty="0"/>
              <a:t> to the organization of the economic activity</a:t>
            </a:r>
          </a:p>
          <a:p>
            <a:pPr lvl="1">
              <a:lnSpc>
                <a:spcPct val="110000"/>
              </a:lnSpc>
            </a:pPr>
            <a:r>
              <a:rPr lang="en-US" sz="2700" dirty="0"/>
              <a:t>Joined cases C-51/96 and C-191/97 </a:t>
            </a:r>
            <a:r>
              <a:rPr lang="en-US" sz="2700" dirty="0" err="1"/>
              <a:t>Deliege</a:t>
            </a:r>
            <a:r>
              <a:rPr lang="en-US" sz="2700" dirty="0"/>
              <a:t> (selection rules to be able to take part in international sporting competitions)</a:t>
            </a:r>
          </a:p>
        </p:txBody>
      </p:sp>
    </p:spTree>
    <p:custDataLst>
      <p:tags r:id="rId1"/>
    </p:custDataLst>
    <p:extLst>
      <p:ext uri="{BB962C8B-B14F-4D97-AF65-F5344CB8AC3E}">
        <p14:creationId xmlns:p14="http://schemas.microsoft.com/office/powerpoint/2010/main" val="227161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936104"/>
          </a:xfrm>
        </p:spPr>
        <p:txBody>
          <a:bodyPr>
            <a:normAutofit fontScale="90000"/>
          </a:bodyPr>
          <a:lstStyle/>
          <a:p>
            <a:r>
              <a:rPr lang="en-US" dirty="0"/>
              <a:t>Examples of non-discriminatory measures - limits</a:t>
            </a:r>
          </a:p>
        </p:txBody>
      </p:sp>
      <p:sp>
        <p:nvSpPr>
          <p:cNvPr id="3" name="Content Placeholder 2"/>
          <p:cNvSpPr>
            <a:spLocks noGrp="1"/>
          </p:cNvSpPr>
          <p:nvPr>
            <p:ph idx="1"/>
          </p:nvPr>
        </p:nvSpPr>
        <p:spPr>
          <a:xfrm>
            <a:off x="684213" y="1484784"/>
            <a:ext cx="7772400" cy="4763616"/>
          </a:xfrm>
        </p:spPr>
        <p:txBody>
          <a:bodyPr>
            <a:noAutofit/>
          </a:bodyPr>
          <a:lstStyle/>
          <a:p>
            <a:pPr marL="457200" indent="-457200">
              <a:lnSpc>
                <a:spcPct val="110000"/>
              </a:lnSpc>
              <a:buFont typeface="Arial" panose="020B0604020202020204" pitchFamily="34" charset="0"/>
              <a:buChar char="•"/>
            </a:pPr>
            <a:r>
              <a:rPr lang="en-US" sz="2100" dirty="0"/>
              <a:t>Non-discriminatory measure will not be caught if the effect of the rule is </a:t>
            </a:r>
            <a:r>
              <a:rPr lang="en-US" sz="2100" b="1" dirty="0"/>
              <a:t>too remote and indirect</a:t>
            </a:r>
            <a:r>
              <a:rPr lang="en-US" sz="2100" dirty="0"/>
              <a:t> to affect market access</a:t>
            </a:r>
          </a:p>
          <a:p>
            <a:pPr lvl="1">
              <a:lnSpc>
                <a:spcPct val="110000"/>
              </a:lnSpc>
            </a:pPr>
            <a:r>
              <a:rPr lang="en-US" sz="2100" dirty="0"/>
              <a:t>Case C-190/98 Graf: </a:t>
            </a:r>
          </a:p>
          <a:p>
            <a:pPr marL="457200" lvl="1" indent="0">
              <a:lnSpc>
                <a:spcPct val="110000"/>
              </a:lnSpc>
              <a:buNone/>
            </a:pPr>
            <a:r>
              <a:rPr lang="en-US" sz="2100" i="1" dirty="0"/>
              <a:t>‘Legislation [on compensation in case of dismissal] is not such as to preclude or deter a worker from ending his contract of employment in order to take a job with another employer, because the entitlement to compensation on termination of employment is .. dependent …on a future and hypothetical event, namely the subsequent termination of his contract without such termination being at his own initiative or attributable to him’.</a:t>
            </a:r>
            <a:endParaRPr lang="en-US" sz="2100" dirty="0"/>
          </a:p>
        </p:txBody>
      </p:sp>
    </p:spTree>
    <p:custDataLst>
      <p:tags r:id="rId1"/>
    </p:custDataLst>
    <p:extLst>
      <p:ext uri="{BB962C8B-B14F-4D97-AF65-F5344CB8AC3E}">
        <p14:creationId xmlns:p14="http://schemas.microsoft.com/office/powerpoint/2010/main" val="203570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04664"/>
            <a:ext cx="8352928" cy="1080120"/>
          </a:xfrm>
        </p:spPr>
        <p:txBody>
          <a:bodyPr>
            <a:normAutofit fontScale="90000"/>
          </a:bodyPr>
          <a:lstStyle/>
          <a:p>
            <a:r>
              <a:rPr lang="en-US" dirty="0"/>
              <a:t>Against whom can Art 45 TFEU be relied upon?</a:t>
            </a:r>
          </a:p>
        </p:txBody>
      </p:sp>
      <p:sp>
        <p:nvSpPr>
          <p:cNvPr id="3" name="Content Placeholder 2"/>
          <p:cNvSpPr>
            <a:spLocks noGrp="1"/>
          </p:cNvSpPr>
          <p:nvPr>
            <p:ph idx="1"/>
          </p:nvPr>
        </p:nvSpPr>
        <p:spPr>
          <a:xfrm>
            <a:off x="323528" y="1772816"/>
            <a:ext cx="8352928" cy="4320480"/>
          </a:xfrm>
        </p:spPr>
        <p:txBody>
          <a:bodyPr>
            <a:noAutofit/>
          </a:bodyPr>
          <a:lstStyle/>
          <a:p>
            <a:pPr>
              <a:buFont typeface="Arial" panose="020B0604020202020204" pitchFamily="34" charset="0"/>
              <a:buChar char="•"/>
            </a:pPr>
            <a:r>
              <a:rPr lang="en-US" sz="2300" dirty="0"/>
              <a:t>Vertically</a:t>
            </a:r>
          </a:p>
          <a:p>
            <a:pPr lvl="1"/>
            <a:r>
              <a:rPr lang="en-US" sz="2300" dirty="0"/>
              <a:t>Against the host Member State</a:t>
            </a:r>
          </a:p>
          <a:p>
            <a:pPr lvl="1"/>
            <a:r>
              <a:rPr lang="en-US" sz="2300" dirty="0"/>
              <a:t>Against the worker’s home Member State, to challenge:</a:t>
            </a:r>
          </a:p>
          <a:p>
            <a:pPr lvl="2"/>
            <a:r>
              <a:rPr lang="en-US" sz="2300" dirty="0"/>
              <a:t>restrictions on exit</a:t>
            </a:r>
          </a:p>
          <a:p>
            <a:pPr lvl="2"/>
            <a:r>
              <a:rPr lang="en-US" sz="2300" dirty="0"/>
              <a:t>restrictions on returning (Case C-370/90 Singh: UK national living in G with her (third country national) spouse and working part time in G wishes to return to the UK with her spouse – can she benefit from FM?)</a:t>
            </a:r>
          </a:p>
          <a:p>
            <a:pPr lvl="2"/>
            <a:r>
              <a:rPr lang="en-US" sz="2300" dirty="0"/>
              <a:t>Limit: FMW not available in purely internal situations (Joined Cases 35 and 36/82 </a:t>
            </a:r>
            <a:r>
              <a:rPr lang="en-US" sz="2300" dirty="0" err="1"/>
              <a:t>Morson</a:t>
            </a:r>
            <a:r>
              <a:rPr lang="en-US" sz="2300" dirty="0"/>
              <a:t> and </a:t>
            </a:r>
            <a:r>
              <a:rPr lang="en-US" sz="2300" dirty="0" err="1"/>
              <a:t>Jhanjan</a:t>
            </a:r>
            <a:r>
              <a:rPr lang="en-US" sz="2300" dirty="0"/>
              <a:t>)</a:t>
            </a:r>
          </a:p>
        </p:txBody>
      </p:sp>
    </p:spTree>
    <p:custDataLst>
      <p:tags r:id="rId1"/>
    </p:custDataLst>
    <p:extLst>
      <p:ext uri="{BB962C8B-B14F-4D97-AF65-F5344CB8AC3E}">
        <p14:creationId xmlns:p14="http://schemas.microsoft.com/office/powerpoint/2010/main" val="199871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09600"/>
            <a:ext cx="8136904" cy="1019200"/>
          </a:xfrm>
        </p:spPr>
        <p:txBody>
          <a:bodyPr>
            <a:normAutofit fontScale="90000"/>
          </a:bodyPr>
          <a:lstStyle/>
          <a:p>
            <a:r>
              <a:rPr lang="en-US" dirty="0"/>
              <a:t>Against whom can Art 45 TFEU be relied upon? (II)</a:t>
            </a:r>
          </a:p>
        </p:txBody>
      </p:sp>
      <p:sp>
        <p:nvSpPr>
          <p:cNvPr id="3" name="Content Placeholder 2"/>
          <p:cNvSpPr>
            <a:spLocks noGrp="1"/>
          </p:cNvSpPr>
          <p:nvPr>
            <p:ph idx="1"/>
          </p:nvPr>
        </p:nvSpPr>
        <p:spPr/>
        <p:txBody>
          <a:bodyPr>
            <a:normAutofit/>
          </a:bodyPr>
          <a:lstStyle/>
          <a:p>
            <a:pPr>
              <a:lnSpc>
                <a:spcPct val="120000"/>
              </a:lnSpc>
            </a:pPr>
            <a:r>
              <a:rPr lang="en-US" sz="2600" dirty="0"/>
              <a:t>Semi-horizontally: yes</a:t>
            </a:r>
          </a:p>
          <a:p>
            <a:pPr lvl="1">
              <a:lnSpc>
                <a:spcPct val="120000"/>
              </a:lnSpc>
            </a:pPr>
            <a:r>
              <a:rPr lang="en-US" sz="2600" dirty="0"/>
              <a:t>Rules regulating employment in a collective manner</a:t>
            </a:r>
          </a:p>
          <a:p>
            <a:pPr lvl="2">
              <a:lnSpc>
                <a:spcPct val="120000"/>
              </a:lnSpc>
            </a:pPr>
            <a:r>
              <a:rPr lang="en-US" sz="2600" dirty="0"/>
              <a:t>Case 36/74 </a:t>
            </a:r>
            <a:r>
              <a:rPr lang="en-US" sz="2600" dirty="0" err="1"/>
              <a:t>Walrave</a:t>
            </a:r>
            <a:r>
              <a:rPr lang="en-US" sz="2600" dirty="0"/>
              <a:t> and Koch</a:t>
            </a:r>
          </a:p>
          <a:p>
            <a:pPr lvl="2">
              <a:lnSpc>
                <a:spcPct val="120000"/>
              </a:lnSpc>
            </a:pPr>
            <a:r>
              <a:rPr lang="en-US" sz="2600" dirty="0"/>
              <a:t>Case C-413/93 </a:t>
            </a:r>
            <a:r>
              <a:rPr lang="en-US" sz="2600" dirty="0" err="1"/>
              <a:t>Bosman</a:t>
            </a:r>
            <a:endParaRPr lang="en-US" sz="2600" dirty="0"/>
          </a:p>
          <a:p>
            <a:endParaRPr lang="en-US" dirty="0"/>
          </a:p>
          <a:p>
            <a:endParaRPr lang="en-US" dirty="0"/>
          </a:p>
          <a:p>
            <a:pPr lvl="2"/>
            <a:endParaRPr lang="en-US" dirty="0"/>
          </a:p>
        </p:txBody>
      </p:sp>
    </p:spTree>
    <p:custDataLst>
      <p:tags r:id="rId1"/>
    </p:custDataLst>
    <p:extLst>
      <p:ext uri="{BB962C8B-B14F-4D97-AF65-F5344CB8AC3E}">
        <p14:creationId xmlns:p14="http://schemas.microsoft.com/office/powerpoint/2010/main" val="390096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1296144"/>
          </a:xfrm>
        </p:spPr>
        <p:txBody>
          <a:bodyPr>
            <a:normAutofit fontScale="90000"/>
          </a:bodyPr>
          <a:lstStyle/>
          <a:p>
            <a:r>
              <a:rPr lang="en-US" dirty="0"/>
              <a:t>Against whom can Art 45 TFEU be relied upon? (III)</a:t>
            </a:r>
          </a:p>
        </p:txBody>
      </p:sp>
      <p:sp>
        <p:nvSpPr>
          <p:cNvPr id="3" name="Content Placeholder 2"/>
          <p:cNvSpPr>
            <a:spLocks noGrp="1"/>
          </p:cNvSpPr>
          <p:nvPr>
            <p:ph idx="1"/>
          </p:nvPr>
        </p:nvSpPr>
        <p:spPr>
          <a:xfrm>
            <a:off x="684213" y="1772816"/>
            <a:ext cx="7772400" cy="4320480"/>
          </a:xfrm>
        </p:spPr>
        <p:txBody>
          <a:bodyPr>
            <a:normAutofit fontScale="92500" lnSpcReduction="20000"/>
          </a:bodyPr>
          <a:lstStyle/>
          <a:p>
            <a:pPr>
              <a:lnSpc>
                <a:spcPct val="120000"/>
              </a:lnSpc>
            </a:pPr>
            <a:r>
              <a:rPr lang="en-US" sz="2600" dirty="0"/>
              <a:t>Horizontally: yes</a:t>
            </a:r>
          </a:p>
          <a:p>
            <a:pPr lvl="1">
              <a:lnSpc>
                <a:spcPct val="120000"/>
              </a:lnSpc>
            </a:pPr>
            <a:r>
              <a:rPr lang="en-US" sz="2600" dirty="0"/>
              <a:t>Case C-281/98 </a:t>
            </a:r>
            <a:r>
              <a:rPr lang="en-US" sz="2600" dirty="0" err="1"/>
              <a:t>Angonese</a:t>
            </a:r>
            <a:r>
              <a:rPr lang="en-US" sz="2600" dirty="0"/>
              <a:t> </a:t>
            </a:r>
          </a:p>
          <a:p>
            <a:pPr>
              <a:lnSpc>
                <a:spcPct val="120000"/>
              </a:lnSpc>
            </a:pPr>
            <a:r>
              <a:rPr lang="en-US" sz="2600" dirty="0"/>
              <a:t>See also Art 7(4) Reg. 492/11: </a:t>
            </a:r>
          </a:p>
          <a:p>
            <a:pPr lvl="1">
              <a:lnSpc>
                <a:spcPct val="120000"/>
              </a:lnSpc>
            </a:pPr>
            <a:r>
              <a:rPr lang="en-US" sz="2600" dirty="0"/>
              <a:t>‘Any clause of a </a:t>
            </a:r>
            <a:r>
              <a:rPr lang="en-US" sz="2600" u="sng" dirty="0"/>
              <a:t>collective</a:t>
            </a:r>
            <a:r>
              <a:rPr lang="en-US" sz="2600" dirty="0"/>
              <a:t> or </a:t>
            </a:r>
            <a:r>
              <a:rPr lang="en-US" sz="2600" u="sng" dirty="0"/>
              <a:t>individual</a:t>
            </a:r>
            <a:r>
              <a:rPr lang="en-US" sz="2600" dirty="0"/>
              <a:t> agreement or of any other collective regulation concerning eligibility for employment, remuneration and other conditions of work or dismissal shall be null and void in so far as it lays down or </a:t>
            </a:r>
            <a:r>
              <a:rPr lang="en-US" sz="2600" dirty="0" err="1"/>
              <a:t>authorises</a:t>
            </a:r>
            <a:r>
              <a:rPr lang="en-US" sz="2600" dirty="0"/>
              <a:t> discriminatory conditions in respect of workers who are nationals of the other Member States’.</a:t>
            </a:r>
          </a:p>
          <a:p>
            <a:endParaRPr lang="en-US" dirty="0"/>
          </a:p>
          <a:p>
            <a:endParaRPr lang="en-US" dirty="0"/>
          </a:p>
          <a:p>
            <a:pPr lvl="2"/>
            <a:endParaRPr lang="en-US" dirty="0"/>
          </a:p>
        </p:txBody>
      </p:sp>
    </p:spTree>
    <p:custDataLst>
      <p:tags r:id="rId1"/>
    </p:custDataLst>
    <p:extLst>
      <p:ext uri="{BB962C8B-B14F-4D97-AF65-F5344CB8AC3E}">
        <p14:creationId xmlns:p14="http://schemas.microsoft.com/office/powerpoint/2010/main" val="158280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864096"/>
          </a:xfrm>
        </p:spPr>
        <p:txBody>
          <a:bodyPr/>
          <a:lstStyle/>
          <a:p>
            <a:pPr algn="ctr"/>
            <a:r>
              <a:rPr lang="en-GB" dirty="0"/>
              <a:t>Worker’s Family</a:t>
            </a:r>
          </a:p>
        </p:txBody>
      </p:sp>
      <p:sp>
        <p:nvSpPr>
          <p:cNvPr id="3" name="Content Placeholder 2"/>
          <p:cNvSpPr>
            <a:spLocks noGrp="1"/>
          </p:cNvSpPr>
          <p:nvPr>
            <p:ph idx="1"/>
          </p:nvPr>
        </p:nvSpPr>
        <p:spPr>
          <a:xfrm>
            <a:off x="684213" y="1556792"/>
            <a:ext cx="7772400" cy="4248696"/>
          </a:xfrm>
        </p:spPr>
        <p:txBody>
          <a:bodyPr>
            <a:normAutofit/>
          </a:bodyPr>
          <a:lstStyle/>
          <a:p>
            <a:pPr>
              <a:buFont typeface="Arial" panose="020B0604020202020204" pitchFamily="34" charset="0"/>
              <a:buChar char="•"/>
            </a:pPr>
            <a:r>
              <a:rPr lang="en-GB" sz="2600" dirty="0"/>
              <a:t>Worker’s Family derive rights from worker’s free movement rights:</a:t>
            </a:r>
          </a:p>
          <a:p>
            <a:pPr lvl="1"/>
            <a:r>
              <a:rPr lang="en-GB" sz="2600" dirty="0"/>
              <a:t>Rights include (inter alia) right of residence in host M-S (see Dir. 2004/38); Art 10 Reg 492/2011 (right to education)</a:t>
            </a:r>
          </a:p>
          <a:p>
            <a:pPr lvl="1"/>
            <a:r>
              <a:rPr lang="en-GB" sz="2600" dirty="0"/>
              <a:t>Meaning of worker’s family: see Dir. 2004/38</a:t>
            </a:r>
          </a:p>
          <a:p>
            <a:pPr lvl="2"/>
            <a:r>
              <a:rPr lang="en-GB" sz="2600" dirty="0"/>
              <a:t>Family members can include EU citizens or third country nationals</a:t>
            </a:r>
          </a:p>
        </p:txBody>
      </p:sp>
    </p:spTree>
    <p:custDataLst>
      <p:tags r:id="rId1"/>
    </p:custDataLst>
    <p:extLst>
      <p:ext uri="{BB962C8B-B14F-4D97-AF65-F5344CB8AC3E}">
        <p14:creationId xmlns:p14="http://schemas.microsoft.com/office/powerpoint/2010/main" val="227032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792088"/>
          </a:xfrm>
        </p:spPr>
        <p:txBody>
          <a:bodyPr/>
          <a:lstStyle/>
          <a:p>
            <a:r>
              <a:rPr lang="en-GB" dirty="0"/>
              <a:t>Worker’s Family - children</a:t>
            </a:r>
          </a:p>
        </p:txBody>
      </p:sp>
      <p:sp>
        <p:nvSpPr>
          <p:cNvPr id="3" name="Content Placeholder 2"/>
          <p:cNvSpPr>
            <a:spLocks noGrp="1"/>
          </p:cNvSpPr>
          <p:nvPr>
            <p:ph idx="1"/>
          </p:nvPr>
        </p:nvSpPr>
        <p:spPr>
          <a:xfrm>
            <a:off x="684213" y="1484784"/>
            <a:ext cx="7772400" cy="4680520"/>
          </a:xfrm>
        </p:spPr>
        <p:txBody>
          <a:bodyPr>
            <a:normAutofit/>
          </a:bodyPr>
          <a:lstStyle/>
          <a:p>
            <a:pPr>
              <a:spcBef>
                <a:spcPts val="0"/>
              </a:spcBef>
              <a:buFont typeface="Arial" panose="020B0604020202020204" pitchFamily="34" charset="0"/>
              <a:buChar char="•"/>
            </a:pPr>
            <a:r>
              <a:rPr lang="en-GB" sz="2500" dirty="0"/>
              <a:t>Children of migrant workers benefit from right of education </a:t>
            </a:r>
          </a:p>
          <a:p>
            <a:pPr>
              <a:spcBef>
                <a:spcPts val="0"/>
              </a:spcBef>
              <a:buFont typeface="Arial" panose="020B0604020202020204" pitchFamily="34" charset="0"/>
              <a:buChar char="•"/>
            </a:pPr>
            <a:endParaRPr lang="en-GB" sz="2500" dirty="0"/>
          </a:p>
          <a:p>
            <a:pPr lvl="1">
              <a:spcBef>
                <a:spcPts val="0"/>
              </a:spcBef>
            </a:pPr>
            <a:r>
              <a:rPr lang="en-GB" sz="2500" dirty="0"/>
              <a:t>Art 10 Reg. 492/2011: ‘The children of a national of a Member State who is or has been employed in the territory of another Member State </a:t>
            </a:r>
            <a:r>
              <a:rPr lang="en-GB" sz="2500" u="sng" dirty="0"/>
              <a:t>shall be admitted</a:t>
            </a:r>
            <a:r>
              <a:rPr lang="en-GB" sz="2500" dirty="0"/>
              <a:t> to that State’s general educational, apprenticeship and vocational training courses </a:t>
            </a:r>
            <a:r>
              <a:rPr lang="en-GB" sz="2500" u="sng" dirty="0"/>
              <a:t>under the same conditions</a:t>
            </a:r>
            <a:r>
              <a:rPr lang="en-GB" sz="2500" dirty="0"/>
              <a:t> as the nationals of that State, if such children are residing in its territory’.</a:t>
            </a:r>
          </a:p>
          <a:p>
            <a:endParaRPr lang="en-GB" sz="2500" dirty="0"/>
          </a:p>
          <a:p>
            <a:endParaRPr lang="en-GB" dirty="0"/>
          </a:p>
        </p:txBody>
      </p:sp>
    </p:spTree>
    <p:custDataLst>
      <p:tags r:id="rId1"/>
    </p:custDataLst>
    <p:extLst>
      <p:ext uri="{BB962C8B-B14F-4D97-AF65-F5344CB8AC3E}">
        <p14:creationId xmlns:p14="http://schemas.microsoft.com/office/powerpoint/2010/main" val="288161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864096"/>
          </a:xfrm>
        </p:spPr>
        <p:txBody>
          <a:bodyPr/>
          <a:lstStyle/>
          <a:p>
            <a:r>
              <a:rPr lang="en-GB" dirty="0"/>
              <a:t>Worker’s Family – children (II)</a:t>
            </a:r>
          </a:p>
        </p:txBody>
      </p:sp>
      <p:sp>
        <p:nvSpPr>
          <p:cNvPr id="3" name="Content Placeholder 2"/>
          <p:cNvSpPr>
            <a:spLocks noGrp="1"/>
          </p:cNvSpPr>
          <p:nvPr>
            <p:ph idx="1"/>
          </p:nvPr>
        </p:nvSpPr>
        <p:spPr>
          <a:xfrm>
            <a:off x="467544" y="1484784"/>
            <a:ext cx="8275403" cy="4824536"/>
          </a:xfrm>
        </p:spPr>
        <p:txBody>
          <a:bodyPr>
            <a:noAutofit/>
          </a:bodyPr>
          <a:lstStyle/>
          <a:p>
            <a:pPr>
              <a:buFont typeface="Arial" panose="020B0604020202020204" pitchFamily="34" charset="0"/>
              <a:buChar char="•"/>
            </a:pPr>
            <a:r>
              <a:rPr lang="en-GB" sz="2400" dirty="0"/>
              <a:t>‘Children’ in Art 10 Reg. 492/2011 is given a generous interpretation</a:t>
            </a:r>
          </a:p>
          <a:p>
            <a:pPr lvl="1"/>
            <a:r>
              <a:rPr lang="en-GB" sz="2400" dirty="0"/>
              <a:t>Extends to non-dependant children over 21 (Case C-7/94 </a:t>
            </a:r>
            <a:r>
              <a:rPr lang="en-GB" sz="2400" dirty="0" err="1"/>
              <a:t>Gaal</a:t>
            </a:r>
            <a:r>
              <a:rPr lang="en-GB" sz="2400" dirty="0"/>
              <a:t>)</a:t>
            </a:r>
          </a:p>
          <a:p>
            <a:pPr>
              <a:buFont typeface="Arial" panose="020B0604020202020204" pitchFamily="34" charset="0"/>
              <a:buChar char="•"/>
            </a:pPr>
            <a:r>
              <a:rPr lang="en-GB" sz="2400" dirty="0"/>
              <a:t>Art 10 covers broad range of courses (e.g.: Case 76/72 Michel S: children with disabilities – courses aimed at rehabilitating or retraining)</a:t>
            </a:r>
          </a:p>
          <a:p>
            <a:pPr>
              <a:buFont typeface="Arial" panose="020B0604020202020204" pitchFamily="34" charset="0"/>
              <a:buChar char="•"/>
            </a:pPr>
            <a:r>
              <a:rPr lang="it-IT" sz="2400" dirty="0"/>
              <a:t>Case C-181/19 </a:t>
            </a:r>
            <a:r>
              <a:rPr lang="it-IT" sz="2400" i="1" dirty="0" err="1"/>
              <a:t>Jobcenter</a:t>
            </a:r>
            <a:r>
              <a:rPr lang="it-IT" sz="2400" i="1" dirty="0"/>
              <a:t> Krefeld</a:t>
            </a:r>
            <a:r>
              <a:rPr lang="en-GB" sz="2400" dirty="0"/>
              <a:t>: Art 10 includes right of residence (including for primary carer), even after loss of status of worker, and opens access to Art-7(2)-principle-of-equal-treatment, re. benefits</a:t>
            </a:r>
          </a:p>
        </p:txBody>
      </p:sp>
    </p:spTree>
    <p:custDataLst>
      <p:tags r:id="rId1"/>
    </p:custDataLst>
    <p:extLst>
      <p:ext uri="{BB962C8B-B14F-4D97-AF65-F5344CB8AC3E}">
        <p14:creationId xmlns:p14="http://schemas.microsoft.com/office/powerpoint/2010/main" val="9033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7|33.5"/>
</p:tagLst>
</file>

<file path=ppt/tags/tag2.xml><?xml version="1.0" encoding="utf-8"?>
<p:tagLst xmlns:a="http://schemas.openxmlformats.org/drawingml/2006/main" xmlns:r="http://schemas.openxmlformats.org/officeDocument/2006/relationships" xmlns:p="http://schemas.openxmlformats.org/presentationml/2006/main">
  <p:tag name="TIMING" val="|3.2|61.6"/>
</p:tagLst>
</file>

<file path=ppt/tags/tag3.xml><?xml version="1.0" encoding="utf-8"?>
<p:tagLst xmlns:a="http://schemas.openxmlformats.org/drawingml/2006/main" xmlns:r="http://schemas.openxmlformats.org/officeDocument/2006/relationships" xmlns:p="http://schemas.openxmlformats.org/presentationml/2006/main">
  <p:tag name="TIMING" val="|22.9|16.7|4.7"/>
</p:tagLst>
</file>

<file path=ppt/tags/tag4.xml><?xml version="1.0" encoding="utf-8"?>
<p:tagLst xmlns:a="http://schemas.openxmlformats.org/drawingml/2006/main" xmlns:r="http://schemas.openxmlformats.org/officeDocument/2006/relationships" xmlns:p="http://schemas.openxmlformats.org/presentationml/2006/main">
  <p:tag name="TIMING" val="|9.7|14.6|19.4"/>
</p:tagLst>
</file>

<file path=ppt/tags/tag5.xml><?xml version="1.0" encoding="utf-8"?>
<p:tagLst xmlns:a="http://schemas.openxmlformats.org/drawingml/2006/main" xmlns:r="http://schemas.openxmlformats.org/officeDocument/2006/relationships" xmlns:p="http://schemas.openxmlformats.org/presentationml/2006/main">
  <p:tag name="TIMING" val="|39.8|62.4|107.6"/>
</p:tagLst>
</file>

<file path=ppt/tags/tag6.xml><?xml version="1.0" encoding="utf-8"?>
<p:tagLst xmlns:a="http://schemas.openxmlformats.org/drawingml/2006/main" xmlns:r="http://schemas.openxmlformats.org/officeDocument/2006/relationships" xmlns:p="http://schemas.openxmlformats.org/presentationml/2006/main">
  <p:tag name="TIMING" val="|15.6|19.5"/>
</p:tagLst>
</file>

<file path=ppt/tags/tag7.xml><?xml version="1.0" encoding="utf-8"?>
<p:tagLst xmlns:a="http://schemas.openxmlformats.org/drawingml/2006/main" xmlns:r="http://schemas.openxmlformats.org/officeDocument/2006/relationships" xmlns:p="http://schemas.openxmlformats.org/presentationml/2006/main">
  <p:tag name="TIMING" val="|4.3|96.3|17.2"/>
</p:tagLst>
</file>

<file path=ppt/tags/tag8.xml><?xml version="1.0" encoding="utf-8"?>
<p:tagLst xmlns:a="http://schemas.openxmlformats.org/drawingml/2006/main" xmlns:r="http://schemas.openxmlformats.org/officeDocument/2006/relationships" xmlns:p="http://schemas.openxmlformats.org/presentationml/2006/main">
  <p:tag name="TIMING" val="|26.2"/>
</p:tagLst>
</file>

<file path=ppt/tags/tag9.xml><?xml version="1.0" encoding="utf-8"?>
<p:tagLst xmlns:a="http://schemas.openxmlformats.org/drawingml/2006/main" xmlns:r="http://schemas.openxmlformats.org/officeDocument/2006/relationships" xmlns:p="http://schemas.openxmlformats.org/presentationml/2006/main">
  <p:tag name="TIMING" val="|11.9"/>
</p:tagLst>
</file>

<file path=ppt/tags/tag10.xml><?xml version="1.0" encoding="utf-8"?>
<p:tagLst xmlns:a="http://schemas.openxmlformats.org/drawingml/2006/main" xmlns:r="http://schemas.openxmlformats.org/officeDocument/2006/relationships" xmlns:p="http://schemas.openxmlformats.org/presentationml/2006/main">
  <p:tag name="TIMING" val="|57.2|27.3|9.2|8.6"/>
</p:tagLst>
</file>

<file path=ppt/tags/tag11.xml><?xml version="1.0" encoding="utf-8"?>
<p:tagLst xmlns:a="http://schemas.openxmlformats.org/drawingml/2006/main" xmlns:r="http://schemas.openxmlformats.org/officeDocument/2006/relationships" xmlns:p="http://schemas.openxmlformats.org/presentationml/2006/main">
  <p:tag name="TIMING" val="|10.6"/>
</p:tagLst>
</file>

<file path=ppt/tags/tag12.xml><?xml version="1.0" encoding="utf-8"?>
<p:tagLst xmlns:a="http://schemas.openxmlformats.org/drawingml/2006/main" xmlns:r="http://schemas.openxmlformats.org/officeDocument/2006/relationships" xmlns:p="http://schemas.openxmlformats.org/presentationml/2006/main">
  <p:tag name="TIMING" val="|22.3|226.8"/>
</p:tagLst>
</file>

<file path=ppt/tags/tag13.xml><?xml version="1.0" encoding="utf-8"?>
<p:tagLst xmlns:a="http://schemas.openxmlformats.org/drawingml/2006/main" xmlns:r="http://schemas.openxmlformats.org/officeDocument/2006/relationships" xmlns:p="http://schemas.openxmlformats.org/presentationml/2006/main">
  <p:tag name="TIMING" val="|19.1|128.4|39.4"/>
</p:tagLst>
</file>

<file path=ppt/tags/tag14.xml><?xml version="1.0" encoding="utf-8"?>
<p:tagLst xmlns:a="http://schemas.openxmlformats.org/drawingml/2006/main" xmlns:r="http://schemas.openxmlformats.org/officeDocument/2006/relationships" xmlns:p="http://schemas.openxmlformats.org/presentationml/2006/main">
  <p:tag name="TIMING" val="|2.1|0.9"/>
</p:tagLst>
</file>

<file path=ppt/tags/tag15.xml><?xml version="1.0" encoding="utf-8"?>
<p:tagLst xmlns:a="http://schemas.openxmlformats.org/drawingml/2006/main" xmlns:r="http://schemas.openxmlformats.org/officeDocument/2006/relationships" xmlns:p="http://schemas.openxmlformats.org/presentationml/2006/main">
  <p:tag name="TIMING" val="|10.6|79.2|44.3"/>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65e6d05ec05cb74dd9706b1e5cf7fbb0">
  <xsd:schema xmlns:xsd="http://www.w3.org/2001/XMLSchema" xmlns:xs="http://www.w3.org/2001/XMLSchema" xmlns:p="http://schemas.microsoft.com/office/2006/metadata/properties" xmlns:ns3="3cc0b812-7f7d-4aca-acca-000f424f7da7" targetNamespace="http://schemas.microsoft.com/office/2006/metadata/properties" ma:root="true" ma:fieldsID="d26e22a320b4c5202789874931af9409" ns3:_="">
    <xsd:import namespace="3cc0b812-7f7d-4aca-acca-000f424f7d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E108D4-2630-4149-81E7-B1444E95F7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FEA3A7-1379-41AE-B8EB-45EA0BB6EB92}">
  <ds:schemaRefs>
    <ds:schemaRef ds:uri="http://schemas.microsoft.com/sharepoint/v3/contenttype/forms"/>
  </ds:schemaRefs>
</ds:datastoreItem>
</file>

<file path=customXml/itemProps3.xml><?xml version="1.0" encoding="utf-8"?>
<ds:datastoreItem xmlns:ds="http://schemas.openxmlformats.org/officeDocument/2006/customXml" ds:itemID="{9FD00AA2-2D20-45D3-87DF-ADE1070BF29A}">
  <ds:schemaRefs>
    <ds:schemaRef ds:uri="http://purl.org/dc/elements/1.1/"/>
    <ds:schemaRef ds:uri="http://schemas.openxmlformats.org/package/2006/metadata/core-properties"/>
    <ds:schemaRef ds:uri="http://www.w3.org/XML/1998/namespace"/>
    <ds:schemaRef ds:uri="http://schemas.microsoft.com/office/2006/documentManagement/types"/>
    <ds:schemaRef ds:uri="3cc0b812-7f7d-4aca-acca-000f424f7da7"/>
    <ds:schemaRef ds:uri="http://purl.org/dc/terms/"/>
    <ds:schemaRef ds:uri="http://purl.org/dc/dcmitype/"/>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239</TotalTime>
  <Words>1181</Words>
  <Application>Microsoft Macintosh PowerPoint</Application>
  <PresentationFormat>On-screen Show (4:3)</PresentationFormat>
  <Paragraphs>105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ＭＳ Ｐゴシック</vt:lpstr>
      <vt:lpstr>Arial</vt:lpstr>
      <vt:lpstr>Calibri</vt:lpstr>
      <vt:lpstr>Times</vt:lpstr>
      <vt:lpstr>Blank</vt:lpstr>
      <vt:lpstr>Contemporary Issues in the Law of the Internal Market 2024/2025</vt:lpstr>
      <vt:lpstr>Overview</vt:lpstr>
      <vt:lpstr>Social adv.: Art 7(2) Reg. 492/11</vt:lpstr>
      <vt:lpstr>Social advantages (Art 7(2)) (II) </vt:lpstr>
      <vt:lpstr>Social Advantages: Art 7(2)</vt:lpstr>
      <vt:lpstr>Social Advantages (Art 7(2)) (IV)</vt:lpstr>
      <vt:lpstr>FMW - non-discriminatory measures</vt:lpstr>
      <vt:lpstr>PowerPoint Presentation</vt:lpstr>
      <vt:lpstr>Examples of non-discriminatory measures caught by Art 45 TFEU</vt:lpstr>
      <vt:lpstr>Bosman today</vt:lpstr>
      <vt:lpstr>Examples of non-discriminatory measures caught by Art 45 TFEU</vt:lpstr>
      <vt:lpstr>Examples of non-discriminatory measures - limits</vt:lpstr>
      <vt:lpstr>Examples of non-discriminatory measures - limits</vt:lpstr>
      <vt:lpstr>Against whom can Art 45 TFEU be relied upon?</vt:lpstr>
      <vt:lpstr>Against whom can Art 45 TFEU be relied upon? (II)</vt:lpstr>
      <vt:lpstr>Against whom can Art 45 TFEU be relied upon? (III)</vt:lpstr>
      <vt:lpstr>Worker’s Family</vt:lpstr>
      <vt:lpstr>Worker’s Family - children</vt:lpstr>
      <vt:lpstr>Worker’s Family – children (II)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Contemporary Issues in the Law of the Internal Market 2020/2021</dc:title>
  <dc:creator>Pierre Schammo</dc:creator>
  <cp:lastModifiedBy>SCHAMMO, PIERRE J.</cp:lastModifiedBy>
  <cp:revision>224</cp:revision>
  <cp:lastPrinted>2023-01-23T11:07:59Z</cp:lastPrinted>
  <dcterms:created xsi:type="dcterms:W3CDTF">2021-01-22T06:06:39Z</dcterms:created>
  <dcterms:modified xsi:type="dcterms:W3CDTF">2025-01-30T13:54:58Z</dcterms:modified>
</cp:coreProperties>
</file>