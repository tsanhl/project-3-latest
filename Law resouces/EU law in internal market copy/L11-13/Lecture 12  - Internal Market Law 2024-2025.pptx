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ppt/tags/tag6.xml" ContentType="application/vnd.openxmlformats-officedocument.presentationml.tags+xml"/>
  <Override PartName="/ppt/notesSlides/notesSlide9.xml" ContentType="application/vnd.openxmlformats-officedocument.presentationml.notesSlide+xml"/>
  <Override PartName="/ppt/tags/tag7.xml" ContentType="application/vnd.openxmlformats-officedocument.presentationml.tags+xml"/>
  <Override PartName="/ppt/notesSlides/notesSlide10.xml" ContentType="application/vnd.openxmlformats-officedocument.presentationml.notesSlide+xml"/>
  <Override PartName="/ppt/tags/tag8.xml" ContentType="application/vnd.openxmlformats-officedocument.presentationml.tags+xml"/>
  <Override PartName="/ppt/notesSlides/notesSlide11.xml" ContentType="application/vnd.openxmlformats-officedocument.presentationml.notesSlide+xml"/>
  <Override PartName="/ppt/tags/tag9.xml" ContentType="application/vnd.openxmlformats-officedocument.presentationml.tags+xml"/>
  <Override PartName="/ppt/notesSlides/notesSlide12.xml" ContentType="application/vnd.openxmlformats-officedocument.presentationml.notesSlide+xml"/>
  <Override PartName="/ppt/tags/tag10.xml" ContentType="application/vnd.openxmlformats-officedocument.presentationml.tags+xml"/>
  <Override PartName="/ppt/notesSlides/notesSlide13.xml" ContentType="application/vnd.openxmlformats-officedocument.presentationml.notesSlide+xml"/>
  <Override PartName="/ppt/tags/tag11.xml" ContentType="application/vnd.openxmlformats-officedocument.presentationml.tags+xml"/>
  <Override PartName="/ppt/notesSlides/notesSlide14.xml" ContentType="application/vnd.openxmlformats-officedocument.presentationml.notesSlide+xml"/>
  <Override PartName="/ppt/tags/tag12.xml" ContentType="application/vnd.openxmlformats-officedocument.presentationml.tags+xml"/>
  <Override PartName="/ppt/notesSlides/notesSlide15.xml" ContentType="application/vnd.openxmlformats-officedocument.presentationml.notesSlide+xml"/>
  <Override PartName="/ppt/tags/tag13.xml" ContentType="application/vnd.openxmlformats-officedocument.presentationml.tags+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8"/>
  </p:notesMasterIdLst>
  <p:handoutMasterIdLst>
    <p:handoutMasterId r:id="rId19"/>
  </p:handoutMasterIdLst>
  <p:sldIdLst>
    <p:sldId id="323" r:id="rId2"/>
    <p:sldId id="328" r:id="rId3"/>
    <p:sldId id="310" r:id="rId4"/>
    <p:sldId id="330" r:id="rId5"/>
    <p:sldId id="326" r:id="rId6"/>
    <p:sldId id="331" r:id="rId7"/>
    <p:sldId id="313" r:id="rId8"/>
    <p:sldId id="314" r:id="rId9"/>
    <p:sldId id="315" r:id="rId10"/>
    <p:sldId id="327" r:id="rId11"/>
    <p:sldId id="258" r:id="rId12"/>
    <p:sldId id="259" r:id="rId13"/>
    <p:sldId id="329" r:id="rId14"/>
    <p:sldId id="260" r:id="rId15"/>
    <p:sldId id="261" r:id="rId16"/>
    <p:sldId id="262" r:id="rId17"/>
  </p:sldIdLst>
  <p:sldSz cx="9144000" cy="6858000" type="screen4x3"/>
  <p:notesSz cx="6797675" cy="9928225"/>
  <p:defaultTextStyle>
    <a:defPPr>
      <a:defRPr lang="en-GB"/>
    </a:defPPr>
    <a:lvl1pPr algn="l" rtl="0" eaLnBrk="0" fontAlgn="base" hangingPunct="0">
      <a:spcBef>
        <a:spcPct val="0"/>
      </a:spcBef>
      <a:spcAft>
        <a:spcPct val="0"/>
      </a:spcAft>
      <a:defRPr sz="2400" kern="1200">
        <a:solidFill>
          <a:schemeClr val="tx1"/>
        </a:solidFill>
        <a:latin typeface="Times"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itchFamily="18" charset="0"/>
        <a:ea typeface="+mn-ea"/>
        <a:cs typeface="+mn-cs"/>
      </a:defRPr>
    </a:lvl5pPr>
    <a:lvl6pPr marL="2286000" algn="l" defTabSz="914400" rtl="0" eaLnBrk="1" latinLnBrk="0" hangingPunct="1">
      <a:defRPr sz="2400" kern="1200">
        <a:solidFill>
          <a:schemeClr val="tx1"/>
        </a:solidFill>
        <a:latin typeface="Times" pitchFamily="18" charset="0"/>
        <a:ea typeface="+mn-ea"/>
        <a:cs typeface="+mn-cs"/>
      </a:defRPr>
    </a:lvl6pPr>
    <a:lvl7pPr marL="2743200" algn="l" defTabSz="914400" rtl="0" eaLnBrk="1" latinLnBrk="0" hangingPunct="1">
      <a:defRPr sz="2400" kern="1200">
        <a:solidFill>
          <a:schemeClr val="tx1"/>
        </a:solidFill>
        <a:latin typeface="Times" pitchFamily="18" charset="0"/>
        <a:ea typeface="+mn-ea"/>
        <a:cs typeface="+mn-cs"/>
      </a:defRPr>
    </a:lvl7pPr>
    <a:lvl8pPr marL="3200400" algn="l" defTabSz="914400" rtl="0" eaLnBrk="1" latinLnBrk="0" hangingPunct="1">
      <a:defRPr sz="2400" kern="1200">
        <a:solidFill>
          <a:schemeClr val="tx1"/>
        </a:solidFill>
        <a:latin typeface="Times" pitchFamily="18" charset="0"/>
        <a:ea typeface="+mn-ea"/>
        <a:cs typeface="+mn-cs"/>
      </a:defRPr>
    </a:lvl8pPr>
    <a:lvl9pPr marL="3657600" algn="l" defTabSz="914400" rtl="0" eaLnBrk="1" latinLnBrk="0" hangingPunct="1">
      <a:defRPr sz="2400" kern="1200">
        <a:solidFill>
          <a:schemeClr val="tx1"/>
        </a:solidFill>
        <a:latin typeface="Times"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53197" autoAdjust="0"/>
  </p:normalViewPr>
  <p:slideViewPr>
    <p:cSldViewPr>
      <p:cViewPr varScale="1">
        <p:scale>
          <a:sx n="65" d="100"/>
          <a:sy n="65" d="100"/>
        </p:scale>
        <p:origin x="3544"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4" d="100"/>
          <a:sy n="54" d="100"/>
        </p:scale>
        <p:origin x="-1152" y="-102"/>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229D8A62-74C2-5242-9BD3-050EC3555325}" type="datetimeFigureOut">
              <a:rPr lang="en-US" smtClean="0"/>
              <a:t>1/24/25</a:t>
            </a:fld>
            <a:endParaRPr lang="en-US"/>
          </a:p>
        </p:txBody>
      </p:sp>
      <p:sp>
        <p:nvSpPr>
          <p:cNvPr id="4" name="Footer Placeholder 3"/>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D2C4F2BC-F496-DB48-8E0C-0CAC888D8F05}" type="slidenum">
              <a:rPr lang="en-US" smtClean="0"/>
              <a:t>‹#›</a:t>
            </a:fld>
            <a:endParaRPr lang="en-US"/>
          </a:p>
        </p:txBody>
      </p:sp>
    </p:spTree>
    <p:extLst>
      <p:ext uri="{BB962C8B-B14F-4D97-AF65-F5344CB8AC3E}">
        <p14:creationId xmlns:p14="http://schemas.microsoft.com/office/powerpoint/2010/main" val="27588365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24579" name="Rectangle 3"/>
          <p:cNvSpPr>
            <a:spLocks noGrp="1" noChangeArrowheads="1"/>
          </p:cNvSpPr>
          <p:nvPr>
            <p:ph type="dt" idx="1"/>
          </p:nvPr>
        </p:nvSpPr>
        <p:spPr bwMode="auto">
          <a:xfrm>
            <a:off x="3850443"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12292"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24581" name="Rectangle 5"/>
          <p:cNvSpPr>
            <a:spLocks noGrp="1" noChangeArrowheads="1"/>
          </p:cNvSpPr>
          <p:nvPr>
            <p:ph type="body" sz="quarter" idx="3"/>
          </p:nvPr>
        </p:nvSpPr>
        <p:spPr bwMode="auto">
          <a:xfrm>
            <a:off x="679768" y="4715907"/>
            <a:ext cx="5438140" cy="446770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4582" name="Rectangle 6"/>
          <p:cNvSpPr>
            <a:spLocks noGrp="1" noChangeArrowheads="1"/>
          </p:cNvSpPr>
          <p:nvPr>
            <p:ph type="ftr" sz="quarter" idx="4"/>
          </p:nvPr>
        </p:nvSpPr>
        <p:spPr bwMode="auto">
          <a:xfrm>
            <a:off x="0" y="9430091"/>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24583" name="Rectangle 7"/>
          <p:cNvSpPr>
            <a:spLocks noGrp="1" noChangeArrowheads="1"/>
          </p:cNvSpPr>
          <p:nvPr>
            <p:ph type="sldNum" sz="quarter" idx="5"/>
          </p:nvPr>
        </p:nvSpPr>
        <p:spPr bwMode="auto">
          <a:xfrm>
            <a:off x="3850443" y="9430091"/>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242D98AC-6B06-4B79-949D-9F6CB8A1B058}" type="slidenum">
              <a:rPr lang="en-GB"/>
              <a:pPr>
                <a:defRPr/>
              </a:pPr>
              <a:t>‹#›</a:t>
            </a:fld>
            <a:endParaRPr lang="en-GB"/>
          </a:p>
        </p:txBody>
      </p:sp>
    </p:spTree>
    <p:extLst>
      <p:ext uri="{BB962C8B-B14F-4D97-AF65-F5344CB8AC3E}">
        <p14:creationId xmlns:p14="http://schemas.microsoft.com/office/powerpoint/2010/main" val="214227927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242D98AC-6B06-4B79-949D-9F6CB8A1B058}" type="slidenum">
              <a:rPr lang="en-GB" smtClean="0"/>
              <a:pPr>
                <a:defRPr/>
              </a:pPr>
              <a:t>1</a:t>
            </a:fld>
            <a:endParaRPr lang="en-GB"/>
          </a:p>
        </p:txBody>
      </p:sp>
    </p:spTree>
    <p:extLst>
      <p:ext uri="{BB962C8B-B14F-4D97-AF65-F5344CB8AC3E}">
        <p14:creationId xmlns:p14="http://schemas.microsoft.com/office/powerpoint/2010/main" val="2221850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242D98AC-6B06-4B79-949D-9F6CB8A1B058}" type="slidenum">
              <a:rPr lang="en-GB" smtClean="0"/>
              <a:pPr>
                <a:defRPr/>
              </a:pPr>
              <a:t>2</a:t>
            </a:fld>
            <a:endParaRPr lang="en-GB"/>
          </a:p>
        </p:txBody>
      </p:sp>
    </p:spTree>
    <p:extLst>
      <p:ext uri="{BB962C8B-B14F-4D97-AF65-F5344CB8AC3E}">
        <p14:creationId xmlns:p14="http://schemas.microsoft.com/office/powerpoint/2010/main" val="26325815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910879B-DDFF-8445-ACB3-6D89FEFF5C20}" type="slidenum">
              <a:rPr lang="en-US" smtClean="0"/>
              <a:t>3</a:t>
            </a:fld>
            <a:endParaRPr lang="en-US"/>
          </a:p>
        </p:txBody>
      </p:sp>
    </p:spTree>
    <p:extLst>
      <p:ext uri="{BB962C8B-B14F-4D97-AF65-F5344CB8AC3E}">
        <p14:creationId xmlns:p14="http://schemas.microsoft.com/office/powerpoint/2010/main" val="3050713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AE2F2-5D2B-B030-4CFB-A462EED964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DB10D9-C77A-B4E3-BD5F-169E5FB0F4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F9D42A-F890-DF29-FFAE-18B3514FB54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8ED2104-771B-832C-F3D0-44756FD70F75}"/>
              </a:ext>
            </a:extLst>
          </p:cNvPr>
          <p:cNvSpPr>
            <a:spLocks noGrp="1"/>
          </p:cNvSpPr>
          <p:nvPr>
            <p:ph type="sldNum" sz="quarter" idx="10"/>
          </p:nvPr>
        </p:nvSpPr>
        <p:spPr/>
        <p:txBody>
          <a:bodyPr/>
          <a:lstStyle/>
          <a:p>
            <a:fld id="{B910879B-DDFF-8445-ACB3-6D89FEFF5C20}" type="slidenum">
              <a:rPr lang="en-US" smtClean="0"/>
              <a:t>4</a:t>
            </a:fld>
            <a:endParaRPr lang="en-US"/>
          </a:p>
        </p:txBody>
      </p:sp>
    </p:spTree>
    <p:extLst>
      <p:ext uri="{BB962C8B-B14F-4D97-AF65-F5344CB8AC3E}">
        <p14:creationId xmlns:p14="http://schemas.microsoft.com/office/powerpoint/2010/main" val="21764965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p:spPr>
      </p:sp>
      <p:sp>
        <p:nvSpPr>
          <p:cNvPr id="57347" name="Notes Placeholder 2"/>
          <p:cNvSpPr>
            <a:spLocks noGrp="1"/>
          </p:cNvSpPr>
          <p:nvPr>
            <p:ph type="body" idx="1"/>
          </p:nvPr>
        </p:nvSpPr>
        <p:spPr bwMode="auto">
          <a:noFill/>
        </p:spPr>
        <p:txBody>
          <a:bodyPr/>
          <a:lstStyle/>
          <a:p>
            <a:pPr eaLnBrk="1" hangingPunct="1"/>
            <a:endParaRPr lang="en-GB" dirty="0"/>
          </a:p>
        </p:txBody>
      </p:sp>
      <p:sp>
        <p:nvSpPr>
          <p:cNvPr id="57348" name="Slide Number Placeholder 3"/>
          <p:cNvSpPr>
            <a:spLocks noGrp="1"/>
          </p:cNvSpPr>
          <p:nvPr>
            <p:ph type="sldNum" sz="quarter" idx="5"/>
          </p:nvPr>
        </p:nvSpPr>
        <p:spPr bwMode="auto">
          <a:noFill/>
          <a:ln>
            <a:miter lim="800000"/>
            <a:headEnd/>
            <a:tailEnd/>
          </a:ln>
        </p:spPr>
        <p:txBody>
          <a:bodyPr/>
          <a:lstStyle/>
          <a:p>
            <a:fld id="{96B36802-D9E9-4CEC-9C21-B364F53A60B8}" type="slidenum">
              <a:rPr lang="en-US" smtClean="0"/>
              <a:pPr/>
              <a:t>5</a:t>
            </a:fld>
            <a:endParaRPr lang="en-US"/>
          </a:p>
        </p:txBody>
      </p:sp>
    </p:spTree>
    <p:extLst>
      <p:ext uri="{BB962C8B-B14F-4D97-AF65-F5344CB8AC3E}">
        <p14:creationId xmlns:p14="http://schemas.microsoft.com/office/powerpoint/2010/main" val="12600623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242D98AC-6B06-4B79-949D-9F6CB8A1B058}" type="slidenum">
              <a:rPr lang="en-GB" smtClean="0"/>
              <a:pPr>
                <a:defRPr/>
              </a:pPr>
              <a:t>6</a:t>
            </a:fld>
            <a:endParaRPr lang="en-GB"/>
          </a:p>
        </p:txBody>
      </p:sp>
    </p:spTree>
    <p:extLst>
      <p:ext uri="{BB962C8B-B14F-4D97-AF65-F5344CB8AC3E}">
        <p14:creationId xmlns:p14="http://schemas.microsoft.com/office/powerpoint/2010/main" val="34325496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910879B-DDFF-8445-ACB3-6D89FEFF5C20}" type="slidenum">
              <a:rPr lang="en-US" smtClean="0"/>
              <a:t>7</a:t>
            </a:fld>
            <a:endParaRPr lang="en-US"/>
          </a:p>
        </p:txBody>
      </p:sp>
    </p:spTree>
    <p:extLst>
      <p:ext uri="{BB962C8B-B14F-4D97-AF65-F5344CB8AC3E}">
        <p14:creationId xmlns:p14="http://schemas.microsoft.com/office/powerpoint/2010/main" val="14200116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910879B-DDFF-8445-ACB3-6D89FEFF5C20}" type="slidenum">
              <a:rPr lang="en-US" smtClean="0"/>
              <a:t>8</a:t>
            </a:fld>
            <a:endParaRPr lang="en-US"/>
          </a:p>
        </p:txBody>
      </p:sp>
    </p:spTree>
    <p:extLst>
      <p:ext uri="{BB962C8B-B14F-4D97-AF65-F5344CB8AC3E}">
        <p14:creationId xmlns:p14="http://schemas.microsoft.com/office/powerpoint/2010/main" val="27628001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910879B-DDFF-8445-ACB3-6D89FEFF5C20}" type="slidenum">
              <a:rPr lang="en-US" smtClean="0"/>
              <a:t>9</a:t>
            </a:fld>
            <a:endParaRPr lang="en-US"/>
          </a:p>
        </p:txBody>
      </p:sp>
    </p:spTree>
    <p:extLst>
      <p:ext uri="{BB962C8B-B14F-4D97-AF65-F5344CB8AC3E}">
        <p14:creationId xmlns:p14="http://schemas.microsoft.com/office/powerpoint/2010/main" val="37544784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910879B-DDFF-8445-ACB3-6D89FEFF5C20}" type="slidenum">
              <a:rPr lang="en-US" smtClean="0"/>
              <a:t>10</a:t>
            </a:fld>
            <a:endParaRPr lang="en-US"/>
          </a:p>
        </p:txBody>
      </p:sp>
    </p:spTree>
    <p:extLst>
      <p:ext uri="{BB962C8B-B14F-4D97-AF65-F5344CB8AC3E}">
        <p14:creationId xmlns:p14="http://schemas.microsoft.com/office/powerpoint/2010/main" val="170115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01D942-2252-404E-BB47-55118FCCCA36}" type="slidenum">
              <a:rPr lang="en-US" smtClean="0"/>
              <a:t>11</a:t>
            </a:fld>
            <a:endParaRPr lang="en-US"/>
          </a:p>
        </p:txBody>
      </p:sp>
    </p:spTree>
    <p:extLst>
      <p:ext uri="{BB962C8B-B14F-4D97-AF65-F5344CB8AC3E}">
        <p14:creationId xmlns:p14="http://schemas.microsoft.com/office/powerpoint/2010/main" val="18286199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mn-lt"/>
            </a:endParaRPr>
          </a:p>
        </p:txBody>
      </p:sp>
      <p:sp>
        <p:nvSpPr>
          <p:cNvPr id="4" name="Slide Number Placeholder 3"/>
          <p:cNvSpPr>
            <a:spLocks noGrp="1"/>
          </p:cNvSpPr>
          <p:nvPr>
            <p:ph type="sldNum" sz="quarter" idx="10"/>
          </p:nvPr>
        </p:nvSpPr>
        <p:spPr/>
        <p:txBody>
          <a:bodyPr/>
          <a:lstStyle/>
          <a:p>
            <a:fld id="{4301D942-2252-404E-BB47-55118FCCCA36}" type="slidenum">
              <a:rPr lang="en-US" smtClean="0"/>
              <a:t>12</a:t>
            </a:fld>
            <a:endParaRPr lang="en-US"/>
          </a:p>
        </p:txBody>
      </p:sp>
    </p:spTree>
    <p:extLst>
      <p:ext uri="{BB962C8B-B14F-4D97-AF65-F5344CB8AC3E}">
        <p14:creationId xmlns:p14="http://schemas.microsoft.com/office/powerpoint/2010/main" val="26159572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mn-lt"/>
            </a:endParaRPr>
          </a:p>
        </p:txBody>
      </p:sp>
      <p:sp>
        <p:nvSpPr>
          <p:cNvPr id="4" name="Slide Number Placeholder 3"/>
          <p:cNvSpPr>
            <a:spLocks noGrp="1"/>
          </p:cNvSpPr>
          <p:nvPr>
            <p:ph type="sldNum" sz="quarter" idx="10"/>
          </p:nvPr>
        </p:nvSpPr>
        <p:spPr/>
        <p:txBody>
          <a:bodyPr/>
          <a:lstStyle/>
          <a:p>
            <a:fld id="{4301D942-2252-404E-BB47-55118FCCCA36}" type="slidenum">
              <a:rPr lang="en-US" smtClean="0"/>
              <a:t>13</a:t>
            </a:fld>
            <a:endParaRPr lang="en-US"/>
          </a:p>
        </p:txBody>
      </p:sp>
    </p:spTree>
    <p:extLst>
      <p:ext uri="{BB962C8B-B14F-4D97-AF65-F5344CB8AC3E}">
        <p14:creationId xmlns:p14="http://schemas.microsoft.com/office/powerpoint/2010/main" val="17939528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01D942-2252-404E-BB47-55118FCCCA36}" type="slidenum">
              <a:rPr lang="en-US" smtClean="0"/>
              <a:t>14</a:t>
            </a:fld>
            <a:endParaRPr lang="en-US"/>
          </a:p>
        </p:txBody>
      </p:sp>
    </p:spTree>
    <p:extLst>
      <p:ext uri="{BB962C8B-B14F-4D97-AF65-F5344CB8AC3E}">
        <p14:creationId xmlns:p14="http://schemas.microsoft.com/office/powerpoint/2010/main" val="26800101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01D942-2252-404E-BB47-55118FCCCA36}" type="slidenum">
              <a:rPr lang="en-US" smtClean="0"/>
              <a:t>15</a:t>
            </a:fld>
            <a:endParaRPr lang="en-US"/>
          </a:p>
        </p:txBody>
      </p:sp>
    </p:spTree>
    <p:extLst>
      <p:ext uri="{BB962C8B-B14F-4D97-AF65-F5344CB8AC3E}">
        <p14:creationId xmlns:p14="http://schemas.microsoft.com/office/powerpoint/2010/main" val="35348925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01D942-2252-404E-BB47-55118FCCCA36}" type="slidenum">
              <a:rPr lang="en-US" smtClean="0"/>
              <a:t>16</a:t>
            </a:fld>
            <a:endParaRPr lang="en-US"/>
          </a:p>
        </p:txBody>
      </p:sp>
    </p:spTree>
    <p:extLst>
      <p:ext uri="{BB962C8B-B14F-4D97-AF65-F5344CB8AC3E}">
        <p14:creationId xmlns:p14="http://schemas.microsoft.com/office/powerpoint/2010/main" val="22221839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0"/>
            <a:ext cx="9144000" cy="5516563"/>
          </a:xfrm>
          <a:prstGeom prst="rect">
            <a:avLst/>
          </a:prstGeom>
          <a:solidFill>
            <a:srgbClr val="66336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a:solidFill>
                <a:srgbClr val="663366"/>
              </a:solidFill>
            </a:endParaRPr>
          </a:p>
        </p:txBody>
      </p:sp>
      <p:pic>
        <p:nvPicPr>
          <p:cNvPr id="5"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203" name="Rectangle 11"/>
          <p:cNvSpPr>
            <a:spLocks noGrp="1" noChangeArrowheads="1"/>
          </p:cNvSpPr>
          <p:nvPr>
            <p:ph type="ctrTitle" sz="quarter"/>
          </p:nvPr>
        </p:nvSpPr>
        <p:spPr>
          <a:xfrm>
            <a:off x="755650" y="476250"/>
            <a:ext cx="7772400" cy="1470025"/>
          </a:xfrm>
        </p:spPr>
        <p:txBody>
          <a:bodyPr/>
          <a:lstStyle>
            <a:lvl1pPr>
              <a:defRPr>
                <a:solidFill>
                  <a:schemeClr val="bg1"/>
                </a:solidFill>
              </a:defRPr>
            </a:lvl1pPr>
          </a:lstStyle>
          <a:p>
            <a:r>
              <a:rPr lang="en-GB"/>
              <a:t>Click to edit Master title style</a:t>
            </a:r>
          </a:p>
        </p:txBody>
      </p:sp>
      <p:sp>
        <p:nvSpPr>
          <p:cNvPr id="8204" name="Rectangle 12"/>
          <p:cNvSpPr>
            <a:spLocks noGrp="1" noChangeArrowheads="1"/>
          </p:cNvSpPr>
          <p:nvPr>
            <p:ph type="subTitle" sz="quarter" idx="1"/>
          </p:nvPr>
        </p:nvSpPr>
        <p:spPr>
          <a:xfrm>
            <a:off x="827088" y="2420938"/>
            <a:ext cx="7561262" cy="1752600"/>
          </a:xfrm>
        </p:spPr>
        <p:txBody>
          <a:bodyPr/>
          <a:lstStyle>
            <a:lvl1pPr marL="0" indent="0">
              <a:defRPr b="1">
                <a:solidFill>
                  <a:schemeClr val="bg1"/>
                </a:solidFill>
              </a:defRPr>
            </a:lvl1pPr>
          </a:lstStyle>
          <a:p>
            <a:r>
              <a:rPr lang="en-GB"/>
              <a:t>Click to edit Master subtitle style</a:t>
            </a:r>
          </a:p>
        </p:txBody>
      </p:sp>
      <p:sp>
        <p:nvSpPr>
          <p:cNvPr id="6" name="Rectangle 6"/>
          <p:cNvSpPr>
            <a:spLocks noGrp="1" noChangeArrowheads="1"/>
          </p:cNvSpPr>
          <p:nvPr>
            <p:ph type="sldNum" sz="quarter" idx="10"/>
          </p:nvPr>
        </p:nvSpPr>
        <p:spPr>
          <a:xfrm>
            <a:off x="6553200" y="6245225"/>
            <a:ext cx="2133600" cy="476250"/>
          </a:xfrm>
        </p:spPr>
        <p:txBody>
          <a:bodyPr/>
          <a:lstStyle>
            <a:lvl1pPr>
              <a:defRPr/>
            </a:lvl1pPr>
          </a:lstStyle>
          <a:p>
            <a:pPr>
              <a:defRPr/>
            </a:pPr>
            <a:fld id="{F71726C1-1128-4479-BE45-4CD17A5EDFFA}" type="slidenum">
              <a:rPr lang="en-GB"/>
              <a:pPr>
                <a:defRPr/>
              </a:pPr>
              <a:t>‹#›</a:t>
            </a:fld>
            <a:endParaRPr lang="en-GB"/>
          </a:p>
        </p:txBody>
      </p:sp>
    </p:spTree>
    <p:extLst>
      <p:ext uri="{BB962C8B-B14F-4D97-AF65-F5344CB8AC3E}">
        <p14:creationId xmlns:p14="http://schemas.microsoft.com/office/powerpoint/2010/main" val="3632303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34C983E8-1028-4BC1-9CFE-648A544E8455}" type="slidenum">
              <a:rPr lang="en-GB"/>
              <a:pPr>
                <a:defRPr/>
              </a:pPr>
              <a:t>‹#›</a:t>
            </a:fld>
            <a:endParaRPr lang="en-GB"/>
          </a:p>
        </p:txBody>
      </p:sp>
    </p:spTree>
    <p:extLst>
      <p:ext uri="{BB962C8B-B14F-4D97-AF65-F5344CB8AC3E}">
        <p14:creationId xmlns:p14="http://schemas.microsoft.com/office/powerpoint/2010/main" val="807378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A8B9E8DC-36F4-4970-9B12-3B0C0F30B5E3}" type="slidenum">
              <a:rPr lang="en-GB"/>
              <a:pPr>
                <a:defRPr/>
              </a:pPr>
              <a:t>‹#›</a:t>
            </a:fld>
            <a:endParaRPr lang="en-GB"/>
          </a:p>
        </p:txBody>
      </p:sp>
    </p:spTree>
    <p:extLst>
      <p:ext uri="{BB962C8B-B14F-4D97-AF65-F5344CB8AC3E}">
        <p14:creationId xmlns:p14="http://schemas.microsoft.com/office/powerpoint/2010/main" val="3377636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42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EFD4B6AE-D3EF-4CE1-BD2E-0DC8DE26E7EC}" type="slidenum">
              <a:rPr lang="en-GB"/>
              <a:pPr>
                <a:defRPr/>
              </a:pPr>
              <a:t>‹#›</a:t>
            </a:fld>
            <a:endParaRPr lang="en-GB"/>
          </a:p>
        </p:txBody>
      </p:sp>
    </p:spTree>
    <p:extLst>
      <p:ext uri="{BB962C8B-B14F-4D97-AF65-F5344CB8AC3E}">
        <p14:creationId xmlns:p14="http://schemas.microsoft.com/office/powerpoint/2010/main" val="1441939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B39FF88D-FF8B-4748-9EA9-7DC520BD5BA0}" type="slidenum">
              <a:rPr lang="en-GB"/>
              <a:pPr>
                <a:defRPr/>
              </a:pPr>
              <a:t>‹#›</a:t>
            </a:fld>
            <a:endParaRPr lang="en-GB"/>
          </a:p>
        </p:txBody>
      </p:sp>
    </p:spTree>
    <p:extLst>
      <p:ext uri="{BB962C8B-B14F-4D97-AF65-F5344CB8AC3E}">
        <p14:creationId xmlns:p14="http://schemas.microsoft.com/office/powerpoint/2010/main" val="2694803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88C4EA3E-64A1-4BE8-9E90-BCA1288A255F}" type="slidenum">
              <a:rPr lang="en-GB"/>
              <a:pPr>
                <a:defRPr/>
              </a:pPr>
              <a:t>‹#›</a:t>
            </a:fld>
            <a:endParaRPr lang="en-GB"/>
          </a:p>
        </p:txBody>
      </p:sp>
    </p:spTree>
    <p:extLst>
      <p:ext uri="{BB962C8B-B14F-4D97-AF65-F5344CB8AC3E}">
        <p14:creationId xmlns:p14="http://schemas.microsoft.com/office/powerpoint/2010/main" val="2278755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244B6736-DFC6-43C1-895E-67B06B98272A}" type="slidenum">
              <a:rPr lang="en-GB"/>
              <a:pPr>
                <a:defRPr/>
              </a:pPr>
              <a:t>‹#›</a:t>
            </a:fld>
            <a:endParaRPr lang="en-GB"/>
          </a:p>
        </p:txBody>
      </p:sp>
    </p:spTree>
    <p:extLst>
      <p:ext uri="{BB962C8B-B14F-4D97-AF65-F5344CB8AC3E}">
        <p14:creationId xmlns:p14="http://schemas.microsoft.com/office/powerpoint/2010/main" val="439199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24D35581-CF58-4CC2-91C4-5F75D839D234}" type="slidenum">
              <a:rPr lang="en-GB"/>
              <a:pPr>
                <a:defRPr/>
              </a:pPr>
              <a:t>‹#›</a:t>
            </a:fld>
            <a:endParaRPr lang="en-GB"/>
          </a:p>
        </p:txBody>
      </p:sp>
    </p:spTree>
    <p:extLst>
      <p:ext uri="{BB962C8B-B14F-4D97-AF65-F5344CB8AC3E}">
        <p14:creationId xmlns:p14="http://schemas.microsoft.com/office/powerpoint/2010/main" val="3965196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6C3362D1-CB0C-4683-8025-7FC8116F6589}" type="slidenum">
              <a:rPr lang="en-GB"/>
              <a:pPr>
                <a:defRPr/>
              </a:pPr>
              <a:t>‹#›</a:t>
            </a:fld>
            <a:endParaRPr lang="en-GB"/>
          </a:p>
        </p:txBody>
      </p:sp>
    </p:spTree>
    <p:extLst>
      <p:ext uri="{BB962C8B-B14F-4D97-AF65-F5344CB8AC3E}">
        <p14:creationId xmlns:p14="http://schemas.microsoft.com/office/powerpoint/2010/main" val="1890904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CCDB42C-3168-40D0-B126-AAE104389456}" type="slidenum">
              <a:rPr lang="en-GB"/>
              <a:pPr>
                <a:defRPr/>
              </a:pPr>
              <a:t>‹#›</a:t>
            </a:fld>
            <a:endParaRPr lang="en-GB"/>
          </a:p>
        </p:txBody>
      </p:sp>
    </p:spTree>
    <p:extLst>
      <p:ext uri="{BB962C8B-B14F-4D97-AF65-F5344CB8AC3E}">
        <p14:creationId xmlns:p14="http://schemas.microsoft.com/office/powerpoint/2010/main" val="4100691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4213" y="609600"/>
            <a:ext cx="5678487" cy="5195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49B049E5-00CC-42C8-9A2C-41186B9985CD}" type="slidenum">
              <a:rPr lang="en-GB"/>
              <a:pPr>
                <a:defRPr/>
              </a:pPr>
              <a:t>‹#›</a:t>
            </a:fld>
            <a:endParaRPr lang="en-GB"/>
          </a:p>
        </p:txBody>
      </p:sp>
    </p:spTree>
    <p:extLst>
      <p:ext uri="{BB962C8B-B14F-4D97-AF65-F5344CB8AC3E}">
        <p14:creationId xmlns:p14="http://schemas.microsoft.com/office/powerpoint/2010/main" val="3615769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p:cNvSpPr>
            <a:spLocks noChangeArrowheads="1"/>
          </p:cNvSpPr>
          <p:nvPr userDrawn="1"/>
        </p:nvSpPr>
        <p:spPr bwMode="auto">
          <a:xfrm>
            <a:off x="0" y="0"/>
            <a:ext cx="9140825" cy="6873875"/>
          </a:xfrm>
          <a:prstGeom prst="rect">
            <a:avLst/>
          </a:prstGeom>
          <a:solidFill>
            <a:srgbClr val="66336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r>
              <a:rPr lang="en-GB" altLang="en-US">
                <a:solidFill>
                  <a:srgbClr val="663366"/>
                </a:solidFill>
              </a:rPr>
              <a:t>∂</a:t>
            </a:r>
          </a:p>
        </p:txBody>
      </p:sp>
      <p:sp>
        <p:nvSpPr>
          <p:cNvPr id="1027" name="Rectangle 8"/>
          <p:cNvSpPr>
            <a:spLocks noChangeArrowheads="1"/>
          </p:cNvSpPr>
          <p:nvPr userDrawn="1"/>
        </p:nvSpPr>
        <p:spPr bwMode="auto">
          <a:xfrm>
            <a:off x="107950" y="107950"/>
            <a:ext cx="8924925" cy="665797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a:solidFill>
                <a:srgbClr val="663366"/>
              </a:solidFill>
            </a:endParaRPr>
          </a:p>
        </p:txBody>
      </p:sp>
      <p:sp>
        <p:nvSpPr>
          <p:cNvPr id="1028"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Heading style</a:t>
            </a:r>
          </a:p>
        </p:txBody>
      </p:sp>
      <p:sp>
        <p:nvSpPr>
          <p:cNvPr id="1029" name="Rectangle 3"/>
          <p:cNvSpPr>
            <a:spLocks noGrp="1" noChangeArrowheads="1"/>
          </p:cNvSpPr>
          <p:nvPr>
            <p:ph type="body" idx="1"/>
          </p:nvPr>
        </p:nvSpPr>
        <p:spPr bwMode="auto">
          <a:xfrm>
            <a:off x="684213" y="1989138"/>
            <a:ext cx="7772400" cy="38163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2"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GB"/>
          </a:p>
        </p:txBody>
      </p:sp>
      <p:sp>
        <p:nvSpPr>
          <p:cNvPr id="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GB"/>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E12D67B0-B4C9-4845-85BE-85F4A7F9ABA9}" type="slidenum">
              <a:rPr lang="en-GB"/>
              <a:pPr>
                <a:defRPr/>
              </a:pPr>
              <a:t>‹#›</a:t>
            </a:fld>
            <a:endParaRPr lang="en-GB"/>
          </a:p>
        </p:txBody>
      </p:sp>
      <p:sp>
        <p:nvSpPr>
          <p:cNvPr id="1033" name="Rectangle 9"/>
          <p:cNvSpPr>
            <a:spLocks noChangeArrowheads="1"/>
          </p:cNvSpPr>
          <p:nvPr userDrawn="1"/>
        </p:nvSpPr>
        <p:spPr bwMode="auto">
          <a:xfrm>
            <a:off x="790575" y="611188"/>
            <a:ext cx="8024813"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defRPr/>
            </a:pPr>
            <a:endParaRPr lang="en-US" altLang="en-US" sz="4400">
              <a:solidFill>
                <a:schemeClr val="bg1"/>
              </a:solidFill>
            </a:endParaRPr>
          </a:p>
        </p:txBody>
      </p:sp>
      <p:sp>
        <p:nvSpPr>
          <p:cNvPr id="1034" name="Rectangle 10"/>
          <p:cNvSpPr>
            <a:spLocks noChangeArrowheads="1"/>
          </p:cNvSpPr>
          <p:nvPr userDrawn="1"/>
        </p:nvSpPr>
        <p:spPr bwMode="auto">
          <a:xfrm>
            <a:off x="790575" y="1798638"/>
            <a:ext cx="8024813" cy="38131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spcBef>
                <a:spcPct val="20000"/>
              </a:spcBef>
              <a:defRPr/>
            </a:pPr>
            <a:endParaRPr lang="en-US" altLang="en-US" sz="1800" b="1">
              <a:solidFill>
                <a:schemeClr val="bg1"/>
              </a:solidFill>
              <a:latin typeface="Arial" charset="0"/>
            </a:endParaRPr>
          </a:p>
        </p:txBody>
      </p:sp>
      <p:pic>
        <p:nvPicPr>
          <p:cNvPr id="1035" name="Picture 11"/>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31"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rtl="0" eaLnBrk="0" fontAlgn="base" hangingPunct="0">
        <a:spcBef>
          <a:spcPct val="0"/>
        </a:spcBef>
        <a:spcAft>
          <a:spcPct val="0"/>
        </a:spcAft>
        <a:defRPr sz="4400">
          <a:solidFill>
            <a:srgbClr val="663366"/>
          </a:solidFill>
          <a:latin typeface="+mj-lt"/>
          <a:ea typeface="+mj-ea"/>
          <a:cs typeface="+mj-cs"/>
        </a:defRPr>
      </a:lvl1pPr>
      <a:lvl2pPr algn="l" rtl="0" eaLnBrk="0" fontAlgn="base" hangingPunct="0">
        <a:spcBef>
          <a:spcPct val="0"/>
        </a:spcBef>
        <a:spcAft>
          <a:spcPct val="0"/>
        </a:spcAft>
        <a:defRPr sz="4400">
          <a:solidFill>
            <a:srgbClr val="663366"/>
          </a:solidFill>
          <a:latin typeface="Times" pitchFamily="18" charset="0"/>
        </a:defRPr>
      </a:lvl2pPr>
      <a:lvl3pPr algn="l" rtl="0" eaLnBrk="0" fontAlgn="base" hangingPunct="0">
        <a:spcBef>
          <a:spcPct val="0"/>
        </a:spcBef>
        <a:spcAft>
          <a:spcPct val="0"/>
        </a:spcAft>
        <a:defRPr sz="4400">
          <a:solidFill>
            <a:srgbClr val="663366"/>
          </a:solidFill>
          <a:latin typeface="Times" pitchFamily="18" charset="0"/>
        </a:defRPr>
      </a:lvl3pPr>
      <a:lvl4pPr algn="l" rtl="0" eaLnBrk="0" fontAlgn="base" hangingPunct="0">
        <a:spcBef>
          <a:spcPct val="0"/>
        </a:spcBef>
        <a:spcAft>
          <a:spcPct val="0"/>
        </a:spcAft>
        <a:defRPr sz="4400">
          <a:solidFill>
            <a:srgbClr val="663366"/>
          </a:solidFill>
          <a:latin typeface="Times" pitchFamily="18" charset="0"/>
        </a:defRPr>
      </a:lvl4pPr>
      <a:lvl5pPr algn="l" rtl="0" eaLnBrk="0" fontAlgn="base" hangingPunct="0">
        <a:spcBef>
          <a:spcPct val="0"/>
        </a:spcBef>
        <a:spcAft>
          <a:spcPct val="0"/>
        </a:spcAft>
        <a:defRPr sz="4400">
          <a:solidFill>
            <a:srgbClr val="663366"/>
          </a:solidFill>
          <a:latin typeface="Times" pitchFamily="18" charset="0"/>
        </a:defRPr>
      </a:lvl5pPr>
      <a:lvl6pPr marL="457200" algn="l" rtl="0" fontAlgn="base">
        <a:spcBef>
          <a:spcPct val="0"/>
        </a:spcBef>
        <a:spcAft>
          <a:spcPct val="0"/>
        </a:spcAft>
        <a:defRPr sz="4400">
          <a:solidFill>
            <a:srgbClr val="663366"/>
          </a:solidFill>
          <a:latin typeface="Times" pitchFamily="18" charset="0"/>
        </a:defRPr>
      </a:lvl6pPr>
      <a:lvl7pPr marL="914400" algn="l" rtl="0" fontAlgn="base">
        <a:spcBef>
          <a:spcPct val="0"/>
        </a:spcBef>
        <a:spcAft>
          <a:spcPct val="0"/>
        </a:spcAft>
        <a:defRPr sz="4400">
          <a:solidFill>
            <a:srgbClr val="663366"/>
          </a:solidFill>
          <a:latin typeface="Times" pitchFamily="18" charset="0"/>
        </a:defRPr>
      </a:lvl7pPr>
      <a:lvl8pPr marL="1371600" algn="l" rtl="0" fontAlgn="base">
        <a:spcBef>
          <a:spcPct val="0"/>
        </a:spcBef>
        <a:spcAft>
          <a:spcPct val="0"/>
        </a:spcAft>
        <a:defRPr sz="4400">
          <a:solidFill>
            <a:srgbClr val="663366"/>
          </a:solidFill>
          <a:latin typeface="Times" pitchFamily="18" charset="0"/>
        </a:defRPr>
      </a:lvl8pPr>
      <a:lvl9pPr marL="1828800" algn="l" rtl="0" fontAlgn="base">
        <a:spcBef>
          <a:spcPct val="0"/>
        </a:spcBef>
        <a:spcAft>
          <a:spcPct val="0"/>
        </a:spcAft>
        <a:defRPr sz="4400">
          <a:solidFill>
            <a:srgbClr val="663366"/>
          </a:solidFill>
          <a:latin typeface="Times" pitchFamily="18"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sz="1600">
          <a:solidFill>
            <a:schemeClr val="tx1"/>
          </a:solidFill>
          <a:latin typeface="+mn-lt"/>
        </a:defRPr>
      </a:lvl2pPr>
      <a:lvl3pPr marL="1143000" indent="-228600" algn="l" rtl="0" eaLnBrk="0" fontAlgn="base" hangingPunct="0">
        <a:spcBef>
          <a:spcPct val="20000"/>
        </a:spcBef>
        <a:spcAft>
          <a:spcPct val="0"/>
        </a:spcAft>
        <a:buChar char="•"/>
        <a:defRPr sz="1400">
          <a:solidFill>
            <a:schemeClr val="tx1"/>
          </a:solidFill>
          <a:latin typeface="+mn-lt"/>
        </a:defRPr>
      </a:lvl3pPr>
      <a:lvl4pPr marL="1600200" indent="-228600" algn="l" rtl="0" eaLnBrk="0" fontAlgn="base" hangingPunct="0">
        <a:spcBef>
          <a:spcPct val="20000"/>
        </a:spcBef>
        <a:spcAft>
          <a:spcPct val="0"/>
        </a:spcAft>
        <a:buChar char="–"/>
        <a:defRPr sz="1200">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ctrTitle" sz="quarter"/>
          </p:nvPr>
        </p:nvSpPr>
        <p:spPr/>
        <p:txBody>
          <a:bodyPr>
            <a:normAutofit fontScale="90000"/>
          </a:bodyPr>
          <a:lstStyle/>
          <a:p>
            <a:pPr algn="ctr" eaLnBrk="1" hangingPunct="1"/>
            <a:r>
              <a:rPr lang="en-GB" altLang="en-US" dirty="0">
                <a:latin typeface="Calibri" panose="020F0502020204030204" pitchFamily="34" charset="0"/>
              </a:rPr>
              <a:t>Contemporary Issues in the Law of the Internal Market 2024/2025</a:t>
            </a:r>
          </a:p>
        </p:txBody>
      </p:sp>
      <p:sp>
        <p:nvSpPr>
          <p:cNvPr id="10243" name="Subtitle 2"/>
          <p:cNvSpPr>
            <a:spLocks noGrp="1"/>
          </p:cNvSpPr>
          <p:nvPr>
            <p:ph type="subTitle" sz="quarter" idx="1"/>
          </p:nvPr>
        </p:nvSpPr>
        <p:spPr/>
        <p:txBody>
          <a:bodyPr>
            <a:normAutofit fontScale="92500" lnSpcReduction="10000"/>
          </a:bodyPr>
          <a:lstStyle/>
          <a:p>
            <a:pPr eaLnBrk="1" hangingPunct="1">
              <a:lnSpc>
                <a:spcPct val="110000"/>
              </a:lnSpc>
              <a:spcBef>
                <a:spcPct val="0"/>
              </a:spcBef>
            </a:pPr>
            <a:r>
              <a:rPr lang="en-GB" altLang="en-US" sz="2200" dirty="0">
                <a:latin typeface="Calibri" panose="020F0502020204030204" pitchFamily="34" charset="0"/>
              </a:rPr>
              <a:t>Lecture 12: Free Movement of Workers</a:t>
            </a:r>
          </a:p>
          <a:p>
            <a:pPr eaLnBrk="1" hangingPunct="1">
              <a:lnSpc>
                <a:spcPct val="110000"/>
              </a:lnSpc>
              <a:spcBef>
                <a:spcPct val="0"/>
              </a:spcBef>
            </a:pPr>
            <a:endParaRPr lang="en-GB" altLang="en-US" sz="2200" dirty="0">
              <a:latin typeface="Calibri" panose="020F0502020204030204" pitchFamily="34" charset="0"/>
            </a:endParaRPr>
          </a:p>
          <a:p>
            <a:pPr eaLnBrk="1" hangingPunct="1">
              <a:lnSpc>
                <a:spcPct val="110000"/>
              </a:lnSpc>
              <a:spcBef>
                <a:spcPct val="0"/>
              </a:spcBef>
            </a:pPr>
            <a:r>
              <a:rPr lang="en-GB" altLang="en-US" sz="2200" dirty="0">
                <a:latin typeface="Calibri" panose="020F0502020204030204" pitchFamily="34" charset="0"/>
              </a:rPr>
              <a:t>Prof Pierre Schammo</a:t>
            </a:r>
          </a:p>
          <a:p>
            <a:pPr eaLnBrk="1" hangingPunct="1">
              <a:lnSpc>
                <a:spcPct val="110000"/>
              </a:lnSpc>
              <a:spcBef>
                <a:spcPct val="0"/>
              </a:spcBef>
            </a:pPr>
            <a:endParaRPr lang="en-GB" altLang="en-US" sz="2200" dirty="0">
              <a:latin typeface="Calibri" panose="020F0502020204030204" pitchFamily="34" charset="0"/>
            </a:endParaRPr>
          </a:p>
          <a:p>
            <a:pPr eaLnBrk="1" hangingPunct="1">
              <a:lnSpc>
                <a:spcPct val="110000"/>
              </a:lnSpc>
              <a:spcBef>
                <a:spcPct val="0"/>
              </a:spcBef>
            </a:pPr>
            <a:r>
              <a:rPr lang="en-GB" altLang="en-US" sz="2200" dirty="0">
                <a:latin typeface="Calibri" panose="020F0502020204030204" pitchFamily="34" charset="0"/>
              </a:rPr>
              <a:t>pierre.schammo@durham.ac.uk  </a:t>
            </a:r>
            <a:endParaRPr lang="en-GB" altLang="en-US" sz="2200" dirty="0">
              <a:solidFill>
                <a:srgbClr val="663366"/>
              </a:solidFill>
              <a:latin typeface="Calibri" panose="020F0502020204030204" pitchFamily="34" charset="0"/>
            </a:endParaRPr>
          </a:p>
          <a:p>
            <a:pPr eaLnBrk="1" hangingPunct="1"/>
            <a:endParaRPr lang="en-GB" altLang="en-US" sz="2200" dirty="0">
              <a:latin typeface="Calibri" panose="020F0502020204030204" pitchFamily="34" charset="0"/>
            </a:endParaRPr>
          </a:p>
        </p:txBody>
      </p:sp>
    </p:spTree>
    <p:extLst>
      <p:ext uri="{BB962C8B-B14F-4D97-AF65-F5344CB8AC3E}">
        <p14:creationId xmlns:p14="http://schemas.microsoft.com/office/powerpoint/2010/main" val="22846159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FC774-0B8D-F441-8DBF-C931C2DF5D1C}"/>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53E2617F-0948-454F-9D69-3CD76A5872B7}"/>
              </a:ext>
            </a:extLst>
          </p:cNvPr>
          <p:cNvSpPr>
            <a:spLocks noGrp="1"/>
          </p:cNvSpPr>
          <p:nvPr>
            <p:ph idx="1"/>
          </p:nvPr>
        </p:nvSpPr>
        <p:spPr>
          <a:xfrm>
            <a:off x="685800" y="1752600"/>
            <a:ext cx="7772400" cy="4196680"/>
          </a:xfrm>
        </p:spPr>
        <p:txBody>
          <a:bodyPr/>
          <a:lstStyle/>
          <a:p>
            <a:pPr>
              <a:buFont typeface="Arial" panose="020B0604020202020204" pitchFamily="34" charset="0"/>
              <a:buChar char="•"/>
            </a:pPr>
            <a:r>
              <a:rPr lang="en-US" sz="2500" dirty="0"/>
              <a:t>Finish with (first time) job seekers</a:t>
            </a:r>
          </a:p>
          <a:p>
            <a:pPr marL="0" indent="0"/>
            <a:endParaRPr lang="en-US" sz="2500" dirty="0"/>
          </a:p>
          <a:p>
            <a:pPr>
              <a:buFont typeface="Arial" panose="020B0604020202020204" pitchFamily="34" charset="0"/>
              <a:buChar char="•"/>
            </a:pPr>
            <a:r>
              <a:rPr lang="en-US" sz="2500" dirty="0"/>
              <a:t>Rights of Workers</a:t>
            </a:r>
          </a:p>
        </p:txBody>
      </p:sp>
    </p:spTree>
    <p:extLst>
      <p:ext uri="{BB962C8B-B14F-4D97-AF65-F5344CB8AC3E}">
        <p14:creationId xmlns:p14="http://schemas.microsoft.com/office/powerpoint/2010/main" val="1841055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04664"/>
            <a:ext cx="7772400" cy="792088"/>
          </a:xfrm>
        </p:spPr>
        <p:txBody>
          <a:bodyPr/>
          <a:lstStyle/>
          <a:p>
            <a:r>
              <a:rPr lang="en-US" dirty="0"/>
              <a:t>Rights of job seekers</a:t>
            </a:r>
          </a:p>
        </p:txBody>
      </p:sp>
      <p:sp>
        <p:nvSpPr>
          <p:cNvPr id="3" name="Content Placeholder 2"/>
          <p:cNvSpPr>
            <a:spLocks noGrp="1"/>
          </p:cNvSpPr>
          <p:nvPr>
            <p:ph idx="1"/>
          </p:nvPr>
        </p:nvSpPr>
        <p:spPr>
          <a:xfrm>
            <a:off x="684213" y="1628800"/>
            <a:ext cx="7772400" cy="4536504"/>
          </a:xfrm>
        </p:spPr>
        <p:txBody>
          <a:bodyPr>
            <a:normAutofit/>
          </a:bodyPr>
          <a:lstStyle/>
          <a:p>
            <a:pPr>
              <a:lnSpc>
                <a:spcPct val="120000"/>
              </a:lnSpc>
            </a:pPr>
            <a:r>
              <a:rPr lang="en-US" sz="3200" dirty="0">
                <a:ea typeface="ＭＳ Ｐゴシック" charset="-128"/>
              </a:rPr>
              <a:t>C-138/02 Collins:</a:t>
            </a:r>
          </a:p>
          <a:p>
            <a:pPr lvl="1">
              <a:lnSpc>
                <a:spcPct val="120000"/>
              </a:lnSpc>
            </a:pPr>
            <a:r>
              <a:rPr lang="en-US" sz="3200" dirty="0">
                <a:ea typeface="ＭＳ Ｐゴシック" charset="-128"/>
              </a:rPr>
              <a:t>(Migrant) job-seekers can apply for job-seeker’s allowance (= benefit of a financial nature regarding </a:t>
            </a:r>
            <a:r>
              <a:rPr lang="en-US" sz="3200" b="1" dirty="0">
                <a:ea typeface="ＭＳ Ｐゴシック" charset="-128"/>
              </a:rPr>
              <a:t>access</a:t>
            </a:r>
            <a:r>
              <a:rPr lang="en-US" sz="3200" dirty="0">
                <a:ea typeface="ＭＳ Ｐゴシック" charset="-128"/>
              </a:rPr>
              <a:t> to employment) under the same conditions as nationals in host M-S</a:t>
            </a:r>
            <a:endParaRPr lang="en-US" sz="2700" dirty="0">
              <a:ea typeface="ＭＳ Ｐゴシック" charset="-128"/>
            </a:endParaRPr>
          </a:p>
          <a:p>
            <a:endParaRPr lang="en-US" dirty="0"/>
          </a:p>
        </p:txBody>
      </p:sp>
    </p:spTree>
    <p:custDataLst>
      <p:tags r:id="rId1"/>
    </p:custDataLst>
    <p:extLst>
      <p:ext uri="{BB962C8B-B14F-4D97-AF65-F5344CB8AC3E}">
        <p14:creationId xmlns:p14="http://schemas.microsoft.com/office/powerpoint/2010/main" val="17404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EE2A1-BD86-1395-0EB3-5FFA2FA643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BE7B64-8B0B-F143-5ED6-DBE2996FF567}"/>
              </a:ext>
            </a:extLst>
          </p:cNvPr>
          <p:cNvSpPr>
            <a:spLocks noGrp="1"/>
          </p:cNvSpPr>
          <p:nvPr>
            <p:ph type="title"/>
          </p:nvPr>
        </p:nvSpPr>
        <p:spPr>
          <a:xfrm>
            <a:off x="685800" y="404664"/>
            <a:ext cx="7772400" cy="1008112"/>
          </a:xfrm>
        </p:spPr>
        <p:txBody>
          <a:bodyPr/>
          <a:lstStyle/>
          <a:p>
            <a:r>
              <a:rPr lang="en-US" dirty="0"/>
              <a:t>Rights of job seekers </a:t>
            </a:r>
          </a:p>
        </p:txBody>
      </p:sp>
      <p:sp>
        <p:nvSpPr>
          <p:cNvPr id="3" name="Content Placeholder 2">
            <a:extLst>
              <a:ext uri="{FF2B5EF4-FFF2-40B4-BE49-F238E27FC236}">
                <a16:creationId xmlns:a16="http://schemas.microsoft.com/office/drawing/2014/main" id="{E7BC6A72-C99E-DA03-7812-35933E335003}"/>
              </a:ext>
            </a:extLst>
          </p:cNvPr>
          <p:cNvSpPr>
            <a:spLocks noGrp="1"/>
          </p:cNvSpPr>
          <p:nvPr>
            <p:ph idx="1"/>
          </p:nvPr>
        </p:nvSpPr>
        <p:spPr>
          <a:xfrm>
            <a:off x="684213" y="1628800"/>
            <a:ext cx="7772400" cy="4536504"/>
          </a:xfrm>
        </p:spPr>
        <p:txBody>
          <a:bodyPr>
            <a:normAutofit fontScale="70000" lnSpcReduction="20000"/>
          </a:bodyPr>
          <a:lstStyle/>
          <a:p>
            <a:pPr>
              <a:lnSpc>
                <a:spcPct val="120000"/>
              </a:lnSpc>
            </a:pPr>
            <a:r>
              <a:rPr lang="en-US" sz="3300" dirty="0">
                <a:ea typeface="ＭＳ Ｐゴシック" charset="-128"/>
              </a:rPr>
              <a:t>C-138/02 Collins:</a:t>
            </a:r>
          </a:p>
          <a:p>
            <a:pPr marL="457200" indent="-457200" eaLnBrk="1" hangingPunct="1">
              <a:lnSpc>
                <a:spcPct val="120000"/>
              </a:lnSpc>
              <a:buFont typeface="Arial" panose="020B0604020202020204" pitchFamily="34" charset="0"/>
              <a:buChar char="•"/>
            </a:pPr>
            <a:r>
              <a:rPr lang="en-US" sz="3300" dirty="0">
                <a:ea typeface="ＭＳ Ｐゴシック" charset="-128"/>
              </a:rPr>
              <a:t>Court in Collins however allows M-S to make job-seeker allowance </a:t>
            </a:r>
            <a:r>
              <a:rPr lang="en-US" sz="3300" u="sng" dirty="0">
                <a:ea typeface="ＭＳ Ｐゴシック" charset="-128"/>
              </a:rPr>
              <a:t>subject to conditions</a:t>
            </a:r>
            <a:r>
              <a:rPr lang="en-US" sz="3300" dirty="0">
                <a:ea typeface="ＭＳ Ｐゴシック" charset="-128"/>
              </a:rPr>
              <a:t>:</a:t>
            </a:r>
          </a:p>
          <a:p>
            <a:pPr lvl="1">
              <a:lnSpc>
                <a:spcPct val="120000"/>
              </a:lnSpc>
            </a:pPr>
            <a:r>
              <a:rPr lang="en-GB" sz="3300" dirty="0">
                <a:ea typeface="ＭＳ Ｐゴシック" charset="-128"/>
              </a:rPr>
              <a:t>‘It may be regarded as legitimate for a Member State to grant such an allowance only after it has been possible to establish that </a:t>
            </a:r>
            <a:r>
              <a:rPr lang="en-GB" sz="3300" b="1" dirty="0">
                <a:ea typeface="ＭＳ Ｐゴシック" charset="-128"/>
              </a:rPr>
              <a:t>a genuine link exists between the person seeking work and the employment market of that State</a:t>
            </a:r>
            <a:r>
              <a:rPr lang="en-GB" sz="3300" dirty="0">
                <a:ea typeface="ＭＳ Ｐゴシック" charset="-128"/>
              </a:rPr>
              <a:t>’ (</a:t>
            </a:r>
            <a:r>
              <a:rPr lang="en-US" sz="3300" dirty="0">
                <a:ea typeface="ＭＳ Ｐゴシック" charset="-128"/>
              </a:rPr>
              <a:t>C-138/02 Collins)</a:t>
            </a:r>
            <a:endParaRPr lang="en-GB" sz="3300" dirty="0">
              <a:ea typeface="ＭＳ Ｐゴシック" charset="-128"/>
            </a:endParaRPr>
          </a:p>
          <a:p>
            <a:pPr marL="457200" indent="-457200">
              <a:lnSpc>
                <a:spcPct val="120000"/>
              </a:lnSpc>
              <a:buFont typeface="Arial" panose="020B0604020202020204" pitchFamily="34" charset="0"/>
              <a:buChar char="•"/>
            </a:pPr>
            <a:r>
              <a:rPr lang="en-US" sz="3300" dirty="0">
                <a:ea typeface="ＭＳ Ｐゴシック" charset="-128"/>
              </a:rPr>
              <a:t>Case C-22 &amp; 23/08 </a:t>
            </a:r>
            <a:r>
              <a:rPr lang="en-US" sz="3300" dirty="0" err="1">
                <a:ea typeface="ＭＳ Ｐゴシック" charset="-128"/>
              </a:rPr>
              <a:t>Vatsouras</a:t>
            </a:r>
            <a:r>
              <a:rPr lang="en-US" sz="3300" dirty="0">
                <a:ea typeface="ＭＳ Ｐゴシック" charset="-128"/>
              </a:rPr>
              <a:t> (reconciles Art 24(2) </a:t>
            </a:r>
          </a:p>
          <a:p>
            <a:pPr marL="0" indent="0">
              <a:lnSpc>
                <a:spcPct val="120000"/>
              </a:lnSpc>
            </a:pPr>
            <a:r>
              <a:rPr lang="en-US" sz="3300" dirty="0">
                <a:ea typeface="ＭＳ Ｐゴシック" charset="-128"/>
              </a:rPr>
              <a:t>       of Dir 2004/38 and Court’s case law in Collins)</a:t>
            </a:r>
          </a:p>
          <a:p>
            <a:pPr>
              <a:lnSpc>
                <a:spcPct val="120000"/>
              </a:lnSpc>
            </a:pPr>
            <a:endParaRPr lang="en-US" sz="3200" dirty="0">
              <a:ea typeface="ＭＳ Ｐゴシック" charset="-128"/>
            </a:endParaRPr>
          </a:p>
          <a:p>
            <a:endParaRPr lang="en-US" dirty="0"/>
          </a:p>
        </p:txBody>
      </p:sp>
    </p:spTree>
    <p:custDataLst>
      <p:tags r:id="rId1"/>
    </p:custDataLst>
    <p:extLst>
      <p:ext uri="{BB962C8B-B14F-4D97-AF65-F5344CB8AC3E}">
        <p14:creationId xmlns:p14="http://schemas.microsoft.com/office/powerpoint/2010/main" val="2342870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684213" y="476672"/>
            <a:ext cx="7772400" cy="1080120"/>
          </a:xfrm>
        </p:spPr>
        <p:txBody>
          <a:bodyPr>
            <a:normAutofit/>
          </a:bodyPr>
          <a:lstStyle/>
          <a:p>
            <a:pPr eaLnBrk="1" hangingPunct="1"/>
            <a:r>
              <a:rPr lang="en-US" dirty="0">
                <a:ea typeface="ＭＳ Ｐゴシック" charset="-128"/>
              </a:rPr>
              <a:t>Rights of job seekers </a:t>
            </a:r>
          </a:p>
        </p:txBody>
      </p:sp>
      <p:sp>
        <p:nvSpPr>
          <p:cNvPr id="15363" name="Content Placeholder 2"/>
          <p:cNvSpPr>
            <a:spLocks noGrp="1"/>
          </p:cNvSpPr>
          <p:nvPr>
            <p:ph idx="1"/>
          </p:nvPr>
        </p:nvSpPr>
        <p:spPr>
          <a:xfrm>
            <a:off x="684213" y="1268760"/>
            <a:ext cx="7772400" cy="5112568"/>
          </a:xfrm>
        </p:spPr>
        <p:txBody>
          <a:bodyPr>
            <a:normAutofit/>
          </a:bodyPr>
          <a:lstStyle/>
          <a:p>
            <a:pPr>
              <a:lnSpc>
                <a:spcPct val="110000"/>
              </a:lnSpc>
              <a:spcBef>
                <a:spcPts val="0"/>
              </a:spcBef>
              <a:buFont typeface="Arial" panose="020B0604020202020204" pitchFamily="34" charset="0"/>
              <a:buChar char="•"/>
            </a:pPr>
            <a:endParaRPr lang="en-US" sz="2600" kern="1200" dirty="0"/>
          </a:p>
          <a:p>
            <a:pPr>
              <a:lnSpc>
                <a:spcPct val="110000"/>
              </a:lnSpc>
              <a:spcBef>
                <a:spcPts val="0"/>
              </a:spcBef>
              <a:buFont typeface="Arial" panose="020B0604020202020204" pitchFamily="34" charset="0"/>
              <a:buChar char="•"/>
            </a:pPr>
            <a:r>
              <a:rPr lang="en-US" sz="3200" kern="1200" dirty="0"/>
              <a:t>In Case C-67/14 </a:t>
            </a:r>
            <a:r>
              <a:rPr lang="en-US" sz="3200" i="1" kern="1200" dirty="0" err="1"/>
              <a:t>Alimanovic</a:t>
            </a:r>
            <a:r>
              <a:rPr lang="en-US" sz="3200" i="1" kern="1200" dirty="0"/>
              <a:t> and Others</a:t>
            </a:r>
            <a:r>
              <a:rPr lang="en-GB" sz="3200" kern="1200" dirty="0"/>
              <a:t>, the Court de facto narrowed the significance of </a:t>
            </a:r>
            <a:r>
              <a:rPr lang="en-GB" sz="3200" i="1" kern="1200" dirty="0" err="1"/>
              <a:t>Vatsouras</a:t>
            </a:r>
            <a:r>
              <a:rPr lang="en-GB" sz="3200" kern="1200" dirty="0"/>
              <a:t> and </a:t>
            </a:r>
            <a:r>
              <a:rPr lang="en-GB" sz="3200" i="1" kern="1200" dirty="0"/>
              <a:t>Collins </a:t>
            </a:r>
            <a:r>
              <a:rPr lang="en-GB" sz="3200" kern="1200" dirty="0"/>
              <a:t>to marginal situations </a:t>
            </a:r>
            <a:r>
              <a:rPr lang="en-GB" sz="3200" u="sng" kern="1200" dirty="0"/>
              <a:t>by defining social assistance broadly</a:t>
            </a:r>
          </a:p>
          <a:p>
            <a:pPr lvl="1">
              <a:lnSpc>
                <a:spcPct val="110000"/>
              </a:lnSpc>
              <a:spcBef>
                <a:spcPts val="0"/>
              </a:spcBef>
              <a:buFont typeface="Arial" panose="020B0604020202020204" pitchFamily="34" charset="0"/>
              <a:buChar char="•"/>
            </a:pPr>
            <a:endParaRPr lang="en-US" sz="3200" dirty="0"/>
          </a:p>
          <a:p>
            <a:pPr marL="0" indent="0">
              <a:lnSpc>
                <a:spcPct val="120000"/>
              </a:lnSpc>
            </a:pPr>
            <a:endParaRPr lang="en-GB" sz="2200" dirty="0"/>
          </a:p>
          <a:p>
            <a:pPr marL="0" indent="0">
              <a:lnSpc>
                <a:spcPct val="120000"/>
              </a:lnSpc>
            </a:pPr>
            <a:endParaRPr lang="en-US" sz="2200" dirty="0"/>
          </a:p>
          <a:p>
            <a:pPr>
              <a:lnSpc>
                <a:spcPct val="120000"/>
              </a:lnSpc>
            </a:pPr>
            <a:endParaRPr lang="en-US" sz="2900" dirty="0">
              <a:ea typeface="ＭＳ Ｐゴシック" charset="-128"/>
            </a:endParaRPr>
          </a:p>
          <a:p>
            <a:pPr eaLnBrk="1" hangingPunct="1"/>
            <a:endParaRPr lang="en-US" sz="2800" dirty="0">
              <a:ea typeface="ＭＳ Ｐゴシック" charset="-128"/>
            </a:endParaRPr>
          </a:p>
        </p:txBody>
      </p:sp>
    </p:spTree>
    <p:custDataLst>
      <p:tags r:id="rId1"/>
    </p:custDataLst>
    <p:extLst>
      <p:ext uri="{BB962C8B-B14F-4D97-AF65-F5344CB8AC3E}">
        <p14:creationId xmlns:p14="http://schemas.microsoft.com/office/powerpoint/2010/main" val="39813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AE988-63CB-3B28-47F2-EFA8C5EFF305}"/>
              </a:ext>
            </a:extLst>
          </p:cNvPr>
          <p:cNvSpPr>
            <a:spLocks noGrp="1"/>
          </p:cNvSpPr>
          <p:nvPr>
            <p:ph type="title"/>
          </p:nvPr>
        </p:nvSpPr>
        <p:spPr>
          <a:xfrm>
            <a:off x="685800" y="332656"/>
            <a:ext cx="7772400" cy="864096"/>
          </a:xfrm>
        </p:spPr>
        <p:txBody>
          <a:bodyPr/>
          <a:lstStyle/>
          <a:p>
            <a:r>
              <a:rPr lang="en-US" sz="4400" kern="1200" dirty="0"/>
              <a:t>Case C-67/14 </a:t>
            </a:r>
            <a:r>
              <a:rPr lang="en-US" sz="4400" i="1" kern="1200" dirty="0" err="1"/>
              <a:t>Alimanovic</a:t>
            </a:r>
            <a:endParaRPr lang="en-US" dirty="0"/>
          </a:p>
        </p:txBody>
      </p:sp>
      <p:sp>
        <p:nvSpPr>
          <p:cNvPr id="3" name="Content Placeholder 2">
            <a:extLst>
              <a:ext uri="{FF2B5EF4-FFF2-40B4-BE49-F238E27FC236}">
                <a16:creationId xmlns:a16="http://schemas.microsoft.com/office/drawing/2014/main" id="{909F301B-5B24-2517-796D-A2283196FF89}"/>
              </a:ext>
            </a:extLst>
          </p:cNvPr>
          <p:cNvSpPr>
            <a:spLocks noGrp="1"/>
          </p:cNvSpPr>
          <p:nvPr>
            <p:ph idx="1"/>
          </p:nvPr>
        </p:nvSpPr>
        <p:spPr>
          <a:xfrm>
            <a:off x="323528" y="1628800"/>
            <a:ext cx="8496944" cy="4464496"/>
          </a:xfrm>
        </p:spPr>
        <p:txBody>
          <a:bodyPr/>
          <a:lstStyle/>
          <a:p>
            <a:pPr marL="457200" indent="-457200">
              <a:buFont typeface="Arial" panose="020B0604020202020204" pitchFamily="34" charset="0"/>
              <a:buChar char="•"/>
            </a:pPr>
            <a:r>
              <a:rPr lang="en-GB" sz="2800" kern="1200" dirty="0"/>
              <a:t>Meaning of social assistance:</a:t>
            </a:r>
            <a:endParaRPr lang="en-GB" sz="2800" dirty="0"/>
          </a:p>
          <a:p>
            <a:pPr marL="400050" lvl="1" indent="0">
              <a:buNone/>
            </a:pPr>
            <a:r>
              <a:rPr lang="en-GB" sz="2800" dirty="0"/>
              <a:t>‘That concept refers to all assistance schemes established by the public authorities, … to which recourse may be had by an individual </a:t>
            </a:r>
            <a:r>
              <a:rPr lang="en-GB" sz="2800" u="sng" dirty="0"/>
              <a:t>who does not have resources sufficient to meet his own basic needs</a:t>
            </a:r>
            <a:r>
              <a:rPr lang="en-GB" sz="2800" dirty="0"/>
              <a:t> and those of his family and who by reason of that fact may, during his period of residence, become a burden on the public finances …’</a:t>
            </a:r>
          </a:p>
          <a:p>
            <a:endParaRPr lang="en-US" dirty="0"/>
          </a:p>
        </p:txBody>
      </p:sp>
    </p:spTree>
    <p:extLst>
      <p:ext uri="{BB962C8B-B14F-4D97-AF65-F5344CB8AC3E}">
        <p14:creationId xmlns:p14="http://schemas.microsoft.com/office/powerpoint/2010/main" val="357292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Other categories benefiting from Art 45 TFEU</a:t>
            </a:r>
          </a:p>
        </p:txBody>
      </p:sp>
      <p:sp>
        <p:nvSpPr>
          <p:cNvPr id="3" name="Content Placeholder 2"/>
          <p:cNvSpPr>
            <a:spLocks noGrp="1"/>
          </p:cNvSpPr>
          <p:nvPr>
            <p:ph idx="1"/>
          </p:nvPr>
        </p:nvSpPr>
        <p:spPr/>
        <p:txBody>
          <a:bodyPr>
            <a:normAutofit fontScale="92500" lnSpcReduction="10000"/>
          </a:bodyPr>
          <a:lstStyle/>
          <a:p>
            <a:r>
              <a:rPr lang="en-US" sz="3400" dirty="0"/>
              <a:t>Employers: to challenge rules to limit ability to employ a worker</a:t>
            </a:r>
          </a:p>
          <a:p>
            <a:r>
              <a:rPr lang="en-US" sz="3400" dirty="0"/>
              <a:t>Frontier-workers: place of work and place of residence in different M-Ss</a:t>
            </a:r>
          </a:p>
          <a:p>
            <a:r>
              <a:rPr lang="en-US" sz="3400" dirty="0"/>
              <a:t>Returning workers: those that return to their country of origin after exercising their Treaty rights abroad (Case C-370/90 Singh)</a:t>
            </a:r>
          </a:p>
        </p:txBody>
      </p:sp>
    </p:spTree>
    <p:custDataLst>
      <p:tags r:id="rId1"/>
    </p:custDataLst>
    <p:extLst>
      <p:ext uri="{BB962C8B-B14F-4D97-AF65-F5344CB8AC3E}">
        <p14:creationId xmlns:p14="http://schemas.microsoft.com/office/powerpoint/2010/main" val="112699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04664"/>
            <a:ext cx="7772400" cy="936104"/>
          </a:xfrm>
        </p:spPr>
        <p:txBody>
          <a:bodyPr>
            <a:normAutofit/>
          </a:bodyPr>
          <a:lstStyle/>
          <a:p>
            <a:r>
              <a:rPr lang="en-US" dirty="0"/>
              <a:t>Rights of worker</a:t>
            </a:r>
          </a:p>
        </p:txBody>
      </p:sp>
      <p:sp>
        <p:nvSpPr>
          <p:cNvPr id="3" name="Content Placeholder 2"/>
          <p:cNvSpPr>
            <a:spLocks noGrp="1"/>
          </p:cNvSpPr>
          <p:nvPr>
            <p:ph idx="1"/>
          </p:nvPr>
        </p:nvSpPr>
        <p:spPr>
          <a:xfrm>
            <a:off x="684213" y="1752600"/>
            <a:ext cx="7772400" cy="4052888"/>
          </a:xfrm>
        </p:spPr>
        <p:txBody>
          <a:bodyPr/>
          <a:lstStyle/>
          <a:p>
            <a:r>
              <a:rPr lang="en-US" sz="2800" dirty="0"/>
              <a:t>Right to leave; right to enter and right to stay in another M-S</a:t>
            </a:r>
          </a:p>
          <a:p>
            <a:pPr lvl="1"/>
            <a:r>
              <a:rPr lang="en-US" sz="2800" dirty="0"/>
              <a:t>See Citizenship Directive (2004/38)</a:t>
            </a:r>
          </a:p>
          <a:p>
            <a:pPr lvl="1"/>
            <a:r>
              <a:rPr lang="en-US" sz="2800" dirty="0"/>
              <a:t>Workers benefit from residence rights simply because of their status as worker</a:t>
            </a:r>
          </a:p>
          <a:p>
            <a:pPr lvl="1"/>
            <a:r>
              <a:rPr lang="en-US" sz="2800" dirty="0"/>
              <a:t>Right to permanent residence: see Art 17 Dir. 2004/38 which allows workers to gain permanent residency  before 5 years period</a:t>
            </a:r>
          </a:p>
          <a:p>
            <a:endParaRPr lang="en-US" dirty="0"/>
          </a:p>
        </p:txBody>
      </p:sp>
    </p:spTree>
    <p:custDataLst>
      <p:tags r:id="rId1"/>
    </p:custDataLst>
    <p:extLst>
      <p:ext uri="{BB962C8B-B14F-4D97-AF65-F5344CB8AC3E}">
        <p14:creationId xmlns:p14="http://schemas.microsoft.com/office/powerpoint/2010/main" val="111546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04664"/>
            <a:ext cx="7772400" cy="648072"/>
          </a:xfrm>
        </p:spPr>
        <p:txBody>
          <a:bodyPr/>
          <a:lstStyle/>
          <a:p>
            <a:r>
              <a:rPr lang="en-US" dirty="0"/>
              <a:t>Rights of worker (II)</a:t>
            </a:r>
          </a:p>
        </p:txBody>
      </p:sp>
      <p:sp>
        <p:nvSpPr>
          <p:cNvPr id="3" name="Content Placeholder 2"/>
          <p:cNvSpPr>
            <a:spLocks noGrp="1"/>
          </p:cNvSpPr>
          <p:nvPr>
            <p:ph idx="1"/>
          </p:nvPr>
        </p:nvSpPr>
        <p:spPr>
          <a:xfrm>
            <a:off x="323528" y="1412776"/>
            <a:ext cx="8496944" cy="4835624"/>
          </a:xfrm>
        </p:spPr>
        <p:txBody>
          <a:bodyPr>
            <a:noAutofit/>
          </a:bodyPr>
          <a:lstStyle/>
          <a:p>
            <a:r>
              <a:rPr lang="en-US" sz="2800" dirty="0"/>
              <a:t>Right not to be discriminated against </a:t>
            </a:r>
          </a:p>
          <a:p>
            <a:pPr lvl="1"/>
            <a:r>
              <a:rPr lang="en-US" sz="2800" dirty="0"/>
              <a:t>Direct discrimination</a:t>
            </a:r>
          </a:p>
          <a:p>
            <a:pPr lvl="2"/>
            <a:r>
              <a:rPr lang="en-US" sz="2800" dirty="0"/>
              <a:t>Most severe form of discrimination</a:t>
            </a:r>
          </a:p>
          <a:p>
            <a:pPr lvl="1"/>
            <a:r>
              <a:rPr lang="en-US" sz="2800" dirty="0"/>
              <a:t>Justifications restricted: public policy, public security, public health</a:t>
            </a:r>
          </a:p>
          <a:p>
            <a:pPr lvl="2"/>
            <a:r>
              <a:rPr lang="en-US" sz="2800" dirty="0"/>
              <a:t>Case C-114/97 Commission v Spain (security staff (e.g. P.I.s, watchmen, bodyguards) must be Spanish)</a:t>
            </a:r>
          </a:p>
          <a:p>
            <a:pPr lvl="1"/>
            <a:r>
              <a:rPr lang="en-US" sz="2800" dirty="0"/>
              <a:t>If justified, restriction must still be proportionate</a:t>
            </a:r>
          </a:p>
        </p:txBody>
      </p:sp>
    </p:spTree>
    <p:custDataLst>
      <p:tags r:id="rId1"/>
    </p:custDataLst>
    <p:extLst>
      <p:ext uri="{BB962C8B-B14F-4D97-AF65-F5344CB8AC3E}">
        <p14:creationId xmlns:p14="http://schemas.microsoft.com/office/powerpoint/2010/main" val="2698354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04664"/>
            <a:ext cx="7772400" cy="792088"/>
          </a:xfrm>
        </p:spPr>
        <p:txBody>
          <a:bodyPr/>
          <a:lstStyle/>
          <a:p>
            <a:r>
              <a:rPr lang="en-US" dirty="0"/>
              <a:t>Rights of worker (III)</a:t>
            </a:r>
          </a:p>
        </p:txBody>
      </p:sp>
      <p:sp>
        <p:nvSpPr>
          <p:cNvPr id="3" name="Content Placeholder 2"/>
          <p:cNvSpPr>
            <a:spLocks noGrp="1"/>
          </p:cNvSpPr>
          <p:nvPr>
            <p:ph idx="1"/>
          </p:nvPr>
        </p:nvSpPr>
        <p:spPr>
          <a:xfrm>
            <a:off x="395536" y="1340768"/>
            <a:ext cx="8496944" cy="4907632"/>
          </a:xfrm>
        </p:spPr>
        <p:txBody>
          <a:bodyPr>
            <a:noAutofit/>
          </a:bodyPr>
          <a:lstStyle/>
          <a:p>
            <a:pPr>
              <a:buFont typeface="Arial" panose="020B0604020202020204" pitchFamily="34" charset="0"/>
              <a:buChar char="•"/>
            </a:pPr>
            <a:r>
              <a:rPr lang="en-US" sz="2400" dirty="0"/>
              <a:t>Public service exception: Art 45(4) TFEU</a:t>
            </a:r>
          </a:p>
          <a:p>
            <a:pPr lvl="1"/>
            <a:r>
              <a:rPr lang="en-US" sz="2400" dirty="0"/>
              <a:t>EU concept: meaning of public service determined by CJEU</a:t>
            </a:r>
          </a:p>
          <a:p>
            <a:pPr lvl="1"/>
            <a:r>
              <a:rPr lang="en-US" sz="2400" dirty="0"/>
              <a:t>Functional approach (Case 149/79 Commission v Belgium)</a:t>
            </a:r>
          </a:p>
          <a:p>
            <a:pPr lvl="2"/>
            <a:r>
              <a:rPr lang="en-US" sz="2400" dirty="0"/>
              <a:t>Covers posts involving </a:t>
            </a:r>
            <a:r>
              <a:rPr lang="en-US" sz="2400" b="1" dirty="0"/>
              <a:t>(1) </a:t>
            </a:r>
            <a:r>
              <a:rPr lang="en-US" sz="2400" dirty="0"/>
              <a:t>direct or indirect participation in the exercise of powers conferred by public law and </a:t>
            </a:r>
            <a:r>
              <a:rPr lang="en-US" sz="2400" b="1" dirty="0"/>
              <a:t>(2)</a:t>
            </a:r>
            <a:r>
              <a:rPr lang="en-US" sz="2400" dirty="0"/>
              <a:t> entail duties designed to safeguard the general interest of the State or other public authorities.</a:t>
            </a:r>
          </a:p>
          <a:p>
            <a:pPr lvl="2"/>
            <a:r>
              <a:rPr lang="en-US" sz="2400" dirty="0"/>
              <a:t>Criteria to be assessed on a </a:t>
            </a:r>
          </a:p>
          <a:p>
            <a:pPr marL="914400" lvl="2" indent="0">
              <a:buNone/>
            </a:pPr>
            <a:r>
              <a:rPr lang="en-US" sz="2400" dirty="0"/>
              <a:t>   case by case basis</a:t>
            </a:r>
          </a:p>
        </p:txBody>
      </p:sp>
    </p:spTree>
    <p:custDataLst>
      <p:tags r:id="rId1"/>
    </p:custDataLst>
    <p:extLst>
      <p:ext uri="{BB962C8B-B14F-4D97-AF65-F5344CB8AC3E}">
        <p14:creationId xmlns:p14="http://schemas.microsoft.com/office/powerpoint/2010/main" val="3045046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60648"/>
            <a:ext cx="7772400" cy="792088"/>
          </a:xfrm>
        </p:spPr>
        <p:txBody>
          <a:bodyPr/>
          <a:lstStyle/>
          <a:p>
            <a:r>
              <a:rPr lang="en-US" dirty="0"/>
              <a:t>FMW – Indirect Discrimination</a:t>
            </a:r>
          </a:p>
        </p:txBody>
      </p:sp>
      <p:sp>
        <p:nvSpPr>
          <p:cNvPr id="3" name="Content Placeholder 2"/>
          <p:cNvSpPr>
            <a:spLocks noGrp="1"/>
          </p:cNvSpPr>
          <p:nvPr>
            <p:ph idx="1"/>
          </p:nvPr>
        </p:nvSpPr>
        <p:spPr>
          <a:xfrm>
            <a:off x="251520" y="1196752"/>
            <a:ext cx="8712968" cy="5051648"/>
          </a:xfrm>
        </p:spPr>
        <p:txBody>
          <a:bodyPr>
            <a:normAutofit lnSpcReduction="10000"/>
          </a:bodyPr>
          <a:lstStyle/>
          <a:p>
            <a:pPr>
              <a:buFont typeface="Arial" panose="020B0604020202020204" pitchFamily="34" charset="0"/>
              <a:buChar char="•"/>
            </a:pPr>
            <a:r>
              <a:rPr lang="en-US" sz="2600" dirty="0"/>
              <a:t>Indirect discrimination given a broad interpretation by the Court (Case C-237/94 </a:t>
            </a:r>
            <a:r>
              <a:rPr lang="en-US" sz="2600" dirty="0" err="1"/>
              <a:t>O’Flynn</a:t>
            </a:r>
            <a:r>
              <a:rPr lang="en-US" sz="2600" dirty="0"/>
              <a:t>, [18])</a:t>
            </a:r>
          </a:p>
          <a:p>
            <a:pPr marL="400050" lvl="1" indent="0">
              <a:buNone/>
            </a:pPr>
            <a:r>
              <a:rPr lang="en-GB" sz="2600" i="1" dirty="0"/>
              <a:t>‘conditions imposed by national law must be regarded as indirectly discriminatory where, although applicable irrespective of nationality, they affect essentially migrant workers … or the great majority of those affected are migrant workers …, where they are indistinctly applicable but can more easily be satisfied by national workers than by migrant workers … or where </a:t>
            </a:r>
            <a:r>
              <a:rPr lang="en-GB" sz="2600" i="1" u="sng" dirty="0"/>
              <a:t>there is a risk </a:t>
            </a:r>
            <a:r>
              <a:rPr lang="en-GB" sz="2600" i="1" dirty="0"/>
              <a:t>that they may operate to the particular detriment of migrant workers ‘</a:t>
            </a:r>
            <a:endParaRPr lang="en-US" sz="2600" dirty="0"/>
          </a:p>
          <a:p>
            <a:pPr>
              <a:buFont typeface="Arial" panose="020B0604020202020204" pitchFamily="34" charset="0"/>
              <a:buChar char="•"/>
            </a:pPr>
            <a:r>
              <a:rPr lang="en-US" sz="2600" dirty="0"/>
              <a:t>How can indirect discrimination be justified?</a:t>
            </a:r>
          </a:p>
          <a:p>
            <a:pPr>
              <a:buFont typeface="Arial" panose="020B0604020202020204" pitchFamily="34" charset="0"/>
              <a:buChar char="•"/>
            </a:pPr>
            <a:r>
              <a:rPr lang="en-US" sz="2600" dirty="0"/>
              <a:t>Don’t forget proportionality!</a:t>
            </a:r>
          </a:p>
          <a:p>
            <a:pPr>
              <a:buFont typeface="Arial" panose="020B0604020202020204" pitchFamily="34" charset="0"/>
              <a:buChar char="•"/>
            </a:pPr>
            <a:endParaRPr lang="en-US" sz="2500" dirty="0"/>
          </a:p>
        </p:txBody>
      </p:sp>
    </p:spTree>
    <p:custDataLst>
      <p:tags r:id="rId1"/>
    </p:custDataLst>
    <p:extLst>
      <p:ext uri="{BB962C8B-B14F-4D97-AF65-F5344CB8AC3E}">
        <p14:creationId xmlns:p14="http://schemas.microsoft.com/office/powerpoint/2010/main" val="898350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81012"/>
            <a:ext cx="8132440" cy="859756"/>
          </a:xfrm>
        </p:spPr>
        <p:txBody>
          <a:bodyPr/>
          <a:lstStyle/>
          <a:p>
            <a:r>
              <a:rPr lang="en-US" dirty="0"/>
              <a:t>Examples: indirect discrimination</a:t>
            </a:r>
          </a:p>
        </p:txBody>
      </p:sp>
      <p:sp>
        <p:nvSpPr>
          <p:cNvPr id="3" name="Content Placeholder 2"/>
          <p:cNvSpPr>
            <a:spLocks noGrp="1"/>
          </p:cNvSpPr>
          <p:nvPr>
            <p:ph idx="1"/>
          </p:nvPr>
        </p:nvSpPr>
        <p:spPr>
          <a:xfrm>
            <a:off x="684213" y="1484784"/>
            <a:ext cx="7772400" cy="4680520"/>
          </a:xfrm>
        </p:spPr>
        <p:txBody>
          <a:bodyPr>
            <a:normAutofit/>
          </a:bodyPr>
          <a:lstStyle/>
          <a:p>
            <a:pPr>
              <a:lnSpc>
                <a:spcPct val="110000"/>
              </a:lnSpc>
              <a:buFont typeface="Arial" panose="020B0604020202020204" pitchFamily="34" charset="0"/>
              <a:buChar char="•"/>
            </a:pPr>
            <a:r>
              <a:rPr lang="en-US" sz="2900" dirty="0"/>
              <a:t>Rules which are in any way connected with nationality (Case 15/69 </a:t>
            </a:r>
            <a:r>
              <a:rPr lang="en-US" sz="2900" dirty="0" err="1"/>
              <a:t>Ugliola</a:t>
            </a:r>
            <a:r>
              <a:rPr lang="en-US" sz="2900" dirty="0"/>
              <a:t>)</a:t>
            </a:r>
          </a:p>
          <a:p>
            <a:pPr>
              <a:lnSpc>
                <a:spcPct val="110000"/>
              </a:lnSpc>
              <a:buFont typeface="Arial" panose="020B0604020202020204" pitchFamily="34" charset="0"/>
              <a:buChar char="•"/>
            </a:pPr>
            <a:r>
              <a:rPr lang="en-US" sz="2900" dirty="0"/>
              <a:t>Rules which contain a ‘territorial’ element: </a:t>
            </a:r>
            <a:r>
              <a:rPr lang="en-US" sz="2900" dirty="0" err="1"/>
              <a:t>eg</a:t>
            </a:r>
            <a:r>
              <a:rPr lang="en-US" sz="2900" dirty="0"/>
              <a:t> </a:t>
            </a:r>
          </a:p>
          <a:p>
            <a:pPr lvl="1">
              <a:lnSpc>
                <a:spcPct val="110000"/>
              </a:lnSpc>
            </a:pPr>
            <a:r>
              <a:rPr lang="en-US" sz="2900" dirty="0"/>
              <a:t>Residence requirement</a:t>
            </a:r>
          </a:p>
          <a:p>
            <a:pPr lvl="1">
              <a:lnSpc>
                <a:spcPct val="110000"/>
              </a:lnSpc>
            </a:pPr>
            <a:r>
              <a:rPr lang="en-US" sz="2900" dirty="0"/>
              <a:t>Requirement that a benefit is used within the territory (Case C-237/94 </a:t>
            </a:r>
            <a:r>
              <a:rPr lang="en-US" sz="2900" dirty="0" err="1"/>
              <a:t>O’Flynn</a:t>
            </a:r>
            <a:r>
              <a:rPr lang="en-US" sz="2900" dirty="0"/>
              <a:t>)</a:t>
            </a:r>
          </a:p>
        </p:txBody>
      </p:sp>
    </p:spTree>
    <p:custDataLst>
      <p:tags r:id="rId1"/>
    </p:custDataLst>
    <p:extLst>
      <p:ext uri="{BB962C8B-B14F-4D97-AF65-F5344CB8AC3E}">
        <p14:creationId xmlns:p14="http://schemas.microsoft.com/office/powerpoint/2010/main" val="419903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260648"/>
            <a:ext cx="8132440" cy="1080120"/>
          </a:xfrm>
        </p:spPr>
        <p:txBody>
          <a:bodyPr/>
          <a:lstStyle/>
          <a:p>
            <a:r>
              <a:rPr lang="en-US" dirty="0"/>
              <a:t>Examples: indirect discrimination</a:t>
            </a:r>
          </a:p>
        </p:txBody>
      </p:sp>
      <p:sp>
        <p:nvSpPr>
          <p:cNvPr id="3" name="Content Placeholder 2"/>
          <p:cNvSpPr>
            <a:spLocks noGrp="1"/>
          </p:cNvSpPr>
          <p:nvPr>
            <p:ph idx="1"/>
          </p:nvPr>
        </p:nvSpPr>
        <p:spPr>
          <a:xfrm>
            <a:off x="324172" y="1484784"/>
            <a:ext cx="8568307" cy="4680520"/>
          </a:xfrm>
        </p:spPr>
        <p:txBody>
          <a:bodyPr>
            <a:normAutofit/>
          </a:bodyPr>
          <a:lstStyle/>
          <a:p>
            <a:pPr>
              <a:lnSpc>
                <a:spcPct val="110000"/>
              </a:lnSpc>
              <a:buFont typeface="Arial" panose="020B0604020202020204" pitchFamily="34" charset="0"/>
              <a:buChar char="•"/>
            </a:pPr>
            <a:r>
              <a:rPr lang="en-US" sz="2400" dirty="0"/>
              <a:t>Language requirements </a:t>
            </a:r>
          </a:p>
          <a:p>
            <a:pPr lvl="1">
              <a:lnSpc>
                <a:spcPct val="110000"/>
              </a:lnSpc>
            </a:pPr>
            <a:r>
              <a:rPr lang="en-US" sz="2400" dirty="0"/>
              <a:t>But justification is possible </a:t>
            </a:r>
          </a:p>
          <a:p>
            <a:pPr lvl="2">
              <a:lnSpc>
                <a:spcPct val="110000"/>
              </a:lnSpc>
            </a:pPr>
            <a:r>
              <a:rPr lang="en-US" sz="2400" dirty="0"/>
              <a:t>Case 379/87 Groener (Dutch woman, applying for permanent teaching position in Ireland; position refused because she cannot speak Gaelic; Irish language requirement meant to promote use of Irish language as a means of expressing national culture and identity; requirement can be justified as long as not applied in disproportionate manner) </a:t>
            </a:r>
          </a:p>
          <a:p>
            <a:pPr lvl="1">
              <a:lnSpc>
                <a:spcPct val="110000"/>
              </a:lnSpc>
            </a:pPr>
            <a:r>
              <a:rPr lang="en-US" sz="2400" dirty="0"/>
              <a:t>See also Art 3 Reg. 492/11 </a:t>
            </a:r>
          </a:p>
          <a:p>
            <a:endParaRPr lang="en-US" dirty="0"/>
          </a:p>
        </p:txBody>
      </p:sp>
    </p:spTree>
    <p:custDataLst>
      <p:tags r:id="rId1"/>
    </p:custDataLst>
    <p:extLst>
      <p:ext uri="{BB962C8B-B14F-4D97-AF65-F5344CB8AC3E}">
        <p14:creationId xmlns:p14="http://schemas.microsoft.com/office/powerpoint/2010/main" val="177332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76672"/>
            <a:ext cx="7772400" cy="1008112"/>
          </a:xfrm>
        </p:spPr>
        <p:txBody>
          <a:bodyPr>
            <a:normAutofit fontScale="90000"/>
          </a:bodyPr>
          <a:lstStyle/>
          <a:p>
            <a:r>
              <a:rPr lang="en-US" dirty="0"/>
              <a:t>Scope of the principle of non-discrimination...</a:t>
            </a:r>
          </a:p>
        </p:txBody>
      </p:sp>
      <p:sp>
        <p:nvSpPr>
          <p:cNvPr id="3" name="Content Placeholder 2"/>
          <p:cNvSpPr>
            <a:spLocks noGrp="1"/>
          </p:cNvSpPr>
          <p:nvPr>
            <p:ph idx="1"/>
          </p:nvPr>
        </p:nvSpPr>
        <p:spPr>
          <a:xfrm>
            <a:off x="467544" y="1700808"/>
            <a:ext cx="8280920" cy="4536504"/>
          </a:xfrm>
        </p:spPr>
        <p:txBody>
          <a:bodyPr>
            <a:normAutofit fontScale="92500" lnSpcReduction="10000"/>
          </a:bodyPr>
          <a:lstStyle/>
          <a:p>
            <a:r>
              <a:rPr lang="en-US" sz="2600" dirty="0"/>
              <a:t>Scope of principle of non-disc. (or equal treatment) is very broad</a:t>
            </a:r>
          </a:p>
          <a:p>
            <a:pPr lvl="1"/>
            <a:r>
              <a:rPr lang="en-US" sz="2600" dirty="0"/>
              <a:t>See Reg. 492/2011 of the FMW</a:t>
            </a:r>
          </a:p>
          <a:p>
            <a:pPr lvl="2"/>
            <a:r>
              <a:rPr lang="en-US" sz="2600" dirty="0"/>
              <a:t>Access to employment</a:t>
            </a:r>
          </a:p>
          <a:p>
            <a:pPr lvl="2"/>
            <a:r>
              <a:rPr lang="en-US" sz="2600" dirty="0"/>
              <a:t>Assistance of employment office as granted to nationals</a:t>
            </a:r>
          </a:p>
          <a:p>
            <a:pPr lvl="2"/>
            <a:r>
              <a:rPr lang="en-US" sz="2600" dirty="0"/>
              <a:t>Conditions of employment</a:t>
            </a:r>
          </a:p>
          <a:p>
            <a:pPr lvl="2"/>
            <a:r>
              <a:rPr lang="en-US" sz="2600" dirty="0"/>
              <a:t>Social and tax advantages</a:t>
            </a:r>
          </a:p>
          <a:p>
            <a:pPr lvl="2"/>
            <a:r>
              <a:rPr lang="en-US" sz="2600" dirty="0"/>
              <a:t>Vocational training</a:t>
            </a:r>
          </a:p>
          <a:p>
            <a:pPr lvl="2"/>
            <a:r>
              <a:rPr lang="en-US" sz="2600" dirty="0"/>
              <a:t>Membership of trade union</a:t>
            </a:r>
          </a:p>
          <a:p>
            <a:pPr lvl="2"/>
            <a:r>
              <a:rPr lang="en-US" sz="2600" dirty="0"/>
              <a:t>Housing</a:t>
            </a:r>
          </a:p>
          <a:p>
            <a:pPr lvl="1"/>
            <a:endParaRPr lang="en-US" dirty="0"/>
          </a:p>
        </p:txBody>
      </p:sp>
    </p:spTree>
    <p:custDataLst>
      <p:tags r:id="rId1"/>
    </p:custDataLst>
    <p:extLst>
      <p:ext uri="{BB962C8B-B14F-4D97-AF65-F5344CB8AC3E}">
        <p14:creationId xmlns:p14="http://schemas.microsoft.com/office/powerpoint/2010/main" val="2280260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476672"/>
            <a:ext cx="8820472" cy="936104"/>
          </a:xfrm>
        </p:spPr>
        <p:txBody>
          <a:bodyPr>
            <a:normAutofit/>
          </a:bodyPr>
          <a:lstStyle/>
          <a:p>
            <a:r>
              <a:rPr lang="en-US" dirty="0"/>
              <a:t>Social adv. (Art 7(2) Reg. 492/11)</a:t>
            </a:r>
          </a:p>
        </p:txBody>
      </p:sp>
      <p:sp>
        <p:nvSpPr>
          <p:cNvPr id="3" name="Content Placeholder 2"/>
          <p:cNvSpPr>
            <a:spLocks noGrp="1"/>
          </p:cNvSpPr>
          <p:nvPr>
            <p:ph idx="1"/>
          </p:nvPr>
        </p:nvSpPr>
        <p:spPr>
          <a:xfrm>
            <a:off x="323528" y="1556792"/>
            <a:ext cx="8568952" cy="5301208"/>
          </a:xfrm>
        </p:spPr>
        <p:txBody>
          <a:bodyPr>
            <a:normAutofit fontScale="62500" lnSpcReduction="20000"/>
          </a:bodyPr>
          <a:lstStyle/>
          <a:p>
            <a:pPr marL="571500" indent="-571500">
              <a:lnSpc>
                <a:spcPct val="120000"/>
              </a:lnSpc>
              <a:buFont typeface="Arial" panose="020B0604020202020204" pitchFamily="34" charset="0"/>
              <a:buChar char="•"/>
            </a:pPr>
            <a:r>
              <a:rPr lang="en-GB" sz="3500" dirty="0">
                <a:ea typeface="ＭＳ Ｐゴシック" charset="-128"/>
              </a:rPr>
              <a:t>Social and Tax Advantages</a:t>
            </a:r>
          </a:p>
          <a:p>
            <a:pPr lvl="1">
              <a:lnSpc>
                <a:spcPct val="120000"/>
              </a:lnSpc>
            </a:pPr>
            <a:r>
              <a:rPr lang="en-GB" sz="3500" dirty="0">
                <a:ea typeface="ＭＳ Ｐゴシック" charset="-128"/>
              </a:rPr>
              <a:t>Art 7(2): ‘[a worker who is a national of a Member State] shall enjoy the same social and tax advantages as national workers’</a:t>
            </a:r>
          </a:p>
          <a:p>
            <a:pPr marL="571500" indent="-571500">
              <a:lnSpc>
                <a:spcPct val="120000"/>
              </a:lnSpc>
              <a:buFont typeface="Arial" panose="020B0604020202020204" pitchFamily="34" charset="0"/>
              <a:buChar char="•"/>
            </a:pPr>
            <a:r>
              <a:rPr lang="en-GB" sz="3500" dirty="0"/>
              <a:t>Broad interpretation of social advantages:</a:t>
            </a:r>
          </a:p>
          <a:p>
            <a:pPr lvl="1">
              <a:lnSpc>
                <a:spcPct val="120000"/>
              </a:lnSpc>
            </a:pPr>
            <a:r>
              <a:rPr lang="en-GB" sz="3500" dirty="0"/>
              <a:t>ECJ has interpreted the concept of social advantage to </a:t>
            </a:r>
            <a:r>
              <a:rPr lang="en-GB" sz="3500" u="sng" dirty="0"/>
              <a:t>cover also </a:t>
            </a:r>
            <a:r>
              <a:rPr lang="en-GB" sz="3500" dirty="0"/>
              <a:t>advantages </a:t>
            </a:r>
            <a:r>
              <a:rPr lang="en-GB" sz="3500" u="sng" dirty="0"/>
              <a:t>which are not attached </a:t>
            </a:r>
            <a:r>
              <a:rPr lang="en-GB" sz="3500" dirty="0"/>
              <a:t>to the contract of employment, if they are generally granted to national workers primarily because of their objective status as workers, or by virtue of the mere fact that they reside in the national territory, or if they encourage mobility; </a:t>
            </a:r>
          </a:p>
          <a:p>
            <a:pPr lvl="1">
              <a:lnSpc>
                <a:spcPct val="120000"/>
              </a:lnSpc>
            </a:pPr>
            <a:r>
              <a:rPr lang="en-GB" sz="3500" dirty="0">
                <a:ea typeface="ＭＳ Ｐゴシック" charset="-128"/>
              </a:rPr>
              <a:t>Case 65/81 Reina (interest free childbirth loan)</a:t>
            </a:r>
          </a:p>
          <a:p>
            <a:endParaRPr lang="en-US" dirty="0"/>
          </a:p>
        </p:txBody>
      </p:sp>
    </p:spTree>
    <p:custDataLst>
      <p:tags r:id="rId1"/>
    </p:custDataLst>
    <p:extLst>
      <p:ext uri="{BB962C8B-B14F-4D97-AF65-F5344CB8AC3E}">
        <p14:creationId xmlns:p14="http://schemas.microsoft.com/office/powerpoint/2010/main" val="1920127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04664"/>
            <a:ext cx="8352928" cy="936104"/>
          </a:xfrm>
        </p:spPr>
        <p:txBody>
          <a:bodyPr>
            <a:normAutofit/>
          </a:bodyPr>
          <a:lstStyle/>
          <a:p>
            <a:r>
              <a:rPr lang="en-US" dirty="0"/>
              <a:t>Social advantages (Art 7(2)) (II) </a:t>
            </a:r>
          </a:p>
        </p:txBody>
      </p:sp>
      <p:sp>
        <p:nvSpPr>
          <p:cNvPr id="3" name="Content Placeholder 2"/>
          <p:cNvSpPr>
            <a:spLocks noGrp="1"/>
          </p:cNvSpPr>
          <p:nvPr>
            <p:ph idx="1"/>
          </p:nvPr>
        </p:nvSpPr>
        <p:spPr>
          <a:xfrm>
            <a:off x="684213" y="1484784"/>
            <a:ext cx="7772400" cy="4763616"/>
          </a:xfrm>
        </p:spPr>
        <p:txBody>
          <a:bodyPr/>
          <a:lstStyle/>
          <a:p>
            <a:pPr>
              <a:buFont typeface="Arial" panose="020B0604020202020204" pitchFamily="34" charset="0"/>
              <a:buChar char="•"/>
            </a:pPr>
            <a:r>
              <a:rPr lang="en-US" sz="2800" dirty="0"/>
              <a:t>Social advantages can also benefit family member of worker</a:t>
            </a:r>
          </a:p>
          <a:p>
            <a:pPr lvl="1"/>
            <a:r>
              <a:rPr lang="en-US" sz="2800" dirty="0"/>
              <a:t>Case 316/85 </a:t>
            </a:r>
            <a:r>
              <a:rPr lang="en-US" sz="2800" dirty="0" err="1"/>
              <a:t>Lebon</a:t>
            </a:r>
            <a:r>
              <a:rPr lang="en-US" sz="2800" dirty="0"/>
              <a:t> (recipient must be an eligible family member: see Dir. 2004/38)</a:t>
            </a:r>
          </a:p>
          <a:p>
            <a:pPr lvl="1"/>
            <a:r>
              <a:rPr lang="en-GB" sz="2800" dirty="0">
                <a:ea typeface="ＭＳ Ｐゴシック" charset="-128"/>
              </a:rPr>
              <a:t>Case 32/75 </a:t>
            </a:r>
            <a:r>
              <a:rPr lang="en-GB" sz="2800" dirty="0" err="1">
                <a:ea typeface="ＭＳ Ｐゴシック" charset="-128"/>
              </a:rPr>
              <a:t>Christini</a:t>
            </a:r>
            <a:r>
              <a:rPr lang="en-GB" sz="2800" dirty="0">
                <a:ea typeface="ＭＳ Ｐゴシック" charset="-128"/>
              </a:rPr>
              <a:t> v SNCF (Art 7(2) applies in case of fair reduction card for large families, even if the benefit is sought after the worker’s death, to the benefit of his family members who stayed in the host M-S</a:t>
            </a:r>
            <a:r>
              <a:rPr lang="en-GB" sz="2700" dirty="0">
                <a:ea typeface="ＭＳ Ｐゴシック" charset="-128"/>
              </a:rPr>
              <a:t>)</a:t>
            </a:r>
          </a:p>
        </p:txBody>
      </p:sp>
    </p:spTree>
    <p:custDataLst>
      <p:tags r:id="rId1"/>
    </p:custDataLst>
    <p:extLst>
      <p:ext uri="{BB962C8B-B14F-4D97-AF65-F5344CB8AC3E}">
        <p14:creationId xmlns:p14="http://schemas.microsoft.com/office/powerpoint/2010/main" val="1134144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303.3|31.8|173.4"/>
</p:tagLst>
</file>

<file path=ppt/tags/tag2.xml><?xml version="1.0" encoding="utf-8"?>
<p:tagLst xmlns:a="http://schemas.openxmlformats.org/drawingml/2006/main" xmlns:r="http://schemas.openxmlformats.org/officeDocument/2006/relationships" xmlns:p="http://schemas.openxmlformats.org/presentationml/2006/main">
  <p:tag name="TIMING" val="|303.3|31.8|173.4"/>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 name="DELIMITERS" val="3.1"/>
  <p:tag name="TIMING" val="|208.6|5.1"/>
</p:tagLst>
</file>

<file path=ppt/tags/tag4.xml><?xml version="1.0" encoding="utf-8"?>
<p:tagLst xmlns:a="http://schemas.openxmlformats.org/drawingml/2006/main" xmlns:r="http://schemas.openxmlformats.org/officeDocument/2006/relationships" xmlns:p="http://schemas.openxmlformats.org/presentationml/2006/main">
  <p:tag name="TIMING" val="|15.4|17|57.2"/>
</p:tagLst>
</file>

<file path=ppt/tags/tag5.xml><?xml version="1.0" encoding="utf-8"?>
<p:tagLst xmlns:a="http://schemas.openxmlformats.org/drawingml/2006/main" xmlns:r="http://schemas.openxmlformats.org/officeDocument/2006/relationships" xmlns:p="http://schemas.openxmlformats.org/presentationml/2006/main">
  <p:tag name="TIMING" val="|11.2|26.6|4.9|52.6"/>
</p:tagLst>
</file>

<file path=ppt/tags/tag6.xml><?xml version="1.0" encoding="utf-8"?>
<p:tagLst xmlns:a="http://schemas.openxmlformats.org/drawingml/2006/main" xmlns:r="http://schemas.openxmlformats.org/officeDocument/2006/relationships" xmlns:p="http://schemas.openxmlformats.org/presentationml/2006/main">
  <p:tag name="TIMING" val="|4|41.4|92.6"/>
</p:tagLst>
</file>

<file path=ppt/tags/tag7.xml><?xml version="1.0" encoding="utf-8"?>
<p:tagLst xmlns:a="http://schemas.openxmlformats.org/drawingml/2006/main" xmlns:r="http://schemas.openxmlformats.org/officeDocument/2006/relationships" xmlns:p="http://schemas.openxmlformats.org/presentationml/2006/main">
  <p:tag name="TIMING" val="|14|46.9|78.5"/>
</p:tagLst>
</file>

<file path=ppt/tags/tag8.xml><?xml version="1.0" encoding="utf-8"?>
<p:tagLst xmlns:a="http://schemas.openxmlformats.org/drawingml/2006/main" xmlns:r="http://schemas.openxmlformats.org/officeDocument/2006/relationships" xmlns:p="http://schemas.openxmlformats.org/presentationml/2006/main">
  <p:tag name="TIMING" val="|10.1|20.3|47|67.4"/>
</p:tagLst>
</file>

<file path=ppt/tags/tag9.xml><?xml version="1.0" encoding="utf-8"?>
<p:tagLst xmlns:a="http://schemas.openxmlformats.org/drawingml/2006/main" xmlns:r="http://schemas.openxmlformats.org/officeDocument/2006/relationships" xmlns:p="http://schemas.openxmlformats.org/presentationml/2006/main">
  <p:tag name="TIMING" val="|5.8|109.9|6.8|9.6"/>
</p:tagLst>
</file>

<file path=ppt/tags/tag10.xml><?xml version="1.0" encoding="utf-8"?>
<p:tagLst xmlns:a="http://schemas.openxmlformats.org/drawingml/2006/main" xmlns:r="http://schemas.openxmlformats.org/officeDocument/2006/relationships" xmlns:p="http://schemas.openxmlformats.org/presentationml/2006/main">
  <p:tag name="TIMING" val="|4.8|52|10.5"/>
</p:tagLst>
</file>

<file path=ppt/tags/tag11.xml><?xml version="1.0" encoding="utf-8"?>
<p:tagLst xmlns:a="http://schemas.openxmlformats.org/drawingml/2006/main" xmlns:r="http://schemas.openxmlformats.org/officeDocument/2006/relationships" xmlns:p="http://schemas.openxmlformats.org/presentationml/2006/main">
  <p:tag name="TIMING" val="|6.8|16.7|14.7|11.8|3.4|20.2|5.2|1.6"/>
</p:tagLst>
</file>

<file path=ppt/tags/tag12.xml><?xml version="1.0" encoding="utf-8"?>
<p:tagLst xmlns:a="http://schemas.openxmlformats.org/drawingml/2006/main" xmlns:r="http://schemas.openxmlformats.org/officeDocument/2006/relationships" xmlns:p="http://schemas.openxmlformats.org/presentationml/2006/main">
  <p:tag name="TIMING" val="|7.7|33.5"/>
</p:tagLst>
</file>

<file path=ppt/tags/tag13.xml><?xml version="1.0" encoding="utf-8"?>
<p:tagLst xmlns:a="http://schemas.openxmlformats.org/drawingml/2006/main" xmlns:r="http://schemas.openxmlformats.org/officeDocument/2006/relationships" xmlns:p="http://schemas.openxmlformats.org/presentationml/2006/main">
  <p:tag name="TIMING" val="|3.2|61.6"/>
</p:tagLst>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476</TotalTime>
  <Words>1014</Words>
  <Application>Microsoft Macintosh PowerPoint</Application>
  <PresentationFormat>On-screen Show (4:3)</PresentationFormat>
  <Paragraphs>102</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ＭＳ Ｐゴシック</vt:lpstr>
      <vt:lpstr>Arial</vt:lpstr>
      <vt:lpstr>Calibri</vt:lpstr>
      <vt:lpstr>Times</vt:lpstr>
      <vt:lpstr>Blank</vt:lpstr>
      <vt:lpstr>Contemporary Issues in the Law of the Internal Market 2024/2025</vt:lpstr>
      <vt:lpstr>Overview</vt:lpstr>
      <vt:lpstr>Rights of job seekers</vt:lpstr>
      <vt:lpstr>Rights of job seekers </vt:lpstr>
      <vt:lpstr>Rights of job seekers </vt:lpstr>
      <vt:lpstr>Case C-67/14 Alimanovic</vt:lpstr>
      <vt:lpstr>Other categories benefiting from Art 45 TFEU</vt:lpstr>
      <vt:lpstr>Rights of worker</vt:lpstr>
      <vt:lpstr>Rights of worker (II)</vt:lpstr>
      <vt:lpstr>Rights of worker (III)</vt:lpstr>
      <vt:lpstr>FMW – Indirect Discrimination</vt:lpstr>
      <vt:lpstr>Examples: indirect discrimination</vt:lpstr>
      <vt:lpstr>Examples: indirect discrimination</vt:lpstr>
      <vt:lpstr>Scope of the principle of non-discrimination...</vt:lpstr>
      <vt:lpstr>Social adv. (Art 7(2) Reg. 492/11)</vt:lpstr>
      <vt:lpstr>Social advantages (Art 7(2)) (II) </vt:lpstr>
    </vt:vector>
  </TitlesOfParts>
  <Company>MUFC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Heading style for title slide</dc:title>
  <dc:creator>Eric</dc:creator>
  <cp:lastModifiedBy>SCHAMMO, PIERRE J.</cp:lastModifiedBy>
  <cp:revision>252</cp:revision>
  <cp:lastPrinted>2021-01-07T11:51:14Z</cp:lastPrinted>
  <dcterms:created xsi:type="dcterms:W3CDTF">2005-05-25T16:21:13Z</dcterms:created>
  <dcterms:modified xsi:type="dcterms:W3CDTF">2025-01-24T08:17:55Z</dcterms:modified>
</cp:coreProperties>
</file>