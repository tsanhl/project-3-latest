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23" r:id="rId2"/>
    <p:sldId id="257" r:id="rId3"/>
    <p:sldId id="265" r:id="rId4"/>
    <p:sldId id="266" r:id="rId5"/>
    <p:sldId id="305" r:id="rId6"/>
    <p:sldId id="317" r:id="rId7"/>
    <p:sldId id="306" r:id="rId8"/>
    <p:sldId id="324" r:id="rId9"/>
    <p:sldId id="307" r:id="rId10"/>
    <p:sldId id="309" r:id="rId11"/>
    <p:sldId id="325" r:id="rId12"/>
  </p:sldIdLst>
  <p:sldSz cx="9144000" cy="6858000" type="screen4x3"/>
  <p:notesSz cx="6797675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4354" autoAdjust="0"/>
  </p:normalViewPr>
  <p:slideViewPr>
    <p:cSldViewPr>
      <p:cViewPr varScale="1">
        <p:scale>
          <a:sx n="80" d="100"/>
          <a:sy n="80" d="100"/>
        </p:scale>
        <p:origin x="31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152" y="-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D8A62-74C2-5242-9BD3-050EC3555325}" type="datetimeFigureOut">
              <a:rPr lang="en-US" smtClean="0"/>
              <a:t>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4F2BC-F496-DB48-8E0C-0CAC888D8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365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42D98AC-6B06-4B79-949D-9F6CB8A1B0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2792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2D98AC-6B06-4B79-949D-9F6CB8A1B05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850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60000"/>
              </a:lnSpc>
              <a:spcBef>
                <a:spcPct val="0"/>
              </a:spcBef>
            </a:pPr>
            <a:endParaRPr lang="en-US" sz="2500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D5E86C1-ED0C-B34F-BABD-34D828F85937}" type="slidenum">
              <a:rPr lang="en-GB"/>
              <a:pPr eaLnBrk="1" hangingPunct="1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992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F579D29-0103-374D-8D29-EDF923D54B13}" type="slidenum">
              <a:rPr lang="en-GB"/>
              <a:pPr eaLnBrk="1" hangingPunct="1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382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1DCDC60-720C-DB46-8AFD-76F68D787D23}" type="slidenum">
              <a:rPr lang="en-GB"/>
              <a:pPr eaLnBrk="1" hangingPunct="1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119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0879B-DDFF-8445-ACB3-6D89FEFF5C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88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0879B-DDFF-8445-ACB3-6D89FEFF5C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86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0879B-DDFF-8445-ACB3-6D89FEFF5C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43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0879B-DDFF-8445-ACB3-6D89FEFF5C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14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0879B-DDFF-8445-ACB3-6D89FEFF5C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63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0879B-DDFF-8445-ACB3-6D89FEFF5C2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50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0879B-DDFF-8445-ACB3-6D89FEFF5C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10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5516563"/>
          </a:xfrm>
          <a:prstGeom prst="rect">
            <a:avLst/>
          </a:prstGeom>
          <a:solidFill>
            <a:srgbClr val="66336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3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755650" y="47625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27088" y="2420938"/>
            <a:ext cx="7561262" cy="1752600"/>
          </a:xfrm>
        </p:spPr>
        <p:txBody>
          <a:bodyPr/>
          <a:lstStyle>
            <a:lvl1pPr marL="0" indent="0"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1726C1-1128-4479-BE45-4CD17A5EDF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30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983E8-1028-4BC1-9CFE-648A544E84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37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B9E8DC-36F4-4970-9B12-3B0C0F30B5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63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4B6AE-D3EF-4CE1-BD2E-0DC8DE26E7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939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9FF88D-FF8B-4748-9EA9-7DC520BD5B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80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4EA3E-64A1-4BE8-9E90-BCA1288A25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75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B6736-DFC6-43C1-895E-67B06B9827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199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D35581-CF58-4CC2-91C4-5F75D839D2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519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362D1-CB0C-4683-8025-7FC8116F65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90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CDB42C-3168-40D0-B126-AAE1043894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69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195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195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B049E5-00CC-42C8-9A2C-41186B9985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76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 userDrawn="1"/>
        </p:nvSpPr>
        <p:spPr bwMode="auto">
          <a:xfrm>
            <a:off x="0" y="0"/>
            <a:ext cx="9140825" cy="6873875"/>
          </a:xfrm>
          <a:prstGeom prst="rect">
            <a:avLst/>
          </a:prstGeom>
          <a:solidFill>
            <a:srgbClr val="66336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r>
              <a:rPr lang="en-GB" altLang="en-US">
                <a:solidFill>
                  <a:srgbClr val="663366"/>
                </a:solidFill>
              </a:rPr>
              <a:t>∂</a:t>
            </a:r>
          </a:p>
        </p:txBody>
      </p:sp>
      <p:sp>
        <p:nvSpPr>
          <p:cNvPr id="1027" name="Rectangle 8"/>
          <p:cNvSpPr>
            <a:spLocks noChangeArrowheads="1"/>
          </p:cNvSpPr>
          <p:nvPr userDrawn="1"/>
        </p:nvSpPr>
        <p:spPr bwMode="auto">
          <a:xfrm>
            <a:off x="107950" y="107950"/>
            <a:ext cx="8924925" cy="665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Heading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12D67B0-B4C9-4845-85BE-85F4A7F9AB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790575" y="611188"/>
            <a:ext cx="80248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defRPr/>
            </a:pPr>
            <a:endParaRPr lang="en-US" altLang="en-US" sz="4400">
              <a:solidFill>
                <a:schemeClr val="bg1"/>
              </a:solidFill>
            </a:endParaRP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790575" y="1798638"/>
            <a:ext cx="8024813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1035" name="Picture 1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 sz="quarter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dirty="0">
                <a:latin typeface="Calibri" panose="020F0502020204030204" pitchFamily="34" charset="0"/>
              </a:rPr>
              <a:t>Contemporary Issues in the Law of the Internal Market 2024/2025</a:t>
            </a:r>
          </a:p>
        </p:txBody>
      </p:sp>
      <p:sp>
        <p:nvSpPr>
          <p:cNvPr id="10243" name="Subtitle 2"/>
          <p:cNvSpPr>
            <a:spLocks noGrp="1"/>
          </p:cNvSpPr>
          <p:nvPr>
            <p:ph type="subTitle" sz="quarter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sz="2200" dirty="0">
                <a:latin typeface="Calibri" panose="020F0502020204030204" pitchFamily="34" charset="0"/>
              </a:rPr>
              <a:t>Lecture 11: Free Movement of Workers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sz="22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sz="2200" dirty="0">
                <a:latin typeface="Calibri" panose="020F0502020204030204" pitchFamily="34" charset="0"/>
              </a:rPr>
              <a:t>Prof Pierre Schammo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sz="22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sz="2200" dirty="0">
                <a:latin typeface="Calibri" panose="020F0502020204030204" pitchFamily="34" charset="0"/>
              </a:rPr>
              <a:t>pierre.schammo@durham.ac.uk  </a:t>
            </a:r>
            <a:endParaRPr lang="en-GB" altLang="en-US" sz="2200" dirty="0">
              <a:solidFill>
                <a:srgbClr val="663366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GB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615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Introduction - Free movement of workers (FMW)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84213" y="1752600"/>
            <a:ext cx="7772400" cy="4052888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Art 45 TFEU (ex Art 39 EC)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Art 45(1) </a:t>
            </a:r>
            <a:r>
              <a:rPr lang="ja-JP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‘</a:t>
            </a:r>
            <a:r>
              <a:rPr 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Freedom of workers shall be secured within the Union</a:t>
            </a:r>
            <a:r>
              <a:rPr lang="ja-JP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’</a:t>
            </a:r>
            <a:endParaRPr lang="en-US" sz="20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Art 45(2): abolition of discrimination as regards employment, remuneration and other conditions of work and employment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Art 45 (3): public policy, public security and public health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Art 45 (4): for employment in public service</a:t>
            </a:r>
          </a:p>
          <a:p>
            <a:pPr eaLnBrk="1" hangingPunct="1">
              <a:lnSpc>
                <a:spcPct val="120000"/>
              </a:lnSpc>
            </a:pPr>
            <a:r>
              <a:rPr 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Secondary legislation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Regulation 492/2011 on FM of workers</a:t>
            </a:r>
          </a:p>
          <a:p>
            <a:pPr lvl="2" eaLnBrk="1" hangingPunct="1">
              <a:lnSpc>
                <a:spcPct val="120000"/>
              </a:lnSpc>
            </a:pPr>
            <a:r>
              <a:rPr 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Consolidated Council Regulation 1612/68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Directive 2004/38 (Citizen rights Directive)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204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 idx="4294967295"/>
          </p:nvPr>
        </p:nvSpPr>
        <p:spPr>
          <a:xfrm>
            <a:off x="685800" y="404664"/>
            <a:ext cx="7772400" cy="1152128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 concept of </a:t>
            </a:r>
            <a:r>
              <a:rPr lang="ja-JP" altLang="en-US" dirty="0">
                <a:latin typeface="Calibri" charset="0"/>
                <a:ea typeface="ＭＳ Ｐゴシック" charset="0"/>
                <a:cs typeface="ＭＳ Ｐゴシック" charset="0"/>
              </a:rPr>
              <a:t>‘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worker</a:t>
            </a:r>
            <a:r>
              <a:rPr lang="ja-JP" altLang="en-US" dirty="0">
                <a:latin typeface="Calibri" charset="0"/>
                <a:ea typeface="ＭＳ Ｐゴシック" charset="0"/>
                <a:cs typeface="ＭＳ Ｐゴシック" charset="0"/>
              </a:rPr>
              <a:t>’</a:t>
            </a: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4294967295"/>
          </p:nvPr>
        </p:nvSpPr>
        <p:spPr>
          <a:xfrm>
            <a:off x="684213" y="1700808"/>
            <a:ext cx="7772400" cy="4104680"/>
          </a:xfrm>
        </p:spPr>
        <p:txBody>
          <a:bodyPr/>
          <a:lstStyle/>
          <a:p>
            <a:pPr marL="342900" lvl="2" indent="-342900"/>
            <a:r>
              <a:rPr lang="en-US" sz="2900" dirty="0">
                <a:latin typeface="Calibri" charset="0"/>
                <a:ea typeface="ＭＳ Ｐゴシック" charset="0"/>
                <a:cs typeface="ＭＳ Ｐゴシック" charset="0"/>
              </a:rPr>
              <a:t>The concept of </a:t>
            </a:r>
            <a:r>
              <a:rPr lang="ja-JP" altLang="en-US" sz="2900" dirty="0">
                <a:latin typeface="Calibri" charset="0"/>
                <a:ea typeface="ＭＳ Ｐゴシック" charset="0"/>
                <a:cs typeface="ＭＳ Ｐゴシック" charset="0"/>
              </a:rPr>
              <a:t>‘</a:t>
            </a:r>
            <a:r>
              <a:rPr lang="en-US" sz="2900" dirty="0">
                <a:latin typeface="Calibri" charset="0"/>
                <a:ea typeface="ＭＳ Ｐゴシック" charset="0"/>
                <a:cs typeface="ＭＳ Ｐゴシック" charset="0"/>
              </a:rPr>
              <a:t>worker</a:t>
            </a:r>
            <a:r>
              <a:rPr lang="ja-JP" altLang="en-US" sz="2900" dirty="0">
                <a:latin typeface="Calibri" charset="0"/>
                <a:ea typeface="ＭＳ Ｐゴシック" charset="0"/>
                <a:cs typeface="ＭＳ Ｐゴシック" charset="0"/>
              </a:rPr>
              <a:t>’</a:t>
            </a:r>
            <a:r>
              <a:rPr lang="en-US" sz="2900" dirty="0">
                <a:latin typeface="Calibri" charset="0"/>
                <a:ea typeface="ＭＳ Ｐゴシック" charset="0"/>
                <a:cs typeface="ＭＳ Ｐゴシック" charset="0"/>
              </a:rPr>
              <a:t>has an EU meaning (</a:t>
            </a:r>
            <a:r>
              <a:rPr lang="en-GB" sz="2900" dirty="0" err="1">
                <a:latin typeface="Calibri" charset="0"/>
                <a:ea typeface="ＭＳ Ｐゴシック" charset="0"/>
              </a:rPr>
              <a:t>eg</a:t>
            </a:r>
            <a:r>
              <a:rPr lang="en-GB" sz="2900" dirty="0">
                <a:latin typeface="Calibri" charset="0"/>
                <a:ea typeface="ＭＳ Ｐゴシック" charset="0"/>
              </a:rPr>
              <a:t> Case 75/63 Hoekstra)</a:t>
            </a:r>
          </a:p>
          <a:p>
            <a:pPr lvl="1" eaLnBrk="1" hangingPunct="1"/>
            <a:r>
              <a:rPr lang="en-US" sz="2900" dirty="0">
                <a:latin typeface="Calibri" charset="0"/>
                <a:ea typeface="ＭＳ Ｐゴシック" charset="0"/>
              </a:rPr>
              <a:t>Different from concept of </a:t>
            </a:r>
            <a:r>
              <a:rPr lang="ja-JP" altLang="en-US" sz="2900" dirty="0">
                <a:latin typeface="Calibri" charset="0"/>
                <a:ea typeface="ＭＳ Ｐゴシック" charset="0"/>
              </a:rPr>
              <a:t>‘</a:t>
            </a:r>
            <a:r>
              <a:rPr lang="en-US" sz="2900" dirty="0">
                <a:latin typeface="Calibri" charset="0"/>
                <a:ea typeface="ＭＳ Ｐゴシック" charset="0"/>
              </a:rPr>
              <a:t>nationality</a:t>
            </a:r>
            <a:r>
              <a:rPr lang="ja-JP" altLang="en-US" sz="2900" dirty="0">
                <a:latin typeface="Calibri" charset="0"/>
                <a:ea typeface="ＭＳ Ｐゴシック" charset="0"/>
              </a:rPr>
              <a:t>’</a:t>
            </a:r>
            <a:r>
              <a:rPr lang="en-US" sz="2900" dirty="0">
                <a:latin typeface="Calibri" charset="0"/>
                <a:ea typeface="ＭＳ Ｐゴシック" charset="0"/>
              </a:rPr>
              <a:t> =&gt; nat. concept</a:t>
            </a:r>
          </a:p>
          <a:p>
            <a:pPr lvl="1" eaLnBrk="1" hangingPunct="1"/>
            <a:r>
              <a:rPr lang="en-US" sz="2900" dirty="0">
                <a:latin typeface="Calibri" charset="0"/>
                <a:ea typeface="ＭＳ Ｐゴシック" charset="0"/>
              </a:rPr>
              <a:t>How has the Court interpreted the concept of worker? </a:t>
            </a:r>
          </a:p>
          <a:p>
            <a:pPr lvl="2" eaLnBrk="1" hangingPunct="1"/>
            <a:r>
              <a:rPr lang="en-GB" sz="2900" dirty="0">
                <a:latin typeface="Calibri" charset="0"/>
                <a:ea typeface="ＭＳ Ｐゴシック" charset="0"/>
              </a:rPr>
              <a:t>The concept of worker must not be interpreted in a restrictive manner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2528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 idx="4294967295"/>
          </p:nvPr>
        </p:nvSpPr>
        <p:spPr>
          <a:xfrm>
            <a:off x="685800" y="332656"/>
            <a:ext cx="7772400" cy="115212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The meaning of worker – essential features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4294967295"/>
          </p:nvPr>
        </p:nvSpPr>
        <p:spPr>
          <a:xfrm>
            <a:off x="684213" y="1484784"/>
            <a:ext cx="7772400" cy="4320704"/>
          </a:xfrm>
        </p:spPr>
        <p:txBody>
          <a:bodyPr/>
          <a:lstStyle/>
          <a:p>
            <a:pPr indent="-342000" eaLnBrk="1" hangingPunct="1"/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Three essential features (Case 66/85 </a:t>
            </a:r>
            <a:r>
              <a:rPr lang="en-US" sz="3000" dirty="0" err="1">
                <a:latin typeface="Calibri" charset="0"/>
                <a:ea typeface="ＭＳ Ｐゴシック" charset="0"/>
                <a:cs typeface="ＭＳ Ｐゴシック" charset="0"/>
              </a:rPr>
              <a:t>Lawrie</a:t>
            </a:r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-Blum [7]):</a:t>
            </a:r>
          </a:p>
          <a:p>
            <a:pPr indent="-342000" eaLnBrk="1" hangingPunct="1">
              <a:buFont typeface="Arial" charset="0"/>
              <a:buNone/>
            </a:pPr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	‘The essential feature of an employment relationship … is that </a:t>
            </a:r>
            <a:r>
              <a:rPr lang="en-US" sz="3000" u="sng" dirty="0">
                <a:latin typeface="Calibri" charset="0"/>
                <a:ea typeface="ＭＳ Ｐゴシック" charset="0"/>
                <a:cs typeface="ＭＳ Ｐゴシック" charset="0"/>
              </a:rPr>
              <a:t>[</a:t>
            </a:r>
            <a:r>
              <a:rPr lang="en-US" sz="3000" u="sng" dirty="0" err="1">
                <a:latin typeface="Calibri" charset="0"/>
                <a:ea typeface="ＭＳ Ｐゴシック" charset="0"/>
                <a:cs typeface="ＭＳ Ｐゴシック" charset="0"/>
              </a:rPr>
              <a:t>i</a:t>
            </a:r>
            <a:r>
              <a:rPr lang="en-US" sz="3000" u="sng" dirty="0">
                <a:latin typeface="Calibri" charset="0"/>
                <a:ea typeface="ＭＳ Ｐゴシック" charset="0"/>
                <a:cs typeface="ＭＳ Ｐゴシック" charset="0"/>
              </a:rPr>
              <a:t>] for a certain period of time [ii] a person performs services for and under the direction of another person [iii] in return for which he receives remuneration</a:t>
            </a:r>
            <a:r>
              <a:rPr lang="ja-JP" altLang="en-US" sz="3000" dirty="0">
                <a:latin typeface="Calibri" charset="0"/>
                <a:ea typeface="ＭＳ Ｐゴシック" charset="0"/>
                <a:cs typeface="ＭＳ Ｐゴシック" charset="0"/>
              </a:rPr>
              <a:t>’</a:t>
            </a:r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. </a:t>
            </a:r>
          </a:p>
          <a:p>
            <a:pPr indent="-342000"/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Differentiate from self-employed </a:t>
            </a:r>
          </a:p>
          <a:p>
            <a:pPr indent="-342000"/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(Art 49 and Art 56 TFEU)</a:t>
            </a:r>
            <a:endParaRPr lang="en-GB" sz="3000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1701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224136"/>
          </a:xfrm>
        </p:spPr>
        <p:txBody>
          <a:bodyPr>
            <a:normAutofit fontScale="90000"/>
          </a:bodyPr>
          <a:lstStyle/>
          <a:p>
            <a:r>
              <a:rPr lang="en-US" dirty="0"/>
              <a:t>Status of worker can be retained if you no longer work provided that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9309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900" dirty="0"/>
              <a:t>Art 7(3) Dir. 2004/38:</a:t>
            </a:r>
          </a:p>
          <a:p>
            <a:pPr>
              <a:lnSpc>
                <a:spcPct val="120000"/>
              </a:lnSpc>
            </a:pPr>
            <a:r>
              <a:rPr lang="en-US" sz="1900" dirty="0"/>
              <a:t>… you are temporarily unable to work because of illness or accident</a:t>
            </a:r>
          </a:p>
          <a:p>
            <a:pPr>
              <a:lnSpc>
                <a:spcPct val="120000"/>
              </a:lnSpc>
            </a:pPr>
            <a:r>
              <a:rPr lang="en-US" sz="1900" dirty="0"/>
              <a:t>… you are involuntarily unemployed after having worked for at least 1 year and you are registered as job seeker</a:t>
            </a:r>
          </a:p>
          <a:p>
            <a:pPr>
              <a:lnSpc>
                <a:spcPct val="120000"/>
              </a:lnSpc>
            </a:pPr>
            <a:r>
              <a:rPr lang="en-US" sz="1900" dirty="0"/>
              <a:t>… you are involuntarily unemployed after completing fixed term employment of less than 1 year or after having become </a:t>
            </a:r>
            <a:r>
              <a:rPr lang="en-US" sz="1900" dirty="0" err="1"/>
              <a:t>invol</a:t>
            </a:r>
            <a:r>
              <a:rPr lang="en-US" sz="1900" dirty="0"/>
              <a:t>. unemployed during first year and after having registered as job-seeker</a:t>
            </a:r>
          </a:p>
          <a:p>
            <a:pPr lvl="1">
              <a:lnSpc>
                <a:spcPct val="120000"/>
              </a:lnSpc>
            </a:pPr>
            <a:r>
              <a:rPr lang="en-US" sz="1900" dirty="0"/>
              <a:t>Status retained for at least 6 months</a:t>
            </a:r>
          </a:p>
          <a:p>
            <a:pPr>
              <a:lnSpc>
                <a:spcPct val="120000"/>
              </a:lnSpc>
            </a:pPr>
            <a:r>
              <a:rPr lang="en-US" sz="1900" dirty="0"/>
              <a:t>… you embark on vocational training </a:t>
            </a:r>
          </a:p>
          <a:p>
            <a:pPr lvl="1">
              <a:lnSpc>
                <a:spcPct val="120000"/>
              </a:lnSpc>
            </a:pPr>
            <a:r>
              <a:rPr lang="en-US" sz="1900" dirty="0"/>
              <a:t>Training must be related to previous work, unless you are involuntarily unemployed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775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2656"/>
            <a:ext cx="7772400" cy="1440160"/>
          </a:xfrm>
        </p:spPr>
        <p:txBody>
          <a:bodyPr>
            <a:normAutofit fontScale="90000"/>
          </a:bodyPr>
          <a:lstStyle/>
          <a:p>
            <a:r>
              <a:rPr lang="en-US" dirty="0"/>
              <a:t>Status of worker can be retained if you no longer work provided that 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988840"/>
            <a:ext cx="7772400" cy="417646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Case C-507/12 </a:t>
            </a:r>
            <a:r>
              <a:rPr lang="en-US" sz="2500" i="1" dirty="0"/>
              <a:t>Jessy Saint Prix</a:t>
            </a:r>
            <a:r>
              <a:rPr lang="en-US" sz="2500" dirty="0"/>
              <a:t> (pregnant woman giving up work because of pregnancy and aftermath of childbirth retains status of worker, provided she returns to work ‘within a reasonable period’ after birth)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Court relies on Art 45 TFEU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565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part-time work, work for the purposes of Art 45 TFEU?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latin typeface="Calibri" charset="0"/>
                <a:ea typeface="ＭＳ Ｐゴシック" charset="0"/>
                <a:cs typeface="ＭＳ Ｐゴシック" charset="0"/>
              </a:rPr>
              <a:t>Yes, but activity must be </a:t>
            </a:r>
            <a:r>
              <a:rPr lang="en-US" sz="2400" u="sng" dirty="0">
                <a:latin typeface="Calibri" charset="0"/>
                <a:ea typeface="ＭＳ Ｐゴシック" charset="0"/>
                <a:cs typeface="ＭＳ Ｐゴシック" charset="0"/>
              </a:rPr>
              <a:t>genuine and effective</a:t>
            </a:r>
            <a:r>
              <a:rPr lang="en-US" sz="2400" dirty="0">
                <a:latin typeface="Calibri" charset="0"/>
                <a:ea typeface="ＭＳ Ｐゴシック" charset="0"/>
                <a:cs typeface="ＭＳ Ｐゴシック" charset="0"/>
              </a:rPr>
              <a:t> and </a:t>
            </a:r>
            <a:r>
              <a:rPr lang="en-US" sz="2400" u="sng" dirty="0">
                <a:latin typeface="Calibri" charset="0"/>
                <a:ea typeface="ＭＳ Ｐゴシック" charset="0"/>
                <a:cs typeface="ＭＳ Ｐゴシック" charset="0"/>
              </a:rPr>
              <a:t>not on such a small scale as to be purely marginal and ancillary</a:t>
            </a:r>
          </a:p>
          <a:p>
            <a:pPr lvl="1">
              <a:lnSpc>
                <a:spcPct val="110000"/>
              </a:lnSpc>
            </a:pPr>
            <a:r>
              <a:rPr lang="en-US" sz="2400" dirty="0">
                <a:latin typeface="Calibri" charset="0"/>
                <a:ea typeface="ＭＳ Ｐゴシック" charset="0"/>
              </a:rPr>
              <a:t>Case 53/81 Levin (part time workers as chambermaid earning less than min. subsistence wage)</a:t>
            </a:r>
          </a:p>
          <a:p>
            <a:pPr lvl="1">
              <a:lnSpc>
                <a:spcPct val="110000"/>
              </a:lnSpc>
            </a:pPr>
            <a:r>
              <a:rPr lang="en-US" sz="2400" dirty="0">
                <a:latin typeface="Calibri" charset="0"/>
                <a:ea typeface="ＭＳ Ｐゴシック" charset="0"/>
              </a:rPr>
              <a:t>Case C-139/85 </a:t>
            </a:r>
            <a:r>
              <a:rPr lang="en-US" sz="2400" dirty="0" err="1">
                <a:latin typeface="Calibri" charset="0"/>
                <a:ea typeface="ＭＳ Ｐゴシック" charset="0"/>
              </a:rPr>
              <a:t>Kempf</a:t>
            </a:r>
            <a:r>
              <a:rPr lang="en-US" sz="2400" dirty="0">
                <a:latin typeface="Calibri" charset="0"/>
                <a:ea typeface="ＭＳ Ｐゴシック" charset="0"/>
              </a:rPr>
              <a:t> (part time music teacher earning less than min. sub. wage and claiming social assistance)</a:t>
            </a:r>
          </a:p>
          <a:p>
            <a:pPr lvl="1">
              <a:lnSpc>
                <a:spcPct val="110000"/>
              </a:lnSpc>
            </a:pPr>
            <a:r>
              <a:rPr lang="en-US" sz="2400" dirty="0">
                <a:latin typeface="Calibri" charset="0"/>
                <a:ea typeface="ＭＳ Ｐゴシック" charset="0"/>
              </a:rPr>
              <a:t>Case C-357/89 </a:t>
            </a:r>
            <a:r>
              <a:rPr lang="en-US" sz="2400" dirty="0" err="1">
                <a:latin typeface="Calibri" charset="0"/>
                <a:ea typeface="ＭＳ Ｐゴシック" charset="0"/>
              </a:rPr>
              <a:t>Raulin</a:t>
            </a:r>
            <a:r>
              <a:rPr lang="en-US" sz="2400" dirty="0">
                <a:latin typeface="Calibri" charset="0"/>
                <a:ea typeface="ＭＳ Ｐゴシック" charset="0"/>
              </a:rPr>
              <a:t> (waitress working on an</a:t>
            </a:r>
            <a:r>
              <a:rPr lang="ja-JP" altLang="en-US" sz="2400" dirty="0">
                <a:latin typeface="Calibri" charset="0"/>
                <a:ea typeface="ＭＳ Ｐゴシック" charset="0"/>
              </a:rPr>
              <a:t>‘</a:t>
            </a:r>
            <a:r>
              <a:rPr lang="en-US" sz="2400" dirty="0">
                <a:latin typeface="Calibri" charset="0"/>
                <a:ea typeface="ＭＳ Ｐゴシック" charset="0"/>
              </a:rPr>
              <a:t>on-call contract</a:t>
            </a:r>
            <a:r>
              <a:rPr lang="ja-JP" altLang="en-US" sz="2400" dirty="0">
                <a:latin typeface="Calibri" charset="0"/>
                <a:ea typeface="ＭＳ Ｐゴシック" charset="0"/>
              </a:rPr>
              <a:t>’</a:t>
            </a:r>
            <a:r>
              <a:rPr lang="en-US" sz="2400" dirty="0">
                <a:latin typeface="Calibri" charset="0"/>
                <a:ea typeface="ＭＳ Ｐゴシック" charset="0"/>
              </a:rPr>
              <a:t> with no guarantee as to hours to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2400" dirty="0">
                <a:latin typeface="Calibri" charset="0"/>
                <a:ea typeface="ＭＳ Ｐゴシック" charset="0"/>
              </a:rPr>
              <a:t>     work)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Calibri" charset="0"/>
              <a:ea typeface="ＭＳ Ｐゴシック" charset="0"/>
            </a:endParaRP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447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part-time work, work for the purposes of Art 45 TFEU (II)?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ri" charset="0"/>
                <a:ea typeface="ＭＳ Ｐゴシック" charset="0"/>
              </a:rPr>
              <a:t>To be considered ‘effective and genuine’, activity in question must be </a:t>
            </a:r>
            <a:r>
              <a:rPr lang="en-US" sz="2600" u="sng" dirty="0">
                <a:latin typeface="Calibri" charset="0"/>
                <a:ea typeface="ＭＳ Ｐゴシック" charset="0"/>
              </a:rPr>
              <a:t>‘capable of being regarded as forming part of the normal </a:t>
            </a:r>
            <a:r>
              <a:rPr lang="en-US" sz="2600" u="sng" dirty="0" err="1">
                <a:latin typeface="Calibri" charset="0"/>
                <a:ea typeface="ＭＳ Ｐゴシック" charset="0"/>
              </a:rPr>
              <a:t>labour</a:t>
            </a:r>
            <a:r>
              <a:rPr lang="en-US" sz="2600" u="sng" dirty="0">
                <a:latin typeface="Calibri" charset="0"/>
                <a:ea typeface="ＭＳ Ｐゴシック" charset="0"/>
              </a:rPr>
              <a:t> market’ </a:t>
            </a:r>
            <a:r>
              <a:rPr lang="en-US" sz="2600" dirty="0">
                <a:latin typeface="Calibri" charset="0"/>
                <a:ea typeface="ＭＳ Ｐゴシック" charset="0"/>
              </a:rPr>
              <a:t> Case C-456/02 </a:t>
            </a:r>
            <a:r>
              <a:rPr lang="en-US" sz="2600" dirty="0" err="1">
                <a:latin typeface="Calibri" charset="0"/>
                <a:ea typeface="ＭＳ Ｐゴシック" charset="0"/>
              </a:rPr>
              <a:t>Trojani</a:t>
            </a:r>
            <a:r>
              <a:rPr lang="en-US" sz="2600" dirty="0">
                <a:latin typeface="Calibri" charset="0"/>
                <a:ea typeface="ＭＳ Ｐゴシック" charset="0"/>
              </a:rPr>
              <a:t>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ri" charset="0"/>
                <a:ea typeface="ＭＳ Ｐゴシック" charset="0"/>
              </a:rPr>
              <a:t>Whether EU migrant is worker requires ‘overall assessment of the employment relationship’ (Case 14/09 Hava </a:t>
            </a:r>
            <a:r>
              <a:rPr lang="en-US" sz="2600" dirty="0" err="1">
                <a:latin typeface="Calibri" charset="0"/>
                <a:ea typeface="ＭＳ Ｐゴシック" charset="0"/>
              </a:rPr>
              <a:t>Genc</a:t>
            </a:r>
            <a:r>
              <a:rPr lang="en-US" sz="2600">
                <a:latin typeface="Calibri" charset="0"/>
                <a:ea typeface="ＭＳ Ｐゴシック" charset="0"/>
              </a:rPr>
              <a:t>, para 26) </a:t>
            </a:r>
            <a:endParaRPr lang="en-US" sz="2600" dirty="0">
              <a:latin typeface="Calibri" charset="0"/>
              <a:ea typeface="ＭＳ Ｐゴシック" charset="0"/>
            </a:endParaRPr>
          </a:p>
          <a:p>
            <a:pPr>
              <a:lnSpc>
                <a:spcPct val="110000"/>
              </a:lnSpc>
            </a:pPr>
            <a:endParaRPr lang="en-US" sz="2400" dirty="0">
              <a:latin typeface="Calibri" charset="0"/>
              <a:ea typeface="ＭＳ Ｐゴシック" charset="0"/>
            </a:endParaRP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182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Does it matter what you earn?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752600"/>
            <a:ext cx="7772400" cy="405288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Calibri" charset="0"/>
                <a:ea typeface="ＭＳ Ｐゴシック" charset="0"/>
                <a:cs typeface="ＭＳ Ｐゴシック" charset="0"/>
              </a:rPr>
              <a:t>Amount earned is immaterial</a:t>
            </a:r>
          </a:p>
          <a:p>
            <a:pPr lvl="1"/>
            <a:r>
              <a:rPr lang="en-US" sz="2600" dirty="0">
                <a:latin typeface="Calibri" charset="0"/>
                <a:ea typeface="ＭＳ Ｐゴシック" charset="0"/>
                <a:cs typeface="ＭＳ Ｐゴシック" charset="0"/>
              </a:rPr>
              <a:t>Case 66/85 </a:t>
            </a:r>
            <a:r>
              <a:rPr lang="en-US" sz="2600" dirty="0" err="1">
                <a:latin typeface="Calibri" charset="0"/>
                <a:ea typeface="ＭＳ Ｐゴシック" charset="0"/>
                <a:cs typeface="ＭＳ Ｐゴシック" charset="0"/>
              </a:rPr>
              <a:t>Lawrie</a:t>
            </a:r>
            <a:r>
              <a:rPr lang="en-US" sz="2600" dirty="0">
                <a:latin typeface="Calibri" charset="0"/>
                <a:ea typeface="ＭＳ Ｐゴシック" charset="0"/>
                <a:cs typeface="ＭＳ Ｐゴシック" charset="0"/>
              </a:rPr>
              <a:t>-Blum (trainee teacher paid remuneration below the starting salary of a qualified teacher)</a:t>
            </a:r>
          </a:p>
          <a:p>
            <a:pPr lvl="1"/>
            <a:r>
              <a:rPr lang="en-US" sz="2600" dirty="0">
                <a:latin typeface="Calibri" charset="0"/>
                <a:ea typeface="ＭＳ Ｐゴシック" charset="0"/>
                <a:cs typeface="ＭＳ Ｐゴシック" charset="0"/>
              </a:rPr>
              <a:t>See also case law on part time workers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Calibri" charset="0"/>
                <a:ea typeface="ＭＳ Ｐゴシック" charset="0"/>
                <a:cs typeface="ＭＳ Ｐゴシック" charset="0"/>
              </a:rPr>
              <a:t>Remuneration can consist of </a:t>
            </a:r>
            <a:r>
              <a:rPr lang="en-US" sz="2600" u="sng" dirty="0">
                <a:latin typeface="Calibri" charset="0"/>
                <a:ea typeface="ＭＳ Ｐゴシック" charset="0"/>
                <a:cs typeface="ＭＳ Ｐゴシック" charset="0"/>
              </a:rPr>
              <a:t>benefits in kind</a:t>
            </a:r>
          </a:p>
          <a:p>
            <a:pPr lvl="1"/>
            <a:r>
              <a:rPr lang="en-US" sz="2600" dirty="0">
                <a:latin typeface="Calibri" charset="0"/>
                <a:ea typeface="ＭＳ Ｐゴシック" charset="0"/>
              </a:rPr>
              <a:t>Case 196/87 </a:t>
            </a:r>
            <a:r>
              <a:rPr lang="en-US" sz="2600" dirty="0" err="1">
                <a:latin typeface="Calibri" charset="0"/>
                <a:ea typeface="ＭＳ Ｐゴシック" charset="0"/>
              </a:rPr>
              <a:t>Steyman</a:t>
            </a:r>
            <a:endParaRPr lang="en-US" sz="2600" dirty="0">
              <a:latin typeface="Calibri" charset="0"/>
              <a:ea typeface="ＭＳ Ｐゴシック" charset="0"/>
            </a:endParaRP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349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work (or job) seekers?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988840"/>
            <a:ext cx="7772400" cy="381664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= </a:t>
            </a:r>
            <a:r>
              <a:rPr lang="en-US" sz="2600" b="1" dirty="0"/>
              <a:t>first-time </a:t>
            </a:r>
            <a:r>
              <a:rPr lang="en-US" sz="2600" dirty="0"/>
              <a:t>job seekers (= different from Art 7(3) Dir. 2004/38)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Benefit from Art 45, but their rights are nevertheless less extensive than those of workers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Why should job seekers benefit from FMW provisions?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21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2656"/>
            <a:ext cx="7772400" cy="1224136"/>
          </a:xfrm>
        </p:spPr>
        <p:txBody>
          <a:bodyPr/>
          <a:lstStyle/>
          <a:p>
            <a:r>
              <a:rPr lang="en-US" dirty="0"/>
              <a:t>Rights of job seekers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52600"/>
            <a:ext cx="7772400" cy="405288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 dirty="0"/>
              <a:t>Right to stay in order to seek employment</a:t>
            </a:r>
          </a:p>
          <a:p>
            <a:pPr lvl="1">
              <a:lnSpc>
                <a:spcPct val="110000"/>
              </a:lnSpc>
            </a:pPr>
            <a:r>
              <a:rPr lang="en-US" sz="1900" dirty="0"/>
              <a:t>Case C-292/89 </a:t>
            </a:r>
            <a:r>
              <a:rPr lang="en-US" sz="1900" dirty="0" err="1"/>
              <a:t>Antonissen</a:t>
            </a:r>
            <a:r>
              <a:rPr lang="en-US" sz="1900" dirty="0"/>
              <a:t> (M-S must give jobseeker reasonable time to find work; </a:t>
            </a:r>
            <a:r>
              <a:rPr lang="en-US" sz="1900" b="1" dirty="0"/>
              <a:t>in </a:t>
            </a:r>
            <a:r>
              <a:rPr lang="en-US" sz="1900" b="1" dirty="0" err="1"/>
              <a:t>casu</a:t>
            </a:r>
            <a:r>
              <a:rPr lang="en-US" sz="1900" dirty="0"/>
              <a:t>: UK can ask job-seeker to leave after 6 months, </a:t>
            </a:r>
            <a:r>
              <a:rPr lang="en-US" sz="1900" u="sng" dirty="0"/>
              <a:t>unless</a:t>
            </a:r>
            <a:r>
              <a:rPr lang="en-US" sz="1900" dirty="0"/>
              <a:t> job seeker provides evidence that he is continuing to seek work and has genuine chances of being engaged)</a:t>
            </a:r>
          </a:p>
          <a:p>
            <a:pPr lvl="1">
              <a:lnSpc>
                <a:spcPct val="110000"/>
              </a:lnSpc>
            </a:pPr>
            <a:r>
              <a:rPr lang="en-US" sz="1900" dirty="0"/>
              <a:t>Art 14(4) </a:t>
            </a:r>
            <a:r>
              <a:rPr lang="en-US" sz="1900" dirty="0" err="1"/>
              <a:t>Dir</a:t>
            </a:r>
            <a:r>
              <a:rPr lang="en-US" sz="1900" dirty="0"/>
              <a:t> 2004/38</a:t>
            </a:r>
          </a:p>
          <a:p>
            <a:pPr lvl="2">
              <a:lnSpc>
                <a:spcPct val="110000"/>
              </a:lnSpc>
            </a:pPr>
            <a:r>
              <a:rPr lang="en-US" sz="1900" dirty="0"/>
              <a:t>If requirements of Art 14(4) are not met, expulsion is possible without need to rely on public policy/security justifications</a:t>
            </a:r>
          </a:p>
          <a:p>
            <a:pPr lvl="1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356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6|176.7|10.4|14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6|25|83.8|1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4|94.2|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6.7|22|22.3|36.1|36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6.2|42|26.6|33.5|17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|84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13.9|0.9|13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77.4|26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23.3|57.3"/>
</p:tagLst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778</Words>
  <Application>Microsoft Macintosh PowerPoint</Application>
  <PresentationFormat>On-screen Show (4:3)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</vt:lpstr>
      <vt:lpstr>Blank</vt:lpstr>
      <vt:lpstr>Contemporary Issues in the Law of the Internal Market 2024/2025</vt:lpstr>
      <vt:lpstr>Introduction - Free movement of workers (FMW)</vt:lpstr>
      <vt:lpstr>The concept of ‘worker’</vt:lpstr>
      <vt:lpstr>The meaning of worker – essential features</vt:lpstr>
      <vt:lpstr>Status of worker can be retained if you no longer work provided that …</vt:lpstr>
      <vt:lpstr>Status of worker can be retained if you no longer work provided that ..</vt:lpstr>
      <vt:lpstr>Is part-time work, work for the purposes of Art 45 TFEU?</vt:lpstr>
      <vt:lpstr>Is part-time work, work for the purposes of Art 45 TFEU (II)?</vt:lpstr>
      <vt:lpstr>Does it matter what you earn?</vt:lpstr>
      <vt:lpstr>What about work (or job) seekers?</vt:lpstr>
      <vt:lpstr>Rights of job seekers</vt:lpstr>
    </vt:vector>
  </TitlesOfParts>
  <Company>MUFC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Heading style for title slide</dc:title>
  <dc:creator>Eric</dc:creator>
  <cp:lastModifiedBy>SCHAMMO, PIERRE J.</cp:lastModifiedBy>
  <cp:revision>212</cp:revision>
  <cp:lastPrinted>2023-01-09T11:20:05Z</cp:lastPrinted>
  <dcterms:created xsi:type="dcterms:W3CDTF">2005-05-25T16:21:13Z</dcterms:created>
  <dcterms:modified xsi:type="dcterms:W3CDTF">2025-01-17T07:57:12Z</dcterms:modified>
</cp:coreProperties>
</file>