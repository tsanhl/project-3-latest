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sldIdLst>
    <p:sldId id="274" r:id="rId2"/>
    <p:sldId id="278" r:id="rId3"/>
    <p:sldId id="291" r:id="rId4"/>
    <p:sldId id="292" r:id="rId5"/>
    <p:sldId id="293" r:id="rId6"/>
    <p:sldId id="294" r:id="rId7"/>
    <p:sldId id="295" r:id="rId8"/>
    <p:sldId id="296" r:id="rId9"/>
    <p:sldId id="297" r:id="rId1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15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D96B72-7B78-4AF6-9E2A-ACF0D6FF5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083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A4C3F-C7EA-4ACD-A688-00B8AB7459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9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BEF36-167C-4C49-8BEC-492A52FB25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36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B25EF-8505-41EF-9FA9-7086DB9CD6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41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92C22-D07F-40BC-BDA1-A66BDD0B5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29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9969B-DFAC-45A2-A97A-3A45D334CB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1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08585-A115-42BE-AB24-3F9E13C77F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29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B4418-570D-4619-8178-AA43F1EEE1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1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4CDFD-3AD0-42DF-91C7-33373E0E8D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245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9D50C-17A8-4EF5-9234-192251A318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3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03C77-C923-4C93-BA88-C3252B5B2F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17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64F13-510B-4910-B11C-E04CB8484A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1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/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A5A50F5-2650-4FA7-BA16-E4DBD2873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EU Internal </a:t>
            </a:r>
            <a:r>
              <a:rPr lang="en-GB" altLang="en-US"/>
              <a:t>Market 2024-2025</a:t>
            </a:r>
            <a:endParaRPr lang="en-GB" altLang="en-US" dirty="0"/>
          </a:p>
        </p:txBody>
      </p:sp>
      <p:sp>
        <p:nvSpPr>
          <p:cNvPr id="1024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dirty="0">
                <a:latin typeface="+mj-lt"/>
              </a:rPr>
              <a:t>Lecture 7: Free movement of goods after Brexit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dirty="0"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dirty="0">
                <a:latin typeface="+mj-lt"/>
              </a:rPr>
              <a:t>Andreas Georgiou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dirty="0"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dirty="0" err="1">
                <a:latin typeface="+mj-lt"/>
              </a:rPr>
              <a:t>andreas.georgiou@durham.ac.uk</a:t>
            </a:r>
            <a:endParaRPr lang="en-GB" altLang="en-US" sz="2000" dirty="0">
              <a:solidFill>
                <a:srgbClr val="663366"/>
              </a:solidFill>
              <a:latin typeface="+mj-lt"/>
            </a:endParaRPr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structure of lecture 7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endParaRPr lang="en-US" altLang="en-US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The Withdrawal Agreement</a:t>
            </a:r>
            <a:endParaRPr lang="en-US" altLang="en-US" i="1" dirty="0">
              <a:latin typeface="+mj-lt"/>
            </a:endParaRPr>
          </a:p>
          <a:p>
            <a:pPr>
              <a:buFont typeface="+mj-lt"/>
              <a:buAutoNum type="arabicPeriod"/>
            </a:pPr>
            <a:endParaRPr lang="en-US" altLang="en-US" i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The Trade and Co-operation Agreement</a:t>
            </a:r>
          </a:p>
          <a:p>
            <a:pPr>
              <a:buFont typeface="+mj-lt"/>
              <a:buAutoNum type="arabicPeriod"/>
            </a:pPr>
            <a:endParaRPr lang="en-US" altLang="en-US" i="1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US" altLang="en-US" dirty="0">
                <a:latin typeface="+mj-lt"/>
              </a:rPr>
              <a:t>The UK Internal Market Act 2020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Brexit and free movement of goods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options for the UK after Brexit</a:t>
            </a:r>
          </a:p>
          <a:p>
            <a:pPr lvl="1" indent="-342900">
              <a:buFont typeface="+mj-lt"/>
              <a:buAutoNum type="alphaLcPeriod"/>
            </a:pPr>
            <a:endParaRPr lang="en-GB" dirty="0">
              <a:latin typeface="+mj-lt"/>
            </a:endParaRPr>
          </a:p>
          <a:p>
            <a:pPr lvl="1" indent="-342900">
              <a:buFont typeface="+mj-lt"/>
              <a:buAutoNum type="alphaLcPeriod"/>
            </a:pPr>
            <a:r>
              <a:rPr lang="en-GB" dirty="0">
                <a:latin typeface="+mj-lt"/>
              </a:rPr>
              <a:t>The “Norway” model: the UK would become a member of the EEA and remain in the internal market</a:t>
            </a:r>
          </a:p>
          <a:p>
            <a:pPr lvl="1" indent="-342900">
              <a:buFont typeface="+mj-lt"/>
              <a:buAutoNum type="alphaLcPeriod"/>
            </a:pPr>
            <a:r>
              <a:rPr lang="en-GB" dirty="0">
                <a:latin typeface="+mj-lt"/>
              </a:rPr>
              <a:t>The “Turkey” model: the UK would leave the internal market, but would remain in the Customs Union</a:t>
            </a:r>
          </a:p>
          <a:p>
            <a:pPr lvl="1" indent="-342900">
              <a:buFont typeface="+mj-lt"/>
              <a:buAutoNum type="alphaLcPeriod"/>
            </a:pPr>
            <a:r>
              <a:rPr lang="en-GB" dirty="0">
                <a:latin typeface="+mj-lt"/>
              </a:rPr>
              <a:t>The “Canada+” model: the UK would conclude a free trade agreement with the EU</a:t>
            </a:r>
          </a:p>
          <a:p>
            <a:pPr lvl="1" indent="-342900">
              <a:buFont typeface="+mj-lt"/>
              <a:buAutoNum type="alphaL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What were the main free movement issues in the Article 50 TEU process?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latin typeface="+mj-lt"/>
              </a:rPr>
              <a:t>The rights of EU citizens in the UK and UK citizens in the EU (see lecture 10)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latin typeface="+mj-lt"/>
              </a:rPr>
              <a:t>The Good Friday Agreement and the border between Northern-Ireland and Ireland</a:t>
            </a:r>
          </a:p>
        </p:txBody>
      </p:sp>
    </p:spTree>
    <p:extLst>
      <p:ext uri="{BB962C8B-B14F-4D97-AF65-F5344CB8AC3E}">
        <p14:creationId xmlns:p14="http://schemas.microsoft.com/office/powerpoint/2010/main" val="246883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Brexit and free movement of goods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48880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proposal supported by Theresa May: a “backstop” with the UK in the Customs Union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solution proposed by Boris Johnson: a border between Great Britain and Northern-Ireland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Protocol on Ireland/Northern-Ireland in the Withdrawal Agreement</a:t>
            </a:r>
          </a:p>
        </p:txBody>
      </p:sp>
    </p:spTree>
    <p:extLst>
      <p:ext uri="{BB962C8B-B14F-4D97-AF65-F5344CB8AC3E}">
        <p14:creationId xmlns:p14="http://schemas.microsoft.com/office/powerpoint/2010/main" val="419096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260648"/>
            <a:ext cx="7772400" cy="1143000"/>
          </a:xfrm>
        </p:spPr>
        <p:txBody>
          <a:bodyPr/>
          <a:lstStyle/>
          <a:p>
            <a:r>
              <a:rPr lang="en-GB" dirty="0"/>
              <a:t>The Withdrawal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403648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Article 5(5) of the Protocol: the UK has to comply with Articles 30 and 110 TFEU with respect to Northern-Ireland, which remains part of the EU’s Customs Union 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Similarly, no quantitative restrictions on imports and exports between the EU and Northern Ireland are allowed</a:t>
            </a:r>
          </a:p>
        </p:txBody>
      </p:sp>
      <p:pic>
        <p:nvPicPr>
          <p:cNvPr id="4" name="Picture 2" descr="Map of the the UK showing how goods travelling from GB into NI and onward to the Republic of Ireland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197224"/>
            <a:ext cx="2952328" cy="341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22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Trade and Co-operation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04864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An association agreement concluded under Article 217 TFEU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No more free movement of goods, but: zero tariffs and no quotas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Customs formalities and checks on UK goods entering the EU (including health inspections of products)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“Windsor Framework” (February 2023)</a:t>
            </a:r>
          </a:p>
        </p:txBody>
      </p:sp>
    </p:spTree>
    <p:extLst>
      <p:ext uri="{BB962C8B-B14F-4D97-AF65-F5344CB8AC3E}">
        <p14:creationId xmlns:p14="http://schemas.microsoft.com/office/powerpoint/2010/main" val="1943414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UK Internal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“legacy” of EU free movement law: the UK Internal Market Act 2020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An internal market for goods, services and professional qualifications between the devolved administrations of the UK: England, Scotland, Wales and Northern-Ireland 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A “codification exercise” of the CJEU’s case law on Article 34 TFEU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Market access principles: mutual recognition (</a:t>
            </a:r>
            <a:r>
              <a:rPr lang="en-GB" i="1" dirty="0">
                <a:latin typeface="+mj-lt"/>
              </a:rPr>
              <a:t>Cassis de Dijon</a:t>
            </a:r>
            <a:r>
              <a:rPr lang="en-GB" dirty="0">
                <a:latin typeface="+mj-lt"/>
              </a:rPr>
              <a:t>) and non-discrimination (</a:t>
            </a:r>
            <a:r>
              <a:rPr lang="en-GB" i="1" dirty="0">
                <a:latin typeface="+mj-lt"/>
              </a:rPr>
              <a:t>Keck</a:t>
            </a:r>
            <a:r>
              <a:rPr lang="en-GB" dirty="0">
                <a:latin typeface="+mj-lt"/>
              </a:rPr>
              <a:t>)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50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97768"/>
            <a:ext cx="7772400" cy="1143000"/>
          </a:xfrm>
        </p:spPr>
        <p:txBody>
          <a:bodyPr/>
          <a:lstStyle/>
          <a:p>
            <a:r>
              <a:rPr lang="en-GB" dirty="0"/>
              <a:t>The UK Internal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381635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Section 3: the principle of mutual recognition is applicable to “relevant requirements” such as product requirements: statutory requirements relating to the characteristics, presentation or production of the goods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Section 4: the principle of non-discrimination is applicable to “relevant requirements” such as manner of sale requirements: direct and indirect discrimination against goods from another part of the UK is prohibited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Section 10 (and Schedule 1): exclusion of market access principles where there is a “serious threat to human, animal or plant health” presented by a “pest or disease” or “unsafe food”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Section 8(6): indirectly discriminatory rules can be justified on the basis of “the protection of the life or health of humans, animals and plants” or “the protection of public safety or security”</a:t>
            </a:r>
          </a:p>
        </p:txBody>
      </p:sp>
    </p:spTree>
    <p:extLst>
      <p:ext uri="{BB962C8B-B14F-4D97-AF65-F5344CB8AC3E}">
        <p14:creationId xmlns:p14="http://schemas.microsoft.com/office/powerpoint/2010/main" val="132791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UK Internal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aim of the creation of the UK Internal Market: centralisation of regulatory power in Westminster?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scope of the UK Internal Market: material and formal scope (statutory requirements only)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The enforcement of the UK Internal Market: no “direct legal effect” of the market access principles</a:t>
            </a:r>
          </a:p>
          <a:p>
            <a:pPr>
              <a:buFont typeface="+mj-lt"/>
              <a:buAutoNum type="arabicPeriod"/>
            </a:pPr>
            <a:endParaRPr lang="en-GB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+mj-lt"/>
              </a:rPr>
              <a:t>Interesting articles by Steve Weatherill (</a:t>
            </a:r>
            <a:r>
              <a:rPr lang="en-GB" i="1" dirty="0">
                <a:latin typeface="+mj-lt"/>
              </a:rPr>
              <a:t>Yearbook of European Law</a:t>
            </a:r>
            <a:r>
              <a:rPr lang="en-GB" dirty="0">
                <a:latin typeface="+mj-lt"/>
              </a:rPr>
              <a:t>) and Kenneth Armstrong (</a:t>
            </a:r>
            <a:r>
              <a:rPr lang="en-GB" i="1" dirty="0">
                <a:latin typeface="+mj-lt"/>
              </a:rPr>
              <a:t>Modern Law Review</a:t>
            </a:r>
            <a:r>
              <a:rPr lang="en-GB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453671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612</Words>
  <Application>Microsoft Macintosh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</vt:lpstr>
      <vt:lpstr>Blank</vt:lpstr>
      <vt:lpstr>EU Internal Market 2024-2025</vt:lpstr>
      <vt:lpstr>The structure of lecture 7</vt:lpstr>
      <vt:lpstr>Brexit and free movement of goods</vt:lpstr>
      <vt:lpstr>Brexit and free movement of goods</vt:lpstr>
      <vt:lpstr>The Withdrawal Agreement</vt:lpstr>
      <vt:lpstr>The Trade and Co-operation Agreement</vt:lpstr>
      <vt:lpstr>The UK Internal Market</vt:lpstr>
      <vt:lpstr>The UK Internal Market</vt:lpstr>
      <vt:lpstr>The UK Internal Market</vt:lpstr>
    </vt:vector>
  </TitlesOfParts>
  <Company>MUFC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style for title slide</dc:title>
  <dc:creator>Eric</dc:creator>
  <cp:lastModifiedBy>GEORGIOU, ANDREAS</cp:lastModifiedBy>
  <cp:revision>84</cp:revision>
  <dcterms:created xsi:type="dcterms:W3CDTF">2005-05-25T16:21:13Z</dcterms:created>
  <dcterms:modified xsi:type="dcterms:W3CDTF">2024-11-21T16:26:26Z</dcterms:modified>
</cp:coreProperties>
</file>