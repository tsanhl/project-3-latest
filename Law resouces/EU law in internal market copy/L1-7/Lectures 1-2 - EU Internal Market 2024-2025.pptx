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28"/>
  </p:notesMasterIdLst>
  <p:sldIdLst>
    <p:sldId id="274" r:id="rId2"/>
    <p:sldId id="339" r:id="rId3"/>
    <p:sldId id="278" r:id="rId4"/>
    <p:sldId id="279" r:id="rId5"/>
    <p:sldId id="280" r:id="rId6"/>
    <p:sldId id="281" r:id="rId7"/>
    <p:sldId id="304" r:id="rId8"/>
    <p:sldId id="305" r:id="rId9"/>
    <p:sldId id="282" r:id="rId10"/>
    <p:sldId id="283" r:id="rId11"/>
    <p:sldId id="284" r:id="rId12"/>
    <p:sldId id="286" r:id="rId13"/>
    <p:sldId id="287" r:id="rId14"/>
    <p:sldId id="288" r:id="rId15"/>
    <p:sldId id="289" r:id="rId16"/>
    <p:sldId id="290" r:id="rId17"/>
    <p:sldId id="291" r:id="rId18"/>
    <p:sldId id="292" r:id="rId19"/>
    <p:sldId id="293" r:id="rId20"/>
    <p:sldId id="294" r:id="rId21"/>
    <p:sldId id="295" r:id="rId22"/>
    <p:sldId id="296" r:id="rId23"/>
    <p:sldId id="297" r:id="rId24"/>
    <p:sldId id="298" r:id="rId25"/>
    <p:sldId id="299" r:id="rId26"/>
    <p:sldId id="300" r:id="rId27"/>
  </p:sldIdLst>
  <p:sldSz cx="9144000" cy="6858000" type="screen4x3"/>
  <p:notesSz cx="6858000" cy="9144000"/>
  <p:defaultTextStyle>
    <a:defPPr>
      <a:defRPr lang="en-GB"/>
    </a:defPPr>
    <a:lvl1pPr algn="l" rtl="0" eaLnBrk="0" fontAlgn="base" hangingPunct="0">
      <a:spcBef>
        <a:spcPct val="0"/>
      </a:spcBef>
      <a:spcAft>
        <a:spcPct val="0"/>
      </a:spcAft>
      <a:defRPr sz="2400" kern="1200">
        <a:solidFill>
          <a:schemeClr val="tx1"/>
        </a:solidFill>
        <a:latin typeface="Times"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pitchFamily="18" charset="0"/>
        <a:ea typeface="+mn-ea"/>
        <a:cs typeface="+mn-cs"/>
      </a:defRPr>
    </a:lvl5pPr>
    <a:lvl6pPr marL="2286000" algn="l" defTabSz="914400" rtl="0" eaLnBrk="1" latinLnBrk="0" hangingPunct="1">
      <a:defRPr sz="2400" kern="1200">
        <a:solidFill>
          <a:schemeClr val="tx1"/>
        </a:solidFill>
        <a:latin typeface="Times" pitchFamily="18" charset="0"/>
        <a:ea typeface="+mn-ea"/>
        <a:cs typeface="+mn-cs"/>
      </a:defRPr>
    </a:lvl6pPr>
    <a:lvl7pPr marL="2743200" algn="l" defTabSz="914400" rtl="0" eaLnBrk="1" latinLnBrk="0" hangingPunct="1">
      <a:defRPr sz="2400" kern="1200">
        <a:solidFill>
          <a:schemeClr val="tx1"/>
        </a:solidFill>
        <a:latin typeface="Times" pitchFamily="18" charset="0"/>
        <a:ea typeface="+mn-ea"/>
        <a:cs typeface="+mn-cs"/>
      </a:defRPr>
    </a:lvl7pPr>
    <a:lvl8pPr marL="3200400" algn="l" defTabSz="914400" rtl="0" eaLnBrk="1" latinLnBrk="0" hangingPunct="1">
      <a:defRPr sz="2400" kern="1200">
        <a:solidFill>
          <a:schemeClr val="tx1"/>
        </a:solidFill>
        <a:latin typeface="Times" pitchFamily="18" charset="0"/>
        <a:ea typeface="+mn-ea"/>
        <a:cs typeface="+mn-cs"/>
      </a:defRPr>
    </a:lvl8pPr>
    <a:lvl9pPr marL="3657600" algn="l" defTabSz="914400" rtl="0" eaLnBrk="1" latinLnBrk="0" hangingPunct="1">
      <a:defRPr sz="2400" kern="1200">
        <a:solidFill>
          <a:schemeClr val="tx1"/>
        </a:solidFill>
        <a:latin typeface="Times"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37"/>
  </p:normalViewPr>
  <p:slideViewPr>
    <p:cSldViewPr>
      <p:cViewPr varScale="1">
        <p:scale>
          <a:sx n="103" d="100"/>
          <a:sy n="103" d="100"/>
        </p:scale>
        <p:origin x="1880"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4" d="100"/>
          <a:sy n="54" d="100"/>
        </p:scale>
        <p:origin x="-1152"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2457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1229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8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458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2458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5DD96B72-7B78-4AF6-9E2A-ACF0D6FF500F}" type="slidenum">
              <a:rPr lang="en-GB"/>
              <a:pPr>
                <a:defRPr/>
              </a:pPr>
              <a:t>‹#›</a:t>
            </a:fld>
            <a:endParaRPr lang="en-GB"/>
          </a:p>
        </p:txBody>
      </p:sp>
    </p:spTree>
    <p:extLst>
      <p:ext uri="{BB962C8B-B14F-4D97-AF65-F5344CB8AC3E}">
        <p14:creationId xmlns:p14="http://schemas.microsoft.com/office/powerpoint/2010/main" val="105208310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0"/>
            <a:ext cx="9144000" cy="5516563"/>
          </a:xfrm>
          <a:prstGeom prst="rect">
            <a:avLst/>
          </a:prstGeom>
          <a:solidFill>
            <a:srgbClr val="66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endParaRPr lang="en-US" altLang="en-US">
              <a:solidFill>
                <a:srgbClr val="663366"/>
              </a:solidFill>
            </a:endParaRPr>
          </a:p>
        </p:txBody>
      </p:sp>
      <p:pic>
        <p:nvPicPr>
          <p:cNvPr id="5"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3" name="Rectangle 11"/>
          <p:cNvSpPr>
            <a:spLocks noGrp="1" noChangeArrowheads="1"/>
          </p:cNvSpPr>
          <p:nvPr>
            <p:ph type="ctrTitle" sz="quarter"/>
          </p:nvPr>
        </p:nvSpPr>
        <p:spPr>
          <a:xfrm>
            <a:off x="755650" y="476250"/>
            <a:ext cx="7772400" cy="1470025"/>
          </a:xfrm>
        </p:spPr>
        <p:txBody>
          <a:bodyPr/>
          <a:lstStyle>
            <a:lvl1pPr>
              <a:defRPr>
                <a:solidFill>
                  <a:schemeClr val="bg1"/>
                </a:solidFill>
              </a:defRPr>
            </a:lvl1pPr>
          </a:lstStyle>
          <a:p>
            <a:r>
              <a:rPr lang="en-GB"/>
              <a:t>Click to edit Master title style</a:t>
            </a:r>
          </a:p>
        </p:txBody>
      </p:sp>
      <p:sp>
        <p:nvSpPr>
          <p:cNvPr id="8204" name="Rectangle 12"/>
          <p:cNvSpPr>
            <a:spLocks noGrp="1" noChangeArrowheads="1"/>
          </p:cNvSpPr>
          <p:nvPr>
            <p:ph type="subTitle" sz="quarter" idx="1"/>
          </p:nvPr>
        </p:nvSpPr>
        <p:spPr>
          <a:xfrm>
            <a:off x="827088" y="2420938"/>
            <a:ext cx="7561262" cy="1752600"/>
          </a:xfrm>
        </p:spPr>
        <p:txBody>
          <a:bodyPr/>
          <a:lstStyle>
            <a:lvl1pPr marL="0" indent="0">
              <a:defRPr b="1">
                <a:solidFill>
                  <a:schemeClr val="bg1"/>
                </a:solidFill>
              </a:defRPr>
            </a:lvl1pPr>
          </a:lstStyle>
          <a:p>
            <a:r>
              <a:rPr lang="en-GB"/>
              <a:t>Click to edit Master subtitle style</a:t>
            </a:r>
          </a:p>
        </p:txBody>
      </p:sp>
      <p:sp>
        <p:nvSpPr>
          <p:cNvPr id="6" name="Rectangle 6"/>
          <p:cNvSpPr>
            <a:spLocks noGrp="1" noChangeArrowheads="1"/>
          </p:cNvSpPr>
          <p:nvPr>
            <p:ph type="sldNum" sz="quarter" idx="10"/>
          </p:nvPr>
        </p:nvSpPr>
        <p:spPr>
          <a:xfrm>
            <a:off x="6553200" y="6245225"/>
            <a:ext cx="2133600" cy="476250"/>
          </a:xfrm>
        </p:spPr>
        <p:txBody>
          <a:bodyPr/>
          <a:lstStyle>
            <a:lvl1pPr>
              <a:defRPr/>
            </a:lvl1pPr>
          </a:lstStyle>
          <a:p>
            <a:pPr>
              <a:defRPr/>
            </a:pPr>
            <a:fld id="{0FDA4C3F-C7EA-4ACD-A688-00B8AB745967}" type="slidenum">
              <a:rPr lang="en-GB"/>
              <a:pPr>
                <a:defRPr/>
              </a:pPr>
              <a:t>‹#›</a:t>
            </a:fld>
            <a:endParaRPr lang="en-GB"/>
          </a:p>
        </p:txBody>
      </p:sp>
    </p:spTree>
    <p:extLst>
      <p:ext uri="{BB962C8B-B14F-4D97-AF65-F5344CB8AC3E}">
        <p14:creationId xmlns:p14="http://schemas.microsoft.com/office/powerpoint/2010/main" val="416994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A7EBEF36-167C-4C49-8BEC-492A52FB25B2}" type="slidenum">
              <a:rPr lang="en-GB"/>
              <a:pPr>
                <a:defRPr/>
              </a:pPr>
              <a:t>‹#›</a:t>
            </a:fld>
            <a:endParaRPr lang="en-GB"/>
          </a:p>
        </p:txBody>
      </p:sp>
    </p:spTree>
    <p:extLst>
      <p:ext uri="{BB962C8B-B14F-4D97-AF65-F5344CB8AC3E}">
        <p14:creationId xmlns:p14="http://schemas.microsoft.com/office/powerpoint/2010/main" val="1441360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8BCB25EF-8505-41EF-9FA9-7086DB9CD6D2}" type="slidenum">
              <a:rPr lang="en-GB"/>
              <a:pPr>
                <a:defRPr/>
              </a:pPr>
              <a:t>‹#›</a:t>
            </a:fld>
            <a:endParaRPr lang="en-GB"/>
          </a:p>
        </p:txBody>
      </p:sp>
    </p:spTree>
    <p:extLst>
      <p:ext uri="{BB962C8B-B14F-4D97-AF65-F5344CB8AC3E}">
        <p14:creationId xmlns:p14="http://schemas.microsoft.com/office/powerpoint/2010/main" val="4286413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842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98592C22-D07F-40BC-BDA1-A66BDD0B51CF}" type="slidenum">
              <a:rPr lang="en-GB"/>
              <a:pPr>
                <a:defRPr/>
              </a:pPr>
              <a:t>‹#›</a:t>
            </a:fld>
            <a:endParaRPr lang="en-GB"/>
          </a:p>
        </p:txBody>
      </p:sp>
    </p:spTree>
    <p:extLst>
      <p:ext uri="{BB962C8B-B14F-4D97-AF65-F5344CB8AC3E}">
        <p14:creationId xmlns:p14="http://schemas.microsoft.com/office/powerpoint/2010/main" val="1544299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86D9969B-DFAC-45A2-A97A-3A45D334CBFF}" type="slidenum">
              <a:rPr lang="en-GB"/>
              <a:pPr>
                <a:defRPr/>
              </a:pPr>
              <a:t>‹#›</a:t>
            </a:fld>
            <a:endParaRPr lang="en-GB"/>
          </a:p>
        </p:txBody>
      </p:sp>
    </p:spTree>
    <p:extLst>
      <p:ext uri="{BB962C8B-B14F-4D97-AF65-F5344CB8AC3E}">
        <p14:creationId xmlns:p14="http://schemas.microsoft.com/office/powerpoint/2010/main" val="5315167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F3108585-A115-42BE-AB24-3F9E13C77FD2}" type="slidenum">
              <a:rPr lang="en-GB"/>
              <a:pPr>
                <a:defRPr/>
              </a:pPr>
              <a:t>‹#›</a:t>
            </a:fld>
            <a:endParaRPr lang="en-GB"/>
          </a:p>
        </p:txBody>
      </p:sp>
    </p:spTree>
    <p:extLst>
      <p:ext uri="{BB962C8B-B14F-4D97-AF65-F5344CB8AC3E}">
        <p14:creationId xmlns:p14="http://schemas.microsoft.com/office/powerpoint/2010/main" val="1987296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D76B4418-570D-4619-8178-AA43F1EEE12D}" type="slidenum">
              <a:rPr lang="en-GB"/>
              <a:pPr>
                <a:defRPr/>
              </a:pPr>
              <a:t>‹#›</a:t>
            </a:fld>
            <a:endParaRPr lang="en-GB"/>
          </a:p>
        </p:txBody>
      </p:sp>
    </p:spTree>
    <p:extLst>
      <p:ext uri="{BB962C8B-B14F-4D97-AF65-F5344CB8AC3E}">
        <p14:creationId xmlns:p14="http://schemas.microsoft.com/office/powerpoint/2010/main" val="1061319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6F14CDFD-3AD0-42DF-91C7-33373E0E8DF9}" type="slidenum">
              <a:rPr lang="en-GB"/>
              <a:pPr>
                <a:defRPr/>
              </a:pPr>
              <a:t>‹#›</a:t>
            </a:fld>
            <a:endParaRPr lang="en-GB"/>
          </a:p>
        </p:txBody>
      </p:sp>
    </p:spTree>
    <p:extLst>
      <p:ext uri="{BB962C8B-B14F-4D97-AF65-F5344CB8AC3E}">
        <p14:creationId xmlns:p14="http://schemas.microsoft.com/office/powerpoint/2010/main" val="3129245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E909D50C-17A8-4EF5-9234-192251A318A5}" type="slidenum">
              <a:rPr lang="en-GB"/>
              <a:pPr>
                <a:defRPr/>
              </a:pPr>
              <a:t>‹#›</a:t>
            </a:fld>
            <a:endParaRPr lang="en-GB"/>
          </a:p>
        </p:txBody>
      </p:sp>
    </p:spTree>
    <p:extLst>
      <p:ext uri="{BB962C8B-B14F-4D97-AF65-F5344CB8AC3E}">
        <p14:creationId xmlns:p14="http://schemas.microsoft.com/office/powerpoint/2010/main" val="1650232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F1403C77-C923-4C93-BA88-C3252B5B2F1C}" type="slidenum">
              <a:rPr lang="en-GB"/>
              <a:pPr>
                <a:defRPr/>
              </a:pPr>
              <a:t>‹#›</a:t>
            </a:fld>
            <a:endParaRPr lang="en-GB"/>
          </a:p>
        </p:txBody>
      </p:sp>
    </p:spTree>
    <p:extLst>
      <p:ext uri="{BB962C8B-B14F-4D97-AF65-F5344CB8AC3E}">
        <p14:creationId xmlns:p14="http://schemas.microsoft.com/office/powerpoint/2010/main" val="16171766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19588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4213" y="609600"/>
            <a:ext cx="5678487" cy="5195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10064F13-510B-4910-B11C-E04CB8484A3C}" type="slidenum">
              <a:rPr lang="en-GB"/>
              <a:pPr>
                <a:defRPr/>
              </a:pPr>
              <a:t>‹#›</a:t>
            </a:fld>
            <a:endParaRPr lang="en-GB"/>
          </a:p>
        </p:txBody>
      </p:sp>
    </p:spTree>
    <p:extLst>
      <p:ext uri="{BB962C8B-B14F-4D97-AF65-F5344CB8AC3E}">
        <p14:creationId xmlns:p14="http://schemas.microsoft.com/office/powerpoint/2010/main" val="3350110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Durham Text Slide - 1 col">
    <p:spTree>
      <p:nvGrpSpPr>
        <p:cNvPr id="1" name=""/>
        <p:cNvGrpSpPr/>
        <p:nvPr/>
      </p:nvGrpSpPr>
      <p:grpSpPr>
        <a:xfrm>
          <a:off x="0" y="0"/>
          <a:ext cx="0" cy="0"/>
          <a:chOff x="0" y="0"/>
          <a:chExt cx="0" cy="0"/>
        </a:xfrm>
      </p:grpSpPr>
      <p:sp>
        <p:nvSpPr>
          <p:cNvPr id="6" name="Title Placeholder 9">
            <a:extLst>
              <a:ext uri="{FF2B5EF4-FFF2-40B4-BE49-F238E27FC236}">
                <a16:creationId xmlns:a16="http://schemas.microsoft.com/office/drawing/2014/main" id="{44440D5D-DEB6-C63B-56E5-4227B630ECEE}"/>
              </a:ext>
            </a:extLst>
          </p:cNvPr>
          <p:cNvSpPr>
            <a:spLocks noGrp="1"/>
          </p:cNvSpPr>
          <p:nvPr>
            <p:ph type="title"/>
          </p:nvPr>
        </p:nvSpPr>
        <p:spPr>
          <a:xfrm>
            <a:off x="440676" y="322119"/>
            <a:ext cx="8074675" cy="779569"/>
          </a:xfrm>
          <a:prstGeom prst="rect">
            <a:avLst/>
          </a:prstGeom>
        </p:spPr>
        <p:txBody>
          <a:bodyPr vert="horz" lIns="91440" tIns="45720" rIns="91440" bIns="45720" rtlCol="0" anchor="ctr">
            <a:normAutofit/>
          </a:bodyPr>
          <a:lstStyle/>
          <a:p>
            <a:r>
              <a:rPr lang="en-GB" dirty="0"/>
              <a:t>Click to edit Master title style</a:t>
            </a:r>
          </a:p>
        </p:txBody>
      </p:sp>
      <p:sp>
        <p:nvSpPr>
          <p:cNvPr id="11" name="Content Placeholder 10">
            <a:extLst>
              <a:ext uri="{FF2B5EF4-FFF2-40B4-BE49-F238E27FC236}">
                <a16:creationId xmlns:a16="http://schemas.microsoft.com/office/drawing/2014/main" id="{4924BD09-AAA1-7620-7B22-85F1DBF127AC}"/>
              </a:ext>
            </a:extLst>
          </p:cNvPr>
          <p:cNvSpPr>
            <a:spLocks noGrp="1"/>
          </p:cNvSpPr>
          <p:nvPr>
            <p:ph sz="quarter" idx="10"/>
          </p:nvPr>
        </p:nvSpPr>
        <p:spPr>
          <a:xfrm>
            <a:off x="440676" y="1323863"/>
            <a:ext cx="8074025" cy="484716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2" name="Picture 1" descr="A logo with text on it&#10;&#10;Description automatically generated">
            <a:extLst>
              <a:ext uri="{FF2B5EF4-FFF2-40B4-BE49-F238E27FC236}">
                <a16:creationId xmlns:a16="http://schemas.microsoft.com/office/drawing/2014/main" id="{3F8016C3-DCBA-C890-822B-D1770526F5AF}"/>
              </a:ext>
            </a:extLst>
          </p:cNvPr>
          <p:cNvPicPr>
            <a:picLocks noChangeAspect="1"/>
          </p:cNvPicPr>
          <p:nvPr userDrawn="1"/>
        </p:nvPicPr>
        <p:blipFill>
          <a:blip r:embed="rId2"/>
          <a:stretch>
            <a:fillRect/>
          </a:stretch>
        </p:blipFill>
        <p:spPr>
          <a:xfrm>
            <a:off x="164353" y="6171029"/>
            <a:ext cx="914400" cy="633984"/>
          </a:xfrm>
          <a:prstGeom prst="rect">
            <a:avLst/>
          </a:prstGeom>
        </p:spPr>
      </p:pic>
    </p:spTree>
    <p:extLst>
      <p:ext uri="{BB962C8B-B14F-4D97-AF65-F5344CB8AC3E}">
        <p14:creationId xmlns:p14="http://schemas.microsoft.com/office/powerpoint/2010/main" val="2808359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p:cNvSpPr>
            <a:spLocks noChangeArrowheads="1"/>
          </p:cNvSpPr>
          <p:nvPr userDrawn="1"/>
        </p:nvSpPr>
        <p:spPr bwMode="auto">
          <a:xfrm>
            <a:off x="0" y="0"/>
            <a:ext cx="9140825" cy="6873875"/>
          </a:xfrm>
          <a:prstGeom prst="rect">
            <a:avLst/>
          </a:prstGeom>
          <a:solidFill>
            <a:srgbClr val="66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r>
              <a:rPr lang="en-GB" altLang="en-US">
                <a:solidFill>
                  <a:srgbClr val="663366"/>
                </a:solidFill>
              </a:rPr>
              <a:t>∂</a:t>
            </a:r>
          </a:p>
        </p:txBody>
      </p:sp>
      <p:sp>
        <p:nvSpPr>
          <p:cNvPr id="1027" name="Rectangle 8"/>
          <p:cNvSpPr>
            <a:spLocks noChangeArrowheads="1"/>
          </p:cNvSpPr>
          <p:nvPr userDrawn="1"/>
        </p:nvSpPr>
        <p:spPr bwMode="auto">
          <a:xfrm>
            <a:off x="107950" y="107950"/>
            <a:ext cx="8924925" cy="6657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endParaRPr lang="en-US" altLang="en-US">
              <a:solidFill>
                <a:srgbClr val="663366"/>
              </a:solidFill>
            </a:endParaRPr>
          </a:p>
        </p:txBody>
      </p:sp>
      <p:sp>
        <p:nvSpPr>
          <p:cNvPr id="1028"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Heading style</a:t>
            </a:r>
          </a:p>
        </p:txBody>
      </p:sp>
      <p:sp>
        <p:nvSpPr>
          <p:cNvPr id="1029" name="Rectangle 3"/>
          <p:cNvSpPr>
            <a:spLocks noGrp="1" noChangeArrowheads="1"/>
          </p:cNvSpPr>
          <p:nvPr>
            <p:ph type="body" idx="1"/>
          </p:nvPr>
        </p:nvSpPr>
        <p:spPr bwMode="auto">
          <a:xfrm>
            <a:off x="684213" y="1989138"/>
            <a:ext cx="7772400"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2"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GB"/>
          </a:p>
        </p:txBody>
      </p:sp>
      <p:sp>
        <p:nvSpPr>
          <p:cNvPr id="3"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GB"/>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1A5A50F5-2650-4FA7-BA16-E4DBD2873D7C}" type="slidenum">
              <a:rPr lang="en-GB"/>
              <a:pPr>
                <a:defRPr/>
              </a:pPr>
              <a:t>‹#›</a:t>
            </a:fld>
            <a:endParaRPr lang="en-GB"/>
          </a:p>
        </p:txBody>
      </p:sp>
      <p:sp>
        <p:nvSpPr>
          <p:cNvPr id="1033" name="Rectangle 9"/>
          <p:cNvSpPr>
            <a:spLocks noChangeArrowheads="1"/>
          </p:cNvSpPr>
          <p:nvPr userDrawn="1"/>
        </p:nvSpPr>
        <p:spPr bwMode="auto">
          <a:xfrm>
            <a:off x="790575" y="611188"/>
            <a:ext cx="802481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eaLnBrk="1" hangingPunct="1">
              <a:defRPr/>
            </a:pPr>
            <a:endParaRPr lang="en-US" altLang="en-US" sz="4400">
              <a:solidFill>
                <a:schemeClr val="bg1"/>
              </a:solidFill>
            </a:endParaRPr>
          </a:p>
        </p:txBody>
      </p:sp>
      <p:sp>
        <p:nvSpPr>
          <p:cNvPr id="1034" name="Rectangle 10"/>
          <p:cNvSpPr>
            <a:spLocks noChangeArrowheads="1"/>
          </p:cNvSpPr>
          <p:nvPr userDrawn="1"/>
        </p:nvSpPr>
        <p:spPr bwMode="auto">
          <a:xfrm>
            <a:off x="790575" y="1798638"/>
            <a:ext cx="8024813" cy="381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eaLnBrk="1" hangingPunct="1">
              <a:spcBef>
                <a:spcPct val="20000"/>
              </a:spcBef>
              <a:defRPr/>
            </a:pPr>
            <a:endParaRPr lang="en-US" altLang="en-US" sz="1800" b="1">
              <a:solidFill>
                <a:schemeClr val="bg1"/>
              </a:solidFill>
              <a:latin typeface="Arial" charset="0"/>
            </a:endParaRPr>
          </a:p>
        </p:txBody>
      </p:sp>
      <p:pic>
        <p:nvPicPr>
          <p:cNvPr id="1035" name="Picture 11"/>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31"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2" r:id="rId12"/>
  </p:sldLayoutIdLst>
  <p:txStyles>
    <p:titleStyle>
      <a:lvl1pPr algn="l" rtl="0" eaLnBrk="0" fontAlgn="base" hangingPunct="0">
        <a:spcBef>
          <a:spcPct val="0"/>
        </a:spcBef>
        <a:spcAft>
          <a:spcPct val="0"/>
        </a:spcAft>
        <a:defRPr sz="4400">
          <a:solidFill>
            <a:srgbClr val="663366"/>
          </a:solidFill>
          <a:latin typeface="+mj-lt"/>
          <a:ea typeface="+mj-ea"/>
          <a:cs typeface="+mj-cs"/>
        </a:defRPr>
      </a:lvl1pPr>
      <a:lvl2pPr algn="l" rtl="0" eaLnBrk="0" fontAlgn="base" hangingPunct="0">
        <a:spcBef>
          <a:spcPct val="0"/>
        </a:spcBef>
        <a:spcAft>
          <a:spcPct val="0"/>
        </a:spcAft>
        <a:defRPr sz="4400">
          <a:solidFill>
            <a:srgbClr val="663366"/>
          </a:solidFill>
          <a:latin typeface="Times" pitchFamily="18" charset="0"/>
        </a:defRPr>
      </a:lvl2pPr>
      <a:lvl3pPr algn="l" rtl="0" eaLnBrk="0" fontAlgn="base" hangingPunct="0">
        <a:spcBef>
          <a:spcPct val="0"/>
        </a:spcBef>
        <a:spcAft>
          <a:spcPct val="0"/>
        </a:spcAft>
        <a:defRPr sz="4400">
          <a:solidFill>
            <a:srgbClr val="663366"/>
          </a:solidFill>
          <a:latin typeface="Times" pitchFamily="18" charset="0"/>
        </a:defRPr>
      </a:lvl3pPr>
      <a:lvl4pPr algn="l" rtl="0" eaLnBrk="0" fontAlgn="base" hangingPunct="0">
        <a:spcBef>
          <a:spcPct val="0"/>
        </a:spcBef>
        <a:spcAft>
          <a:spcPct val="0"/>
        </a:spcAft>
        <a:defRPr sz="4400">
          <a:solidFill>
            <a:srgbClr val="663366"/>
          </a:solidFill>
          <a:latin typeface="Times" pitchFamily="18" charset="0"/>
        </a:defRPr>
      </a:lvl4pPr>
      <a:lvl5pPr algn="l" rtl="0" eaLnBrk="0" fontAlgn="base" hangingPunct="0">
        <a:spcBef>
          <a:spcPct val="0"/>
        </a:spcBef>
        <a:spcAft>
          <a:spcPct val="0"/>
        </a:spcAft>
        <a:defRPr sz="4400">
          <a:solidFill>
            <a:srgbClr val="663366"/>
          </a:solidFill>
          <a:latin typeface="Times" pitchFamily="18" charset="0"/>
        </a:defRPr>
      </a:lvl5pPr>
      <a:lvl6pPr marL="457200" algn="l" rtl="0" fontAlgn="base">
        <a:spcBef>
          <a:spcPct val="0"/>
        </a:spcBef>
        <a:spcAft>
          <a:spcPct val="0"/>
        </a:spcAft>
        <a:defRPr sz="4400">
          <a:solidFill>
            <a:srgbClr val="663366"/>
          </a:solidFill>
          <a:latin typeface="Times" pitchFamily="18" charset="0"/>
        </a:defRPr>
      </a:lvl6pPr>
      <a:lvl7pPr marL="914400" algn="l" rtl="0" fontAlgn="base">
        <a:spcBef>
          <a:spcPct val="0"/>
        </a:spcBef>
        <a:spcAft>
          <a:spcPct val="0"/>
        </a:spcAft>
        <a:defRPr sz="4400">
          <a:solidFill>
            <a:srgbClr val="663366"/>
          </a:solidFill>
          <a:latin typeface="Times" pitchFamily="18" charset="0"/>
        </a:defRPr>
      </a:lvl7pPr>
      <a:lvl8pPr marL="1371600" algn="l" rtl="0" fontAlgn="base">
        <a:spcBef>
          <a:spcPct val="0"/>
        </a:spcBef>
        <a:spcAft>
          <a:spcPct val="0"/>
        </a:spcAft>
        <a:defRPr sz="4400">
          <a:solidFill>
            <a:srgbClr val="663366"/>
          </a:solidFill>
          <a:latin typeface="Times" pitchFamily="18" charset="0"/>
        </a:defRPr>
      </a:lvl8pPr>
      <a:lvl9pPr marL="1828800" algn="l" rtl="0" fontAlgn="base">
        <a:spcBef>
          <a:spcPct val="0"/>
        </a:spcBef>
        <a:spcAft>
          <a:spcPct val="0"/>
        </a:spcAft>
        <a:defRPr sz="4400">
          <a:solidFill>
            <a:srgbClr val="663366"/>
          </a:solidFill>
          <a:latin typeface="Times" pitchFamily="18"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sz="1600">
          <a:solidFill>
            <a:schemeClr val="tx1"/>
          </a:solidFill>
          <a:latin typeface="+mn-lt"/>
        </a:defRPr>
      </a:lvl2pPr>
      <a:lvl3pPr marL="1143000" indent="-228600" algn="l" rtl="0" eaLnBrk="0" fontAlgn="base" hangingPunct="0">
        <a:spcBef>
          <a:spcPct val="20000"/>
        </a:spcBef>
        <a:spcAft>
          <a:spcPct val="0"/>
        </a:spcAft>
        <a:buChar char="•"/>
        <a:defRPr sz="1400">
          <a:solidFill>
            <a:schemeClr val="tx1"/>
          </a:solidFill>
          <a:latin typeface="+mn-lt"/>
        </a:defRPr>
      </a:lvl3pPr>
      <a:lvl4pPr marL="1600200" indent="-228600" algn="l" rtl="0" eaLnBrk="0" fontAlgn="base" hangingPunct="0">
        <a:spcBef>
          <a:spcPct val="20000"/>
        </a:spcBef>
        <a:spcAft>
          <a:spcPct val="0"/>
        </a:spcAft>
        <a:buChar char="–"/>
        <a:defRPr sz="1200">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forms.office.com/e/M4sXvtjpFH"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ctrTitle" sz="quarter"/>
          </p:nvPr>
        </p:nvSpPr>
        <p:spPr/>
        <p:txBody>
          <a:bodyPr/>
          <a:lstStyle/>
          <a:p>
            <a:pPr eaLnBrk="1" hangingPunct="1"/>
            <a:r>
              <a:rPr lang="en-GB" altLang="en-US" dirty="0"/>
              <a:t>EU Internal Market 2024-2025</a:t>
            </a:r>
          </a:p>
        </p:txBody>
      </p:sp>
      <p:sp>
        <p:nvSpPr>
          <p:cNvPr id="10243" name="Subtitle 2"/>
          <p:cNvSpPr>
            <a:spLocks noGrp="1"/>
          </p:cNvSpPr>
          <p:nvPr>
            <p:ph type="subTitle" sz="quarter" idx="1"/>
          </p:nvPr>
        </p:nvSpPr>
        <p:spPr>
          <a:xfrm>
            <a:off x="766774" y="2060848"/>
            <a:ext cx="7561262" cy="1752600"/>
          </a:xfrm>
        </p:spPr>
        <p:txBody>
          <a:bodyPr/>
          <a:lstStyle/>
          <a:p>
            <a:pPr eaLnBrk="1" hangingPunct="1">
              <a:lnSpc>
                <a:spcPct val="110000"/>
              </a:lnSpc>
              <a:spcBef>
                <a:spcPct val="0"/>
              </a:spcBef>
            </a:pPr>
            <a:r>
              <a:rPr lang="en-GB" altLang="en-US" dirty="0">
                <a:latin typeface="+mj-lt"/>
              </a:rPr>
              <a:t>Lectures 1-2: Introduction to the EU internal market and its structure</a:t>
            </a:r>
          </a:p>
          <a:p>
            <a:pPr eaLnBrk="1" hangingPunct="1">
              <a:lnSpc>
                <a:spcPct val="110000"/>
              </a:lnSpc>
              <a:spcBef>
                <a:spcPct val="0"/>
              </a:spcBef>
            </a:pPr>
            <a:endParaRPr lang="en-GB" altLang="en-US" dirty="0">
              <a:latin typeface="+mj-lt"/>
            </a:endParaRPr>
          </a:p>
          <a:p>
            <a:pPr eaLnBrk="1" hangingPunct="1">
              <a:lnSpc>
                <a:spcPct val="110000"/>
              </a:lnSpc>
              <a:spcBef>
                <a:spcPct val="0"/>
              </a:spcBef>
            </a:pPr>
            <a:r>
              <a:rPr lang="en-GB" altLang="en-US" dirty="0">
                <a:latin typeface="+mj-lt"/>
              </a:rPr>
              <a:t>Andreas Georgiou</a:t>
            </a:r>
          </a:p>
          <a:p>
            <a:pPr eaLnBrk="1" hangingPunct="1">
              <a:lnSpc>
                <a:spcPct val="110000"/>
              </a:lnSpc>
              <a:spcBef>
                <a:spcPct val="0"/>
              </a:spcBef>
            </a:pPr>
            <a:endParaRPr lang="en-GB" altLang="en-US" dirty="0">
              <a:latin typeface="+mj-lt"/>
            </a:endParaRPr>
          </a:p>
          <a:p>
            <a:pPr eaLnBrk="1" hangingPunct="1">
              <a:lnSpc>
                <a:spcPct val="110000"/>
              </a:lnSpc>
              <a:spcBef>
                <a:spcPct val="0"/>
              </a:spcBef>
            </a:pPr>
            <a:r>
              <a:rPr lang="en-GB" altLang="en-US" dirty="0" err="1">
                <a:latin typeface="+mj-lt"/>
              </a:rPr>
              <a:t>andreas.georgiou@durham.ac.uk</a:t>
            </a:r>
            <a:endParaRPr lang="en-GB" altLang="en-US" dirty="0">
              <a:latin typeface="+mj-lt"/>
            </a:endParaRPr>
          </a:p>
          <a:p>
            <a:pPr eaLnBrk="1" hangingPunct="1"/>
            <a:endParaRPr lang="en-GB"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AEDAE-F15B-B199-843F-BCA3E282E3B7}"/>
              </a:ext>
            </a:extLst>
          </p:cNvPr>
          <p:cNvSpPr>
            <a:spLocks noGrp="1"/>
          </p:cNvSpPr>
          <p:nvPr>
            <p:ph type="title"/>
          </p:nvPr>
        </p:nvSpPr>
        <p:spPr>
          <a:xfrm>
            <a:off x="439376" y="674977"/>
            <a:ext cx="8074675" cy="779569"/>
          </a:xfrm>
        </p:spPr>
        <p:txBody>
          <a:bodyPr>
            <a:normAutofit fontScale="90000"/>
          </a:bodyPr>
          <a:lstStyle/>
          <a:p>
            <a:r>
              <a:rPr lang="en-GB" dirty="0"/>
              <a:t>Student Voice Event – Voice Your Opinion!</a:t>
            </a:r>
          </a:p>
        </p:txBody>
      </p:sp>
      <p:sp>
        <p:nvSpPr>
          <p:cNvPr id="3" name="Content Placeholder 2">
            <a:extLst>
              <a:ext uri="{FF2B5EF4-FFF2-40B4-BE49-F238E27FC236}">
                <a16:creationId xmlns:a16="http://schemas.microsoft.com/office/drawing/2014/main" id="{B0490906-142B-983F-45BB-4CFFB0AC3295}"/>
              </a:ext>
            </a:extLst>
          </p:cNvPr>
          <p:cNvSpPr>
            <a:spLocks noGrp="1"/>
          </p:cNvSpPr>
          <p:nvPr>
            <p:ph sz="quarter" idx="10"/>
          </p:nvPr>
        </p:nvSpPr>
        <p:spPr>
          <a:xfrm>
            <a:off x="440026" y="2420888"/>
            <a:ext cx="8074025" cy="2969233"/>
          </a:xfrm>
        </p:spPr>
        <p:txBody>
          <a:bodyPr/>
          <a:lstStyle/>
          <a:p>
            <a:pPr marL="0" indent="0"/>
            <a:r>
              <a:rPr lang="en-GB" dirty="0"/>
              <a:t>The Law School wants to hear from you!</a:t>
            </a:r>
          </a:p>
          <a:p>
            <a:pPr marL="0" indent="0"/>
            <a:endParaRPr lang="en-GB" dirty="0"/>
          </a:p>
          <a:p>
            <a:r>
              <a:rPr lang="en-GB" dirty="0"/>
              <a:t>Your Highlights</a:t>
            </a:r>
          </a:p>
          <a:p>
            <a:r>
              <a:rPr lang="en-GB" dirty="0"/>
              <a:t>Your Concerns</a:t>
            </a:r>
          </a:p>
          <a:p>
            <a:r>
              <a:rPr lang="en-GB" dirty="0"/>
              <a:t>Your Ideas</a:t>
            </a:r>
          </a:p>
          <a:p>
            <a:pPr marL="0" indent="0" algn="ctr"/>
            <a:br>
              <a:rPr lang="en-GB" dirty="0">
                <a:effectLst/>
                <a:latin typeface="Arial" panose="020B0604020202020204" pitchFamily="34" charset="0"/>
              </a:rPr>
            </a:br>
            <a:r>
              <a:rPr lang="en-GB" sz="2400" dirty="0">
                <a:solidFill>
                  <a:srgbClr val="001F5F"/>
                </a:solidFill>
                <a:effectLst/>
                <a:latin typeface="Arial" panose="020B0604020202020204" pitchFamily="34" charset="0"/>
              </a:rPr>
              <a:t>16 October 2024, 2:00pm-3:30pm, Room TLC042 </a:t>
            </a:r>
            <a:endParaRPr lang="en-GB" dirty="0">
              <a:solidFill>
                <a:srgbClr val="001F5F"/>
              </a:solidFill>
              <a:effectLst/>
              <a:latin typeface="Arial" panose="020B0604020202020204" pitchFamily="34" charset="0"/>
            </a:endParaRPr>
          </a:p>
        </p:txBody>
      </p:sp>
    </p:spTree>
    <p:extLst>
      <p:ext uri="{BB962C8B-B14F-4D97-AF65-F5344CB8AC3E}">
        <p14:creationId xmlns:p14="http://schemas.microsoft.com/office/powerpoint/2010/main" val="12008936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altLang="en-US" dirty="0"/>
              <a:t>The structure of lectures 1-2</a:t>
            </a:r>
          </a:p>
        </p:txBody>
      </p:sp>
      <p:sp>
        <p:nvSpPr>
          <p:cNvPr id="11267" name="Content Placeholder 2"/>
          <p:cNvSpPr>
            <a:spLocks noGrp="1"/>
          </p:cNvSpPr>
          <p:nvPr>
            <p:ph idx="1"/>
          </p:nvPr>
        </p:nvSpPr>
        <p:spPr/>
        <p:txBody>
          <a:bodyPr/>
          <a:lstStyle/>
          <a:p>
            <a:pPr>
              <a:buFont typeface="+mj-lt"/>
              <a:buAutoNum type="arabicPeriod"/>
            </a:pPr>
            <a:r>
              <a:rPr lang="en-US" altLang="en-US" dirty="0">
                <a:latin typeface="+mj-lt"/>
              </a:rPr>
              <a:t>General information: the structure of this course</a:t>
            </a:r>
          </a:p>
          <a:p>
            <a:pPr>
              <a:buFont typeface="+mj-lt"/>
              <a:buAutoNum type="arabicPeriod"/>
            </a:pPr>
            <a:endParaRPr lang="en-US" altLang="en-US" dirty="0">
              <a:latin typeface="+mj-lt"/>
            </a:endParaRPr>
          </a:p>
          <a:p>
            <a:pPr>
              <a:buFont typeface="+mj-lt"/>
              <a:buAutoNum type="arabicPeriod"/>
            </a:pPr>
            <a:r>
              <a:rPr lang="en-US" altLang="en-US" dirty="0">
                <a:latin typeface="+mj-lt"/>
              </a:rPr>
              <a:t>Introduction to the internal market</a:t>
            </a:r>
          </a:p>
          <a:p>
            <a:pPr>
              <a:buFont typeface="+mj-lt"/>
              <a:buAutoNum type="arabicPeriod"/>
            </a:pPr>
            <a:endParaRPr lang="en-US" altLang="en-US" dirty="0">
              <a:latin typeface="+mj-lt"/>
            </a:endParaRPr>
          </a:p>
          <a:p>
            <a:pPr>
              <a:buFont typeface="+mj-lt"/>
              <a:buAutoNum type="arabicPeriod"/>
            </a:pPr>
            <a:r>
              <a:rPr lang="en-US" altLang="en-US" dirty="0">
                <a:latin typeface="+mj-lt"/>
              </a:rPr>
              <a:t>Building an internal market: positive and negative integration</a:t>
            </a:r>
          </a:p>
          <a:p>
            <a:pPr>
              <a:buFont typeface="+mj-lt"/>
              <a:buAutoNum type="arabicPeriod"/>
            </a:pPr>
            <a:endParaRPr lang="en-US" altLang="en-US" dirty="0">
              <a:latin typeface="+mj-lt"/>
            </a:endParaRPr>
          </a:p>
          <a:p>
            <a:pPr>
              <a:buFont typeface="+mj-lt"/>
              <a:buAutoNum type="arabicPeriod"/>
            </a:pPr>
            <a:r>
              <a:rPr lang="en-US" altLang="en-US" dirty="0">
                <a:latin typeface="+mj-lt"/>
              </a:rPr>
              <a:t>The structure of free movement law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53752"/>
            <a:ext cx="7772400" cy="1143000"/>
          </a:xfrm>
        </p:spPr>
        <p:txBody>
          <a:bodyPr/>
          <a:lstStyle/>
          <a:p>
            <a:r>
              <a:rPr lang="en-GB" dirty="0"/>
              <a:t>The structure of this course</a:t>
            </a:r>
          </a:p>
        </p:txBody>
      </p:sp>
      <p:sp>
        <p:nvSpPr>
          <p:cNvPr id="3" name="Content Placeholder 2"/>
          <p:cNvSpPr>
            <a:spLocks noGrp="1"/>
          </p:cNvSpPr>
          <p:nvPr>
            <p:ph idx="1"/>
          </p:nvPr>
        </p:nvSpPr>
        <p:spPr>
          <a:xfrm>
            <a:off x="683568" y="1124744"/>
            <a:ext cx="7772400" cy="3816350"/>
          </a:xfrm>
        </p:spPr>
        <p:txBody>
          <a:bodyPr/>
          <a:lstStyle/>
          <a:p>
            <a:pPr>
              <a:buFont typeface="+mj-lt"/>
              <a:buAutoNum type="arabicPeriod"/>
            </a:pPr>
            <a:r>
              <a:rPr lang="en-GB" dirty="0">
                <a:latin typeface="+mj-lt"/>
              </a:rPr>
              <a:t>There will be </a:t>
            </a:r>
            <a:r>
              <a:rPr lang="en-GB" b="1" dirty="0">
                <a:latin typeface="+mj-lt"/>
              </a:rPr>
              <a:t>20 lectures </a:t>
            </a:r>
            <a:r>
              <a:rPr lang="en-GB" dirty="0">
                <a:latin typeface="+mj-lt"/>
              </a:rPr>
              <a:t>for this course (weekly on </a:t>
            </a:r>
            <a:r>
              <a:rPr lang="en-GB" b="1" dirty="0">
                <a:latin typeface="+mj-lt"/>
              </a:rPr>
              <a:t>Fridays from 9-10am in E101</a:t>
            </a:r>
            <a:r>
              <a:rPr lang="en-GB" dirty="0">
                <a:latin typeface="+mj-lt"/>
              </a:rPr>
              <a:t>): 10 lectures in Michaelmas Term and 10 lectures in Epiphany Term. </a:t>
            </a:r>
          </a:p>
          <a:p>
            <a:pPr>
              <a:buFont typeface="+mj-lt"/>
              <a:buAutoNum type="arabicPeriod"/>
            </a:pPr>
            <a:endParaRPr lang="en-GB" dirty="0">
              <a:latin typeface="+mj-lt"/>
            </a:endParaRPr>
          </a:p>
          <a:p>
            <a:pPr>
              <a:buFont typeface="+mj-lt"/>
              <a:buAutoNum type="arabicPeriod"/>
            </a:pPr>
            <a:r>
              <a:rPr lang="en-GB" dirty="0">
                <a:latin typeface="+mj-lt"/>
              </a:rPr>
              <a:t>In Michaelmas Term, we will deal with three main topics: </a:t>
            </a:r>
            <a:r>
              <a:rPr lang="en-GB" b="1" dirty="0">
                <a:latin typeface="+mj-lt"/>
              </a:rPr>
              <a:t>introduction</a:t>
            </a:r>
            <a:r>
              <a:rPr lang="en-GB" dirty="0">
                <a:latin typeface="+mj-lt"/>
              </a:rPr>
              <a:t> to the internal market and its structure (2 lectures), </a:t>
            </a:r>
            <a:r>
              <a:rPr lang="en-GB" b="1" dirty="0">
                <a:latin typeface="+mj-lt"/>
              </a:rPr>
              <a:t>free movement of goods </a:t>
            </a:r>
            <a:r>
              <a:rPr lang="en-GB" dirty="0">
                <a:latin typeface="+mj-lt"/>
              </a:rPr>
              <a:t>(5 lectures) and </a:t>
            </a:r>
            <a:r>
              <a:rPr lang="en-GB" b="1" dirty="0">
                <a:latin typeface="+mj-lt"/>
              </a:rPr>
              <a:t>EU citizenship </a:t>
            </a:r>
            <a:r>
              <a:rPr lang="en-GB" dirty="0">
                <a:latin typeface="+mj-lt"/>
              </a:rPr>
              <a:t>(3 lectures).</a:t>
            </a:r>
          </a:p>
          <a:p>
            <a:pPr>
              <a:buFont typeface="+mj-lt"/>
              <a:buAutoNum type="arabicPeriod"/>
            </a:pPr>
            <a:endParaRPr lang="en-GB" dirty="0">
              <a:latin typeface="+mj-lt"/>
            </a:endParaRPr>
          </a:p>
          <a:p>
            <a:pPr>
              <a:buFont typeface="+mj-lt"/>
              <a:buAutoNum type="arabicPeriod"/>
            </a:pPr>
            <a:r>
              <a:rPr lang="en-GB" dirty="0">
                <a:latin typeface="+mj-lt"/>
              </a:rPr>
              <a:t>Andreas will give the first 7 lectures; Pierre will deliver the remaining 13 lectures in the course. Tutorials are taught by Pierre.</a:t>
            </a:r>
          </a:p>
          <a:p>
            <a:pPr>
              <a:buFont typeface="+mj-lt"/>
              <a:buAutoNum type="arabicPeriod"/>
            </a:pPr>
            <a:endParaRPr lang="en-GB" b="1" dirty="0">
              <a:latin typeface="+mj-lt"/>
            </a:endParaRPr>
          </a:p>
          <a:p>
            <a:pPr>
              <a:buFont typeface="+mj-lt"/>
              <a:buAutoNum type="arabicPeriod"/>
            </a:pPr>
            <a:r>
              <a:rPr lang="en-GB" b="1" dirty="0">
                <a:latin typeface="+mj-lt"/>
              </a:rPr>
              <a:t>Pierre </a:t>
            </a:r>
            <a:r>
              <a:rPr lang="en-GB" dirty="0">
                <a:latin typeface="+mj-lt"/>
              </a:rPr>
              <a:t>is the</a:t>
            </a:r>
            <a:r>
              <a:rPr lang="en-GB" b="1" dirty="0">
                <a:latin typeface="+mj-lt"/>
              </a:rPr>
              <a:t> module leader</a:t>
            </a:r>
            <a:r>
              <a:rPr lang="en-GB" dirty="0">
                <a:latin typeface="+mj-lt"/>
              </a:rPr>
              <a:t> and his office is </a:t>
            </a:r>
            <a:r>
              <a:rPr lang="en-GB" b="1" dirty="0">
                <a:latin typeface="+mj-lt"/>
              </a:rPr>
              <a:t>PCL194 </a:t>
            </a:r>
            <a:r>
              <a:rPr lang="en-GB" dirty="0">
                <a:latin typeface="+mj-lt"/>
              </a:rPr>
              <a:t>(Thursdays, 12-2pm</a:t>
            </a:r>
            <a:r>
              <a:rPr lang="en-GB" b="1" dirty="0">
                <a:latin typeface="+mj-lt"/>
              </a:rPr>
              <a:t>)</a:t>
            </a:r>
            <a:r>
              <a:rPr lang="en-GB" dirty="0">
                <a:latin typeface="+mj-lt"/>
              </a:rPr>
              <a:t>. Andreas can be found in PCL154 (Mondays, 11am-1pm). Please email in advance for an appointment. </a:t>
            </a:r>
            <a:endParaRPr lang="en-GB" b="1" dirty="0">
              <a:latin typeface="+mj-lt"/>
            </a:endParaRPr>
          </a:p>
          <a:p>
            <a:pPr>
              <a:buFont typeface="+mj-lt"/>
              <a:buAutoNum type="arabicPeriod"/>
            </a:pPr>
            <a:endParaRPr lang="en-GB" dirty="0">
              <a:latin typeface="+mj-lt"/>
            </a:endParaRPr>
          </a:p>
          <a:p>
            <a:pPr>
              <a:buFont typeface="+mj-lt"/>
              <a:buAutoNum type="arabicPeriod"/>
            </a:pPr>
            <a:r>
              <a:rPr lang="en-GB" dirty="0">
                <a:latin typeface="+mj-lt"/>
              </a:rPr>
              <a:t>There will be </a:t>
            </a:r>
            <a:r>
              <a:rPr lang="en-GB" b="1" dirty="0">
                <a:latin typeface="+mj-lt"/>
              </a:rPr>
              <a:t>5 tutorials </a:t>
            </a:r>
            <a:r>
              <a:rPr lang="en-GB" dirty="0">
                <a:latin typeface="+mj-lt"/>
              </a:rPr>
              <a:t>(2 in Michaelmas Term, 2 in Epiphany Term and a revision tutorial in Easter Term)</a:t>
            </a:r>
          </a:p>
          <a:p>
            <a:pPr>
              <a:buFont typeface="+mj-lt"/>
              <a:buAutoNum type="arabicPeriod"/>
            </a:pPr>
            <a:endParaRPr lang="en-GB" dirty="0">
              <a:latin typeface="+mj-lt"/>
            </a:endParaRPr>
          </a:p>
        </p:txBody>
      </p:sp>
    </p:spTree>
    <p:extLst>
      <p:ext uri="{BB962C8B-B14F-4D97-AF65-F5344CB8AC3E}">
        <p14:creationId xmlns:p14="http://schemas.microsoft.com/office/powerpoint/2010/main" val="3555421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4104" y="188640"/>
            <a:ext cx="7772400" cy="1143000"/>
          </a:xfrm>
        </p:spPr>
        <p:txBody>
          <a:bodyPr/>
          <a:lstStyle/>
          <a:p>
            <a:r>
              <a:rPr lang="en-GB" dirty="0"/>
              <a:t>The structure of this course</a:t>
            </a:r>
          </a:p>
        </p:txBody>
      </p:sp>
      <p:sp>
        <p:nvSpPr>
          <p:cNvPr id="3" name="Content Placeholder 2"/>
          <p:cNvSpPr>
            <a:spLocks noGrp="1"/>
          </p:cNvSpPr>
          <p:nvPr>
            <p:ph idx="1"/>
          </p:nvPr>
        </p:nvSpPr>
        <p:spPr>
          <a:xfrm>
            <a:off x="674104" y="1403648"/>
            <a:ext cx="7772400" cy="3816350"/>
          </a:xfrm>
        </p:spPr>
        <p:txBody>
          <a:bodyPr/>
          <a:lstStyle/>
          <a:p>
            <a:pPr>
              <a:buFont typeface="+mj-lt"/>
              <a:buAutoNum type="arabicPeriod" startAt="5"/>
            </a:pPr>
            <a:r>
              <a:rPr lang="en-GB" dirty="0">
                <a:latin typeface="+mj-lt"/>
              </a:rPr>
              <a:t>In Epiphany Term, we will cover the following topics: </a:t>
            </a:r>
            <a:r>
              <a:rPr lang="en-GB" b="1" dirty="0">
                <a:latin typeface="+mj-lt"/>
              </a:rPr>
              <a:t>free movement of workers</a:t>
            </a:r>
            <a:r>
              <a:rPr lang="en-GB" dirty="0">
                <a:latin typeface="+mj-lt"/>
              </a:rPr>
              <a:t>, </a:t>
            </a:r>
            <a:r>
              <a:rPr lang="en-GB" b="1" dirty="0">
                <a:latin typeface="+mj-lt"/>
              </a:rPr>
              <a:t>free movement of establishment </a:t>
            </a:r>
            <a:r>
              <a:rPr lang="en-GB" dirty="0">
                <a:latin typeface="+mj-lt"/>
              </a:rPr>
              <a:t>and </a:t>
            </a:r>
            <a:r>
              <a:rPr lang="en-GB" b="1" dirty="0">
                <a:latin typeface="+mj-lt"/>
              </a:rPr>
              <a:t>free movement of services</a:t>
            </a:r>
            <a:r>
              <a:rPr lang="en-GB" dirty="0">
                <a:latin typeface="+mj-lt"/>
              </a:rPr>
              <a:t>.</a:t>
            </a:r>
          </a:p>
          <a:p>
            <a:pPr>
              <a:buFont typeface="+mj-lt"/>
              <a:buAutoNum type="arabicPeriod" startAt="5"/>
            </a:pPr>
            <a:endParaRPr lang="en-GB" dirty="0">
              <a:latin typeface="+mj-lt"/>
            </a:endParaRPr>
          </a:p>
          <a:p>
            <a:pPr>
              <a:buFont typeface="+mj-lt"/>
              <a:buAutoNum type="arabicPeriod" startAt="5"/>
            </a:pPr>
            <a:r>
              <a:rPr lang="en-GB" dirty="0">
                <a:latin typeface="+mj-lt"/>
              </a:rPr>
              <a:t>We will also regularly discuss </a:t>
            </a:r>
            <a:r>
              <a:rPr lang="en-GB" b="1" dirty="0">
                <a:latin typeface="+mj-lt"/>
              </a:rPr>
              <a:t>the impact of Brexit </a:t>
            </a:r>
            <a:r>
              <a:rPr lang="en-GB" dirty="0">
                <a:latin typeface="+mj-lt"/>
              </a:rPr>
              <a:t>and the new relationship between the UK and the EU.</a:t>
            </a:r>
          </a:p>
          <a:p>
            <a:pPr>
              <a:buFont typeface="+mj-lt"/>
              <a:buAutoNum type="arabicPeriod" startAt="5"/>
            </a:pPr>
            <a:endParaRPr lang="en-GB" dirty="0">
              <a:latin typeface="+mj-lt"/>
            </a:endParaRPr>
          </a:p>
          <a:p>
            <a:pPr>
              <a:buFont typeface="+mj-lt"/>
              <a:buAutoNum type="arabicPeriod" startAt="5"/>
            </a:pPr>
            <a:r>
              <a:rPr lang="en-GB" dirty="0">
                <a:latin typeface="+mj-lt"/>
              </a:rPr>
              <a:t>We recommend </a:t>
            </a:r>
            <a:r>
              <a:rPr lang="en-GB" b="1" dirty="0">
                <a:latin typeface="+mj-lt"/>
              </a:rPr>
              <a:t>Catherine Barnard’s </a:t>
            </a:r>
            <a:r>
              <a:rPr lang="en-GB" b="1" i="1" dirty="0">
                <a:latin typeface="+mj-lt"/>
              </a:rPr>
              <a:t>The Substantive Law of the EU </a:t>
            </a:r>
            <a:r>
              <a:rPr lang="en-GB" dirty="0">
                <a:latin typeface="+mj-lt"/>
              </a:rPr>
              <a:t>(OUP, 7</a:t>
            </a:r>
            <a:r>
              <a:rPr lang="en-GB" baseline="30000" dirty="0">
                <a:latin typeface="+mj-lt"/>
              </a:rPr>
              <a:t>th</a:t>
            </a:r>
            <a:r>
              <a:rPr lang="en-GB" dirty="0">
                <a:latin typeface="+mj-lt"/>
              </a:rPr>
              <a:t> edition, 2022) as the main textbook for this course, but feel free to use other books that you might find useful. The textbook is </a:t>
            </a:r>
            <a:r>
              <a:rPr lang="en-GB" u="sng" dirty="0">
                <a:latin typeface="+mj-lt"/>
              </a:rPr>
              <a:t>available online on Oxford Law Trove</a:t>
            </a:r>
            <a:r>
              <a:rPr lang="en-GB" dirty="0">
                <a:latin typeface="+mj-lt"/>
              </a:rPr>
              <a:t> (access through the Library website).</a:t>
            </a:r>
          </a:p>
          <a:p>
            <a:pPr>
              <a:buFont typeface="+mj-lt"/>
              <a:buAutoNum type="arabicPeriod" startAt="5"/>
            </a:pPr>
            <a:endParaRPr lang="en-GB" dirty="0">
              <a:latin typeface="+mj-lt"/>
            </a:endParaRPr>
          </a:p>
          <a:p>
            <a:pPr>
              <a:buFont typeface="+mj-lt"/>
              <a:buAutoNum type="arabicPeriod" startAt="5"/>
            </a:pPr>
            <a:r>
              <a:rPr lang="en-GB" dirty="0">
                <a:latin typeface="+mj-lt"/>
              </a:rPr>
              <a:t>You will have to read the case law in detail. We will also regularly refer to relevant articles. You will see that free movement law is an area of EU law with a lot of strong opinions. Do read broadly to get a good feel for the various and different opinions!</a:t>
            </a:r>
          </a:p>
        </p:txBody>
      </p:sp>
    </p:spTree>
    <p:extLst>
      <p:ext uri="{BB962C8B-B14F-4D97-AF65-F5344CB8AC3E}">
        <p14:creationId xmlns:p14="http://schemas.microsoft.com/office/powerpoint/2010/main" val="2384311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structure of this course</a:t>
            </a:r>
          </a:p>
        </p:txBody>
      </p:sp>
      <p:sp>
        <p:nvSpPr>
          <p:cNvPr id="3" name="Content Placeholder 2"/>
          <p:cNvSpPr>
            <a:spLocks noGrp="1"/>
          </p:cNvSpPr>
          <p:nvPr>
            <p:ph idx="1"/>
          </p:nvPr>
        </p:nvSpPr>
        <p:spPr/>
        <p:txBody>
          <a:bodyPr/>
          <a:lstStyle/>
          <a:p>
            <a:pPr>
              <a:buFont typeface="+mj-lt"/>
              <a:buAutoNum type="arabicPeriod" startAt="9"/>
            </a:pPr>
            <a:r>
              <a:rPr lang="en-GB" dirty="0">
                <a:latin typeface="+mj-lt"/>
              </a:rPr>
              <a:t>The course will be assessed by way of a </a:t>
            </a:r>
            <a:r>
              <a:rPr lang="en-GB" b="1" dirty="0">
                <a:latin typeface="+mj-lt"/>
              </a:rPr>
              <a:t>summative essay </a:t>
            </a:r>
            <a:r>
              <a:rPr lang="en-GB" dirty="0">
                <a:latin typeface="+mj-lt"/>
              </a:rPr>
              <a:t>(3,000 words, deadline </a:t>
            </a:r>
            <a:r>
              <a:rPr lang="en-GB" b="1" u="sng" dirty="0">
                <a:latin typeface="+mj-lt"/>
              </a:rPr>
              <a:t>to be confirmed</a:t>
            </a:r>
            <a:r>
              <a:rPr lang="en-GB" dirty="0">
                <a:latin typeface="+mj-lt"/>
              </a:rPr>
              <a:t> (33% of your final mark) and a </a:t>
            </a:r>
            <a:r>
              <a:rPr lang="en-GB" b="1" dirty="0">
                <a:latin typeface="+mj-lt"/>
              </a:rPr>
              <a:t>3-hour written exam </a:t>
            </a:r>
            <a:r>
              <a:rPr lang="en-GB" dirty="0">
                <a:latin typeface="+mj-lt"/>
              </a:rPr>
              <a:t>(67% of your final mark). You will have 24 hours to complete the exam online, which is open-book and take-home.</a:t>
            </a:r>
          </a:p>
          <a:p>
            <a:pPr>
              <a:buFont typeface="+mj-lt"/>
              <a:buAutoNum type="arabicPeriod" startAt="9"/>
            </a:pPr>
            <a:endParaRPr lang="en-GB" dirty="0">
              <a:latin typeface="+mj-lt"/>
            </a:endParaRPr>
          </a:p>
          <a:p>
            <a:pPr>
              <a:buFont typeface="+mj-lt"/>
              <a:buAutoNum type="arabicPeriod" startAt="9"/>
            </a:pPr>
            <a:r>
              <a:rPr lang="en-GB" dirty="0">
                <a:latin typeface="+mj-lt"/>
              </a:rPr>
              <a:t>You will also have to submit a </a:t>
            </a:r>
            <a:r>
              <a:rPr lang="en-GB" b="1" dirty="0">
                <a:latin typeface="+mj-lt"/>
              </a:rPr>
              <a:t>formative essay </a:t>
            </a:r>
            <a:r>
              <a:rPr lang="en-GB" dirty="0">
                <a:latin typeface="+mj-lt"/>
              </a:rPr>
              <a:t>(2,000 words, deadline </a:t>
            </a:r>
            <a:r>
              <a:rPr lang="en-GB" b="1" u="sng" dirty="0">
                <a:latin typeface="+mj-lt"/>
              </a:rPr>
              <a:t>to be confirmed</a:t>
            </a:r>
            <a:r>
              <a:rPr lang="en-GB" dirty="0">
                <a:latin typeface="+mj-lt"/>
              </a:rPr>
              <a:t>), which will give you a chance to practise your essay-writing skills.</a:t>
            </a:r>
          </a:p>
          <a:p>
            <a:pPr marL="0" indent="0"/>
            <a:endParaRPr lang="en-GB" dirty="0">
              <a:latin typeface="+mj-lt"/>
            </a:endParaRPr>
          </a:p>
        </p:txBody>
      </p:sp>
    </p:spTree>
    <p:extLst>
      <p:ext uri="{BB962C8B-B14F-4D97-AF65-F5344CB8AC3E}">
        <p14:creationId xmlns:p14="http://schemas.microsoft.com/office/powerpoint/2010/main" val="231030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135768"/>
            <a:ext cx="7772400" cy="1143000"/>
          </a:xfrm>
        </p:spPr>
        <p:txBody>
          <a:bodyPr/>
          <a:lstStyle/>
          <a:p>
            <a:r>
              <a:rPr lang="en-GB" dirty="0"/>
              <a:t>Durham European Law Institute (“DELI”)</a:t>
            </a:r>
          </a:p>
        </p:txBody>
      </p:sp>
      <p:sp>
        <p:nvSpPr>
          <p:cNvPr id="3" name="Content Placeholder 2"/>
          <p:cNvSpPr>
            <a:spLocks noGrp="1"/>
          </p:cNvSpPr>
          <p:nvPr>
            <p:ph idx="1"/>
          </p:nvPr>
        </p:nvSpPr>
        <p:spPr>
          <a:xfrm>
            <a:off x="685800" y="1520825"/>
            <a:ext cx="7772400" cy="3816350"/>
          </a:xfrm>
        </p:spPr>
        <p:txBody>
          <a:bodyPr/>
          <a:lstStyle/>
          <a:p>
            <a:pPr>
              <a:buFont typeface="Arial" panose="020B0604020202020204" pitchFamily="34" charset="0"/>
              <a:buChar char="•"/>
            </a:pPr>
            <a:r>
              <a:rPr lang="en-GB" dirty="0">
                <a:latin typeface="+mj-lt"/>
              </a:rPr>
              <a:t>Series of </a:t>
            </a:r>
            <a:r>
              <a:rPr lang="en-GB" b="1" dirty="0">
                <a:latin typeface="+mj-lt"/>
              </a:rPr>
              <a:t>lunchtime seminars </a:t>
            </a:r>
            <a:r>
              <a:rPr lang="en-GB" dirty="0">
                <a:latin typeface="+mj-lt"/>
              </a:rPr>
              <a:t>on current EU law topics (2-3 events per term)</a:t>
            </a:r>
          </a:p>
          <a:p>
            <a:pPr>
              <a:buFont typeface="Arial" panose="020B0604020202020204" pitchFamily="34" charset="0"/>
              <a:buChar char="•"/>
            </a:pPr>
            <a:endParaRPr lang="en-GB" dirty="0">
              <a:latin typeface="+mj-lt"/>
            </a:endParaRPr>
          </a:p>
          <a:p>
            <a:pPr>
              <a:buFont typeface="Arial" panose="020B0604020202020204" pitchFamily="34" charset="0"/>
              <a:buChar char="•"/>
            </a:pPr>
            <a:r>
              <a:rPr lang="en-GB" dirty="0">
                <a:latin typeface="+mj-lt"/>
              </a:rPr>
              <a:t>DELI also organises </a:t>
            </a:r>
            <a:r>
              <a:rPr lang="en-GB" b="1" dirty="0">
                <a:latin typeface="+mj-lt"/>
              </a:rPr>
              <a:t>student-led events </a:t>
            </a:r>
            <a:r>
              <a:rPr lang="en-GB" dirty="0">
                <a:latin typeface="+mj-lt"/>
              </a:rPr>
              <a:t>such as the Annual Debate, Internal Market Moot, EU Careers Event and a Dissertation Workshop</a:t>
            </a:r>
          </a:p>
          <a:p>
            <a:pPr marL="0" indent="0"/>
            <a:endParaRPr lang="en-GB" dirty="0">
              <a:latin typeface="+mj-lt"/>
            </a:endParaRPr>
          </a:p>
          <a:p>
            <a:pPr>
              <a:buFont typeface="Arial" panose="020B0604020202020204" pitchFamily="34" charset="0"/>
              <a:buChar char="•"/>
            </a:pPr>
            <a:r>
              <a:rPr lang="en-GB" dirty="0">
                <a:latin typeface="+mj-lt"/>
              </a:rPr>
              <a:t>We are looking for student reps who are enthusiastic to be part of DELI, who will attend our events and help to organise student-led events</a:t>
            </a:r>
          </a:p>
          <a:p>
            <a:pPr>
              <a:buFont typeface="Arial" panose="020B0604020202020204" pitchFamily="34" charset="0"/>
              <a:buChar char="•"/>
            </a:pPr>
            <a:endParaRPr lang="en-GB" dirty="0">
              <a:latin typeface="+mj-lt"/>
            </a:endParaRPr>
          </a:p>
          <a:p>
            <a:pPr>
              <a:buFont typeface="Arial" panose="020B0604020202020204" pitchFamily="34" charset="0"/>
              <a:buChar char="•"/>
            </a:pPr>
            <a:endParaRPr lang="en-GB" dirty="0">
              <a:latin typeface="+mj-lt"/>
            </a:endParaRPr>
          </a:p>
          <a:p>
            <a:pPr marL="285750" indent="-285750">
              <a:buFont typeface="Wingdings" pitchFamily="2" charset="2"/>
              <a:buChar char="Ø"/>
            </a:pPr>
            <a:r>
              <a:rPr lang="en-GB" dirty="0">
                <a:latin typeface="+mj-lt"/>
              </a:rPr>
              <a:t>You can </a:t>
            </a:r>
            <a:r>
              <a:rPr lang="en-GB" b="1" dirty="0">
                <a:latin typeface="+mj-lt"/>
              </a:rPr>
              <a:t>apply to be a DELI rep </a:t>
            </a:r>
            <a:r>
              <a:rPr lang="en-GB" dirty="0">
                <a:latin typeface="+mj-lt"/>
              </a:rPr>
              <a:t>by completing the online form by Sunday</a:t>
            </a:r>
            <a:r>
              <a:rPr lang="en-GB" u="sng" dirty="0">
                <a:latin typeface="+mj-lt"/>
              </a:rPr>
              <a:t> </a:t>
            </a:r>
            <a:r>
              <a:rPr lang="en-GB" dirty="0">
                <a:latin typeface="+mj-lt"/>
              </a:rPr>
              <a:t>20</a:t>
            </a:r>
            <a:r>
              <a:rPr lang="en-GB" baseline="30000" dirty="0">
                <a:latin typeface="+mj-lt"/>
              </a:rPr>
              <a:t>th</a:t>
            </a:r>
            <a:r>
              <a:rPr lang="en-GB" dirty="0">
                <a:latin typeface="+mj-lt"/>
              </a:rPr>
              <a:t> October: </a:t>
            </a:r>
            <a:r>
              <a:rPr lang="en-GB" b="0" i="0" dirty="0">
                <a:effectLst/>
                <a:latin typeface="Arial" panose="020B0604020202020204" pitchFamily="34" charset="0"/>
                <a:hlinkClick r:id="rId2"/>
              </a:rPr>
              <a:t>https://forms.office.com/e/M4sXvtjpFH</a:t>
            </a:r>
            <a:endParaRPr lang="en-GB" dirty="0"/>
          </a:p>
          <a:p>
            <a:pPr>
              <a:buFont typeface="Arial" panose="020B0604020202020204" pitchFamily="34" charset="0"/>
              <a:buChar char="•"/>
            </a:pPr>
            <a:endParaRPr lang="en-GB" b="1" dirty="0">
              <a:latin typeface="+mj-lt"/>
            </a:endParaRPr>
          </a:p>
        </p:txBody>
      </p:sp>
    </p:spTree>
    <p:extLst>
      <p:ext uri="{BB962C8B-B14F-4D97-AF65-F5344CB8AC3E}">
        <p14:creationId xmlns:p14="http://schemas.microsoft.com/office/powerpoint/2010/main" val="3327113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385636"/>
            <a:ext cx="7772400" cy="1143000"/>
          </a:xfrm>
        </p:spPr>
        <p:txBody>
          <a:bodyPr/>
          <a:lstStyle/>
          <a:p>
            <a:r>
              <a:rPr lang="en-GB" dirty="0"/>
              <a:t>Durham European Law Institute (“DELI”)</a:t>
            </a:r>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6601" y="1755945"/>
            <a:ext cx="3275856" cy="1835626"/>
          </a:xfrm>
          <a:prstGeom prst="rect">
            <a:avLst/>
          </a:prstGeom>
        </p:spPr>
      </p:pic>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58651" y="3732322"/>
            <a:ext cx="2953806" cy="2226487"/>
          </a:xfrm>
          <a:prstGeom prst="rect">
            <a:avLst/>
          </a:prstGeom>
        </p:spPr>
      </p:pic>
      <p:pic>
        <p:nvPicPr>
          <p:cNvPr id="4" name="Picture 3" descr="A group of people standing in front of a screen&#10;&#10;Description automatically generated with medium confidence">
            <a:extLst>
              <a:ext uri="{FF2B5EF4-FFF2-40B4-BE49-F238E27FC236}">
                <a16:creationId xmlns:a16="http://schemas.microsoft.com/office/drawing/2014/main" id="{4C9A0A7A-5D46-4AEB-8CA3-5F08FF9B5EE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39556" y="1244602"/>
            <a:ext cx="3275856" cy="2456892"/>
          </a:xfrm>
          <a:prstGeom prst="rect">
            <a:avLst/>
          </a:prstGeom>
        </p:spPr>
      </p:pic>
      <p:pic>
        <p:nvPicPr>
          <p:cNvPr id="7" name="Picture 6" descr="A group of people standing in a room&#10;&#10;Description automatically generated with medium confidence">
            <a:extLst>
              <a:ext uri="{FF2B5EF4-FFF2-40B4-BE49-F238E27FC236}">
                <a16:creationId xmlns:a16="http://schemas.microsoft.com/office/drawing/2014/main" id="{BA88074E-EB90-4C44-A157-8920339DD30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31544" y="3933056"/>
            <a:ext cx="3491880" cy="2618910"/>
          </a:xfrm>
          <a:prstGeom prst="rect">
            <a:avLst/>
          </a:prstGeom>
        </p:spPr>
      </p:pic>
    </p:spTree>
    <p:extLst>
      <p:ext uri="{BB962C8B-B14F-4D97-AF65-F5344CB8AC3E}">
        <p14:creationId xmlns:p14="http://schemas.microsoft.com/office/powerpoint/2010/main" val="2751300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an internal market?</a:t>
            </a:r>
          </a:p>
        </p:txBody>
      </p:sp>
      <p:sp>
        <p:nvSpPr>
          <p:cNvPr id="3" name="Content Placeholder 2"/>
          <p:cNvSpPr>
            <a:spLocks noGrp="1"/>
          </p:cNvSpPr>
          <p:nvPr>
            <p:ph idx="1"/>
          </p:nvPr>
        </p:nvSpPr>
        <p:spPr/>
        <p:txBody>
          <a:bodyPr/>
          <a:lstStyle/>
          <a:p>
            <a:pPr>
              <a:buFont typeface="+mj-lt"/>
              <a:buAutoNum type="arabicPeriod"/>
            </a:pPr>
            <a:r>
              <a:rPr lang="en-GB" dirty="0">
                <a:latin typeface="+mj-lt"/>
              </a:rPr>
              <a:t>What is a free trade area?</a:t>
            </a:r>
          </a:p>
          <a:p>
            <a:pPr>
              <a:buFont typeface="+mj-lt"/>
              <a:buAutoNum type="arabicPeriod"/>
            </a:pPr>
            <a:endParaRPr lang="en-GB" dirty="0">
              <a:latin typeface="+mj-lt"/>
            </a:endParaRPr>
          </a:p>
          <a:p>
            <a:pPr>
              <a:buFont typeface="+mj-lt"/>
              <a:buAutoNum type="arabicPeriod"/>
            </a:pPr>
            <a:r>
              <a:rPr lang="en-GB" dirty="0">
                <a:latin typeface="+mj-lt"/>
              </a:rPr>
              <a:t>What is a customs union?</a:t>
            </a:r>
          </a:p>
          <a:p>
            <a:pPr>
              <a:buFont typeface="+mj-lt"/>
              <a:buAutoNum type="arabicPeriod"/>
            </a:pPr>
            <a:endParaRPr lang="en-GB" dirty="0">
              <a:latin typeface="+mj-lt"/>
            </a:endParaRPr>
          </a:p>
          <a:p>
            <a:pPr>
              <a:buFont typeface="+mj-lt"/>
              <a:buAutoNum type="arabicPeriod"/>
            </a:pPr>
            <a:r>
              <a:rPr lang="en-GB" dirty="0">
                <a:latin typeface="+mj-lt"/>
              </a:rPr>
              <a:t>What is an internal market?</a:t>
            </a:r>
          </a:p>
          <a:p>
            <a:pPr>
              <a:buFont typeface="+mj-lt"/>
              <a:buAutoNum type="arabicPeriod"/>
            </a:pPr>
            <a:endParaRPr lang="en-GB" dirty="0">
              <a:latin typeface="+mj-lt"/>
            </a:endParaRPr>
          </a:p>
          <a:p>
            <a:pPr>
              <a:buFont typeface="+mj-lt"/>
              <a:buAutoNum type="arabicPeriod"/>
            </a:pPr>
            <a:r>
              <a:rPr lang="en-GB" dirty="0">
                <a:latin typeface="+mj-lt"/>
              </a:rPr>
              <a:t>What is special about the EU internal market?</a:t>
            </a:r>
          </a:p>
          <a:p>
            <a:pPr>
              <a:buFont typeface="+mj-lt"/>
              <a:buAutoNum type="arabicPeriod"/>
            </a:pPr>
            <a:endParaRPr lang="en-GB" dirty="0">
              <a:latin typeface="+mj-lt"/>
            </a:endParaRPr>
          </a:p>
          <a:p>
            <a:pPr>
              <a:buFont typeface="+mj-lt"/>
              <a:buAutoNum type="arabicPeriod"/>
            </a:pPr>
            <a:r>
              <a:rPr lang="en-GB" dirty="0">
                <a:latin typeface="+mj-lt"/>
              </a:rPr>
              <a:t>Brexit: the EU’s and UK’s perspective on the internal market</a:t>
            </a:r>
          </a:p>
        </p:txBody>
      </p:sp>
    </p:spTree>
    <p:extLst>
      <p:ext uri="{BB962C8B-B14F-4D97-AF65-F5344CB8AC3E}">
        <p14:creationId xmlns:p14="http://schemas.microsoft.com/office/powerpoint/2010/main" val="15350386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Why do we have an internal market in the EU?</a:t>
            </a:r>
          </a:p>
        </p:txBody>
      </p:sp>
      <p:sp>
        <p:nvSpPr>
          <p:cNvPr id="3" name="Content Placeholder 2"/>
          <p:cNvSpPr>
            <a:spLocks noGrp="1"/>
          </p:cNvSpPr>
          <p:nvPr>
            <p:ph idx="1"/>
          </p:nvPr>
        </p:nvSpPr>
        <p:spPr/>
        <p:txBody>
          <a:bodyPr/>
          <a:lstStyle/>
          <a:p>
            <a:pPr>
              <a:buFont typeface="+mj-lt"/>
              <a:buAutoNum type="arabicPeriod"/>
            </a:pPr>
            <a:endParaRPr lang="en-GB" dirty="0">
              <a:latin typeface="+mj-lt"/>
            </a:endParaRPr>
          </a:p>
          <a:p>
            <a:pPr>
              <a:buFont typeface="+mj-lt"/>
              <a:buAutoNum type="arabicPeriod"/>
            </a:pPr>
            <a:r>
              <a:rPr lang="en-GB" dirty="0">
                <a:latin typeface="+mj-lt"/>
              </a:rPr>
              <a:t>The historical context: peace and well-being of EU citizens</a:t>
            </a:r>
          </a:p>
          <a:p>
            <a:pPr>
              <a:buFont typeface="+mj-lt"/>
              <a:buAutoNum type="arabicPeriod"/>
            </a:pPr>
            <a:endParaRPr lang="en-GB" dirty="0">
              <a:latin typeface="+mj-lt"/>
            </a:endParaRPr>
          </a:p>
          <a:p>
            <a:pPr>
              <a:buFont typeface="+mj-lt"/>
              <a:buAutoNum type="arabicPeriod"/>
            </a:pPr>
            <a:r>
              <a:rPr lang="en-GB" dirty="0">
                <a:latin typeface="+mj-lt"/>
              </a:rPr>
              <a:t>The economic dimension of the internal market: economic efficiency</a:t>
            </a:r>
          </a:p>
          <a:p>
            <a:pPr>
              <a:buFont typeface="+mj-lt"/>
              <a:buAutoNum type="arabicPeriod"/>
            </a:pPr>
            <a:endParaRPr lang="en-GB" dirty="0">
              <a:latin typeface="+mj-lt"/>
            </a:endParaRPr>
          </a:p>
          <a:p>
            <a:pPr>
              <a:buFont typeface="+mj-lt"/>
              <a:buAutoNum type="arabicPeriod"/>
            </a:pPr>
            <a:r>
              <a:rPr lang="en-GB" dirty="0">
                <a:latin typeface="+mj-lt"/>
              </a:rPr>
              <a:t>The social dimension of the internal market</a:t>
            </a:r>
          </a:p>
          <a:p>
            <a:pPr>
              <a:buFont typeface="+mj-lt"/>
              <a:buAutoNum type="arabicPeriod"/>
            </a:pPr>
            <a:endParaRPr lang="en-GB" dirty="0">
              <a:latin typeface="+mj-lt"/>
            </a:endParaRPr>
          </a:p>
          <a:p>
            <a:pPr>
              <a:buFont typeface="+mj-lt"/>
              <a:buAutoNum type="arabicPeriod"/>
            </a:pPr>
            <a:r>
              <a:rPr lang="en-GB" dirty="0">
                <a:latin typeface="+mj-lt"/>
              </a:rPr>
              <a:t>The ethical dimension of the internal market</a:t>
            </a:r>
          </a:p>
          <a:p>
            <a:pPr marL="1257300" lvl="2" indent="-342900">
              <a:buFont typeface="+mj-lt"/>
              <a:buAutoNum type="alphaLcPeriod"/>
            </a:pPr>
            <a:endParaRPr lang="en-GB" dirty="0">
              <a:latin typeface="+mj-lt"/>
            </a:endParaRPr>
          </a:p>
        </p:txBody>
      </p:sp>
    </p:spTree>
    <p:extLst>
      <p:ext uri="{BB962C8B-B14F-4D97-AF65-F5344CB8AC3E}">
        <p14:creationId xmlns:p14="http://schemas.microsoft.com/office/powerpoint/2010/main" val="1375373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7CB0942-AF33-4E4C-A903-706C858514EF}"/>
              </a:ext>
            </a:extLst>
          </p:cNvPr>
          <p:cNvPicPr>
            <a:picLocks noChangeAspect="1"/>
          </p:cNvPicPr>
          <p:nvPr/>
        </p:nvPicPr>
        <p:blipFill>
          <a:blip r:embed="rId2"/>
          <a:stretch>
            <a:fillRect/>
          </a:stretch>
        </p:blipFill>
        <p:spPr>
          <a:xfrm>
            <a:off x="685463" y="1124744"/>
            <a:ext cx="7773074" cy="4255377"/>
          </a:xfrm>
          <a:prstGeom prst="rect">
            <a:avLst/>
          </a:prstGeom>
        </p:spPr>
      </p:pic>
    </p:spTree>
    <p:extLst>
      <p:ext uri="{BB962C8B-B14F-4D97-AF65-F5344CB8AC3E}">
        <p14:creationId xmlns:p14="http://schemas.microsoft.com/office/powerpoint/2010/main" val="34387734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development of the internal market</a:t>
            </a:r>
          </a:p>
        </p:txBody>
      </p:sp>
      <p:sp>
        <p:nvSpPr>
          <p:cNvPr id="3" name="Content Placeholder 2"/>
          <p:cNvSpPr>
            <a:spLocks noGrp="1"/>
          </p:cNvSpPr>
          <p:nvPr>
            <p:ph idx="1"/>
          </p:nvPr>
        </p:nvSpPr>
        <p:spPr>
          <a:xfrm>
            <a:off x="685800" y="2276872"/>
            <a:ext cx="7772400" cy="3816350"/>
          </a:xfrm>
        </p:spPr>
        <p:txBody>
          <a:bodyPr/>
          <a:lstStyle/>
          <a:p>
            <a:pPr>
              <a:buFont typeface="+mj-lt"/>
              <a:buAutoNum type="arabicPeriod"/>
            </a:pPr>
            <a:r>
              <a:rPr lang="en-GB" dirty="0">
                <a:latin typeface="+mj-lt"/>
              </a:rPr>
              <a:t>The substantive development of the internal market: from coal and steel to citizenship</a:t>
            </a:r>
          </a:p>
          <a:p>
            <a:pPr>
              <a:buFont typeface="+mj-lt"/>
              <a:buAutoNum type="arabicPeriod"/>
            </a:pPr>
            <a:endParaRPr lang="en-GB" dirty="0">
              <a:latin typeface="+mj-lt"/>
            </a:endParaRPr>
          </a:p>
          <a:p>
            <a:pPr>
              <a:buFont typeface="+mj-lt"/>
              <a:buAutoNum type="arabicPeriod"/>
            </a:pPr>
            <a:r>
              <a:rPr lang="en-GB" dirty="0">
                <a:latin typeface="+mj-lt"/>
              </a:rPr>
              <a:t>The territorial development of the internal market: from 6 Member States to 27 Member States</a:t>
            </a:r>
          </a:p>
          <a:p>
            <a:pPr>
              <a:buFont typeface="+mj-lt"/>
              <a:buAutoNum type="arabicPeriod"/>
            </a:pPr>
            <a:endParaRPr lang="en-GB" dirty="0">
              <a:latin typeface="+mj-lt"/>
            </a:endParaRPr>
          </a:p>
          <a:p>
            <a:pPr>
              <a:buFont typeface="+mj-lt"/>
              <a:buAutoNum type="arabicPeriod"/>
            </a:pPr>
            <a:r>
              <a:rPr lang="en-GB" dirty="0">
                <a:latin typeface="+mj-lt"/>
              </a:rPr>
              <a:t>The personal development of the internal market: from economically active citizens to pensioners and students</a:t>
            </a:r>
          </a:p>
        </p:txBody>
      </p:sp>
    </p:spTree>
    <p:extLst>
      <p:ext uri="{BB962C8B-B14F-4D97-AF65-F5344CB8AC3E}">
        <p14:creationId xmlns:p14="http://schemas.microsoft.com/office/powerpoint/2010/main" val="35150947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are our rights in the internal market?</a:t>
            </a:r>
          </a:p>
        </p:txBody>
      </p:sp>
      <p:sp>
        <p:nvSpPr>
          <p:cNvPr id="3" name="Content Placeholder 2"/>
          <p:cNvSpPr>
            <a:spLocks noGrp="1"/>
          </p:cNvSpPr>
          <p:nvPr>
            <p:ph idx="1"/>
          </p:nvPr>
        </p:nvSpPr>
        <p:spPr/>
        <p:txBody>
          <a:bodyPr/>
          <a:lstStyle/>
          <a:p>
            <a:pPr>
              <a:buFont typeface="+mj-lt"/>
              <a:buAutoNum type="arabicPeriod"/>
            </a:pPr>
            <a:r>
              <a:rPr lang="en-GB" dirty="0">
                <a:latin typeface="+mj-lt"/>
              </a:rPr>
              <a:t>Free movement of goods (Article 34 TFEU)</a:t>
            </a:r>
          </a:p>
          <a:p>
            <a:pPr>
              <a:buFont typeface="+mj-lt"/>
              <a:buAutoNum type="arabicPeriod"/>
            </a:pPr>
            <a:endParaRPr lang="en-GB" dirty="0">
              <a:latin typeface="+mj-lt"/>
            </a:endParaRPr>
          </a:p>
          <a:p>
            <a:pPr>
              <a:buFont typeface="+mj-lt"/>
              <a:buAutoNum type="arabicPeriod"/>
            </a:pPr>
            <a:r>
              <a:rPr lang="en-GB" dirty="0">
                <a:latin typeface="+mj-lt"/>
              </a:rPr>
              <a:t>Free movement of workers (Article 45 TFEU) and non-economically active citizens (Articles 20-21 TFEU and Directive 2004/38/EC)</a:t>
            </a:r>
          </a:p>
          <a:p>
            <a:pPr>
              <a:buFont typeface="+mj-lt"/>
              <a:buAutoNum type="arabicPeriod"/>
            </a:pPr>
            <a:endParaRPr lang="en-GB" dirty="0">
              <a:latin typeface="+mj-lt"/>
            </a:endParaRPr>
          </a:p>
          <a:p>
            <a:pPr>
              <a:buFont typeface="+mj-lt"/>
              <a:buAutoNum type="arabicPeriod"/>
            </a:pPr>
            <a:r>
              <a:rPr lang="en-GB" dirty="0">
                <a:latin typeface="+mj-lt"/>
              </a:rPr>
              <a:t>Free movement of establishment (Article 49 TFEU)</a:t>
            </a:r>
          </a:p>
          <a:p>
            <a:pPr>
              <a:buFont typeface="+mj-lt"/>
              <a:buAutoNum type="arabicPeriod"/>
            </a:pPr>
            <a:endParaRPr lang="en-GB" dirty="0">
              <a:latin typeface="+mj-lt"/>
            </a:endParaRPr>
          </a:p>
          <a:p>
            <a:pPr>
              <a:buFont typeface="+mj-lt"/>
              <a:buAutoNum type="arabicPeriod"/>
            </a:pPr>
            <a:r>
              <a:rPr lang="en-GB" dirty="0">
                <a:latin typeface="+mj-lt"/>
              </a:rPr>
              <a:t>Free movement of services (Article 56 TFEU and Services Directive 2006/123/EC)</a:t>
            </a:r>
          </a:p>
          <a:p>
            <a:pPr>
              <a:buFont typeface="+mj-lt"/>
              <a:buAutoNum type="arabicPeriod"/>
            </a:pPr>
            <a:endParaRPr lang="en-GB" dirty="0">
              <a:latin typeface="+mj-lt"/>
            </a:endParaRPr>
          </a:p>
          <a:p>
            <a:pPr>
              <a:buFont typeface="+mj-lt"/>
              <a:buAutoNum type="arabicPeriod"/>
            </a:pPr>
            <a:r>
              <a:rPr lang="en-GB" dirty="0">
                <a:latin typeface="+mj-lt"/>
              </a:rPr>
              <a:t>Free movement of capital (Article 63 TFEU)</a:t>
            </a:r>
          </a:p>
          <a:p>
            <a:pPr>
              <a:buFont typeface="+mj-lt"/>
              <a:buAutoNum type="arabicPeriod"/>
            </a:pPr>
            <a:endParaRPr lang="en-GB" dirty="0">
              <a:latin typeface="+mj-lt"/>
            </a:endParaRPr>
          </a:p>
        </p:txBody>
      </p:sp>
    </p:spTree>
    <p:extLst>
      <p:ext uri="{BB962C8B-B14F-4D97-AF65-F5344CB8AC3E}">
        <p14:creationId xmlns:p14="http://schemas.microsoft.com/office/powerpoint/2010/main" val="33730848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are our rights in the internal market?</a:t>
            </a:r>
          </a:p>
        </p:txBody>
      </p:sp>
      <p:sp>
        <p:nvSpPr>
          <p:cNvPr id="3" name="Content Placeholder 2"/>
          <p:cNvSpPr>
            <a:spLocks noGrp="1"/>
          </p:cNvSpPr>
          <p:nvPr>
            <p:ph idx="1"/>
          </p:nvPr>
        </p:nvSpPr>
        <p:spPr>
          <a:xfrm>
            <a:off x="685800" y="2348880"/>
            <a:ext cx="7772400" cy="3816350"/>
          </a:xfrm>
        </p:spPr>
        <p:txBody>
          <a:bodyPr/>
          <a:lstStyle/>
          <a:p>
            <a:pPr>
              <a:buFont typeface="+mj-lt"/>
              <a:buAutoNum type="arabicPeriod"/>
            </a:pPr>
            <a:r>
              <a:rPr lang="en-GB" dirty="0">
                <a:latin typeface="+mj-lt"/>
              </a:rPr>
              <a:t>These free movement rights are </a:t>
            </a:r>
            <a:r>
              <a:rPr lang="en-GB" u="sng" dirty="0">
                <a:latin typeface="+mj-lt"/>
              </a:rPr>
              <a:t>not absolute</a:t>
            </a:r>
            <a:r>
              <a:rPr lang="en-GB" dirty="0">
                <a:latin typeface="+mj-lt"/>
              </a:rPr>
              <a:t>: if Member States have a good reason (so-called “</a:t>
            </a:r>
            <a:r>
              <a:rPr lang="en-GB" b="1" dirty="0">
                <a:latin typeface="+mj-lt"/>
              </a:rPr>
              <a:t>justifications</a:t>
            </a:r>
            <a:r>
              <a:rPr lang="en-GB" dirty="0">
                <a:latin typeface="+mj-lt"/>
              </a:rPr>
              <a:t>”), they can restrict free movement between Member States</a:t>
            </a:r>
          </a:p>
          <a:p>
            <a:pPr>
              <a:buFont typeface="+mj-lt"/>
              <a:buAutoNum type="arabicPeriod"/>
            </a:pPr>
            <a:endParaRPr lang="en-GB" dirty="0">
              <a:latin typeface="+mj-lt"/>
            </a:endParaRPr>
          </a:p>
          <a:p>
            <a:pPr>
              <a:buFont typeface="+mj-lt"/>
              <a:buAutoNum type="arabicPeriod"/>
            </a:pPr>
            <a:r>
              <a:rPr lang="en-GB" dirty="0">
                <a:latin typeface="+mj-lt"/>
              </a:rPr>
              <a:t>The grounds of justifications have been included in the Treaty (so-called “</a:t>
            </a:r>
            <a:r>
              <a:rPr lang="en-GB" b="1" dirty="0">
                <a:latin typeface="+mj-lt"/>
              </a:rPr>
              <a:t>Treaty derogations</a:t>
            </a:r>
            <a:r>
              <a:rPr lang="en-GB" dirty="0">
                <a:latin typeface="+mj-lt"/>
              </a:rPr>
              <a:t>”). Moreover, the Court of Justice has developed an additional catalogue of justifications in the case law (“</a:t>
            </a:r>
            <a:r>
              <a:rPr lang="en-GB" b="1" dirty="0">
                <a:latin typeface="+mj-lt"/>
              </a:rPr>
              <a:t>mandatory requirements”, </a:t>
            </a:r>
            <a:r>
              <a:rPr lang="en-GB" dirty="0">
                <a:latin typeface="+mj-lt"/>
              </a:rPr>
              <a:t>“</a:t>
            </a:r>
            <a:r>
              <a:rPr lang="en-GB" b="1" dirty="0">
                <a:latin typeface="+mj-lt"/>
              </a:rPr>
              <a:t>objective justifications</a:t>
            </a:r>
            <a:r>
              <a:rPr lang="en-GB" dirty="0">
                <a:latin typeface="+mj-lt"/>
              </a:rPr>
              <a:t>”</a:t>
            </a:r>
            <a:r>
              <a:rPr lang="en-GB" b="1" dirty="0">
                <a:latin typeface="+mj-lt"/>
              </a:rPr>
              <a:t> </a:t>
            </a:r>
            <a:r>
              <a:rPr lang="en-GB" dirty="0">
                <a:latin typeface="+mj-lt"/>
              </a:rPr>
              <a:t>or “</a:t>
            </a:r>
            <a:r>
              <a:rPr lang="en-GB" b="1" dirty="0">
                <a:latin typeface="+mj-lt"/>
              </a:rPr>
              <a:t>public interest requirements</a:t>
            </a:r>
            <a:r>
              <a:rPr lang="en-GB" dirty="0">
                <a:latin typeface="+mj-lt"/>
              </a:rPr>
              <a:t>”)</a:t>
            </a:r>
          </a:p>
        </p:txBody>
      </p:sp>
    </p:spTree>
    <p:extLst>
      <p:ext uri="{BB962C8B-B14F-4D97-AF65-F5344CB8AC3E}">
        <p14:creationId xmlns:p14="http://schemas.microsoft.com/office/powerpoint/2010/main" val="1655841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32656"/>
            <a:ext cx="7772400" cy="1143000"/>
          </a:xfrm>
        </p:spPr>
        <p:txBody>
          <a:bodyPr/>
          <a:lstStyle/>
          <a:p>
            <a:r>
              <a:rPr lang="en-GB" dirty="0"/>
              <a:t>The internal market and Brexit</a:t>
            </a:r>
          </a:p>
        </p:txBody>
      </p:sp>
      <p:sp>
        <p:nvSpPr>
          <p:cNvPr id="3" name="Content Placeholder 2"/>
          <p:cNvSpPr>
            <a:spLocks noGrp="1"/>
          </p:cNvSpPr>
          <p:nvPr>
            <p:ph idx="1"/>
          </p:nvPr>
        </p:nvSpPr>
        <p:spPr>
          <a:xfrm>
            <a:off x="685800" y="1752600"/>
            <a:ext cx="7772400" cy="3816350"/>
          </a:xfrm>
        </p:spPr>
        <p:txBody>
          <a:bodyPr/>
          <a:lstStyle/>
          <a:p>
            <a:pPr>
              <a:buFont typeface="+mj-lt"/>
              <a:buAutoNum type="arabicPeriod"/>
            </a:pPr>
            <a:r>
              <a:rPr lang="en-GB" dirty="0">
                <a:latin typeface="+mj-lt"/>
              </a:rPr>
              <a:t>Can you explain whether, or to what extent, the slogan “British jobs for British workers” is compatible with being a member of the EU internal market?</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5087" y="2737718"/>
            <a:ext cx="3993826" cy="2852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071896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980" y="332656"/>
            <a:ext cx="7772400" cy="1143000"/>
          </a:xfrm>
        </p:spPr>
        <p:txBody>
          <a:bodyPr/>
          <a:lstStyle/>
          <a:p>
            <a:r>
              <a:rPr lang="en-GB" dirty="0"/>
              <a:t>How to build an internal market?</a:t>
            </a:r>
          </a:p>
        </p:txBody>
      </p:sp>
      <p:sp>
        <p:nvSpPr>
          <p:cNvPr id="3" name="Content Placeholder 2"/>
          <p:cNvSpPr>
            <a:spLocks noGrp="1"/>
          </p:cNvSpPr>
          <p:nvPr>
            <p:ph idx="1"/>
          </p:nvPr>
        </p:nvSpPr>
        <p:spPr>
          <a:xfrm>
            <a:off x="683568" y="1628800"/>
            <a:ext cx="7772400" cy="3816350"/>
          </a:xfrm>
        </p:spPr>
        <p:txBody>
          <a:bodyPr/>
          <a:lstStyle/>
          <a:p>
            <a:pPr>
              <a:buFont typeface="+mj-lt"/>
              <a:buAutoNum type="arabicPeriod"/>
            </a:pPr>
            <a:r>
              <a:rPr lang="en-GB" b="1" dirty="0">
                <a:latin typeface="+mj-lt"/>
              </a:rPr>
              <a:t>Negative integration</a:t>
            </a:r>
            <a:r>
              <a:rPr lang="en-GB" dirty="0">
                <a:latin typeface="+mj-lt"/>
              </a:rPr>
              <a:t>: </a:t>
            </a:r>
            <a:r>
              <a:rPr lang="en-GB" u="sng" dirty="0">
                <a:latin typeface="+mj-lt"/>
              </a:rPr>
              <a:t>the Treaty provisions on free movement</a:t>
            </a:r>
          </a:p>
          <a:p>
            <a:pPr marL="1257300" lvl="2" indent="-342900">
              <a:buFont typeface="+mj-lt"/>
              <a:buAutoNum type="alphaLcPeriod"/>
            </a:pPr>
            <a:endParaRPr lang="en-GB" sz="1600" dirty="0">
              <a:latin typeface="+mj-lt"/>
            </a:endParaRPr>
          </a:p>
          <a:p>
            <a:pPr marL="1257300" lvl="2" indent="-342900">
              <a:buFont typeface="+mj-lt"/>
              <a:buAutoNum type="alphaLcPeriod"/>
            </a:pPr>
            <a:r>
              <a:rPr lang="en-GB" sz="1600" dirty="0">
                <a:latin typeface="+mj-lt"/>
              </a:rPr>
              <a:t>EU law tells the Member States what they </a:t>
            </a:r>
            <a:r>
              <a:rPr lang="en-GB" sz="1600" b="1" dirty="0">
                <a:latin typeface="+mj-lt"/>
              </a:rPr>
              <a:t>cannot</a:t>
            </a:r>
            <a:r>
              <a:rPr lang="en-GB" sz="1600" dirty="0">
                <a:latin typeface="+mj-lt"/>
              </a:rPr>
              <a:t> do through the prohibitions in the Treaty </a:t>
            </a:r>
          </a:p>
          <a:p>
            <a:pPr marL="1257300" lvl="2" indent="-342900">
              <a:buFont typeface="+mj-lt"/>
              <a:buAutoNum type="alphaLcPeriod"/>
            </a:pPr>
            <a:r>
              <a:rPr lang="en-GB" sz="1600" dirty="0">
                <a:latin typeface="+mj-lt"/>
              </a:rPr>
              <a:t>The focus is on national legislation which creates obstacles to free movement</a:t>
            </a:r>
          </a:p>
          <a:p>
            <a:pPr marL="1257300" lvl="2" indent="-342900">
              <a:buFont typeface="+mj-lt"/>
              <a:buAutoNum type="alphaLcPeriod"/>
            </a:pPr>
            <a:r>
              <a:rPr lang="en-GB" sz="1600" dirty="0">
                <a:latin typeface="+mj-lt"/>
              </a:rPr>
              <a:t>The main actors are individuals or companies who challenge national legislation under the free movement provisions (and the European Commission through the infringement procedure)</a:t>
            </a:r>
          </a:p>
          <a:p>
            <a:pPr marL="1257300" lvl="2" indent="-342900">
              <a:buFont typeface="+mj-lt"/>
              <a:buAutoNum type="alphaLcPeriod"/>
            </a:pPr>
            <a:endParaRPr lang="en-GB" dirty="0">
              <a:latin typeface="+mj-lt"/>
            </a:endParaRPr>
          </a:p>
          <a:p>
            <a:pPr marL="457200">
              <a:buFont typeface="+mj-lt"/>
              <a:buAutoNum type="arabicPeriod"/>
            </a:pPr>
            <a:r>
              <a:rPr lang="en-GB" b="1" dirty="0">
                <a:latin typeface="+mj-lt"/>
              </a:rPr>
              <a:t>Positive integration </a:t>
            </a:r>
            <a:r>
              <a:rPr lang="en-GB" dirty="0">
                <a:latin typeface="+mj-lt"/>
              </a:rPr>
              <a:t>(harmonisation): </a:t>
            </a:r>
            <a:r>
              <a:rPr lang="en-GB" u="sng" dirty="0">
                <a:latin typeface="+mj-lt"/>
              </a:rPr>
              <a:t>EU legislation</a:t>
            </a:r>
          </a:p>
          <a:p>
            <a:pPr marL="1371600" lvl="2" indent="-342900">
              <a:buFont typeface="+mj-lt"/>
              <a:buAutoNum type="alphaLcPeriod"/>
            </a:pPr>
            <a:endParaRPr lang="en-GB" dirty="0">
              <a:latin typeface="+mj-lt"/>
            </a:endParaRPr>
          </a:p>
          <a:p>
            <a:pPr marL="1371600" lvl="2" indent="-342900">
              <a:buFont typeface="+mj-lt"/>
              <a:buAutoNum type="alphaLcPeriod"/>
            </a:pPr>
            <a:r>
              <a:rPr lang="en-GB" sz="1600" dirty="0">
                <a:latin typeface="+mj-lt"/>
              </a:rPr>
              <a:t>National rules are replaced by uniform European standards</a:t>
            </a:r>
          </a:p>
          <a:p>
            <a:pPr marL="1371600" lvl="2" indent="-342900">
              <a:buFont typeface="+mj-lt"/>
              <a:buAutoNum type="alphaLcPeriod"/>
            </a:pPr>
            <a:r>
              <a:rPr lang="en-GB" sz="1600" dirty="0">
                <a:latin typeface="+mj-lt"/>
              </a:rPr>
              <a:t>The focus is on European rules which improve or facilitate free movement</a:t>
            </a:r>
          </a:p>
          <a:p>
            <a:pPr marL="1371600" lvl="2" indent="-342900">
              <a:buFont typeface="+mj-lt"/>
              <a:buAutoNum type="alphaLcPeriod"/>
            </a:pPr>
            <a:r>
              <a:rPr lang="en-GB" sz="1600" dirty="0">
                <a:latin typeface="+mj-lt"/>
              </a:rPr>
              <a:t>The main actor is the European legislature (Article 114 TFEU: link to EU Law last year)</a:t>
            </a:r>
          </a:p>
        </p:txBody>
      </p:sp>
    </p:spTree>
    <p:extLst>
      <p:ext uri="{BB962C8B-B14F-4D97-AF65-F5344CB8AC3E}">
        <p14:creationId xmlns:p14="http://schemas.microsoft.com/office/powerpoint/2010/main" val="40776619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interaction between positive and negative integration</a:t>
            </a:r>
          </a:p>
        </p:txBody>
      </p:sp>
      <p:sp>
        <p:nvSpPr>
          <p:cNvPr id="3" name="Content Placeholder 2"/>
          <p:cNvSpPr>
            <a:spLocks noGrp="1"/>
          </p:cNvSpPr>
          <p:nvPr>
            <p:ph idx="1"/>
          </p:nvPr>
        </p:nvSpPr>
        <p:spPr/>
        <p:txBody>
          <a:bodyPr/>
          <a:lstStyle/>
          <a:p>
            <a:pPr>
              <a:buFont typeface="+mj-lt"/>
              <a:buAutoNum type="arabicPeriod"/>
            </a:pPr>
            <a:endParaRPr lang="en-GB" dirty="0">
              <a:latin typeface="+mj-lt"/>
            </a:endParaRPr>
          </a:p>
          <a:p>
            <a:pPr>
              <a:buFont typeface="+mj-lt"/>
              <a:buAutoNum type="arabicPeriod"/>
            </a:pPr>
            <a:r>
              <a:rPr lang="en-GB" dirty="0">
                <a:latin typeface="+mj-lt"/>
              </a:rPr>
              <a:t>No harmonisation?: national rules are assessed under the Treaty provisions</a:t>
            </a:r>
          </a:p>
          <a:p>
            <a:pPr>
              <a:buFont typeface="+mj-lt"/>
              <a:buAutoNum type="arabicPeriod"/>
            </a:pPr>
            <a:endParaRPr lang="en-GB" dirty="0">
              <a:latin typeface="+mj-lt"/>
            </a:endParaRPr>
          </a:p>
          <a:p>
            <a:pPr>
              <a:buFont typeface="+mj-lt"/>
              <a:buAutoNum type="arabicPeriod"/>
            </a:pPr>
            <a:r>
              <a:rPr lang="en-GB" dirty="0">
                <a:latin typeface="+mj-lt"/>
              </a:rPr>
              <a:t>Harmonisation?: national rules are assessed under the relevant secondary law</a:t>
            </a:r>
          </a:p>
          <a:p>
            <a:pPr>
              <a:buFont typeface="+mj-lt"/>
              <a:buAutoNum type="arabicPeriod"/>
            </a:pPr>
            <a:endParaRPr lang="en-GB" dirty="0">
              <a:latin typeface="+mj-lt"/>
            </a:endParaRPr>
          </a:p>
          <a:p>
            <a:pPr>
              <a:buFont typeface="+mj-lt"/>
              <a:buAutoNum type="arabicPeriod"/>
            </a:pPr>
            <a:r>
              <a:rPr lang="en-GB" dirty="0">
                <a:latin typeface="+mj-lt"/>
              </a:rPr>
              <a:t>Examples of secondary law that we will look at in this course:</a:t>
            </a:r>
          </a:p>
          <a:p>
            <a:pPr lvl="1"/>
            <a:endParaRPr lang="en-GB" dirty="0">
              <a:latin typeface="+mj-lt"/>
            </a:endParaRPr>
          </a:p>
          <a:p>
            <a:pPr lvl="1"/>
            <a:r>
              <a:rPr lang="en-GB" dirty="0">
                <a:latin typeface="+mj-lt"/>
              </a:rPr>
              <a:t>The Citizen Rights Directive 2004/38/EC</a:t>
            </a:r>
          </a:p>
          <a:p>
            <a:pPr lvl="1"/>
            <a:r>
              <a:rPr lang="en-GB" dirty="0">
                <a:latin typeface="+mj-lt"/>
              </a:rPr>
              <a:t>The Services Directive 2006/123/EC</a:t>
            </a:r>
          </a:p>
        </p:txBody>
      </p:sp>
    </p:spTree>
    <p:extLst>
      <p:ext uri="{BB962C8B-B14F-4D97-AF65-F5344CB8AC3E}">
        <p14:creationId xmlns:p14="http://schemas.microsoft.com/office/powerpoint/2010/main" val="4165528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481012"/>
            <a:ext cx="7772400" cy="1143000"/>
          </a:xfrm>
        </p:spPr>
        <p:txBody>
          <a:bodyPr/>
          <a:lstStyle/>
          <a:p>
            <a:r>
              <a:rPr lang="en-GB" dirty="0"/>
              <a:t>The interaction between positive and negative integration</a:t>
            </a:r>
          </a:p>
        </p:txBody>
      </p:sp>
      <p:sp>
        <p:nvSpPr>
          <p:cNvPr id="3" name="Content Placeholder 2"/>
          <p:cNvSpPr>
            <a:spLocks noGrp="1"/>
          </p:cNvSpPr>
          <p:nvPr>
            <p:ph idx="1"/>
          </p:nvPr>
        </p:nvSpPr>
        <p:spPr>
          <a:xfrm>
            <a:off x="684213" y="1916832"/>
            <a:ext cx="7772400" cy="3816350"/>
          </a:xfrm>
        </p:spPr>
        <p:txBody>
          <a:bodyPr/>
          <a:lstStyle/>
          <a:p>
            <a:pPr>
              <a:buFont typeface="+mj-lt"/>
              <a:buAutoNum type="arabicPeriod"/>
            </a:pPr>
            <a:r>
              <a:rPr lang="en-GB" dirty="0">
                <a:latin typeface="+mj-lt"/>
              </a:rPr>
              <a:t>The </a:t>
            </a:r>
            <a:r>
              <a:rPr lang="en-GB" b="1" dirty="0">
                <a:latin typeface="+mj-lt"/>
              </a:rPr>
              <a:t>intensity</a:t>
            </a:r>
            <a:r>
              <a:rPr lang="en-GB" dirty="0">
                <a:latin typeface="+mj-lt"/>
              </a:rPr>
              <a:t> of the harmonisation: the difference between </a:t>
            </a:r>
            <a:r>
              <a:rPr lang="en-GB" b="1" dirty="0">
                <a:latin typeface="+mj-lt"/>
              </a:rPr>
              <a:t>minimum</a:t>
            </a:r>
            <a:r>
              <a:rPr lang="en-GB" dirty="0">
                <a:latin typeface="+mj-lt"/>
              </a:rPr>
              <a:t> and </a:t>
            </a:r>
            <a:r>
              <a:rPr lang="en-GB" b="1" dirty="0">
                <a:latin typeface="+mj-lt"/>
              </a:rPr>
              <a:t>maximum (or full)</a:t>
            </a:r>
            <a:r>
              <a:rPr lang="en-GB" dirty="0">
                <a:latin typeface="+mj-lt"/>
              </a:rPr>
              <a:t> harmonisation</a:t>
            </a:r>
          </a:p>
          <a:p>
            <a:pPr>
              <a:buFont typeface="+mj-lt"/>
              <a:buAutoNum type="arabicPeriod"/>
            </a:pPr>
            <a:endParaRPr lang="en-GB" dirty="0">
              <a:latin typeface="+mj-lt"/>
            </a:endParaRPr>
          </a:p>
          <a:p>
            <a:pPr>
              <a:buFont typeface="+mj-lt"/>
              <a:buAutoNum type="arabicPeriod"/>
            </a:pPr>
            <a:r>
              <a:rPr lang="en-GB" dirty="0">
                <a:latin typeface="+mj-lt"/>
              </a:rPr>
              <a:t>With minimum harmonisation, the EU adopts the </a:t>
            </a:r>
            <a:r>
              <a:rPr lang="en-GB" b="1" dirty="0">
                <a:latin typeface="+mj-lt"/>
              </a:rPr>
              <a:t>minimum standards</a:t>
            </a:r>
            <a:r>
              <a:rPr lang="en-GB" dirty="0">
                <a:latin typeface="+mj-lt"/>
              </a:rPr>
              <a:t>. Member States are free to adopt higher standards above that minimum</a:t>
            </a:r>
          </a:p>
          <a:p>
            <a:pPr>
              <a:buFont typeface="+mj-lt"/>
              <a:buAutoNum type="arabicPeriod"/>
            </a:pPr>
            <a:endParaRPr lang="en-GB" dirty="0">
              <a:latin typeface="+mj-lt"/>
            </a:endParaRPr>
          </a:p>
          <a:p>
            <a:pPr>
              <a:buFont typeface="+mj-lt"/>
              <a:buAutoNum type="arabicPeriod"/>
            </a:pPr>
            <a:r>
              <a:rPr lang="en-GB" dirty="0">
                <a:latin typeface="+mj-lt"/>
              </a:rPr>
              <a:t>If a Member State goes beyond the minimum standards provided in the secondary law, the national rules will be assessed </a:t>
            </a:r>
            <a:r>
              <a:rPr lang="en-GB" b="1" dirty="0">
                <a:latin typeface="+mj-lt"/>
              </a:rPr>
              <a:t>under the Treaty provisions</a:t>
            </a:r>
          </a:p>
          <a:p>
            <a:pPr>
              <a:buFont typeface="+mj-lt"/>
              <a:buAutoNum type="arabicPeriod"/>
            </a:pPr>
            <a:endParaRPr lang="en-GB" dirty="0">
              <a:latin typeface="+mj-lt"/>
            </a:endParaRPr>
          </a:p>
          <a:p>
            <a:pPr>
              <a:buFont typeface="+mj-lt"/>
              <a:buAutoNum type="arabicPeriod"/>
            </a:pPr>
            <a:r>
              <a:rPr lang="en-GB" dirty="0">
                <a:latin typeface="+mj-lt"/>
              </a:rPr>
              <a:t>With maximum harmonisation, the EU sets the </a:t>
            </a:r>
            <a:r>
              <a:rPr lang="en-GB" b="1" dirty="0">
                <a:latin typeface="+mj-lt"/>
              </a:rPr>
              <a:t>absolute standard</a:t>
            </a:r>
            <a:r>
              <a:rPr lang="en-GB" dirty="0">
                <a:latin typeface="+mj-lt"/>
              </a:rPr>
              <a:t>. Member States are not allowed to derogate from this standard. National rules are </a:t>
            </a:r>
            <a:r>
              <a:rPr lang="en-GB" b="1" dirty="0">
                <a:latin typeface="+mj-lt"/>
              </a:rPr>
              <a:t>always assessed under the relevant secondary law</a:t>
            </a:r>
          </a:p>
        </p:txBody>
      </p:sp>
    </p:spTree>
    <p:extLst>
      <p:ext uri="{BB962C8B-B14F-4D97-AF65-F5344CB8AC3E}">
        <p14:creationId xmlns:p14="http://schemas.microsoft.com/office/powerpoint/2010/main" val="15005596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260648"/>
            <a:ext cx="7772400" cy="1143000"/>
          </a:xfrm>
        </p:spPr>
        <p:txBody>
          <a:bodyPr/>
          <a:lstStyle/>
          <a:p>
            <a:r>
              <a:rPr lang="en-GB" dirty="0"/>
              <a:t>The interaction between positive and negative integration</a:t>
            </a:r>
          </a:p>
        </p:txBody>
      </p:sp>
      <p:sp>
        <p:nvSpPr>
          <p:cNvPr id="3" name="Content Placeholder 2"/>
          <p:cNvSpPr>
            <a:spLocks noGrp="1"/>
          </p:cNvSpPr>
          <p:nvPr>
            <p:ph idx="1"/>
          </p:nvPr>
        </p:nvSpPr>
        <p:spPr>
          <a:xfrm>
            <a:off x="683568" y="1628800"/>
            <a:ext cx="7772400" cy="3816350"/>
          </a:xfrm>
        </p:spPr>
        <p:txBody>
          <a:bodyPr/>
          <a:lstStyle/>
          <a:p>
            <a:pPr>
              <a:buFont typeface="+mj-lt"/>
              <a:buAutoNum type="arabicPeriod"/>
            </a:pPr>
            <a:r>
              <a:rPr lang="en-GB" dirty="0">
                <a:latin typeface="+mj-lt"/>
              </a:rPr>
              <a:t>The </a:t>
            </a:r>
            <a:r>
              <a:rPr lang="en-GB" b="1" dirty="0">
                <a:latin typeface="+mj-lt"/>
              </a:rPr>
              <a:t>scope</a:t>
            </a:r>
            <a:r>
              <a:rPr lang="en-GB" dirty="0">
                <a:latin typeface="+mj-lt"/>
              </a:rPr>
              <a:t> of the harmonisation: the difference between </a:t>
            </a:r>
            <a:r>
              <a:rPr lang="en-GB" b="1" dirty="0">
                <a:latin typeface="+mj-lt"/>
              </a:rPr>
              <a:t>partial</a:t>
            </a:r>
            <a:r>
              <a:rPr lang="en-GB" dirty="0">
                <a:latin typeface="+mj-lt"/>
              </a:rPr>
              <a:t> and </a:t>
            </a:r>
            <a:r>
              <a:rPr lang="en-GB" b="1" dirty="0">
                <a:latin typeface="+mj-lt"/>
              </a:rPr>
              <a:t>exhaustive </a:t>
            </a:r>
            <a:r>
              <a:rPr lang="en-GB" dirty="0">
                <a:latin typeface="+mj-lt"/>
              </a:rPr>
              <a:t>harmonisation. </a:t>
            </a:r>
          </a:p>
          <a:p>
            <a:pPr>
              <a:buFont typeface="+mj-lt"/>
              <a:buAutoNum type="arabicPeriod"/>
            </a:pPr>
            <a:endParaRPr lang="en-GB" dirty="0">
              <a:latin typeface="+mj-lt"/>
            </a:endParaRPr>
          </a:p>
          <a:p>
            <a:pPr>
              <a:buFont typeface="+mj-lt"/>
              <a:buAutoNum type="arabicPeriod"/>
            </a:pPr>
            <a:r>
              <a:rPr lang="en-GB" dirty="0">
                <a:latin typeface="+mj-lt"/>
              </a:rPr>
              <a:t>With partial harmonisation, the EU has harmonised a certain part or aspect of a product or service. Member States are free to set their own additional rules on aspects which have not been regulated by the EU</a:t>
            </a:r>
          </a:p>
          <a:p>
            <a:pPr>
              <a:buFont typeface="+mj-lt"/>
              <a:buAutoNum type="arabicPeriod"/>
            </a:pPr>
            <a:r>
              <a:rPr lang="en-GB" dirty="0">
                <a:latin typeface="+mj-lt"/>
              </a:rPr>
              <a:t>These national rules are then assessed </a:t>
            </a:r>
            <a:r>
              <a:rPr lang="en-GB" b="1" dirty="0">
                <a:latin typeface="+mj-lt"/>
              </a:rPr>
              <a:t>under the Treaty provisions</a:t>
            </a:r>
          </a:p>
          <a:p>
            <a:pPr>
              <a:buFont typeface="+mj-lt"/>
              <a:buAutoNum type="arabicPeriod"/>
            </a:pPr>
            <a:endParaRPr lang="en-GB" dirty="0">
              <a:latin typeface="+mj-lt"/>
            </a:endParaRPr>
          </a:p>
          <a:p>
            <a:pPr>
              <a:buFont typeface="+mj-lt"/>
              <a:buAutoNum type="arabicPeriod"/>
            </a:pPr>
            <a:r>
              <a:rPr lang="en-GB" dirty="0">
                <a:latin typeface="+mj-lt"/>
              </a:rPr>
              <a:t>With exhaustive harmonisation, the EU has harmonised all aspects of a particular product or service. There is no more scope for Member States to adopt their own rules – everything has been regulated by the EU</a:t>
            </a:r>
          </a:p>
          <a:p>
            <a:pPr>
              <a:buFont typeface="+mj-lt"/>
              <a:buAutoNum type="arabicPeriod"/>
            </a:pPr>
            <a:r>
              <a:rPr lang="en-GB" dirty="0">
                <a:latin typeface="+mj-lt"/>
              </a:rPr>
              <a:t>As a result, national rules will then always be assessed </a:t>
            </a:r>
            <a:r>
              <a:rPr lang="en-GB" b="1" dirty="0">
                <a:latin typeface="+mj-lt"/>
              </a:rPr>
              <a:t>under the relevant secondary law</a:t>
            </a:r>
          </a:p>
        </p:txBody>
      </p:sp>
    </p:spTree>
    <p:extLst>
      <p:ext uri="{BB962C8B-B14F-4D97-AF65-F5344CB8AC3E}">
        <p14:creationId xmlns:p14="http://schemas.microsoft.com/office/powerpoint/2010/main" val="12042228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04664"/>
            <a:ext cx="7772400" cy="1143000"/>
          </a:xfrm>
        </p:spPr>
        <p:txBody>
          <a:bodyPr/>
          <a:lstStyle/>
          <a:p>
            <a:r>
              <a:rPr lang="en-GB" dirty="0"/>
              <a:t>The structure of free movement law</a:t>
            </a:r>
          </a:p>
        </p:txBody>
      </p:sp>
      <p:sp>
        <p:nvSpPr>
          <p:cNvPr id="3" name="Content Placeholder 2"/>
          <p:cNvSpPr>
            <a:spLocks noGrp="1"/>
          </p:cNvSpPr>
          <p:nvPr>
            <p:ph idx="1"/>
          </p:nvPr>
        </p:nvSpPr>
        <p:spPr>
          <a:xfrm>
            <a:off x="685800" y="1844824"/>
            <a:ext cx="7772400" cy="3816350"/>
          </a:xfrm>
        </p:spPr>
        <p:txBody>
          <a:bodyPr/>
          <a:lstStyle/>
          <a:p>
            <a:pPr>
              <a:buFont typeface="+mj-lt"/>
              <a:buAutoNum type="arabicPeriod"/>
            </a:pPr>
            <a:r>
              <a:rPr lang="en-GB" dirty="0">
                <a:latin typeface="+mj-lt"/>
              </a:rPr>
              <a:t>Most cases we will be looking at in this course are about negative integration: national rules are assessed under the Treaty provisions</a:t>
            </a:r>
          </a:p>
          <a:p>
            <a:pPr>
              <a:buFont typeface="+mj-lt"/>
              <a:buAutoNum type="arabicPeriod"/>
            </a:pPr>
            <a:endParaRPr lang="en-GB" dirty="0">
              <a:latin typeface="+mj-lt"/>
            </a:endParaRPr>
          </a:p>
          <a:p>
            <a:pPr>
              <a:buFont typeface="+mj-lt"/>
              <a:buAutoNum type="arabicPeriod"/>
            </a:pPr>
            <a:r>
              <a:rPr lang="en-GB" dirty="0">
                <a:latin typeface="+mj-lt"/>
              </a:rPr>
              <a:t>For these cases, you will see that there is a certain </a:t>
            </a:r>
            <a:r>
              <a:rPr lang="en-GB" b="1" dirty="0">
                <a:latin typeface="+mj-lt"/>
              </a:rPr>
              <a:t>structure</a:t>
            </a:r>
            <a:r>
              <a:rPr lang="en-GB" dirty="0">
                <a:latin typeface="+mj-lt"/>
              </a:rPr>
              <a:t> in how the Court of Justice assesses free movement cases </a:t>
            </a:r>
          </a:p>
          <a:p>
            <a:pPr>
              <a:buFont typeface="+mj-lt"/>
              <a:buAutoNum type="arabicPeriod"/>
            </a:pPr>
            <a:endParaRPr lang="en-GB" dirty="0">
              <a:latin typeface="+mj-lt"/>
            </a:endParaRPr>
          </a:p>
          <a:p>
            <a:pPr>
              <a:buFont typeface="+mj-lt"/>
              <a:buAutoNum type="arabicPeriod"/>
            </a:pPr>
            <a:r>
              <a:rPr lang="en-GB" dirty="0">
                <a:latin typeface="+mj-lt"/>
              </a:rPr>
              <a:t>You could see this structure as a sequence of steps. However, the Court does not necessarily address all steps of the structure</a:t>
            </a:r>
          </a:p>
          <a:p>
            <a:pPr>
              <a:buFont typeface="+mj-lt"/>
              <a:buAutoNum type="arabicPeriod"/>
            </a:pPr>
            <a:endParaRPr lang="en-GB" dirty="0">
              <a:latin typeface="+mj-lt"/>
            </a:endParaRPr>
          </a:p>
          <a:p>
            <a:pPr>
              <a:buFont typeface="+mj-lt"/>
              <a:buAutoNum type="arabicPeriod"/>
            </a:pPr>
            <a:r>
              <a:rPr lang="en-GB" dirty="0">
                <a:latin typeface="+mj-lt"/>
              </a:rPr>
              <a:t>You will always have to start by analysing whether a case should be assessed under the free movement provisions or under secondary law</a:t>
            </a:r>
          </a:p>
          <a:p>
            <a:pPr marL="0" indent="0"/>
            <a:endParaRPr lang="en-GB" dirty="0">
              <a:latin typeface="+mj-lt"/>
            </a:endParaRPr>
          </a:p>
          <a:p>
            <a:pPr>
              <a:buFont typeface="+mj-lt"/>
              <a:buAutoNum type="arabicPeriod"/>
            </a:pPr>
            <a:endParaRPr lang="en-GB" dirty="0">
              <a:latin typeface="+mj-lt"/>
            </a:endParaRPr>
          </a:p>
        </p:txBody>
      </p:sp>
    </p:spTree>
    <p:extLst>
      <p:ext uri="{BB962C8B-B14F-4D97-AF65-F5344CB8AC3E}">
        <p14:creationId xmlns:p14="http://schemas.microsoft.com/office/powerpoint/2010/main" val="7413613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structure of free movement law</a:t>
            </a:r>
          </a:p>
        </p:txBody>
      </p:sp>
      <p:sp>
        <p:nvSpPr>
          <p:cNvPr id="3" name="Content Placeholder 2"/>
          <p:cNvSpPr>
            <a:spLocks noGrp="1"/>
          </p:cNvSpPr>
          <p:nvPr>
            <p:ph idx="1"/>
          </p:nvPr>
        </p:nvSpPr>
        <p:spPr/>
        <p:txBody>
          <a:bodyPr/>
          <a:lstStyle/>
          <a:p>
            <a:pPr>
              <a:buFont typeface="+mj-lt"/>
              <a:buAutoNum type="arabicPeriod"/>
            </a:pPr>
            <a:r>
              <a:rPr lang="en-GB" dirty="0">
                <a:latin typeface="+mj-lt"/>
              </a:rPr>
              <a:t>The </a:t>
            </a:r>
            <a:r>
              <a:rPr lang="en-GB" b="1" dirty="0">
                <a:latin typeface="+mj-lt"/>
              </a:rPr>
              <a:t>scope</a:t>
            </a:r>
            <a:r>
              <a:rPr lang="en-GB" dirty="0">
                <a:latin typeface="+mj-lt"/>
              </a:rPr>
              <a:t> of the free movement provisions</a:t>
            </a:r>
          </a:p>
          <a:p>
            <a:pPr>
              <a:buFont typeface="+mj-lt"/>
              <a:buAutoNum type="arabicPeriod"/>
            </a:pPr>
            <a:endParaRPr lang="en-GB" dirty="0">
              <a:latin typeface="+mj-lt"/>
            </a:endParaRPr>
          </a:p>
          <a:p>
            <a:pPr>
              <a:buFont typeface="+mj-lt"/>
              <a:buAutoNum type="arabicPeriod"/>
            </a:pPr>
            <a:r>
              <a:rPr lang="en-GB" b="1" dirty="0">
                <a:latin typeface="+mj-lt"/>
              </a:rPr>
              <a:t>Direct effect </a:t>
            </a:r>
            <a:r>
              <a:rPr lang="en-GB" dirty="0">
                <a:latin typeface="+mj-lt"/>
              </a:rPr>
              <a:t>of the free movement provisions</a:t>
            </a:r>
          </a:p>
          <a:p>
            <a:pPr>
              <a:buFont typeface="+mj-lt"/>
              <a:buAutoNum type="arabicPeriod"/>
            </a:pPr>
            <a:endParaRPr lang="en-GB" dirty="0">
              <a:latin typeface="+mj-lt"/>
            </a:endParaRPr>
          </a:p>
          <a:p>
            <a:pPr>
              <a:buFont typeface="+mj-lt"/>
              <a:buAutoNum type="arabicPeriod"/>
            </a:pPr>
            <a:r>
              <a:rPr lang="en-GB" dirty="0">
                <a:latin typeface="+mj-lt"/>
              </a:rPr>
              <a:t>A </a:t>
            </a:r>
            <a:r>
              <a:rPr lang="en-GB" b="1" dirty="0">
                <a:latin typeface="+mj-lt"/>
              </a:rPr>
              <a:t>restriction</a:t>
            </a:r>
            <a:r>
              <a:rPr lang="en-GB" dirty="0">
                <a:latin typeface="+mj-lt"/>
              </a:rPr>
              <a:t> of the free movement provisions</a:t>
            </a:r>
          </a:p>
          <a:p>
            <a:pPr>
              <a:buFont typeface="+mj-lt"/>
              <a:buAutoNum type="arabicPeriod"/>
            </a:pPr>
            <a:endParaRPr lang="en-GB" dirty="0">
              <a:latin typeface="+mj-lt"/>
            </a:endParaRPr>
          </a:p>
          <a:p>
            <a:pPr>
              <a:buFont typeface="+mj-lt"/>
              <a:buAutoNum type="arabicPeriod"/>
            </a:pPr>
            <a:r>
              <a:rPr lang="en-GB" dirty="0">
                <a:latin typeface="+mj-lt"/>
              </a:rPr>
              <a:t>A ground of </a:t>
            </a:r>
            <a:r>
              <a:rPr lang="en-GB" b="1" dirty="0">
                <a:latin typeface="+mj-lt"/>
              </a:rPr>
              <a:t>justification</a:t>
            </a:r>
          </a:p>
          <a:p>
            <a:pPr>
              <a:buFont typeface="+mj-lt"/>
              <a:buAutoNum type="arabicPeriod"/>
            </a:pPr>
            <a:endParaRPr lang="en-GB" dirty="0">
              <a:latin typeface="+mj-lt"/>
            </a:endParaRPr>
          </a:p>
          <a:p>
            <a:pPr>
              <a:buFont typeface="+mj-lt"/>
              <a:buAutoNum type="arabicPeriod"/>
            </a:pPr>
            <a:r>
              <a:rPr lang="en-GB" b="1" dirty="0">
                <a:latin typeface="+mj-lt"/>
              </a:rPr>
              <a:t>Proportionality</a:t>
            </a:r>
          </a:p>
        </p:txBody>
      </p:sp>
    </p:spTree>
    <p:extLst>
      <p:ext uri="{BB962C8B-B14F-4D97-AF65-F5344CB8AC3E}">
        <p14:creationId xmlns:p14="http://schemas.microsoft.com/office/powerpoint/2010/main" val="30207384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404664"/>
            <a:ext cx="7772400" cy="1143000"/>
          </a:xfrm>
        </p:spPr>
        <p:txBody>
          <a:bodyPr/>
          <a:lstStyle/>
          <a:p>
            <a:r>
              <a:rPr lang="en-GB" dirty="0"/>
              <a:t>The scope of the free movement provisions</a:t>
            </a:r>
          </a:p>
        </p:txBody>
      </p:sp>
      <p:sp>
        <p:nvSpPr>
          <p:cNvPr id="3" name="Content Placeholder 2"/>
          <p:cNvSpPr>
            <a:spLocks noGrp="1"/>
          </p:cNvSpPr>
          <p:nvPr>
            <p:ph idx="1"/>
          </p:nvPr>
        </p:nvSpPr>
        <p:spPr>
          <a:xfrm>
            <a:off x="684207" y="1916832"/>
            <a:ext cx="7772400" cy="3816350"/>
          </a:xfrm>
        </p:spPr>
        <p:txBody>
          <a:bodyPr/>
          <a:lstStyle/>
          <a:p>
            <a:pPr>
              <a:buFont typeface="+mj-lt"/>
              <a:buAutoNum type="arabicPeriod"/>
            </a:pPr>
            <a:r>
              <a:rPr lang="en-GB" dirty="0">
                <a:latin typeface="+mj-lt"/>
              </a:rPr>
              <a:t>The free movement provisions are only applicable if a case has </a:t>
            </a:r>
            <a:r>
              <a:rPr lang="en-GB" b="1" dirty="0">
                <a:latin typeface="+mj-lt"/>
              </a:rPr>
              <a:t>a cross-border element </a:t>
            </a:r>
            <a:r>
              <a:rPr lang="en-GB" dirty="0">
                <a:latin typeface="+mj-lt"/>
              </a:rPr>
              <a:t>or an inter-state dimension</a:t>
            </a:r>
          </a:p>
          <a:p>
            <a:pPr>
              <a:buFont typeface="+mj-lt"/>
              <a:buAutoNum type="arabicPeriod"/>
            </a:pPr>
            <a:endParaRPr lang="en-GB" dirty="0">
              <a:latin typeface="+mj-lt"/>
            </a:endParaRPr>
          </a:p>
          <a:p>
            <a:pPr>
              <a:buFont typeface="+mj-lt"/>
              <a:buAutoNum type="arabicPeriod"/>
            </a:pPr>
            <a:r>
              <a:rPr lang="en-GB" dirty="0">
                <a:latin typeface="+mj-lt"/>
              </a:rPr>
              <a:t>If all the elements of a case are within one Member State, the free movement provisions are not applicable: this is a “</a:t>
            </a:r>
            <a:r>
              <a:rPr lang="en-GB" b="1" dirty="0">
                <a:latin typeface="+mj-lt"/>
              </a:rPr>
              <a:t>wholly internal</a:t>
            </a:r>
            <a:r>
              <a:rPr lang="en-GB" dirty="0">
                <a:latin typeface="+mj-lt"/>
              </a:rPr>
              <a:t>” situation</a:t>
            </a:r>
          </a:p>
          <a:p>
            <a:pPr>
              <a:buFont typeface="+mj-lt"/>
              <a:buAutoNum type="arabicPeriod"/>
            </a:pPr>
            <a:endParaRPr lang="en-GB" dirty="0">
              <a:latin typeface="+mj-lt"/>
            </a:endParaRPr>
          </a:p>
          <a:p>
            <a:pPr>
              <a:buFont typeface="+mj-lt"/>
              <a:buAutoNum type="arabicPeriod"/>
            </a:pPr>
            <a:r>
              <a:rPr lang="en-GB" dirty="0">
                <a:latin typeface="+mj-lt"/>
              </a:rPr>
              <a:t>For most freedoms, the Court has held that the free movement provisions do not apply to national rules whose impact on cross-border trade is “</a:t>
            </a:r>
            <a:r>
              <a:rPr lang="en-GB" b="1" dirty="0">
                <a:latin typeface="+mj-lt"/>
              </a:rPr>
              <a:t>too uncertain and indirect</a:t>
            </a:r>
            <a:r>
              <a:rPr lang="en-GB" dirty="0">
                <a:latin typeface="+mj-lt"/>
              </a:rPr>
              <a:t>”</a:t>
            </a:r>
          </a:p>
          <a:p>
            <a:pPr>
              <a:buFont typeface="+mj-lt"/>
              <a:buAutoNum type="arabicPeriod"/>
            </a:pPr>
            <a:endParaRPr lang="en-GB" dirty="0">
              <a:latin typeface="+mj-lt"/>
            </a:endParaRPr>
          </a:p>
          <a:p>
            <a:pPr>
              <a:buFont typeface="+mj-lt"/>
              <a:buAutoNum type="arabicPeriod"/>
            </a:pPr>
            <a:r>
              <a:rPr lang="en-GB" dirty="0">
                <a:latin typeface="+mj-lt"/>
              </a:rPr>
              <a:t>However, you will see that the Court is often </a:t>
            </a:r>
            <a:r>
              <a:rPr lang="en-GB" b="1" dirty="0">
                <a:latin typeface="+mj-lt"/>
              </a:rPr>
              <a:t>flexible</a:t>
            </a:r>
            <a:r>
              <a:rPr lang="en-GB" dirty="0">
                <a:latin typeface="+mj-lt"/>
              </a:rPr>
              <a:t> in finding a cross-border element – particularly in the case law on Union citizenship</a:t>
            </a:r>
          </a:p>
          <a:p>
            <a:pPr>
              <a:buFont typeface="+mj-lt"/>
              <a:buAutoNum type="arabicPeriod"/>
            </a:pPr>
            <a:endParaRPr lang="en-GB" dirty="0">
              <a:latin typeface="+mj-lt"/>
            </a:endParaRPr>
          </a:p>
        </p:txBody>
      </p:sp>
    </p:spTree>
    <p:extLst>
      <p:ext uri="{BB962C8B-B14F-4D97-AF65-F5344CB8AC3E}">
        <p14:creationId xmlns:p14="http://schemas.microsoft.com/office/powerpoint/2010/main" val="26937478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260648"/>
            <a:ext cx="7772400" cy="1143000"/>
          </a:xfrm>
        </p:spPr>
        <p:txBody>
          <a:bodyPr/>
          <a:lstStyle/>
          <a:p>
            <a:r>
              <a:rPr lang="en-GB" dirty="0"/>
              <a:t>Direct effect of the free movement provisions</a:t>
            </a:r>
          </a:p>
        </p:txBody>
      </p:sp>
      <p:sp>
        <p:nvSpPr>
          <p:cNvPr id="3" name="Content Placeholder 2"/>
          <p:cNvSpPr>
            <a:spLocks noGrp="1"/>
          </p:cNvSpPr>
          <p:nvPr>
            <p:ph idx="1"/>
          </p:nvPr>
        </p:nvSpPr>
        <p:spPr>
          <a:xfrm>
            <a:off x="683568" y="1772816"/>
            <a:ext cx="7772400" cy="3816350"/>
          </a:xfrm>
        </p:spPr>
        <p:txBody>
          <a:bodyPr/>
          <a:lstStyle/>
          <a:p>
            <a:pPr>
              <a:buFont typeface="+mj-lt"/>
              <a:buAutoNum type="arabicPeriod"/>
            </a:pPr>
            <a:r>
              <a:rPr lang="en-GB" dirty="0">
                <a:latin typeface="+mj-lt"/>
              </a:rPr>
              <a:t>All free movement provisions have </a:t>
            </a:r>
            <a:r>
              <a:rPr lang="en-GB" b="1" dirty="0">
                <a:latin typeface="+mj-lt"/>
              </a:rPr>
              <a:t>vertical direct effect</a:t>
            </a:r>
            <a:r>
              <a:rPr lang="en-GB" dirty="0">
                <a:latin typeface="+mj-lt"/>
              </a:rPr>
              <a:t>: private parties can rely on them against the State before national courts</a:t>
            </a:r>
          </a:p>
          <a:p>
            <a:pPr>
              <a:buFont typeface="+mj-lt"/>
              <a:buAutoNum type="arabicPeriod"/>
            </a:pPr>
            <a:endParaRPr lang="en-GB" dirty="0">
              <a:latin typeface="+mj-lt"/>
            </a:endParaRPr>
          </a:p>
          <a:p>
            <a:pPr>
              <a:buFont typeface="+mj-lt"/>
              <a:buAutoNum type="arabicPeriod"/>
            </a:pPr>
            <a:r>
              <a:rPr lang="en-GB" dirty="0">
                <a:latin typeface="+mj-lt"/>
              </a:rPr>
              <a:t>It seems like most free movement provisions also have </a:t>
            </a:r>
            <a:r>
              <a:rPr lang="en-GB" b="1" dirty="0">
                <a:latin typeface="+mj-lt"/>
              </a:rPr>
              <a:t>horizontal direct effect</a:t>
            </a:r>
            <a:r>
              <a:rPr lang="en-GB" dirty="0">
                <a:latin typeface="+mj-lt"/>
              </a:rPr>
              <a:t>: private parties can rely on them against another private party</a:t>
            </a:r>
          </a:p>
          <a:p>
            <a:pPr>
              <a:buFont typeface="+mj-lt"/>
              <a:buAutoNum type="arabicPeriod"/>
            </a:pPr>
            <a:endParaRPr lang="en-GB" dirty="0">
              <a:latin typeface="+mj-lt"/>
            </a:endParaRPr>
          </a:p>
          <a:p>
            <a:pPr>
              <a:buFont typeface="+mj-lt"/>
              <a:buAutoNum type="arabicPeriod"/>
            </a:pPr>
            <a:r>
              <a:rPr lang="en-GB" dirty="0">
                <a:latin typeface="+mj-lt"/>
              </a:rPr>
              <a:t>The only exception is the </a:t>
            </a:r>
            <a:r>
              <a:rPr lang="en-GB" b="1" dirty="0">
                <a:latin typeface="+mj-lt"/>
              </a:rPr>
              <a:t>free movement of goods</a:t>
            </a:r>
            <a:r>
              <a:rPr lang="en-GB" dirty="0">
                <a:latin typeface="+mj-lt"/>
              </a:rPr>
              <a:t>: the Court has always held that Article 34 TFEU does not have horizontal direct effect (but see </a:t>
            </a:r>
            <a:r>
              <a:rPr lang="en-GB" i="1" dirty="0">
                <a:latin typeface="+mj-lt"/>
              </a:rPr>
              <a:t>Fra.bo</a:t>
            </a:r>
            <a:r>
              <a:rPr lang="en-GB" dirty="0">
                <a:latin typeface="+mj-lt"/>
              </a:rPr>
              <a:t>)</a:t>
            </a:r>
          </a:p>
          <a:p>
            <a:pPr>
              <a:buFont typeface="+mj-lt"/>
              <a:buAutoNum type="arabicPeriod"/>
            </a:pPr>
            <a:endParaRPr lang="en-GB" dirty="0">
              <a:latin typeface="+mj-lt"/>
            </a:endParaRPr>
          </a:p>
          <a:p>
            <a:pPr>
              <a:buFont typeface="+mj-lt"/>
              <a:buAutoNum type="arabicPeriod"/>
            </a:pPr>
            <a:r>
              <a:rPr lang="en-GB" dirty="0">
                <a:latin typeface="+mj-lt"/>
              </a:rPr>
              <a:t>The Court has held that Member States are under an obligation </a:t>
            </a:r>
            <a:r>
              <a:rPr lang="en-GB" b="1" dirty="0">
                <a:latin typeface="+mj-lt"/>
              </a:rPr>
              <a:t>to facilitate free movement</a:t>
            </a:r>
            <a:r>
              <a:rPr lang="en-GB" dirty="0">
                <a:latin typeface="+mj-lt"/>
              </a:rPr>
              <a:t> on their territory. This could mean that a Member State has to remove obstacles to free movement created by private parties (see </a:t>
            </a:r>
            <a:r>
              <a:rPr lang="en-GB" i="1" dirty="0">
                <a:latin typeface="+mj-lt"/>
              </a:rPr>
              <a:t>Schmidberger</a:t>
            </a:r>
            <a:r>
              <a:rPr lang="en-GB" dirty="0">
                <a:latin typeface="+mj-lt"/>
              </a:rPr>
              <a:t> and </a:t>
            </a:r>
            <a:r>
              <a:rPr lang="en-GB" i="1" dirty="0">
                <a:latin typeface="+mj-lt"/>
              </a:rPr>
              <a:t>Commission v France (Spanish Strawberries</a:t>
            </a:r>
            <a:r>
              <a:rPr lang="en-GB" dirty="0">
                <a:latin typeface="+mj-lt"/>
              </a:rPr>
              <a:t>))</a:t>
            </a:r>
          </a:p>
        </p:txBody>
      </p:sp>
    </p:spTree>
    <p:extLst>
      <p:ext uri="{BB962C8B-B14F-4D97-AF65-F5344CB8AC3E}">
        <p14:creationId xmlns:p14="http://schemas.microsoft.com/office/powerpoint/2010/main" val="3496398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548680"/>
            <a:ext cx="7772400" cy="1143000"/>
          </a:xfrm>
        </p:spPr>
        <p:txBody>
          <a:bodyPr/>
          <a:lstStyle/>
          <a:p>
            <a:r>
              <a:rPr lang="en-GB" dirty="0"/>
              <a:t>A restriction of the free movement provisions</a:t>
            </a:r>
            <a:br>
              <a:rPr lang="en-GB" dirty="0"/>
            </a:br>
            <a:endParaRPr lang="en-GB" dirty="0"/>
          </a:p>
        </p:txBody>
      </p:sp>
      <p:sp>
        <p:nvSpPr>
          <p:cNvPr id="3" name="Content Placeholder 2"/>
          <p:cNvSpPr>
            <a:spLocks noGrp="1"/>
          </p:cNvSpPr>
          <p:nvPr>
            <p:ph idx="1"/>
          </p:nvPr>
        </p:nvSpPr>
        <p:spPr>
          <a:xfrm>
            <a:off x="683568" y="1484784"/>
            <a:ext cx="7772400" cy="3816350"/>
          </a:xfrm>
        </p:spPr>
        <p:txBody>
          <a:bodyPr/>
          <a:lstStyle/>
          <a:p>
            <a:pPr>
              <a:buFont typeface="+mj-lt"/>
              <a:buAutoNum type="arabicPeriod"/>
            </a:pPr>
            <a:r>
              <a:rPr lang="en-GB" dirty="0">
                <a:latin typeface="+mj-lt"/>
              </a:rPr>
              <a:t>For each of the free movement provisions, you will see that the Court uses different methods to analyse whether there is a breach or restriction on free movement. The three most frequently used methods are:</a:t>
            </a:r>
          </a:p>
          <a:p>
            <a:pPr>
              <a:buFont typeface="+mj-lt"/>
              <a:buAutoNum type="arabicPeriod"/>
            </a:pPr>
            <a:endParaRPr lang="en-GB" dirty="0">
              <a:latin typeface="+mj-lt"/>
            </a:endParaRPr>
          </a:p>
          <a:p>
            <a:pPr>
              <a:buFont typeface="+mj-lt"/>
              <a:buAutoNum type="arabicPeriod"/>
            </a:pPr>
            <a:r>
              <a:rPr lang="en-GB" b="1" dirty="0">
                <a:latin typeface="+mj-lt"/>
              </a:rPr>
              <a:t>Direct discrimination</a:t>
            </a:r>
            <a:r>
              <a:rPr lang="en-GB" dirty="0">
                <a:latin typeface="+mj-lt"/>
              </a:rPr>
              <a:t>: the rule discriminates openly against nationals from another Member State. The discrimination is visible in the formulation of the rule (e.g. a nationality requirement)</a:t>
            </a:r>
          </a:p>
          <a:p>
            <a:pPr>
              <a:buFont typeface="+mj-lt"/>
              <a:buAutoNum type="arabicPeriod"/>
            </a:pPr>
            <a:endParaRPr lang="en-GB" dirty="0">
              <a:latin typeface="+mj-lt"/>
            </a:endParaRPr>
          </a:p>
          <a:p>
            <a:pPr>
              <a:buFont typeface="+mj-lt"/>
              <a:buAutoNum type="arabicPeriod"/>
            </a:pPr>
            <a:r>
              <a:rPr lang="en-GB" b="1" dirty="0">
                <a:latin typeface="+mj-lt"/>
              </a:rPr>
              <a:t>Indirect discrimination</a:t>
            </a:r>
            <a:r>
              <a:rPr lang="en-GB" dirty="0">
                <a:latin typeface="+mj-lt"/>
              </a:rPr>
              <a:t>: the discrimination is not visible in how the rule has been formulated, but the </a:t>
            </a:r>
            <a:r>
              <a:rPr lang="en-GB" i="1" dirty="0">
                <a:latin typeface="+mj-lt"/>
              </a:rPr>
              <a:t>effect</a:t>
            </a:r>
            <a:r>
              <a:rPr lang="en-GB" dirty="0">
                <a:latin typeface="+mj-lt"/>
              </a:rPr>
              <a:t> of the rule is to make it more difficult for non-nationals to comply with it (e.g. a language requirement)</a:t>
            </a:r>
          </a:p>
          <a:p>
            <a:pPr>
              <a:buFont typeface="+mj-lt"/>
              <a:buAutoNum type="arabicPeriod"/>
            </a:pPr>
            <a:endParaRPr lang="en-GB" dirty="0">
              <a:latin typeface="+mj-lt"/>
            </a:endParaRPr>
          </a:p>
          <a:p>
            <a:pPr>
              <a:buFont typeface="+mj-lt"/>
              <a:buAutoNum type="arabicPeriod"/>
            </a:pPr>
            <a:r>
              <a:rPr lang="en-GB" b="1" dirty="0">
                <a:latin typeface="+mj-lt"/>
              </a:rPr>
              <a:t>Restriction/obstacle</a:t>
            </a:r>
            <a:r>
              <a:rPr lang="en-GB" dirty="0">
                <a:latin typeface="+mj-lt"/>
              </a:rPr>
              <a:t>: even though the rule is genuinely non-discriminatory, it still makes it more difficult or less attractive for individuals to make use of their free movement rights (e.g. a requirement to take an exam)</a:t>
            </a:r>
          </a:p>
        </p:txBody>
      </p:sp>
    </p:spTree>
    <p:extLst>
      <p:ext uri="{BB962C8B-B14F-4D97-AF65-F5344CB8AC3E}">
        <p14:creationId xmlns:p14="http://schemas.microsoft.com/office/powerpoint/2010/main" val="10904829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05304"/>
            <a:ext cx="7772400" cy="1143000"/>
          </a:xfrm>
        </p:spPr>
        <p:txBody>
          <a:bodyPr/>
          <a:lstStyle/>
          <a:p>
            <a:r>
              <a:rPr lang="en-GB" dirty="0"/>
              <a:t>The grounds of justification</a:t>
            </a:r>
          </a:p>
        </p:txBody>
      </p:sp>
      <p:sp>
        <p:nvSpPr>
          <p:cNvPr id="3" name="Content Placeholder 2"/>
          <p:cNvSpPr>
            <a:spLocks noGrp="1"/>
          </p:cNvSpPr>
          <p:nvPr>
            <p:ph idx="1"/>
          </p:nvPr>
        </p:nvSpPr>
        <p:spPr>
          <a:xfrm>
            <a:off x="672808" y="1340768"/>
            <a:ext cx="7772400" cy="3816350"/>
          </a:xfrm>
        </p:spPr>
        <p:txBody>
          <a:bodyPr/>
          <a:lstStyle/>
          <a:p>
            <a:pPr>
              <a:buFont typeface="+mj-lt"/>
              <a:buAutoNum type="arabicPeriod"/>
            </a:pPr>
            <a:r>
              <a:rPr lang="en-GB" dirty="0">
                <a:latin typeface="+mj-lt"/>
              </a:rPr>
              <a:t>Each free movement provisions has a corresponding list in the TFEU with </a:t>
            </a:r>
            <a:r>
              <a:rPr lang="en-GB" b="1" dirty="0">
                <a:latin typeface="+mj-lt"/>
              </a:rPr>
              <a:t>grounds of justification</a:t>
            </a:r>
            <a:r>
              <a:rPr lang="en-GB" dirty="0">
                <a:latin typeface="+mj-lt"/>
              </a:rPr>
              <a:t> Member States can rely on to justify a restriction of the free movement provisions: so-called </a:t>
            </a:r>
            <a:r>
              <a:rPr lang="en-GB" b="1" dirty="0">
                <a:latin typeface="+mj-lt"/>
              </a:rPr>
              <a:t>Treaty derogations</a:t>
            </a:r>
          </a:p>
          <a:p>
            <a:pPr>
              <a:buFont typeface="+mj-lt"/>
              <a:buAutoNum type="arabicPeriod"/>
            </a:pPr>
            <a:endParaRPr lang="en-GB" dirty="0">
              <a:latin typeface="+mj-lt"/>
            </a:endParaRPr>
          </a:p>
          <a:p>
            <a:pPr>
              <a:buFont typeface="+mj-lt"/>
              <a:buAutoNum type="arabicPeriod"/>
            </a:pPr>
            <a:r>
              <a:rPr lang="en-GB" dirty="0">
                <a:latin typeface="+mj-lt"/>
              </a:rPr>
              <a:t>In addition, the Court has also developed an </a:t>
            </a:r>
            <a:r>
              <a:rPr lang="en-GB" b="1" dirty="0">
                <a:latin typeface="+mj-lt"/>
              </a:rPr>
              <a:t>open category of justifications</a:t>
            </a:r>
            <a:r>
              <a:rPr lang="en-GB" dirty="0">
                <a:latin typeface="+mj-lt"/>
              </a:rPr>
              <a:t> in the case law. This is genuinely an open category: Member States can always rely on what they believe is a good reason to restrict free movement. Confusingly, they have been given different names for different freedoms: </a:t>
            </a:r>
            <a:r>
              <a:rPr lang="en-GB" b="1" dirty="0">
                <a:latin typeface="+mj-lt"/>
              </a:rPr>
              <a:t>mandatory requirements</a:t>
            </a:r>
            <a:r>
              <a:rPr lang="en-GB" dirty="0">
                <a:latin typeface="+mj-lt"/>
              </a:rPr>
              <a:t>, </a:t>
            </a:r>
            <a:r>
              <a:rPr lang="en-GB" b="1" dirty="0">
                <a:latin typeface="+mj-lt"/>
              </a:rPr>
              <a:t>objective justifications</a:t>
            </a:r>
            <a:r>
              <a:rPr lang="en-GB" dirty="0">
                <a:latin typeface="+mj-lt"/>
              </a:rPr>
              <a:t>, </a:t>
            </a:r>
            <a:r>
              <a:rPr lang="en-GB" b="1" dirty="0">
                <a:latin typeface="+mj-lt"/>
              </a:rPr>
              <a:t>public interest requirements</a:t>
            </a:r>
          </a:p>
          <a:p>
            <a:pPr>
              <a:buFont typeface="+mj-lt"/>
              <a:buAutoNum type="arabicPeriod"/>
            </a:pPr>
            <a:endParaRPr lang="en-GB" dirty="0">
              <a:latin typeface="+mj-lt"/>
            </a:endParaRPr>
          </a:p>
          <a:p>
            <a:pPr>
              <a:buFont typeface="+mj-lt"/>
              <a:buAutoNum type="arabicPeriod"/>
            </a:pPr>
            <a:r>
              <a:rPr lang="en-GB" dirty="0">
                <a:latin typeface="+mj-lt"/>
              </a:rPr>
              <a:t>The orthodox rule is that directly discriminatory rules can </a:t>
            </a:r>
            <a:r>
              <a:rPr lang="en-GB" b="1" dirty="0">
                <a:latin typeface="+mj-lt"/>
              </a:rPr>
              <a:t>only</a:t>
            </a:r>
            <a:r>
              <a:rPr lang="en-GB" dirty="0">
                <a:latin typeface="+mj-lt"/>
              </a:rPr>
              <a:t> be justified by Treaty derogations. All other rules can be justified by Treaty derogations </a:t>
            </a:r>
            <a:r>
              <a:rPr lang="en-GB" b="1" dirty="0">
                <a:latin typeface="+mj-lt"/>
              </a:rPr>
              <a:t>and</a:t>
            </a:r>
            <a:r>
              <a:rPr lang="en-GB" dirty="0">
                <a:latin typeface="+mj-lt"/>
              </a:rPr>
              <a:t> the case law-based justifications. However, note that the Court has recently become much more flexible about this (particularly for environmental protection)</a:t>
            </a:r>
          </a:p>
        </p:txBody>
      </p:sp>
    </p:spTree>
    <p:extLst>
      <p:ext uri="{BB962C8B-B14F-4D97-AF65-F5344CB8AC3E}">
        <p14:creationId xmlns:p14="http://schemas.microsoft.com/office/powerpoint/2010/main" val="10926044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188640"/>
            <a:ext cx="7772400" cy="1143000"/>
          </a:xfrm>
        </p:spPr>
        <p:txBody>
          <a:bodyPr/>
          <a:lstStyle/>
          <a:p>
            <a:r>
              <a:rPr lang="en-GB" dirty="0"/>
              <a:t>Proportionality</a:t>
            </a:r>
          </a:p>
        </p:txBody>
      </p:sp>
      <p:sp>
        <p:nvSpPr>
          <p:cNvPr id="3" name="Content Placeholder 2"/>
          <p:cNvSpPr>
            <a:spLocks noGrp="1"/>
          </p:cNvSpPr>
          <p:nvPr>
            <p:ph idx="1"/>
          </p:nvPr>
        </p:nvSpPr>
        <p:spPr>
          <a:xfrm>
            <a:off x="683568" y="1268760"/>
            <a:ext cx="7772400" cy="3816350"/>
          </a:xfrm>
        </p:spPr>
        <p:txBody>
          <a:bodyPr/>
          <a:lstStyle/>
          <a:p>
            <a:pPr>
              <a:buFont typeface="+mj-lt"/>
              <a:buAutoNum type="arabicPeriod"/>
            </a:pPr>
            <a:r>
              <a:rPr lang="en-GB" dirty="0">
                <a:latin typeface="+mj-lt"/>
              </a:rPr>
              <a:t>Even if a Member State is able to rely on a ground of justification, it will still have to prove that the restriction is proportionate. Normally, the proportionality test involves two steps:</a:t>
            </a:r>
          </a:p>
          <a:p>
            <a:pPr>
              <a:buFont typeface="+mj-lt"/>
              <a:buAutoNum type="arabicPeriod"/>
            </a:pPr>
            <a:endParaRPr lang="en-GB" dirty="0">
              <a:latin typeface="+mj-lt"/>
            </a:endParaRPr>
          </a:p>
          <a:p>
            <a:pPr>
              <a:buFont typeface="+mj-lt"/>
              <a:buAutoNum type="arabicPeriod"/>
            </a:pPr>
            <a:r>
              <a:rPr lang="en-GB" b="1" dirty="0">
                <a:latin typeface="+mj-lt"/>
              </a:rPr>
              <a:t>Suitability</a:t>
            </a:r>
            <a:r>
              <a:rPr lang="en-GB" dirty="0">
                <a:latin typeface="+mj-lt"/>
              </a:rPr>
              <a:t>: is the measure suitable to achieve its aim? Make a connection between the tool chosen (the national rule) and the aim to be achieved (the ground of justification).</a:t>
            </a:r>
          </a:p>
          <a:p>
            <a:pPr>
              <a:buFont typeface="+mj-lt"/>
              <a:buAutoNum type="arabicPeriod"/>
            </a:pPr>
            <a:endParaRPr lang="en-GB" dirty="0">
              <a:latin typeface="+mj-lt"/>
            </a:endParaRPr>
          </a:p>
          <a:p>
            <a:pPr>
              <a:buFont typeface="+mj-lt"/>
              <a:buAutoNum type="arabicPeriod"/>
            </a:pPr>
            <a:r>
              <a:rPr lang="en-GB" b="1" dirty="0">
                <a:latin typeface="+mj-lt"/>
              </a:rPr>
              <a:t>Necessity</a:t>
            </a:r>
            <a:r>
              <a:rPr lang="en-GB" dirty="0">
                <a:latin typeface="+mj-lt"/>
              </a:rPr>
              <a:t>: is the measure necessary to achieve its aim? Does the Member State really have to go this far, or are there less restrictive measures which would still achieve the same aim?</a:t>
            </a:r>
          </a:p>
          <a:p>
            <a:pPr>
              <a:buFont typeface="+mj-lt"/>
              <a:buAutoNum type="arabicPeriod"/>
            </a:pPr>
            <a:endParaRPr lang="en-GB" dirty="0">
              <a:latin typeface="+mj-lt"/>
            </a:endParaRPr>
          </a:p>
          <a:p>
            <a:pPr>
              <a:buFont typeface="+mj-lt"/>
              <a:buAutoNum type="arabicPeriod"/>
            </a:pPr>
            <a:r>
              <a:rPr lang="en-GB" dirty="0">
                <a:latin typeface="+mj-lt"/>
              </a:rPr>
              <a:t>Occasionally, the Court also uses a third step: the </a:t>
            </a:r>
            <a:r>
              <a:rPr lang="en-GB" b="1" dirty="0">
                <a:latin typeface="+mj-lt"/>
              </a:rPr>
              <a:t>proportionality in the strict sense</a:t>
            </a:r>
            <a:r>
              <a:rPr lang="en-GB" dirty="0">
                <a:latin typeface="+mj-lt"/>
              </a:rPr>
              <a:t>. In this final step, it analyses whether the right balance has been struck between the different interests involved (free movement vs. ground of justification). See C-302/86, </a:t>
            </a:r>
            <a:r>
              <a:rPr lang="en-GB" i="1" dirty="0">
                <a:latin typeface="+mj-lt"/>
              </a:rPr>
              <a:t>Danish Bottles</a:t>
            </a:r>
          </a:p>
        </p:txBody>
      </p:sp>
    </p:spTree>
    <p:extLst>
      <p:ext uri="{BB962C8B-B14F-4D97-AF65-F5344CB8AC3E}">
        <p14:creationId xmlns:p14="http://schemas.microsoft.com/office/powerpoint/2010/main" val="4061896030"/>
      </p:ext>
    </p:extLst>
  </p:cSld>
  <p:clrMapOvr>
    <a:masterClrMapping/>
  </p:clrMapOvr>
</p:sld>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1974</TotalTime>
  <Words>2187</Words>
  <Application>Microsoft Macintosh PowerPoint</Application>
  <PresentationFormat>On-screen Show (4:3)</PresentationFormat>
  <Paragraphs>188</Paragraphs>
  <Slides>26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Times</vt:lpstr>
      <vt:lpstr>Wingdings</vt:lpstr>
      <vt:lpstr>Blank</vt:lpstr>
      <vt:lpstr>EU Internal Market 2024-2025</vt:lpstr>
      <vt:lpstr>Student Voice Event – Voice Your Opinion!</vt:lpstr>
      <vt:lpstr>The structure of lectures 1-2</vt:lpstr>
      <vt:lpstr>The structure of this course</vt:lpstr>
      <vt:lpstr>The structure of this course</vt:lpstr>
      <vt:lpstr>The structure of this course</vt:lpstr>
      <vt:lpstr>Durham European Law Institute (“DELI”)</vt:lpstr>
      <vt:lpstr>Durham European Law Institute (“DELI”)</vt:lpstr>
      <vt:lpstr>What is an internal market?</vt:lpstr>
      <vt:lpstr>Why do we have an internal market in the EU?</vt:lpstr>
      <vt:lpstr>PowerPoint Presentation</vt:lpstr>
      <vt:lpstr>The development of the internal market</vt:lpstr>
      <vt:lpstr>What are our rights in the internal market?</vt:lpstr>
      <vt:lpstr>What are our rights in the internal market?</vt:lpstr>
      <vt:lpstr>The internal market and Brexit</vt:lpstr>
      <vt:lpstr>How to build an internal market?</vt:lpstr>
      <vt:lpstr>The interaction between positive and negative integration</vt:lpstr>
      <vt:lpstr>The interaction between positive and negative integration</vt:lpstr>
      <vt:lpstr>The interaction between positive and negative integration</vt:lpstr>
      <vt:lpstr>The structure of free movement law</vt:lpstr>
      <vt:lpstr>The structure of free movement law</vt:lpstr>
      <vt:lpstr>The scope of the free movement provisions</vt:lpstr>
      <vt:lpstr>Direct effect of the free movement provisions</vt:lpstr>
      <vt:lpstr>A restriction of the free movement provisions </vt:lpstr>
      <vt:lpstr>The grounds of justification</vt:lpstr>
      <vt:lpstr>Proportionality</vt:lpstr>
    </vt:vector>
  </TitlesOfParts>
  <Company>MUFC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Heading style for title slide</dc:title>
  <dc:creator>Eric</dc:creator>
  <cp:lastModifiedBy>GEORGIOU, ANDREAS</cp:lastModifiedBy>
  <cp:revision>133</cp:revision>
  <dcterms:created xsi:type="dcterms:W3CDTF">2005-05-25T16:21:13Z</dcterms:created>
  <dcterms:modified xsi:type="dcterms:W3CDTF">2024-10-07T12:18:34Z</dcterms:modified>
</cp:coreProperties>
</file>