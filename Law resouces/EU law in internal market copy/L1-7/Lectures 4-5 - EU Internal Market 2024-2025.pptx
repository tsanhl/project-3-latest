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5"/>
  </p:notesMasterIdLst>
  <p:sldIdLst>
    <p:sldId id="274" r:id="rId2"/>
    <p:sldId id="278" r:id="rId3"/>
    <p:sldId id="279" r:id="rId4"/>
    <p:sldId id="280" r:id="rId5"/>
    <p:sldId id="281" r:id="rId6"/>
    <p:sldId id="282" r:id="rId7"/>
    <p:sldId id="284" r:id="rId8"/>
    <p:sldId id="286" r:id="rId9"/>
    <p:sldId id="285" r:id="rId10"/>
    <p:sldId id="287" r:id="rId11"/>
    <p:sldId id="288" r:id="rId12"/>
    <p:sldId id="289" r:id="rId13"/>
    <p:sldId id="290" r:id="rId14"/>
    <p:sldId id="292" r:id="rId15"/>
    <p:sldId id="291" r:id="rId16"/>
    <p:sldId id="293" r:id="rId17"/>
    <p:sldId id="294" r:id="rId18"/>
    <p:sldId id="295" r:id="rId19"/>
    <p:sldId id="296" r:id="rId20"/>
    <p:sldId id="297" r:id="rId21"/>
    <p:sldId id="298" r:id="rId22"/>
    <p:sldId id="299" r:id="rId23"/>
    <p:sldId id="300" r:id="rId24"/>
  </p:sldIdLst>
  <p:sldSz cx="9144000" cy="6858000" type="screen4x3"/>
  <p:notesSz cx="6858000" cy="9144000"/>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37"/>
  </p:normalViewPr>
  <p:slideViewPr>
    <p:cSldViewPr>
      <p:cViewPr varScale="1">
        <p:scale>
          <a:sx n="103" d="100"/>
          <a:sy n="103" d="100"/>
        </p:scale>
        <p:origin x="1880"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22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DD96B72-7B78-4AF6-9E2A-ACF0D6FF500F}" type="slidenum">
              <a:rPr lang="en-GB"/>
              <a:pPr>
                <a:defRPr/>
              </a:pPr>
              <a:t>‹#›</a:t>
            </a:fld>
            <a:endParaRPr lang="en-GB"/>
          </a:p>
        </p:txBody>
      </p:sp>
    </p:spTree>
    <p:extLst>
      <p:ext uri="{BB962C8B-B14F-4D97-AF65-F5344CB8AC3E}">
        <p14:creationId xmlns:p14="http://schemas.microsoft.com/office/powerpoint/2010/main" val="10520831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0FDA4C3F-C7EA-4ACD-A688-00B8AB745967}" type="slidenum">
              <a:rPr lang="en-GB"/>
              <a:pPr>
                <a:defRPr/>
              </a:pPr>
              <a:t>‹#›</a:t>
            </a:fld>
            <a:endParaRPr lang="en-GB"/>
          </a:p>
        </p:txBody>
      </p:sp>
    </p:spTree>
    <p:extLst>
      <p:ext uri="{BB962C8B-B14F-4D97-AF65-F5344CB8AC3E}">
        <p14:creationId xmlns:p14="http://schemas.microsoft.com/office/powerpoint/2010/main" val="41699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7EBEF36-167C-4C49-8BEC-492A52FB25B2}" type="slidenum">
              <a:rPr lang="en-GB"/>
              <a:pPr>
                <a:defRPr/>
              </a:pPr>
              <a:t>‹#›</a:t>
            </a:fld>
            <a:endParaRPr lang="en-GB"/>
          </a:p>
        </p:txBody>
      </p:sp>
    </p:spTree>
    <p:extLst>
      <p:ext uri="{BB962C8B-B14F-4D97-AF65-F5344CB8AC3E}">
        <p14:creationId xmlns:p14="http://schemas.microsoft.com/office/powerpoint/2010/main" val="1441360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BCB25EF-8505-41EF-9FA9-7086DB9CD6D2}" type="slidenum">
              <a:rPr lang="en-GB"/>
              <a:pPr>
                <a:defRPr/>
              </a:pPr>
              <a:t>‹#›</a:t>
            </a:fld>
            <a:endParaRPr lang="en-GB"/>
          </a:p>
        </p:txBody>
      </p:sp>
    </p:spTree>
    <p:extLst>
      <p:ext uri="{BB962C8B-B14F-4D97-AF65-F5344CB8AC3E}">
        <p14:creationId xmlns:p14="http://schemas.microsoft.com/office/powerpoint/2010/main" val="4286413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8592C22-D07F-40BC-BDA1-A66BDD0B51CF}" type="slidenum">
              <a:rPr lang="en-GB"/>
              <a:pPr>
                <a:defRPr/>
              </a:pPr>
              <a:t>‹#›</a:t>
            </a:fld>
            <a:endParaRPr lang="en-GB"/>
          </a:p>
        </p:txBody>
      </p:sp>
    </p:spTree>
    <p:extLst>
      <p:ext uri="{BB962C8B-B14F-4D97-AF65-F5344CB8AC3E}">
        <p14:creationId xmlns:p14="http://schemas.microsoft.com/office/powerpoint/2010/main" val="1544299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86D9969B-DFAC-45A2-A97A-3A45D334CBFF}" type="slidenum">
              <a:rPr lang="en-GB"/>
              <a:pPr>
                <a:defRPr/>
              </a:pPr>
              <a:t>‹#›</a:t>
            </a:fld>
            <a:endParaRPr lang="en-GB"/>
          </a:p>
        </p:txBody>
      </p:sp>
    </p:spTree>
    <p:extLst>
      <p:ext uri="{BB962C8B-B14F-4D97-AF65-F5344CB8AC3E}">
        <p14:creationId xmlns:p14="http://schemas.microsoft.com/office/powerpoint/2010/main" val="531516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F3108585-A115-42BE-AB24-3F9E13C77FD2}" type="slidenum">
              <a:rPr lang="en-GB"/>
              <a:pPr>
                <a:defRPr/>
              </a:pPr>
              <a:t>‹#›</a:t>
            </a:fld>
            <a:endParaRPr lang="en-GB"/>
          </a:p>
        </p:txBody>
      </p:sp>
    </p:spTree>
    <p:extLst>
      <p:ext uri="{BB962C8B-B14F-4D97-AF65-F5344CB8AC3E}">
        <p14:creationId xmlns:p14="http://schemas.microsoft.com/office/powerpoint/2010/main" val="1987296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6B4418-570D-4619-8178-AA43F1EEE12D}" type="slidenum">
              <a:rPr lang="en-GB"/>
              <a:pPr>
                <a:defRPr/>
              </a:pPr>
              <a:t>‹#›</a:t>
            </a:fld>
            <a:endParaRPr lang="en-GB"/>
          </a:p>
        </p:txBody>
      </p:sp>
    </p:spTree>
    <p:extLst>
      <p:ext uri="{BB962C8B-B14F-4D97-AF65-F5344CB8AC3E}">
        <p14:creationId xmlns:p14="http://schemas.microsoft.com/office/powerpoint/2010/main" val="1061319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6F14CDFD-3AD0-42DF-91C7-33373E0E8DF9}" type="slidenum">
              <a:rPr lang="en-GB"/>
              <a:pPr>
                <a:defRPr/>
              </a:pPr>
              <a:t>‹#›</a:t>
            </a:fld>
            <a:endParaRPr lang="en-GB"/>
          </a:p>
        </p:txBody>
      </p:sp>
    </p:spTree>
    <p:extLst>
      <p:ext uri="{BB962C8B-B14F-4D97-AF65-F5344CB8AC3E}">
        <p14:creationId xmlns:p14="http://schemas.microsoft.com/office/powerpoint/2010/main" val="3129245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E909D50C-17A8-4EF5-9234-192251A318A5}" type="slidenum">
              <a:rPr lang="en-GB"/>
              <a:pPr>
                <a:defRPr/>
              </a:pPr>
              <a:t>‹#›</a:t>
            </a:fld>
            <a:endParaRPr lang="en-GB"/>
          </a:p>
        </p:txBody>
      </p:sp>
    </p:spTree>
    <p:extLst>
      <p:ext uri="{BB962C8B-B14F-4D97-AF65-F5344CB8AC3E}">
        <p14:creationId xmlns:p14="http://schemas.microsoft.com/office/powerpoint/2010/main" val="1650232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1403C77-C923-4C93-BA88-C3252B5B2F1C}" type="slidenum">
              <a:rPr lang="en-GB"/>
              <a:pPr>
                <a:defRPr/>
              </a:pPr>
              <a:t>‹#›</a:t>
            </a:fld>
            <a:endParaRPr lang="en-GB"/>
          </a:p>
        </p:txBody>
      </p:sp>
    </p:spTree>
    <p:extLst>
      <p:ext uri="{BB962C8B-B14F-4D97-AF65-F5344CB8AC3E}">
        <p14:creationId xmlns:p14="http://schemas.microsoft.com/office/powerpoint/2010/main" val="1617176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10064F13-510B-4910-B11C-E04CB8484A3C}" type="slidenum">
              <a:rPr lang="en-GB"/>
              <a:pPr>
                <a:defRPr/>
              </a:pPr>
              <a:t>‹#›</a:t>
            </a:fld>
            <a:endParaRPr lang="en-GB"/>
          </a:p>
        </p:txBody>
      </p:sp>
    </p:spTree>
    <p:extLst>
      <p:ext uri="{BB962C8B-B14F-4D97-AF65-F5344CB8AC3E}">
        <p14:creationId xmlns:p14="http://schemas.microsoft.com/office/powerpoint/2010/main" val="335011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1A5A50F5-2650-4FA7-BA16-E4DBD2873D7C}" type="slidenum">
              <a:rPr lang="en-GB"/>
              <a:pPr>
                <a:defRPr/>
              </a:pPr>
              <a:t>‹#›</a:t>
            </a:fld>
            <a:endParaRPr lang="en-GB"/>
          </a:p>
        </p:txBody>
      </p:sp>
      <p:sp>
        <p:nvSpPr>
          <p:cNvPr id="1033" name="Rectangle 9"/>
          <p:cNvSpPr>
            <a:spLocks noChangeArrowheads="1"/>
          </p:cNvSpPr>
          <p:nvPr userDrawn="1"/>
        </p:nvSpPr>
        <p:spPr bwMode="auto">
          <a:xfrm>
            <a:off x="790575" y="611188"/>
            <a:ext cx="80248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1"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sz="quarter"/>
          </p:nvPr>
        </p:nvSpPr>
        <p:spPr/>
        <p:txBody>
          <a:bodyPr/>
          <a:lstStyle/>
          <a:p>
            <a:pPr eaLnBrk="1" hangingPunct="1"/>
            <a:r>
              <a:rPr lang="en-GB" altLang="en-US" dirty="0"/>
              <a:t>EU Internal </a:t>
            </a:r>
            <a:r>
              <a:rPr lang="en-GB" altLang="en-US"/>
              <a:t>Market 2024-2025</a:t>
            </a:r>
            <a:endParaRPr lang="en-GB" altLang="en-US" dirty="0"/>
          </a:p>
        </p:txBody>
      </p:sp>
      <p:sp>
        <p:nvSpPr>
          <p:cNvPr id="10243" name="Subtitle 2"/>
          <p:cNvSpPr>
            <a:spLocks noGrp="1"/>
          </p:cNvSpPr>
          <p:nvPr>
            <p:ph type="subTitle" sz="quarter" idx="1"/>
          </p:nvPr>
        </p:nvSpPr>
        <p:spPr/>
        <p:txBody>
          <a:bodyPr/>
          <a:lstStyle/>
          <a:p>
            <a:pPr eaLnBrk="1" hangingPunct="1">
              <a:lnSpc>
                <a:spcPct val="110000"/>
              </a:lnSpc>
              <a:spcBef>
                <a:spcPct val="0"/>
              </a:spcBef>
            </a:pPr>
            <a:r>
              <a:rPr lang="en-GB" altLang="en-US" dirty="0">
                <a:latin typeface="+mj-lt"/>
              </a:rPr>
              <a:t>Lectures 4-5: Scope, direct effect and restrictions of Article 34 TFEU</a:t>
            </a:r>
          </a:p>
          <a:p>
            <a:pPr eaLnBrk="1" hangingPunct="1">
              <a:lnSpc>
                <a:spcPct val="110000"/>
              </a:lnSpc>
              <a:spcBef>
                <a:spcPct val="0"/>
              </a:spcBef>
            </a:pPr>
            <a:endParaRPr lang="en-GB" altLang="en-US" dirty="0">
              <a:solidFill>
                <a:srgbClr val="663366"/>
              </a:solidFill>
              <a:latin typeface="+mj-lt"/>
            </a:endParaRPr>
          </a:p>
          <a:p>
            <a:pPr eaLnBrk="1" hangingPunct="1">
              <a:lnSpc>
                <a:spcPct val="110000"/>
              </a:lnSpc>
              <a:spcBef>
                <a:spcPct val="0"/>
              </a:spcBef>
            </a:pPr>
            <a:r>
              <a:rPr lang="en-GB" altLang="en-US" dirty="0">
                <a:latin typeface="+mj-lt"/>
              </a:rPr>
              <a:t>Andreas Georgiou</a:t>
            </a:r>
          </a:p>
          <a:p>
            <a:pPr eaLnBrk="1" hangingPunct="1">
              <a:lnSpc>
                <a:spcPct val="110000"/>
              </a:lnSpc>
              <a:spcBef>
                <a:spcPct val="0"/>
              </a:spcBef>
            </a:pPr>
            <a:endParaRPr lang="en-GB" altLang="en-US" dirty="0">
              <a:latin typeface="+mj-lt"/>
            </a:endParaRPr>
          </a:p>
          <a:p>
            <a:pPr eaLnBrk="1" hangingPunct="1">
              <a:lnSpc>
                <a:spcPct val="110000"/>
              </a:lnSpc>
              <a:spcBef>
                <a:spcPct val="0"/>
              </a:spcBef>
            </a:pPr>
            <a:r>
              <a:rPr lang="en-GB" altLang="en-US" dirty="0" err="1">
                <a:latin typeface="+mj-lt"/>
              </a:rPr>
              <a:t>andreas.georgiou@durham.ac.uk</a:t>
            </a:r>
            <a:endParaRPr lang="en-GB" altLang="en-US" dirty="0">
              <a:latin typeface="+mj-lt"/>
            </a:endParaRPr>
          </a:p>
          <a:p>
            <a:pPr eaLnBrk="1" hangingPunct="1"/>
            <a:endParaRPr lang="en-GB"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dirty="0"/>
              <a:t>The structure of lectures 4-5</a:t>
            </a:r>
          </a:p>
        </p:txBody>
      </p:sp>
      <p:sp>
        <p:nvSpPr>
          <p:cNvPr id="11267" name="Content Placeholder 2"/>
          <p:cNvSpPr>
            <a:spLocks noGrp="1"/>
          </p:cNvSpPr>
          <p:nvPr>
            <p:ph idx="1"/>
          </p:nvPr>
        </p:nvSpPr>
        <p:spPr>
          <a:xfrm>
            <a:off x="685800" y="1844824"/>
            <a:ext cx="7772400" cy="3816350"/>
          </a:xfrm>
        </p:spPr>
        <p:txBody>
          <a:bodyPr/>
          <a:lstStyle/>
          <a:p>
            <a:pPr>
              <a:buFont typeface="+mj-lt"/>
              <a:buAutoNum type="arabicPeriod"/>
            </a:pPr>
            <a:r>
              <a:rPr lang="en-US" altLang="en-US" dirty="0">
                <a:latin typeface="+mj-lt"/>
              </a:rPr>
              <a:t>The scope of application of Article 34 TFEU</a:t>
            </a:r>
          </a:p>
          <a:p>
            <a:pPr>
              <a:buFont typeface="+mj-lt"/>
              <a:buAutoNum type="arabicPeriod"/>
            </a:pPr>
            <a:endParaRPr lang="en-US" altLang="en-US" dirty="0">
              <a:latin typeface="+mj-lt"/>
            </a:endParaRPr>
          </a:p>
          <a:p>
            <a:pPr>
              <a:buFont typeface="+mj-lt"/>
              <a:buAutoNum type="arabicPeriod"/>
            </a:pPr>
            <a:r>
              <a:rPr lang="en-US" altLang="en-US" dirty="0">
                <a:latin typeface="+mj-lt"/>
              </a:rPr>
              <a:t>Direct effect of Article 34 TFEU</a:t>
            </a:r>
          </a:p>
          <a:p>
            <a:pPr>
              <a:buFont typeface="+mj-lt"/>
              <a:buAutoNum type="arabicPeriod"/>
            </a:pPr>
            <a:endParaRPr lang="en-US" altLang="en-US" dirty="0">
              <a:latin typeface="+mj-lt"/>
            </a:endParaRPr>
          </a:p>
          <a:p>
            <a:pPr>
              <a:buFont typeface="+mj-lt"/>
              <a:buAutoNum type="arabicPeriod"/>
            </a:pPr>
            <a:r>
              <a:rPr lang="en-US" altLang="en-US" i="1" dirty="0" err="1">
                <a:latin typeface="+mj-lt"/>
              </a:rPr>
              <a:t>Dassonville</a:t>
            </a:r>
            <a:r>
              <a:rPr lang="en-US" altLang="en-US" i="1" dirty="0">
                <a:latin typeface="+mj-lt"/>
              </a:rPr>
              <a:t> </a:t>
            </a:r>
            <a:r>
              <a:rPr lang="en-US" altLang="en-US" dirty="0">
                <a:latin typeface="+mj-lt"/>
              </a:rPr>
              <a:t>and </a:t>
            </a:r>
            <a:r>
              <a:rPr lang="en-US" altLang="en-US" i="1" dirty="0">
                <a:latin typeface="+mj-lt"/>
              </a:rPr>
              <a:t>Cassis de Dijon</a:t>
            </a:r>
          </a:p>
          <a:p>
            <a:pPr>
              <a:buFont typeface="+mj-lt"/>
              <a:buAutoNum type="arabicPeriod"/>
            </a:pPr>
            <a:endParaRPr lang="en-US" altLang="en-US" dirty="0">
              <a:latin typeface="+mj-lt"/>
            </a:endParaRPr>
          </a:p>
          <a:p>
            <a:pPr>
              <a:buFont typeface="+mj-lt"/>
              <a:buAutoNum type="arabicPeriod"/>
            </a:pPr>
            <a:r>
              <a:rPr lang="en-US" altLang="en-US" dirty="0">
                <a:latin typeface="+mj-lt"/>
              </a:rPr>
              <a:t>The road to </a:t>
            </a:r>
            <a:r>
              <a:rPr lang="en-US" altLang="en-US" i="1" dirty="0">
                <a:latin typeface="+mj-lt"/>
              </a:rPr>
              <a:t>Keck</a:t>
            </a:r>
          </a:p>
          <a:p>
            <a:pPr>
              <a:buFont typeface="+mj-lt"/>
              <a:buAutoNum type="arabicPeriod"/>
            </a:pPr>
            <a:endParaRPr lang="en-US" altLang="en-US" dirty="0">
              <a:latin typeface="+mj-lt"/>
            </a:endParaRPr>
          </a:p>
          <a:p>
            <a:pPr>
              <a:buFont typeface="+mj-lt"/>
              <a:buAutoNum type="arabicPeriod"/>
            </a:pPr>
            <a:r>
              <a:rPr lang="en-US" altLang="en-US" i="1" dirty="0">
                <a:latin typeface="+mj-lt"/>
              </a:rPr>
              <a:t>Keck</a:t>
            </a:r>
          </a:p>
          <a:p>
            <a:pPr>
              <a:buFont typeface="+mj-lt"/>
              <a:buAutoNum type="arabicPeriod"/>
            </a:pPr>
            <a:endParaRPr lang="en-US" altLang="en-US" dirty="0">
              <a:latin typeface="+mj-lt"/>
            </a:endParaRPr>
          </a:p>
          <a:p>
            <a:pPr>
              <a:buFont typeface="+mj-lt"/>
              <a:buAutoNum type="arabicPeriod"/>
            </a:pPr>
            <a:r>
              <a:rPr lang="en-US" altLang="en-US" dirty="0">
                <a:latin typeface="+mj-lt"/>
              </a:rPr>
              <a:t>The road after </a:t>
            </a:r>
            <a:r>
              <a:rPr lang="en-US" altLang="en-US" i="1" dirty="0">
                <a:latin typeface="+mj-lt"/>
              </a:rPr>
              <a:t>Keck</a:t>
            </a:r>
            <a:r>
              <a:rPr lang="en-US" altLang="en-US" dirty="0">
                <a:latin typeface="+mj-lt"/>
              </a:rPr>
              <a:t> and market access</a:t>
            </a:r>
          </a:p>
          <a:p>
            <a:pPr>
              <a:buFont typeface="+mj-lt"/>
              <a:buAutoNum type="arabicPeriod"/>
            </a:pPr>
            <a:endParaRPr lang="en-US" altLang="en-US" dirty="0">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Article 34 TFEU</a:t>
            </a:r>
          </a:p>
        </p:txBody>
      </p:sp>
      <p:sp>
        <p:nvSpPr>
          <p:cNvPr id="3" name="Content Placeholder 2"/>
          <p:cNvSpPr>
            <a:spLocks noGrp="1"/>
          </p:cNvSpPr>
          <p:nvPr>
            <p:ph idx="1"/>
          </p:nvPr>
        </p:nvSpPr>
        <p:spPr/>
        <p:txBody>
          <a:bodyPr/>
          <a:lstStyle/>
          <a:p>
            <a:r>
              <a:rPr lang="en-GB" i="1" dirty="0">
                <a:latin typeface="+mj-lt"/>
              </a:rPr>
              <a:t>	Quantitative restrictions on imports and all measures having equivalent effect shall be prohibited between Member States</a:t>
            </a:r>
          </a:p>
          <a:p>
            <a:endParaRPr lang="en-GB" i="1" dirty="0">
              <a:latin typeface="+mj-lt"/>
            </a:endParaRPr>
          </a:p>
          <a:p>
            <a:pPr>
              <a:buFont typeface="+mj-lt"/>
              <a:buAutoNum type="arabicPeriod"/>
            </a:pPr>
            <a:r>
              <a:rPr lang="en-GB" dirty="0">
                <a:latin typeface="+mj-lt"/>
              </a:rPr>
              <a:t>Quantitative restrictions (QRs): import bans or quota on imports</a:t>
            </a:r>
          </a:p>
          <a:p>
            <a:pPr>
              <a:buFont typeface="+mj-lt"/>
              <a:buAutoNum type="arabicPeriod"/>
            </a:pPr>
            <a:endParaRPr lang="en-GB" dirty="0">
              <a:latin typeface="+mj-lt"/>
            </a:endParaRPr>
          </a:p>
          <a:p>
            <a:pPr>
              <a:buFont typeface="+mj-lt"/>
              <a:buAutoNum type="arabicPeriod"/>
            </a:pPr>
            <a:r>
              <a:rPr lang="en-GB" dirty="0">
                <a:latin typeface="+mj-lt"/>
              </a:rPr>
              <a:t>Measures having equivalent effect to a quantitative restriction (MEEs): measures that do not directly ban or limit the import of goods, but that have the same effect </a:t>
            </a:r>
          </a:p>
        </p:txBody>
      </p:sp>
    </p:spTree>
    <p:extLst>
      <p:ext uri="{BB962C8B-B14F-4D97-AF65-F5344CB8AC3E}">
        <p14:creationId xmlns:p14="http://schemas.microsoft.com/office/powerpoint/2010/main" val="173170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scope of application of Article 34 TFEU</a:t>
            </a:r>
          </a:p>
        </p:txBody>
      </p:sp>
      <p:sp>
        <p:nvSpPr>
          <p:cNvPr id="3" name="Content Placeholder 2"/>
          <p:cNvSpPr>
            <a:spLocks noGrp="1"/>
          </p:cNvSpPr>
          <p:nvPr>
            <p:ph idx="1"/>
          </p:nvPr>
        </p:nvSpPr>
        <p:spPr/>
        <p:txBody>
          <a:bodyPr/>
          <a:lstStyle/>
          <a:p>
            <a:pPr>
              <a:buFont typeface="+mj-lt"/>
              <a:buAutoNum type="arabicPeriod"/>
            </a:pPr>
            <a:r>
              <a:rPr lang="en-GB" dirty="0">
                <a:latin typeface="+mj-lt"/>
              </a:rPr>
              <a:t>Article 34 TFEU explicitly prohibits restrictions on trade “between Member States”</a:t>
            </a:r>
          </a:p>
          <a:p>
            <a:pPr>
              <a:buFont typeface="+mj-lt"/>
              <a:buAutoNum type="arabicPeriod"/>
            </a:pPr>
            <a:endParaRPr lang="en-GB" dirty="0">
              <a:latin typeface="+mj-lt"/>
            </a:endParaRPr>
          </a:p>
          <a:p>
            <a:pPr>
              <a:buFont typeface="+mj-lt"/>
              <a:buAutoNum type="arabicPeriod"/>
            </a:pPr>
            <a:r>
              <a:rPr lang="en-GB" dirty="0">
                <a:latin typeface="+mj-lt"/>
              </a:rPr>
              <a:t>Therefore, there has to be a cross-border element before Article 34 TFEU is applicable</a:t>
            </a:r>
          </a:p>
          <a:p>
            <a:pPr>
              <a:buFont typeface="+mj-lt"/>
              <a:buAutoNum type="arabicPeriod"/>
            </a:pPr>
            <a:endParaRPr lang="en-GB" dirty="0">
              <a:latin typeface="+mj-lt"/>
            </a:endParaRPr>
          </a:p>
          <a:p>
            <a:pPr>
              <a:buFont typeface="+mj-lt"/>
              <a:buAutoNum type="arabicPeriod"/>
            </a:pPr>
            <a:r>
              <a:rPr lang="en-GB" dirty="0">
                <a:latin typeface="+mj-lt"/>
              </a:rPr>
              <a:t>Article 34 TFEU does not apply to rules whose effect on cross-border trade is “too uncertain and indirect”. See Case C-69/88, </a:t>
            </a:r>
            <a:r>
              <a:rPr lang="en-GB" i="1" dirty="0" err="1">
                <a:latin typeface="+mj-lt"/>
              </a:rPr>
              <a:t>Krantz</a:t>
            </a:r>
            <a:endParaRPr lang="en-GB" i="1" dirty="0">
              <a:latin typeface="+mj-lt"/>
            </a:endParaRPr>
          </a:p>
          <a:p>
            <a:pPr>
              <a:buFont typeface="+mj-lt"/>
              <a:buAutoNum type="arabicPeriod"/>
            </a:pPr>
            <a:endParaRPr lang="en-GB" dirty="0">
              <a:latin typeface="+mj-lt"/>
            </a:endParaRPr>
          </a:p>
          <a:p>
            <a:pPr>
              <a:buFont typeface="+mj-lt"/>
              <a:buAutoNum type="arabicPeriod"/>
            </a:pPr>
            <a:r>
              <a:rPr lang="en-GB" dirty="0">
                <a:latin typeface="+mj-lt"/>
              </a:rPr>
              <a:t>However, the Court is flexible in finding a cross-border element. A </a:t>
            </a:r>
            <a:r>
              <a:rPr lang="en-GB" i="1" dirty="0">
                <a:latin typeface="+mj-lt"/>
              </a:rPr>
              <a:t>potential</a:t>
            </a:r>
            <a:r>
              <a:rPr lang="en-GB" dirty="0">
                <a:latin typeface="+mj-lt"/>
              </a:rPr>
              <a:t> impact on cross-border trade can be sufficient for Article 34 TFEU to be applicable. See Case C-321/94, </a:t>
            </a:r>
            <a:r>
              <a:rPr lang="en-GB" i="1" dirty="0" err="1">
                <a:latin typeface="+mj-lt"/>
              </a:rPr>
              <a:t>Pistre</a:t>
            </a:r>
            <a:endParaRPr lang="en-GB" i="1" dirty="0">
              <a:latin typeface="+mj-lt"/>
            </a:endParaRPr>
          </a:p>
        </p:txBody>
      </p:sp>
    </p:spTree>
    <p:extLst>
      <p:ext uri="{BB962C8B-B14F-4D97-AF65-F5344CB8AC3E}">
        <p14:creationId xmlns:p14="http://schemas.microsoft.com/office/powerpoint/2010/main" val="3665148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direct effect of Article 34 TFEU</a:t>
            </a:r>
          </a:p>
        </p:txBody>
      </p:sp>
      <p:sp>
        <p:nvSpPr>
          <p:cNvPr id="3" name="Content Placeholder 2"/>
          <p:cNvSpPr>
            <a:spLocks noGrp="1"/>
          </p:cNvSpPr>
          <p:nvPr>
            <p:ph idx="1"/>
          </p:nvPr>
        </p:nvSpPr>
        <p:spPr/>
        <p:txBody>
          <a:bodyPr/>
          <a:lstStyle/>
          <a:p>
            <a:pPr>
              <a:buFont typeface="+mj-lt"/>
              <a:buAutoNum type="arabicPeriod"/>
            </a:pPr>
            <a:r>
              <a:rPr lang="en-GB" dirty="0">
                <a:latin typeface="+mj-lt"/>
              </a:rPr>
              <a:t>Article 34 TFEU has vertical direct effect: private parties can rely on it against the State before their national courts. See Case C-74/76, </a:t>
            </a:r>
            <a:r>
              <a:rPr lang="en-GB" i="1" dirty="0" err="1">
                <a:latin typeface="+mj-lt"/>
              </a:rPr>
              <a:t>Ianelli</a:t>
            </a:r>
            <a:endParaRPr lang="en-GB" i="1" dirty="0">
              <a:latin typeface="+mj-lt"/>
            </a:endParaRPr>
          </a:p>
          <a:p>
            <a:pPr>
              <a:buFont typeface="+mj-lt"/>
              <a:buAutoNum type="arabicPeriod"/>
            </a:pPr>
            <a:endParaRPr lang="en-GB" dirty="0">
              <a:latin typeface="+mj-lt"/>
            </a:endParaRPr>
          </a:p>
          <a:p>
            <a:pPr>
              <a:buFont typeface="+mj-lt"/>
              <a:buAutoNum type="arabicPeriod"/>
            </a:pPr>
            <a:r>
              <a:rPr lang="en-GB" dirty="0">
                <a:latin typeface="+mj-lt"/>
              </a:rPr>
              <a:t>The orthodox rule is that Article 34 TFEU does not have horizontal direct effect. Actions of private parties should be assessed under the competition rules, while State action can be reviewed under Article 34 TFEU. See Case C-C-177/82, </a:t>
            </a:r>
            <a:r>
              <a:rPr lang="en-GB" i="1" dirty="0">
                <a:latin typeface="+mj-lt"/>
              </a:rPr>
              <a:t>Van de </a:t>
            </a:r>
            <a:r>
              <a:rPr lang="en-GB" i="1" dirty="0" err="1">
                <a:latin typeface="+mj-lt"/>
              </a:rPr>
              <a:t>Haar</a:t>
            </a:r>
            <a:endParaRPr lang="en-GB" i="1" dirty="0">
              <a:latin typeface="+mj-lt"/>
            </a:endParaRPr>
          </a:p>
          <a:p>
            <a:pPr>
              <a:buFont typeface="+mj-lt"/>
              <a:buAutoNum type="arabicPeriod"/>
            </a:pPr>
            <a:endParaRPr lang="en-GB" dirty="0">
              <a:latin typeface="+mj-lt"/>
            </a:endParaRPr>
          </a:p>
          <a:p>
            <a:pPr>
              <a:buFont typeface="+mj-lt"/>
              <a:buAutoNum type="arabicPeriod"/>
            </a:pPr>
            <a:r>
              <a:rPr lang="en-GB" dirty="0">
                <a:latin typeface="+mj-lt"/>
              </a:rPr>
              <a:t>Nevertheless, Article 34 TFEU can be applied against private parties who are effectively controlled by the State (Case C-249/81, </a:t>
            </a:r>
            <a:r>
              <a:rPr lang="en-GB" i="1" dirty="0">
                <a:latin typeface="+mj-lt"/>
              </a:rPr>
              <a:t>Buy Irish</a:t>
            </a:r>
            <a:r>
              <a:rPr lang="en-GB" dirty="0">
                <a:latin typeface="+mj-lt"/>
              </a:rPr>
              <a:t>) or who are exercising powers granted by the State. For a more complicated case, see Case C-171/11, </a:t>
            </a:r>
            <a:r>
              <a:rPr lang="en-GB" i="1" dirty="0">
                <a:latin typeface="+mj-lt"/>
              </a:rPr>
              <a:t>Fra.bo</a:t>
            </a:r>
          </a:p>
        </p:txBody>
      </p:sp>
    </p:spTree>
    <p:extLst>
      <p:ext uri="{BB962C8B-B14F-4D97-AF65-F5344CB8AC3E}">
        <p14:creationId xmlns:p14="http://schemas.microsoft.com/office/powerpoint/2010/main" val="3029779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direct effect of Article 34 TFEU</a:t>
            </a:r>
          </a:p>
        </p:txBody>
      </p:sp>
      <p:sp>
        <p:nvSpPr>
          <p:cNvPr id="3" name="Content Placeholder 2"/>
          <p:cNvSpPr>
            <a:spLocks noGrp="1"/>
          </p:cNvSpPr>
          <p:nvPr>
            <p:ph idx="1"/>
          </p:nvPr>
        </p:nvSpPr>
        <p:spPr/>
        <p:txBody>
          <a:bodyPr/>
          <a:lstStyle/>
          <a:p>
            <a:pPr>
              <a:buFont typeface="+mj-lt"/>
              <a:buAutoNum type="arabicPeriod"/>
            </a:pPr>
            <a:r>
              <a:rPr lang="en-GB" dirty="0">
                <a:latin typeface="+mj-lt"/>
              </a:rPr>
              <a:t>Although Article 34 TFEU does not have horizontal direct effect, Member States are under an obligation to facilitate free movement on their territory. </a:t>
            </a:r>
          </a:p>
          <a:p>
            <a:pPr>
              <a:buFont typeface="+mj-lt"/>
              <a:buAutoNum type="arabicPeriod"/>
            </a:pPr>
            <a:endParaRPr lang="en-GB" dirty="0">
              <a:latin typeface="+mj-lt"/>
            </a:endParaRPr>
          </a:p>
          <a:p>
            <a:pPr>
              <a:buFont typeface="+mj-lt"/>
              <a:buAutoNum type="arabicPeriod"/>
            </a:pPr>
            <a:r>
              <a:rPr lang="en-GB" dirty="0">
                <a:latin typeface="+mj-lt"/>
              </a:rPr>
              <a:t>They may be under an obligation to take action against private parties who are creating obstacles to free movement. See Case C-265/95, </a:t>
            </a:r>
            <a:r>
              <a:rPr lang="en-GB" i="1" dirty="0">
                <a:latin typeface="+mj-lt"/>
              </a:rPr>
              <a:t>Commission v France (Spanish Strawberries) </a:t>
            </a:r>
            <a:r>
              <a:rPr lang="en-GB" dirty="0">
                <a:latin typeface="+mj-lt"/>
              </a:rPr>
              <a:t>and Case C-112/00, </a:t>
            </a:r>
            <a:r>
              <a:rPr lang="en-GB" i="1" dirty="0">
                <a:latin typeface="+mj-lt"/>
              </a:rPr>
              <a:t>Schmidberger</a:t>
            </a:r>
          </a:p>
          <a:p>
            <a:pPr>
              <a:buFont typeface="+mj-lt"/>
              <a:buAutoNum type="arabicPeriod"/>
            </a:pPr>
            <a:endParaRPr lang="en-GB" dirty="0">
              <a:latin typeface="+mj-lt"/>
            </a:endParaRPr>
          </a:p>
          <a:p>
            <a:pPr>
              <a:buFont typeface="+mj-lt"/>
              <a:buAutoNum type="arabicPeriod"/>
            </a:pPr>
            <a:r>
              <a:rPr lang="en-GB" dirty="0">
                <a:latin typeface="+mj-lt"/>
              </a:rPr>
              <a:t>Member States are given a certain amount of discretion in weighing the various interests involved. The threshold for intervention by the State is put quite high </a:t>
            </a:r>
          </a:p>
        </p:txBody>
      </p:sp>
    </p:spTree>
    <p:extLst>
      <p:ext uri="{BB962C8B-B14F-4D97-AF65-F5344CB8AC3E}">
        <p14:creationId xmlns:p14="http://schemas.microsoft.com/office/powerpoint/2010/main" val="3243322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188640"/>
            <a:ext cx="7772400" cy="1143000"/>
          </a:xfrm>
        </p:spPr>
        <p:txBody>
          <a:bodyPr/>
          <a:lstStyle/>
          <a:p>
            <a:r>
              <a:rPr lang="en-GB" i="1" dirty="0" err="1"/>
              <a:t>Dassonville</a:t>
            </a:r>
            <a:endParaRPr lang="en-GB" i="1" dirty="0"/>
          </a:p>
        </p:txBody>
      </p:sp>
      <p:sp>
        <p:nvSpPr>
          <p:cNvPr id="3" name="Content Placeholder 2"/>
          <p:cNvSpPr>
            <a:spLocks noGrp="1"/>
          </p:cNvSpPr>
          <p:nvPr>
            <p:ph idx="1"/>
          </p:nvPr>
        </p:nvSpPr>
        <p:spPr>
          <a:xfrm>
            <a:off x="683568" y="1124744"/>
            <a:ext cx="7772400" cy="3816350"/>
          </a:xfrm>
        </p:spPr>
        <p:txBody>
          <a:bodyPr/>
          <a:lstStyle/>
          <a:p>
            <a:pPr>
              <a:buFont typeface="+mj-lt"/>
              <a:buAutoNum type="arabicPeriod"/>
            </a:pPr>
            <a:r>
              <a:rPr lang="en-GB" dirty="0">
                <a:latin typeface="+mj-lt"/>
              </a:rPr>
              <a:t>The Court laid down the definition of an MEE in Case C-8/74, </a:t>
            </a:r>
            <a:r>
              <a:rPr lang="en-GB" i="1" dirty="0" err="1">
                <a:latin typeface="+mj-lt"/>
              </a:rPr>
              <a:t>Dassonville</a:t>
            </a:r>
            <a:r>
              <a:rPr lang="en-GB" dirty="0">
                <a:latin typeface="+mj-lt"/>
              </a:rPr>
              <a:t>:</a:t>
            </a:r>
          </a:p>
          <a:p>
            <a:pPr>
              <a:buFont typeface="+mj-lt"/>
              <a:buAutoNum type="arabicPeriod"/>
            </a:pPr>
            <a:endParaRPr lang="en-GB" dirty="0">
              <a:latin typeface="+mj-lt"/>
            </a:endParaRPr>
          </a:p>
          <a:p>
            <a:pPr marL="0" indent="0"/>
            <a:r>
              <a:rPr lang="en-GB" dirty="0"/>
              <a:t>	</a:t>
            </a:r>
            <a:r>
              <a:rPr lang="en-GB" i="1" dirty="0">
                <a:latin typeface="+mj-lt"/>
              </a:rPr>
              <a:t>All trading rules enacted by Member States which are capable of 	hindering, directly or indirectly, actually or potentially, intra-	Community trade</a:t>
            </a:r>
          </a:p>
          <a:p>
            <a:pPr>
              <a:buFont typeface="+mj-lt"/>
              <a:buAutoNum type="arabicPeriod" startAt="2"/>
            </a:pPr>
            <a:endParaRPr lang="en-GB" dirty="0">
              <a:latin typeface="+mj-lt"/>
            </a:endParaRPr>
          </a:p>
          <a:p>
            <a:pPr>
              <a:buFont typeface="+mj-lt"/>
              <a:buAutoNum type="arabicPeriod" startAt="2"/>
            </a:pPr>
            <a:r>
              <a:rPr lang="en-GB" dirty="0">
                <a:latin typeface="+mj-lt"/>
              </a:rPr>
              <a:t>This is a very broad definition. It has resulted in a long discussion about how broadly the concept of MEE should be interpreted</a:t>
            </a:r>
          </a:p>
          <a:p>
            <a:pPr>
              <a:buFont typeface="+mj-lt"/>
              <a:buAutoNum type="arabicPeriod" startAt="2"/>
            </a:pPr>
            <a:endParaRPr lang="en-GB" dirty="0">
              <a:latin typeface="+mj-lt"/>
            </a:endParaRPr>
          </a:p>
          <a:p>
            <a:pPr>
              <a:buFont typeface="+mj-lt"/>
              <a:buAutoNum type="arabicPeriod" startAt="2"/>
            </a:pPr>
            <a:r>
              <a:rPr lang="en-GB" dirty="0">
                <a:latin typeface="+mj-lt"/>
              </a:rPr>
              <a:t>On the one hand, traders were happy with this broad definition, because it meant that they could challenge many national rules under Article 34 TFEU</a:t>
            </a:r>
          </a:p>
          <a:p>
            <a:pPr>
              <a:buFont typeface="+mj-lt"/>
              <a:buAutoNum type="arabicPeriod" startAt="2"/>
            </a:pPr>
            <a:endParaRPr lang="en-GB" dirty="0">
              <a:latin typeface="+mj-lt"/>
            </a:endParaRPr>
          </a:p>
          <a:p>
            <a:pPr>
              <a:buFont typeface="+mj-lt"/>
              <a:buAutoNum type="arabicPeriod" startAt="2"/>
            </a:pPr>
            <a:r>
              <a:rPr lang="en-GB" dirty="0">
                <a:latin typeface="+mj-lt"/>
              </a:rPr>
              <a:t>On the other hand, Member States did not like the broad definition, because it meant that they were constantly forced to justify national measures (i.e. establish a ground of justification + proportionality). This had a significant impact on their regulatory autonomy</a:t>
            </a:r>
          </a:p>
        </p:txBody>
      </p:sp>
    </p:spTree>
    <p:extLst>
      <p:ext uri="{BB962C8B-B14F-4D97-AF65-F5344CB8AC3E}">
        <p14:creationId xmlns:p14="http://schemas.microsoft.com/office/powerpoint/2010/main" val="574567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a:t>Cassis de Dijon</a:t>
            </a:r>
          </a:p>
        </p:txBody>
      </p:sp>
      <p:sp>
        <p:nvSpPr>
          <p:cNvPr id="3" name="Content Placeholder 2"/>
          <p:cNvSpPr>
            <a:spLocks noGrp="1"/>
          </p:cNvSpPr>
          <p:nvPr>
            <p:ph idx="1"/>
          </p:nvPr>
        </p:nvSpPr>
        <p:spPr/>
        <p:txBody>
          <a:bodyPr/>
          <a:lstStyle/>
          <a:p>
            <a:pPr>
              <a:buFont typeface="+mj-lt"/>
              <a:buAutoNum type="arabicPeriod"/>
            </a:pPr>
            <a:r>
              <a:rPr lang="en-GB" dirty="0">
                <a:latin typeface="+mj-lt"/>
              </a:rPr>
              <a:t>In Case C-120/78, </a:t>
            </a:r>
            <a:r>
              <a:rPr lang="en-GB" i="1" dirty="0">
                <a:latin typeface="+mj-lt"/>
              </a:rPr>
              <a:t>Cassis de Dijon</a:t>
            </a:r>
            <a:r>
              <a:rPr lang="en-GB" dirty="0">
                <a:latin typeface="+mj-lt"/>
              </a:rPr>
              <a:t>, the Court laid down the principle of mutual recognition</a:t>
            </a:r>
          </a:p>
          <a:p>
            <a:pPr>
              <a:buFont typeface="+mj-lt"/>
              <a:buAutoNum type="arabicPeriod"/>
            </a:pPr>
            <a:endParaRPr lang="en-GB" dirty="0">
              <a:latin typeface="+mj-lt"/>
            </a:endParaRPr>
          </a:p>
          <a:p>
            <a:pPr>
              <a:buFont typeface="+mj-lt"/>
              <a:buAutoNum type="arabicPeriod"/>
            </a:pPr>
            <a:r>
              <a:rPr lang="en-GB" dirty="0">
                <a:latin typeface="+mj-lt"/>
              </a:rPr>
              <a:t>Products that are lawfully produced and marketed in one Member State should not be subject to an additional burden in another Member State (“double burden”). Member States have to mutually recognise the rules of other Member States</a:t>
            </a:r>
          </a:p>
          <a:p>
            <a:pPr>
              <a:buFont typeface="+mj-lt"/>
              <a:buAutoNum type="arabicPeriod"/>
            </a:pPr>
            <a:endParaRPr lang="en-GB" dirty="0">
              <a:latin typeface="+mj-lt"/>
            </a:endParaRPr>
          </a:p>
          <a:p>
            <a:pPr>
              <a:buFont typeface="+mj-lt"/>
              <a:buAutoNum type="arabicPeriod"/>
            </a:pPr>
            <a:r>
              <a:rPr lang="en-GB" dirty="0">
                <a:latin typeface="+mj-lt"/>
              </a:rPr>
              <a:t>If they require products to comply with an additional set of rules, this is a restriction of Article 34 TFEU which will have to be justified</a:t>
            </a:r>
          </a:p>
          <a:p>
            <a:pPr>
              <a:buFont typeface="+mj-lt"/>
              <a:buAutoNum type="arabicPeriod"/>
            </a:pPr>
            <a:endParaRPr lang="en-GB" dirty="0">
              <a:latin typeface="+mj-lt"/>
            </a:endParaRPr>
          </a:p>
          <a:p>
            <a:pPr marL="0" indent="0"/>
            <a:endParaRPr lang="en-GB" dirty="0">
              <a:latin typeface="+mj-lt"/>
            </a:endParaRPr>
          </a:p>
        </p:txBody>
      </p:sp>
    </p:spTree>
    <p:extLst>
      <p:ext uri="{BB962C8B-B14F-4D97-AF65-F5344CB8AC3E}">
        <p14:creationId xmlns:p14="http://schemas.microsoft.com/office/powerpoint/2010/main" val="4008355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Different types of MEEs</a:t>
            </a:r>
          </a:p>
        </p:txBody>
      </p:sp>
      <p:sp>
        <p:nvSpPr>
          <p:cNvPr id="3" name="Content Placeholder 2"/>
          <p:cNvSpPr>
            <a:spLocks noGrp="1"/>
          </p:cNvSpPr>
          <p:nvPr>
            <p:ph idx="1"/>
          </p:nvPr>
        </p:nvSpPr>
        <p:spPr>
          <a:xfrm>
            <a:off x="683568" y="1772816"/>
            <a:ext cx="7772400" cy="3816350"/>
          </a:xfrm>
        </p:spPr>
        <p:txBody>
          <a:bodyPr/>
          <a:lstStyle/>
          <a:p>
            <a:pPr>
              <a:buFont typeface="+mj-lt"/>
              <a:buAutoNum type="arabicPeriod"/>
            </a:pPr>
            <a:r>
              <a:rPr lang="en-GB" dirty="0">
                <a:latin typeface="+mj-lt"/>
              </a:rPr>
              <a:t>Traditionally, from </a:t>
            </a:r>
            <a:r>
              <a:rPr lang="en-GB" i="1" dirty="0">
                <a:latin typeface="+mj-lt"/>
              </a:rPr>
              <a:t>Cassis de Dijon </a:t>
            </a:r>
            <a:r>
              <a:rPr lang="en-GB" dirty="0">
                <a:latin typeface="+mj-lt"/>
              </a:rPr>
              <a:t>on, the Court has made a distinction between two different types of MEEs.</a:t>
            </a:r>
          </a:p>
          <a:p>
            <a:pPr>
              <a:buFont typeface="+mj-lt"/>
              <a:buAutoNum type="arabicPeriod"/>
            </a:pPr>
            <a:endParaRPr lang="en-GB" dirty="0">
              <a:latin typeface="+mj-lt"/>
            </a:endParaRPr>
          </a:p>
          <a:p>
            <a:pPr>
              <a:buFont typeface="+mj-lt"/>
              <a:buAutoNum type="arabicPeriod"/>
            </a:pPr>
            <a:r>
              <a:rPr lang="en-GB" dirty="0">
                <a:latin typeface="+mj-lt"/>
              </a:rPr>
              <a:t>Distinctly applicable MEEs: national rules that make a direct distinction between domestic and imported products (e.g. a country of origin label)</a:t>
            </a:r>
          </a:p>
          <a:p>
            <a:pPr>
              <a:buFont typeface="+mj-lt"/>
              <a:buAutoNum type="arabicPeriod"/>
            </a:pPr>
            <a:endParaRPr lang="en-GB" dirty="0">
              <a:latin typeface="+mj-lt"/>
            </a:endParaRPr>
          </a:p>
          <a:p>
            <a:pPr>
              <a:buFont typeface="+mj-lt"/>
              <a:buAutoNum type="arabicPeriod"/>
            </a:pPr>
            <a:r>
              <a:rPr lang="en-GB" dirty="0">
                <a:latin typeface="+mj-lt"/>
              </a:rPr>
              <a:t>Indistinctly applicable MEEs: national rules that do not make a direct distinction between domestic and imported products, but that have the effect of making it more difficult to import products (e.g. a product requirement)</a:t>
            </a:r>
          </a:p>
          <a:p>
            <a:pPr>
              <a:buFont typeface="+mj-lt"/>
              <a:buAutoNum type="arabicPeriod"/>
            </a:pPr>
            <a:endParaRPr lang="en-GB" dirty="0">
              <a:latin typeface="+mj-lt"/>
            </a:endParaRPr>
          </a:p>
          <a:p>
            <a:pPr>
              <a:buFont typeface="+mj-lt"/>
              <a:buAutoNum type="arabicPeriod"/>
            </a:pPr>
            <a:r>
              <a:rPr lang="en-GB" dirty="0">
                <a:latin typeface="+mj-lt"/>
              </a:rPr>
              <a:t>The most common type of an indistinctly applicable MEE are product requirements: national rules that regulate the physical characteristics of a product</a:t>
            </a:r>
          </a:p>
        </p:txBody>
      </p:sp>
    </p:spTree>
    <p:extLst>
      <p:ext uri="{BB962C8B-B14F-4D97-AF65-F5344CB8AC3E}">
        <p14:creationId xmlns:p14="http://schemas.microsoft.com/office/powerpoint/2010/main" val="1899174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road to </a:t>
            </a:r>
            <a:r>
              <a:rPr lang="en-GB" i="1" dirty="0"/>
              <a:t>Keck</a:t>
            </a:r>
            <a:endParaRPr lang="en-GB" dirty="0"/>
          </a:p>
        </p:txBody>
      </p:sp>
      <p:sp>
        <p:nvSpPr>
          <p:cNvPr id="3" name="Content Placeholder 2"/>
          <p:cNvSpPr>
            <a:spLocks noGrp="1"/>
          </p:cNvSpPr>
          <p:nvPr>
            <p:ph idx="1"/>
          </p:nvPr>
        </p:nvSpPr>
        <p:spPr/>
        <p:txBody>
          <a:bodyPr/>
          <a:lstStyle/>
          <a:p>
            <a:pPr>
              <a:buFont typeface="+mj-lt"/>
              <a:buAutoNum type="arabicPeriod"/>
            </a:pPr>
            <a:r>
              <a:rPr lang="en-GB" dirty="0">
                <a:latin typeface="+mj-lt"/>
              </a:rPr>
              <a:t>The battle between traders and Member States on how broadly MEEs should be defined was about a very fundamental question: what is the ultimate aim of Article 34 TFEU?</a:t>
            </a:r>
          </a:p>
          <a:p>
            <a:pPr>
              <a:buFont typeface="+mj-lt"/>
              <a:buAutoNum type="arabicPeriod"/>
            </a:pPr>
            <a:endParaRPr lang="en-GB" dirty="0">
              <a:latin typeface="+mj-lt"/>
            </a:endParaRPr>
          </a:p>
          <a:p>
            <a:pPr>
              <a:buFont typeface="+mj-lt"/>
              <a:buAutoNum type="arabicPeriod"/>
            </a:pPr>
            <a:r>
              <a:rPr lang="en-GB" dirty="0">
                <a:latin typeface="+mj-lt"/>
              </a:rPr>
              <a:t>See the Opinion of Advocate General </a:t>
            </a:r>
            <a:r>
              <a:rPr lang="en-GB" dirty="0" err="1">
                <a:latin typeface="+mj-lt"/>
              </a:rPr>
              <a:t>Tesauro</a:t>
            </a:r>
            <a:r>
              <a:rPr lang="en-GB" dirty="0">
                <a:latin typeface="+mj-lt"/>
              </a:rPr>
              <a:t> in Case C-292/92, </a:t>
            </a:r>
            <a:r>
              <a:rPr lang="en-GB" i="1" dirty="0" err="1">
                <a:latin typeface="+mj-lt"/>
              </a:rPr>
              <a:t>Hünermund</a:t>
            </a:r>
            <a:r>
              <a:rPr lang="en-GB" dirty="0">
                <a:latin typeface="+mj-lt"/>
              </a:rPr>
              <a:t>: is the aim of Article 34 TFEU to liberalise trade in general or does Article 34 TFEU only regulate trade between Member States?</a:t>
            </a:r>
          </a:p>
          <a:p>
            <a:pPr>
              <a:buFont typeface="+mj-lt"/>
              <a:buAutoNum type="arabicPeriod"/>
            </a:pPr>
            <a:endParaRPr lang="en-GB" dirty="0">
              <a:latin typeface="+mj-lt"/>
            </a:endParaRPr>
          </a:p>
          <a:p>
            <a:pPr>
              <a:buFont typeface="+mj-lt"/>
              <a:buAutoNum type="arabicPeriod"/>
            </a:pPr>
            <a:r>
              <a:rPr lang="en-GB" dirty="0">
                <a:latin typeface="+mj-lt"/>
              </a:rPr>
              <a:t>Every national rule can potentially be an obstacle to cross-border trade. </a:t>
            </a:r>
          </a:p>
          <a:p>
            <a:pPr>
              <a:buFont typeface="+mj-lt"/>
              <a:buAutoNum type="arabicPeriod"/>
            </a:pPr>
            <a:endParaRPr lang="en-GB" dirty="0">
              <a:latin typeface="+mj-lt"/>
            </a:endParaRPr>
          </a:p>
          <a:p>
            <a:pPr>
              <a:buFont typeface="+mj-lt"/>
              <a:buAutoNum type="arabicPeriod"/>
            </a:pPr>
            <a:r>
              <a:rPr lang="en-GB" dirty="0">
                <a:latin typeface="+mj-lt"/>
              </a:rPr>
              <a:t>This led to the so-called “Sunday Trading saga” in the UK: the prohibition of opening shops on Sundays. See Case C-145/88, </a:t>
            </a:r>
            <a:r>
              <a:rPr lang="en-GB" i="1" dirty="0">
                <a:latin typeface="+mj-lt"/>
              </a:rPr>
              <a:t>Torfaen</a:t>
            </a:r>
          </a:p>
        </p:txBody>
      </p:sp>
    </p:spTree>
    <p:extLst>
      <p:ext uri="{BB962C8B-B14F-4D97-AF65-F5344CB8AC3E}">
        <p14:creationId xmlns:p14="http://schemas.microsoft.com/office/powerpoint/2010/main" val="4097184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a:t>Kec</a:t>
            </a:r>
            <a:r>
              <a:rPr lang="en-GB" dirty="0"/>
              <a:t>k and “certain selling arrangements”</a:t>
            </a:r>
          </a:p>
        </p:txBody>
      </p:sp>
      <p:sp>
        <p:nvSpPr>
          <p:cNvPr id="3" name="Content Placeholder 2"/>
          <p:cNvSpPr>
            <a:spLocks noGrp="1"/>
          </p:cNvSpPr>
          <p:nvPr>
            <p:ph idx="1"/>
          </p:nvPr>
        </p:nvSpPr>
        <p:spPr>
          <a:xfrm>
            <a:off x="685800" y="2060848"/>
            <a:ext cx="7772400" cy="3816350"/>
          </a:xfrm>
        </p:spPr>
        <p:txBody>
          <a:bodyPr/>
          <a:lstStyle/>
          <a:p>
            <a:pPr>
              <a:buFont typeface="+mj-lt"/>
              <a:buAutoNum type="arabicPeriod"/>
            </a:pPr>
            <a:r>
              <a:rPr lang="en-GB" dirty="0">
                <a:latin typeface="+mj-lt"/>
              </a:rPr>
              <a:t>In Case C-267/91, </a:t>
            </a:r>
            <a:r>
              <a:rPr lang="en-GB" i="1" dirty="0">
                <a:latin typeface="+mj-lt"/>
              </a:rPr>
              <a:t>Keck</a:t>
            </a:r>
            <a:r>
              <a:rPr lang="en-GB" dirty="0">
                <a:latin typeface="+mj-lt"/>
              </a:rPr>
              <a:t>, the Court made an attempt to restrict the broad definition of an MEE </a:t>
            </a:r>
            <a:endParaRPr lang="en-GB" i="1" dirty="0">
              <a:latin typeface="+mj-lt"/>
            </a:endParaRPr>
          </a:p>
          <a:p>
            <a:pPr>
              <a:buFont typeface="+mj-lt"/>
              <a:buAutoNum type="arabicPeriod"/>
            </a:pPr>
            <a:endParaRPr lang="en-GB" dirty="0">
              <a:latin typeface="+mj-lt"/>
            </a:endParaRPr>
          </a:p>
          <a:p>
            <a:pPr>
              <a:buFont typeface="+mj-lt"/>
              <a:buAutoNum type="arabicPeriod"/>
            </a:pPr>
            <a:r>
              <a:rPr lang="en-GB" dirty="0">
                <a:latin typeface="+mj-lt"/>
              </a:rPr>
              <a:t>It did so by creating a new category of national rules which fell outside the scope of Article 34 TFEU: “certain selling arrangements”</a:t>
            </a:r>
          </a:p>
          <a:p>
            <a:pPr>
              <a:buFont typeface="+mj-lt"/>
              <a:buAutoNum type="arabicPeriod"/>
            </a:pPr>
            <a:endParaRPr lang="en-GB" dirty="0">
              <a:latin typeface="+mj-lt"/>
            </a:endParaRPr>
          </a:p>
          <a:p>
            <a:pPr>
              <a:buFont typeface="+mj-lt"/>
              <a:buAutoNum type="arabicPeriod"/>
            </a:pPr>
            <a:r>
              <a:rPr lang="en-GB" dirty="0">
                <a:latin typeface="+mj-lt"/>
              </a:rPr>
              <a:t>Such certain selling arrangements do not constitute MEEs and fall outside the scope of Article 34 TFEU. As a result, Member States do not have to justify them</a:t>
            </a:r>
          </a:p>
          <a:p>
            <a:pPr>
              <a:buFont typeface="+mj-lt"/>
              <a:buAutoNum type="arabicPeriod"/>
            </a:pPr>
            <a:endParaRPr lang="en-GB" dirty="0">
              <a:latin typeface="+mj-lt"/>
            </a:endParaRPr>
          </a:p>
        </p:txBody>
      </p:sp>
    </p:spTree>
    <p:extLst>
      <p:ext uri="{BB962C8B-B14F-4D97-AF65-F5344CB8AC3E}">
        <p14:creationId xmlns:p14="http://schemas.microsoft.com/office/powerpoint/2010/main" val="2406094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a:t>Kec</a:t>
            </a:r>
            <a:r>
              <a:rPr lang="en-GB" dirty="0"/>
              <a:t>k and “certain selling arrangements”</a:t>
            </a:r>
          </a:p>
        </p:txBody>
      </p:sp>
      <p:sp>
        <p:nvSpPr>
          <p:cNvPr id="3" name="Content Placeholder 2"/>
          <p:cNvSpPr>
            <a:spLocks noGrp="1"/>
          </p:cNvSpPr>
          <p:nvPr>
            <p:ph idx="1"/>
          </p:nvPr>
        </p:nvSpPr>
        <p:spPr/>
        <p:txBody>
          <a:bodyPr/>
          <a:lstStyle/>
          <a:p>
            <a:pPr>
              <a:buFont typeface="+mj-lt"/>
              <a:buAutoNum type="arabicPeriod"/>
            </a:pPr>
            <a:r>
              <a:rPr lang="en-GB" dirty="0">
                <a:latin typeface="+mj-lt"/>
              </a:rPr>
              <a:t>In order to fall outside the scope of Article 34 TFEU, selling arrangements have to comply with two conditions (the </a:t>
            </a:r>
            <a:r>
              <a:rPr lang="en-GB" i="1" dirty="0">
                <a:latin typeface="+mj-lt"/>
              </a:rPr>
              <a:t>Keck</a:t>
            </a:r>
            <a:r>
              <a:rPr lang="en-GB" dirty="0">
                <a:latin typeface="+mj-lt"/>
              </a:rPr>
              <a:t> provisos)</a:t>
            </a:r>
          </a:p>
          <a:p>
            <a:pPr lvl="2" indent="-342900">
              <a:buFont typeface="+mj-lt"/>
              <a:buAutoNum type="alphaLcPeriod"/>
            </a:pPr>
            <a:endParaRPr lang="en-GB" sz="1800" dirty="0">
              <a:latin typeface="+mj-lt"/>
            </a:endParaRPr>
          </a:p>
          <a:p>
            <a:pPr lvl="2" indent="-342900">
              <a:buFont typeface="+mj-lt"/>
              <a:buAutoNum type="alphaLcPeriod"/>
            </a:pPr>
            <a:r>
              <a:rPr lang="en-GB" sz="1800" dirty="0">
                <a:latin typeface="+mj-lt"/>
              </a:rPr>
              <a:t>They have to apply to all relevant traders</a:t>
            </a:r>
          </a:p>
          <a:p>
            <a:pPr lvl="2" indent="-342900">
              <a:buFont typeface="+mj-lt"/>
              <a:buAutoNum type="alphaLcPeriod"/>
            </a:pPr>
            <a:r>
              <a:rPr lang="en-GB" sz="1800" dirty="0">
                <a:latin typeface="+mj-lt"/>
              </a:rPr>
              <a:t>They do not discriminate – directly or indirectly – against imported products</a:t>
            </a:r>
          </a:p>
          <a:p>
            <a:pPr lvl="2" indent="-342900">
              <a:buFont typeface="+mj-lt"/>
              <a:buAutoNum type="alphaLcPeriod"/>
            </a:pPr>
            <a:endParaRPr lang="en-GB" sz="1800" dirty="0">
              <a:latin typeface="+mj-lt"/>
            </a:endParaRPr>
          </a:p>
          <a:p>
            <a:pPr>
              <a:buFont typeface="+mj-lt"/>
              <a:buAutoNum type="arabicPeriod"/>
            </a:pPr>
            <a:r>
              <a:rPr lang="en-GB" dirty="0">
                <a:latin typeface="+mj-lt"/>
              </a:rPr>
              <a:t>For every selling arrangement, you have to analyse these two conditions. If they are satisfied, the measure is “safe” and does not have to be justified. </a:t>
            </a:r>
          </a:p>
          <a:p>
            <a:pPr>
              <a:buFont typeface="+mj-lt"/>
              <a:buAutoNum type="arabicPeriod"/>
            </a:pPr>
            <a:endParaRPr lang="en-GB" dirty="0">
              <a:latin typeface="+mj-lt"/>
            </a:endParaRPr>
          </a:p>
          <a:p>
            <a:pPr>
              <a:buFont typeface="+mj-lt"/>
              <a:buAutoNum type="arabicPeriod"/>
            </a:pPr>
            <a:r>
              <a:rPr lang="en-GB" dirty="0">
                <a:latin typeface="+mj-lt"/>
              </a:rPr>
              <a:t>If either of the conditions is not satisfied, the selling arrangement automatically constitutes an MEE which will have to be justified</a:t>
            </a:r>
          </a:p>
          <a:p>
            <a:endParaRPr lang="en-GB" dirty="0"/>
          </a:p>
        </p:txBody>
      </p:sp>
    </p:spTree>
    <p:extLst>
      <p:ext uri="{BB962C8B-B14F-4D97-AF65-F5344CB8AC3E}">
        <p14:creationId xmlns:p14="http://schemas.microsoft.com/office/powerpoint/2010/main" val="1570883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are selling arrangements?</a:t>
            </a:r>
          </a:p>
        </p:txBody>
      </p:sp>
      <p:sp>
        <p:nvSpPr>
          <p:cNvPr id="3" name="Content Placeholder 2"/>
          <p:cNvSpPr>
            <a:spLocks noGrp="1"/>
          </p:cNvSpPr>
          <p:nvPr>
            <p:ph idx="1"/>
          </p:nvPr>
        </p:nvSpPr>
        <p:spPr/>
        <p:txBody>
          <a:bodyPr/>
          <a:lstStyle/>
          <a:p>
            <a:pPr>
              <a:buFont typeface="+mj-lt"/>
              <a:buAutoNum type="arabicPeriod"/>
            </a:pPr>
            <a:r>
              <a:rPr lang="en-GB" dirty="0">
                <a:latin typeface="+mj-lt"/>
              </a:rPr>
              <a:t>Selling arrangements are rules that regulate the circumstances under which a product is placed on the market and that do not regulate the physical characteristics of a product.</a:t>
            </a:r>
          </a:p>
          <a:p>
            <a:pPr>
              <a:buFont typeface="+mj-lt"/>
              <a:buAutoNum type="arabicPeriod"/>
            </a:pPr>
            <a:endParaRPr lang="en-GB" dirty="0">
              <a:latin typeface="+mj-lt"/>
            </a:endParaRPr>
          </a:p>
          <a:p>
            <a:pPr>
              <a:buFont typeface="+mj-lt"/>
              <a:buAutoNum type="arabicPeriod"/>
            </a:pPr>
            <a:r>
              <a:rPr lang="en-GB" dirty="0">
                <a:latin typeface="+mj-lt"/>
              </a:rPr>
              <a:t>The most common examples of selling arrangements are rules on </a:t>
            </a:r>
            <a:r>
              <a:rPr lang="en-GB" i="1" dirty="0">
                <a:latin typeface="+mj-lt"/>
              </a:rPr>
              <a:t>when</a:t>
            </a:r>
            <a:r>
              <a:rPr lang="en-GB" dirty="0">
                <a:latin typeface="+mj-lt"/>
              </a:rPr>
              <a:t>, </a:t>
            </a:r>
            <a:r>
              <a:rPr lang="en-GB" i="1" dirty="0">
                <a:latin typeface="+mj-lt"/>
              </a:rPr>
              <a:t>where</a:t>
            </a:r>
            <a:r>
              <a:rPr lang="en-GB" dirty="0">
                <a:latin typeface="+mj-lt"/>
              </a:rPr>
              <a:t>, </a:t>
            </a:r>
            <a:r>
              <a:rPr lang="en-GB" i="1" dirty="0">
                <a:latin typeface="+mj-lt"/>
              </a:rPr>
              <a:t>how</a:t>
            </a:r>
            <a:r>
              <a:rPr lang="en-GB" dirty="0">
                <a:latin typeface="+mj-lt"/>
              </a:rPr>
              <a:t> and </a:t>
            </a:r>
            <a:r>
              <a:rPr lang="en-GB" i="1" dirty="0">
                <a:latin typeface="+mj-lt"/>
              </a:rPr>
              <a:t>by</a:t>
            </a:r>
            <a:r>
              <a:rPr lang="en-GB" dirty="0">
                <a:latin typeface="+mj-lt"/>
              </a:rPr>
              <a:t> </a:t>
            </a:r>
            <a:r>
              <a:rPr lang="en-GB" i="1" dirty="0">
                <a:latin typeface="+mj-lt"/>
              </a:rPr>
              <a:t>whom</a:t>
            </a:r>
            <a:r>
              <a:rPr lang="en-GB" dirty="0">
                <a:latin typeface="+mj-lt"/>
              </a:rPr>
              <a:t> a product can be sold. Rules on advertising and prices are also considered selling arrangements (although there have been some developments which we will discuss later)</a:t>
            </a:r>
          </a:p>
          <a:p>
            <a:pPr>
              <a:buFont typeface="+mj-lt"/>
              <a:buAutoNum type="arabicPeriod"/>
            </a:pPr>
            <a:endParaRPr lang="en-GB" dirty="0">
              <a:latin typeface="+mj-lt"/>
            </a:endParaRPr>
          </a:p>
          <a:p>
            <a:pPr>
              <a:buFont typeface="+mj-lt"/>
              <a:buAutoNum type="arabicPeriod"/>
            </a:pPr>
            <a:r>
              <a:rPr lang="en-GB" dirty="0">
                <a:latin typeface="+mj-lt"/>
              </a:rPr>
              <a:t>After </a:t>
            </a:r>
            <a:r>
              <a:rPr lang="en-GB" i="1" dirty="0">
                <a:latin typeface="+mj-lt"/>
              </a:rPr>
              <a:t>Keck</a:t>
            </a:r>
            <a:r>
              <a:rPr lang="en-GB" dirty="0">
                <a:latin typeface="+mj-lt"/>
              </a:rPr>
              <a:t>, the distinction between product requirements (which are always MEEs) and selling arrangements became very important. The Court tried to clarify this distinction in Case C-368/95, </a:t>
            </a:r>
            <a:r>
              <a:rPr lang="en-GB" i="1" dirty="0" err="1">
                <a:latin typeface="+mj-lt"/>
              </a:rPr>
              <a:t>Familiapress</a:t>
            </a:r>
            <a:endParaRPr lang="en-GB" i="1" dirty="0">
              <a:latin typeface="+mj-lt"/>
            </a:endParaRPr>
          </a:p>
        </p:txBody>
      </p:sp>
    </p:spTree>
    <p:extLst>
      <p:ext uri="{BB962C8B-B14F-4D97-AF65-F5344CB8AC3E}">
        <p14:creationId xmlns:p14="http://schemas.microsoft.com/office/powerpoint/2010/main" val="3864331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application of the </a:t>
            </a:r>
            <a:r>
              <a:rPr lang="en-GB" i="1" dirty="0"/>
              <a:t>Keck</a:t>
            </a:r>
            <a:r>
              <a:rPr lang="en-GB" dirty="0"/>
              <a:t> provisos</a:t>
            </a:r>
          </a:p>
        </p:txBody>
      </p:sp>
      <p:sp>
        <p:nvSpPr>
          <p:cNvPr id="3" name="Content Placeholder 2"/>
          <p:cNvSpPr>
            <a:spLocks noGrp="1"/>
          </p:cNvSpPr>
          <p:nvPr>
            <p:ph idx="1"/>
          </p:nvPr>
        </p:nvSpPr>
        <p:spPr/>
        <p:txBody>
          <a:bodyPr/>
          <a:lstStyle/>
          <a:p>
            <a:pPr>
              <a:buFont typeface="+mj-lt"/>
              <a:buAutoNum type="arabicPeriod"/>
            </a:pPr>
            <a:r>
              <a:rPr lang="en-GB" dirty="0">
                <a:latin typeface="+mj-lt"/>
              </a:rPr>
              <a:t>Case C-69/93, </a:t>
            </a:r>
            <a:r>
              <a:rPr lang="en-GB" i="1" dirty="0">
                <a:latin typeface="+mj-lt"/>
              </a:rPr>
              <a:t>Punto </a:t>
            </a:r>
            <a:r>
              <a:rPr lang="en-GB" i="1" dirty="0" err="1">
                <a:latin typeface="+mj-lt"/>
              </a:rPr>
              <a:t>Caso</a:t>
            </a:r>
            <a:r>
              <a:rPr lang="en-GB" i="1" dirty="0">
                <a:latin typeface="+mj-lt"/>
              </a:rPr>
              <a:t> </a:t>
            </a:r>
          </a:p>
          <a:p>
            <a:pPr>
              <a:buFont typeface="+mj-lt"/>
              <a:buAutoNum type="arabicPeriod"/>
            </a:pPr>
            <a:endParaRPr lang="en-GB" dirty="0">
              <a:latin typeface="+mj-lt"/>
            </a:endParaRPr>
          </a:p>
          <a:p>
            <a:pPr>
              <a:buFont typeface="+mj-lt"/>
              <a:buAutoNum type="arabicPeriod"/>
            </a:pPr>
            <a:r>
              <a:rPr lang="en-GB" dirty="0">
                <a:latin typeface="+mj-lt"/>
              </a:rPr>
              <a:t>Case C-34/95, </a:t>
            </a:r>
            <a:r>
              <a:rPr lang="en-GB" i="1" dirty="0">
                <a:latin typeface="+mj-lt"/>
              </a:rPr>
              <a:t>De </a:t>
            </a:r>
            <a:r>
              <a:rPr lang="en-GB" i="1" dirty="0" err="1">
                <a:latin typeface="+mj-lt"/>
              </a:rPr>
              <a:t>Agostini</a:t>
            </a:r>
            <a:endParaRPr lang="en-GB" i="1" dirty="0">
              <a:latin typeface="+mj-lt"/>
            </a:endParaRPr>
          </a:p>
          <a:p>
            <a:pPr>
              <a:buFont typeface="+mj-lt"/>
              <a:buAutoNum type="arabicPeriod"/>
            </a:pPr>
            <a:endParaRPr lang="en-GB" dirty="0">
              <a:latin typeface="+mj-lt"/>
            </a:endParaRPr>
          </a:p>
          <a:p>
            <a:pPr>
              <a:buFont typeface="+mj-lt"/>
              <a:buAutoNum type="arabicPeriod"/>
            </a:pPr>
            <a:r>
              <a:rPr lang="en-GB" dirty="0">
                <a:latin typeface="+mj-lt"/>
              </a:rPr>
              <a:t>Case C-322/01, </a:t>
            </a:r>
            <a:r>
              <a:rPr lang="en-GB" i="1" dirty="0" err="1">
                <a:latin typeface="+mj-lt"/>
              </a:rPr>
              <a:t>DocMorris</a:t>
            </a:r>
            <a:endParaRPr lang="en-GB" i="1" dirty="0">
              <a:latin typeface="+mj-lt"/>
            </a:endParaRPr>
          </a:p>
          <a:p>
            <a:pPr>
              <a:buFont typeface="+mj-lt"/>
              <a:buAutoNum type="arabicPeriod"/>
            </a:pPr>
            <a:endParaRPr lang="en-GB" i="1" dirty="0">
              <a:latin typeface="+mj-lt"/>
            </a:endParaRPr>
          </a:p>
          <a:p>
            <a:pPr>
              <a:buFont typeface="+mj-lt"/>
              <a:buAutoNum type="arabicPeriod"/>
            </a:pPr>
            <a:r>
              <a:rPr lang="en-GB" dirty="0">
                <a:latin typeface="+mj-lt"/>
              </a:rPr>
              <a:t>Case C-108/09, </a:t>
            </a:r>
            <a:r>
              <a:rPr lang="en-GB" i="1" dirty="0">
                <a:latin typeface="+mj-lt"/>
              </a:rPr>
              <a:t>Ker-</a:t>
            </a:r>
            <a:r>
              <a:rPr lang="en-GB" i="1" dirty="0" err="1">
                <a:latin typeface="+mj-lt"/>
              </a:rPr>
              <a:t>Optika</a:t>
            </a:r>
            <a:r>
              <a:rPr lang="en-GB" dirty="0">
                <a:latin typeface="+mj-lt"/>
              </a:rPr>
              <a:t> </a:t>
            </a:r>
          </a:p>
          <a:p>
            <a:pPr>
              <a:buFont typeface="+mj-lt"/>
              <a:buAutoNum type="arabicPeriod"/>
            </a:pPr>
            <a:endParaRPr lang="en-GB" dirty="0">
              <a:latin typeface="+mj-lt"/>
            </a:endParaRPr>
          </a:p>
          <a:p>
            <a:pPr>
              <a:buFont typeface="+mj-lt"/>
              <a:buAutoNum type="arabicPeriod"/>
            </a:pPr>
            <a:r>
              <a:rPr lang="en-GB" dirty="0">
                <a:latin typeface="+mj-lt"/>
              </a:rPr>
              <a:t>Is </a:t>
            </a:r>
            <a:r>
              <a:rPr lang="en-GB" i="1" dirty="0">
                <a:latin typeface="+mj-lt"/>
              </a:rPr>
              <a:t>Keck</a:t>
            </a:r>
            <a:r>
              <a:rPr lang="en-GB" dirty="0">
                <a:latin typeface="+mj-lt"/>
              </a:rPr>
              <a:t> really a safe haven for Member States or it is actually quite hard to satisfy the </a:t>
            </a:r>
            <a:r>
              <a:rPr lang="en-GB" i="1" dirty="0">
                <a:latin typeface="+mj-lt"/>
              </a:rPr>
              <a:t>Keck</a:t>
            </a:r>
            <a:r>
              <a:rPr lang="en-GB" dirty="0">
                <a:latin typeface="+mj-lt"/>
              </a:rPr>
              <a:t> provisos? </a:t>
            </a:r>
          </a:p>
        </p:txBody>
      </p:sp>
    </p:spTree>
    <p:extLst>
      <p:ext uri="{BB962C8B-B14F-4D97-AF65-F5344CB8AC3E}">
        <p14:creationId xmlns:p14="http://schemas.microsoft.com/office/powerpoint/2010/main" val="3774767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road after </a:t>
            </a:r>
            <a:r>
              <a:rPr lang="en-GB" i="1" dirty="0"/>
              <a:t>Keck</a:t>
            </a:r>
          </a:p>
        </p:txBody>
      </p:sp>
      <p:sp>
        <p:nvSpPr>
          <p:cNvPr id="3" name="Content Placeholder 2"/>
          <p:cNvSpPr>
            <a:spLocks noGrp="1"/>
          </p:cNvSpPr>
          <p:nvPr>
            <p:ph idx="1"/>
          </p:nvPr>
        </p:nvSpPr>
        <p:spPr/>
        <p:txBody>
          <a:bodyPr/>
          <a:lstStyle/>
          <a:p>
            <a:pPr>
              <a:buFont typeface="+mj-lt"/>
              <a:buAutoNum type="arabicPeriod"/>
            </a:pPr>
            <a:r>
              <a:rPr lang="en-GB" i="1" dirty="0">
                <a:latin typeface="+mj-lt"/>
              </a:rPr>
              <a:t>Keck</a:t>
            </a:r>
            <a:r>
              <a:rPr lang="en-GB" dirty="0">
                <a:latin typeface="+mj-lt"/>
              </a:rPr>
              <a:t> places significant reliance on the </a:t>
            </a:r>
            <a:r>
              <a:rPr lang="en-GB" i="1" dirty="0">
                <a:latin typeface="+mj-lt"/>
              </a:rPr>
              <a:t>type</a:t>
            </a:r>
            <a:r>
              <a:rPr lang="en-GB" dirty="0">
                <a:latin typeface="+mj-lt"/>
              </a:rPr>
              <a:t> of national measure which is reviewed under Article 34 TFEU. This process of classification determines the applicable test</a:t>
            </a:r>
          </a:p>
          <a:p>
            <a:pPr>
              <a:buFont typeface="+mj-lt"/>
              <a:buAutoNum type="arabicPeriod"/>
            </a:pPr>
            <a:endParaRPr lang="en-GB" dirty="0">
              <a:latin typeface="+mj-lt"/>
            </a:endParaRPr>
          </a:p>
          <a:p>
            <a:pPr>
              <a:buFont typeface="+mj-lt"/>
              <a:buAutoNum type="arabicPeriod"/>
            </a:pPr>
            <a:r>
              <a:rPr lang="en-GB" dirty="0">
                <a:latin typeface="+mj-lt"/>
              </a:rPr>
              <a:t>After </a:t>
            </a:r>
            <a:r>
              <a:rPr lang="en-GB" i="1" dirty="0">
                <a:latin typeface="+mj-lt"/>
              </a:rPr>
              <a:t>Keck</a:t>
            </a:r>
            <a:r>
              <a:rPr lang="en-GB" dirty="0">
                <a:latin typeface="+mj-lt"/>
              </a:rPr>
              <a:t>, Member States and traders started another battle on how broadly the concept of selling arrangement should be interpreted</a:t>
            </a:r>
          </a:p>
          <a:p>
            <a:pPr>
              <a:buFont typeface="+mj-lt"/>
              <a:buAutoNum type="arabicPeriod"/>
            </a:pPr>
            <a:endParaRPr lang="en-GB" dirty="0">
              <a:latin typeface="+mj-lt"/>
            </a:endParaRPr>
          </a:p>
          <a:p>
            <a:pPr>
              <a:buFont typeface="+mj-lt"/>
              <a:buAutoNum type="arabicPeriod"/>
            </a:pPr>
            <a:r>
              <a:rPr lang="en-GB" dirty="0">
                <a:latin typeface="+mj-lt"/>
              </a:rPr>
              <a:t>In particular, the main question became how </a:t>
            </a:r>
            <a:r>
              <a:rPr lang="en-GB" b="1" dirty="0">
                <a:latin typeface="+mj-lt"/>
              </a:rPr>
              <a:t>restrictions on use </a:t>
            </a:r>
            <a:r>
              <a:rPr lang="en-GB" dirty="0">
                <a:latin typeface="+mj-lt"/>
              </a:rPr>
              <a:t>should be classified and assessed under Article 34 TFEU</a:t>
            </a:r>
          </a:p>
          <a:p>
            <a:pPr marL="1257300" lvl="2" indent="-342900">
              <a:buFont typeface="+mj-lt"/>
              <a:buAutoNum type="alphaLcPeriod"/>
            </a:pPr>
            <a:endParaRPr lang="en-GB" sz="1800" dirty="0">
              <a:latin typeface="+mj-lt"/>
            </a:endParaRPr>
          </a:p>
          <a:p>
            <a:pPr marL="1257300" lvl="2" indent="-342900">
              <a:buFont typeface="+mj-lt"/>
              <a:buAutoNum type="alphaLcPeriod"/>
            </a:pPr>
            <a:r>
              <a:rPr lang="en-GB" sz="1800" dirty="0">
                <a:latin typeface="+mj-lt"/>
              </a:rPr>
              <a:t>Case C-110/05, </a:t>
            </a:r>
            <a:r>
              <a:rPr lang="en-GB" sz="1800" i="1" dirty="0">
                <a:latin typeface="+mj-lt"/>
              </a:rPr>
              <a:t>Commission v Italy </a:t>
            </a:r>
            <a:r>
              <a:rPr lang="en-GB" sz="1800" dirty="0">
                <a:latin typeface="+mj-lt"/>
              </a:rPr>
              <a:t>(Trailers)</a:t>
            </a:r>
          </a:p>
          <a:p>
            <a:pPr marL="1257300" lvl="2" indent="-342900">
              <a:buFont typeface="+mj-lt"/>
              <a:buAutoNum type="alphaLcPeriod"/>
            </a:pPr>
            <a:r>
              <a:rPr lang="en-GB" sz="1800" dirty="0">
                <a:latin typeface="+mj-lt"/>
              </a:rPr>
              <a:t>Case C-142/05, </a:t>
            </a:r>
            <a:r>
              <a:rPr lang="en-GB" sz="1800" i="1" dirty="0" err="1">
                <a:latin typeface="+mj-lt"/>
              </a:rPr>
              <a:t>Mickelsson</a:t>
            </a:r>
            <a:r>
              <a:rPr lang="en-GB" sz="1800" i="1" dirty="0">
                <a:latin typeface="+mj-lt"/>
              </a:rPr>
              <a:t> and </a:t>
            </a:r>
            <a:r>
              <a:rPr lang="en-GB" sz="1800" i="1" dirty="0" err="1">
                <a:latin typeface="+mj-lt"/>
              </a:rPr>
              <a:t>Roos</a:t>
            </a:r>
            <a:r>
              <a:rPr lang="en-GB" sz="1800" i="1" dirty="0">
                <a:latin typeface="+mj-lt"/>
              </a:rPr>
              <a:t> </a:t>
            </a:r>
          </a:p>
        </p:txBody>
      </p:sp>
    </p:spTree>
    <p:extLst>
      <p:ext uri="{BB962C8B-B14F-4D97-AF65-F5344CB8AC3E}">
        <p14:creationId xmlns:p14="http://schemas.microsoft.com/office/powerpoint/2010/main" val="1354032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err="1"/>
              <a:t>Mickelsson</a:t>
            </a:r>
            <a:r>
              <a:rPr lang="en-GB" i="1" dirty="0"/>
              <a:t> and </a:t>
            </a:r>
            <a:r>
              <a:rPr lang="en-GB" i="1" dirty="0" err="1"/>
              <a:t>Roos</a:t>
            </a:r>
            <a:endParaRPr lang="en-GB" i="1" dirty="0"/>
          </a:p>
        </p:txBody>
      </p:sp>
      <p:sp>
        <p:nvSpPr>
          <p:cNvPr id="3" name="Content Placeholder 2"/>
          <p:cNvSpPr>
            <a:spLocks noGrp="1"/>
          </p:cNvSpPr>
          <p:nvPr>
            <p:ph idx="1"/>
          </p:nvPr>
        </p:nvSpPr>
        <p:spPr/>
        <p:txBody>
          <a:bodyPr/>
          <a:lstStyle/>
          <a:p>
            <a:pPr>
              <a:buFont typeface="+mj-lt"/>
              <a:buAutoNum type="arabicPeriod"/>
            </a:pPr>
            <a:r>
              <a:rPr lang="en-GB" dirty="0">
                <a:latin typeface="+mj-lt"/>
              </a:rPr>
              <a:t>A restriction on the use of jet skis in Sweden</a:t>
            </a:r>
          </a:p>
          <a:p>
            <a:pPr>
              <a:buFont typeface="+mj-lt"/>
              <a:buAutoNum type="arabicPeriod"/>
            </a:pPr>
            <a:endParaRPr lang="en-GB" dirty="0">
              <a:latin typeface="+mj-lt"/>
            </a:endParaRPr>
          </a:p>
          <a:p>
            <a:pPr>
              <a:buFont typeface="+mj-lt"/>
              <a:buAutoNum type="arabicPeriod"/>
            </a:pPr>
            <a:r>
              <a:rPr lang="en-GB" dirty="0">
                <a:latin typeface="+mj-lt"/>
              </a:rPr>
              <a:t>Advocate General </a:t>
            </a:r>
            <a:r>
              <a:rPr lang="en-GB" dirty="0" err="1">
                <a:latin typeface="+mj-lt"/>
              </a:rPr>
              <a:t>Kokott</a:t>
            </a:r>
            <a:r>
              <a:rPr lang="en-GB" dirty="0">
                <a:latin typeface="+mj-lt"/>
              </a:rPr>
              <a:t> had argued that this rule should be assessed as a selling arrangement, but the Court did not follow her</a:t>
            </a:r>
          </a:p>
          <a:p>
            <a:pPr>
              <a:buFont typeface="+mj-lt"/>
              <a:buAutoNum type="arabicPeriod"/>
            </a:pPr>
            <a:endParaRPr lang="en-GB" dirty="0">
              <a:latin typeface="+mj-lt"/>
            </a:endParaRPr>
          </a:p>
          <a:p>
            <a:pPr>
              <a:buFont typeface="+mj-lt"/>
              <a:buAutoNum type="arabicPeriod"/>
            </a:pPr>
            <a:r>
              <a:rPr lang="en-GB" dirty="0">
                <a:latin typeface="+mj-lt"/>
              </a:rPr>
              <a:t>National rules that have the effect of “preventing users from using a product for the specific and inherent purposes for which they were intended” or that “greatly restrict the use” of a product, hinder the access to the market of imported products and constitute an MEE</a:t>
            </a:r>
          </a:p>
          <a:p>
            <a:pPr>
              <a:buFont typeface="+mj-lt"/>
              <a:buAutoNum type="arabicPeriod"/>
            </a:pPr>
            <a:endParaRPr lang="en-GB" dirty="0">
              <a:latin typeface="+mj-lt"/>
            </a:endParaRPr>
          </a:p>
          <a:p>
            <a:pPr>
              <a:buFont typeface="+mj-lt"/>
              <a:buAutoNum type="arabicPeriod"/>
            </a:pPr>
            <a:r>
              <a:rPr lang="en-GB" dirty="0">
                <a:latin typeface="+mj-lt"/>
              </a:rPr>
              <a:t>As such, the Court has introduced a separate test for restrictions on use: measures which </a:t>
            </a:r>
            <a:r>
              <a:rPr lang="en-GB" b="1" dirty="0">
                <a:latin typeface="+mj-lt"/>
              </a:rPr>
              <a:t>prevent</a:t>
            </a:r>
            <a:r>
              <a:rPr lang="en-GB" dirty="0">
                <a:latin typeface="+mj-lt"/>
              </a:rPr>
              <a:t> or </a:t>
            </a:r>
            <a:r>
              <a:rPr lang="en-GB" b="1" dirty="0">
                <a:latin typeface="+mj-lt"/>
              </a:rPr>
              <a:t>greatly restrict the use </a:t>
            </a:r>
            <a:r>
              <a:rPr lang="en-GB" dirty="0">
                <a:latin typeface="+mj-lt"/>
              </a:rPr>
              <a:t>of a product are MEEs </a:t>
            </a:r>
          </a:p>
        </p:txBody>
      </p:sp>
    </p:spTree>
    <p:extLst>
      <p:ext uri="{BB962C8B-B14F-4D97-AF65-F5344CB8AC3E}">
        <p14:creationId xmlns:p14="http://schemas.microsoft.com/office/powerpoint/2010/main" val="947043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5354"/>
            <a:ext cx="7772400" cy="1143000"/>
          </a:xfrm>
        </p:spPr>
        <p:txBody>
          <a:bodyPr/>
          <a:lstStyle/>
          <a:p>
            <a:r>
              <a:rPr lang="en-GB" dirty="0"/>
              <a:t>Categorisation after the use cases</a:t>
            </a:r>
          </a:p>
        </p:txBody>
      </p:sp>
      <p:sp>
        <p:nvSpPr>
          <p:cNvPr id="3" name="Content Placeholder 2"/>
          <p:cNvSpPr>
            <a:spLocks noGrp="1"/>
          </p:cNvSpPr>
          <p:nvPr>
            <p:ph idx="1"/>
          </p:nvPr>
        </p:nvSpPr>
        <p:spPr>
          <a:xfrm>
            <a:off x="683568" y="908720"/>
            <a:ext cx="7772400" cy="3816350"/>
          </a:xfrm>
        </p:spPr>
        <p:txBody>
          <a:bodyPr/>
          <a:lstStyle/>
          <a:p>
            <a:pPr>
              <a:buFont typeface="+mj-lt"/>
              <a:buAutoNum type="arabicPeriod"/>
            </a:pPr>
            <a:r>
              <a:rPr lang="en-GB" dirty="0">
                <a:latin typeface="+mj-lt"/>
              </a:rPr>
              <a:t>After </a:t>
            </a:r>
            <a:r>
              <a:rPr lang="en-GB" i="1" dirty="0">
                <a:latin typeface="+mj-lt"/>
              </a:rPr>
              <a:t>Commission v Italy </a:t>
            </a:r>
            <a:r>
              <a:rPr lang="en-GB" dirty="0">
                <a:latin typeface="+mj-lt"/>
              </a:rPr>
              <a:t>and </a:t>
            </a:r>
            <a:r>
              <a:rPr lang="en-GB" i="1" dirty="0" err="1">
                <a:latin typeface="+mj-lt"/>
              </a:rPr>
              <a:t>Mickelsson</a:t>
            </a:r>
            <a:r>
              <a:rPr lang="en-GB" i="1" dirty="0">
                <a:latin typeface="+mj-lt"/>
              </a:rPr>
              <a:t> and </a:t>
            </a:r>
            <a:r>
              <a:rPr lang="en-GB" i="1" dirty="0" err="1">
                <a:latin typeface="+mj-lt"/>
              </a:rPr>
              <a:t>Roos</a:t>
            </a:r>
            <a:r>
              <a:rPr lang="en-GB" dirty="0">
                <a:latin typeface="+mj-lt"/>
              </a:rPr>
              <a:t>, it would appear that there are now four different types of national rules under Article 34 TFEU. There are different tests for each of these types.</a:t>
            </a:r>
          </a:p>
          <a:p>
            <a:pPr>
              <a:buFont typeface="+mj-lt"/>
              <a:buAutoNum type="arabicPeriod"/>
            </a:pPr>
            <a:endParaRPr lang="en-GB" dirty="0">
              <a:latin typeface="+mj-lt"/>
            </a:endParaRPr>
          </a:p>
          <a:p>
            <a:pPr marL="1257300" lvl="2" indent="-342900">
              <a:buFont typeface="+mj-lt"/>
              <a:buAutoNum type="alphaLcPeriod"/>
            </a:pPr>
            <a:r>
              <a:rPr lang="en-GB" sz="1800" dirty="0">
                <a:latin typeface="+mj-lt"/>
              </a:rPr>
              <a:t>Product requirements: always an MEE</a:t>
            </a:r>
          </a:p>
          <a:p>
            <a:pPr marL="1257300" lvl="2" indent="-342900">
              <a:buFont typeface="+mj-lt"/>
              <a:buAutoNum type="alphaLcPeriod"/>
            </a:pPr>
            <a:r>
              <a:rPr lang="en-GB" sz="1800" dirty="0">
                <a:latin typeface="+mj-lt"/>
              </a:rPr>
              <a:t>Selling arrangements: the </a:t>
            </a:r>
            <a:r>
              <a:rPr lang="en-GB" sz="1800" i="1" dirty="0">
                <a:latin typeface="+mj-lt"/>
              </a:rPr>
              <a:t>Keck</a:t>
            </a:r>
            <a:r>
              <a:rPr lang="en-GB" sz="1800" dirty="0">
                <a:latin typeface="+mj-lt"/>
              </a:rPr>
              <a:t> provisos</a:t>
            </a:r>
          </a:p>
          <a:p>
            <a:pPr marL="1257300" lvl="2" indent="-342900">
              <a:buFont typeface="+mj-lt"/>
              <a:buAutoNum type="alphaLcPeriod"/>
            </a:pPr>
            <a:r>
              <a:rPr lang="en-GB" sz="1800" dirty="0">
                <a:latin typeface="+mj-lt"/>
              </a:rPr>
              <a:t>Restrictions on use: do they “prevent or greatly restrict the use”?</a:t>
            </a:r>
          </a:p>
          <a:p>
            <a:pPr marL="1257300" lvl="2" indent="-342900">
              <a:buFont typeface="+mj-lt"/>
              <a:buAutoNum type="alphaLcPeriod"/>
            </a:pPr>
            <a:r>
              <a:rPr lang="en-GB" sz="1800" dirty="0">
                <a:latin typeface="+mj-lt"/>
              </a:rPr>
              <a:t>All other types: the general </a:t>
            </a:r>
            <a:r>
              <a:rPr lang="en-GB" sz="1800" i="1" dirty="0" err="1">
                <a:latin typeface="+mj-lt"/>
              </a:rPr>
              <a:t>Dassonville</a:t>
            </a:r>
            <a:r>
              <a:rPr lang="en-GB" sz="1800" dirty="0">
                <a:latin typeface="+mj-lt"/>
              </a:rPr>
              <a:t> test</a:t>
            </a:r>
          </a:p>
          <a:p>
            <a:pPr marL="1257300" lvl="2" indent="-342900">
              <a:buFont typeface="+mj-lt"/>
              <a:buAutoNum type="alphaLcPeriod"/>
            </a:pPr>
            <a:endParaRPr lang="en-GB" sz="1800" dirty="0">
              <a:latin typeface="+mj-lt"/>
            </a:endParaRPr>
          </a:p>
          <a:p>
            <a:pPr marL="457200">
              <a:buFont typeface="+mj-lt"/>
              <a:buAutoNum type="arabicPeriod"/>
            </a:pPr>
            <a:r>
              <a:rPr lang="en-GB" dirty="0">
                <a:latin typeface="+mj-lt"/>
              </a:rPr>
              <a:t>As a result, the classification of the national measure still to an important extent determines the way in which the Court will assess the measure</a:t>
            </a:r>
          </a:p>
          <a:p>
            <a:pPr marL="457200">
              <a:buFont typeface="+mj-lt"/>
              <a:buAutoNum type="arabicPeriod"/>
            </a:pPr>
            <a:endParaRPr lang="en-GB" dirty="0">
              <a:latin typeface="+mj-lt"/>
            </a:endParaRPr>
          </a:p>
          <a:p>
            <a:pPr marL="457200">
              <a:buFont typeface="+mj-lt"/>
              <a:buAutoNum type="arabicPeriod"/>
            </a:pPr>
            <a:r>
              <a:rPr lang="en-GB" dirty="0">
                <a:latin typeface="+mj-lt"/>
              </a:rPr>
              <a:t>This emphasis on the </a:t>
            </a:r>
            <a:r>
              <a:rPr lang="en-GB" i="1" dirty="0">
                <a:latin typeface="+mj-lt"/>
              </a:rPr>
              <a:t>type</a:t>
            </a:r>
            <a:r>
              <a:rPr lang="en-GB" dirty="0">
                <a:latin typeface="+mj-lt"/>
              </a:rPr>
              <a:t> of measure was criticised by Advocate General Jacobs in Case C-412/93, </a:t>
            </a:r>
            <a:r>
              <a:rPr lang="en-GB" i="1" dirty="0">
                <a:latin typeface="+mj-lt"/>
              </a:rPr>
              <a:t>Leclerc-</a:t>
            </a:r>
            <a:r>
              <a:rPr lang="en-GB" i="1" dirty="0" err="1">
                <a:latin typeface="+mj-lt"/>
              </a:rPr>
              <a:t>Siplec</a:t>
            </a:r>
            <a:r>
              <a:rPr lang="en-GB" dirty="0">
                <a:latin typeface="+mj-lt"/>
              </a:rPr>
              <a:t>. He argued that the focus should be on whether a </a:t>
            </a:r>
            <a:r>
              <a:rPr lang="en-GB">
                <a:latin typeface="+mj-lt"/>
              </a:rPr>
              <a:t>measure “substantially </a:t>
            </a:r>
            <a:r>
              <a:rPr lang="en-GB" dirty="0">
                <a:latin typeface="+mj-lt"/>
              </a:rPr>
              <a:t>restricts access to </a:t>
            </a:r>
            <a:r>
              <a:rPr lang="en-GB">
                <a:latin typeface="+mj-lt"/>
              </a:rPr>
              <a:t>the market” </a:t>
            </a:r>
            <a:r>
              <a:rPr lang="en-GB" dirty="0">
                <a:latin typeface="+mj-lt"/>
              </a:rPr>
              <a:t>for foreign products.</a:t>
            </a:r>
          </a:p>
          <a:p>
            <a:pPr marL="457200">
              <a:buFont typeface="+mj-lt"/>
              <a:buAutoNum type="arabicPeriod"/>
            </a:pPr>
            <a:endParaRPr lang="en-GB" dirty="0">
              <a:latin typeface="+mj-lt"/>
            </a:endParaRPr>
          </a:p>
          <a:p>
            <a:pPr marL="114300" indent="0"/>
            <a:endParaRPr lang="en-GB" dirty="0">
              <a:latin typeface="+mj-lt"/>
            </a:endParaRPr>
          </a:p>
        </p:txBody>
      </p:sp>
    </p:spTree>
    <p:extLst>
      <p:ext uri="{BB962C8B-B14F-4D97-AF65-F5344CB8AC3E}">
        <p14:creationId xmlns:p14="http://schemas.microsoft.com/office/powerpoint/2010/main" val="484400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Categorisation and complication</a:t>
            </a:r>
          </a:p>
        </p:txBody>
      </p:sp>
      <p:sp>
        <p:nvSpPr>
          <p:cNvPr id="3" name="Content Placeholder 2"/>
          <p:cNvSpPr>
            <a:spLocks noGrp="1"/>
          </p:cNvSpPr>
          <p:nvPr>
            <p:ph idx="1"/>
          </p:nvPr>
        </p:nvSpPr>
        <p:spPr/>
        <p:txBody>
          <a:bodyPr/>
          <a:lstStyle/>
          <a:p>
            <a:pPr>
              <a:buFont typeface="+mj-lt"/>
              <a:buAutoNum type="arabicPeriod"/>
            </a:pPr>
            <a:r>
              <a:rPr lang="en-GB" dirty="0">
                <a:latin typeface="+mj-lt"/>
              </a:rPr>
              <a:t>Case C-333/14, </a:t>
            </a:r>
            <a:r>
              <a:rPr lang="en-GB" i="1">
                <a:latin typeface="+mj-lt"/>
              </a:rPr>
              <a:t>Scotch Whisky</a:t>
            </a:r>
            <a:endParaRPr lang="en-GB" i="1" dirty="0">
              <a:latin typeface="+mj-lt"/>
            </a:endParaRPr>
          </a:p>
          <a:p>
            <a:pPr>
              <a:buFont typeface="+mj-lt"/>
              <a:buAutoNum type="arabicPeriod"/>
            </a:pPr>
            <a:endParaRPr lang="en-GB" i="1" dirty="0">
              <a:latin typeface="+mj-lt"/>
            </a:endParaRPr>
          </a:p>
          <a:p>
            <a:pPr>
              <a:buFont typeface="+mj-lt"/>
              <a:buAutoNum type="arabicPeriod"/>
            </a:pPr>
            <a:r>
              <a:rPr lang="en-GB" dirty="0">
                <a:latin typeface="+mj-lt"/>
              </a:rPr>
              <a:t>The Scottish Ministers introduced a so-called minimum price per unit (MPU) for alcoholic products:</a:t>
            </a:r>
          </a:p>
          <a:p>
            <a:pPr>
              <a:buFont typeface="+mj-lt"/>
              <a:buAutoNum type="arabicPeriod"/>
            </a:pPr>
            <a:endParaRPr lang="en-GB" dirty="0">
              <a:latin typeface="+mj-lt"/>
            </a:endParaRPr>
          </a:p>
          <a:p>
            <a:pPr marL="0" indent="0"/>
            <a:r>
              <a:rPr lang="en-GB" i="1" dirty="0">
                <a:latin typeface="+mj-lt"/>
              </a:rPr>
              <a:t>According to that order, the MPU is to be fixed at pounds sterling (GBP) 0.50 (approximately EUR 0.70). The minimum sale price of a product is thereafter determined by applying the following formula: MPU x S x V x 100, where ‘MPU’ designates the minimum price per unit of alcohol, ‘S’ designates the strength of the alcohol and ‘V’ designates the volume of alcohol in litres</a:t>
            </a:r>
          </a:p>
          <a:p>
            <a:pPr>
              <a:buFont typeface="+mj-lt"/>
              <a:buAutoNum type="arabicPeriod"/>
            </a:pPr>
            <a:endParaRPr lang="en-GB" i="1" dirty="0">
              <a:latin typeface="+mj-lt"/>
            </a:endParaRPr>
          </a:p>
          <a:p>
            <a:pPr marL="0" indent="0"/>
            <a:r>
              <a:rPr lang="en-GB" dirty="0">
                <a:latin typeface="+mj-lt"/>
              </a:rPr>
              <a:t>How would you assess whether this rule constitutes a restriction of Article 34 TFEU?</a:t>
            </a:r>
          </a:p>
        </p:txBody>
      </p:sp>
    </p:spTree>
    <p:extLst>
      <p:ext uri="{BB962C8B-B14F-4D97-AF65-F5344CB8AC3E}">
        <p14:creationId xmlns:p14="http://schemas.microsoft.com/office/powerpoint/2010/main" val="3241955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24744"/>
            <a:ext cx="7772400" cy="3816350"/>
          </a:xfrm>
        </p:spPr>
        <p:txBody>
          <a:bodyPr/>
          <a:lstStyle/>
          <a:p>
            <a:r>
              <a:rPr lang="en-GB" i="1" dirty="0">
                <a:latin typeface="+mj-lt"/>
              </a:rPr>
              <a:t>31</a:t>
            </a:r>
            <a:r>
              <a:rPr lang="en-GB" dirty="0"/>
              <a:t>      </a:t>
            </a:r>
            <a:r>
              <a:rPr lang="en-GB" i="1" dirty="0">
                <a:latin typeface="+mj-lt"/>
              </a:rPr>
              <a:t>First, it must be observed that, in accordance with settled case-law, all measures of a Member State which are capable of hindering, directly or indirectly, actually or potentially, trade within the European Union are to be considered as measures having an effect equivalent to quantitative restrictions within the meaning of Article 34 TFEU.</a:t>
            </a:r>
          </a:p>
          <a:p>
            <a:endParaRPr lang="en-GB" i="1" dirty="0">
              <a:latin typeface="+mj-lt"/>
            </a:endParaRPr>
          </a:p>
          <a:p>
            <a:r>
              <a:rPr lang="en-GB" i="1" dirty="0">
                <a:latin typeface="+mj-lt"/>
              </a:rPr>
              <a:t>32      As the Advocate General stated in points 59 and 60 of his Opinion, the fact that the legislation at issue in the main proceedings prevents the lower cost price of imported products being reflected in the selling price to the consumer means, by itself, that that legislation is capable of hindering the access to the United Kingdom market of alcoholic drinks that are lawfully marketed in Member States other than the United Kingdom of Great Britain and Northern Ireland, and constitutes therefore a measure having an effect equivalent to a quantitative restriction within the meaning of Article 34 TFEU, as is, it may be said, not disputed by either the referring court or any of the parties who have submitted observations in this case.</a:t>
            </a:r>
          </a:p>
          <a:p>
            <a:endParaRPr lang="en-GB" dirty="0"/>
          </a:p>
        </p:txBody>
      </p:sp>
    </p:spTree>
    <p:extLst>
      <p:ext uri="{BB962C8B-B14F-4D97-AF65-F5344CB8AC3E}">
        <p14:creationId xmlns:p14="http://schemas.microsoft.com/office/powerpoint/2010/main" val="3353566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Categorisation and complication</a:t>
            </a:r>
          </a:p>
        </p:txBody>
      </p:sp>
      <p:sp>
        <p:nvSpPr>
          <p:cNvPr id="3" name="Content Placeholder 2"/>
          <p:cNvSpPr>
            <a:spLocks noGrp="1"/>
          </p:cNvSpPr>
          <p:nvPr>
            <p:ph idx="1"/>
          </p:nvPr>
        </p:nvSpPr>
        <p:spPr/>
        <p:txBody>
          <a:bodyPr/>
          <a:lstStyle/>
          <a:p>
            <a:pPr>
              <a:buFont typeface="+mj-lt"/>
              <a:buAutoNum type="arabicPeriod"/>
            </a:pPr>
            <a:r>
              <a:rPr lang="en-GB" dirty="0">
                <a:latin typeface="+mj-lt"/>
              </a:rPr>
              <a:t>Case C-148/15, </a:t>
            </a:r>
            <a:r>
              <a:rPr lang="en-GB" i="1" dirty="0">
                <a:latin typeface="+mj-lt"/>
              </a:rPr>
              <a:t>Deutsche Parkinson </a:t>
            </a:r>
            <a:r>
              <a:rPr lang="en-GB" i="1" dirty="0" err="1">
                <a:latin typeface="+mj-lt"/>
              </a:rPr>
              <a:t>Vereinigung</a:t>
            </a:r>
            <a:endParaRPr lang="en-GB" i="1" dirty="0">
              <a:latin typeface="+mj-lt"/>
            </a:endParaRPr>
          </a:p>
          <a:p>
            <a:pPr>
              <a:buFont typeface="+mj-lt"/>
              <a:buAutoNum type="arabicPeriod"/>
            </a:pPr>
            <a:endParaRPr lang="en-GB" dirty="0">
              <a:latin typeface="+mj-lt"/>
            </a:endParaRPr>
          </a:p>
          <a:p>
            <a:pPr>
              <a:buFont typeface="+mj-lt"/>
              <a:buAutoNum type="arabicPeriod"/>
            </a:pPr>
            <a:r>
              <a:rPr lang="en-GB" dirty="0">
                <a:latin typeface="+mj-lt"/>
              </a:rPr>
              <a:t>German legislation provided that prescription-only medication could only be sold at a fixed price, which would be determined by the German Ministry for Economics </a:t>
            </a:r>
          </a:p>
          <a:p>
            <a:pPr>
              <a:buFont typeface="+mj-lt"/>
              <a:buAutoNum type="arabicPeriod"/>
            </a:pPr>
            <a:endParaRPr lang="en-GB" dirty="0">
              <a:latin typeface="+mj-lt"/>
            </a:endParaRPr>
          </a:p>
          <a:p>
            <a:pPr marL="0" indent="0"/>
            <a:r>
              <a:rPr lang="en-GB" dirty="0">
                <a:latin typeface="+mj-lt"/>
              </a:rPr>
              <a:t>How would you assess whether this fixed-price rule constitutes a restriction of Article 34 TFEU?</a:t>
            </a:r>
          </a:p>
        </p:txBody>
      </p:sp>
    </p:spTree>
    <p:extLst>
      <p:ext uri="{BB962C8B-B14F-4D97-AF65-F5344CB8AC3E}">
        <p14:creationId xmlns:p14="http://schemas.microsoft.com/office/powerpoint/2010/main" val="4261303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568" y="260648"/>
            <a:ext cx="7772400" cy="3816350"/>
          </a:xfrm>
        </p:spPr>
        <p:txBody>
          <a:bodyPr/>
          <a:lstStyle/>
          <a:p>
            <a:r>
              <a:rPr lang="en-GB" i="1" dirty="0">
                <a:latin typeface="+mj-lt"/>
              </a:rPr>
              <a:t>22</a:t>
            </a:r>
            <a:r>
              <a:rPr lang="en-GB" dirty="0"/>
              <a:t>      </a:t>
            </a:r>
            <a:r>
              <a:rPr lang="en-GB" i="1" dirty="0">
                <a:latin typeface="+mj-lt"/>
              </a:rPr>
              <a:t>In that regard, it must be borne in mind that the Court has consistently held that the prohibition, laid down in Article 34 TFEU, of measures having equivalent effect to quantitative restrictions covers any measure of the Member States that is capable of hindering, directly or indirectly, actually or potentially, imports between Member States.</a:t>
            </a:r>
          </a:p>
          <a:p>
            <a:r>
              <a:rPr lang="en-GB" i="1" dirty="0">
                <a:latin typeface="+mj-lt"/>
              </a:rPr>
              <a:t>23      The Court has also held, in relation to a prohibition under German law of mail-order sales of medicinal products the sale of which is, in the Member State concerned, restricted to pharmacies, that such a prohibition is more of an obstacle to pharmacies outside Germany than to those within Germany. Although there is little doubt that, as a result of the prohibition, pharmacies in Germany cannot use an extra or alternative method of gaining access to the German market consisting of end consumers of medicinal products, they are nonetheless able to sell the products in their dispensaries. By contrast, for pharmacies not established in Germany, the internet provides a more significant way by which to gain direct access to the German market. A prohibition which has a greater impact on pharmacies established outside German territory could impede access to the market for products from other Member States more than it impedes access for domestic products, and therefore constitutes a measure having equivalent effect to a quantitative restriction within the meaning of Article 34 TFEU.</a:t>
            </a:r>
          </a:p>
        </p:txBody>
      </p:sp>
    </p:spTree>
    <p:extLst>
      <p:ext uri="{BB962C8B-B14F-4D97-AF65-F5344CB8AC3E}">
        <p14:creationId xmlns:p14="http://schemas.microsoft.com/office/powerpoint/2010/main" val="3171125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755576" y="188640"/>
            <a:ext cx="7772400" cy="3816350"/>
          </a:xfrm>
        </p:spPr>
        <p:txBody>
          <a:bodyPr/>
          <a:lstStyle/>
          <a:p>
            <a:r>
              <a:rPr lang="en-GB" i="1" dirty="0">
                <a:latin typeface="+mj-lt"/>
              </a:rPr>
              <a:t>24      In the present case, it must be found that, as the ZBUW and the German and Swedish Governments have each noted, traditional pharmacies are, in principle, better placed than mail-order pharmacies to provide patients with individually-tailored advice given by the staff of the dispensary and to ensure a supply of medicinal products in cases of emergency. In so far as mail-order pharmacies cannot, given the limited services that they offer, adequately replace such services, it must be held that price competition is capable of providing a more important factor of competition for mail-order pharmacies than for traditional pharmacies, since price competition lays the basis for their potential to access the German market directly and to continue to be competitive in it.</a:t>
            </a:r>
          </a:p>
          <a:p>
            <a:r>
              <a:rPr lang="en-GB" i="1" dirty="0">
                <a:latin typeface="+mj-lt"/>
              </a:rPr>
              <a:t>25      Consequently, and in so far as sales by mail order constitute a more important means of accessing the German market directly for pharmacies established in Member States other than Germany, if not, given the particular characteristics of the German market evidenced in the documents in the case file submitted to the Court, potentially the only means of accessing that market directly, the national legislation at issue in the main proceedings does not affect the sale of national medicinal products in the same way as it affects the sale of medicinal products originating in other Member States.</a:t>
            </a:r>
          </a:p>
          <a:p>
            <a:endParaRPr lang="en-GB" dirty="0"/>
          </a:p>
        </p:txBody>
      </p:sp>
    </p:spTree>
    <p:extLst>
      <p:ext uri="{BB962C8B-B14F-4D97-AF65-F5344CB8AC3E}">
        <p14:creationId xmlns:p14="http://schemas.microsoft.com/office/powerpoint/2010/main" val="306695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683568" y="908720"/>
            <a:ext cx="7772400" cy="3816350"/>
          </a:xfrm>
        </p:spPr>
        <p:txBody>
          <a:bodyPr/>
          <a:lstStyle/>
          <a:p>
            <a:r>
              <a:rPr lang="en-GB" i="1" dirty="0">
                <a:latin typeface="+mj-lt"/>
              </a:rPr>
              <a:t>26      In the light of the foregoing, it must be held that a system of fixed sales prices, such as that laid down in the German legislation, has a greater impact on pharmacies established in a Member State other than the Federal Republic of Germany than on those which are established within German territory, a fact which could impede market access for products from other Member States more than it impedes such access for domestic products.</a:t>
            </a:r>
          </a:p>
          <a:p>
            <a:endParaRPr lang="en-GB" i="1" dirty="0">
              <a:latin typeface="+mj-lt"/>
            </a:endParaRPr>
          </a:p>
          <a:p>
            <a:r>
              <a:rPr lang="en-GB" i="1" dirty="0">
                <a:latin typeface="+mj-lt"/>
              </a:rPr>
              <a:t>27      Consequently, the answer to the first question is that Article 34 TFEU must be interpreted as meaning that national legislation, such as that at issue in the main proceedings, which provides for a system of fixed prices for the sale by pharmacies of prescription-only medicinal products for human use, constitutes a measure having equivalent effect to a quantitative restriction on imports, within the meaning of that article, since that legislation has a greater impact on the sale of prescription-only medicinal products by pharmacies established in other Member States than on the sale of the same medicinal products by pharmacies established within the national territory.</a:t>
            </a:r>
          </a:p>
          <a:p>
            <a:endParaRPr lang="en-GB" dirty="0"/>
          </a:p>
        </p:txBody>
      </p:sp>
    </p:spTree>
    <p:extLst>
      <p:ext uri="{BB962C8B-B14F-4D97-AF65-F5344CB8AC3E}">
        <p14:creationId xmlns:p14="http://schemas.microsoft.com/office/powerpoint/2010/main" val="1374113843"/>
      </p:ext>
    </p:extLst>
  </p:cSld>
  <p:clrMapOvr>
    <a:masterClrMapping/>
  </p:clrMapOvr>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1480</TotalTime>
  <Words>2633</Words>
  <Application>Microsoft Macintosh PowerPoint</Application>
  <PresentationFormat>On-screen Show (4:3)</PresentationFormat>
  <Paragraphs>159</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Times</vt:lpstr>
      <vt:lpstr>Blank</vt:lpstr>
      <vt:lpstr>EU Internal Market 2024-2025</vt:lpstr>
      <vt:lpstr>The structure of lectures 4-5</vt:lpstr>
      <vt:lpstr>Article 34 TFEU</vt:lpstr>
      <vt:lpstr>The scope of application of Article 34 TFEU</vt:lpstr>
      <vt:lpstr>The direct effect of Article 34 TFEU</vt:lpstr>
      <vt:lpstr>The direct effect of Article 34 TFEU</vt:lpstr>
      <vt:lpstr>Dassonville</vt:lpstr>
      <vt:lpstr>Cassis de Dijon</vt:lpstr>
      <vt:lpstr>Different types of MEEs</vt:lpstr>
      <vt:lpstr>The road to Keck</vt:lpstr>
      <vt:lpstr>Keck and “certain selling arrangements”</vt:lpstr>
      <vt:lpstr>Keck and “certain selling arrangements”</vt:lpstr>
      <vt:lpstr>What are selling arrangements?</vt:lpstr>
      <vt:lpstr>The application of the Keck provisos</vt:lpstr>
      <vt:lpstr>The road after Keck</vt:lpstr>
      <vt:lpstr>Mickelsson and Roos</vt:lpstr>
      <vt:lpstr>Categorisation after the use cases</vt:lpstr>
      <vt:lpstr>Categorisation and complication</vt:lpstr>
      <vt:lpstr>PowerPoint Presentation</vt:lpstr>
      <vt:lpstr>Categorisation and complication</vt:lpstr>
      <vt:lpstr>PowerPoint Presentation</vt:lpstr>
      <vt:lpstr>PowerPoint Presentation</vt:lpstr>
      <vt:lpstr>PowerPoint Presentation</vt:lpstr>
    </vt:vector>
  </TitlesOfParts>
  <Company>MUFC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style for title slide</dc:title>
  <dc:creator>Eric</dc:creator>
  <cp:lastModifiedBy>GEORGIOU, ANDREAS</cp:lastModifiedBy>
  <cp:revision>80</cp:revision>
  <dcterms:created xsi:type="dcterms:W3CDTF">2005-05-25T16:21:13Z</dcterms:created>
  <dcterms:modified xsi:type="dcterms:W3CDTF">2024-10-07T12:17:57Z</dcterms:modified>
</cp:coreProperties>
</file>