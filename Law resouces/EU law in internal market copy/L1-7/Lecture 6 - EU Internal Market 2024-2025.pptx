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6"/>
  </p:notesMasterIdLst>
  <p:sldIdLst>
    <p:sldId id="274" r:id="rId2"/>
    <p:sldId id="278" r:id="rId3"/>
    <p:sldId id="279" r:id="rId4"/>
    <p:sldId id="280" r:id="rId5"/>
    <p:sldId id="281" r:id="rId6"/>
    <p:sldId id="282" r:id="rId7"/>
    <p:sldId id="283" r:id="rId8"/>
    <p:sldId id="284" r:id="rId9"/>
    <p:sldId id="285" r:id="rId10"/>
    <p:sldId id="286" r:id="rId11"/>
    <p:sldId id="287" r:id="rId12"/>
    <p:sldId id="288" r:id="rId13"/>
    <p:sldId id="289" r:id="rId14"/>
    <p:sldId id="290" r:id="rId15"/>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37"/>
  </p:normalViewPr>
  <p:slideViewPr>
    <p:cSldViewPr>
      <p:cViewPr varScale="1">
        <p:scale>
          <a:sx n="103" d="100"/>
          <a:sy n="103" d="100"/>
        </p:scale>
        <p:origin x="1880"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22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DD96B72-7B78-4AF6-9E2A-ACF0D6FF500F}" type="slidenum">
              <a:rPr lang="en-GB"/>
              <a:pPr>
                <a:defRPr/>
              </a:pPr>
              <a:t>‹#›</a:t>
            </a:fld>
            <a:endParaRPr lang="en-GB"/>
          </a:p>
        </p:txBody>
      </p:sp>
    </p:spTree>
    <p:extLst>
      <p:ext uri="{BB962C8B-B14F-4D97-AF65-F5344CB8AC3E}">
        <p14:creationId xmlns:p14="http://schemas.microsoft.com/office/powerpoint/2010/main" val="10520831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0FDA4C3F-C7EA-4ACD-A688-00B8AB745967}" type="slidenum">
              <a:rPr lang="en-GB"/>
              <a:pPr>
                <a:defRPr/>
              </a:pPr>
              <a:t>‹#›</a:t>
            </a:fld>
            <a:endParaRPr lang="en-GB"/>
          </a:p>
        </p:txBody>
      </p:sp>
    </p:spTree>
    <p:extLst>
      <p:ext uri="{BB962C8B-B14F-4D97-AF65-F5344CB8AC3E}">
        <p14:creationId xmlns:p14="http://schemas.microsoft.com/office/powerpoint/2010/main" val="41699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7EBEF36-167C-4C49-8BEC-492A52FB25B2}" type="slidenum">
              <a:rPr lang="en-GB"/>
              <a:pPr>
                <a:defRPr/>
              </a:pPr>
              <a:t>‹#›</a:t>
            </a:fld>
            <a:endParaRPr lang="en-GB"/>
          </a:p>
        </p:txBody>
      </p:sp>
    </p:spTree>
    <p:extLst>
      <p:ext uri="{BB962C8B-B14F-4D97-AF65-F5344CB8AC3E}">
        <p14:creationId xmlns:p14="http://schemas.microsoft.com/office/powerpoint/2010/main" val="1441360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BCB25EF-8505-41EF-9FA9-7086DB9CD6D2}" type="slidenum">
              <a:rPr lang="en-GB"/>
              <a:pPr>
                <a:defRPr/>
              </a:pPr>
              <a:t>‹#›</a:t>
            </a:fld>
            <a:endParaRPr lang="en-GB"/>
          </a:p>
        </p:txBody>
      </p:sp>
    </p:spTree>
    <p:extLst>
      <p:ext uri="{BB962C8B-B14F-4D97-AF65-F5344CB8AC3E}">
        <p14:creationId xmlns:p14="http://schemas.microsoft.com/office/powerpoint/2010/main" val="4286413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8592C22-D07F-40BC-BDA1-A66BDD0B51CF}" type="slidenum">
              <a:rPr lang="en-GB"/>
              <a:pPr>
                <a:defRPr/>
              </a:pPr>
              <a:t>‹#›</a:t>
            </a:fld>
            <a:endParaRPr lang="en-GB"/>
          </a:p>
        </p:txBody>
      </p:sp>
    </p:spTree>
    <p:extLst>
      <p:ext uri="{BB962C8B-B14F-4D97-AF65-F5344CB8AC3E}">
        <p14:creationId xmlns:p14="http://schemas.microsoft.com/office/powerpoint/2010/main" val="1544299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86D9969B-DFAC-45A2-A97A-3A45D334CBFF}" type="slidenum">
              <a:rPr lang="en-GB"/>
              <a:pPr>
                <a:defRPr/>
              </a:pPr>
              <a:t>‹#›</a:t>
            </a:fld>
            <a:endParaRPr lang="en-GB"/>
          </a:p>
        </p:txBody>
      </p:sp>
    </p:spTree>
    <p:extLst>
      <p:ext uri="{BB962C8B-B14F-4D97-AF65-F5344CB8AC3E}">
        <p14:creationId xmlns:p14="http://schemas.microsoft.com/office/powerpoint/2010/main" val="531516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F3108585-A115-42BE-AB24-3F9E13C77FD2}" type="slidenum">
              <a:rPr lang="en-GB"/>
              <a:pPr>
                <a:defRPr/>
              </a:pPr>
              <a:t>‹#›</a:t>
            </a:fld>
            <a:endParaRPr lang="en-GB"/>
          </a:p>
        </p:txBody>
      </p:sp>
    </p:spTree>
    <p:extLst>
      <p:ext uri="{BB962C8B-B14F-4D97-AF65-F5344CB8AC3E}">
        <p14:creationId xmlns:p14="http://schemas.microsoft.com/office/powerpoint/2010/main" val="1987296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6B4418-570D-4619-8178-AA43F1EEE12D}" type="slidenum">
              <a:rPr lang="en-GB"/>
              <a:pPr>
                <a:defRPr/>
              </a:pPr>
              <a:t>‹#›</a:t>
            </a:fld>
            <a:endParaRPr lang="en-GB"/>
          </a:p>
        </p:txBody>
      </p:sp>
    </p:spTree>
    <p:extLst>
      <p:ext uri="{BB962C8B-B14F-4D97-AF65-F5344CB8AC3E}">
        <p14:creationId xmlns:p14="http://schemas.microsoft.com/office/powerpoint/2010/main" val="1061319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6F14CDFD-3AD0-42DF-91C7-33373E0E8DF9}" type="slidenum">
              <a:rPr lang="en-GB"/>
              <a:pPr>
                <a:defRPr/>
              </a:pPr>
              <a:t>‹#›</a:t>
            </a:fld>
            <a:endParaRPr lang="en-GB"/>
          </a:p>
        </p:txBody>
      </p:sp>
    </p:spTree>
    <p:extLst>
      <p:ext uri="{BB962C8B-B14F-4D97-AF65-F5344CB8AC3E}">
        <p14:creationId xmlns:p14="http://schemas.microsoft.com/office/powerpoint/2010/main" val="3129245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E909D50C-17A8-4EF5-9234-192251A318A5}" type="slidenum">
              <a:rPr lang="en-GB"/>
              <a:pPr>
                <a:defRPr/>
              </a:pPr>
              <a:t>‹#›</a:t>
            </a:fld>
            <a:endParaRPr lang="en-GB"/>
          </a:p>
        </p:txBody>
      </p:sp>
    </p:spTree>
    <p:extLst>
      <p:ext uri="{BB962C8B-B14F-4D97-AF65-F5344CB8AC3E}">
        <p14:creationId xmlns:p14="http://schemas.microsoft.com/office/powerpoint/2010/main" val="165023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1403C77-C923-4C93-BA88-C3252B5B2F1C}" type="slidenum">
              <a:rPr lang="en-GB"/>
              <a:pPr>
                <a:defRPr/>
              </a:pPr>
              <a:t>‹#›</a:t>
            </a:fld>
            <a:endParaRPr lang="en-GB"/>
          </a:p>
        </p:txBody>
      </p:sp>
    </p:spTree>
    <p:extLst>
      <p:ext uri="{BB962C8B-B14F-4D97-AF65-F5344CB8AC3E}">
        <p14:creationId xmlns:p14="http://schemas.microsoft.com/office/powerpoint/2010/main" val="1617176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10064F13-510B-4910-B11C-E04CB8484A3C}" type="slidenum">
              <a:rPr lang="en-GB"/>
              <a:pPr>
                <a:defRPr/>
              </a:pPr>
              <a:t>‹#›</a:t>
            </a:fld>
            <a:endParaRPr lang="en-GB"/>
          </a:p>
        </p:txBody>
      </p:sp>
    </p:spTree>
    <p:extLst>
      <p:ext uri="{BB962C8B-B14F-4D97-AF65-F5344CB8AC3E}">
        <p14:creationId xmlns:p14="http://schemas.microsoft.com/office/powerpoint/2010/main" val="335011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1A5A50F5-2650-4FA7-BA16-E4DBD2873D7C}" type="slidenum">
              <a:rPr lang="en-GB"/>
              <a:pPr>
                <a:defRPr/>
              </a:pPr>
              <a:t>‹#›</a:t>
            </a:fld>
            <a:endParaRPr lang="en-GB"/>
          </a:p>
        </p:txBody>
      </p:sp>
      <p:sp>
        <p:nvSpPr>
          <p:cNvPr id="1033" name="Rectangle 9"/>
          <p:cNvSpPr>
            <a:spLocks noChangeArrowheads="1"/>
          </p:cNvSpPr>
          <p:nvPr userDrawn="1"/>
        </p:nvSpPr>
        <p:spPr bwMode="auto">
          <a:xfrm>
            <a:off x="790575" y="611188"/>
            <a:ext cx="80248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1"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sz="quarter"/>
          </p:nvPr>
        </p:nvSpPr>
        <p:spPr/>
        <p:txBody>
          <a:bodyPr/>
          <a:lstStyle/>
          <a:p>
            <a:pPr eaLnBrk="1" hangingPunct="1"/>
            <a:r>
              <a:rPr lang="en-GB" altLang="en-US" dirty="0"/>
              <a:t>EU Internal </a:t>
            </a:r>
            <a:r>
              <a:rPr lang="en-GB" altLang="en-US"/>
              <a:t>Market 2024-2025</a:t>
            </a:r>
            <a:endParaRPr lang="en-GB" altLang="en-US" dirty="0"/>
          </a:p>
        </p:txBody>
      </p:sp>
      <p:sp>
        <p:nvSpPr>
          <p:cNvPr id="10243" name="Subtitle 2"/>
          <p:cNvSpPr>
            <a:spLocks noGrp="1"/>
          </p:cNvSpPr>
          <p:nvPr>
            <p:ph type="subTitle" sz="quarter" idx="1"/>
          </p:nvPr>
        </p:nvSpPr>
        <p:spPr/>
        <p:txBody>
          <a:bodyPr/>
          <a:lstStyle/>
          <a:p>
            <a:pPr eaLnBrk="1" hangingPunct="1">
              <a:lnSpc>
                <a:spcPct val="110000"/>
              </a:lnSpc>
              <a:spcBef>
                <a:spcPct val="0"/>
              </a:spcBef>
            </a:pPr>
            <a:r>
              <a:rPr lang="en-GB" altLang="en-US" dirty="0">
                <a:latin typeface="+mj-lt"/>
              </a:rPr>
              <a:t>Lecture 6: Justifications and proportionality</a:t>
            </a:r>
          </a:p>
          <a:p>
            <a:pPr eaLnBrk="1" hangingPunct="1">
              <a:lnSpc>
                <a:spcPct val="110000"/>
              </a:lnSpc>
              <a:spcBef>
                <a:spcPct val="0"/>
              </a:spcBef>
            </a:pPr>
            <a:endParaRPr lang="en-GB" altLang="en-US" dirty="0">
              <a:latin typeface="+mj-lt"/>
            </a:endParaRPr>
          </a:p>
          <a:p>
            <a:pPr eaLnBrk="1" hangingPunct="1">
              <a:lnSpc>
                <a:spcPct val="110000"/>
              </a:lnSpc>
              <a:spcBef>
                <a:spcPct val="0"/>
              </a:spcBef>
            </a:pPr>
            <a:r>
              <a:rPr lang="en-GB" altLang="en-US" dirty="0">
                <a:latin typeface="+mj-lt"/>
              </a:rPr>
              <a:t>Andreas Georgiou</a:t>
            </a:r>
          </a:p>
          <a:p>
            <a:pPr eaLnBrk="1" hangingPunct="1">
              <a:lnSpc>
                <a:spcPct val="110000"/>
              </a:lnSpc>
              <a:spcBef>
                <a:spcPct val="0"/>
              </a:spcBef>
            </a:pPr>
            <a:endParaRPr lang="en-GB" altLang="en-US" dirty="0">
              <a:latin typeface="+mj-lt"/>
            </a:endParaRPr>
          </a:p>
          <a:p>
            <a:pPr eaLnBrk="1" hangingPunct="1">
              <a:lnSpc>
                <a:spcPct val="110000"/>
              </a:lnSpc>
              <a:spcBef>
                <a:spcPct val="0"/>
              </a:spcBef>
            </a:pPr>
            <a:r>
              <a:rPr lang="en-GB" altLang="en-US" dirty="0" err="1">
                <a:latin typeface="+mj-lt"/>
              </a:rPr>
              <a:t>andreas.georgiou@durham.ac.uk</a:t>
            </a:r>
            <a:endParaRPr lang="en-GB" altLang="en-US" sz="2000" dirty="0">
              <a:solidFill>
                <a:srgbClr val="663366"/>
              </a:solidFill>
              <a:latin typeface="+mj-lt"/>
            </a:endParaRPr>
          </a:p>
          <a:p>
            <a:pPr eaLnBrk="1" hangingPunct="1"/>
            <a:endParaRPr lang="en-GB"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dirty="0"/>
              <a:t>The structure of lecture 6</a:t>
            </a:r>
          </a:p>
        </p:txBody>
      </p:sp>
      <p:sp>
        <p:nvSpPr>
          <p:cNvPr id="11267" name="Content Placeholder 2"/>
          <p:cNvSpPr>
            <a:spLocks noGrp="1"/>
          </p:cNvSpPr>
          <p:nvPr>
            <p:ph idx="1"/>
          </p:nvPr>
        </p:nvSpPr>
        <p:spPr/>
        <p:txBody>
          <a:bodyPr/>
          <a:lstStyle/>
          <a:p>
            <a:pPr>
              <a:buFont typeface="+mj-lt"/>
              <a:buAutoNum type="arabicPeriod"/>
            </a:pPr>
            <a:endParaRPr lang="en-US" altLang="en-US" dirty="0">
              <a:latin typeface="+mj-lt"/>
            </a:endParaRPr>
          </a:p>
          <a:p>
            <a:pPr>
              <a:buFont typeface="+mj-lt"/>
              <a:buAutoNum type="arabicPeriod"/>
            </a:pPr>
            <a:r>
              <a:rPr lang="en-US" altLang="en-US" dirty="0">
                <a:latin typeface="+mj-lt"/>
              </a:rPr>
              <a:t>Treaty derogations in Article 36 TFEU</a:t>
            </a:r>
          </a:p>
          <a:p>
            <a:pPr>
              <a:buFont typeface="+mj-lt"/>
              <a:buAutoNum type="arabicPeriod"/>
            </a:pPr>
            <a:endParaRPr lang="en-US" altLang="en-US" dirty="0">
              <a:latin typeface="+mj-lt"/>
            </a:endParaRPr>
          </a:p>
          <a:p>
            <a:pPr>
              <a:buFont typeface="+mj-lt"/>
              <a:buAutoNum type="arabicPeriod"/>
            </a:pPr>
            <a:r>
              <a:rPr lang="en-US" altLang="en-US" dirty="0">
                <a:latin typeface="+mj-lt"/>
              </a:rPr>
              <a:t>Mandatory requirements after </a:t>
            </a:r>
            <a:r>
              <a:rPr lang="en-US" altLang="en-US" i="1" dirty="0">
                <a:latin typeface="+mj-lt"/>
              </a:rPr>
              <a:t>Cassis de Dijon</a:t>
            </a:r>
          </a:p>
          <a:p>
            <a:pPr>
              <a:buFont typeface="+mj-lt"/>
              <a:buAutoNum type="arabicPeriod"/>
            </a:pPr>
            <a:endParaRPr lang="en-US" altLang="en-US" i="1" dirty="0">
              <a:latin typeface="+mj-lt"/>
            </a:endParaRPr>
          </a:p>
          <a:p>
            <a:pPr>
              <a:buFont typeface="+mj-lt"/>
              <a:buAutoNum type="arabicPeriod"/>
            </a:pPr>
            <a:r>
              <a:rPr lang="en-US" altLang="en-US" dirty="0">
                <a:latin typeface="+mj-lt"/>
              </a:rPr>
              <a:t>The role of fundamental rights</a:t>
            </a:r>
          </a:p>
          <a:p>
            <a:pPr>
              <a:buFont typeface="+mj-lt"/>
              <a:buAutoNum type="arabicPeriod"/>
            </a:pPr>
            <a:endParaRPr lang="en-US" altLang="en-US" i="1" dirty="0">
              <a:latin typeface="+mj-lt"/>
            </a:endParaRPr>
          </a:p>
          <a:p>
            <a:pPr>
              <a:buFont typeface="+mj-lt"/>
              <a:buAutoNum type="arabicPeriod"/>
            </a:pPr>
            <a:r>
              <a:rPr lang="en-US" altLang="en-US" dirty="0">
                <a:latin typeface="+mj-lt"/>
              </a:rPr>
              <a:t>Proportionality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Treaty derogations in Article 36 TFEU</a:t>
            </a:r>
          </a:p>
        </p:txBody>
      </p:sp>
      <p:sp>
        <p:nvSpPr>
          <p:cNvPr id="3" name="Content Placeholder 2"/>
          <p:cNvSpPr>
            <a:spLocks noGrp="1"/>
          </p:cNvSpPr>
          <p:nvPr>
            <p:ph idx="1"/>
          </p:nvPr>
        </p:nvSpPr>
        <p:spPr/>
        <p:txBody>
          <a:bodyPr/>
          <a:lstStyle/>
          <a:p>
            <a:pPr>
              <a:buFont typeface="+mj-lt"/>
              <a:buAutoNum type="arabicPeriod"/>
            </a:pPr>
            <a:r>
              <a:rPr lang="en-GB" dirty="0">
                <a:latin typeface="+mj-lt"/>
              </a:rPr>
              <a:t>Public morality</a:t>
            </a:r>
          </a:p>
          <a:p>
            <a:pPr>
              <a:buFont typeface="+mj-lt"/>
              <a:buAutoNum type="arabicPeriod"/>
            </a:pPr>
            <a:endParaRPr lang="en-GB" dirty="0">
              <a:latin typeface="+mj-lt"/>
            </a:endParaRPr>
          </a:p>
          <a:p>
            <a:pPr>
              <a:buFont typeface="+mj-lt"/>
              <a:buAutoNum type="arabicPeriod"/>
            </a:pPr>
            <a:r>
              <a:rPr lang="en-GB" dirty="0">
                <a:latin typeface="+mj-lt"/>
              </a:rPr>
              <a:t>Public policy</a:t>
            </a:r>
          </a:p>
          <a:p>
            <a:pPr>
              <a:buFont typeface="+mj-lt"/>
              <a:buAutoNum type="arabicPeriod"/>
            </a:pPr>
            <a:endParaRPr lang="en-GB" dirty="0">
              <a:latin typeface="+mj-lt"/>
            </a:endParaRPr>
          </a:p>
          <a:p>
            <a:pPr>
              <a:buFont typeface="+mj-lt"/>
              <a:buAutoNum type="arabicPeriod"/>
            </a:pPr>
            <a:r>
              <a:rPr lang="en-GB" dirty="0">
                <a:latin typeface="+mj-lt"/>
              </a:rPr>
              <a:t>Public security</a:t>
            </a:r>
          </a:p>
          <a:p>
            <a:pPr>
              <a:buFont typeface="+mj-lt"/>
              <a:buAutoNum type="arabicPeriod"/>
            </a:pPr>
            <a:endParaRPr lang="en-GB" dirty="0">
              <a:latin typeface="+mj-lt"/>
            </a:endParaRPr>
          </a:p>
          <a:p>
            <a:pPr>
              <a:buFont typeface="+mj-lt"/>
              <a:buAutoNum type="arabicPeriod"/>
            </a:pPr>
            <a:r>
              <a:rPr lang="en-GB" dirty="0">
                <a:latin typeface="+mj-lt"/>
              </a:rPr>
              <a:t>The protection of health and life of humans, animals or plants</a:t>
            </a:r>
          </a:p>
          <a:p>
            <a:pPr>
              <a:buFont typeface="+mj-lt"/>
              <a:buAutoNum type="arabicPeriod"/>
            </a:pPr>
            <a:endParaRPr lang="en-GB" dirty="0">
              <a:latin typeface="+mj-lt"/>
            </a:endParaRPr>
          </a:p>
          <a:p>
            <a:pPr>
              <a:buFont typeface="+mj-lt"/>
              <a:buAutoNum type="arabicPeriod"/>
            </a:pPr>
            <a:r>
              <a:rPr lang="en-GB" dirty="0">
                <a:latin typeface="+mj-lt"/>
              </a:rPr>
              <a:t>The protection of national treasures</a:t>
            </a:r>
          </a:p>
          <a:p>
            <a:pPr>
              <a:buFont typeface="+mj-lt"/>
              <a:buAutoNum type="arabicPeriod"/>
            </a:pPr>
            <a:endParaRPr lang="en-GB" dirty="0">
              <a:latin typeface="+mj-lt"/>
            </a:endParaRPr>
          </a:p>
          <a:p>
            <a:pPr>
              <a:buFont typeface="+mj-lt"/>
              <a:buAutoNum type="arabicPeriod"/>
            </a:pPr>
            <a:r>
              <a:rPr lang="en-GB" dirty="0">
                <a:latin typeface="+mj-lt"/>
              </a:rPr>
              <a:t>Protection of industrial and commercial property</a:t>
            </a:r>
          </a:p>
        </p:txBody>
      </p:sp>
    </p:spTree>
    <p:extLst>
      <p:ext uri="{BB962C8B-B14F-4D97-AF65-F5344CB8AC3E}">
        <p14:creationId xmlns:p14="http://schemas.microsoft.com/office/powerpoint/2010/main" val="1141179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Treaty derogations in Article 36 TFEU</a:t>
            </a:r>
          </a:p>
        </p:txBody>
      </p:sp>
      <p:sp>
        <p:nvSpPr>
          <p:cNvPr id="3" name="Content Placeholder 2"/>
          <p:cNvSpPr>
            <a:spLocks noGrp="1"/>
          </p:cNvSpPr>
          <p:nvPr>
            <p:ph idx="1"/>
          </p:nvPr>
        </p:nvSpPr>
        <p:spPr/>
        <p:txBody>
          <a:bodyPr/>
          <a:lstStyle/>
          <a:p>
            <a:pPr>
              <a:buFont typeface="+mj-lt"/>
              <a:buAutoNum type="arabicPeriod"/>
            </a:pPr>
            <a:r>
              <a:rPr lang="en-GB" dirty="0">
                <a:latin typeface="+mj-lt"/>
              </a:rPr>
              <a:t>The orthodox rule is that directly discriminatory or distinctly applicable rules can only be justified on the basis of Article 36 TFEU. However, the Court is not always consistent. See Case C-379/98, </a:t>
            </a:r>
            <a:r>
              <a:rPr lang="en-GB" i="1" dirty="0">
                <a:latin typeface="+mj-lt"/>
              </a:rPr>
              <a:t>Preussen Elektra</a:t>
            </a:r>
          </a:p>
          <a:p>
            <a:pPr>
              <a:buFont typeface="+mj-lt"/>
              <a:buAutoNum type="arabicPeriod"/>
            </a:pPr>
            <a:endParaRPr lang="en-GB" i="1" dirty="0">
              <a:latin typeface="+mj-lt"/>
            </a:endParaRPr>
          </a:p>
          <a:p>
            <a:pPr>
              <a:buFont typeface="+mj-lt"/>
              <a:buAutoNum type="arabicPeriod"/>
            </a:pPr>
            <a:r>
              <a:rPr lang="en-GB" dirty="0">
                <a:latin typeface="+mj-lt"/>
              </a:rPr>
              <a:t>Indirectly discriminatory or indistinctly applicable rules can be justified on the basis of both Article 36 TFEU and mandatory requirements. This is an open, non-exhaustive category – a Member State can always try to convince the Court that a certain reason to restrict free movement should be accepted as a mandatory requirement</a:t>
            </a:r>
          </a:p>
          <a:p>
            <a:pPr>
              <a:buFont typeface="+mj-lt"/>
              <a:buAutoNum type="arabicPeriod"/>
            </a:pPr>
            <a:endParaRPr lang="en-GB" dirty="0">
              <a:latin typeface="+mj-lt"/>
            </a:endParaRPr>
          </a:p>
          <a:p>
            <a:pPr>
              <a:buFont typeface="+mj-lt"/>
              <a:buAutoNum type="arabicPeriod"/>
            </a:pPr>
            <a:r>
              <a:rPr lang="en-GB" dirty="0">
                <a:latin typeface="+mj-lt"/>
              </a:rPr>
              <a:t>Purely economic justifications are not allowed. However, the Court is more flexible when they can be linked to a non-economic interest. See Case C-120/95, </a:t>
            </a:r>
            <a:r>
              <a:rPr lang="en-GB" i="1" dirty="0">
                <a:latin typeface="+mj-lt"/>
              </a:rPr>
              <a:t>Decker</a:t>
            </a:r>
          </a:p>
        </p:txBody>
      </p:sp>
    </p:spTree>
    <p:extLst>
      <p:ext uri="{BB962C8B-B14F-4D97-AF65-F5344CB8AC3E}">
        <p14:creationId xmlns:p14="http://schemas.microsoft.com/office/powerpoint/2010/main" val="2228206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Treaty derogations in Article 36 TFEU</a:t>
            </a:r>
          </a:p>
        </p:txBody>
      </p:sp>
      <p:sp>
        <p:nvSpPr>
          <p:cNvPr id="3" name="Content Placeholder 2"/>
          <p:cNvSpPr>
            <a:spLocks noGrp="1"/>
          </p:cNvSpPr>
          <p:nvPr>
            <p:ph idx="1"/>
          </p:nvPr>
        </p:nvSpPr>
        <p:spPr/>
        <p:txBody>
          <a:bodyPr/>
          <a:lstStyle/>
          <a:p>
            <a:pPr>
              <a:buFont typeface="+mj-lt"/>
              <a:buAutoNum type="arabicPeriod"/>
            </a:pPr>
            <a:r>
              <a:rPr lang="en-GB" dirty="0">
                <a:latin typeface="+mj-lt"/>
              </a:rPr>
              <a:t>Article 36 TFEU also provides that restrictions shall not be arbitrary discrimination or a disguised restriction on trade. See Case C-121/85, </a:t>
            </a:r>
            <a:r>
              <a:rPr lang="en-GB" i="1" dirty="0" err="1">
                <a:latin typeface="+mj-lt"/>
              </a:rPr>
              <a:t>Conegate</a:t>
            </a:r>
            <a:endParaRPr lang="en-GB" i="1" dirty="0">
              <a:latin typeface="+mj-lt"/>
            </a:endParaRPr>
          </a:p>
          <a:p>
            <a:pPr>
              <a:buFont typeface="+mj-lt"/>
              <a:buAutoNum type="arabicPeriod"/>
            </a:pPr>
            <a:endParaRPr lang="en-GB" i="1" dirty="0">
              <a:latin typeface="+mj-lt"/>
            </a:endParaRPr>
          </a:p>
          <a:p>
            <a:pPr>
              <a:buFont typeface="+mj-lt"/>
              <a:buAutoNum type="arabicPeriod"/>
            </a:pPr>
            <a:r>
              <a:rPr lang="en-GB" dirty="0">
                <a:latin typeface="+mj-lt"/>
              </a:rPr>
              <a:t>Public morality: Case C-121/85, </a:t>
            </a:r>
            <a:r>
              <a:rPr lang="en-GB" i="1" dirty="0" err="1">
                <a:latin typeface="+mj-lt"/>
              </a:rPr>
              <a:t>Conegate</a:t>
            </a:r>
            <a:endParaRPr lang="en-GB" i="1" dirty="0">
              <a:latin typeface="+mj-lt"/>
            </a:endParaRPr>
          </a:p>
          <a:p>
            <a:pPr>
              <a:buFont typeface="+mj-lt"/>
              <a:buAutoNum type="arabicPeriod"/>
            </a:pPr>
            <a:endParaRPr lang="en-GB" i="1" dirty="0">
              <a:latin typeface="+mj-lt"/>
            </a:endParaRPr>
          </a:p>
          <a:p>
            <a:pPr>
              <a:buFont typeface="+mj-lt"/>
              <a:buAutoNum type="arabicPeriod"/>
            </a:pPr>
            <a:r>
              <a:rPr lang="en-GB" dirty="0">
                <a:latin typeface="+mj-lt"/>
              </a:rPr>
              <a:t>Public policy: almost no cases (but now includes fundamental rights)</a:t>
            </a:r>
          </a:p>
          <a:p>
            <a:pPr>
              <a:buFont typeface="+mj-lt"/>
              <a:buAutoNum type="arabicPeriod"/>
            </a:pPr>
            <a:endParaRPr lang="en-GB" dirty="0">
              <a:latin typeface="+mj-lt"/>
            </a:endParaRPr>
          </a:p>
          <a:p>
            <a:pPr>
              <a:buFont typeface="+mj-lt"/>
              <a:buAutoNum type="arabicPeriod"/>
            </a:pPr>
            <a:r>
              <a:rPr lang="en-GB" dirty="0">
                <a:latin typeface="+mj-lt"/>
              </a:rPr>
              <a:t>Public security: Case C-82/73, </a:t>
            </a:r>
            <a:r>
              <a:rPr lang="en-GB" i="1" dirty="0">
                <a:latin typeface="+mj-lt"/>
              </a:rPr>
              <a:t>Campus Oil</a:t>
            </a:r>
            <a:r>
              <a:rPr lang="en-GB" dirty="0">
                <a:latin typeface="+mj-lt"/>
              </a:rPr>
              <a:t> </a:t>
            </a:r>
          </a:p>
        </p:txBody>
      </p:sp>
    </p:spTree>
    <p:extLst>
      <p:ext uri="{BB962C8B-B14F-4D97-AF65-F5344CB8AC3E}">
        <p14:creationId xmlns:p14="http://schemas.microsoft.com/office/powerpoint/2010/main" val="262663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Treaty derogations in Article 36 TFEU</a:t>
            </a:r>
          </a:p>
        </p:txBody>
      </p:sp>
      <p:sp>
        <p:nvSpPr>
          <p:cNvPr id="3" name="Content Placeholder 2"/>
          <p:cNvSpPr>
            <a:spLocks noGrp="1"/>
          </p:cNvSpPr>
          <p:nvPr>
            <p:ph idx="1"/>
          </p:nvPr>
        </p:nvSpPr>
        <p:spPr/>
        <p:txBody>
          <a:bodyPr/>
          <a:lstStyle/>
          <a:p>
            <a:pPr>
              <a:buFont typeface="+mj-lt"/>
              <a:buAutoNum type="arabicPeriod"/>
            </a:pPr>
            <a:r>
              <a:rPr lang="en-GB" dirty="0">
                <a:latin typeface="+mj-lt"/>
              </a:rPr>
              <a:t>Public health: Case C-170/04, </a:t>
            </a:r>
            <a:r>
              <a:rPr lang="en-GB" i="1" dirty="0" err="1">
                <a:latin typeface="+mj-lt"/>
              </a:rPr>
              <a:t>Rosengren</a:t>
            </a:r>
            <a:r>
              <a:rPr lang="en-GB" dirty="0">
                <a:latin typeface="+mj-lt"/>
              </a:rPr>
              <a:t>, Case C-67/97, </a:t>
            </a:r>
            <a:r>
              <a:rPr lang="en-GB" i="1" dirty="0" err="1">
                <a:latin typeface="+mj-lt"/>
              </a:rPr>
              <a:t>Bluhme</a:t>
            </a:r>
            <a:endParaRPr lang="en-GB" i="1" dirty="0">
              <a:latin typeface="+mj-lt"/>
            </a:endParaRPr>
          </a:p>
          <a:p>
            <a:pPr>
              <a:buFont typeface="+mj-lt"/>
              <a:buAutoNum type="arabicPeriod"/>
            </a:pPr>
            <a:endParaRPr lang="en-GB" i="1" dirty="0">
              <a:latin typeface="+mj-lt"/>
            </a:endParaRPr>
          </a:p>
          <a:p>
            <a:pPr>
              <a:buFont typeface="+mj-lt"/>
              <a:buAutoNum type="arabicPeriod"/>
            </a:pPr>
            <a:r>
              <a:rPr lang="en-GB" dirty="0">
                <a:latin typeface="+mj-lt"/>
              </a:rPr>
              <a:t>Scientific uncertainty and the precautionary principle: Case C-174/82, </a:t>
            </a:r>
            <a:r>
              <a:rPr lang="en-GB" i="1" dirty="0">
                <a:latin typeface="+mj-lt"/>
              </a:rPr>
              <a:t>Sandoz</a:t>
            </a:r>
          </a:p>
          <a:p>
            <a:pPr>
              <a:buFont typeface="+mj-lt"/>
              <a:buAutoNum type="arabicPeriod"/>
            </a:pPr>
            <a:endParaRPr lang="en-GB" i="1" dirty="0">
              <a:latin typeface="+mj-lt"/>
            </a:endParaRPr>
          </a:p>
          <a:p>
            <a:pPr>
              <a:buFont typeface="+mj-lt"/>
              <a:buAutoNum type="arabicPeriod"/>
            </a:pPr>
            <a:endParaRPr lang="en-GB" dirty="0">
              <a:latin typeface="+mj-lt"/>
            </a:endParaRPr>
          </a:p>
        </p:txBody>
      </p:sp>
    </p:spTree>
    <p:extLst>
      <p:ext uri="{BB962C8B-B14F-4D97-AF65-F5344CB8AC3E}">
        <p14:creationId xmlns:p14="http://schemas.microsoft.com/office/powerpoint/2010/main" val="3421896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Mandatory requirements after </a:t>
            </a:r>
            <a:r>
              <a:rPr lang="en-GB" i="1" dirty="0"/>
              <a:t>Cassis</a:t>
            </a:r>
          </a:p>
        </p:txBody>
      </p:sp>
      <p:sp>
        <p:nvSpPr>
          <p:cNvPr id="3" name="Content Placeholder 2"/>
          <p:cNvSpPr>
            <a:spLocks noGrp="1"/>
          </p:cNvSpPr>
          <p:nvPr>
            <p:ph idx="1"/>
          </p:nvPr>
        </p:nvSpPr>
        <p:spPr/>
        <p:txBody>
          <a:bodyPr/>
          <a:lstStyle/>
          <a:p>
            <a:pPr>
              <a:buFont typeface="+mj-lt"/>
              <a:buAutoNum type="arabicPeriod"/>
            </a:pPr>
            <a:r>
              <a:rPr lang="en-GB" dirty="0">
                <a:latin typeface="+mj-lt"/>
              </a:rPr>
              <a:t>Consumer protection: Case C-470/93, </a:t>
            </a:r>
            <a:r>
              <a:rPr lang="en-GB" i="1" dirty="0">
                <a:latin typeface="+mj-lt"/>
              </a:rPr>
              <a:t>Mars</a:t>
            </a:r>
            <a:r>
              <a:rPr lang="en-GB" dirty="0">
                <a:latin typeface="+mj-lt"/>
              </a:rPr>
              <a:t> (and </a:t>
            </a:r>
            <a:r>
              <a:rPr lang="en-GB" i="1" dirty="0">
                <a:latin typeface="+mj-lt"/>
              </a:rPr>
              <a:t>Cassis de Dijon</a:t>
            </a:r>
            <a:r>
              <a:rPr lang="en-GB" dirty="0">
                <a:latin typeface="+mj-lt"/>
              </a:rPr>
              <a:t> itself)</a:t>
            </a:r>
          </a:p>
          <a:p>
            <a:pPr>
              <a:buFont typeface="+mj-lt"/>
              <a:buAutoNum type="arabicPeriod"/>
            </a:pPr>
            <a:endParaRPr lang="en-GB" dirty="0">
              <a:latin typeface="+mj-lt"/>
            </a:endParaRPr>
          </a:p>
          <a:p>
            <a:pPr>
              <a:buFont typeface="+mj-lt"/>
              <a:buAutoNum type="arabicPeriod"/>
            </a:pPr>
            <a:r>
              <a:rPr lang="en-GB" dirty="0">
                <a:latin typeface="+mj-lt"/>
              </a:rPr>
              <a:t>Environmental protection: Case C-204/12, </a:t>
            </a:r>
            <a:r>
              <a:rPr lang="en-GB" i="1" dirty="0" err="1">
                <a:latin typeface="+mj-lt"/>
              </a:rPr>
              <a:t>Essent</a:t>
            </a:r>
            <a:r>
              <a:rPr lang="en-GB" i="1" dirty="0">
                <a:latin typeface="+mj-lt"/>
              </a:rPr>
              <a:t> Belgium II </a:t>
            </a:r>
          </a:p>
          <a:p>
            <a:pPr>
              <a:buFont typeface="+mj-lt"/>
              <a:buAutoNum type="arabicPeriod"/>
            </a:pPr>
            <a:endParaRPr lang="en-GB" i="1" dirty="0">
              <a:latin typeface="+mj-lt"/>
            </a:endParaRPr>
          </a:p>
          <a:p>
            <a:pPr>
              <a:buFont typeface="+mj-lt"/>
              <a:buAutoNum type="arabicPeriod"/>
            </a:pPr>
            <a:endParaRPr lang="en-GB" dirty="0">
              <a:latin typeface="+mj-lt"/>
            </a:endParaRPr>
          </a:p>
        </p:txBody>
      </p:sp>
    </p:spTree>
    <p:extLst>
      <p:ext uri="{BB962C8B-B14F-4D97-AF65-F5344CB8AC3E}">
        <p14:creationId xmlns:p14="http://schemas.microsoft.com/office/powerpoint/2010/main" val="2712486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role of fundamental rights </a:t>
            </a:r>
          </a:p>
        </p:txBody>
      </p:sp>
      <p:sp>
        <p:nvSpPr>
          <p:cNvPr id="3" name="Content Placeholder 2"/>
          <p:cNvSpPr>
            <a:spLocks noGrp="1"/>
          </p:cNvSpPr>
          <p:nvPr>
            <p:ph idx="1"/>
          </p:nvPr>
        </p:nvSpPr>
        <p:spPr/>
        <p:txBody>
          <a:bodyPr/>
          <a:lstStyle/>
          <a:p>
            <a:pPr>
              <a:buFont typeface="+mj-lt"/>
              <a:buAutoNum type="arabicPeriod"/>
            </a:pPr>
            <a:r>
              <a:rPr lang="en-GB" dirty="0">
                <a:latin typeface="+mj-lt"/>
              </a:rPr>
              <a:t>Member States can rely on the protection of fundamental rights as a justification to restrict free movement</a:t>
            </a:r>
          </a:p>
          <a:p>
            <a:pPr>
              <a:buFont typeface="+mj-lt"/>
              <a:buAutoNum type="arabicPeriod"/>
            </a:pPr>
            <a:endParaRPr lang="en-GB" dirty="0">
              <a:latin typeface="+mj-lt"/>
            </a:endParaRPr>
          </a:p>
          <a:p>
            <a:pPr>
              <a:buFont typeface="+mj-lt"/>
              <a:buAutoNum type="arabicPeriod"/>
            </a:pPr>
            <a:r>
              <a:rPr lang="en-GB" dirty="0">
                <a:latin typeface="+mj-lt"/>
              </a:rPr>
              <a:t>Fundamental rights have been given the same status as Treaty derogations – they fall under the concept of public policy in Article 36 TFEU. See Case C-112/00, </a:t>
            </a:r>
            <a:r>
              <a:rPr lang="en-GB" i="1" dirty="0">
                <a:latin typeface="+mj-lt"/>
              </a:rPr>
              <a:t>Schmidberger</a:t>
            </a:r>
          </a:p>
          <a:p>
            <a:pPr>
              <a:buFont typeface="+mj-lt"/>
              <a:buAutoNum type="arabicPeriod"/>
            </a:pPr>
            <a:endParaRPr lang="en-GB" i="1" dirty="0">
              <a:latin typeface="+mj-lt"/>
            </a:endParaRPr>
          </a:p>
          <a:p>
            <a:pPr>
              <a:buFont typeface="+mj-lt"/>
              <a:buAutoNum type="arabicPeriod"/>
            </a:pPr>
            <a:r>
              <a:rPr lang="en-GB" dirty="0">
                <a:latin typeface="+mj-lt"/>
              </a:rPr>
              <a:t>The protection of fundamental rights works in two directions: Member States cannot only rely on fundamental rights as a justification to restrict free movement, they also have to respect fundamental rights when they restrict free movement. In other words, any justification relied on must be compatible with fundamental rights. See Case C-368/95, </a:t>
            </a:r>
            <a:r>
              <a:rPr lang="en-GB" i="1" dirty="0" err="1">
                <a:latin typeface="+mj-lt"/>
              </a:rPr>
              <a:t>Familiapress</a:t>
            </a:r>
            <a:endParaRPr lang="en-GB" i="1" dirty="0">
              <a:latin typeface="+mj-lt"/>
            </a:endParaRPr>
          </a:p>
        </p:txBody>
      </p:sp>
    </p:spTree>
    <p:extLst>
      <p:ext uri="{BB962C8B-B14F-4D97-AF65-F5344CB8AC3E}">
        <p14:creationId xmlns:p14="http://schemas.microsoft.com/office/powerpoint/2010/main" val="864244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Proportionality </a:t>
            </a:r>
          </a:p>
        </p:txBody>
      </p:sp>
      <p:sp>
        <p:nvSpPr>
          <p:cNvPr id="3" name="Content Placeholder 2"/>
          <p:cNvSpPr>
            <a:spLocks noGrp="1"/>
          </p:cNvSpPr>
          <p:nvPr>
            <p:ph idx="1"/>
          </p:nvPr>
        </p:nvSpPr>
        <p:spPr/>
        <p:txBody>
          <a:bodyPr/>
          <a:lstStyle/>
          <a:p>
            <a:pPr>
              <a:buFont typeface="+mj-lt"/>
              <a:buAutoNum type="arabicPeriod"/>
            </a:pPr>
            <a:r>
              <a:rPr lang="en-GB" dirty="0">
                <a:latin typeface="+mj-lt"/>
              </a:rPr>
              <a:t>Proportionality as the final step of each free movement case: this is where the balancing of interests will take place</a:t>
            </a:r>
          </a:p>
          <a:p>
            <a:pPr>
              <a:buFont typeface="+mj-lt"/>
              <a:buAutoNum type="arabicPeriod"/>
            </a:pPr>
            <a:endParaRPr lang="en-GB" dirty="0">
              <a:latin typeface="+mj-lt"/>
            </a:endParaRPr>
          </a:p>
          <a:p>
            <a:pPr>
              <a:buFont typeface="+mj-lt"/>
              <a:buAutoNum type="arabicPeriod"/>
            </a:pPr>
            <a:r>
              <a:rPr lang="en-GB" dirty="0">
                <a:latin typeface="+mj-lt"/>
              </a:rPr>
              <a:t>The “centralisation” of proportionality in the internal market</a:t>
            </a:r>
          </a:p>
          <a:p>
            <a:pPr>
              <a:buFont typeface="+mj-lt"/>
              <a:buAutoNum type="arabicPeriod"/>
            </a:pPr>
            <a:endParaRPr lang="en-GB" dirty="0">
              <a:latin typeface="+mj-lt"/>
            </a:endParaRPr>
          </a:p>
          <a:p>
            <a:pPr>
              <a:buFont typeface="+mj-lt"/>
              <a:buAutoNum type="arabicPeriod"/>
            </a:pPr>
            <a:r>
              <a:rPr lang="en-GB" dirty="0">
                <a:latin typeface="+mj-lt"/>
              </a:rPr>
              <a:t>Variation in the intensity of the proportionality test: marginal or strict review</a:t>
            </a:r>
          </a:p>
          <a:p>
            <a:pPr>
              <a:buFont typeface="+mj-lt"/>
              <a:buAutoNum type="arabicPeriod"/>
            </a:pPr>
            <a:endParaRPr lang="en-GB" dirty="0">
              <a:latin typeface="+mj-lt"/>
            </a:endParaRPr>
          </a:p>
          <a:p>
            <a:pPr>
              <a:buFont typeface="+mj-lt"/>
              <a:buAutoNum type="arabicPeriod"/>
            </a:pPr>
            <a:r>
              <a:rPr lang="en-GB" dirty="0">
                <a:latin typeface="+mj-lt"/>
              </a:rPr>
              <a:t>Variation in who conducts the proportionality test: the Court of Justice or national courts</a:t>
            </a:r>
          </a:p>
        </p:txBody>
      </p:sp>
    </p:spTree>
    <p:extLst>
      <p:ext uri="{BB962C8B-B14F-4D97-AF65-F5344CB8AC3E}">
        <p14:creationId xmlns:p14="http://schemas.microsoft.com/office/powerpoint/2010/main" val="696921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Suitability </a:t>
            </a:r>
          </a:p>
        </p:txBody>
      </p:sp>
      <p:sp>
        <p:nvSpPr>
          <p:cNvPr id="3" name="Content Placeholder 2"/>
          <p:cNvSpPr>
            <a:spLocks noGrp="1"/>
          </p:cNvSpPr>
          <p:nvPr>
            <p:ph idx="1"/>
          </p:nvPr>
        </p:nvSpPr>
        <p:spPr/>
        <p:txBody>
          <a:bodyPr/>
          <a:lstStyle/>
          <a:p>
            <a:pPr marL="457200" indent="-457200">
              <a:buFont typeface="+mj-lt"/>
              <a:buAutoNum type="arabicPeriod"/>
            </a:pPr>
            <a:r>
              <a:rPr lang="en-GB" dirty="0">
                <a:latin typeface="+mj-lt"/>
              </a:rPr>
              <a:t>Is the national measure (the restriction) suitable to achieve its aim (the justification)?</a:t>
            </a:r>
          </a:p>
          <a:p>
            <a:pPr marL="457200" indent="-457200">
              <a:buFont typeface="+mj-lt"/>
              <a:buAutoNum type="arabicPeriod"/>
            </a:pPr>
            <a:endParaRPr lang="en-GB" dirty="0">
              <a:latin typeface="+mj-lt"/>
            </a:endParaRPr>
          </a:p>
          <a:p>
            <a:pPr marL="457200" indent="-457200">
              <a:buFont typeface="+mj-lt"/>
              <a:buAutoNum type="arabicPeriod"/>
            </a:pPr>
            <a:r>
              <a:rPr lang="en-GB" dirty="0">
                <a:latin typeface="+mj-lt"/>
              </a:rPr>
              <a:t>The suitability test can be seen as a causation test: can we identify a causal link between the restriction and the desired result?</a:t>
            </a:r>
          </a:p>
          <a:p>
            <a:pPr marL="457200" indent="-457200">
              <a:buFont typeface="+mj-lt"/>
              <a:buAutoNum type="arabicPeriod"/>
            </a:pPr>
            <a:endParaRPr lang="en-GB" dirty="0">
              <a:latin typeface="+mj-lt"/>
            </a:endParaRPr>
          </a:p>
          <a:p>
            <a:pPr marL="457200" indent="-457200">
              <a:buFont typeface="+mj-lt"/>
              <a:buAutoNum type="arabicPeriod"/>
            </a:pPr>
            <a:r>
              <a:rPr lang="en-GB" dirty="0">
                <a:latin typeface="+mj-lt"/>
              </a:rPr>
              <a:t>A measure does not have to be 100% suitable, but Member States have to show that they have adopted a consistent policy (if possible, based on (scientific) evidence). They have to apply the rule in a consistent and coherent manner</a:t>
            </a:r>
          </a:p>
          <a:p>
            <a:endParaRPr lang="en-GB" dirty="0"/>
          </a:p>
          <a:p>
            <a:endParaRPr lang="en-GB" dirty="0"/>
          </a:p>
        </p:txBody>
      </p:sp>
    </p:spTree>
    <p:extLst>
      <p:ext uri="{BB962C8B-B14F-4D97-AF65-F5344CB8AC3E}">
        <p14:creationId xmlns:p14="http://schemas.microsoft.com/office/powerpoint/2010/main" val="419094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188640"/>
            <a:ext cx="7772400" cy="1143000"/>
          </a:xfrm>
        </p:spPr>
        <p:txBody>
          <a:bodyPr/>
          <a:lstStyle/>
          <a:p>
            <a:r>
              <a:rPr lang="en-GB" dirty="0"/>
              <a:t>Necessity</a:t>
            </a:r>
          </a:p>
        </p:txBody>
      </p:sp>
      <p:sp>
        <p:nvSpPr>
          <p:cNvPr id="3" name="Content Placeholder 2"/>
          <p:cNvSpPr>
            <a:spLocks noGrp="1"/>
          </p:cNvSpPr>
          <p:nvPr>
            <p:ph idx="1"/>
          </p:nvPr>
        </p:nvSpPr>
        <p:spPr>
          <a:xfrm>
            <a:off x="683568" y="1556792"/>
            <a:ext cx="7772400" cy="3816350"/>
          </a:xfrm>
        </p:spPr>
        <p:txBody>
          <a:bodyPr/>
          <a:lstStyle/>
          <a:p>
            <a:pPr marL="457200" indent="-457200">
              <a:buFont typeface="+mj-lt"/>
              <a:buAutoNum type="arabicPeriod"/>
            </a:pPr>
            <a:r>
              <a:rPr lang="en-GB" dirty="0">
                <a:latin typeface="+mj-lt"/>
              </a:rPr>
              <a:t>Is the measure adopted by the Member State necessary to achieve the aim? Are there no less restrictive alternatives?</a:t>
            </a:r>
          </a:p>
          <a:p>
            <a:pPr marL="457200" indent="-457200">
              <a:buFont typeface="+mj-lt"/>
              <a:buAutoNum type="arabicPeriod"/>
            </a:pPr>
            <a:endParaRPr lang="en-GB" dirty="0">
              <a:latin typeface="+mj-lt"/>
            </a:endParaRPr>
          </a:p>
          <a:p>
            <a:pPr marL="457200" indent="-457200">
              <a:buFont typeface="+mj-lt"/>
              <a:buAutoNum type="arabicPeriod"/>
            </a:pPr>
            <a:r>
              <a:rPr lang="en-GB" dirty="0">
                <a:latin typeface="+mj-lt"/>
              </a:rPr>
              <a:t>Under the necessity test, Member States have to show that they have considered alternative measures which would be less restrictive of free movement and which would still be equally effective</a:t>
            </a:r>
          </a:p>
          <a:p>
            <a:pPr marL="457200" indent="-457200">
              <a:buFont typeface="+mj-lt"/>
              <a:buAutoNum type="arabicPeriod"/>
            </a:pPr>
            <a:endParaRPr lang="en-GB" dirty="0">
              <a:latin typeface="+mj-lt"/>
            </a:endParaRPr>
          </a:p>
          <a:p>
            <a:pPr marL="457200" indent="-457200">
              <a:buFont typeface="+mj-lt"/>
              <a:buAutoNum type="arabicPeriod"/>
            </a:pPr>
            <a:r>
              <a:rPr lang="en-GB" dirty="0">
                <a:latin typeface="+mj-lt"/>
              </a:rPr>
              <a:t>The necessity test has a tendency to be quite intrusive for Member States: it has a bias in favour of finding a less restrictive alternative</a:t>
            </a:r>
          </a:p>
          <a:p>
            <a:pPr marL="457200" indent="-457200">
              <a:buFont typeface="+mj-lt"/>
              <a:buAutoNum type="arabicPeriod"/>
            </a:pPr>
            <a:endParaRPr lang="en-GB" dirty="0">
              <a:latin typeface="+mj-lt"/>
            </a:endParaRPr>
          </a:p>
          <a:p>
            <a:pPr marL="457200" indent="-457200">
              <a:buFont typeface="+mj-lt"/>
              <a:buAutoNum type="arabicPeriod"/>
            </a:pPr>
            <a:r>
              <a:rPr lang="en-GB" dirty="0">
                <a:latin typeface="+mj-lt"/>
              </a:rPr>
              <a:t>This is why you will often find that the Court “delegates” the necessity test to the national court. However, the Court can still identify a number of factors that have to be taken into account by the national court </a:t>
            </a:r>
          </a:p>
          <a:p>
            <a:endParaRPr lang="en-GB" dirty="0"/>
          </a:p>
        </p:txBody>
      </p:sp>
    </p:spTree>
    <p:extLst>
      <p:ext uri="{BB962C8B-B14F-4D97-AF65-F5344CB8AC3E}">
        <p14:creationId xmlns:p14="http://schemas.microsoft.com/office/powerpoint/2010/main" val="793934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116632"/>
            <a:ext cx="7772400" cy="1143000"/>
          </a:xfrm>
        </p:spPr>
        <p:txBody>
          <a:bodyPr/>
          <a:lstStyle/>
          <a:p>
            <a:r>
              <a:rPr lang="en-GB" dirty="0"/>
              <a:t>Proportionality and public health</a:t>
            </a:r>
          </a:p>
        </p:txBody>
      </p:sp>
      <p:sp>
        <p:nvSpPr>
          <p:cNvPr id="3" name="Content Placeholder 2"/>
          <p:cNvSpPr>
            <a:spLocks noGrp="1"/>
          </p:cNvSpPr>
          <p:nvPr>
            <p:ph idx="1"/>
          </p:nvPr>
        </p:nvSpPr>
        <p:spPr>
          <a:xfrm>
            <a:off x="683568" y="1052736"/>
            <a:ext cx="7772400" cy="3816350"/>
          </a:xfrm>
        </p:spPr>
        <p:txBody>
          <a:bodyPr/>
          <a:lstStyle/>
          <a:p>
            <a:pPr>
              <a:buFont typeface="+mj-lt"/>
              <a:buAutoNum type="arabicPeriod"/>
            </a:pPr>
            <a:r>
              <a:rPr lang="en-GB" dirty="0">
                <a:latin typeface="+mj-lt"/>
              </a:rPr>
              <a:t>Case C-421/09, </a:t>
            </a:r>
            <a:r>
              <a:rPr lang="en-GB" i="1" dirty="0">
                <a:latin typeface="+mj-lt"/>
              </a:rPr>
              <a:t>Humanplasma</a:t>
            </a:r>
          </a:p>
          <a:p>
            <a:pPr>
              <a:buFont typeface="+mj-lt"/>
              <a:buAutoNum type="arabicPeriod"/>
            </a:pPr>
            <a:endParaRPr lang="en-GB" dirty="0">
              <a:latin typeface="+mj-lt"/>
            </a:endParaRPr>
          </a:p>
          <a:p>
            <a:pPr>
              <a:buFont typeface="+mj-lt"/>
              <a:buAutoNum type="arabicPeriod"/>
            </a:pPr>
            <a:r>
              <a:rPr lang="en-GB" dirty="0">
                <a:latin typeface="+mj-lt"/>
              </a:rPr>
              <a:t>Austria adopted legislation which prohibited blood donors from receiving </a:t>
            </a:r>
            <a:r>
              <a:rPr lang="en-GB" i="1" dirty="0">
                <a:latin typeface="+mj-lt"/>
              </a:rPr>
              <a:t>any</a:t>
            </a:r>
            <a:r>
              <a:rPr lang="en-GB" dirty="0">
                <a:latin typeface="+mj-lt"/>
              </a:rPr>
              <a:t> kind of financial compensation for donating blood. This also meant that blood donors could not be reimbursed for their travel costs and that they could not receive a cup of coffee/tea. Only blood which had not been paid for at all could be imported into Austria and could be used in hospitals</a:t>
            </a:r>
          </a:p>
          <a:p>
            <a:pPr>
              <a:buFont typeface="+mj-lt"/>
              <a:buAutoNum type="arabicPeriod"/>
            </a:pPr>
            <a:endParaRPr lang="en-GB" dirty="0">
              <a:latin typeface="+mj-lt"/>
            </a:endParaRPr>
          </a:p>
          <a:p>
            <a:pPr>
              <a:buFont typeface="+mj-lt"/>
              <a:buAutoNum type="arabicPeriod"/>
            </a:pPr>
            <a:r>
              <a:rPr lang="en-GB" dirty="0">
                <a:latin typeface="+mj-lt"/>
              </a:rPr>
              <a:t>A German company, Humanplasma, imported blood into Austria and sold it to the Association of Austrian hospitals. The donated blood came from donors in Germany and the Netherlands, who had been reimbursed for their travel costs. As a result of the new Austrian legislation, they were no longer able to sell their blood to Austrian hospitals, because the hospitals would not be allowed to use it</a:t>
            </a:r>
          </a:p>
          <a:p>
            <a:pPr>
              <a:buFont typeface="+mj-lt"/>
              <a:buAutoNum type="arabicPeriod"/>
            </a:pPr>
            <a:endParaRPr lang="en-GB" dirty="0">
              <a:latin typeface="+mj-lt"/>
            </a:endParaRPr>
          </a:p>
          <a:p>
            <a:pPr>
              <a:buFont typeface="+mj-lt"/>
              <a:buAutoNum type="arabicPeriod"/>
            </a:pPr>
            <a:r>
              <a:rPr lang="en-GB" dirty="0">
                <a:latin typeface="+mj-lt"/>
              </a:rPr>
              <a:t>They claimed that the Austrian legislation breached Article 34 TFEU. What type of restriction would it be?</a:t>
            </a:r>
          </a:p>
        </p:txBody>
      </p:sp>
    </p:spTree>
    <p:extLst>
      <p:ext uri="{BB962C8B-B14F-4D97-AF65-F5344CB8AC3E}">
        <p14:creationId xmlns:p14="http://schemas.microsoft.com/office/powerpoint/2010/main" val="2676869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404664"/>
            <a:ext cx="7772400" cy="1143000"/>
          </a:xfrm>
        </p:spPr>
        <p:txBody>
          <a:bodyPr/>
          <a:lstStyle/>
          <a:p>
            <a:r>
              <a:rPr lang="en-GB" dirty="0"/>
              <a:t>Proportionality and public health</a:t>
            </a:r>
          </a:p>
        </p:txBody>
      </p:sp>
      <p:sp>
        <p:nvSpPr>
          <p:cNvPr id="3" name="Content Placeholder 2"/>
          <p:cNvSpPr>
            <a:spLocks noGrp="1"/>
          </p:cNvSpPr>
          <p:nvPr>
            <p:ph idx="1"/>
          </p:nvPr>
        </p:nvSpPr>
        <p:spPr/>
        <p:txBody>
          <a:bodyPr/>
          <a:lstStyle/>
          <a:p>
            <a:pPr>
              <a:buFont typeface="+mj-lt"/>
              <a:buAutoNum type="arabicPeriod"/>
            </a:pPr>
            <a:r>
              <a:rPr lang="en-GB" dirty="0">
                <a:latin typeface="+mj-lt"/>
              </a:rPr>
              <a:t>Austria relied on the protection of human health as justification for the restriction. They had two separate grounds of justification:</a:t>
            </a:r>
          </a:p>
          <a:p>
            <a:pPr>
              <a:buFont typeface="+mj-lt"/>
              <a:buAutoNum type="arabicPeriod"/>
            </a:pPr>
            <a:endParaRPr lang="en-GB" dirty="0">
              <a:latin typeface="+mj-lt"/>
            </a:endParaRPr>
          </a:p>
          <a:p>
            <a:pPr>
              <a:buFont typeface="+mj-lt"/>
              <a:buAutoNum type="arabicPeriod"/>
            </a:pPr>
            <a:r>
              <a:rPr lang="en-GB" dirty="0">
                <a:latin typeface="+mj-lt"/>
              </a:rPr>
              <a:t>Ensuring the high quality of blood </a:t>
            </a:r>
          </a:p>
          <a:p>
            <a:pPr>
              <a:buFont typeface="+mj-lt"/>
              <a:buAutoNum type="arabicPeriod"/>
            </a:pPr>
            <a:endParaRPr lang="en-GB" dirty="0">
              <a:latin typeface="+mj-lt"/>
            </a:endParaRPr>
          </a:p>
          <a:p>
            <a:pPr>
              <a:buFont typeface="+mj-lt"/>
              <a:buAutoNum type="arabicPeriod"/>
            </a:pPr>
            <a:r>
              <a:rPr lang="en-GB" dirty="0">
                <a:latin typeface="+mj-lt"/>
              </a:rPr>
              <a:t>Encouraging more people to donate blood</a:t>
            </a:r>
          </a:p>
          <a:p>
            <a:pPr>
              <a:buFont typeface="+mj-lt"/>
              <a:buAutoNum type="arabicPeriod"/>
            </a:pPr>
            <a:endParaRPr lang="en-GB" dirty="0">
              <a:latin typeface="+mj-lt"/>
            </a:endParaRPr>
          </a:p>
          <a:p>
            <a:pPr>
              <a:buFont typeface="+mj-lt"/>
              <a:buAutoNum type="arabicPeriod"/>
            </a:pPr>
            <a:r>
              <a:rPr lang="en-GB" dirty="0">
                <a:latin typeface="+mj-lt"/>
              </a:rPr>
              <a:t>Does the Austrian legislation comply with the proportionality test?</a:t>
            </a:r>
          </a:p>
          <a:p>
            <a:pPr>
              <a:buFont typeface="+mj-lt"/>
              <a:buAutoNum type="arabicPeriod"/>
            </a:pPr>
            <a:endParaRPr lang="en-GB" dirty="0">
              <a:latin typeface="+mj-lt"/>
            </a:endParaRPr>
          </a:p>
          <a:p>
            <a:pPr>
              <a:buFont typeface="+mj-lt"/>
              <a:buAutoNum type="arabicPeriod"/>
            </a:pPr>
            <a:endParaRPr lang="en-GB" dirty="0">
              <a:latin typeface="+mj-lt"/>
            </a:endParaRPr>
          </a:p>
          <a:p>
            <a:pPr marL="1257300" lvl="2" indent="-342900">
              <a:buFont typeface="+mj-lt"/>
              <a:buAutoNum type="alphaLcPeriod"/>
            </a:pPr>
            <a:endParaRPr lang="en-GB" sz="1800" dirty="0">
              <a:latin typeface="+mj-lt"/>
            </a:endParaRPr>
          </a:p>
        </p:txBody>
      </p:sp>
    </p:spTree>
    <p:extLst>
      <p:ext uri="{BB962C8B-B14F-4D97-AF65-F5344CB8AC3E}">
        <p14:creationId xmlns:p14="http://schemas.microsoft.com/office/powerpoint/2010/main" val="1962699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332656"/>
            <a:ext cx="7772400" cy="1143000"/>
          </a:xfrm>
        </p:spPr>
        <p:txBody>
          <a:bodyPr/>
          <a:lstStyle/>
          <a:p>
            <a:r>
              <a:rPr lang="en-GB" dirty="0"/>
              <a:t>Proportionality and public health</a:t>
            </a:r>
          </a:p>
        </p:txBody>
      </p:sp>
      <p:sp>
        <p:nvSpPr>
          <p:cNvPr id="3" name="Content Placeholder 2"/>
          <p:cNvSpPr>
            <a:spLocks noGrp="1"/>
          </p:cNvSpPr>
          <p:nvPr>
            <p:ph idx="1"/>
          </p:nvPr>
        </p:nvSpPr>
        <p:spPr>
          <a:xfrm>
            <a:off x="683568" y="1556792"/>
            <a:ext cx="7772400" cy="3816350"/>
          </a:xfrm>
        </p:spPr>
        <p:txBody>
          <a:bodyPr/>
          <a:lstStyle/>
          <a:p>
            <a:pPr>
              <a:buFont typeface="+mj-lt"/>
              <a:buAutoNum type="arabicPeriod"/>
            </a:pPr>
            <a:r>
              <a:rPr lang="en-GB" dirty="0">
                <a:latin typeface="+mj-lt"/>
              </a:rPr>
              <a:t>Case C-333/14, </a:t>
            </a:r>
            <a:r>
              <a:rPr lang="en-GB" i="1" dirty="0">
                <a:latin typeface="+mj-lt"/>
              </a:rPr>
              <a:t>Scotch Whisky</a:t>
            </a:r>
          </a:p>
          <a:p>
            <a:pPr>
              <a:buFont typeface="+mj-lt"/>
              <a:buAutoNum type="arabicPeriod"/>
            </a:pPr>
            <a:endParaRPr lang="en-GB" i="1" dirty="0">
              <a:latin typeface="+mj-lt"/>
            </a:endParaRPr>
          </a:p>
          <a:p>
            <a:pPr>
              <a:buFont typeface="+mj-lt"/>
              <a:buAutoNum type="arabicPeriod"/>
            </a:pPr>
            <a:r>
              <a:rPr lang="en-GB" dirty="0">
                <a:latin typeface="+mj-lt"/>
              </a:rPr>
              <a:t>The Scottish Ministers introduced a so-called minimum price per unit (MPU) for alcoholic products</a:t>
            </a:r>
          </a:p>
          <a:p>
            <a:pPr>
              <a:buFont typeface="+mj-lt"/>
              <a:buAutoNum type="arabicPeriod"/>
            </a:pPr>
            <a:endParaRPr lang="en-GB" dirty="0">
              <a:latin typeface="+mj-lt"/>
            </a:endParaRPr>
          </a:p>
          <a:p>
            <a:pPr>
              <a:buFont typeface="+mj-lt"/>
              <a:buAutoNum type="arabicPeriod"/>
            </a:pPr>
            <a:r>
              <a:rPr lang="en-GB" dirty="0">
                <a:latin typeface="+mj-lt"/>
              </a:rPr>
              <a:t>Scotland argued that the measure aimed to reduce alcohol consumption and, as such, to protect the health and life of humans</a:t>
            </a:r>
          </a:p>
          <a:p>
            <a:pPr>
              <a:buFont typeface="+mj-lt"/>
              <a:buAutoNum type="arabicPeriod"/>
            </a:pPr>
            <a:endParaRPr lang="en-GB" dirty="0">
              <a:latin typeface="+mj-lt"/>
            </a:endParaRPr>
          </a:p>
          <a:p>
            <a:pPr>
              <a:buFont typeface="+mj-lt"/>
              <a:buAutoNum type="arabicPeriod"/>
            </a:pPr>
            <a:r>
              <a:rPr lang="en-GB" dirty="0">
                <a:latin typeface="+mj-lt"/>
              </a:rPr>
              <a:t>Does the MPU measure comply with the proportionality test? The ECJ suggested that a fiscal measure could be a less restrictive alternative. </a:t>
            </a:r>
          </a:p>
          <a:p>
            <a:pPr>
              <a:buFont typeface="+mj-lt"/>
              <a:buAutoNum type="arabicPeriod"/>
            </a:pPr>
            <a:endParaRPr lang="en-GB" dirty="0">
              <a:latin typeface="+mj-lt"/>
            </a:endParaRPr>
          </a:p>
          <a:p>
            <a:pPr>
              <a:buFont typeface="+mj-lt"/>
              <a:buAutoNum type="arabicPeriod"/>
            </a:pPr>
            <a:r>
              <a:rPr lang="en-GB" dirty="0">
                <a:latin typeface="+mj-lt"/>
              </a:rPr>
              <a:t>Read the judgment of the UK Supreme Court delivered on 15</a:t>
            </a:r>
            <a:r>
              <a:rPr lang="en-GB" baseline="30000" dirty="0">
                <a:latin typeface="+mj-lt"/>
              </a:rPr>
              <a:t>th</a:t>
            </a:r>
            <a:r>
              <a:rPr lang="en-GB" dirty="0">
                <a:latin typeface="+mj-lt"/>
              </a:rPr>
              <a:t> November 2017: </a:t>
            </a:r>
            <a:r>
              <a:rPr lang="en-GB" i="1" dirty="0">
                <a:latin typeface="+mj-lt"/>
              </a:rPr>
              <a:t>Scotch Whisky Association and others v The Lord Advocate and Another </a:t>
            </a:r>
            <a:r>
              <a:rPr lang="en-GB" dirty="0">
                <a:latin typeface="+mj-lt"/>
              </a:rPr>
              <a:t>[2017] UKSC 76</a:t>
            </a:r>
          </a:p>
        </p:txBody>
      </p:sp>
    </p:spTree>
    <p:extLst>
      <p:ext uri="{BB962C8B-B14F-4D97-AF65-F5344CB8AC3E}">
        <p14:creationId xmlns:p14="http://schemas.microsoft.com/office/powerpoint/2010/main" val="3882545714"/>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802</TotalTime>
  <Words>1019</Words>
  <Application>Microsoft Macintosh PowerPoint</Application>
  <PresentationFormat>On-screen Show (4:3)</PresentationFormat>
  <Paragraphs>104</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Times</vt:lpstr>
      <vt:lpstr>Blank</vt:lpstr>
      <vt:lpstr>EU Internal Market 2024-2025</vt:lpstr>
      <vt:lpstr>The structure of lecture 6</vt:lpstr>
      <vt:lpstr>Treaty derogations in Article 36 TFEU</vt:lpstr>
      <vt:lpstr>Treaty derogations in Article 36 TFEU</vt:lpstr>
      <vt:lpstr>Treaty derogations in Article 36 TFEU</vt:lpstr>
      <vt:lpstr>Treaty derogations in Article 36 TFEU</vt:lpstr>
      <vt:lpstr>Mandatory requirements after Cassis</vt:lpstr>
      <vt:lpstr>The role of fundamental rights </vt:lpstr>
      <vt:lpstr>Proportionality </vt:lpstr>
      <vt:lpstr>Suitability </vt:lpstr>
      <vt:lpstr>Necessity</vt:lpstr>
      <vt:lpstr>Proportionality and public health</vt:lpstr>
      <vt:lpstr>Proportionality and public health</vt:lpstr>
      <vt:lpstr>Proportionality and public health</vt:lpstr>
    </vt:vector>
  </TitlesOfParts>
  <Company>MUFC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style for title slide</dc:title>
  <dc:creator>Eric</dc:creator>
  <cp:lastModifiedBy>GEORGIOU, ANDREAS</cp:lastModifiedBy>
  <cp:revision>66</cp:revision>
  <dcterms:created xsi:type="dcterms:W3CDTF">2005-05-25T16:21:13Z</dcterms:created>
  <dcterms:modified xsi:type="dcterms:W3CDTF">2024-10-07T12:17:37Z</dcterms:modified>
</cp:coreProperties>
</file>