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4"/>
  </p:notesMasterIdLst>
  <p:sldIdLst>
    <p:sldId id="274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>
      <p:cViewPr varScale="1">
        <p:scale>
          <a:sx n="103" d="100"/>
          <a:sy n="103" d="100"/>
        </p:scale>
        <p:origin x="188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15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D96B72-7B78-4AF6-9E2A-ACF0D6FF50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083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5516563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755650" y="47625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2420938"/>
            <a:ext cx="7561262" cy="1752600"/>
          </a:xfrm>
        </p:spPr>
        <p:txBody>
          <a:bodyPr/>
          <a:lstStyle>
            <a:lvl1pPr marL="0" indent="0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A4C3F-C7EA-4ACD-A688-00B8AB7459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9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BEF36-167C-4C49-8BEC-492A52FB25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36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B25EF-8505-41EF-9FA9-7086DB9CD6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41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92C22-D07F-40BC-BDA1-A66BDD0B51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29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D9969B-DFAC-45A2-A97A-3A45D334CB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1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08585-A115-42BE-AB24-3F9E13C77F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29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B4418-570D-4619-8178-AA43F1EEE1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31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4CDFD-3AD0-42DF-91C7-33373E0E8D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245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9D50C-17A8-4EF5-9234-192251A318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3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03C77-C923-4C93-BA88-C3252B5B2F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17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95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195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064F13-510B-4910-B11C-E04CB8484A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1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0" y="0"/>
            <a:ext cx="9140825" cy="6873875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r>
              <a:rPr lang="en-GB" altLang="en-US">
                <a:solidFill>
                  <a:srgbClr val="663366"/>
                </a:solidFill>
              </a:rPr>
              <a:t>∂</a:t>
            </a:r>
          </a:p>
        </p:txBody>
      </p:sp>
      <p:sp>
        <p:nvSpPr>
          <p:cNvPr id="1027" name="Rectangle 8"/>
          <p:cNvSpPr>
            <a:spLocks noChangeArrowheads="1"/>
          </p:cNvSpPr>
          <p:nvPr userDrawn="1"/>
        </p:nvSpPr>
        <p:spPr bwMode="auto">
          <a:xfrm>
            <a:off x="107950" y="107950"/>
            <a:ext cx="8924925" cy="665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Heading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A5A50F5-2650-4FA7-BA16-E4DBD2873D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790575" y="611188"/>
            <a:ext cx="8024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defRPr/>
            </a:pPr>
            <a:endParaRPr lang="en-US" altLang="en-US" sz="4400">
              <a:solidFill>
                <a:schemeClr val="bg1"/>
              </a:solidFill>
            </a:endParaRP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790575" y="1798638"/>
            <a:ext cx="8024813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EU Internal Market 2024-2025</a:t>
            </a:r>
          </a:p>
        </p:txBody>
      </p:sp>
      <p:sp>
        <p:nvSpPr>
          <p:cNvPr id="1024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dirty="0">
                <a:latin typeface="+mj-lt"/>
              </a:rPr>
              <a:t>Lecture 3: Article 30 TFEU and Article 110 TFEU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dirty="0">
              <a:latin typeface="+mj-lt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dirty="0">
                <a:latin typeface="+mj-lt"/>
              </a:rPr>
              <a:t>Andreas Georgiou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dirty="0">
              <a:latin typeface="+mj-lt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dirty="0" err="1">
                <a:latin typeface="+mj-lt"/>
              </a:rPr>
              <a:t>andreas.georgiou@durham.ac.uk</a:t>
            </a:r>
            <a:endParaRPr lang="en-GB" altLang="en-US" sz="2000" dirty="0">
              <a:solidFill>
                <a:srgbClr val="663366"/>
              </a:solidFill>
              <a:latin typeface="+mj-lt"/>
            </a:endParaRPr>
          </a:p>
          <a:p>
            <a:pPr eaLnBrk="1" hangingPunct="1"/>
            <a:endParaRPr lang="en-GB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/>
              <a:t>structure of lecture 3</a:t>
            </a:r>
            <a:endParaRPr lang="en-US" alt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altLang="en-US" dirty="0">
                <a:latin typeface="+mj-lt"/>
              </a:rPr>
              <a:t>The structure of free movement law</a:t>
            </a:r>
          </a:p>
          <a:p>
            <a:pPr>
              <a:buFont typeface="+mj-lt"/>
              <a:buAutoNum type="arabicPeriod"/>
            </a:pPr>
            <a:endParaRPr lang="en-US" altLang="en-US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altLang="en-US" dirty="0">
                <a:latin typeface="+mj-lt"/>
              </a:rPr>
              <a:t>Article 28 TFEU: the creation of a customs union</a:t>
            </a:r>
          </a:p>
          <a:p>
            <a:pPr>
              <a:buFont typeface="+mj-lt"/>
              <a:buAutoNum type="arabicPeriod"/>
            </a:pPr>
            <a:endParaRPr lang="en-US" altLang="en-US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altLang="en-US" dirty="0">
                <a:latin typeface="+mj-lt"/>
              </a:rPr>
              <a:t>Article 30 TFEU: the prohibition on customs duties</a:t>
            </a:r>
          </a:p>
          <a:p>
            <a:pPr>
              <a:buFont typeface="+mj-lt"/>
              <a:buAutoNum type="arabicPeriod"/>
            </a:pPr>
            <a:endParaRPr lang="en-US" altLang="en-US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altLang="en-US" dirty="0">
                <a:latin typeface="+mj-lt"/>
              </a:rPr>
              <a:t>Article 110 TFEU: the prohibition on discriminatory internal taxation</a:t>
            </a:r>
          </a:p>
          <a:p>
            <a:pPr>
              <a:buFont typeface="+mj-lt"/>
              <a:buAutoNum type="arabicPeriod"/>
            </a:pPr>
            <a:endParaRPr lang="en-US" altLang="en-US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altLang="en-US" dirty="0">
                <a:latin typeface="+mj-lt"/>
              </a:rPr>
              <a:t>The interaction between Article 30 and Article 110 TFEU</a:t>
            </a:r>
          </a:p>
          <a:p>
            <a:pPr>
              <a:buFont typeface="+mj-lt"/>
              <a:buAutoNum type="arabicPeriod"/>
            </a:pPr>
            <a:endParaRPr lang="en-US" altLang="en-US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altLang="en-US" dirty="0">
              <a:latin typeface="+mj-lt"/>
            </a:endParaRPr>
          </a:p>
          <a:p>
            <a:pPr marL="0" indent="0"/>
            <a:endParaRPr lang="en-US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Article 28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GB" dirty="0">
                <a:latin typeface="+mj-lt"/>
              </a:rPr>
              <a:t>The two dimensions of a customs union: the </a:t>
            </a:r>
            <a:r>
              <a:rPr lang="en-GB" b="1" dirty="0">
                <a:latin typeface="+mj-lt"/>
              </a:rPr>
              <a:t>internal dimension </a:t>
            </a:r>
            <a:r>
              <a:rPr lang="en-GB" dirty="0">
                <a:latin typeface="+mj-lt"/>
              </a:rPr>
              <a:t>(prohibition of customs duties on goods moving between Member States) and the </a:t>
            </a:r>
            <a:r>
              <a:rPr lang="en-GB" b="1" dirty="0">
                <a:latin typeface="+mj-lt"/>
              </a:rPr>
              <a:t>external dimension </a:t>
            </a:r>
            <a:r>
              <a:rPr lang="en-GB" dirty="0">
                <a:latin typeface="+mj-lt"/>
              </a:rPr>
              <a:t>(a common customs tariff for goods entering the EU from third countries)</a:t>
            </a:r>
          </a:p>
          <a:p>
            <a:pPr>
              <a:buAutoNum type="arabicPeriod"/>
            </a:pPr>
            <a:endParaRPr lang="en-GB" dirty="0">
              <a:latin typeface="+mj-lt"/>
            </a:endParaRPr>
          </a:p>
          <a:p>
            <a:pPr>
              <a:buAutoNum type="arabicPeriod"/>
            </a:pPr>
            <a:r>
              <a:rPr lang="en-GB" dirty="0">
                <a:latin typeface="+mj-lt"/>
              </a:rPr>
              <a:t>Once goods coming from third countries have entered the EU, Member States are prohibited from charging customs duties on them (once they are “</a:t>
            </a:r>
            <a:r>
              <a:rPr lang="en-GB" b="1" dirty="0">
                <a:latin typeface="+mj-lt"/>
              </a:rPr>
              <a:t>in free circulation</a:t>
            </a:r>
            <a:r>
              <a:rPr lang="en-GB" dirty="0">
                <a:latin typeface="+mj-lt"/>
              </a:rPr>
              <a:t>”). They are then considered to be EU products.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305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1143000"/>
          </a:xfrm>
        </p:spPr>
        <p:txBody>
          <a:bodyPr/>
          <a:lstStyle/>
          <a:p>
            <a:r>
              <a:rPr lang="en-GB" dirty="0"/>
              <a:t>Article 30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124744"/>
            <a:ext cx="7772400" cy="381635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A prohibition on </a:t>
            </a:r>
            <a:r>
              <a:rPr lang="en-GB" b="1" dirty="0">
                <a:latin typeface="+mj-lt"/>
              </a:rPr>
              <a:t>customs duties </a:t>
            </a:r>
            <a:r>
              <a:rPr lang="en-GB" dirty="0">
                <a:latin typeface="+mj-lt"/>
              </a:rPr>
              <a:t>and “</a:t>
            </a:r>
            <a:r>
              <a:rPr lang="en-GB" b="1" dirty="0">
                <a:latin typeface="+mj-lt"/>
              </a:rPr>
              <a:t>all charges having equivalent effect</a:t>
            </a:r>
            <a:r>
              <a:rPr lang="en-GB" dirty="0">
                <a:latin typeface="+mj-lt"/>
              </a:rPr>
              <a:t>”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Customs duties: a sum of money that you have to pay when goods cross a border (either import or export). 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Charges having equivalent effect (to a customs duty) (“</a:t>
            </a:r>
            <a:r>
              <a:rPr lang="en-GB" b="1" dirty="0">
                <a:latin typeface="+mj-lt"/>
              </a:rPr>
              <a:t>CEEs</a:t>
            </a:r>
            <a:r>
              <a:rPr lang="en-GB" dirty="0">
                <a:latin typeface="+mj-lt"/>
              </a:rPr>
              <a:t>”): customs duties that have been </a:t>
            </a:r>
            <a:r>
              <a:rPr lang="en-GB" b="1" dirty="0">
                <a:latin typeface="+mj-lt"/>
              </a:rPr>
              <a:t>labelled</a:t>
            </a:r>
            <a:r>
              <a:rPr lang="en-GB" dirty="0">
                <a:latin typeface="+mj-lt"/>
              </a:rPr>
              <a:t> differently, but that are still sums of money that have to be paid on goods crossing a border</a:t>
            </a:r>
          </a:p>
          <a:p>
            <a:pPr>
              <a:buFont typeface="+mj-lt"/>
              <a:buAutoNum type="arabicPeriod"/>
            </a:pPr>
            <a:endParaRPr lang="en-GB" b="1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“</a:t>
            </a:r>
            <a:r>
              <a:rPr lang="en-GB" i="1" dirty="0">
                <a:latin typeface="+mj-lt"/>
              </a:rPr>
              <a:t>any pecuniary charge, whatever its designation and mode of application, which is unilaterally imposed on goods imported from another Member State by reason of the fact that they cross a frontier, constitutes a charge having an effect equivalent to a customs duty</a:t>
            </a:r>
            <a:r>
              <a:rPr lang="en-GB" dirty="0"/>
              <a:t>” </a:t>
            </a:r>
            <a:r>
              <a:rPr lang="en-GB" dirty="0">
                <a:latin typeface="+mj-lt"/>
              </a:rPr>
              <a:t>(Case C-87/85,  </a:t>
            </a:r>
            <a:r>
              <a:rPr lang="en-GB" i="1" dirty="0" err="1">
                <a:latin typeface="+mj-lt"/>
              </a:rPr>
              <a:t>Bresciani</a:t>
            </a:r>
            <a:r>
              <a:rPr lang="en-GB" dirty="0">
                <a:latin typeface="+mj-lt"/>
              </a:rPr>
              <a:t>)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Article 30 TFEU also applies to customs duties charged on goods crossing </a:t>
            </a:r>
            <a:r>
              <a:rPr lang="en-GB" b="1" dirty="0">
                <a:latin typeface="+mj-lt"/>
              </a:rPr>
              <a:t>internal borders </a:t>
            </a:r>
            <a:r>
              <a:rPr lang="en-GB" dirty="0">
                <a:latin typeface="+mj-lt"/>
              </a:rPr>
              <a:t>within one Member State (Case C-72/03, </a:t>
            </a:r>
            <a:r>
              <a:rPr lang="en-GB" i="1" dirty="0" err="1">
                <a:latin typeface="+mj-lt"/>
              </a:rPr>
              <a:t>Carbonati</a:t>
            </a:r>
            <a:r>
              <a:rPr lang="en-GB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3688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1143000"/>
          </a:xfrm>
        </p:spPr>
        <p:txBody>
          <a:bodyPr/>
          <a:lstStyle/>
          <a:p>
            <a:r>
              <a:rPr lang="en-GB" dirty="0"/>
              <a:t>Article 30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12776"/>
            <a:ext cx="7772400" cy="381635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Customs duties or charges having equivalent effect are prohibited: there is no possibility for Member States to justify them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As a result, the </a:t>
            </a:r>
            <a:r>
              <a:rPr lang="en-GB" b="1" dirty="0">
                <a:latin typeface="+mj-lt"/>
              </a:rPr>
              <a:t>purpose</a:t>
            </a:r>
            <a:r>
              <a:rPr lang="en-GB" dirty="0">
                <a:latin typeface="+mj-lt"/>
              </a:rPr>
              <a:t> of imposing a CEE is irrelevant. Member States cannot justify CEEs on the basis that their revenue is used for a social purpose (Case C-2/69, </a:t>
            </a:r>
            <a:r>
              <a:rPr lang="en-GB" i="1" dirty="0">
                <a:latin typeface="+mj-lt"/>
              </a:rPr>
              <a:t>Diamantarbeiders</a:t>
            </a:r>
            <a:r>
              <a:rPr lang="en-GB" dirty="0">
                <a:latin typeface="+mj-lt"/>
              </a:rPr>
              <a:t>) 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There are two exceptions:</a:t>
            </a:r>
          </a:p>
          <a:p>
            <a:pPr marL="1257300" lvl="2" indent="-342900">
              <a:buFont typeface="+mj-lt"/>
              <a:buAutoNum type="alphaLcPeriod"/>
            </a:pPr>
            <a:endParaRPr lang="en-GB" dirty="0">
              <a:latin typeface="+mj-lt"/>
            </a:endParaRP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The payment is consideration for an </a:t>
            </a:r>
            <a:r>
              <a:rPr lang="en-GB" sz="1800" b="1" i="1" dirty="0">
                <a:latin typeface="+mj-lt"/>
              </a:rPr>
              <a:t>actual service </a:t>
            </a:r>
            <a:r>
              <a:rPr lang="en-GB" sz="1800" dirty="0">
                <a:latin typeface="+mj-lt"/>
              </a:rPr>
              <a:t>provided to the importer/exporter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The payment is compensation for a </a:t>
            </a:r>
            <a:r>
              <a:rPr lang="en-GB" sz="1800" b="1" i="1" dirty="0">
                <a:latin typeface="+mj-lt"/>
              </a:rPr>
              <a:t>health inspection </a:t>
            </a:r>
            <a:r>
              <a:rPr lang="en-GB" sz="1800" dirty="0">
                <a:latin typeface="+mj-lt"/>
              </a:rPr>
              <a:t>which is </a:t>
            </a:r>
            <a:r>
              <a:rPr lang="en-GB" sz="1800" b="1" i="1" dirty="0">
                <a:latin typeface="+mj-lt"/>
              </a:rPr>
              <a:t>required by EU law</a:t>
            </a:r>
          </a:p>
          <a:p>
            <a:pPr marL="1257300" lvl="2" indent="-342900">
              <a:buFont typeface="+mj-lt"/>
              <a:buAutoNum type="alphaLcPeriod"/>
            </a:pP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4165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0"/>
            <a:ext cx="7772400" cy="1143000"/>
          </a:xfrm>
        </p:spPr>
        <p:txBody>
          <a:bodyPr/>
          <a:lstStyle/>
          <a:p>
            <a:r>
              <a:rPr lang="en-GB" dirty="0"/>
              <a:t>Article 30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340768"/>
            <a:ext cx="7772400" cy="381635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It is not easy for Member States to claim that a CEE constitutes consideration for a service provided to the importer. There has to be a </a:t>
            </a:r>
            <a:r>
              <a:rPr lang="en-GB" b="1" dirty="0">
                <a:latin typeface="+mj-lt"/>
              </a:rPr>
              <a:t>genuine</a:t>
            </a:r>
            <a:r>
              <a:rPr lang="en-GB" dirty="0">
                <a:latin typeface="+mj-lt"/>
              </a:rPr>
              <a:t> benefit to the </a:t>
            </a:r>
            <a:r>
              <a:rPr lang="en-GB" b="1" dirty="0">
                <a:latin typeface="+mj-lt"/>
              </a:rPr>
              <a:t>individual</a:t>
            </a:r>
            <a:r>
              <a:rPr lang="en-GB" dirty="0">
                <a:latin typeface="+mj-lt"/>
              </a:rPr>
              <a:t> importer (Case C-24/68, </a:t>
            </a:r>
            <a:r>
              <a:rPr lang="en-GB" i="1" dirty="0">
                <a:latin typeface="+mj-lt"/>
              </a:rPr>
              <a:t>Statistical Levy</a:t>
            </a:r>
            <a:r>
              <a:rPr lang="en-GB" dirty="0">
                <a:latin typeface="+mj-lt"/>
              </a:rPr>
              <a:t>). Similarly, see Case C-132/82, </a:t>
            </a:r>
            <a:r>
              <a:rPr lang="en-GB" i="1" dirty="0">
                <a:latin typeface="+mj-lt"/>
              </a:rPr>
              <a:t>Belgian Warehousing</a:t>
            </a:r>
            <a:r>
              <a:rPr lang="en-GB" dirty="0">
                <a:latin typeface="+mj-lt"/>
              </a:rPr>
              <a:t> 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Member States are allowed to charge for health inspections that are required by EU law. However, they have to comply with a number of conditions (Case C-18/87, </a:t>
            </a:r>
            <a:r>
              <a:rPr lang="en-GB" i="1" dirty="0">
                <a:latin typeface="+mj-lt"/>
              </a:rPr>
              <a:t>Commission v Germany</a:t>
            </a:r>
            <a:r>
              <a:rPr lang="en-GB" dirty="0">
                <a:latin typeface="+mj-lt"/>
              </a:rPr>
              <a:t>):</a:t>
            </a:r>
          </a:p>
          <a:p>
            <a:pPr marL="1257300" lvl="2" indent="-342900">
              <a:buFont typeface="+mj-lt"/>
              <a:buAutoNum type="alphaLcPeriod"/>
            </a:pPr>
            <a:endParaRPr lang="en-GB" sz="1800" dirty="0">
              <a:latin typeface="+mj-lt"/>
            </a:endParaRP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The charge must not exceed the actual costs of the inspection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The inspections must be obligatory and for all products in the EU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They must be required by EU law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They must promote the free movement of goods</a:t>
            </a:r>
          </a:p>
          <a:p>
            <a:pPr marL="1257300" lvl="2" indent="-342900">
              <a:buFont typeface="+mj-lt"/>
              <a:buAutoNum type="alphaLcPeriod"/>
            </a:pPr>
            <a:endParaRPr lang="en-GB" sz="1800" dirty="0">
              <a:latin typeface="+mj-lt"/>
            </a:endParaRPr>
          </a:p>
          <a:p>
            <a:pPr marL="1257300" lvl="2" indent="-342900">
              <a:buFont typeface="+mj-lt"/>
              <a:buAutoNum type="alphaLcPeriod"/>
            </a:pPr>
            <a:endParaRPr lang="en-GB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926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143000"/>
          </a:xfrm>
        </p:spPr>
        <p:txBody>
          <a:bodyPr/>
          <a:lstStyle/>
          <a:p>
            <a:r>
              <a:rPr lang="en-GB" dirty="0"/>
              <a:t>Article 110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12776"/>
            <a:ext cx="7772400" cy="3816350"/>
          </a:xfrm>
        </p:spPr>
        <p:txBody>
          <a:bodyPr/>
          <a:lstStyle/>
          <a:p>
            <a:pPr>
              <a:buAutoNum type="arabicPeriod"/>
            </a:pPr>
            <a:r>
              <a:rPr lang="en-GB" dirty="0">
                <a:latin typeface="+mj-lt"/>
              </a:rPr>
              <a:t>Unlike Article 30 TFEU, which is about money being charged on goods </a:t>
            </a:r>
            <a:r>
              <a:rPr lang="en-GB" b="1" dirty="0">
                <a:latin typeface="+mj-lt"/>
              </a:rPr>
              <a:t>crossing borders</a:t>
            </a:r>
            <a:r>
              <a:rPr lang="en-GB" dirty="0">
                <a:latin typeface="+mj-lt"/>
              </a:rPr>
              <a:t>, Article 110 TFEU is about </a:t>
            </a:r>
            <a:r>
              <a:rPr lang="en-GB" b="1" dirty="0">
                <a:latin typeface="+mj-lt"/>
              </a:rPr>
              <a:t>internal taxation</a:t>
            </a:r>
            <a:r>
              <a:rPr lang="en-GB" dirty="0">
                <a:latin typeface="+mj-lt"/>
              </a:rPr>
              <a:t>: tax charges that apply to all goods regardless of where they come from (domestic and imported products)</a:t>
            </a:r>
          </a:p>
          <a:p>
            <a:pPr>
              <a:buAutoNum type="arabicPeriod"/>
            </a:pPr>
            <a:endParaRPr lang="en-GB" dirty="0">
              <a:latin typeface="+mj-lt"/>
            </a:endParaRPr>
          </a:p>
          <a:p>
            <a:pPr>
              <a:buAutoNum type="arabicPeriod"/>
            </a:pPr>
            <a:r>
              <a:rPr lang="en-GB" dirty="0">
                <a:latin typeface="+mj-lt"/>
              </a:rPr>
              <a:t>In principle, Member States have retained the competence to decide whether and how they want to tax certain products. However, Article 110 TFEU prohibits them from doing two things:</a:t>
            </a:r>
          </a:p>
          <a:p>
            <a:pPr>
              <a:buAutoNum type="arabicPeriod"/>
            </a:pPr>
            <a:endParaRPr lang="en-GB" dirty="0">
              <a:latin typeface="+mj-lt"/>
            </a:endParaRP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They cannot discriminate against </a:t>
            </a:r>
            <a:r>
              <a:rPr lang="en-GB" sz="1800" b="1" i="1" dirty="0">
                <a:latin typeface="+mj-lt"/>
              </a:rPr>
              <a:t>similar</a:t>
            </a:r>
            <a:r>
              <a:rPr lang="en-GB" sz="1800" dirty="0">
                <a:latin typeface="+mj-lt"/>
              </a:rPr>
              <a:t> products from other Member States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They cannot afford indirect protection to domestic products that are </a:t>
            </a:r>
            <a:r>
              <a:rPr lang="en-GB" sz="1800" b="1" i="1" dirty="0">
                <a:latin typeface="+mj-lt"/>
              </a:rPr>
              <a:t>in competition </a:t>
            </a:r>
            <a:r>
              <a:rPr lang="en-GB" sz="1800" dirty="0">
                <a:latin typeface="+mj-lt"/>
              </a:rPr>
              <a:t>with imported products</a:t>
            </a:r>
          </a:p>
        </p:txBody>
      </p:sp>
    </p:spTree>
    <p:extLst>
      <p:ext uri="{BB962C8B-B14F-4D97-AF65-F5344CB8AC3E}">
        <p14:creationId xmlns:p14="http://schemas.microsoft.com/office/powerpoint/2010/main" val="363905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88640"/>
            <a:ext cx="7772400" cy="1143000"/>
          </a:xfrm>
        </p:spPr>
        <p:txBody>
          <a:bodyPr/>
          <a:lstStyle/>
          <a:p>
            <a:r>
              <a:rPr lang="en-GB" dirty="0"/>
              <a:t>Article 110(1)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052736"/>
            <a:ext cx="7772400" cy="381635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Article 110(1) prohibits discrimination against similar imported products. How do you decide if products are similar?</a:t>
            </a:r>
          </a:p>
          <a:p>
            <a:pPr marL="1257300" lvl="2" indent="-342900">
              <a:buFont typeface="+mj-lt"/>
              <a:buAutoNum type="alphaLcPeriod"/>
            </a:pPr>
            <a:endParaRPr lang="en-GB" sz="1800" dirty="0">
              <a:latin typeface="+mj-lt"/>
            </a:endParaRP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Do they have similar </a:t>
            </a:r>
            <a:r>
              <a:rPr lang="en-GB" sz="1800" b="1" dirty="0">
                <a:latin typeface="+mj-lt"/>
              </a:rPr>
              <a:t>characteristics</a:t>
            </a:r>
            <a:r>
              <a:rPr lang="en-GB" sz="1800" dirty="0">
                <a:latin typeface="+mj-lt"/>
              </a:rPr>
              <a:t> (content/method of production/price)?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GB" sz="1800" dirty="0">
                <a:latin typeface="+mj-lt"/>
              </a:rPr>
              <a:t>Do they satisfy similar </a:t>
            </a:r>
            <a:r>
              <a:rPr lang="en-GB" sz="1800" b="1" dirty="0">
                <a:latin typeface="+mj-lt"/>
              </a:rPr>
              <a:t>consumer needs</a:t>
            </a:r>
            <a:r>
              <a:rPr lang="en-GB" sz="1800" dirty="0">
                <a:latin typeface="+mj-lt"/>
              </a:rPr>
              <a:t>?</a:t>
            </a:r>
          </a:p>
          <a:p>
            <a:pPr marL="1257300" lvl="2" indent="-342900">
              <a:buFont typeface="+mj-lt"/>
              <a:buAutoNum type="alphaLcPeriod"/>
            </a:pPr>
            <a:endParaRPr lang="en-GB" sz="1800" dirty="0">
              <a:latin typeface="+mj-lt"/>
            </a:endParaRPr>
          </a:p>
          <a:p>
            <a:pPr marL="457200">
              <a:buFont typeface="+mj-lt"/>
              <a:buAutoNum type="arabicPeriod"/>
            </a:pPr>
            <a:r>
              <a:rPr lang="en-GB" dirty="0">
                <a:latin typeface="+mj-lt"/>
              </a:rPr>
              <a:t>Article 110(1) prohibits both direct and indirect discrimination. A good example of indirect discrimination is Case C-112/84, </a:t>
            </a:r>
            <a:r>
              <a:rPr lang="en-GB" i="1" dirty="0" err="1">
                <a:latin typeface="+mj-lt"/>
              </a:rPr>
              <a:t>Humblot</a:t>
            </a:r>
            <a:endParaRPr lang="en-GB" dirty="0">
              <a:latin typeface="+mj-lt"/>
            </a:endParaRPr>
          </a:p>
          <a:p>
            <a:pPr marL="457200"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 marL="457200">
              <a:buFont typeface="+mj-lt"/>
              <a:buAutoNum type="arabicPeriod"/>
            </a:pPr>
            <a:r>
              <a:rPr lang="en-GB" dirty="0">
                <a:latin typeface="+mj-lt"/>
              </a:rPr>
              <a:t>While direct discrimination can never be justified, indirect discrimination can be justified if Member States differentiate between different products on the basis of </a:t>
            </a:r>
            <a:r>
              <a:rPr lang="en-GB" b="1" dirty="0">
                <a:latin typeface="+mj-lt"/>
              </a:rPr>
              <a:t>objective criteria</a:t>
            </a:r>
            <a:r>
              <a:rPr lang="en-GB" dirty="0">
                <a:latin typeface="+mj-lt"/>
              </a:rPr>
              <a:t>. See Case C-140/79, </a:t>
            </a:r>
            <a:r>
              <a:rPr lang="en-GB" i="1" dirty="0" err="1">
                <a:latin typeface="+mj-lt"/>
              </a:rPr>
              <a:t>Chemial</a:t>
            </a:r>
            <a:r>
              <a:rPr lang="en-GB" i="1" dirty="0">
                <a:latin typeface="+mj-lt"/>
              </a:rPr>
              <a:t> </a:t>
            </a:r>
            <a:r>
              <a:rPr lang="en-GB" i="1" dirty="0" err="1">
                <a:latin typeface="+mj-lt"/>
              </a:rPr>
              <a:t>Farmaceutici</a:t>
            </a:r>
            <a:endParaRPr lang="en-GB" i="1" dirty="0">
              <a:latin typeface="+mj-lt"/>
            </a:endParaRPr>
          </a:p>
          <a:p>
            <a:pPr marL="457200"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 marL="457200">
              <a:buFont typeface="+mj-lt"/>
              <a:buAutoNum type="arabicPeriod"/>
            </a:pPr>
            <a:r>
              <a:rPr lang="en-GB" dirty="0">
                <a:latin typeface="+mj-lt"/>
              </a:rPr>
              <a:t>If the discrimination cannot be justified, Member States will have to equalise the taxes for both product groups</a:t>
            </a:r>
          </a:p>
          <a:p>
            <a:pPr marL="114300" indent="0"/>
            <a:endParaRPr lang="en-GB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2663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Article 110(2)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 scope of application of Article 110(2) is broader than Article 110(1). Goods do not have to be similar, but they have to be </a:t>
            </a:r>
            <a:r>
              <a:rPr lang="en-GB" b="1" dirty="0">
                <a:latin typeface="+mj-lt"/>
              </a:rPr>
              <a:t>in competition</a:t>
            </a:r>
            <a:r>
              <a:rPr lang="en-GB" dirty="0">
                <a:latin typeface="+mj-lt"/>
              </a:rPr>
              <a:t>. Therefore, you always start by assessing whether products are similar. If this is not the case, you analyse whether they are in competition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If they are in competition, Member </a:t>
            </a:r>
            <a:r>
              <a:rPr lang="en-GB">
                <a:latin typeface="+mj-lt"/>
              </a:rPr>
              <a:t>States cannot </a:t>
            </a:r>
            <a:r>
              <a:rPr lang="en-GB" dirty="0">
                <a:latin typeface="+mj-lt"/>
              </a:rPr>
              <a:t>afford indirect protection to their domestic products</a:t>
            </a:r>
          </a:p>
        </p:txBody>
      </p:sp>
    </p:spTree>
    <p:extLst>
      <p:ext uri="{BB962C8B-B14F-4D97-AF65-F5344CB8AC3E}">
        <p14:creationId xmlns:p14="http://schemas.microsoft.com/office/powerpoint/2010/main" val="98250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Article 110(2) TFEU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60848"/>
            <a:ext cx="3779973" cy="2519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http://www.frenchconnections.co.uk/images/general/winebottl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280" y="2060848"/>
            <a:ext cx="3302333" cy="250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08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Article </a:t>
            </a:r>
            <a:r>
              <a:rPr lang="en-GB"/>
              <a:t>110(2) TFEU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+mj-lt"/>
              </a:rPr>
              <a:t>Case C-170/78, </a:t>
            </a:r>
            <a:r>
              <a:rPr lang="en-GB" i="1" dirty="0">
                <a:latin typeface="+mj-lt"/>
              </a:rPr>
              <a:t>Commission v United Kingdom (“Wine and Beer”)</a:t>
            </a:r>
          </a:p>
          <a:p>
            <a:endParaRPr lang="en-GB" dirty="0">
              <a:latin typeface="+mj-lt"/>
            </a:endParaRPr>
          </a:p>
          <a:p>
            <a:r>
              <a:rPr lang="en-GB" dirty="0"/>
              <a:t>	</a:t>
            </a:r>
            <a:r>
              <a:rPr lang="en-GB" i="1" dirty="0">
                <a:latin typeface="+mj-lt"/>
              </a:rPr>
              <a:t>As regards the question of competition between wine and beer, the Court considered that, to a certain extent at least, the two beverages in question were capable of meeting identical needs, so that it had to be acknowledged that there was a degree of substitution for one another. It pointed out that, for the purpose of measuring the possible degree of substitution, attention should not be confined to consumer habits in a Member State or in a given region. Those habits, which were essentially variable in time and space, could not be considered to be immutable; the tax policy of a Member State must not therefore crystallize given consumer habits so as to consolidate an advantage acquired by national industries concerned to respond to them.</a:t>
            </a:r>
          </a:p>
        </p:txBody>
      </p:sp>
    </p:spTree>
    <p:extLst>
      <p:ext uri="{BB962C8B-B14F-4D97-AF65-F5344CB8AC3E}">
        <p14:creationId xmlns:p14="http://schemas.microsoft.com/office/powerpoint/2010/main" val="804849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1143000"/>
          </a:xfrm>
        </p:spPr>
        <p:txBody>
          <a:bodyPr/>
          <a:lstStyle/>
          <a:p>
            <a:r>
              <a:rPr lang="en-GB" dirty="0"/>
              <a:t>The relationship between Article 30 and Article 110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524" y="1520825"/>
            <a:ext cx="8564488" cy="3816350"/>
          </a:xfrm>
        </p:spPr>
        <p:txBody>
          <a:bodyPr/>
          <a:lstStyle/>
          <a:p>
            <a:pPr marL="0" indent="0"/>
            <a:r>
              <a:rPr lang="en-GB" dirty="0">
                <a:latin typeface="+mj-lt"/>
              </a:rPr>
              <a:t>Article 30 and Article 110 TFEU are </a:t>
            </a:r>
            <a:r>
              <a:rPr lang="en-GB" b="1" dirty="0">
                <a:latin typeface="+mj-lt"/>
              </a:rPr>
              <a:t>mutually exclusive</a:t>
            </a:r>
            <a:r>
              <a:rPr lang="en-GB" dirty="0">
                <a:latin typeface="+mj-lt"/>
              </a:rPr>
              <a:t>: Article 30 TFEU applies to customs duties and CEEs, while Article 110 TFEU applies to internal taxation. However, there are two more complicated scenarios: </a:t>
            </a:r>
          </a:p>
          <a:p>
            <a:pPr>
              <a:buAutoNum type="arabicPeriod"/>
            </a:pPr>
            <a:endParaRPr lang="en-GB" dirty="0">
              <a:latin typeface="+mj-lt"/>
            </a:endParaRPr>
          </a:p>
          <a:p>
            <a:pPr>
              <a:buAutoNum type="arabicPeriod"/>
            </a:pPr>
            <a:r>
              <a:rPr lang="en-GB" sz="1600" dirty="0">
                <a:latin typeface="+mj-lt"/>
              </a:rPr>
              <a:t>What if a product is </a:t>
            </a:r>
            <a:r>
              <a:rPr lang="en-GB" sz="1600" b="1" dirty="0">
                <a:latin typeface="+mj-lt"/>
              </a:rPr>
              <a:t>not produced</a:t>
            </a:r>
            <a:r>
              <a:rPr lang="en-GB" sz="1600" dirty="0">
                <a:latin typeface="+mj-lt"/>
              </a:rPr>
              <a:t> in the Member State which is imposing the charge? If the charge is part of a general system of taxation which is not related to the product crossing a border, it will still be assessed under Article 110 TFEU (even if there is no domestic comparator). See Case C-193/85, </a:t>
            </a:r>
            <a:r>
              <a:rPr lang="en-GB" sz="1600" i="1" dirty="0">
                <a:latin typeface="+mj-lt"/>
              </a:rPr>
              <a:t>Co-</a:t>
            </a:r>
            <a:r>
              <a:rPr lang="en-GB" sz="1600" i="1" dirty="0" err="1">
                <a:latin typeface="+mj-lt"/>
              </a:rPr>
              <a:t>Frutta</a:t>
            </a:r>
            <a:endParaRPr lang="en-GB" sz="1600" i="1" dirty="0">
              <a:latin typeface="+mj-lt"/>
            </a:endParaRPr>
          </a:p>
          <a:p>
            <a:pPr>
              <a:buAutoNum type="arabicPeriod"/>
            </a:pPr>
            <a:endParaRPr lang="en-GB" i="1" dirty="0">
              <a:latin typeface="+mj-lt"/>
            </a:endParaRPr>
          </a:p>
          <a:p>
            <a:pPr>
              <a:buAutoNum type="arabicPeriod"/>
            </a:pPr>
            <a:r>
              <a:rPr lang="en-GB" sz="1600" dirty="0">
                <a:latin typeface="+mj-lt"/>
              </a:rPr>
              <a:t>What if a Member State imposes a charge on all products, so that it looks like a system of general taxation, but then uses the charge to provide a benefit to domestic producers (so-called </a:t>
            </a:r>
            <a:r>
              <a:rPr lang="en-GB" sz="1600" b="1" dirty="0">
                <a:latin typeface="+mj-lt"/>
              </a:rPr>
              <a:t>para-fiscal charges</a:t>
            </a:r>
            <a:r>
              <a:rPr lang="en-GB" sz="1600" dirty="0">
                <a:latin typeface="+mj-lt"/>
              </a:rPr>
              <a:t>)?</a:t>
            </a:r>
          </a:p>
          <a:p>
            <a:pPr lvl="2">
              <a:buAutoNum type="arabicPeriod"/>
            </a:pPr>
            <a:r>
              <a:rPr lang="en-GB" sz="1600" dirty="0">
                <a:latin typeface="+mj-lt"/>
              </a:rPr>
              <a:t>If only a part of the charge is returned (directly or indirectly) to domestic producers, the charge will be assessed under Article 110 TFEU</a:t>
            </a:r>
          </a:p>
          <a:p>
            <a:pPr lvl="2">
              <a:buAutoNum type="arabicPeriod"/>
            </a:pPr>
            <a:r>
              <a:rPr lang="en-GB" sz="1600" dirty="0">
                <a:latin typeface="+mj-lt"/>
              </a:rPr>
              <a:t>If the entire charge is returned to domestic producers (directly or indirectly), the charge is a CEE under Article 30 TFEU </a:t>
            </a:r>
          </a:p>
        </p:txBody>
      </p:sp>
    </p:spTree>
    <p:extLst>
      <p:ext uri="{BB962C8B-B14F-4D97-AF65-F5344CB8AC3E}">
        <p14:creationId xmlns:p14="http://schemas.microsoft.com/office/powerpoint/2010/main" val="617910454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1181</Words>
  <Application>Microsoft Macintosh PowerPoint</Application>
  <PresentationFormat>On-screen Show (4:3)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</vt:lpstr>
      <vt:lpstr>Blank</vt:lpstr>
      <vt:lpstr>EU Internal Market 2024-2025</vt:lpstr>
      <vt:lpstr>The structure of lecture 3</vt:lpstr>
      <vt:lpstr>Article 28 TFEU</vt:lpstr>
      <vt:lpstr>Article 30 TFEU</vt:lpstr>
      <vt:lpstr>Article 30 TFEU</vt:lpstr>
      <vt:lpstr>Article 30 TFEU</vt:lpstr>
      <vt:lpstr>Article 110 TFEU</vt:lpstr>
      <vt:lpstr>Article 110(1) TFEU</vt:lpstr>
      <vt:lpstr>Article 110(2) TFEU</vt:lpstr>
      <vt:lpstr>Article 110(2) TFEU</vt:lpstr>
      <vt:lpstr>Article 110(2) TFEU</vt:lpstr>
      <vt:lpstr>The relationship between Article 30 and Article 110 TFEU</vt:lpstr>
    </vt:vector>
  </TitlesOfParts>
  <Company>MUFC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style for title slide</dc:title>
  <dc:creator>Eric</dc:creator>
  <cp:lastModifiedBy>GEORGIOU, ANDREAS</cp:lastModifiedBy>
  <cp:revision>69</cp:revision>
  <dcterms:created xsi:type="dcterms:W3CDTF">2005-05-25T16:21:13Z</dcterms:created>
  <dcterms:modified xsi:type="dcterms:W3CDTF">2024-10-07T12:17:29Z</dcterms:modified>
</cp:coreProperties>
</file>