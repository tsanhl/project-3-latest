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83" r:id="rId9"/>
    <p:sldId id="284" r:id="rId10"/>
    <p:sldId id="265" r:id="rId11"/>
    <p:sldId id="266" r:id="rId12"/>
    <p:sldId id="267" r:id="rId13"/>
    <p:sldId id="268" r:id="rId14"/>
    <p:sldId id="28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D9F5-F44D-8A4F-E6D3-D1AB81800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9CCA1-6E5E-16B9-BB1E-6BE210762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B00B7-F853-1FDD-E36B-1DA4342B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4BDE0-2DC7-2136-0CD9-7CFD3D5E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5FF12-42CD-FDFC-4D65-0B52DED0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47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9546-4D4B-599C-3209-DEE20F30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87E4-1F08-C4EC-3A8E-71F0303AE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E9EE4-DED9-D554-45C1-3F16429C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0E509-AD7C-8A77-E449-850CD4EF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C7307-670D-F0EF-FF5B-21227CEF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58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B8F0-7EA7-B60A-E3A8-B5588ABF2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7CF5B-3DA7-33D6-479E-E627ED596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85B25-A278-BA44-BDB6-B01C4E6B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72D7A-B9F1-E339-A495-179A7763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65808-54FD-ADA6-A119-64CB76DE5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660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F70D-8E84-A2C4-466F-4778A82A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E4D5D-333E-4FCC-C6A6-7978E7B5E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0887F-9FB7-1303-562C-4553D2E71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734BD-9444-AC53-D940-93034B3F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91CB7-6132-3DCC-FE32-52D4CC17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D10B6-2590-0D61-8EC3-1DEFAC26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931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1B5A-99D6-656B-27A9-E2542552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9660D-56D6-2C78-2351-A9FA0A233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BF85A-6544-0A0F-582F-E73481477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951D2-5867-B211-C93F-C5B73268B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516908-69CF-0443-E83E-5DA628014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4DA1CD-7CF5-D1BC-9863-936AC13C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9B677-E5F5-4525-5A8D-9615F3BB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7758B-D728-DC18-1B65-5C4DFB85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79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5767-480D-CA63-9E72-FB1A86BC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36697-D66F-DEF5-D2DF-24FFBD06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5F320-803F-CA06-84C8-2B8D90CB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10B72-821A-1137-181D-D1E0D1DD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03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8CCCD-76F1-4619-502C-ACE5D1F0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634E0-ECD6-98D9-CEF8-DEDFEB277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3757B-E80B-C57D-5C41-B0841396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09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F3A5-01D0-D375-97BA-20A62DB1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86702-ACEC-C99A-449B-D68D4AEBF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B62D1-E099-8C41-D372-7F856F35B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7CCD3-0A33-A38F-BAF1-B886583C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9F6B2-D1AD-5CFF-19D7-7C4EBC53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3325F-A53D-D439-18DC-17F24B8D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96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92CC-9C73-DC58-F70D-D757A5D2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7862B-5978-F56D-C6B9-BA9B2A875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E5BB2-5F5A-B79E-7499-0D41AB57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D6E6C-B330-2B81-3CED-C36206E7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D97D8-E8AA-54A4-E1C6-896DAD67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294C6-C811-0D73-763A-6A9D136A7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25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EBCB3-225E-BCE3-C4AC-BA8F4E51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4CDE6-A0DC-80F6-7296-3C83CACD0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8ADA2-6B40-9737-9671-94E502C20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F9B45-60EE-DE61-A0D3-9BFED6F3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494DF-E660-781B-619D-A95ADA04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181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E7B88-C290-4029-DE7F-458CF8F90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D0FAA-425E-F72A-1EF7-11A29CCFC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A5A3F-6099-295E-3B8F-E07D1DE7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47208-59C1-0556-20BA-4A2D85784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7A669-2225-C08B-E628-106262F0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66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7C52BB-631D-DFDB-89FC-AE7B81DC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774D3-8008-8788-AB8A-E3A3F05C3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E45D9-3B1C-5761-A88A-F33646475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38BBC-2E99-457B-A12A-ED432F6B8A52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4D0F5-F4B4-53C9-A23E-6557F91DD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D792-71A5-F258-A156-56D6CAF96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2DCFF-02A6-4B5A-B76D-8F38AC0EBE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734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79819" TargetMode="External"/><Relationship Id="rId2" Type="http://schemas.openxmlformats.org/officeDocument/2006/relationships/hyperlink" Target="https://itl.nist.gov/div898/handbook/apr/section1/apr124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389B-3474-7456-E08F-358C3A2D9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5202238"/>
          </a:xfrm>
        </p:spPr>
        <p:txBody>
          <a:bodyPr>
            <a:normAutofit/>
          </a:bodyPr>
          <a:lstStyle/>
          <a:p>
            <a:r>
              <a:rPr lang="en-GB" b="1" u="sng" dirty="0">
                <a:solidFill>
                  <a:schemeClr val="accent5"/>
                </a:solidFill>
              </a:rPr>
              <a:t>LECTURE TWO – SAFETY AND MEDICAL DEVICES (PART ONE)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511B6-82EE-38FD-0874-33F201664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LAW2291_2024</a:t>
            </a:r>
          </a:p>
          <a:p>
            <a:r>
              <a:rPr lang="en-GB" dirty="0"/>
              <a:t>Contemporary Issues in </a:t>
            </a:r>
            <a:r>
              <a:rPr lang="en-GB" dirty="0" err="1"/>
              <a:t>Biolaw</a:t>
            </a:r>
            <a:r>
              <a:rPr lang="en-GB" dirty="0"/>
              <a:t> (24/25)</a:t>
            </a:r>
          </a:p>
        </p:txBody>
      </p:sp>
    </p:spTree>
    <p:extLst>
      <p:ext uri="{BB962C8B-B14F-4D97-AF65-F5344CB8AC3E}">
        <p14:creationId xmlns:p14="http://schemas.microsoft.com/office/powerpoint/2010/main" val="2088442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013A-BC6D-1E0A-C1FC-B6F85300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0.0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6400F-93D1-03EF-2E70-FC0C1768C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Contents for today: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Safety Concepts</a:t>
            </a:r>
          </a:p>
          <a:p>
            <a:r>
              <a:rPr lang="en-GB" dirty="0"/>
              <a:t>Medical Device Regulation Introduction</a:t>
            </a:r>
          </a:p>
        </p:txBody>
      </p:sp>
    </p:spTree>
    <p:extLst>
      <p:ext uri="{BB962C8B-B14F-4D97-AF65-F5344CB8AC3E}">
        <p14:creationId xmlns:p14="http://schemas.microsoft.com/office/powerpoint/2010/main" val="2331511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287E-51B1-D9F5-FA83-04A0B1A7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1.0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6F9FD-705B-A63A-70EF-BAB03497B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 algn="r">
              <a:buNone/>
            </a:pPr>
            <a:r>
              <a:rPr lang="en-GB" dirty="0"/>
              <a:t>necessity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Background:</a:t>
            </a:r>
          </a:p>
          <a:p>
            <a:r>
              <a:rPr lang="en-GB" dirty="0"/>
              <a:t>Financial interest, human interest </a:t>
            </a:r>
          </a:p>
          <a:p>
            <a:r>
              <a:rPr lang="en-GB" dirty="0"/>
              <a:t>Safety engineering</a:t>
            </a:r>
          </a:p>
          <a:p>
            <a:r>
              <a:rPr lang="en-GB" dirty="0"/>
              <a:t>Safety in industry</a:t>
            </a:r>
          </a:p>
          <a:p>
            <a:r>
              <a:rPr lang="en-GB" dirty="0"/>
              <a:t>Safety as a concept!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603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20BD3-69B0-D678-BFEF-FCC5F3B87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9" y="0"/>
            <a:ext cx="12047621" cy="6858000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Safety can be defined as: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sz="4800" b="1" u="sng" dirty="0">
                <a:solidFill>
                  <a:schemeClr val="accent5"/>
                </a:solidFill>
              </a:rPr>
              <a:t>Freedom from accidents or losses</a:t>
            </a:r>
          </a:p>
        </p:txBody>
      </p:sp>
    </p:spTree>
    <p:extLst>
      <p:ext uri="{BB962C8B-B14F-4D97-AF65-F5344CB8AC3E}">
        <p14:creationId xmlns:p14="http://schemas.microsoft.com/office/powerpoint/2010/main" val="151481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05D1-A218-8B98-5780-33E0D4C3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FC575-F59F-3E6A-DF34-DBC2585B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9ACC-9827-0964-93CD-76B8A8625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Freedom from?</a:t>
            </a:r>
          </a:p>
          <a:p>
            <a:pPr marL="0" indent="0">
              <a:buNone/>
            </a:pPr>
            <a:r>
              <a:rPr lang="en-GB" dirty="0"/>
              <a:t>Literal – an absolute requirement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Accidents?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07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648A-848C-8C03-3B91-D243A2E7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9B6EA-348E-04DF-E110-CC8B2B723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“An </a:t>
            </a:r>
            <a:r>
              <a:rPr lang="en-GB" b="1" dirty="0"/>
              <a:t>accident</a:t>
            </a:r>
            <a:r>
              <a:rPr lang="en-GB" dirty="0"/>
              <a:t> is an </a:t>
            </a:r>
            <a:r>
              <a:rPr lang="en-GB" b="1" dirty="0"/>
              <a:t>undesired</a:t>
            </a:r>
            <a:r>
              <a:rPr lang="en-GB" dirty="0"/>
              <a:t> and </a:t>
            </a:r>
            <a:r>
              <a:rPr lang="en-GB" b="1" dirty="0"/>
              <a:t>unplanned</a:t>
            </a:r>
            <a:r>
              <a:rPr lang="en-GB" dirty="0"/>
              <a:t> (but </a:t>
            </a:r>
            <a:r>
              <a:rPr lang="en-GB" b="1" dirty="0"/>
              <a:t>not necessarily unexpected</a:t>
            </a:r>
            <a:r>
              <a:rPr lang="en-GB" dirty="0"/>
              <a:t>) </a:t>
            </a:r>
            <a:r>
              <a:rPr lang="en-GB" b="1" dirty="0"/>
              <a:t>event</a:t>
            </a:r>
            <a:r>
              <a:rPr lang="en-GB" dirty="0"/>
              <a:t> that results in (at least) a </a:t>
            </a:r>
            <a:r>
              <a:rPr lang="en-GB" b="1" dirty="0"/>
              <a:t>specified level of loss</a:t>
            </a:r>
            <a:r>
              <a:rPr lang="en-GB" dirty="0"/>
              <a:t>.”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852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0919-3DCD-BD9E-10DA-E57704B67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84FD-7093-68FB-A3D8-6B5C5C456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E68FA-695E-F336-22C9-3B41DAC14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Accidents = non-adversarial failures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Losses?</a:t>
            </a:r>
          </a:p>
          <a:p>
            <a:pPr marL="0" indent="0">
              <a:buNone/>
            </a:pPr>
            <a:r>
              <a:rPr lang="en-GB" dirty="0"/>
              <a:t>Can be anything undesirable:</a:t>
            </a:r>
          </a:p>
          <a:p>
            <a:pPr marL="0" indent="0">
              <a:buNone/>
            </a:pPr>
            <a:r>
              <a:rPr lang="en-GB" dirty="0"/>
              <a:t>Damage – physical, financial, reputational </a:t>
            </a:r>
          </a:p>
          <a:p>
            <a:pPr marL="0" indent="0">
              <a:buNone/>
            </a:pPr>
            <a:r>
              <a:rPr lang="en-GB" dirty="0"/>
              <a:t>Outcome from failures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Failures?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023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42ECB-8FF4-5632-356C-77D527508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</a:t>
            </a:r>
            <a:r>
              <a:rPr lang="en-GB" b="1" dirty="0"/>
              <a:t>Failure </a:t>
            </a:r>
            <a:r>
              <a:rPr lang="en-GB" dirty="0"/>
              <a:t>is the </a:t>
            </a:r>
            <a:r>
              <a:rPr lang="en-GB" b="1" dirty="0"/>
              <a:t>nonperformance </a:t>
            </a:r>
            <a:r>
              <a:rPr lang="en-GB" dirty="0"/>
              <a:t>or </a:t>
            </a:r>
            <a:r>
              <a:rPr lang="en-GB" b="1" dirty="0"/>
              <a:t>inability</a:t>
            </a:r>
            <a:r>
              <a:rPr lang="en-GB" dirty="0"/>
              <a:t> of the </a:t>
            </a:r>
            <a:r>
              <a:rPr lang="en-GB" b="1" dirty="0"/>
              <a:t>system</a:t>
            </a:r>
            <a:r>
              <a:rPr lang="en-GB" dirty="0"/>
              <a:t> or </a:t>
            </a:r>
            <a:r>
              <a:rPr lang="en-GB" b="1" dirty="0"/>
              <a:t>component </a:t>
            </a:r>
            <a:r>
              <a:rPr lang="en-GB" dirty="0"/>
              <a:t>to perform its </a:t>
            </a:r>
            <a:r>
              <a:rPr lang="en-GB" b="1" dirty="0"/>
              <a:t>intended function </a:t>
            </a:r>
            <a:r>
              <a:rPr lang="en-GB" dirty="0"/>
              <a:t>for a </a:t>
            </a:r>
            <a:r>
              <a:rPr lang="en-GB" b="1" dirty="0"/>
              <a:t>specified time </a:t>
            </a:r>
            <a:r>
              <a:rPr lang="en-GB" dirty="0"/>
              <a:t>under </a:t>
            </a:r>
            <a:r>
              <a:rPr lang="en-GB" b="1" dirty="0"/>
              <a:t>specified environmental conditions</a:t>
            </a:r>
            <a:r>
              <a:rPr lang="en-GB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196635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3E36B-9718-51D1-62E3-C5A28F959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Source: </a:t>
            </a:r>
            <a:r>
              <a:rPr lang="en-GB" dirty="0">
                <a:hlinkClick r:id="rId2"/>
              </a:rPr>
              <a:t>https://itl.nist.gov/div898/handbook/apr/section1/apr124.htm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Not simple to use: </a:t>
            </a:r>
            <a:r>
              <a:rPr lang="en-GB" dirty="0">
                <a:hlinkClick r:id="rId3"/>
              </a:rPr>
              <a:t>https://ieeexplore.ieee.org/document/1179819</a:t>
            </a:r>
            <a:r>
              <a:rPr lang="en-GB" dirty="0"/>
              <a:t> </a:t>
            </a:r>
          </a:p>
        </p:txBody>
      </p:sp>
      <p:pic>
        <p:nvPicPr>
          <p:cNvPr id="5" name="Picture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8594257A-2D15-BF0A-2BE0-FDA5275466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993" y="982494"/>
            <a:ext cx="7535254" cy="398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2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A720C-E7A8-4F25-D704-F15E48795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2AAA-20D9-86D7-3385-C913C41A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A2CF3-5747-48E9-27A4-61C28F60E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Error?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 algn="r">
              <a:buNone/>
            </a:pPr>
            <a:r>
              <a:rPr lang="en-GB" dirty="0"/>
              <a:t>“An </a:t>
            </a:r>
            <a:r>
              <a:rPr lang="en-GB" b="1" dirty="0"/>
              <a:t>error</a:t>
            </a:r>
            <a:r>
              <a:rPr lang="en-GB" dirty="0"/>
              <a:t> is a </a:t>
            </a:r>
            <a:r>
              <a:rPr lang="en-GB" b="1" dirty="0"/>
              <a:t>design flaw </a:t>
            </a:r>
            <a:r>
              <a:rPr lang="en-GB" dirty="0"/>
              <a:t>or </a:t>
            </a:r>
            <a:r>
              <a:rPr lang="en-GB" b="1" dirty="0"/>
              <a:t>deviation</a:t>
            </a:r>
            <a:r>
              <a:rPr lang="en-GB" dirty="0"/>
              <a:t> from a </a:t>
            </a:r>
            <a:r>
              <a:rPr lang="en-GB" b="1" dirty="0"/>
              <a:t>desired</a:t>
            </a:r>
            <a:r>
              <a:rPr lang="en-GB" dirty="0"/>
              <a:t> or </a:t>
            </a:r>
            <a:r>
              <a:rPr lang="en-GB" b="1" dirty="0"/>
              <a:t>intended</a:t>
            </a:r>
            <a:r>
              <a:rPr lang="en-GB" dirty="0"/>
              <a:t> </a:t>
            </a:r>
            <a:r>
              <a:rPr lang="en-GB" b="1" dirty="0"/>
              <a:t>state.</a:t>
            </a:r>
            <a:r>
              <a:rPr lang="en-GB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508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4AA67-4BF3-537B-B005-4C5287E3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5FF0-011F-9E4E-BD22-B7A1EA33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659E1-A4CD-FE48-D527-D5BCC491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Hazard?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“A </a:t>
            </a:r>
            <a:r>
              <a:rPr lang="en-GB" b="1" dirty="0"/>
              <a:t>hazard</a:t>
            </a:r>
            <a:r>
              <a:rPr lang="en-GB" dirty="0"/>
              <a:t> is a </a:t>
            </a:r>
            <a:r>
              <a:rPr lang="en-GB" b="1" dirty="0"/>
              <a:t>state </a:t>
            </a:r>
            <a:r>
              <a:rPr lang="en-GB" dirty="0"/>
              <a:t>or </a:t>
            </a:r>
            <a:r>
              <a:rPr lang="en-GB" b="1" dirty="0"/>
              <a:t>set of conditions of a system </a:t>
            </a:r>
            <a:r>
              <a:rPr lang="en-GB" dirty="0"/>
              <a:t>(or an object) that, together with other </a:t>
            </a:r>
            <a:r>
              <a:rPr lang="en-GB" b="1" dirty="0"/>
              <a:t>conditions in the environment of the system</a:t>
            </a:r>
            <a:r>
              <a:rPr lang="en-GB" dirty="0"/>
              <a:t> (or object), will lead </a:t>
            </a:r>
            <a:r>
              <a:rPr lang="en-GB" b="1" dirty="0"/>
              <a:t>inevitably</a:t>
            </a:r>
            <a:r>
              <a:rPr lang="en-GB" dirty="0"/>
              <a:t> to an </a:t>
            </a:r>
            <a:r>
              <a:rPr lang="en-GB" b="1" dirty="0"/>
              <a:t>accident</a:t>
            </a:r>
            <a:r>
              <a:rPr lang="en-GB" dirty="0"/>
              <a:t> (loss event).”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Conversely, </a:t>
            </a:r>
            <a:r>
              <a:rPr lang="en-GB" b="1" dirty="0"/>
              <a:t>risk</a:t>
            </a:r>
            <a:r>
              <a:rPr lang="en-GB" dirty="0"/>
              <a:t> is simply the hazard level + likelihood of hazard leading to an accident, which must consider hazard exposure/duration.</a:t>
            </a:r>
          </a:p>
        </p:txBody>
      </p:sp>
    </p:spTree>
    <p:extLst>
      <p:ext uri="{BB962C8B-B14F-4D97-AF65-F5344CB8AC3E}">
        <p14:creationId xmlns:p14="http://schemas.microsoft.com/office/powerpoint/2010/main" val="2825621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49E5-C647-65D5-EE9E-8E0E058B6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4FE3-96A2-2A3D-D216-DA26B7C8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1.5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DE380-A0CE-B070-53AA-D26B1DD3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is all of this relevant to medical devices and AI?</a:t>
            </a:r>
          </a:p>
          <a:p>
            <a:pPr marL="0" indent="0" algn="ctr">
              <a:buNone/>
            </a:pPr>
            <a:r>
              <a:rPr lang="en-GB" dirty="0"/>
              <a:t>Cases: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 scalpel </a:t>
            </a:r>
          </a:p>
          <a:p>
            <a:pPr marL="0" indent="0" algn="ctr">
              <a:buNone/>
            </a:pPr>
            <a:r>
              <a:rPr lang="en-GB" dirty="0"/>
              <a:t>A surgical robot</a:t>
            </a:r>
          </a:p>
          <a:p>
            <a:pPr marL="0" indent="0" algn="ctr">
              <a:buNone/>
            </a:pPr>
            <a:r>
              <a:rPr lang="en-GB" dirty="0"/>
              <a:t>Any of the support for various scanning software (AI)</a:t>
            </a:r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124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FDF3E-9CCE-6321-C894-FABE9DE5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AAD0-584E-7E1C-7809-8F2EA776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2.0 The Medical Device Regulation (MDR) (EU)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83BF-BE66-597E-0C77-3D954021D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en-GB" dirty="0"/>
              <a:t>Medical devices</a:t>
            </a:r>
          </a:p>
          <a:p>
            <a:pPr marL="0" indent="0" algn="r">
              <a:buNone/>
            </a:pPr>
            <a:endParaRPr lang="en-GB" dirty="0"/>
          </a:p>
          <a:p>
            <a:r>
              <a:rPr lang="en-GB" dirty="0"/>
              <a:t>A continuation from the Medical Device Directive (MDD)</a:t>
            </a:r>
          </a:p>
          <a:p>
            <a:endParaRPr lang="en-GB" dirty="0"/>
          </a:p>
          <a:p>
            <a:r>
              <a:rPr lang="en-GB" dirty="0"/>
              <a:t>The MDD was a directive …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Not to be confused with the statutory instrument of 2002 No. 618 in British Law (does not apply to NI).</a:t>
            </a:r>
          </a:p>
        </p:txBody>
      </p:sp>
    </p:spTree>
    <p:extLst>
      <p:ext uri="{BB962C8B-B14F-4D97-AF65-F5344CB8AC3E}">
        <p14:creationId xmlns:p14="http://schemas.microsoft.com/office/powerpoint/2010/main" val="3108698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1A5B-0677-A93D-9564-254A884BF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2.1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D2596-DE6A-6FB6-EFF9-CA5052EA3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Similar to AIA</a:t>
            </a:r>
          </a:p>
          <a:p>
            <a:pPr marL="0" indent="0">
              <a:buNone/>
            </a:pPr>
            <a:r>
              <a:rPr lang="en-GB" dirty="0"/>
              <a:t>Chapter I Scope etc., Chapter II obligations/marking details, Chapter III identification/traceability of devices etc., Chapter IV Notified Bodies, Chapter V classification/conformity assessment, Chapter VI clinical evaluation/clinical investigations, Chapter VII post-market surveillance etc., Chapter VIII cooperation and coordination, Chapter IX confidentiality/data protection etc., Chapter X (final provisions)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More on everything next time!</a:t>
            </a:r>
          </a:p>
        </p:txBody>
      </p:sp>
    </p:spTree>
    <p:extLst>
      <p:ext uri="{BB962C8B-B14F-4D97-AF65-F5344CB8AC3E}">
        <p14:creationId xmlns:p14="http://schemas.microsoft.com/office/powerpoint/2010/main" val="149325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548D-12D3-D79C-6FDE-829BC1A7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877F-3470-3E75-71B0-E066828C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2.1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054A0-DCF1-2DEE-7020-0E8F83923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Art 1(1)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i="1" dirty="0"/>
              <a:t>This Regulation lays down rules concerning </a:t>
            </a:r>
            <a:r>
              <a:rPr lang="en-GB" b="1" i="1" dirty="0"/>
              <a:t>the placing on the market</a:t>
            </a:r>
            <a:r>
              <a:rPr lang="en-GB" i="1" dirty="0"/>
              <a:t>, </a:t>
            </a:r>
            <a:r>
              <a:rPr lang="en-GB" b="1" i="1" dirty="0"/>
              <a:t>making available on the market </a:t>
            </a:r>
            <a:r>
              <a:rPr lang="en-GB" i="1" dirty="0"/>
              <a:t>or </a:t>
            </a:r>
            <a:r>
              <a:rPr lang="en-GB" b="1" i="1" dirty="0"/>
              <a:t>putting into service </a:t>
            </a:r>
            <a:r>
              <a:rPr lang="en-GB" i="1" dirty="0"/>
              <a:t>of medical devices </a:t>
            </a:r>
            <a:r>
              <a:rPr lang="en-GB" b="1" i="1" dirty="0"/>
              <a:t>for human use </a:t>
            </a:r>
            <a:r>
              <a:rPr lang="en-GB" i="1" dirty="0"/>
              <a:t>and </a:t>
            </a:r>
            <a:r>
              <a:rPr lang="en-GB" b="1" i="1" dirty="0"/>
              <a:t>accessories</a:t>
            </a:r>
            <a:r>
              <a:rPr lang="en-GB" i="1" dirty="0"/>
              <a:t> for such devices in the Union. This Regulation also applies to </a:t>
            </a:r>
            <a:r>
              <a:rPr lang="en-GB" b="1" i="1" dirty="0"/>
              <a:t>clinical investigations </a:t>
            </a:r>
            <a:r>
              <a:rPr lang="en-GB" i="1" dirty="0"/>
              <a:t>concerning such </a:t>
            </a:r>
            <a:r>
              <a:rPr lang="en-GB" b="1" i="1" dirty="0"/>
              <a:t>medical devices and accessories </a:t>
            </a:r>
            <a:r>
              <a:rPr lang="en-GB" i="1" dirty="0"/>
              <a:t>conducted in the Union.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dirty="0"/>
              <a:t>Art 1 is fairly detailed – exceptions are not relevant here, but worth taking a look at.</a:t>
            </a:r>
          </a:p>
        </p:txBody>
      </p:sp>
    </p:spTree>
    <p:extLst>
      <p:ext uri="{BB962C8B-B14F-4D97-AF65-F5344CB8AC3E}">
        <p14:creationId xmlns:p14="http://schemas.microsoft.com/office/powerpoint/2010/main" val="1972887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175D-9CBF-25BA-FB5C-B80AB25B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3CF5-E859-4131-C57F-B9BF2A92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F5E58-10E2-0BE8-F74F-32F130B9C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Applicability – to whom?</a:t>
            </a:r>
          </a:p>
          <a:p>
            <a:r>
              <a:rPr lang="en-GB" dirty="0"/>
              <a:t>Area?</a:t>
            </a:r>
          </a:p>
          <a:p>
            <a:r>
              <a:rPr lang="en-GB" dirty="0"/>
              <a:t>Accessories (we will come back to this in a moment)</a:t>
            </a:r>
          </a:p>
          <a:p>
            <a:r>
              <a:rPr lang="en-GB" dirty="0"/>
              <a:t>For human use? </a:t>
            </a:r>
          </a:p>
          <a:p>
            <a:pPr marL="0" indent="0">
              <a:buNone/>
            </a:pPr>
            <a:r>
              <a:rPr lang="en-GB" dirty="0"/>
              <a:t>See SNITEM case, </a:t>
            </a:r>
            <a:r>
              <a:rPr lang="en-GB" b="1" dirty="0"/>
              <a:t>C-329/16</a:t>
            </a:r>
            <a:r>
              <a:rPr lang="en-GB" dirty="0"/>
              <a:t>, for more.</a:t>
            </a:r>
          </a:p>
        </p:txBody>
      </p:sp>
    </p:spTree>
    <p:extLst>
      <p:ext uri="{BB962C8B-B14F-4D97-AF65-F5344CB8AC3E}">
        <p14:creationId xmlns:p14="http://schemas.microsoft.com/office/powerpoint/2010/main" val="347259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60AF-DB55-B004-003B-1F9C1808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8088-2BC0-6A44-8F1B-F25ED669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2.3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796F6-961E-A29F-EE4A-8257801F7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(1)</a:t>
            </a:r>
          </a:p>
          <a:p>
            <a:pPr marL="0" indent="0">
              <a:buNone/>
            </a:pPr>
            <a:r>
              <a:rPr lang="en-GB" i="1" dirty="0"/>
              <a:t>‘medical device’ means any </a:t>
            </a:r>
            <a:r>
              <a:rPr lang="en-GB" b="1" i="1" dirty="0"/>
              <a:t>instrument, apparatus, appliance, software, implant, reagent, material </a:t>
            </a:r>
            <a:r>
              <a:rPr lang="en-GB" i="1" dirty="0"/>
              <a:t>or </a:t>
            </a:r>
            <a:r>
              <a:rPr lang="en-GB" b="1" i="1" dirty="0"/>
              <a:t>other article </a:t>
            </a:r>
            <a:r>
              <a:rPr lang="en-GB" b="1" i="1" u="sng" dirty="0"/>
              <a:t>intended</a:t>
            </a:r>
            <a:r>
              <a:rPr lang="en-GB" i="1" dirty="0"/>
              <a:t> by the manufacturer to be used, alone or in combination, </a:t>
            </a:r>
            <a:r>
              <a:rPr lang="en-GB" b="1" i="1" dirty="0"/>
              <a:t>for human beings </a:t>
            </a:r>
            <a:r>
              <a:rPr lang="en-GB" i="1" dirty="0"/>
              <a:t>for </a:t>
            </a:r>
            <a:r>
              <a:rPr lang="en-GB" b="1" i="1" dirty="0"/>
              <a:t>one or more </a:t>
            </a:r>
            <a:r>
              <a:rPr lang="en-GB" i="1" dirty="0"/>
              <a:t>of the following specific medical purposes:</a:t>
            </a:r>
          </a:p>
          <a:p>
            <a:pPr marL="0" indent="0">
              <a:buNone/>
            </a:pPr>
            <a:r>
              <a:rPr lang="en-GB" i="1" dirty="0"/>
              <a:t>diagnosis, prevention, monitoring, prediction, prognosis, treatment or alleviation of disease,</a:t>
            </a:r>
          </a:p>
          <a:p>
            <a:pPr marL="0" indent="0">
              <a:buNone/>
            </a:pPr>
            <a:r>
              <a:rPr lang="en-GB" i="1" dirty="0"/>
              <a:t>diagnosis, monitoring, treatment, alleviation of, or compensation for, an injury or disability,</a:t>
            </a:r>
          </a:p>
          <a:p>
            <a:pPr marL="0" indent="0">
              <a:buNone/>
            </a:pPr>
            <a:r>
              <a:rPr lang="en-GB" i="1" dirty="0"/>
              <a:t>investigation, replacement or modification of the anatomy or of a physiological or pathological process or state,</a:t>
            </a:r>
          </a:p>
          <a:p>
            <a:pPr marL="0" indent="0">
              <a:buNone/>
            </a:pPr>
            <a:r>
              <a:rPr lang="en-GB" i="1" dirty="0"/>
              <a:t>providing information by means of in vitro examination of specimens derived from the human body, including organ, blood and tissue donations,</a:t>
            </a:r>
          </a:p>
          <a:p>
            <a:pPr marL="0" indent="0">
              <a:buNone/>
            </a:pPr>
            <a:r>
              <a:rPr lang="en-GB" i="1" dirty="0"/>
              <a:t>and which </a:t>
            </a:r>
            <a:r>
              <a:rPr lang="en-GB" b="1" i="1" dirty="0"/>
              <a:t>does not </a:t>
            </a:r>
            <a:r>
              <a:rPr lang="en-GB" i="1" dirty="0"/>
              <a:t>achieve its principal intended action by </a:t>
            </a:r>
            <a:r>
              <a:rPr lang="en-GB" b="1" i="1" dirty="0"/>
              <a:t>pharmacological, immunological or metabolic means</a:t>
            </a:r>
            <a:r>
              <a:rPr lang="en-GB" i="1" dirty="0"/>
              <a:t>, in or on the human body, but which </a:t>
            </a:r>
            <a:r>
              <a:rPr lang="en-GB" b="1" i="1" dirty="0"/>
              <a:t>may be assisted </a:t>
            </a:r>
            <a:r>
              <a:rPr lang="en-GB" i="1" dirty="0"/>
              <a:t>in its function by such means.</a:t>
            </a:r>
          </a:p>
        </p:txBody>
      </p:sp>
    </p:spTree>
    <p:extLst>
      <p:ext uri="{BB962C8B-B14F-4D97-AF65-F5344CB8AC3E}">
        <p14:creationId xmlns:p14="http://schemas.microsoft.com/office/powerpoint/2010/main" val="2656399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3FC5B-090B-EED9-8D64-CFCF79EB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F12FD-9A15-8F49-B1CF-774EF59D3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dirty="0"/>
              <a:t>The following products shall also be deemed to be medical devices:</a:t>
            </a:r>
          </a:p>
          <a:p>
            <a:pPr marL="0" indent="0">
              <a:buNone/>
            </a:pPr>
            <a:r>
              <a:rPr lang="en-GB" b="1" i="1" dirty="0"/>
              <a:t>Devices for the control or support of conception</a:t>
            </a:r>
            <a:r>
              <a:rPr lang="en-GB" i="1" dirty="0"/>
              <a:t>;</a:t>
            </a:r>
          </a:p>
          <a:p>
            <a:pPr marL="0" indent="0">
              <a:buNone/>
            </a:pPr>
            <a:r>
              <a:rPr lang="en-GB" i="1" dirty="0"/>
              <a:t>Products specifically intended for the </a:t>
            </a:r>
            <a:r>
              <a:rPr lang="en-GB" b="1" i="1" dirty="0"/>
              <a:t>cleaning</a:t>
            </a:r>
            <a:r>
              <a:rPr lang="en-GB" i="1" dirty="0"/>
              <a:t>, </a:t>
            </a:r>
            <a:r>
              <a:rPr lang="en-GB" b="1" i="1" dirty="0"/>
              <a:t>disinfection</a:t>
            </a:r>
            <a:r>
              <a:rPr lang="en-GB" i="1" dirty="0"/>
              <a:t> or </a:t>
            </a:r>
            <a:r>
              <a:rPr lang="en-GB" b="1" i="1" dirty="0"/>
              <a:t>sterilisation</a:t>
            </a:r>
            <a:r>
              <a:rPr lang="en-GB" i="1" dirty="0"/>
              <a:t> of devices as referred to in Article 1(4) and of those referred to in the first paragraph of this point</a:t>
            </a:r>
          </a:p>
        </p:txBody>
      </p:sp>
    </p:spTree>
    <p:extLst>
      <p:ext uri="{BB962C8B-B14F-4D97-AF65-F5344CB8AC3E}">
        <p14:creationId xmlns:p14="http://schemas.microsoft.com/office/powerpoint/2010/main" val="1601559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79B23-CDEB-961B-19D5-C6376D712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8B4C-096D-08BF-592C-3B39BC21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2.3 Accessories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E8559-4807-EC9F-38F2-B3FB32FCF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Art 2(2)</a:t>
            </a:r>
          </a:p>
          <a:p>
            <a:r>
              <a:rPr lang="en-GB" i="1" dirty="0"/>
              <a:t>‘accessory for a medical device’ means </a:t>
            </a:r>
            <a:r>
              <a:rPr lang="en-GB" b="1" i="1" dirty="0"/>
              <a:t>an article </a:t>
            </a:r>
            <a:r>
              <a:rPr lang="en-GB" i="1" dirty="0"/>
              <a:t>which, </a:t>
            </a:r>
            <a:r>
              <a:rPr lang="en-GB" b="1" i="1" dirty="0"/>
              <a:t>whilst not being itself a medical device</a:t>
            </a:r>
            <a:r>
              <a:rPr lang="en-GB" i="1" dirty="0"/>
              <a:t>, </a:t>
            </a:r>
            <a:r>
              <a:rPr lang="en-GB" b="1" i="1" dirty="0"/>
              <a:t>is intended </a:t>
            </a:r>
            <a:r>
              <a:rPr lang="en-GB" i="1" dirty="0"/>
              <a:t>by its manufacturer </a:t>
            </a:r>
            <a:r>
              <a:rPr lang="en-GB" b="1" i="1" dirty="0"/>
              <a:t>to be used together with</a:t>
            </a:r>
            <a:r>
              <a:rPr lang="en-GB" i="1" dirty="0"/>
              <a:t> one or several </a:t>
            </a:r>
            <a:r>
              <a:rPr lang="en-GB" b="1" i="1" dirty="0"/>
              <a:t>particular medical device(s)</a:t>
            </a:r>
            <a:r>
              <a:rPr lang="en-GB" i="1" dirty="0"/>
              <a:t> to specifically </a:t>
            </a:r>
            <a:r>
              <a:rPr lang="en-GB" b="1" i="1" dirty="0"/>
              <a:t>enable</a:t>
            </a:r>
            <a:r>
              <a:rPr lang="en-GB" i="1" dirty="0"/>
              <a:t> the medical device(s) to be used </a:t>
            </a:r>
            <a:r>
              <a:rPr lang="en-GB" b="1" i="1" dirty="0"/>
              <a:t>in accordance </a:t>
            </a:r>
            <a:r>
              <a:rPr lang="en-GB" i="1" dirty="0"/>
              <a:t>with </a:t>
            </a:r>
            <a:r>
              <a:rPr lang="en-GB" b="1" i="1" dirty="0"/>
              <a:t>its/their intended purpose(s) </a:t>
            </a:r>
            <a:r>
              <a:rPr lang="en-GB" b="1" i="1" u="sng" dirty="0"/>
              <a:t>or to </a:t>
            </a:r>
            <a:r>
              <a:rPr lang="en-GB" b="1" i="1" dirty="0"/>
              <a:t>specifically</a:t>
            </a:r>
            <a:r>
              <a:rPr lang="en-GB" i="1" dirty="0"/>
              <a:t> and </a:t>
            </a:r>
            <a:r>
              <a:rPr lang="en-GB" b="1" i="1" dirty="0"/>
              <a:t>directly</a:t>
            </a:r>
            <a:r>
              <a:rPr lang="en-GB" i="1" dirty="0"/>
              <a:t> assist the </a:t>
            </a:r>
            <a:r>
              <a:rPr lang="en-GB" b="1" i="1" dirty="0"/>
              <a:t>medical functionality </a:t>
            </a:r>
            <a:r>
              <a:rPr lang="en-GB" i="1" dirty="0"/>
              <a:t>of </a:t>
            </a:r>
            <a:r>
              <a:rPr lang="en-GB" b="1" i="1" dirty="0"/>
              <a:t>the medical device(s) </a:t>
            </a:r>
            <a:r>
              <a:rPr lang="en-GB" i="1" dirty="0"/>
              <a:t>in terms of its/their intended purpose(s);</a:t>
            </a:r>
          </a:p>
        </p:txBody>
      </p:sp>
    </p:spTree>
    <p:extLst>
      <p:ext uri="{BB962C8B-B14F-4D97-AF65-F5344CB8AC3E}">
        <p14:creationId xmlns:p14="http://schemas.microsoft.com/office/powerpoint/2010/main" val="3551160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FE19-A482-10AB-04BE-6F70F2B6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0C37-6F6E-917C-C9F3-6339B418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2.4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F7E53-463A-1B40-C56E-04DE5D10D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Accessories – but certification?</a:t>
            </a:r>
          </a:p>
          <a:p>
            <a:r>
              <a:rPr lang="en-GB" dirty="0"/>
              <a:t>Recital 19 </a:t>
            </a:r>
          </a:p>
          <a:p>
            <a:r>
              <a:rPr lang="en-GB" dirty="0"/>
              <a:t>“Standard” software v custom-made </a:t>
            </a:r>
          </a:p>
          <a:p>
            <a:r>
              <a:rPr lang="en-GB" dirty="0"/>
              <a:t>Next slide is an example of this problem for surgical robots.</a:t>
            </a:r>
          </a:p>
        </p:txBody>
      </p:sp>
    </p:spTree>
    <p:extLst>
      <p:ext uri="{BB962C8B-B14F-4D97-AF65-F5344CB8AC3E}">
        <p14:creationId xmlns:p14="http://schemas.microsoft.com/office/powerpoint/2010/main" val="1594039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76DB-9FF4-FE6B-403A-248CEB2A0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machine&#10;&#10;Description automatically generated">
            <a:extLst>
              <a:ext uri="{FF2B5EF4-FFF2-40B4-BE49-F238E27FC236}">
                <a16:creationId xmlns:a16="http://schemas.microsoft.com/office/drawing/2014/main" id="{365CB358-FFCB-FC07-3663-18089DEBB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12" y="176463"/>
            <a:ext cx="11564576" cy="6505074"/>
          </a:xfrm>
        </p:spPr>
      </p:pic>
    </p:spTree>
    <p:extLst>
      <p:ext uri="{BB962C8B-B14F-4D97-AF65-F5344CB8AC3E}">
        <p14:creationId xmlns:p14="http://schemas.microsoft.com/office/powerpoint/2010/main" val="1774861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F597-3173-68C2-FD30-ED101D72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DE49-7902-82C6-1CB3-769CFACC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2.5 Other important definitions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9807D-60A7-FE08-AF37-2572E1C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/>
              <a:t>‘manufacturer</a:t>
            </a:r>
            <a:r>
              <a:rPr lang="en-GB" i="1" dirty="0"/>
              <a:t>’ means a </a:t>
            </a:r>
            <a:r>
              <a:rPr lang="en-GB" b="1" i="1" dirty="0"/>
              <a:t>natural </a:t>
            </a:r>
            <a:r>
              <a:rPr lang="en-GB" i="1" dirty="0"/>
              <a:t>or </a:t>
            </a:r>
            <a:r>
              <a:rPr lang="en-GB" b="1" i="1" dirty="0"/>
              <a:t>legal person </a:t>
            </a:r>
            <a:r>
              <a:rPr lang="en-GB" i="1" dirty="0"/>
              <a:t>who </a:t>
            </a:r>
            <a:r>
              <a:rPr lang="en-GB" b="1" i="1" dirty="0"/>
              <a:t>manufactures </a:t>
            </a:r>
            <a:r>
              <a:rPr lang="en-GB" i="1" dirty="0"/>
              <a:t>or </a:t>
            </a:r>
            <a:r>
              <a:rPr lang="en-GB" b="1" i="1" dirty="0"/>
              <a:t>fully refurbishes </a:t>
            </a:r>
            <a:r>
              <a:rPr lang="en-GB" i="1" dirty="0"/>
              <a:t>a device or has a device </a:t>
            </a:r>
            <a:r>
              <a:rPr lang="en-GB" b="1" i="1" dirty="0"/>
              <a:t>designed</a:t>
            </a:r>
            <a:r>
              <a:rPr lang="en-GB" i="1" dirty="0"/>
              <a:t>, </a:t>
            </a:r>
            <a:r>
              <a:rPr lang="en-GB" b="1" i="1" dirty="0"/>
              <a:t>manufactured</a:t>
            </a:r>
            <a:r>
              <a:rPr lang="en-GB" i="1" dirty="0"/>
              <a:t> or </a:t>
            </a:r>
            <a:r>
              <a:rPr lang="en-GB" b="1" i="1" dirty="0"/>
              <a:t>fully refurbished</a:t>
            </a:r>
            <a:r>
              <a:rPr lang="en-GB" i="1" dirty="0"/>
              <a:t>, and markets that device under </a:t>
            </a:r>
            <a:r>
              <a:rPr lang="en-GB" b="1" i="1" dirty="0"/>
              <a:t>its name or trademark</a:t>
            </a:r>
            <a:r>
              <a:rPr lang="en-GB" i="1" dirty="0"/>
              <a:t>;</a:t>
            </a:r>
          </a:p>
          <a:p>
            <a:r>
              <a:rPr lang="en-GB" i="1" dirty="0"/>
              <a:t>‘</a:t>
            </a:r>
            <a:r>
              <a:rPr lang="en-GB" b="1" i="1" dirty="0"/>
              <a:t>adverse event</a:t>
            </a:r>
            <a:r>
              <a:rPr lang="en-GB" i="1" dirty="0"/>
              <a:t>’ means any </a:t>
            </a:r>
            <a:r>
              <a:rPr lang="en-GB" b="1" i="1" dirty="0"/>
              <a:t>untoward medical occurrence</a:t>
            </a:r>
            <a:r>
              <a:rPr lang="en-GB" i="1" dirty="0"/>
              <a:t>, </a:t>
            </a:r>
            <a:r>
              <a:rPr lang="en-GB" b="1" i="1" dirty="0"/>
              <a:t>unintended disease or injury or any untoward clinical sign</a:t>
            </a:r>
            <a:r>
              <a:rPr lang="en-GB" i="1" dirty="0"/>
              <a:t>s, including </a:t>
            </a:r>
            <a:r>
              <a:rPr lang="en-GB" b="1" i="1" dirty="0"/>
              <a:t>an abnormal laboratory finding</a:t>
            </a:r>
            <a:r>
              <a:rPr lang="en-GB" i="1" dirty="0"/>
              <a:t>, in </a:t>
            </a:r>
            <a:r>
              <a:rPr lang="en-GB" b="1" i="1" dirty="0"/>
              <a:t>subjects, users or other persons</a:t>
            </a:r>
            <a:r>
              <a:rPr lang="en-GB" i="1" dirty="0"/>
              <a:t>, in the context of a </a:t>
            </a:r>
            <a:r>
              <a:rPr lang="en-GB" b="1" i="1" dirty="0"/>
              <a:t>clinical investigation</a:t>
            </a:r>
            <a:r>
              <a:rPr lang="en-GB" i="1" dirty="0"/>
              <a:t>, whether or not related to the investigational device;</a:t>
            </a:r>
          </a:p>
        </p:txBody>
      </p:sp>
    </p:spTree>
    <p:extLst>
      <p:ext uri="{BB962C8B-B14F-4D97-AF65-F5344CB8AC3E}">
        <p14:creationId xmlns:p14="http://schemas.microsoft.com/office/powerpoint/2010/main" val="2790821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14F0F-F260-246E-D717-3856C0AC2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Questions – will not be recorded </a:t>
            </a:r>
          </a:p>
        </p:txBody>
      </p:sp>
    </p:spTree>
    <p:extLst>
      <p:ext uri="{BB962C8B-B14F-4D97-AF65-F5344CB8AC3E}">
        <p14:creationId xmlns:p14="http://schemas.microsoft.com/office/powerpoint/2010/main" val="3106960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985</Words>
  <Application>Microsoft Office PowerPoint</Application>
  <PresentationFormat>Widescreen</PresentationFormat>
  <Paragraphs>121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LECTURE TWO – SAFETY AND MEDICAL DEVICES (PART ONE)</vt:lpstr>
      <vt:lpstr>0.0</vt:lpstr>
      <vt:lpstr>1.0 Safety</vt:lpstr>
      <vt:lpstr>PowerPoint Presentation</vt:lpstr>
      <vt:lpstr>1.1</vt:lpstr>
      <vt:lpstr>PowerPoint Presentation</vt:lpstr>
      <vt:lpstr>1.2</vt:lpstr>
      <vt:lpstr>PowerPoint Presentation</vt:lpstr>
      <vt:lpstr>PowerPoint Presentation</vt:lpstr>
      <vt:lpstr>1.3 </vt:lpstr>
      <vt:lpstr>1.4 </vt:lpstr>
      <vt:lpstr>1.5 </vt:lpstr>
      <vt:lpstr>2.0 The Medical Device Regulation (MDR) (EU)</vt:lpstr>
      <vt:lpstr>2.1 Structure</vt:lpstr>
      <vt:lpstr>2.1 Scope </vt:lpstr>
      <vt:lpstr>2.2</vt:lpstr>
      <vt:lpstr>2.3 </vt:lpstr>
      <vt:lpstr>PowerPoint Presentation</vt:lpstr>
      <vt:lpstr>2.3 Accessories</vt:lpstr>
      <vt:lpstr>2.4</vt:lpstr>
      <vt:lpstr>PowerPoint Presentation</vt:lpstr>
      <vt:lpstr>2.5 Other important definitions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Kaspar Ludvigsen</dc:creator>
  <cp:lastModifiedBy>Kaspar Ludvigsen</cp:lastModifiedBy>
  <cp:revision>6</cp:revision>
  <dcterms:created xsi:type="dcterms:W3CDTF">2024-11-12T10:33:10Z</dcterms:created>
  <dcterms:modified xsi:type="dcterms:W3CDTF">2024-11-14T14:23:26Z</dcterms:modified>
</cp:coreProperties>
</file>