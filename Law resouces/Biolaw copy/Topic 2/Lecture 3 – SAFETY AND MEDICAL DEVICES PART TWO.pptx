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3" r:id="rId17"/>
    <p:sldId id="274" r:id="rId18"/>
    <p:sldId id="275" r:id="rId19"/>
    <p:sldId id="279" r:id="rId20"/>
    <p:sldId id="27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8" autoAdjust="0"/>
    <p:restoredTop sz="94660"/>
  </p:normalViewPr>
  <p:slideViewPr>
    <p:cSldViewPr snapToGrid="0">
      <p:cViewPr varScale="1">
        <p:scale>
          <a:sx n="60" d="100"/>
          <a:sy n="60" d="100"/>
        </p:scale>
        <p:origin x="90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A5914-A364-48F2-B34A-FC2BEAB3F5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ED35F669-930B-A8A1-3AA0-757981D415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CC38C05-3B63-D153-CD5B-490939E23F78}"/>
              </a:ext>
            </a:extLst>
          </p:cNvPr>
          <p:cNvSpPr>
            <a:spLocks noGrp="1"/>
          </p:cNvSpPr>
          <p:nvPr>
            <p:ph type="dt" sz="half" idx="10"/>
          </p:nvPr>
        </p:nvSpPr>
        <p:spPr/>
        <p:txBody>
          <a:bodyPr/>
          <a:lstStyle/>
          <a:p>
            <a:fld id="{C3372B73-353B-4154-B448-4C3CC35A3A23}" type="datetimeFigureOut">
              <a:rPr lang="en-GB" smtClean="0"/>
              <a:t>24/11/2024</a:t>
            </a:fld>
            <a:endParaRPr lang="en-GB"/>
          </a:p>
        </p:txBody>
      </p:sp>
      <p:sp>
        <p:nvSpPr>
          <p:cNvPr id="5" name="Footer Placeholder 4">
            <a:extLst>
              <a:ext uri="{FF2B5EF4-FFF2-40B4-BE49-F238E27FC236}">
                <a16:creationId xmlns:a16="http://schemas.microsoft.com/office/drawing/2014/main" id="{8CBEE9E2-EC1B-CECE-BB63-1173A4C183B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82E6450-44A2-7CE1-D999-B3F2A6CBB673}"/>
              </a:ext>
            </a:extLst>
          </p:cNvPr>
          <p:cNvSpPr>
            <a:spLocks noGrp="1"/>
          </p:cNvSpPr>
          <p:nvPr>
            <p:ph type="sldNum" sz="quarter" idx="12"/>
          </p:nvPr>
        </p:nvSpPr>
        <p:spPr/>
        <p:txBody>
          <a:bodyPr/>
          <a:lstStyle/>
          <a:p>
            <a:fld id="{F2B10727-EB19-4022-BD27-DCDA9521808A}" type="slidenum">
              <a:rPr lang="en-GB" smtClean="0"/>
              <a:t>‹#›</a:t>
            </a:fld>
            <a:endParaRPr lang="en-GB"/>
          </a:p>
        </p:txBody>
      </p:sp>
    </p:spTree>
    <p:extLst>
      <p:ext uri="{BB962C8B-B14F-4D97-AF65-F5344CB8AC3E}">
        <p14:creationId xmlns:p14="http://schemas.microsoft.com/office/powerpoint/2010/main" val="4861700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05D13-7F6F-33FA-ECDC-CF61EB6F314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5B7B109-E169-748B-20EF-DF5255BDCF5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7F3CD47-FBDA-0B74-2E9B-A4958C501C80}"/>
              </a:ext>
            </a:extLst>
          </p:cNvPr>
          <p:cNvSpPr>
            <a:spLocks noGrp="1"/>
          </p:cNvSpPr>
          <p:nvPr>
            <p:ph type="dt" sz="half" idx="10"/>
          </p:nvPr>
        </p:nvSpPr>
        <p:spPr/>
        <p:txBody>
          <a:bodyPr/>
          <a:lstStyle/>
          <a:p>
            <a:fld id="{C3372B73-353B-4154-B448-4C3CC35A3A23}" type="datetimeFigureOut">
              <a:rPr lang="en-GB" smtClean="0"/>
              <a:t>24/11/2024</a:t>
            </a:fld>
            <a:endParaRPr lang="en-GB"/>
          </a:p>
        </p:txBody>
      </p:sp>
      <p:sp>
        <p:nvSpPr>
          <p:cNvPr id="5" name="Footer Placeholder 4">
            <a:extLst>
              <a:ext uri="{FF2B5EF4-FFF2-40B4-BE49-F238E27FC236}">
                <a16:creationId xmlns:a16="http://schemas.microsoft.com/office/drawing/2014/main" id="{AD847361-12CE-80C1-BDCB-B24A917C5D4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0D757F3-06DB-6734-4603-CA7A64F98CB8}"/>
              </a:ext>
            </a:extLst>
          </p:cNvPr>
          <p:cNvSpPr>
            <a:spLocks noGrp="1"/>
          </p:cNvSpPr>
          <p:nvPr>
            <p:ph type="sldNum" sz="quarter" idx="12"/>
          </p:nvPr>
        </p:nvSpPr>
        <p:spPr/>
        <p:txBody>
          <a:bodyPr/>
          <a:lstStyle/>
          <a:p>
            <a:fld id="{F2B10727-EB19-4022-BD27-DCDA9521808A}" type="slidenum">
              <a:rPr lang="en-GB" smtClean="0"/>
              <a:t>‹#›</a:t>
            </a:fld>
            <a:endParaRPr lang="en-GB"/>
          </a:p>
        </p:txBody>
      </p:sp>
    </p:spTree>
    <p:extLst>
      <p:ext uri="{BB962C8B-B14F-4D97-AF65-F5344CB8AC3E}">
        <p14:creationId xmlns:p14="http://schemas.microsoft.com/office/powerpoint/2010/main" val="3527659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D1E2E-AA6C-676A-A845-EE8F320DADA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FA4C174-271F-8BB0-D376-D0126832DA8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B4B456F-3C26-9161-13AD-FF34C7764556}"/>
              </a:ext>
            </a:extLst>
          </p:cNvPr>
          <p:cNvSpPr>
            <a:spLocks noGrp="1"/>
          </p:cNvSpPr>
          <p:nvPr>
            <p:ph type="dt" sz="half" idx="10"/>
          </p:nvPr>
        </p:nvSpPr>
        <p:spPr/>
        <p:txBody>
          <a:bodyPr/>
          <a:lstStyle/>
          <a:p>
            <a:fld id="{C3372B73-353B-4154-B448-4C3CC35A3A23}" type="datetimeFigureOut">
              <a:rPr lang="en-GB" smtClean="0"/>
              <a:t>24/11/2024</a:t>
            </a:fld>
            <a:endParaRPr lang="en-GB"/>
          </a:p>
        </p:txBody>
      </p:sp>
      <p:sp>
        <p:nvSpPr>
          <p:cNvPr id="5" name="Footer Placeholder 4">
            <a:extLst>
              <a:ext uri="{FF2B5EF4-FFF2-40B4-BE49-F238E27FC236}">
                <a16:creationId xmlns:a16="http://schemas.microsoft.com/office/drawing/2014/main" id="{E68111CD-4884-CA97-02A1-3A5D182AEA3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F883829-6CE5-D36F-5A29-8EDB823F9792}"/>
              </a:ext>
            </a:extLst>
          </p:cNvPr>
          <p:cNvSpPr>
            <a:spLocks noGrp="1"/>
          </p:cNvSpPr>
          <p:nvPr>
            <p:ph type="sldNum" sz="quarter" idx="12"/>
          </p:nvPr>
        </p:nvSpPr>
        <p:spPr/>
        <p:txBody>
          <a:bodyPr/>
          <a:lstStyle/>
          <a:p>
            <a:fld id="{F2B10727-EB19-4022-BD27-DCDA9521808A}" type="slidenum">
              <a:rPr lang="en-GB" smtClean="0"/>
              <a:t>‹#›</a:t>
            </a:fld>
            <a:endParaRPr lang="en-GB"/>
          </a:p>
        </p:txBody>
      </p:sp>
    </p:spTree>
    <p:extLst>
      <p:ext uri="{BB962C8B-B14F-4D97-AF65-F5344CB8AC3E}">
        <p14:creationId xmlns:p14="http://schemas.microsoft.com/office/powerpoint/2010/main" val="20186923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300D7-179F-E998-C285-9FFE3CDCC8F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3B0BE71-DB1A-661A-88DA-DFC7A4A897F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562C7290-7247-A8AC-40A1-CD83CD6C0E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5D4C6376-D991-F502-E7D2-0CF59FCEC665}"/>
              </a:ext>
            </a:extLst>
          </p:cNvPr>
          <p:cNvSpPr>
            <a:spLocks noGrp="1"/>
          </p:cNvSpPr>
          <p:nvPr>
            <p:ph type="dt" sz="half" idx="10"/>
          </p:nvPr>
        </p:nvSpPr>
        <p:spPr/>
        <p:txBody>
          <a:bodyPr/>
          <a:lstStyle/>
          <a:p>
            <a:fld id="{C3372B73-353B-4154-B448-4C3CC35A3A23}" type="datetimeFigureOut">
              <a:rPr lang="en-GB" smtClean="0"/>
              <a:t>24/11/2024</a:t>
            </a:fld>
            <a:endParaRPr lang="en-GB"/>
          </a:p>
        </p:txBody>
      </p:sp>
      <p:sp>
        <p:nvSpPr>
          <p:cNvPr id="6" name="Footer Placeholder 5">
            <a:extLst>
              <a:ext uri="{FF2B5EF4-FFF2-40B4-BE49-F238E27FC236}">
                <a16:creationId xmlns:a16="http://schemas.microsoft.com/office/drawing/2014/main" id="{A9A8FA96-7598-3AD0-3949-D3127538FBD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DE3631B-01DC-9500-B011-B10DE88703CD}"/>
              </a:ext>
            </a:extLst>
          </p:cNvPr>
          <p:cNvSpPr>
            <a:spLocks noGrp="1"/>
          </p:cNvSpPr>
          <p:nvPr>
            <p:ph type="sldNum" sz="quarter" idx="12"/>
          </p:nvPr>
        </p:nvSpPr>
        <p:spPr/>
        <p:txBody>
          <a:bodyPr/>
          <a:lstStyle/>
          <a:p>
            <a:fld id="{F2B10727-EB19-4022-BD27-DCDA9521808A}" type="slidenum">
              <a:rPr lang="en-GB" smtClean="0"/>
              <a:t>‹#›</a:t>
            </a:fld>
            <a:endParaRPr lang="en-GB"/>
          </a:p>
        </p:txBody>
      </p:sp>
    </p:spTree>
    <p:extLst>
      <p:ext uri="{BB962C8B-B14F-4D97-AF65-F5344CB8AC3E}">
        <p14:creationId xmlns:p14="http://schemas.microsoft.com/office/powerpoint/2010/main" val="8765380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C075B-B8EC-3A5C-0C05-D6284BE21546}"/>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CB71DEC-6F74-4690-1EF0-B077BF085B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0E008E2-8079-4518-1AD4-4E59BBC74EE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8378C4E8-C597-84C1-14C7-5FCE114704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66A09A2-1FDD-074D-F171-6FCE6CDE20E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285799AA-586C-70E9-11EB-19BE7129313D}"/>
              </a:ext>
            </a:extLst>
          </p:cNvPr>
          <p:cNvSpPr>
            <a:spLocks noGrp="1"/>
          </p:cNvSpPr>
          <p:nvPr>
            <p:ph type="dt" sz="half" idx="10"/>
          </p:nvPr>
        </p:nvSpPr>
        <p:spPr/>
        <p:txBody>
          <a:bodyPr/>
          <a:lstStyle/>
          <a:p>
            <a:fld id="{C3372B73-353B-4154-B448-4C3CC35A3A23}" type="datetimeFigureOut">
              <a:rPr lang="en-GB" smtClean="0"/>
              <a:t>24/11/2024</a:t>
            </a:fld>
            <a:endParaRPr lang="en-GB"/>
          </a:p>
        </p:txBody>
      </p:sp>
      <p:sp>
        <p:nvSpPr>
          <p:cNvPr id="8" name="Footer Placeholder 7">
            <a:extLst>
              <a:ext uri="{FF2B5EF4-FFF2-40B4-BE49-F238E27FC236}">
                <a16:creationId xmlns:a16="http://schemas.microsoft.com/office/drawing/2014/main" id="{D87891DD-158B-4A4A-5C8B-67F5A1167925}"/>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0360877-C3C4-701B-26FE-3C6103F6B9BD}"/>
              </a:ext>
            </a:extLst>
          </p:cNvPr>
          <p:cNvSpPr>
            <a:spLocks noGrp="1"/>
          </p:cNvSpPr>
          <p:nvPr>
            <p:ph type="sldNum" sz="quarter" idx="12"/>
          </p:nvPr>
        </p:nvSpPr>
        <p:spPr/>
        <p:txBody>
          <a:bodyPr/>
          <a:lstStyle/>
          <a:p>
            <a:fld id="{F2B10727-EB19-4022-BD27-DCDA9521808A}" type="slidenum">
              <a:rPr lang="en-GB" smtClean="0"/>
              <a:t>‹#›</a:t>
            </a:fld>
            <a:endParaRPr lang="en-GB"/>
          </a:p>
        </p:txBody>
      </p:sp>
    </p:spTree>
    <p:extLst>
      <p:ext uri="{BB962C8B-B14F-4D97-AF65-F5344CB8AC3E}">
        <p14:creationId xmlns:p14="http://schemas.microsoft.com/office/powerpoint/2010/main" val="21379885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2DBB6-C569-039F-A7BE-7735C7C2798D}"/>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482D4AD0-C4BE-5EFF-3C52-4FDA73A4B90B}"/>
              </a:ext>
            </a:extLst>
          </p:cNvPr>
          <p:cNvSpPr>
            <a:spLocks noGrp="1"/>
          </p:cNvSpPr>
          <p:nvPr>
            <p:ph type="dt" sz="half" idx="10"/>
          </p:nvPr>
        </p:nvSpPr>
        <p:spPr/>
        <p:txBody>
          <a:bodyPr/>
          <a:lstStyle/>
          <a:p>
            <a:fld id="{C3372B73-353B-4154-B448-4C3CC35A3A23}" type="datetimeFigureOut">
              <a:rPr lang="en-GB" smtClean="0"/>
              <a:t>24/11/2024</a:t>
            </a:fld>
            <a:endParaRPr lang="en-GB"/>
          </a:p>
        </p:txBody>
      </p:sp>
      <p:sp>
        <p:nvSpPr>
          <p:cNvPr id="4" name="Footer Placeholder 3">
            <a:extLst>
              <a:ext uri="{FF2B5EF4-FFF2-40B4-BE49-F238E27FC236}">
                <a16:creationId xmlns:a16="http://schemas.microsoft.com/office/drawing/2014/main" id="{C55A766E-7A54-EACF-2DA1-DC08758E9201}"/>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234353E9-5C0F-E934-7DE6-CA5F74C7380F}"/>
              </a:ext>
            </a:extLst>
          </p:cNvPr>
          <p:cNvSpPr>
            <a:spLocks noGrp="1"/>
          </p:cNvSpPr>
          <p:nvPr>
            <p:ph type="sldNum" sz="quarter" idx="12"/>
          </p:nvPr>
        </p:nvSpPr>
        <p:spPr/>
        <p:txBody>
          <a:bodyPr/>
          <a:lstStyle/>
          <a:p>
            <a:fld id="{F2B10727-EB19-4022-BD27-DCDA9521808A}" type="slidenum">
              <a:rPr lang="en-GB" smtClean="0"/>
              <a:t>‹#›</a:t>
            </a:fld>
            <a:endParaRPr lang="en-GB"/>
          </a:p>
        </p:txBody>
      </p:sp>
    </p:spTree>
    <p:extLst>
      <p:ext uri="{BB962C8B-B14F-4D97-AF65-F5344CB8AC3E}">
        <p14:creationId xmlns:p14="http://schemas.microsoft.com/office/powerpoint/2010/main" val="1800106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8D1943-4EC9-D1DF-70CC-F5EF028DEA8E}"/>
              </a:ext>
            </a:extLst>
          </p:cNvPr>
          <p:cNvSpPr>
            <a:spLocks noGrp="1"/>
          </p:cNvSpPr>
          <p:nvPr>
            <p:ph type="dt" sz="half" idx="10"/>
          </p:nvPr>
        </p:nvSpPr>
        <p:spPr/>
        <p:txBody>
          <a:bodyPr/>
          <a:lstStyle/>
          <a:p>
            <a:fld id="{C3372B73-353B-4154-B448-4C3CC35A3A23}" type="datetimeFigureOut">
              <a:rPr lang="en-GB" smtClean="0"/>
              <a:t>24/11/2024</a:t>
            </a:fld>
            <a:endParaRPr lang="en-GB"/>
          </a:p>
        </p:txBody>
      </p:sp>
      <p:sp>
        <p:nvSpPr>
          <p:cNvPr id="3" name="Footer Placeholder 2">
            <a:extLst>
              <a:ext uri="{FF2B5EF4-FFF2-40B4-BE49-F238E27FC236}">
                <a16:creationId xmlns:a16="http://schemas.microsoft.com/office/drawing/2014/main" id="{C83C919F-FFD7-7635-13B6-A3E5C987CA6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3C30817-5164-7842-95E2-C689859CB713}"/>
              </a:ext>
            </a:extLst>
          </p:cNvPr>
          <p:cNvSpPr>
            <a:spLocks noGrp="1"/>
          </p:cNvSpPr>
          <p:nvPr>
            <p:ph type="sldNum" sz="quarter" idx="12"/>
          </p:nvPr>
        </p:nvSpPr>
        <p:spPr/>
        <p:txBody>
          <a:bodyPr/>
          <a:lstStyle/>
          <a:p>
            <a:fld id="{F2B10727-EB19-4022-BD27-DCDA9521808A}" type="slidenum">
              <a:rPr lang="en-GB" smtClean="0"/>
              <a:t>‹#›</a:t>
            </a:fld>
            <a:endParaRPr lang="en-GB"/>
          </a:p>
        </p:txBody>
      </p:sp>
    </p:spTree>
    <p:extLst>
      <p:ext uri="{BB962C8B-B14F-4D97-AF65-F5344CB8AC3E}">
        <p14:creationId xmlns:p14="http://schemas.microsoft.com/office/powerpoint/2010/main" val="3942034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E9D78-0118-1D2B-7B27-9CA80B57E8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52568D9-E7ED-1348-5796-FA5AEA4A27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A7EBDD3-5304-FAF9-F107-3964F83401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EB87FB-ABC7-85FB-4E15-665A2A399DDF}"/>
              </a:ext>
            </a:extLst>
          </p:cNvPr>
          <p:cNvSpPr>
            <a:spLocks noGrp="1"/>
          </p:cNvSpPr>
          <p:nvPr>
            <p:ph type="dt" sz="half" idx="10"/>
          </p:nvPr>
        </p:nvSpPr>
        <p:spPr/>
        <p:txBody>
          <a:bodyPr/>
          <a:lstStyle/>
          <a:p>
            <a:fld id="{C3372B73-353B-4154-B448-4C3CC35A3A23}" type="datetimeFigureOut">
              <a:rPr lang="en-GB" smtClean="0"/>
              <a:t>24/11/2024</a:t>
            </a:fld>
            <a:endParaRPr lang="en-GB"/>
          </a:p>
        </p:txBody>
      </p:sp>
      <p:sp>
        <p:nvSpPr>
          <p:cNvPr id="6" name="Footer Placeholder 5">
            <a:extLst>
              <a:ext uri="{FF2B5EF4-FFF2-40B4-BE49-F238E27FC236}">
                <a16:creationId xmlns:a16="http://schemas.microsoft.com/office/drawing/2014/main" id="{6012D37D-51C3-B0AB-32DC-B4850DE0857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CD6861B-8482-5CB8-8A5A-94D045838688}"/>
              </a:ext>
            </a:extLst>
          </p:cNvPr>
          <p:cNvSpPr>
            <a:spLocks noGrp="1"/>
          </p:cNvSpPr>
          <p:nvPr>
            <p:ph type="sldNum" sz="quarter" idx="12"/>
          </p:nvPr>
        </p:nvSpPr>
        <p:spPr/>
        <p:txBody>
          <a:bodyPr/>
          <a:lstStyle/>
          <a:p>
            <a:fld id="{F2B10727-EB19-4022-BD27-DCDA9521808A}" type="slidenum">
              <a:rPr lang="en-GB" smtClean="0"/>
              <a:t>‹#›</a:t>
            </a:fld>
            <a:endParaRPr lang="en-GB"/>
          </a:p>
        </p:txBody>
      </p:sp>
    </p:spTree>
    <p:extLst>
      <p:ext uri="{BB962C8B-B14F-4D97-AF65-F5344CB8AC3E}">
        <p14:creationId xmlns:p14="http://schemas.microsoft.com/office/powerpoint/2010/main" val="7163475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8068F-A28C-9530-77BF-13EC542F77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14473A2F-C42E-2B1E-CC84-16F68A67A8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A90F48EA-8875-570C-EC52-6E1FCE15A0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816C91-75AC-369D-DA2D-56F62DA45148}"/>
              </a:ext>
            </a:extLst>
          </p:cNvPr>
          <p:cNvSpPr>
            <a:spLocks noGrp="1"/>
          </p:cNvSpPr>
          <p:nvPr>
            <p:ph type="dt" sz="half" idx="10"/>
          </p:nvPr>
        </p:nvSpPr>
        <p:spPr/>
        <p:txBody>
          <a:bodyPr/>
          <a:lstStyle/>
          <a:p>
            <a:fld id="{C3372B73-353B-4154-B448-4C3CC35A3A23}" type="datetimeFigureOut">
              <a:rPr lang="en-GB" smtClean="0"/>
              <a:t>24/11/2024</a:t>
            </a:fld>
            <a:endParaRPr lang="en-GB"/>
          </a:p>
        </p:txBody>
      </p:sp>
      <p:sp>
        <p:nvSpPr>
          <p:cNvPr id="6" name="Footer Placeholder 5">
            <a:extLst>
              <a:ext uri="{FF2B5EF4-FFF2-40B4-BE49-F238E27FC236}">
                <a16:creationId xmlns:a16="http://schemas.microsoft.com/office/drawing/2014/main" id="{221AA7EF-9427-CFF1-0F44-0BD63C500C4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8B33F45-944A-B330-E853-1DF8EEE3E776}"/>
              </a:ext>
            </a:extLst>
          </p:cNvPr>
          <p:cNvSpPr>
            <a:spLocks noGrp="1"/>
          </p:cNvSpPr>
          <p:nvPr>
            <p:ph type="sldNum" sz="quarter" idx="12"/>
          </p:nvPr>
        </p:nvSpPr>
        <p:spPr/>
        <p:txBody>
          <a:bodyPr/>
          <a:lstStyle/>
          <a:p>
            <a:fld id="{F2B10727-EB19-4022-BD27-DCDA9521808A}" type="slidenum">
              <a:rPr lang="en-GB" smtClean="0"/>
              <a:t>‹#›</a:t>
            </a:fld>
            <a:endParaRPr lang="en-GB"/>
          </a:p>
        </p:txBody>
      </p:sp>
    </p:spTree>
    <p:extLst>
      <p:ext uri="{BB962C8B-B14F-4D97-AF65-F5344CB8AC3E}">
        <p14:creationId xmlns:p14="http://schemas.microsoft.com/office/powerpoint/2010/main" val="40164077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7841F-2F5C-AAB5-5DD7-D9C6584CD499}"/>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19A121A-B013-A95B-06FB-37A0D0E554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65D4AB7-EAE8-89C6-2620-33499430DCAA}"/>
              </a:ext>
            </a:extLst>
          </p:cNvPr>
          <p:cNvSpPr>
            <a:spLocks noGrp="1"/>
          </p:cNvSpPr>
          <p:nvPr>
            <p:ph type="dt" sz="half" idx="10"/>
          </p:nvPr>
        </p:nvSpPr>
        <p:spPr/>
        <p:txBody>
          <a:bodyPr/>
          <a:lstStyle/>
          <a:p>
            <a:fld id="{C3372B73-353B-4154-B448-4C3CC35A3A23}" type="datetimeFigureOut">
              <a:rPr lang="en-GB" smtClean="0"/>
              <a:t>24/11/2024</a:t>
            </a:fld>
            <a:endParaRPr lang="en-GB"/>
          </a:p>
        </p:txBody>
      </p:sp>
      <p:sp>
        <p:nvSpPr>
          <p:cNvPr id="5" name="Footer Placeholder 4">
            <a:extLst>
              <a:ext uri="{FF2B5EF4-FFF2-40B4-BE49-F238E27FC236}">
                <a16:creationId xmlns:a16="http://schemas.microsoft.com/office/drawing/2014/main" id="{354CDDB2-DFF0-AA9E-8996-FC39D60DD2F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2E6E4EE-99DA-DE14-F371-0E80C061AD7D}"/>
              </a:ext>
            </a:extLst>
          </p:cNvPr>
          <p:cNvSpPr>
            <a:spLocks noGrp="1"/>
          </p:cNvSpPr>
          <p:nvPr>
            <p:ph type="sldNum" sz="quarter" idx="12"/>
          </p:nvPr>
        </p:nvSpPr>
        <p:spPr/>
        <p:txBody>
          <a:bodyPr/>
          <a:lstStyle/>
          <a:p>
            <a:fld id="{F2B10727-EB19-4022-BD27-DCDA9521808A}" type="slidenum">
              <a:rPr lang="en-GB" smtClean="0"/>
              <a:t>‹#›</a:t>
            </a:fld>
            <a:endParaRPr lang="en-GB"/>
          </a:p>
        </p:txBody>
      </p:sp>
    </p:spTree>
    <p:extLst>
      <p:ext uri="{BB962C8B-B14F-4D97-AF65-F5344CB8AC3E}">
        <p14:creationId xmlns:p14="http://schemas.microsoft.com/office/powerpoint/2010/main" val="4266772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DDB38A-EC99-F5DE-DCF4-C810CF511ED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3183CC8-6533-C3F9-78AA-5FC549FB7BC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97D909F-A5BE-98CF-1DB3-CD5CC074FB29}"/>
              </a:ext>
            </a:extLst>
          </p:cNvPr>
          <p:cNvSpPr>
            <a:spLocks noGrp="1"/>
          </p:cNvSpPr>
          <p:nvPr>
            <p:ph type="dt" sz="half" idx="10"/>
          </p:nvPr>
        </p:nvSpPr>
        <p:spPr/>
        <p:txBody>
          <a:bodyPr/>
          <a:lstStyle/>
          <a:p>
            <a:fld id="{C3372B73-353B-4154-B448-4C3CC35A3A23}" type="datetimeFigureOut">
              <a:rPr lang="en-GB" smtClean="0"/>
              <a:t>24/11/2024</a:t>
            </a:fld>
            <a:endParaRPr lang="en-GB"/>
          </a:p>
        </p:txBody>
      </p:sp>
      <p:sp>
        <p:nvSpPr>
          <p:cNvPr id="5" name="Footer Placeholder 4">
            <a:extLst>
              <a:ext uri="{FF2B5EF4-FFF2-40B4-BE49-F238E27FC236}">
                <a16:creationId xmlns:a16="http://schemas.microsoft.com/office/drawing/2014/main" id="{8763BA74-F7BB-38CC-8F7C-34805136407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BA4FC31-14EA-E49C-9B66-0336A0F414F0}"/>
              </a:ext>
            </a:extLst>
          </p:cNvPr>
          <p:cNvSpPr>
            <a:spLocks noGrp="1"/>
          </p:cNvSpPr>
          <p:nvPr>
            <p:ph type="sldNum" sz="quarter" idx="12"/>
          </p:nvPr>
        </p:nvSpPr>
        <p:spPr/>
        <p:txBody>
          <a:bodyPr/>
          <a:lstStyle/>
          <a:p>
            <a:fld id="{F2B10727-EB19-4022-BD27-DCDA9521808A}" type="slidenum">
              <a:rPr lang="en-GB" smtClean="0"/>
              <a:t>‹#›</a:t>
            </a:fld>
            <a:endParaRPr lang="en-GB"/>
          </a:p>
        </p:txBody>
      </p:sp>
    </p:spTree>
    <p:extLst>
      <p:ext uri="{BB962C8B-B14F-4D97-AF65-F5344CB8AC3E}">
        <p14:creationId xmlns:p14="http://schemas.microsoft.com/office/powerpoint/2010/main" val="2910641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D3044E-036C-7AB4-6644-B2FBEFBE06B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1904D5D-9B79-5A95-D4A1-EF22120E7B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E753A7A-43DB-CD46-28FA-986AC90A309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3372B73-353B-4154-B448-4C3CC35A3A23}" type="datetimeFigureOut">
              <a:rPr lang="en-GB" smtClean="0"/>
              <a:t>24/11/2024</a:t>
            </a:fld>
            <a:endParaRPr lang="en-GB"/>
          </a:p>
        </p:txBody>
      </p:sp>
      <p:sp>
        <p:nvSpPr>
          <p:cNvPr id="5" name="Footer Placeholder 4">
            <a:extLst>
              <a:ext uri="{FF2B5EF4-FFF2-40B4-BE49-F238E27FC236}">
                <a16:creationId xmlns:a16="http://schemas.microsoft.com/office/drawing/2014/main" id="{C9FAD9C3-A62C-C445-7ADF-7677BE34CE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261F407C-B31D-5882-238B-0459AF6C38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2B10727-EB19-4022-BD27-DCDA9521808A}" type="slidenum">
              <a:rPr lang="en-GB" smtClean="0"/>
              <a:t>‹#›</a:t>
            </a:fld>
            <a:endParaRPr lang="en-GB"/>
          </a:p>
        </p:txBody>
      </p:sp>
    </p:spTree>
    <p:extLst>
      <p:ext uri="{BB962C8B-B14F-4D97-AF65-F5344CB8AC3E}">
        <p14:creationId xmlns:p14="http://schemas.microsoft.com/office/powerpoint/2010/main" val="33631235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C389B-3474-7456-E08F-358C3A2D92CB}"/>
              </a:ext>
            </a:extLst>
          </p:cNvPr>
          <p:cNvSpPr>
            <a:spLocks noGrp="1"/>
          </p:cNvSpPr>
          <p:nvPr>
            <p:ph type="ctrTitle"/>
          </p:nvPr>
        </p:nvSpPr>
        <p:spPr>
          <a:xfrm>
            <a:off x="2460171" y="408214"/>
            <a:ext cx="9590315" cy="2237013"/>
          </a:xfrm>
        </p:spPr>
        <p:txBody>
          <a:bodyPr>
            <a:normAutofit fontScale="90000"/>
          </a:bodyPr>
          <a:lstStyle/>
          <a:p>
            <a:r>
              <a:rPr lang="en-GB" b="1" u="sng" dirty="0">
                <a:solidFill>
                  <a:schemeClr val="accent5"/>
                </a:solidFill>
              </a:rPr>
              <a:t>LECTURE THREE – SAFETY AND MEDICAL DEVICES (PART TWO)</a:t>
            </a:r>
          </a:p>
        </p:txBody>
      </p:sp>
      <p:sp>
        <p:nvSpPr>
          <p:cNvPr id="3" name="Subtitle 2">
            <a:extLst>
              <a:ext uri="{FF2B5EF4-FFF2-40B4-BE49-F238E27FC236}">
                <a16:creationId xmlns:a16="http://schemas.microsoft.com/office/drawing/2014/main" id="{492511B6-82EE-38FD-0874-33F2016647A4}"/>
              </a:ext>
            </a:extLst>
          </p:cNvPr>
          <p:cNvSpPr>
            <a:spLocks noGrp="1"/>
          </p:cNvSpPr>
          <p:nvPr>
            <p:ph type="subTitle" idx="1"/>
          </p:nvPr>
        </p:nvSpPr>
        <p:spPr>
          <a:xfrm>
            <a:off x="-990600" y="3793107"/>
            <a:ext cx="9144000" cy="1655762"/>
          </a:xfrm>
        </p:spPr>
        <p:txBody>
          <a:bodyPr>
            <a:normAutofit/>
          </a:bodyPr>
          <a:lstStyle/>
          <a:p>
            <a:endParaRPr lang="en-GB" dirty="0"/>
          </a:p>
          <a:p>
            <a:r>
              <a:rPr lang="en-GB" dirty="0"/>
              <a:t>LAW2291_2024</a:t>
            </a:r>
          </a:p>
          <a:p>
            <a:r>
              <a:rPr lang="en-GB" dirty="0"/>
              <a:t>Contemporary Issues in </a:t>
            </a:r>
            <a:r>
              <a:rPr lang="en-GB" dirty="0" err="1"/>
              <a:t>Biolaw</a:t>
            </a:r>
            <a:r>
              <a:rPr lang="en-GB" dirty="0"/>
              <a:t> (24/25)</a:t>
            </a:r>
          </a:p>
        </p:txBody>
      </p:sp>
    </p:spTree>
    <p:extLst>
      <p:ext uri="{BB962C8B-B14F-4D97-AF65-F5344CB8AC3E}">
        <p14:creationId xmlns:p14="http://schemas.microsoft.com/office/powerpoint/2010/main" val="20884422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2E469-7DA1-F230-5B32-5708A6B9CA00}"/>
              </a:ext>
            </a:extLst>
          </p:cNvPr>
          <p:cNvSpPr>
            <a:spLocks noGrp="1"/>
          </p:cNvSpPr>
          <p:nvPr>
            <p:ph type="title"/>
          </p:nvPr>
        </p:nvSpPr>
        <p:spPr/>
        <p:txBody>
          <a:bodyPr/>
          <a:lstStyle/>
          <a:p>
            <a:r>
              <a:rPr lang="en-GB" dirty="0">
                <a:solidFill>
                  <a:schemeClr val="accent5"/>
                </a:solidFill>
              </a:rPr>
              <a:t>0.0</a:t>
            </a:r>
          </a:p>
        </p:txBody>
      </p:sp>
      <p:sp>
        <p:nvSpPr>
          <p:cNvPr id="3" name="Content Placeholder 2">
            <a:extLst>
              <a:ext uri="{FF2B5EF4-FFF2-40B4-BE49-F238E27FC236}">
                <a16:creationId xmlns:a16="http://schemas.microsoft.com/office/drawing/2014/main" id="{318A6B6D-4B86-A69A-808F-F759798B4587}"/>
              </a:ext>
            </a:extLst>
          </p:cNvPr>
          <p:cNvSpPr>
            <a:spLocks noGrp="1"/>
          </p:cNvSpPr>
          <p:nvPr>
            <p:ph idx="1"/>
          </p:nvPr>
        </p:nvSpPr>
        <p:spPr/>
        <p:txBody>
          <a:bodyPr/>
          <a:lstStyle/>
          <a:p>
            <a:pPr marL="0" indent="0">
              <a:buNone/>
            </a:pPr>
            <a:r>
              <a:rPr lang="en-GB" dirty="0"/>
              <a:t>Continuation of last lecture</a:t>
            </a:r>
          </a:p>
          <a:p>
            <a:endParaRPr lang="en-GB" dirty="0"/>
          </a:p>
          <a:p>
            <a:endParaRPr lang="en-GB" dirty="0"/>
          </a:p>
          <a:p>
            <a:endParaRPr lang="en-GB" dirty="0"/>
          </a:p>
          <a:p>
            <a:pPr algn="r"/>
            <a:r>
              <a:rPr lang="en-GB" dirty="0"/>
              <a:t>We go through every part of the MDR (yay)!</a:t>
            </a:r>
          </a:p>
          <a:p>
            <a:pPr algn="r"/>
            <a:endParaRPr lang="en-GB" dirty="0"/>
          </a:p>
          <a:p>
            <a:r>
              <a:rPr lang="en-GB" sz="1000" dirty="0"/>
              <a:t>Downside: Dry lecture. Do not expect to know everything, but get the general picture, and keep in mind this is about AI, cybersecurity, and safety. You are not here to learn everything, even a whole full year course on the MDR would not teach you that.</a:t>
            </a:r>
          </a:p>
          <a:p>
            <a:endParaRPr lang="en-GB" dirty="0"/>
          </a:p>
        </p:txBody>
      </p:sp>
    </p:spTree>
    <p:extLst>
      <p:ext uri="{BB962C8B-B14F-4D97-AF65-F5344CB8AC3E}">
        <p14:creationId xmlns:p14="http://schemas.microsoft.com/office/powerpoint/2010/main" val="22903730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BD288-4FD0-46D3-A366-B25BCEC2987C}"/>
              </a:ext>
            </a:extLst>
          </p:cNvPr>
          <p:cNvSpPr>
            <a:spLocks noGrp="1"/>
          </p:cNvSpPr>
          <p:nvPr>
            <p:ph type="title"/>
          </p:nvPr>
        </p:nvSpPr>
        <p:spPr/>
        <p:txBody>
          <a:bodyPr/>
          <a:lstStyle/>
          <a:p>
            <a:r>
              <a:rPr lang="en-GB" dirty="0">
                <a:solidFill>
                  <a:schemeClr val="accent5"/>
                </a:solidFill>
              </a:rPr>
              <a:t>0.1 Structure (again)</a:t>
            </a:r>
          </a:p>
        </p:txBody>
      </p:sp>
      <p:sp>
        <p:nvSpPr>
          <p:cNvPr id="3" name="Content Placeholder 2">
            <a:extLst>
              <a:ext uri="{FF2B5EF4-FFF2-40B4-BE49-F238E27FC236}">
                <a16:creationId xmlns:a16="http://schemas.microsoft.com/office/drawing/2014/main" id="{2F181C57-F667-F785-3548-70C0E49E4BB1}"/>
              </a:ext>
            </a:extLst>
          </p:cNvPr>
          <p:cNvSpPr>
            <a:spLocks noGrp="1"/>
          </p:cNvSpPr>
          <p:nvPr>
            <p:ph idx="1"/>
          </p:nvPr>
        </p:nvSpPr>
        <p:spPr/>
        <p:txBody>
          <a:bodyPr/>
          <a:lstStyle/>
          <a:p>
            <a:pPr marL="0" indent="0">
              <a:buNone/>
            </a:pPr>
            <a:r>
              <a:rPr lang="en-GB" dirty="0"/>
              <a:t>Chapter I Scope etc., Chapter II obligations/marking details, Chapter III identification/traceability of devices etc., Chapter IV Notified Bodies, Chapter V classification/conformity assessment, Chapter VI clinical evaluation/clinical investigations, Chapter VII post-market surveillance etc., Chapter VIII cooperation and coordination, Chapter IX confidentiality/data protection etc., Chapter X (final provisions)</a:t>
            </a:r>
          </a:p>
          <a:p>
            <a:endParaRPr lang="en-GB" dirty="0"/>
          </a:p>
        </p:txBody>
      </p:sp>
    </p:spTree>
    <p:extLst>
      <p:ext uri="{BB962C8B-B14F-4D97-AF65-F5344CB8AC3E}">
        <p14:creationId xmlns:p14="http://schemas.microsoft.com/office/powerpoint/2010/main" val="2257547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6B1-368F-097D-F690-2CEFD8FA50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9D547F-6157-3750-DB34-5C772DE427F9}"/>
              </a:ext>
            </a:extLst>
          </p:cNvPr>
          <p:cNvSpPr>
            <a:spLocks noGrp="1"/>
          </p:cNvSpPr>
          <p:nvPr>
            <p:ph type="title"/>
          </p:nvPr>
        </p:nvSpPr>
        <p:spPr/>
        <p:txBody>
          <a:bodyPr/>
          <a:lstStyle/>
          <a:p>
            <a:r>
              <a:rPr lang="da-DK" dirty="0">
                <a:solidFill>
                  <a:schemeClr val="accent5"/>
                </a:solidFill>
              </a:rPr>
              <a:t>1.0 Intention</a:t>
            </a:r>
            <a:endParaRPr lang="en-GB" dirty="0">
              <a:solidFill>
                <a:schemeClr val="accent5"/>
              </a:solidFill>
            </a:endParaRPr>
          </a:p>
        </p:txBody>
      </p:sp>
      <p:sp>
        <p:nvSpPr>
          <p:cNvPr id="3" name="Content Placeholder 2">
            <a:extLst>
              <a:ext uri="{FF2B5EF4-FFF2-40B4-BE49-F238E27FC236}">
                <a16:creationId xmlns:a16="http://schemas.microsoft.com/office/drawing/2014/main" id="{EB9FF263-9619-6046-8803-FD2417A33749}"/>
              </a:ext>
            </a:extLst>
          </p:cNvPr>
          <p:cNvSpPr>
            <a:spLocks noGrp="1"/>
          </p:cNvSpPr>
          <p:nvPr>
            <p:ph idx="1"/>
          </p:nvPr>
        </p:nvSpPr>
        <p:spPr/>
        <p:txBody>
          <a:bodyPr>
            <a:normAutofit/>
          </a:bodyPr>
          <a:lstStyle/>
          <a:p>
            <a:r>
              <a:rPr lang="da-DK" dirty="0"/>
              <a:t>General for Product </a:t>
            </a:r>
            <a:r>
              <a:rPr lang="da-DK" dirty="0" err="1"/>
              <a:t>Regulation</a:t>
            </a:r>
            <a:r>
              <a:rPr lang="da-DK" dirty="0"/>
              <a:t> (but </a:t>
            </a:r>
            <a:r>
              <a:rPr lang="da-DK" dirty="0" err="1"/>
              <a:t>be</a:t>
            </a:r>
            <a:r>
              <a:rPr lang="da-DK" dirty="0"/>
              <a:t> </a:t>
            </a:r>
            <a:r>
              <a:rPr lang="da-DK" dirty="0" err="1"/>
              <a:t>careful</a:t>
            </a:r>
            <a:r>
              <a:rPr lang="da-DK" dirty="0"/>
              <a:t>)</a:t>
            </a:r>
          </a:p>
          <a:p>
            <a:r>
              <a:rPr lang="da-DK" dirty="0"/>
              <a:t>Art 2(1) from last time, and Art 5(1) and 5(2)</a:t>
            </a:r>
          </a:p>
          <a:p>
            <a:r>
              <a:rPr lang="da-DK" dirty="0" err="1"/>
              <a:t>Relies</a:t>
            </a:r>
            <a:r>
              <a:rPr lang="da-DK" dirty="0"/>
              <a:t> on public </a:t>
            </a:r>
            <a:r>
              <a:rPr lang="da-DK" dirty="0" err="1"/>
              <a:t>sources</a:t>
            </a:r>
            <a:r>
              <a:rPr lang="da-DK" dirty="0"/>
              <a:t> and </a:t>
            </a:r>
            <a:r>
              <a:rPr lang="da-DK" dirty="0" err="1"/>
              <a:t>applications</a:t>
            </a:r>
            <a:r>
              <a:rPr lang="da-DK" dirty="0"/>
              <a:t> </a:t>
            </a:r>
          </a:p>
          <a:p>
            <a:pPr marL="0" indent="0">
              <a:buNone/>
            </a:pPr>
            <a:endParaRPr lang="da-DK" dirty="0"/>
          </a:p>
          <a:p>
            <a:pPr marL="0" indent="0">
              <a:buNone/>
            </a:pPr>
            <a:endParaRPr lang="da-DK" dirty="0"/>
          </a:p>
          <a:p>
            <a:r>
              <a:rPr lang="da-DK" dirty="0" err="1"/>
              <a:t>Why</a:t>
            </a:r>
            <a:r>
              <a:rPr lang="da-DK" dirty="0"/>
              <a:t> is </a:t>
            </a:r>
            <a:r>
              <a:rPr lang="da-DK" dirty="0" err="1"/>
              <a:t>this</a:t>
            </a:r>
            <a:r>
              <a:rPr lang="da-DK" dirty="0"/>
              <a:t> </a:t>
            </a:r>
            <a:r>
              <a:rPr lang="da-DK" dirty="0" err="1"/>
              <a:t>important</a:t>
            </a:r>
            <a:r>
              <a:rPr lang="da-DK" dirty="0"/>
              <a:t>? </a:t>
            </a:r>
          </a:p>
          <a:p>
            <a:endParaRPr lang="en-GB" dirty="0"/>
          </a:p>
        </p:txBody>
      </p:sp>
    </p:spTree>
    <p:extLst>
      <p:ext uri="{BB962C8B-B14F-4D97-AF65-F5344CB8AC3E}">
        <p14:creationId xmlns:p14="http://schemas.microsoft.com/office/powerpoint/2010/main" val="40860034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53F6D-92F2-D7A4-2C9D-2F2C01079E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1C763E-E18C-FD05-F14F-FB4517D2B8BD}"/>
              </a:ext>
            </a:extLst>
          </p:cNvPr>
          <p:cNvSpPr>
            <a:spLocks noGrp="1"/>
          </p:cNvSpPr>
          <p:nvPr>
            <p:ph type="title"/>
          </p:nvPr>
        </p:nvSpPr>
        <p:spPr/>
        <p:txBody>
          <a:bodyPr/>
          <a:lstStyle/>
          <a:p>
            <a:r>
              <a:rPr lang="en-GB" dirty="0">
                <a:solidFill>
                  <a:schemeClr val="accent5"/>
                </a:solidFill>
              </a:rPr>
              <a:t>1.1 Intention</a:t>
            </a:r>
          </a:p>
        </p:txBody>
      </p:sp>
      <p:sp>
        <p:nvSpPr>
          <p:cNvPr id="3" name="Content Placeholder 2">
            <a:extLst>
              <a:ext uri="{FF2B5EF4-FFF2-40B4-BE49-F238E27FC236}">
                <a16:creationId xmlns:a16="http://schemas.microsoft.com/office/drawing/2014/main" id="{0EB92A7F-7E40-4325-F487-03D0C736D878}"/>
              </a:ext>
            </a:extLst>
          </p:cNvPr>
          <p:cNvSpPr>
            <a:spLocks noGrp="1"/>
          </p:cNvSpPr>
          <p:nvPr>
            <p:ph idx="1"/>
          </p:nvPr>
        </p:nvSpPr>
        <p:spPr/>
        <p:txBody>
          <a:bodyPr/>
          <a:lstStyle/>
          <a:p>
            <a:r>
              <a:rPr lang="en-GB" dirty="0"/>
              <a:t>If the manufacturer does not intend for the system (AI or otherwise) to be a medical device, it does not fulfil the initial criterium. </a:t>
            </a:r>
          </a:p>
          <a:p>
            <a:r>
              <a:rPr lang="en-GB" dirty="0"/>
              <a:t>Grey area. </a:t>
            </a:r>
          </a:p>
          <a:p>
            <a:r>
              <a:rPr lang="en-GB" dirty="0"/>
              <a:t>In my paper I suggest direct and indirect intention as distinctions </a:t>
            </a:r>
          </a:p>
        </p:txBody>
      </p:sp>
    </p:spTree>
    <p:extLst>
      <p:ext uri="{BB962C8B-B14F-4D97-AF65-F5344CB8AC3E}">
        <p14:creationId xmlns:p14="http://schemas.microsoft.com/office/powerpoint/2010/main" val="16770495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2D281-5690-7953-14E4-AA5B8B041093}"/>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A0E179F-DC84-ED9A-E1C1-9CD4DB684BF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69999" y="489374"/>
            <a:ext cx="10452002" cy="5879251"/>
          </a:xfrm>
        </p:spPr>
      </p:pic>
    </p:spTree>
    <p:extLst>
      <p:ext uri="{BB962C8B-B14F-4D97-AF65-F5344CB8AC3E}">
        <p14:creationId xmlns:p14="http://schemas.microsoft.com/office/powerpoint/2010/main" val="2653250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9AD01-4C09-AA14-A35E-40C0FA353E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8F83D8-1CC6-BD68-885C-A86492185263}"/>
              </a:ext>
            </a:extLst>
          </p:cNvPr>
          <p:cNvSpPr>
            <a:spLocks noGrp="1"/>
          </p:cNvSpPr>
          <p:nvPr>
            <p:ph type="title"/>
          </p:nvPr>
        </p:nvSpPr>
        <p:spPr/>
        <p:txBody>
          <a:bodyPr/>
          <a:lstStyle/>
          <a:p>
            <a:r>
              <a:rPr lang="en-GB" dirty="0">
                <a:solidFill>
                  <a:schemeClr val="accent5"/>
                </a:solidFill>
              </a:rPr>
              <a:t>1.2</a:t>
            </a:r>
          </a:p>
        </p:txBody>
      </p:sp>
      <p:sp>
        <p:nvSpPr>
          <p:cNvPr id="3" name="Content Placeholder 2">
            <a:extLst>
              <a:ext uri="{FF2B5EF4-FFF2-40B4-BE49-F238E27FC236}">
                <a16:creationId xmlns:a16="http://schemas.microsoft.com/office/drawing/2014/main" id="{E860A2D2-2BA9-F917-1972-1A4873B0D973}"/>
              </a:ext>
            </a:extLst>
          </p:cNvPr>
          <p:cNvSpPr>
            <a:spLocks noGrp="1"/>
          </p:cNvSpPr>
          <p:nvPr>
            <p:ph idx="1"/>
          </p:nvPr>
        </p:nvSpPr>
        <p:spPr/>
        <p:txBody>
          <a:bodyPr/>
          <a:lstStyle/>
          <a:p>
            <a:r>
              <a:rPr lang="en-GB" dirty="0"/>
              <a:t>This is an academic exercise – but it is there to prevent circumvention, and possible inclusion of </a:t>
            </a:r>
            <a:r>
              <a:rPr lang="en-GB" i="1" dirty="0"/>
              <a:t>de fact</a:t>
            </a:r>
            <a:r>
              <a:rPr lang="en-GB" dirty="0"/>
              <a:t>o medical devices </a:t>
            </a:r>
          </a:p>
          <a:p>
            <a:r>
              <a:rPr lang="en-GB" dirty="0"/>
              <a:t>Possible due to general enforcement powers of authorities, though this is not literal</a:t>
            </a:r>
          </a:p>
        </p:txBody>
      </p:sp>
    </p:spTree>
    <p:extLst>
      <p:ext uri="{BB962C8B-B14F-4D97-AF65-F5344CB8AC3E}">
        <p14:creationId xmlns:p14="http://schemas.microsoft.com/office/powerpoint/2010/main" val="30563852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FD99B-F0CC-D902-18A4-0C321CE18C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9F4DB5-75A2-BC60-E6E1-480D76DDFD2E}"/>
              </a:ext>
            </a:extLst>
          </p:cNvPr>
          <p:cNvSpPr>
            <a:spLocks noGrp="1"/>
          </p:cNvSpPr>
          <p:nvPr>
            <p:ph type="title"/>
          </p:nvPr>
        </p:nvSpPr>
        <p:spPr/>
        <p:txBody>
          <a:bodyPr/>
          <a:lstStyle/>
          <a:p>
            <a:r>
              <a:rPr lang="en-GB" dirty="0">
                <a:solidFill>
                  <a:schemeClr val="accent5"/>
                </a:solidFill>
              </a:rPr>
              <a:t>2.0 Manufacturer</a:t>
            </a:r>
          </a:p>
        </p:txBody>
      </p:sp>
      <p:sp>
        <p:nvSpPr>
          <p:cNvPr id="3" name="Content Placeholder 2">
            <a:extLst>
              <a:ext uri="{FF2B5EF4-FFF2-40B4-BE49-F238E27FC236}">
                <a16:creationId xmlns:a16="http://schemas.microsoft.com/office/drawing/2014/main" id="{906419A5-E992-BC4D-E512-47E4E6FA1427}"/>
              </a:ext>
            </a:extLst>
          </p:cNvPr>
          <p:cNvSpPr>
            <a:spLocks noGrp="1"/>
          </p:cNvSpPr>
          <p:nvPr>
            <p:ph idx="1"/>
          </p:nvPr>
        </p:nvSpPr>
        <p:spPr/>
        <p:txBody>
          <a:bodyPr>
            <a:normAutofit lnSpcReduction="10000"/>
          </a:bodyPr>
          <a:lstStyle/>
          <a:p>
            <a:r>
              <a:rPr lang="en-GB" dirty="0"/>
              <a:t>Some of them: </a:t>
            </a:r>
          </a:p>
          <a:p>
            <a:pPr marL="0" indent="0">
              <a:buNone/>
            </a:pPr>
            <a:endParaRPr lang="en-GB" dirty="0"/>
          </a:p>
          <a:p>
            <a:r>
              <a:rPr lang="en-GB" dirty="0"/>
              <a:t>The system of risk management (Article 10(2)). (1 paragraph) </a:t>
            </a:r>
          </a:p>
          <a:p>
            <a:r>
              <a:rPr lang="en-GB" dirty="0"/>
              <a:t>The system for quality management (Article 10(9)).</a:t>
            </a:r>
          </a:p>
          <a:p>
            <a:r>
              <a:rPr lang="en-GB" dirty="0"/>
              <a:t>Sole responsibility for devices (Article 10(1)(12)(13)(14)). </a:t>
            </a:r>
          </a:p>
          <a:p>
            <a:r>
              <a:rPr lang="en-GB" dirty="0"/>
              <a:t>A system for financial responsibility (Article 10(16)). </a:t>
            </a:r>
          </a:p>
          <a:p>
            <a:r>
              <a:rPr lang="en-GB" dirty="0"/>
              <a:t>Annex I specific obligations.</a:t>
            </a:r>
          </a:p>
          <a:p>
            <a:pPr marL="0" indent="0">
              <a:buNone/>
            </a:pPr>
            <a:endParaRPr lang="en-GB" dirty="0"/>
          </a:p>
          <a:p>
            <a:pPr marL="0" indent="0">
              <a:buNone/>
            </a:pPr>
            <a:r>
              <a:rPr lang="en-GB" dirty="0"/>
              <a:t>My opinion did not change since 2021.</a:t>
            </a:r>
          </a:p>
        </p:txBody>
      </p:sp>
    </p:spTree>
    <p:extLst>
      <p:ext uri="{BB962C8B-B14F-4D97-AF65-F5344CB8AC3E}">
        <p14:creationId xmlns:p14="http://schemas.microsoft.com/office/powerpoint/2010/main" val="7310687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DE130-EB40-1E16-9138-B6E04BEAF9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76BD8E-1CB3-59BF-6A91-34DD11C1F0A5}"/>
              </a:ext>
            </a:extLst>
          </p:cNvPr>
          <p:cNvSpPr>
            <a:spLocks noGrp="1"/>
          </p:cNvSpPr>
          <p:nvPr>
            <p:ph type="title"/>
          </p:nvPr>
        </p:nvSpPr>
        <p:spPr/>
        <p:txBody>
          <a:bodyPr/>
          <a:lstStyle/>
          <a:p>
            <a:r>
              <a:rPr lang="en-GB" dirty="0">
                <a:solidFill>
                  <a:schemeClr val="accent5"/>
                </a:solidFill>
              </a:rPr>
              <a:t>2.1</a:t>
            </a:r>
          </a:p>
        </p:txBody>
      </p:sp>
      <p:sp>
        <p:nvSpPr>
          <p:cNvPr id="3" name="Content Placeholder 2">
            <a:extLst>
              <a:ext uri="{FF2B5EF4-FFF2-40B4-BE49-F238E27FC236}">
                <a16:creationId xmlns:a16="http://schemas.microsoft.com/office/drawing/2014/main" id="{0E006399-BFB3-3FFF-82BF-1901F0A0FB6A}"/>
              </a:ext>
            </a:extLst>
          </p:cNvPr>
          <p:cNvSpPr>
            <a:spLocks noGrp="1"/>
          </p:cNvSpPr>
          <p:nvPr>
            <p:ph idx="1"/>
          </p:nvPr>
        </p:nvSpPr>
        <p:spPr/>
        <p:txBody>
          <a:bodyPr>
            <a:normAutofit fontScale="92500" lnSpcReduction="20000"/>
          </a:bodyPr>
          <a:lstStyle/>
          <a:p>
            <a:r>
              <a:rPr lang="en-GB" dirty="0"/>
              <a:t>We cannot read through entirety of Article 10 here, but..</a:t>
            </a:r>
          </a:p>
          <a:p>
            <a:pPr marL="0" indent="0">
              <a:buNone/>
            </a:pPr>
            <a:r>
              <a:rPr lang="en-GB" dirty="0"/>
              <a:t>10(9) (Quality Management):</a:t>
            </a:r>
          </a:p>
          <a:p>
            <a:r>
              <a:rPr lang="en-GB" i="1" dirty="0"/>
              <a:t>Manufacturers shall ensure that procedures are in place to keep </a:t>
            </a:r>
            <a:r>
              <a:rPr lang="en-GB" b="1" i="1" dirty="0"/>
              <a:t>series production </a:t>
            </a:r>
            <a:r>
              <a:rPr lang="en-GB" i="1" dirty="0"/>
              <a:t>in conformity with the requirements of this Regulation. Changes in device design or characteristics and changes in the harmonised standards or CS by reference to which the conformity of a device is declared shall be adequately </a:t>
            </a:r>
            <a:r>
              <a:rPr lang="en-GB" b="1" i="1" dirty="0"/>
              <a:t>taken into account in a timely manner</a:t>
            </a:r>
            <a:r>
              <a:rPr lang="en-GB" i="1" dirty="0"/>
              <a:t>. Manufacturers of devices, other than investigational devices, shall </a:t>
            </a:r>
            <a:r>
              <a:rPr lang="en-GB" b="1" i="1" dirty="0"/>
              <a:t>establish, document, implement, maintain, keep up to date and continually improve</a:t>
            </a:r>
            <a:r>
              <a:rPr lang="en-GB" i="1" dirty="0"/>
              <a:t> a </a:t>
            </a:r>
            <a:r>
              <a:rPr lang="en-GB" b="1" i="1" dirty="0"/>
              <a:t>quality management system </a:t>
            </a:r>
            <a:r>
              <a:rPr lang="en-GB" i="1" dirty="0"/>
              <a:t>that shall ensure compliance with this Regulation in the most effective manner and in a manner that is </a:t>
            </a:r>
            <a:r>
              <a:rPr lang="en-GB" b="1" i="1" dirty="0"/>
              <a:t>proportionate to the risk class and the type of device</a:t>
            </a:r>
            <a:r>
              <a:rPr lang="en-GB" i="1" dirty="0"/>
              <a:t>.</a:t>
            </a:r>
          </a:p>
        </p:txBody>
      </p:sp>
    </p:spTree>
    <p:extLst>
      <p:ext uri="{BB962C8B-B14F-4D97-AF65-F5344CB8AC3E}">
        <p14:creationId xmlns:p14="http://schemas.microsoft.com/office/powerpoint/2010/main" val="33526690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0E705-BCAC-5504-65DE-D6A2749856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60F60C-7053-C9CD-9D80-261F75E39B4F}"/>
              </a:ext>
            </a:extLst>
          </p:cNvPr>
          <p:cNvSpPr>
            <a:spLocks noGrp="1"/>
          </p:cNvSpPr>
          <p:nvPr>
            <p:ph type="title"/>
          </p:nvPr>
        </p:nvSpPr>
        <p:spPr/>
        <p:txBody>
          <a:bodyPr/>
          <a:lstStyle/>
          <a:p>
            <a:r>
              <a:rPr lang="en-GB" dirty="0">
                <a:solidFill>
                  <a:schemeClr val="accent5"/>
                </a:solidFill>
              </a:rPr>
              <a:t>2.2 Sole Responsibility</a:t>
            </a:r>
          </a:p>
        </p:txBody>
      </p:sp>
      <p:sp>
        <p:nvSpPr>
          <p:cNvPr id="3" name="Content Placeholder 2">
            <a:extLst>
              <a:ext uri="{FF2B5EF4-FFF2-40B4-BE49-F238E27FC236}">
                <a16:creationId xmlns:a16="http://schemas.microsoft.com/office/drawing/2014/main" id="{15090669-1E76-35A0-F4F8-A472539B843F}"/>
              </a:ext>
            </a:extLst>
          </p:cNvPr>
          <p:cNvSpPr>
            <a:spLocks noGrp="1"/>
          </p:cNvSpPr>
          <p:nvPr>
            <p:ph idx="1"/>
          </p:nvPr>
        </p:nvSpPr>
        <p:spPr/>
        <p:txBody>
          <a:bodyPr>
            <a:normAutofit fontScale="92500" lnSpcReduction="10000"/>
          </a:bodyPr>
          <a:lstStyle/>
          <a:p>
            <a:r>
              <a:rPr lang="en-GB" dirty="0"/>
              <a:t>Repeated in several places, 10(1)(12)(13)(14) and more depending on interpretation </a:t>
            </a:r>
          </a:p>
          <a:p>
            <a:r>
              <a:rPr lang="en-GB" dirty="0"/>
              <a:t>General for products – for MDs much sharper</a:t>
            </a:r>
          </a:p>
          <a:p>
            <a:r>
              <a:rPr lang="en-GB" dirty="0"/>
              <a:t>10(14), paragraph 2:</a:t>
            </a:r>
          </a:p>
          <a:p>
            <a:r>
              <a:rPr lang="en-GB" i="1" dirty="0"/>
              <a:t>If the manufacturer </a:t>
            </a:r>
            <a:r>
              <a:rPr lang="en-GB" b="1" i="1" dirty="0"/>
              <a:t>fails to cooperate </a:t>
            </a:r>
            <a:r>
              <a:rPr lang="en-GB" i="1" dirty="0"/>
              <a:t>or the </a:t>
            </a:r>
            <a:r>
              <a:rPr lang="en-GB" b="1" i="1" dirty="0"/>
              <a:t>information and documentation provided is incomplete or incorrect</a:t>
            </a:r>
            <a:r>
              <a:rPr lang="en-GB" i="1" dirty="0"/>
              <a:t>, the competent authority may</a:t>
            </a:r>
            <a:r>
              <a:rPr lang="en-GB" b="1" i="1" dirty="0"/>
              <a:t>, in order to ensure the protection of public health and patient safety</a:t>
            </a:r>
            <a:r>
              <a:rPr lang="en-GB" i="1" dirty="0"/>
              <a:t>, </a:t>
            </a:r>
            <a:r>
              <a:rPr lang="en-GB" b="1" i="1" u="sng" dirty="0"/>
              <a:t>take all appropriate measures </a:t>
            </a:r>
            <a:r>
              <a:rPr lang="en-GB" i="1" dirty="0"/>
              <a:t>to </a:t>
            </a:r>
            <a:r>
              <a:rPr lang="en-GB" b="1" i="1" dirty="0"/>
              <a:t>prohibit or restrict the device's being made available on its national market</a:t>
            </a:r>
            <a:r>
              <a:rPr lang="en-GB" i="1" dirty="0"/>
              <a:t>, to </a:t>
            </a:r>
            <a:r>
              <a:rPr lang="en-GB" b="1" i="1" dirty="0"/>
              <a:t>withdraw </a:t>
            </a:r>
            <a:r>
              <a:rPr lang="en-GB" i="1" dirty="0"/>
              <a:t>the device from that market </a:t>
            </a:r>
            <a:r>
              <a:rPr lang="en-GB" b="1" i="1" dirty="0"/>
              <a:t>or to recall </a:t>
            </a:r>
            <a:r>
              <a:rPr lang="en-GB" i="1" dirty="0"/>
              <a:t>it until the manufacturer cooperates or provides complete and correct information.</a:t>
            </a:r>
          </a:p>
        </p:txBody>
      </p:sp>
    </p:spTree>
    <p:extLst>
      <p:ext uri="{BB962C8B-B14F-4D97-AF65-F5344CB8AC3E}">
        <p14:creationId xmlns:p14="http://schemas.microsoft.com/office/powerpoint/2010/main" val="8556159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24F92-9682-9568-AA14-DC82B2CA05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43600E-DD9F-CEF1-7F19-181A78176599}"/>
              </a:ext>
            </a:extLst>
          </p:cNvPr>
          <p:cNvSpPr>
            <a:spLocks noGrp="1"/>
          </p:cNvSpPr>
          <p:nvPr>
            <p:ph type="title"/>
          </p:nvPr>
        </p:nvSpPr>
        <p:spPr/>
        <p:txBody>
          <a:bodyPr/>
          <a:lstStyle/>
          <a:p>
            <a:r>
              <a:rPr lang="en-GB" dirty="0">
                <a:solidFill>
                  <a:schemeClr val="accent5"/>
                </a:solidFill>
              </a:rPr>
              <a:t>2.3 System for Financial </a:t>
            </a:r>
            <a:r>
              <a:rPr lang="en-GB" dirty="0" err="1">
                <a:solidFill>
                  <a:schemeClr val="accent5"/>
                </a:solidFill>
              </a:rPr>
              <a:t>Responisbility</a:t>
            </a:r>
            <a:endParaRPr lang="en-GB" dirty="0">
              <a:solidFill>
                <a:schemeClr val="accent5"/>
              </a:solidFill>
            </a:endParaRPr>
          </a:p>
        </p:txBody>
      </p:sp>
      <p:sp>
        <p:nvSpPr>
          <p:cNvPr id="3" name="Content Placeholder 2">
            <a:extLst>
              <a:ext uri="{FF2B5EF4-FFF2-40B4-BE49-F238E27FC236}">
                <a16:creationId xmlns:a16="http://schemas.microsoft.com/office/drawing/2014/main" id="{9605D23D-A0EC-9873-A160-B345B95C7FBD}"/>
              </a:ext>
            </a:extLst>
          </p:cNvPr>
          <p:cNvSpPr>
            <a:spLocks noGrp="1"/>
          </p:cNvSpPr>
          <p:nvPr>
            <p:ph idx="1"/>
          </p:nvPr>
        </p:nvSpPr>
        <p:spPr/>
        <p:txBody>
          <a:bodyPr/>
          <a:lstStyle/>
          <a:p>
            <a:r>
              <a:rPr lang="en-GB" dirty="0"/>
              <a:t>Art 10(16):</a:t>
            </a:r>
          </a:p>
          <a:p>
            <a:pPr marL="0" indent="0">
              <a:buNone/>
            </a:pPr>
            <a:r>
              <a:rPr lang="en-GB" i="1" dirty="0"/>
              <a:t>Natural or legal persons may claim compensation for damage caused by a defective device in accordance with applicable Union and national law.</a:t>
            </a:r>
          </a:p>
          <a:p>
            <a:pPr marL="0" indent="0">
              <a:buNone/>
            </a:pPr>
            <a:r>
              <a:rPr lang="en-GB" i="1" dirty="0"/>
              <a:t>Manufacturers shall, in a manner that</a:t>
            </a:r>
            <a:r>
              <a:rPr lang="en-GB" b="1" i="1" dirty="0"/>
              <a:t> is proportionate to the risk class</a:t>
            </a:r>
            <a:r>
              <a:rPr lang="en-GB" i="1" dirty="0"/>
              <a:t>, </a:t>
            </a:r>
            <a:r>
              <a:rPr lang="en-GB" b="1" i="1" dirty="0"/>
              <a:t>type of device and the size of the enterprise</a:t>
            </a:r>
            <a:r>
              <a:rPr lang="en-GB" i="1" dirty="0"/>
              <a:t>, have measures in place to provide </a:t>
            </a:r>
            <a:r>
              <a:rPr lang="en-GB" b="1" i="1" dirty="0"/>
              <a:t>sufficient financial coverage in respect of their potential liability </a:t>
            </a:r>
            <a:r>
              <a:rPr lang="en-GB" i="1" dirty="0"/>
              <a:t>under Directive 85/374/EEC, without prejudice to more protective measures under national law.</a:t>
            </a:r>
          </a:p>
          <a:p>
            <a:r>
              <a:rPr lang="en-GB" dirty="0"/>
              <a:t>Old Product Liability Directive</a:t>
            </a:r>
          </a:p>
        </p:txBody>
      </p:sp>
    </p:spTree>
    <p:extLst>
      <p:ext uri="{BB962C8B-B14F-4D97-AF65-F5344CB8AC3E}">
        <p14:creationId xmlns:p14="http://schemas.microsoft.com/office/powerpoint/2010/main" val="6620483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24E2-9732-CB10-183F-0D965EB10A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410C4A-63A7-586E-4A18-7F6E21F376E0}"/>
              </a:ext>
            </a:extLst>
          </p:cNvPr>
          <p:cNvSpPr>
            <a:spLocks noGrp="1"/>
          </p:cNvSpPr>
          <p:nvPr>
            <p:ph type="title"/>
          </p:nvPr>
        </p:nvSpPr>
        <p:spPr/>
        <p:txBody>
          <a:bodyPr/>
          <a:lstStyle/>
          <a:p>
            <a:r>
              <a:rPr lang="en-GB" dirty="0">
                <a:solidFill>
                  <a:schemeClr val="accent5"/>
                </a:solidFill>
              </a:rPr>
              <a:t>2.4 Annex I</a:t>
            </a:r>
          </a:p>
        </p:txBody>
      </p:sp>
      <p:sp>
        <p:nvSpPr>
          <p:cNvPr id="3" name="Content Placeholder 2">
            <a:extLst>
              <a:ext uri="{FF2B5EF4-FFF2-40B4-BE49-F238E27FC236}">
                <a16:creationId xmlns:a16="http://schemas.microsoft.com/office/drawing/2014/main" id="{46CF014F-ADA5-071F-DF08-7A1B659CFD30}"/>
              </a:ext>
            </a:extLst>
          </p:cNvPr>
          <p:cNvSpPr>
            <a:spLocks noGrp="1"/>
          </p:cNvSpPr>
          <p:nvPr>
            <p:ph idx="1"/>
          </p:nvPr>
        </p:nvSpPr>
        <p:spPr/>
        <p:txBody>
          <a:bodyPr/>
          <a:lstStyle/>
          <a:p>
            <a:r>
              <a:rPr lang="en-GB" dirty="0"/>
              <a:t>Whole text is worth reading!</a:t>
            </a:r>
          </a:p>
          <a:p>
            <a:r>
              <a:rPr lang="en-GB" dirty="0"/>
              <a:t>Connects closely with last lecture – hazards etc.</a:t>
            </a:r>
          </a:p>
          <a:p>
            <a:r>
              <a:rPr lang="en-GB" dirty="0"/>
              <a:t>Must be fulfilled – hard requirement</a:t>
            </a:r>
          </a:p>
          <a:p>
            <a:r>
              <a:rPr lang="en-GB" dirty="0"/>
              <a:t>What about AI?</a:t>
            </a:r>
          </a:p>
        </p:txBody>
      </p:sp>
    </p:spTree>
    <p:extLst>
      <p:ext uri="{BB962C8B-B14F-4D97-AF65-F5344CB8AC3E}">
        <p14:creationId xmlns:p14="http://schemas.microsoft.com/office/powerpoint/2010/main" val="6086675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8F14E-9FD4-9A67-B0D1-6238A7DC65A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9FA2DD-256C-D140-0717-BDF25A9A8BEE}"/>
              </a:ext>
            </a:extLst>
          </p:cNvPr>
          <p:cNvSpPr>
            <a:spLocks noGrp="1"/>
          </p:cNvSpPr>
          <p:nvPr>
            <p:ph idx="1"/>
          </p:nvPr>
        </p:nvSpPr>
        <p:spPr>
          <a:xfrm>
            <a:off x="382772" y="255181"/>
            <a:ext cx="11621386" cy="6432698"/>
          </a:xfrm>
        </p:spPr>
        <p:txBody>
          <a:bodyPr>
            <a:normAutofit/>
          </a:bodyPr>
          <a:lstStyle/>
          <a:p>
            <a:pPr marL="0" indent="0">
              <a:buNone/>
            </a:pPr>
            <a:endParaRPr lang="en-GB" dirty="0"/>
          </a:p>
          <a:p>
            <a:pPr marL="0" indent="0">
              <a:buNone/>
            </a:pPr>
            <a:endParaRPr lang="en-GB" dirty="0"/>
          </a:p>
          <a:p>
            <a:pPr marL="0" indent="0">
              <a:buNone/>
            </a:pPr>
            <a:r>
              <a:rPr lang="en-GB" dirty="0"/>
              <a:t>Chapter I(1):</a:t>
            </a:r>
          </a:p>
          <a:p>
            <a:pPr marL="0" indent="0">
              <a:buNone/>
            </a:pPr>
            <a:r>
              <a:rPr lang="en-GB" i="1" dirty="0"/>
              <a:t>Devices shall achieve the performance </a:t>
            </a:r>
            <a:r>
              <a:rPr lang="en-GB" b="1" i="1" dirty="0"/>
              <a:t>intended by their manufacturer</a:t>
            </a:r>
            <a:r>
              <a:rPr lang="en-GB" i="1" dirty="0"/>
              <a:t> and shall be </a:t>
            </a:r>
            <a:r>
              <a:rPr lang="en-GB" b="1" i="1" dirty="0"/>
              <a:t>designed and manufactured </a:t>
            </a:r>
            <a:r>
              <a:rPr lang="en-GB" i="1" dirty="0"/>
              <a:t>in such a way that, </a:t>
            </a:r>
            <a:r>
              <a:rPr lang="en-GB" b="1" i="1" dirty="0"/>
              <a:t>during normal conditions </a:t>
            </a:r>
            <a:r>
              <a:rPr lang="en-GB" i="1" dirty="0"/>
              <a:t>of use, they are </a:t>
            </a:r>
            <a:r>
              <a:rPr lang="en-GB" b="1" i="1" dirty="0"/>
              <a:t>suitable for their intended purpose</a:t>
            </a:r>
            <a:r>
              <a:rPr lang="en-GB" i="1" dirty="0"/>
              <a:t>. They shall be </a:t>
            </a:r>
            <a:r>
              <a:rPr lang="en-GB" b="1" i="1" dirty="0"/>
              <a:t>safe</a:t>
            </a:r>
            <a:r>
              <a:rPr lang="en-GB" i="1" dirty="0"/>
              <a:t> and </a:t>
            </a:r>
            <a:r>
              <a:rPr lang="en-GB" b="1" i="1" dirty="0"/>
              <a:t>effective</a:t>
            </a:r>
            <a:r>
              <a:rPr lang="en-GB" i="1" dirty="0"/>
              <a:t> and </a:t>
            </a:r>
            <a:r>
              <a:rPr lang="en-GB" b="1" i="1" dirty="0"/>
              <a:t>shall not compromise the clinical condition or the safety of patients</a:t>
            </a:r>
            <a:r>
              <a:rPr lang="en-GB" i="1" dirty="0"/>
              <a:t>, or the </a:t>
            </a:r>
            <a:r>
              <a:rPr lang="en-GB" b="1" i="1" dirty="0"/>
              <a:t>safety and health of user</a:t>
            </a:r>
            <a:r>
              <a:rPr lang="en-GB" i="1" dirty="0"/>
              <a:t>s or, where applicable,</a:t>
            </a:r>
            <a:r>
              <a:rPr lang="en-GB" b="1" i="1" dirty="0"/>
              <a:t> other persons</a:t>
            </a:r>
            <a:r>
              <a:rPr lang="en-GB" i="1" dirty="0"/>
              <a:t>, provided that any risks which may be associated with their use</a:t>
            </a:r>
            <a:r>
              <a:rPr lang="en-GB" b="1" i="1" dirty="0"/>
              <a:t> constitute acceptable risks when weighed against the benefits to the patient</a:t>
            </a:r>
            <a:r>
              <a:rPr lang="en-GB" i="1" dirty="0"/>
              <a:t> and are </a:t>
            </a:r>
            <a:r>
              <a:rPr lang="en-GB" b="1" i="1" dirty="0"/>
              <a:t>compatible with a high level of protection of health and safety</a:t>
            </a:r>
            <a:r>
              <a:rPr lang="en-GB" i="1" dirty="0"/>
              <a:t>, taking into account the generally acknowledged </a:t>
            </a:r>
            <a:r>
              <a:rPr lang="en-GB" b="1" i="1" dirty="0"/>
              <a:t>state of the art</a:t>
            </a:r>
            <a:r>
              <a:rPr lang="en-GB" i="1" dirty="0"/>
              <a:t>.</a:t>
            </a:r>
          </a:p>
        </p:txBody>
      </p:sp>
    </p:spTree>
    <p:extLst>
      <p:ext uri="{BB962C8B-B14F-4D97-AF65-F5344CB8AC3E}">
        <p14:creationId xmlns:p14="http://schemas.microsoft.com/office/powerpoint/2010/main" val="40510754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E6351-20E0-737D-B80D-1A7D8AC77E0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AB9CED-9294-3822-946B-A79E05CFF5F1}"/>
              </a:ext>
            </a:extLst>
          </p:cNvPr>
          <p:cNvSpPr>
            <a:spLocks noGrp="1"/>
          </p:cNvSpPr>
          <p:nvPr>
            <p:ph idx="1"/>
          </p:nvPr>
        </p:nvSpPr>
        <p:spPr>
          <a:xfrm>
            <a:off x="0" y="106326"/>
            <a:ext cx="12192000" cy="6751674"/>
          </a:xfrm>
        </p:spPr>
        <p:txBody>
          <a:bodyPr/>
          <a:lstStyle/>
          <a:p>
            <a:pPr marL="0" indent="0">
              <a:buNone/>
            </a:pPr>
            <a:r>
              <a:rPr lang="en-GB" dirty="0"/>
              <a:t>Chapter I(4):</a:t>
            </a:r>
          </a:p>
          <a:p>
            <a:pPr marL="0" indent="0">
              <a:buNone/>
            </a:pPr>
            <a:r>
              <a:rPr lang="en-GB" i="1" dirty="0"/>
              <a:t>Risk control measures adopted by manufacturers for the design and manufacture of the devices shall conform </a:t>
            </a:r>
            <a:r>
              <a:rPr lang="en-GB" b="1" i="1" dirty="0"/>
              <a:t>to safety principles</a:t>
            </a:r>
            <a:r>
              <a:rPr lang="en-GB" i="1" dirty="0"/>
              <a:t>, taking account of the generally acknowledged </a:t>
            </a:r>
            <a:r>
              <a:rPr lang="en-GB" b="1" i="1" dirty="0"/>
              <a:t>state of the art</a:t>
            </a:r>
            <a:r>
              <a:rPr lang="en-GB" i="1" dirty="0"/>
              <a:t>. To reduce risks, Manufacturers shall </a:t>
            </a:r>
            <a:r>
              <a:rPr lang="en-GB" b="1" i="1" dirty="0"/>
              <a:t>manage risks </a:t>
            </a:r>
            <a:r>
              <a:rPr lang="en-GB" i="1" dirty="0"/>
              <a:t>so that the residual risk associated with </a:t>
            </a:r>
            <a:r>
              <a:rPr lang="en-GB" b="1" i="1" dirty="0"/>
              <a:t>each hazard </a:t>
            </a:r>
            <a:r>
              <a:rPr lang="en-GB" i="1" dirty="0"/>
              <a:t>as well as the overall residual risk is judged acceptable. In selecting the most appropriate solutions, manufacturers shall, in the following order of priority:</a:t>
            </a:r>
          </a:p>
          <a:p>
            <a:pPr marL="514350" indent="-514350">
              <a:buAutoNum type="alphaLcParenBoth"/>
            </a:pPr>
            <a:r>
              <a:rPr lang="en-GB" i="1" dirty="0"/>
              <a:t>Eliminate or reduce risks as far as possible through </a:t>
            </a:r>
            <a:r>
              <a:rPr lang="en-GB" b="1" i="1" dirty="0"/>
              <a:t>safe design and manufacture</a:t>
            </a:r>
            <a:r>
              <a:rPr lang="en-GB" i="1" dirty="0"/>
              <a:t>;</a:t>
            </a:r>
          </a:p>
          <a:p>
            <a:pPr marL="514350" indent="-514350">
              <a:buAutoNum type="alphaLcParenBoth"/>
            </a:pPr>
            <a:r>
              <a:rPr lang="en-GB" i="1" dirty="0"/>
              <a:t>where appropriate, take </a:t>
            </a:r>
            <a:r>
              <a:rPr lang="en-GB" b="1" i="1" dirty="0"/>
              <a:t>adequate protection measures</a:t>
            </a:r>
            <a:r>
              <a:rPr lang="en-GB" i="1" dirty="0"/>
              <a:t>, including alarms if necessary, in relation </a:t>
            </a:r>
            <a:r>
              <a:rPr lang="en-GB" b="1" i="1" dirty="0"/>
              <a:t>to risks that cannot be eliminated</a:t>
            </a:r>
            <a:r>
              <a:rPr lang="en-GB" i="1" dirty="0"/>
              <a:t>; and</a:t>
            </a:r>
          </a:p>
          <a:p>
            <a:pPr marL="514350" indent="-514350">
              <a:buAutoNum type="alphaLcParenBoth"/>
            </a:pPr>
            <a:r>
              <a:rPr lang="en-GB" i="1" dirty="0"/>
              <a:t>provide information for safety (warnings/precautions/contra-indications) and, </a:t>
            </a:r>
            <a:r>
              <a:rPr lang="en-GB" b="1" i="1" dirty="0"/>
              <a:t>where appropriate</a:t>
            </a:r>
            <a:r>
              <a:rPr lang="en-GB" i="1" dirty="0"/>
              <a:t>, training to users</a:t>
            </a:r>
          </a:p>
          <a:p>
            <a:pPr marL="0" indent="0">
              <a:buNone/>
            </a:pPr>
            <a:r>
              <a:rPr lang="en-GB" i="1" dirty="0"/>
              <a:t>Manufacturers shall inform users of any residual risks.</a:t>
            </a:r>
          </a:p>
          <a:p>
            <a:pPr marL="0" indent="0">
              <a:buNone/>
            </a:pPr>
            <a:endParaRPr lang="en-GB" dirty="0"/>
          </a:p>
          <a:p>
            <a:pPr marL="0" indent="0">
              <a:buNone/>
            </a:pPr>
            <a:endParaRPr lang="en-GB" dirty="0"/>
          </a:p>
        </p:txBody>
      </p:sp>
    </p:spTree>
    <p:extLst>
      <p:ext uri="{BB962C8B-B14F-4D97-AF65-F5344CB8AC3E}">
        <p14:creationId xmlns:p14="http://schemas.microsoft.com/office/powerpoint/2010/main" val="11768348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89FE2-2B02-1B82-E56E-3564669AF4A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C061AF-2952-48F8-3D97-9232C1A827AD}"/>
              </a:ext>
            </a:extLst>
          </p:cNvPr>
          <p:cNvSpPr>
            <a:spLocks noGrp="1"/>
          </p:cNvSpPr>
          <p:nvPr>
            <p:ph idx="1"/>
          </p:nvPr>
        </p:nvSpPr>
        <p:spPr>
          <a:xfrm>
            <a:off x="0" y="0"/>
            <a:ext cx="12192000" cy="6858000"/>
          </a:xfrm>
        </p:spPr>
        <p:txBody>
          <a:bodyPr/>
          <a:lstStyle/>
          <a:p>
            <a:pPr marL="0" indent="0">
              <a:buNone/>
            </a:pPr>
            <a:endParaRPr lang="en-GB" dirty="0"/>
          </a:p>
          <a:p>
            <a:pPr marL="0" indent="0">
              <a:buNone/>
            </a:pPr>
            <a:endParaRPr lang="en-GB" dirty="0"/>
          </a:p>
          <a:p>
            <a:pPr marL="0" indent="0">
              <a:buNone/>
            </a:pPr>
            <a:r>
              <a:rPr lang="en-GB" dirty="0"/>
              <a:t>Chapter I(5):</a:t>
            </a:r>
          </a:p>
          <a:p>
            <a:pPr marL="0" indent="0">
              <a:buNone/>
            </a:pPr>
            <a:r>
              <a:rPr lang="en-GB" i="1" dirty="0"/>
              <a:t>In </a:t>
            </a:r>
            <a:r>
              <a:rPr lang="en-GB" b="1" i="1" dirty="0"/>
              <a:t>eliminating or reducing risks </a:t>
            </a:r>
            <a:r>
              <a:rPr lang="en-GB" i="1" dirty="0"/>
              <a:t>related to </a:t>
            </a:r>
            <a:r>
              <a:rPr lang="en-GB" b="1" i="1" dirty="0"/>
              <a:t>use error</a:t>
            </a:r>
            <a:r>
              <a:rPr lang="en-GB" i="1" dirty="0"/>
              <a:t>, the manufacturer shall:</a:t>
            </a:r>
          </a:p>
          <a:p>
            <a:pPr marL="514350" indent="-514350">
              <a:buAutoNum type="alphaLcParenBoth"/>
            </a:pPr>
            <a:r>
              <a:rPr lang="en-GB" i="1" dirty="0"/>
              <a:t>reduce as far as possible </a:t>
            </a:r>
            <a:r>
              <a:rPr lang="en-GB" b="1" i="1" dirty="0"/>
              <a:t>the risks related to the ergonomic features of the device and the environment in which the device is intended to be used </a:t>
            </a:r>
            <a:r>
              <a:rPr lang="en-GB" i="1" dirty="0"/>
              <a:t>(design for patient safety), and </a:t>
            </a:r>
          </a:p>
          <a:p>
            <a:pPr marL="514350" indent="-514350">
              <a:buAutoNum type="alphaLcParenBoth"/>
            </a:pPr>
            <a:r>
              <a:rPr lang="en-GB" b="1" i="1" dirty="0"/>
              <a:t>give consideration</a:t>
            </a:r>
            <a:r>
              <a:rPr lang="en-GB" i="1" dirty="0"/>
              <a:t> to the </a:t>
            </a:r>
            <a:r>
              <a:rPr lang="en-GB" b="1" i="1" dirty="0"/>
              <a:t>technical knowledge, experience, education, training and use environment</a:t>
            </a:r>
            <a:r>
              <a:rPr lang="en-GB" i="1" dirty="0"/>
              <a:t>, where applicable, and the </a:t>
            </a:r>
            <a:r>
              <a:rPr lang="en-GB" b="1" i="1" dirty="0"/>
              <a:t>medical and physical conditions of intended users </a:t>
            </a:r>
            <a:r>
              <a:rPr lang="en-GB" i="1" dirty="0"/>
              <a:t>(design for lay, professional, disabled, or other users)</a:t>
            </a:r>
          </a:p>
        </p:txBody>
      </p:sp>
    </p:spTree>
    <p:extLst>
      <p:ext uri="{BB962C8B-B14F-4D97-AF65-F5344CB8AC3E}">
        <p14:creationId xmlns:p14="http://schemas.microsoft.com/office/powerpoint/2010/main" val="27282679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8CC6F-FAC0-5FA6-7627-9697D89194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F2A31D-1D09-C693-AA08-5EA34917FC44}"/>
              </a:ext>
            </a:extLst>
          </p:cNvPr>
          <p:cNvSpPr>
            <a:spLocks noGrp="1"/>
          </p:cNvSpPr>
          <p:nvPr>
            <p:ph type="title"/>
          </p:nvPr>
        </p:nvSpPr>
        <p:spPr/>
        <p:txBody>
          <a:bodyPr/>
          <a:lstStyle/>
          <a:p>
            <a:r>
              <a:rPr lang="en-GB" dirty="0">
                <a:solidFill>
                  <a:schemeClr val="accent5"/>
                </a:solidFill>
              </a:rPr>
              <a:t>3.0 Overview and Notified Bodies and Authorities</a:t>
            </a:r>
          </a:p>
        </p:txBody>
      </p:sp>
      <p:sp>
        <p:nvSpPr>
          <p:cNvPr id="3" name="Content Placeholder 2">
            <a:extLst>
              <a:ext uri="{FF2B5EF4-FFF2-40B4-BE49-F238E27FC236}">
                <a16:creationId xmlns:a16="http://schemas.microsoft.com/office/drawing/2014/main" id="{2AEF7DC1-44D7-12FA-203D-C12BDA13103B}"/>
              </a:ext>
            </a:extLst>
          </p:cNvPr>
          <p:cNvSpPr>
            <a:spLocks noGrp="1"/>
          </p:cNvSpPr>
          <p:nvPr>
            <p:ph idx="1"/>
          </p:nvPr>
        </p:nvSpPr>
        <p:spPr/>
        <p:txBody>
          <a:bodyPr/>
          <a:lstStyle/>
          <a:p>
            <a:r>
              <a:rPr lang="en-GB" dirty="0"/>
              <a:t>Process for MDs:</a:t>
            </a:r>
          </a:p>
          <a:p>
            <a:pPr marL="0" indent="0">
              <a:buNone/>
            </a:pPr>
            <a:r>
              <a:rPr lang="en-GB" dirty="0"/>
              <a:t>Design &lt;-&gt; application procedures </a:t>
            </a:r>
          </a:p>
          <a:p>
            <a:pPr marL="0" indent="0">
              <a:buNone/>
            </a:pPr>
            <a:r>
              <a:rPr lang="en-GB" dirty="0"/>
              <a:t>Application &lt;-&gt; testing and notified bodies </a:t>
            </a:r>
          </a:p>
          <a:p>
            <a:pPr marL="0" indent="0">
              <a:buNone/>
            </a:pPr>
            <a:r>
              <a:rPr lang="en-GB" dirty="0"/>
              <a:t>Notified body approval &lt;-&gt; authority approval</a:t>
            </a:r>
          </a:p>
          <a:p>
            <a:pPr marL="0" indent="0">
              <a:buNone/>
            </a:pPr>
            <a:r>
              <a:rPr lang="en-GB" dirty="0"/>
              <a:t>Authority approval &lt;-&gt; setting up infrastructure for sale etc.</a:t>
            </a:r>
          </a:p>
          <a:p>
            <a:pPr marL="0" indent="0">
              <a:buNone/>
            </a:pPr>
            <a:r>
              <a:rPr lang="en-GB" dirty="0"/>
              <a:t>Sales and services &lt;-&gt; continuous quality and risk management</a:t>
            </a:r>
          </a:p>
          <a:p>
            <a:pPr marL="0" indent="0">
              <a:buNone/>
            </a:pPr>
            <a:r>
              <a:rPr lang="en-GB" dirty="0"/>
              <a:t>Sales &lt;-&gt; end-of-life measures and agreements as needed</a:t>
            </a:r>
          </a:p>
          <a:p>
            <a:pPr marL="0" indent="0">
              <a:buNone/>
            </a:pPr>
            <a:r>
              <a:rPr lang="en-GB" dirty="0"/>
              <a:t>Authorities have full power at any stage necessary</a:t>
            </a:r>
          </a:p>
        </p:txBody>
      </p:sp>
    </p:spTree>
    <p:extLst>
      <p:ext uri="{BB962C8B-B14F-4D97-AF65-F5344CB8AC3E}">
        <p14:creationId xmlns:p14="http://schemas.microsoft.com/office/powerpoint/2010/main" val="9762964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9A172-E08F-FD8B-76F4-C628055528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D7DB6F-631B-54ED-25F9-A446B0E7E711}"/>
              </a:ext>
            </a:extLst>
          </p:cNvPr>
          <p:cNvSpPr>
            <a:spLocks noGrp="1"/>
          </p:cNvSpPr>
          <p:nvPr>
            <p:ph type="title"/>
          </p:nvPr>
        </p:nvSpPr>
        <p:spPr/>
        <p:txBody>
          <a:bodyPr/>
          <a:lstStyle/>
          <a:p>
            <a:r>
              <a:rPr lang="en-GB" dirty="0">
                <a:solidFill>
                  <a:schemeClr val="accent5"/>
                </a:solidFill>
              </a:rPr>
              <a:t>3.1 Authorities</a:t>
            </a:r>
          </a:p>
        </p:txBody>
      </p:sp>
      <p:sp>
        <p:nvSpPr>
          <p:cNvPr id="3" name="Content Placeholder 2">
            <a:extLst>
              <a:ext uri="{FF2B5EF4-FFF2-40B4-BE49-F238E27FC236}">
                <a16:creationId xmlns:a16="http://schemas.microsoft.com/office/drawing/2014/main" id="{11BF812B-57FF-6633-1882-5F8A19993513}"/>
              </a:ext>
            </a:extLst>
          </p:cNvPr>
          <p:cNvSpPr>
            <a:spLocks noGrp="1"/>
          </p:cNvSpPr>
          <p:nvPr>
            <p:ph idx="1"/>
          </p:nvPr>
        </p:nvSpPr>
        <p:spPr/>
        <p:txBody>
          <a:bodyPr>
            <a:normAutofit lnSpcReduction="10000"/>
          </a:bodyPr>
          <a:lstStyle/>
          <a:p>
            <a:r>
              <a:rPr lang="en-GB" dirty="0"/>
              <a:t>Right to request documentation and punish the manufacturer if they do not cooperate (Article 10(14)). </a:t>
            </a:r>
          </a:p>
          <a:p>
            <a:r>
              <a:rPr lang="en-GB" dirty="0"/>
              <a:t>Market surveillance activities (Article 93). </a:t>
            </a:r>
          </a:p>
          <a:p>
            <a:r>
              <a:rPr lang="en-GB" dirty="0"/>
              <a:t>Evaluation of devices suspected of presenting an unacceptable risk or other non-compliance (Article 94). </a:t>
            </a:r>
          </a:p>
          <a:p>
            <a:r>
              <a:rPr lang="en-GB" dirty="0"/>
              <a:t>Procedure for dealing with devices presenting an unacceptable risk to health and safety (Article 95). </a:t>
            </a:r>
          </a:p>
          <a:p>
            <a:r>
              <a:rPr lang="en-GB" dirty="0"/>
              <a:t>Other non-compliance (Article 97)</a:t>
            </a:r>
          </a:p>
          <a:p>
            <a:endParaRPr lang="en-GB" dirty="0"/>
          </a:p>
          <a:p>
            <a:pPr marL="0" indent="0">
              <a:buNone/>
            </a:pPr>
            <a:r>
              <a:rPr lang="en-GB" dirty="0"/>
              <a:t>Overview from 2021.</a:t>
            </a:r>
          </a:p>
        </p:txBody>
      </p:sp>
    </p:spTree>
    <p:extLst>
      <p:ext uri="{BB962C8B-B14F-4D97-AF65-F5344CB8AC3E}">
        <p14:creationId xmlns:p14="http://schemas.microsoft.com/office/powerpoint/2010/main" val="22874303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321B1-4B56-DDFF-67F8-FB72AA0938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002C96-36BF-446A-B160-089FFBB610FC}"/>
              </a:ext>
            </a:extLst>
          </p:cNvPr>
          <p:cNvSpPr>
            <a:spLocks noGrp="1"/>
          </p:cNvSpPr>
          <p:nvPr>
            <p:ph type="title"/>
          </p:nvPr>
        </p:nvSpPr>
        <p:spPr/>
        <p:txBody>
          <a:bodyPr/>
          <a:lstStyle/>
          <a:p>
            <a:r>
              <a:rPr lang="en-GB" dirty="0">
                <a:solidFill>
                  <a:schemeClr val="accent5"/>
                </a:solidFill>
              </a:rPr>
              <a:t>3.2 Notified Bodies</a:t>
            </a:r>
          </a:p>
        </p:txBody>
      </p:sp>
      <p:sp>
        <p:nvSpPr>
          <p:cNvPr id="3" name="Content Placeholder 2">
            <a:extLst>
              <a:ext uri="{FF2B5EF4-FFF2-40B4-BE49-F238E27FC236}">
                <a16:creationId xmlns:a16="http://schemas.microsoft.com/office/drawing/2014/main" id="{7CA43136-B595-7756-612A-0C2BAB40CCD9}"/>
              </a:ext>
            </a:extLst>
          </p:cNvPr>
          <p:cNvSpPr>
            <a:spLocks noGrp="1"/>
          </p:cNvSpPr>
          <p:nvPr>
            <p:ph idx="1"/>
          </p:nvPr>
        </p:nvSpPr>
        <p:spPr/>
        <p:txBody>
          <a:bodyPr/>
          <a:lstStyle/>
          <a:p>
            <a:r>
              <a:rPr lang="en-GB" dirty="0"/>
              <a:t>Chapter IV</a:t>
            </a:r>
          </a:p>
          <a:p>
            <a:r>
              <a:rPr lang="en-GB" dirty="0"/>
              <a:t>Art 36 – basic requirements</a:t>
            </a:r>
          </a:p>
          <a:p>
            <a:r>
              <a:rPr lang="en-GB" dirty="0"/>
              <a:t>Art 39 – management of tasks and teams</a:t>
            </a:r>
          </a:p>
          <a:p>
            <a:r>
              <a:rPr lang="en-GB" dirty="0"/>
              <a:t>Full freedom?</a:t>
            </a:r>
          </a:p>
          <a:p>
            <a:r>
              <a:rPr lang="en-GB" dirty="0"/>
              <a:t>Private and/or public</a:t>
            </a:r>
          </a:p>
          <a:p>
            <a:r>
              <a:rPr lang="en-GB" dirty="0"/>
              <a:t>Art 42 – notification structure </a:t>
            </a:r>
          </a:p>
        </p:txBody>
      </p:sp>
    </p:spTree>
    <p:extLst>
      <p:ext uri="{BB962C8B-B14F-4D97-AF65-F5344CB8AC3E}">
        <p14:creationId xmlns:p14="http://schemas.microsoft.com/office/powerpoint/2010/main" val="32807443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676FC-52C9-95DE-50E9-B00656A64213}"/>
              </a:ext>
            </a:extLst>
          </p:cNvPr>
          <p:cNvSpPr>
            <a:spLocks noGrp="1"/>
          </p:cNvSpPr>
          <p:nvPr>
            <p:ph type="title"/>
          </p:nvPr>
        </p:nvSpPr>
        <p:spPr/>
        <p:txBody>
          <a:bodyPr/>
          <a:lstStyle/>
          <a:p>
            <a:r>
              <a:rPr lang="en-GB" dirty="0">
                <a:solidFill>
                  <a:schemeClr val="accent5"/>
                </a:solidFill>
              </a:rPr>
              <a:t>4.0 Final Comments</a:t>
            </a:r>
          </a:p>
        </p:txBody>
      </p:sp>
      <p:sp>
        <p:nvSpPr>
          <p:cNvPr id="3" name="Content Placeholder 2">
            <a:extLst>
              <a:ext uri="{FF2B5EF4-FFF2-40B4-BE49-F238E27FC236}">
                <a16:creationId xmlns:a16="http://schemas.microsoft.com/office/drawing/2014/main" id="{CF11526F-5BBD-7A91-C042-45DF60FAF791}"/>
              </a:ext>
            </a:extLst>
          </p:cNvPr>
          <p:cNvSpPr>
            <a:spLocks noGrp="1"/>
          </p:cNvSpPr>
          <p:nvPr>
            <p:ph idx="1"/>
          </p:nvPr>
        </p:nvSpPr>
        <p:spPr/>
        <p:txBody>
          <a:bodyPr/>
          <a:lstStyle/>
          <a:p>
            <a:r>
              <a:rPr lang="en-GB" dirty="0"/>
              <a:t>Certification – Chapter III</a:t>
            </a:r>
          </a:p>
          <a:p>
            <a:r>
              <a:rPr lang="en-GB" dirty="0"/>
              <a:t>Overlap with Annex I in the AIA (second time)</a:t>
            </a:r>
          </a:p>
          <a:p>
            <a:endParaRPr lang="en-GB" dirty="0"/>
          </a:p>
        </p:txBody>
      </p:sp>
    </p:spTree>
    <p:extLst>
      <p:ext uri="{BB962C8B-B14F-4D97-AF65-F5344CB8AC3E}">
        <p14:creationId xmlns:p14="http://schemas.microsoft.com/office/powerpoint/2010/main" val="6700801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80E4C-2CF4-D16C-BAE3-6485015FD6C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4FC2E82-43EA-0AB0-D0FD-DB8A682AD2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3686527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548</TotalTime>
  <Words>1245</Words>
  <Application>Microsoft Office PowerPoint</Application>
  <PresentationFormat>Widescreen</PresentationFormat>
  <Paragraphs>100</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Aptos</vt:lpstr>
      <vt:lpstr>Aptos Display</vt:lpstr>
      <vt:lpstr>Arial</vt:lpstr>
      <vt:lpstr>Office Theme</vt:lpstr>
      <vt:lpstr>LECTURE THREE – SAFETY AND MEDICAL DEVICES (PART TWO)</vt:lpstr>
      <vt:lpstr>0.0</vt:lpstr>
      <vt:lpstr>0.1 Structure (again)</vt:lpstr>
      <vt:lpstr>1.0 Intention</vt:lpstr>
      <vt:lpstr>1.1 Intention</vt:lpstr>
      <vt:lpstr>PowerPoint Presentation</vt:lpstr>
      <vt:lpstr>1.2</vt:lpstr>
      <vt:lpstr>2.0 Manufacturer</vt:lpstr>
      <vt:lpstr>2.1</vt:lpstr>
      <vt:lpstr>2.2 Sole Responsibility</vt:lpstr>
      <vt:lpstr>2.3 System for Financial Responisbility</vt:lpstr>
      <vt:lpstr>2.4 Annex I</vt:lpstr>
      <vt:lpstr>PowerPoint Presentation</vt:lpstr>
      <vt:lpstr>PowerPoint Presentation</vt:lpstr>
      <vt:lpstr>PowerPoint Presentation</vt:lpstr>
      <vt:lpstr>3.0 Overview and Notified Bodies and Authorities</vt:lpstr>
      <vt:lpstr>3.1 Authorities</vt:lpstr>
      <vt:lpstr>3.2 Notified Bodies</vt:lpstr>
      <vt:lpstr>4.0 Final Comments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Kaspar Ludvigsen</dc:creator>
  <cp:lastModifiedBy>Kaspar Ludvigsen</cp:lastModifiedBy>
  <cp:revision>5</cp:revision>
  <dcterms:created xsi:type="dcterms:W3CDTF">2024-11-14T12:30:14Z</dcterms:created>
  <dcterms:modified xsi:type="dcterms:W3CDTF">2024-11-24T15:18:01Z</dcterms:modified>
</cp:coreProperties>
</file>