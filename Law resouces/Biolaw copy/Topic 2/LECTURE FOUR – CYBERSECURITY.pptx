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82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8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83F3E-D1AD-20B1-71B4-E76FAFF94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C57E26-98BC-031E-EEC5-181634FAB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4265A-0FB5-D42E-3CA8-63769262E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76FC-5A10-4491-8FB1-23A95EF4599A}" type="datetimeFigureOut">
              <a:rPr lang="en-GB" smtClean="0"/>
              <a:t>01/12/2024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A1AE7-E8DC-D48B-ED24-306F85B2C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D7FED-6255-E21E-0D4A-8FD4A0775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21429-7370-4B04-B46B-DD2148F43F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6374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A5B01-6A7D-ED15-559F-95EC4F56C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FC938-1B38-F582-303D-07AE128FA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25CA8-8C5E-B0EF-8E30-9FCE6638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76FC-5A10-4491-8FB1-23A95EF4599A}" type="datetimeFigureOut">
              <a:rPr lang="en-GB" smtClean="0"/>
              <a:t>01/12/2024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FFAD4-F016-B56A-E64B-D553F93C5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39498-5A64-E4E1-434D-E4FBBECE4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21429-7370-4B04-B46B-DD2148F43F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483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9B54C-612F-6F92-50FE-5EDAD59DD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CCD7D-615E-7466-3C57-2B1D37F1A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D1389-F6F5-B48F-E312-37CB0C549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76FC-5A10-4491-8FB1-23A95EF4599A}" type="datetimeFigureOut">
              <a:rPr lang="en-GB" smtClean="0"/>
              <a:t>01/12/2024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7DE0A-5117-9C87-A5EE-7C5E5B29C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1E637-B127-2AA0-008B-BE8B927B8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21429-7370-4B04-B46B-DD2148F43F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9972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3F332-5AFD-34AE-5FB3-2E05D05C3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415DD-06A9-F4ED-A712-6B69633D70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EB9FD3-5042-1FC1-52E9-61B58E35D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01E56-B429-AB6C-68C4-FD94A1DE6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76FC-5A10-4491-8FB1-23A95EF4599A}" type="datetimeFigureOut">
              <a:rPr lang="en-GB" smtClean="0"/>
              <a:t>01/12/2024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C877F2-99DA-5D8A-1AD7-56C578F4D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B194AE-38FF-5599-8D02-AF0C3C7BC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21429-7370-4B04-B46B-DD2148F43F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8824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B1585-7278-C4AE-806C-06E006EB7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52D9A-6492-E280-16A1-56F2145F2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30D370-C8C2-7FE4-703C-05D5E341BE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81462D-18D6-25A2-9D0B-D1B24E9E2D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CA26AF-F714-38B2-C005-BED12E2397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9430A5-4C69-115A-A705-17163B7E4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76FC-5A10-4491-8FB1-23A95EF4599A}" type="datetimeFigureOut">
              <a:rPr lang="en-GB" smtClean="0"/>
              <a:t>01/12/2024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CDE178-3A05-4805-5781-BBF256695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A3F0AB-50AC-E378-2193-CD9D8563F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21429-7370-4B04-B46B-DD2148F43F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481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070F9-8129-1671-6F28-AB97F5366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7FE29E-8AD9-EEB8-A62D-3DCBDDB64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76FC-5A10-4491-8FB1-23A95EF4599A}" type="datetimeFigureOut">
              <a:rPr lang="en-GB" smtClean="0"/>
              <a:t>01/12/2024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7094C-4E50-900A-F2D2-53050A888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2458A0-6221-EB04-9790-3A1653469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21429-7370-4B04-B46B-DD2148F43F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7531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6BFB28-B977-4574-2C3B-5FC3BC87E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76FC-5A10-4491-8FB1-23A95EF4599A}" type="datetimeFigureOut">
              <a:rPr lang="en-GB" smtClean="0"/>
              <a:t>01/12/2024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3BE330-2E12-FE9F-C162-7FA974C7D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21DD2-20B4-E691-F0D6-278B5C7D2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21429-7370-4B04-B46B-DD2148F43F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7882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12037-1BB5-7681-EFE0-C8C97168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EA13E-6122-331D-95A9-166BDA752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90A5AF-1807-AC62-A2C1-67E06D5C9D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E729BA-65BC-237E-A48E-3E9F6239D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76FC-5A10-4491-8FB1-23A95EF4599A}" type="datetimeFigureOut">
              <a:rPr lang="en-GB" smtClean="0"/>
              <a:t>01/12/2024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7375F-BF52-E652-AD93-19DE5DEF8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AF17FF-9766-11EB-4B4F-CE1E46BFC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21429-7370-4B04-B46B-DD2148F43F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2017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C99FD-9804-A398-98FC-010A5ABF8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8263F0-11C8-CCD3-C7E3-BE7F05450F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A88FD2-AAAC-9953-1C37-CC343669A9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2A813-7A51-F7DF-07D2-F1A0E40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76FC-5A10-4491-8FB1-23A95EF4599A}" type="datetimeFigureOut">
              <a:rPr lang="en-GB" smtClean="0"/>
              <a:t>01/12/2024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D787A-5133-87C3-A0A2-14D53777D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73359-5AF2-AFF7-994D-372349145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21429-7370-4B04-B46B-DD2148F43F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6746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40B9A-53C8-0A44-956F-5A492DC3E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7B2235-269F-1D97-A92E-682759E168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2EE64-7F3E-F7C9-E838-269423E51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76FC-5A10-4491-8FB1-23A95EF4599A}" type="datetimeFigureOut">
              <a:rPr lang="en-GB" smtClean="0"/>
              <a:t>01/12/2024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FA8F1-DE97-36A1-4A2D-17815A762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AA81B-4321-874A-D442-D88348432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21429-7370-4B04-B46B-DD2148F43F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0733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D8C2EE-5A24-EFA9-1A3F-3804CAB3FF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F06379-2944-5177-6CFE-5C48FE036A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B8D9B-BD09-3B14-72D4-12EB9B2F3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76FC-5A10-4491-8FB1-23A95EF4599A}" type="datetimeFigureOut">
              <a:rPr lang="en-GB" smtClean="0"/>
              <a:t>01/12/2024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6D97C-1DA7-702C-130C-24032DA23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191B3-8E47-5164-A500-8266A5FE3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21429-7370-4B04-B46B-DD2148F43F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226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E6D808-49A3-E829-9FD0-8621AB264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361BC4-FB59-6BCE-6871-8FF27F126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E7231-D907-77B7-4939-9ABC5870ED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D676FC-5A10-4491-8FB1-23A95EF4599A}" type="datetimeFigureOut">
              <a:rPr lang="en-GB" smtClean="0"/>
              <a:t>01/12/2024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9734B-F1D8-A02E-6289-35BC50026D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6B32A-940C-73D1-3FCC-B02B7D5625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A21429-7370-4B04-B46B-DD2148F43F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4130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C389B-3474-7456-E08F-358C3A2D92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985" y="827880"/>
            <a:ext cx="9590315" cy="2237013"/>
          </a:xfrm>
        </p:spPr>
        <p:txBody>
          <a:bodyPr>
            <a:normAutofit/>
          </a:bodyPr>
          <a:lstStyle/>
          <a:p>
            <a:r>
              <a:rPr lang="en-GB" b="1" u="sng" dirty="0">
                <a:solidFill>
                  <a:schemeClr val="accent5"/>
                </a:solidFill>
              </a:rPr>
              <a:t>LECTURE FOUR – CYBERSECURITY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2511B6-82EE-38FD-0874-33F201664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3429000"/>
            <a:ext cx="9144000" cy="1655762"/>
          </a:xfrm>
        </p:spPr>
        <p:txBody>
          <a:bodyPr>
            <a:normAutofit/>
          </a:bodyPr>
          <a:lstStyle/>
          <a:p>
            <a:endParaRPr lang="en-GB" dirty="0"/>
          </a:p>
          <a:p>
            <a:r>
              <a:rPr lang="en-GB" dirty="0"/>
              <a:t>LAW2291_2024</a:t>
            </a:r>
          </a:p>
          <a:p>
            <a:r>
              <a:rPr lang="en-GB" dirty="0"/>
              <a:t>Contemporary Issues in </a:t>
            </a:r>
            <a:r>
              <a:rPr lang="en-GB" dirty="0" err="1"/>
              <a:t>Biolaw</a:t>
            </a:r>
            <a:r>
              <a:rPr lang="en-GB" dirty="0"/>
              <a:t> (24/25)</a:t>
            </a:r>
          </a:p>
        </p:txBody>
      </p:sp>
    </p:spTree>
    <p:extLst>
      <p:ext uri="{BB962C8B-B14F-4D97-AF65-F5344CB8AC3E}">
        <p14:creationId xmlns:p14="http://schemas.microsoft.com/office/powerpoint/2010/main" val="2088442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2DE5C-B0FC-5190-8A96-8CD6F972D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0.0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6A71E-B4E1-2FB0-606B-3555C11E2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Last lecture</a:t>
            </a:r>
          </a:p>
          <a:p>
            <a:pPr marL="0" indent="0">
              <a:buNone/>
            </a:pPr>
            <a:r>
              <a:rPr lang="en-GB" dirty="0"/>
              <a:t>Keep AI in or as Medical Devices in mind.</a:t>
            </a:r>
          </a:p>
          <a:p>
            <a:pPr marL="0" indent="0">
              <a:buNone/>
            </a:pPr>
            <a:r>
              <a:rPr lang="en-GB" dirty="0"/>
              <a:t>Contents:</a:t>
            </a:r>
          </a:p>
          <a:p>
            <a:r>
              <a:rPr lang="en-GB" dirty="0"/>
              <a:t>Overview of cybersecurity terms and concepts </a:t>
            </a:r>
          </a:p>
          <a:p>
            <a:r>
              <a:rPr lang="en-GB" dirty="0"/>
              <a:t>Perspectives from AIA, MDR on security</a:t>
            </a:r>
          </a:p>
          <a:p>
            <a:r>
              <a:rPr lang="en-GB" dirty="0"/>
              <a:t>Cyber Resilience Act</a:t>
            </a:r>
          </a:p>
          <a:p>
            <a:r>
              <a:rPr lang="en-GB" dirty="0"/>
              <a:t>Network Information Security Directive (NIS2 Directive)</a:t>
            </a:r>
          </a:p>
          <a:p>
            <a:r>
              <a:rPr lang="en-GB" dirty="0"/>
              <a:t>Final comments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083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9BE53-5C79-376B-121B-21ECA0D3C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B6157-E7D4-D1EF-F9FD-92A573616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1.0 Security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EEC65-524F-5479-4DD4-45DE6869E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Everything is interconnected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Security: Freedom from adversarial failures</a:t>
            </a:r>
          </a:p>
          <a:p>
            <a:endParaRPr lang="en-GB" dirty="0"/>
          </a:p>
          <a:p>
            <a:r>
              <a:rPr lang="en-GB" dirty="0"/>
              <a:t>Digital devices everywhere = cybersecurity everywhere</a:t>
            </a:r>
          </a:p>
          <a:p>
            <a:r>
              <a:rPr lang="en-GB" dirty="0"/>
              <a:t>Security = Cybersecurity </a:t>
            </a:r>
          </a:p>
          <a:p>
            <a:r>
              <a:rPr lang="en-GB" dirty="0"/>
              <a:t>Safety? 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3918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5F4A6-6F2F-9AED-85A2-55AA76D7C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512A3EB-8008-CC3B-21F7-C5F9FA695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387" y="0"/>
            <a:ext cx="78472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81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670DE-237D-B583-BC20-A02ADBAAB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722B1-72CE-286B-1BD0-6732028B2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1.1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E6BC5-F602-960C-F1BE-F3EB8D2AD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Unlike safety, security is simpler: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First state &lt;-&gt; second state 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What matters is that it is caused by an </a:t>
            </a:r>
            <a:r>
              <a:rPr lang="en-GB" b="1" dirty="0"/>
              <a:t>adversary</a:t>
            </a:r>
            <a:r>
              <a:rPr lang="en-GB" dirty="0"/>
              <a:t>.</a:t>
            </a:r>
          </a:p>
          <a:p>
            <a:r>
              <a:rPr lang="en-GB" dirty="0"/>
              <a:t>And the modelling from safety can only be used to describe the system – errors do not exist with adversaries, while hazards work. </a:t>
            </a:r>
          </a:p>
          <a:p>
            <a:r>
              <a:rPr lang="en-GB" dirty="0"/>
              <a:t>Additionally, adversarial failures are used instead</a:t>
            </a:r>
          </a:p>
          <a:p>
            <a:r>
              <a:rPr lang="en-GB" dirty="0"/>
              <a:t>Unreliability = insecure </a:t>
            </a:r>
          </a:p>
        </p:txBody>
      </p:sp>
    </p:spTree>
    <p:extLst>
      <p:ext uri="{BB962C8B-B14F-4D97-AF65-F5344CB8AC3E}">
        <p14:creationId xmlns:p14="http://schemas.microsoft.com/office/powerpoint/2010/main" val="2197709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004AA-D1EE-27F3-FD38-AE404656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286DD-0C0C-AE72-B572-9F4CF20A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1.2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293C3-EE10-480D-BA29-592881831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4936682"/>
          </a:xfrm>
        </p:spPr>
        <p:txBody>
          <a:bodyPr>
            <a:normAutofit/>
          </a:bodyPr>
          <a:lstStyle/>
          <a:p>
            <a:r>
              <a:rPr lang="en-GB" dirty="0"/>
              <a:t>Other relevant concepts:</a:t>
            </a:r>
          </a:p>
          <a:p>
            <a:pPr marL="0" indent="0">
              <a:buNone/>
            </a:pPr>
            <a:r>
              <a:rPr lang="en-GB" dirty="0"/>
              <a:t>Attack surface</a:t>
            </a:r>
          </a:p>
          <a:p>
            <a:pPr marL="0" indent="0">
              <a:buNone/>
            </a:pPr>
            <a:r>
              <a:rPr lang="en-GB" dirty="0"/>
              <a:t>Threat modelling/models </a:t>
            </a:r>
          </a:p>
          <a:p>
            <a:pPr marL="0" indent="0">
              <a:buNone/>
            </a:pPr>
            <a:r>
              <a:rPr lang="en-GB" dirty="0"/>
              <a:t>Testing </a:t>
            </a:r>
          </a:p>
          <a:p>
            <a:pPr marL="0" indent="0">
              <a:buNone/>
            </a:pPr>
            <a:r>
              <a:rPr lang="en-GB" dirty="0"/>
              <a:t>Defences </a:t>
            </a:r>
          </a:p>
          <a:p>
            <a:pPr marL="0" indent="0">
              <a:buNone/>
            </a:pPr>
            <a:r>
              <a:rPr lang="en-GB" dirty="0"/>
              <a:t>Supply Chain Security</a:t>
            </a:r>
          </a:p>
          <a:p>
            <a:pPr marL="0" indent="0">
              <a:buNone/>
            </a:pPr>
            <a:r>
              <a:rPr lang="en-GB" dirty="0"/>
              <a:t>Physical Cybersecurity</a:t>
            </a:r>
          </a:p>
          <a:p>
            <a:r>
              <a:rPr lang="en-GB" dirty="0"/>
              <a:t>Main points are that one understands the device, its environment, its users, its usage of public infrastructure, its adversaries, and so on.</a:t>
            </a:r>
          </a:p>
        </p:txBody>
      </p:sp>
    </p:spTree>
    <p:extLst>
      <p:ext uri="{BB962C8B-B14F-4D97-AF65-F5344CB8AC3E}">
        <p14:creationId xmlns:p14="http://schemas.microsoft.com/office/powerpoint/2010/main" val="549499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0B102-5466-2E57-CB84-76159014E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366E8-F03E-6A9F-9840-7E1154E4F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2.0 Cybersecurity in the AIA and the MDR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A9B68-CD96-9BA3-CF80-CA3B5EF39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281"/>
            <a:ext cx="10515600" cy="5202496"/>
          </a:xfrm>
        </p:spPr>
        <p:txBody>
          <a:bodyPr/>
          <a:lstStyle/>
          <a:p>
            <a:r>
              <a:rPr lang="en-GB" dirty="0"/>
              <a:t>Functionality – it is a product/equivalent. </a:t>
            </a:r>
          </a:p>
          <a:p>
            <a:r>
              <a:rPr lang="en-GB" dirty="0"/>
              <a:t>Its purpose requires protection and functionality – soft but direct</a:t>
            </a:r>
          </a:p>
          <a:p>
            <a:endParaRPr lang="en-GB" dirty="0"/>
          </a:p>
          <a:p>
            <a:r>
              <a:rPr lang="en-GB" dirty="0"/>
              <a:t>While Article 15 is for high-risk AI, it is worth looking at generally anyway. Who knows – maybe indirect usage later?</a:t>
            </a:r>
          </a:p>
        </p:txBody>
      </p:sp>
    </p:spTree>
    <p:extLst>
      <p:ext uri="{BB962C8B-B14F-4D97-AF65-F5344CB8AC3E}">
        <p14:creationId xmlns:p14="http://schemas.microsoft.com/office/powerpoint/2010/main" val="1672216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AFCC3-9DAF-63F8-0D45-2B4D1100D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B4189-843D-73CC-DF9A-1D08E5C2E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0"/>
            <a:ext cx="12067952" cy="6857999"/>
          </a:xfrm>
        </p:spPr>
        <p:txBody>
          <a:bodyPr>
            <a:normAutofit fontScale="85000" lnSpcReduction="20000"/>
          </a:bodyPr>
          <a:lstStyle/>
          <a:p>
            <a:r>
              <a:rPr lang="en-GB" i="1" dirty="0"/>
              <a:t>1.   High-risk AI systems shall be designed and developed in such a way that they achieve an appropriate level of </a:t>
            </a:r>
            <a:r>
              <a:rPr lang="en-GB" b="1" i="1" dirty="0"/>
              <a:t>accuracy, robustness, and cybersecurity</a:t>
            </a:r>
            <a:r>
              <a:rPr lang="en-GB" i="1" dirty="0"/>
              <a:t>, and that they perform consistently in those respects throughout their lifecycle.</a:t>
            </a:r>
          </a:p>
          <a:p>
            <a:r>
              <a:rPr lang="en-GB" i="1" dirty="0"/>
              <a:t>2.   To address the technical aspects of how to measure the appropriate levels of accuracy and robustness set out in paragraph 1 and any other relevant performance metrics, the Commission shall, in cooperation with relevant stakeholders and organisations such as </a:t>
            </a:r>
            <a:r>
              <a:rPr lang="en-GB" b="1" i="1" dirty="0"/>
              <a:t>metrology and benchmarking </a:t>
            </a:r>
            <a:r>
              <a:rPr lang="en-GB" i="1" dirty="0"/>
              <a:t>authorities, </a:t>
            </a:r>
            <a:r>
              <a:rPr lang="en-GB" b="1" i="1" dirty="0"/>
              <a:t>encourage</a:t>
            </a:r>
            <a:r>
              <a:rPr lang="en-GB" i="1" dirty="0"/>
              <a:t>, as </a:t>
            </a:r>
            <a:r>
              <a:rPr lang="en-GB" b="1" i="1" dirty="0"/>
              <a:t>appropriate</a:t>
            </a:r>
            <a:r>
              <a:rPr lang="en-GB" i="1" dirty="0"/>
              <a:t>, the development of </a:t>
            </a:r>
            <a:r>
              <a:rPr lang="en-GB" b="1" i="1" dirty="0"/>
              <a:t>benchmarks and measurement methodologies</a:t>
            </a:r>
            <a:r>
              <a:rPr lang="en-GB" i="1" dirty="0"/>
              <a:t>.</a:t>
            </a:r>
          </a:p>
          <a:p>
            <a:r>
              <a:rPr lang="en-GB" i="1" dirty="0"/>
              <a:t>3.   The levels of accuracy and the relevant accuracy metrics of high-risk AI systems shall be declared in the </a:t>
            </a:r>
            <a:r>
              <a:rPr lang="en-GB" b="1" i="1" dirty="0"/>
              <a:t>accompanying instructions of use</a:t>
            </a:r>
            <a:r>
              <a:rPr lang="en-GB" i="1" dirty="0"/>
              <a:t>.</a:t>
            </a:r>
          </a:p>
          <a:p>
            <a:r>
              <a:rPr lang="en-GB" i="1" dirty="0"/>
              <a:t>4.   High-risk AI systems shall be </a:t>
            </a:r>
            <a:r>
              <a:rPr lang="en-GB" b="1" i="1" dirty="0"/>
              <a:t>as resilient as possible regarding errors, faults or inconsistencies </a:t>
            </a:r>
            <a:r>
              <a:rPr lang="en-GB" i="1" dirty="0"/>
              <a:t>that may occur within the system or the environment in which the system operates, </a:t>
            </a:r>
            <a:r>
              <a:rPr lang="en-GB" b="1" i="1" dirty="0"/>
              <a:t>in particular due to their interaction with natural persons or other systems</a:t>
            </a:r>
            <a:r>
              <a:rPr lang="en-GB" i="1" dirty="0"/>
              <a:t>. </a:t>
            </a:r>
            <a:r>
              <a:rPr lang="en-GB" b="1" i="1" dirty="0"/>
              <a:t>Technical and organisational </a:t>
            </a:r>
            <a:r>
              <a:rPr lang="en-GB" i="1" dirty="0"/>
              <a:t>measures shall be taken in this regard.</a:t>
            </a:r>
          </a:p>
          <a:p>
            <a:r>
              <a:rPr lang="en-GB" i="1" dirty="0"/>
              <a:t>The robustness of high-risk AI systems may be achieved through </a:t>
            </a:r>
            <a:r>
              <a:rPr lang="en-GB" b="1" i="1" dirty="0"/>
              <a:t>technical redundancy</a:t>
            </a:r>
            <a:r>
              <a:rPr lang="en-GB" i="1" dirty="0"/>
              <a:t> solutions, which may include backup or fail-safe plans.</a:t>
            </a:r>
          </a:p>
          <a:p>
            <a:r>
              <a:rPr lang="en-GB" i="1" dirty="0"/>
              <a:t>High-risk AI systems that continue to learn after being placed on the market or put into service shall be developed in such a way as </a:t>
            </a:r>
            <a:r>
              <a:rPr lang="en-GB" b="1" i="1" dirty="0"/>
              <a:t>to eliminate or reduce </a:t>
            </a:r>
            <a:r>
              <a:rPr lang="en-GB" i="1" dirty="0"/>
              <a:t>as far as possible the risk of possibly biased outputs influencing input for future operations </a:t>
            </a:r>
            <a:r>
              <a:rPr lang="en-GB" b="1" i="1" dirty="0"/>
              <a:t>(feedback loops), </a:t>
            </a:r>
            <a:r>
              <a:rPr lang="en-GB" i="1" dirty="0"/>
              <a:t>and as to ensure that any such feedback loops are duly addressed with</a:t>
            </a:r>
            <a:r>
              <a:rPr lang="en-GB" b="1" i="1" dirty="0"/>
              <a:t> appropriate mitigation </a:t>
            </a:r>
            <a:r>
              <a:rPr lang="en-GB" i="1" dirty="0"/>
              <a:t>measures.</a:t>
            </a:r>
          </a:p>
        </p:txBody>
      </p:sp>
    </p:spTree>
    <p:extLst>
      <p:ext uri="{BB962C8B-B14F-4D97-AF65-F5344CB8AC3E}">
        <p14:creationId xmlns:p14="http://schemas.microsoft.com/office/powerpoint/2010/main" val="859846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A2436-64A2-B63A-34A6-819264268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93" y="191386"/>
            <a:ext cx="11258107" cy="5985577"/>
          </a:xfrm>
        </p:spPr>
        <p:txBody>
          <a:bodyPr>
            <a:normAutofit/>
          </a:bodyPr>
          <a:lstStyle/>
          <a:p>
            <a:r>
              <a:rPr lang="en-GB" i="1" dirty="0"/>
              <a:t>5.   High-risk AI systems shall be </a:t>
            </a:r>
            <a:r>
              <a:rPr lang="en-GB" b="1" i="1" dirty="0"/>
              <a:t>resilient against </a:t>
            </a:r>
            <a:r>
              <a:rPr lang="en-GB" i="1" dirty="0"/>
              <a:t>attempts by unauthorised </a:t>
            </a:r>
            <a:r>
              <a:rPr lang="en-GB" b="1" i="1" dirty="0"/>
              <a:t>third parties</a:t>
            </a:r>
            <a:r>
              <a:rPr lang="en-GB" i="1" dirty="0"/>
              <a:t> to alter their use, outputs or performance by exploiting </a:t>
            </a:r>
            <a:r>
              <a:rPr lang="en-GB" b="1" i="1" dirty="0"/>
              <a:t>system vulnerabilities</a:t>
            </a:r>
            <a:r>
              <a:rPr lang="en-GB" i="1" dirty="0"/>
              <a:t>.</a:t>
            </a:r>
          </a:p>
          <a:p>
            <a:r>
              <a:rPr lang="en-GB" i="1" dirty="0"/>
              <a:t>The technical solutions aiming to ensure the cybersecurity of high-risk AI systems shall be </a:t>
            </a:r>
            <a:r>
              <a:rPr lang="en-GB" b="1" i="1" dirty="0"/>
              <a:t>appropriate</a:t>
            </a:r>
            <a:r>
              <a:rPr lang="en-GB" i="1" dirty="0"/>
              <a:t> to the </a:t>
            </a:r>
            <a:r>
              <a:rPr lang="en-GB" b="1" i="1" dirty="0"/>
              <a:t>relevant circumstances and the risks.</a:t>
            </a:r>
          </a:p>
          <a:p>
            <a:r>
              <a:rPr lang="en-GB" i="1" dirty="0"/>
              <a:t>The technical solutions to address AI specific vulnerabilities shall include, where appropriate, measures to </a:t>
            </a:r>
            <a:r>
              <a:rPr lang="en-GB" b="1" i="1" dirty="0"/>
              <a:t>prevent, detect, respond to, resolve and control for attacks trying to manipulate the training data set (data poisoning), </a:t>
            </a:r>
            <a:r>
              <a:rPr lang="en-GB" i="1" dirty="0"/>
              <a:t>or pre-trained components used in training </a:t>
            </a:r>
            <a:r>
              <a:rPr lang="en-GB" b="1" i="1" dirty="0"/>
              <a:t>(model poisoning), </a:t>
            </a:r>
            <a:r>
              <a:rPr lang="en-GB" i="1" dirty="0"/>
              <a:t>inputs designed to cause the AI model to make a mistake </a:t>
            </a:r>
            <a:r>
              <a:rPr lang="en-GB" b="1" i="1" dirty="0"/>
              <a:t>(adversarial examples or model evasion), </a:t>
            </a:r>
            <a:r>
              <a:rPr lang="en-GB" i="1" dirty="0"/>
              <a:t>confidentiality attacks or model flaws.</a:t>
            </a:r>
          </a:p>
        </p:txBody>
      </p:sp>
    </p:spTree>
    <p:extLst>
      <p:ext uri="{BB962C8B-B14F-4D97-AF65-F5344CB8AC3E}">
        <p14:creationId xmlns:p14="http://schemas.microsoft.com/office/powerpoint/2010/main" val="2189224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7275A-A5EE-C7BC-DC26-FC81F7683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8957D-BC66-A579-1254-B150B92CB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chemeClr val="accent5"/>
                </a:solidFill>
              </a:rPr>
              <a:t>2.1 </a:t>
            </a:r>
            <a:endParaRPr lang="en-GB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F983D-2614-9AED-F09E-E54A22C79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Authorities</a:t>
            </a:r>
            <a:r>
              <a:rPr lang="da-DK" dirty="0"/>
              <a:t>, </a:t>
            </a:r>
            <a:r>
              <a:rPr lang="da-DK" dirty="0" err="1"/>
              <a:t>notified</a:t>
            </a:r>
            <a:r>
              <a:rPr lang="da-DK" dirty="0"/>
              <a:t> </a:t>
            </a:r>
            <a:r>
              <a:rPr lang="da-DK" dirty="0" err="1"/>
              <a:t>bodies</a:t>
            </a:r>
            <a:r>
              <a:rPr lang="da-DK" dirty="0"/>
              <a:t> must </a:t>
            </a:r>
            <a:r>
              <a:rPr lang="da-DK" dirty="0" err="1"/>
              <a:t>consider</a:t>
            </a:r>
            <a:r>
              <a:rPr lang="da-DK" dirty="0"/>
              <a:t> security, as </a:t>
            </a:r>
            <a:r>
              <a:rPr lang="da-DK" dirty="0" err="1"/>
              <a:t>will</a:t>
            </a:r>
            <a:r>
              <a:rPr lang="da-DK" dirty="0"/>
              <a:t> </a:t>
            </a:r>
            <a:r>
              <a:rPr lang="da-DK" dirty="0" err="1"/>
              <a:t>providers</a:t>
            </a:r>
            <a:r>
              <a:rPr lang="da-DK" dirty="0"/>
              <a:t> of general AI</a:t>
            </a:r>
          </a:p>
          <a:p>
            <a:r>
              <a:rPr lang="da-DK" dirty="0"/>
              <a:t>Not as positive as it </a:t>
            </a:r>
            <a:r>
              <a:rPr lang="da-DK" dirty="0" err="1"/>
              <a:t>could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– low </a:t>
            </a:r>
            <a:r>
              <a:rPr lang="da-DK" dirty="0" err="1"/>
              <a:t>risk</a:t>
            </a:r>
            <a:r>
              <a:rPr lang="da-DK" dirty="0"/>
              <a:t> AI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a gateway </a:t>
            </a:r>
            <a:r>
              <a:rPr lang="da-DK" dirty="0" err="1"/>
              <a:t>into</a:t>
            </a:r>
            <a:r>
              <a:rPr lang="da-DK" dirty="0"/>
              <a:t> </a:t>
            </a:r>
            <a:r>
              <a:rPr lang="da-DK" dirty="0" err="1"/>
              <a:t>other</a:t>
            </a:r>
            <a:r>
              <a:rPr lang="da-DK" dirty="0"/>
              <a:t> systems.</a:t>
            </a:r>
            <a:endParaRPr lang="en-GB" dirty="0"/>
          </a:p>
          <a:p>
            <a:r>
              <a:rPr lang="en-GB" dirty="0"/>
              <a:t>Better than initial proposal at least.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46283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A5D52-5CCF-6AC5-2153-86E86B79A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E371E-E913-7FF4-1EDC-E7B69724B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chemeClr val="accent5"/>
                </a:solidFill>
              </a:rPr>
              <a:t>2.2 MDR</a:t>
            </a:r>
            <a:endParaRPr lang="en-GB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C08AE-CD37-3F2E-3FC7-55A0EEE79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Annex</a:t>
            </a:r>
            <a:r>
              <a:rPr lang="da-DK" dirty="0"/>
              <a:t> I</a:t>
            </a:r>
          </a:p>
          <a:p>
            <a:r>
              <a:rPr lang="da-DK" dirty="0" err="1"/>
              <a:t>Functionality</a:t>
            </a:r>
            <a:r>
              <a:rPr lang="da-DK" dirty="0"/>
              <a:t> </a:t>
            </a:r>
          </a:p>
          <a:p>
            <a:r>
              <a:rPr lang="da-DK" dirty="0" err="1"/>
              <a:t>Intended</a:t>
            </a:r>
            <a:r>
              <a:rPr lang="da-DK" dirty="0"/>
              <a:t> </a:t>
            </a:r>
            <a:r>
              <a:rPr lang="da-DK" dirty="0" err="1"/>
              <a:t>usage</a:t>
            </a:r>
            <a:r>
              <a:rPr lang="da-DK" dirty="0"/>
              <a:t> </a:t>
            </a:r>
            <a:r>
              <a:rPr lang="da-DK" dirty="0" err="1"/>
              <a:t>requires</a:t>
            </a:r>
            <a:r>
              <a:rPr lang="da-DK" dirty="0"/>
              <a:t> security?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The </a:t>
            </a:r>
            <a:r>
              <a:rPr lang="da-DK" dirty="0" err="1"/>
              <a:t>teleological</a:t>
            </a:r>
            <a:r>
              <a:rPr lang="da-DK" dirty="0"/>
              <a:t> purpose of the MDR is </a:t>
            </a:r>
            <a:r>
              <a:rPr lang="da-DK" dirty="0" err="1"/>
              <a:t>violated</a:t>
            </a:r>
            <a:r>
              <a:rPr lang="da-DK" dirty="0"/>
              <a:t> </a:t>
            </a:r>
            <a:r>
              <a:rPr lang="da-DK" dirty="0" err="1"/>
              <a:t>without</a:t>
            </a:r>
            <a:r>
              <a:rPr lang="da-DK" dirty="0"/>
              <a:t> </a:t>
            </a:r>
            <a:r>
              <a:rPr lang="da-DK" dirty="0" err="1"/>
              <a:t>adequate</a:t>
            </a:r>
            <a:r>
              <a:rPr lang="da-DK" dirty="0"/>
              <a:t> security.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276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4BD32-21C7-7277-E6FE-A58BF1804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58658-B137-FCFD-32D0-A95504318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chemeClr val="accent5"/>
                </a:solidFill>
              </a:rPr>
              <a:t>3.0 </a:t>
            </a:r>
            <a:r>
              <a:rPr lang="da-DK" dirty="0" err="1">
                <a:solidFill>
                  <a:schemeClr val="accent5"/>
                </a:solidFill>
              </a:rPr>
              <a:t>Cyber</a:t>
            </a:r>
            <a:r>
              <a:rPr lang="da-DK" dirty="0">
                <a:solidFill>
                  <a:schemeClr val="accent5"/>
                </a:solidFill>
              </a:rPr>
              <a:t> </a:t>
            </a:r>
            <a:r>
              <a:rPr lang="da-DK" dirty="0" err="1">
                <a:solidFill>
                  <a:schemeClr val="accent5"/>
                </a:solidFill>
              </a:rPr>
              <a:t>Resilience</a:t>
            </a:r>
            <a:r>
              <a:rPr lang="da-DK" dirty="0">
                <a:solidFill>
                  <a:schemeClr val="accent5"/>
                </a:solidFill>
              </a:rPr>
              <a:t> </a:t>
            </a:r>
            <a:r>
              <a:rPr lang="da-DK" dirty="0" err="1">
                <a:solidFill>
                  <a:schemeClr val="accent5"/>
                </a:solidFill>
              </a:rPr>
              <a:t>Act</a:t>
            </a:r>
            <a:endParaRPr lang="en-GB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ECFEC-24C4-1060-D191-AB002C832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Full </a:t>
            </a:r>
            <a:r>
              <a:rPr lang="da-DK" dirty="0" err="1"/>
              <a:t>text</a:t>
            </a:r>
            <a:r>
              <a:rPr lang="da-DK" dirty="0"/>
              <a:t> is out!</a:t>
            </a:r>
          </a:p>
          <a:p>
            <a:r>
              <a:rPr lang="da-DK" dirty="0" err="1"/>
              <a:t>Relevance</a:t>
            </a:r>
            <a:r>
              <a:rPr lang="da-DK" dirty="0"/>
              <a:t>: Non-</a:t>
            </a:r>
            <a:r>
              <a:rPr lang="da-DK" dirty="0" err="1"/>
              <a:t>medical</a:t>
            </a:r>
            <a:r>
              <a:rPr lang="da-DK" dirty="0"/>
              <a:t> </a:t>
            </a:r>
            <a:r>
              <a:rPr lang="da-DK" dirty="0" err="1"/>
              <a:t>devices</a:t>
            </a:r>
            <a:r>
              <a:rPr lang="da-DK" dirty="0"/>
              <a:t>, </a:t>
            </a:r>
            <a:r>
              <a:rPr lang="da-DK" dirty="0" err="1"/>
              <a:t>cumulatively</a:t>
            </a:r>
            <a:r>
              <a:rPr lang="da-DK" dirty="0"/>
              <a:t> on </a:t>
            </a:r>
            <a:r>
              <a:rPr lang="da-DK" dirty="0" err="1"/>
              <a:t>things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part of NIS2 </a:t>
            </a:r>
            <a:r>
              <a:rPr lang="da-DK" dirty="0" err="1"/>
              <a:t>coverage</a:t>
            </a:r>
            <a:r>
              <a:rPr lang="da-DK" dirty="0"/>
              <a:t>, </a:t>
            </a:r>
            <a:r>
              <a:rPr lang="da-DK" dirty="0" err="1"/>
              <a:t>everything</a:t>
            </a:r>
            <a:r>
              <a:rPr lang="da-DK" dirty="0"/>
              <a:t> </a:t>
            </a:r>
            <a:r>
              <a:rPr lang="da-DK" dirty="0" err="1"/>
              <a:t>almost</a:t>
            </a:r>
            <a:r>
              <a:rPr lang="da-DK" dirty="0"/>
              <a:t> (</a:t>
            </a:r>
            <a:r>
              <a:rPr lang="da-DK" dirty="0" err="1"/>
              <a:t>wide</a:t>
            </a:r>
            <a:r>
              <a:rPr lang="da-DK" dirty="0"/>
              <a:t> </a:t>
            </a:r>
            <a:r>
              <a:rPr lang="da-DK" dirty="0" err="1"/>
              <a:t>coverage</a:t>
            </a:r>
            <a:r>
              <a:rPr lang="da-DK" dirty="0"/>
              <a:t>)</a:t>
            </a:r>
          </a:p>
          <a:p>
            <a:r>
              <a:rPr lang="da-DK" dirty="0"/>
              <a:t>Product </a:t>
            </a:r>
            <a:r>
              <a:rPr lang="da-DK" dirty="0" err="1"/>
              <a:t>focus</a:t>
            </a:r>
            <a:r>
              <a:rPr lang="da-DK" dirty="0"/>
              <a:t> </a:t>
            </a:r>
          </a:p>
          <a:p>
            <a:r>
              <a:rPr lang="da-DK" dirty="0"/>
              <a:t>For </a:t>
            </a:r>
            <a:r>
              <a:rPr lang="da-DK" dirty="0" err="1"/>
              <a:t>us</a:t>
            </a:r>
            <a:r>
              <a:rPr lang="da-DK" dirty="0"/>
              <a:t> – gives basic </a:t>
            </a:r>
            <a:r>
              <a:rPr lang="da-DK" dirty="0" err="1"/>
              <a:t>cybersecurity</a:t>
            </a:r>
            <a:r>
              <a:rPr lang="da-DK" dirty="0"/>
              <a:t> </a:t>
            </a:r>
            <a:r>
              <a:rPr lang="da-DK" dirty="0" err="1"/>
              <a:t>requirements</a:t>
            </a:r>
            <a:r>
              <a:rPr lang="da-DK" dirty="0"/>
              <a:t> for AI </a:t>
            </a:r>
            <a:r>
              <a:rPr lang="da-DK" dirty="0" err="1"/>
              <a:t>which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not </a:t>
            </a:r>
            <a:r>
              <a:rPr lang="da-DK" dirty="0" err="1"/>
              <a:t>covered</a:t>
            </a:r>
            <a:r>
              <a:rPr lang="da-DK" dirty="0"/>
              <a:t> by the MDR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1499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0D021-486A-FBD6-AC83-28699BDD3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E2480-E091-A599-03AF-A0FFDE8D2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chemeClr val="accent5"/>
                </a:solidFill>
              </a:rPr>
              <a:t>Art 1 (CRA)</a:t>
            </a:r>
            <a:endParaRPr lang="en-GB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A2043-CF30-4340-2000-B064F3194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i="1" dirty="0"/>
              <a:t>This Regulation lays down:</a:t>
            </a:r>
          </a:p>
          <a:p>
            <a:r>
              <a:rPr lang="en-GB" i="1" dirty="0"/>
              <a:t>(a)  rules for the making available on the market of products with </a:t>
            </a:r>
            <a:r>
              <a:rPr lang="en-GB" b="1" i="1" dirty="0"/>
              <a:t>digital elements</a:t>
            </a:r>
            <a:r>
              <a:rPr lang="en-GB" i="1" dirty="0"/>
              <a:t> to </a:t>
            </a:r>
            <a:r>
              <a:rPr lang="en-GB" b="1" i="1" dirty="0"/>
              <a:t>ensure the cybersecurity </a:t>
            </a:r>
            <a:r>
              <a:rPr lang="en-GB" i="1" dirty="0"/>
              <a:t>of such products;</a:t>
            </a:r>
          </a:p>
          <a:p>
            <a:r>
              <a:rPr lang="en-GB" i="1" dirty="0"/>
              <a:t>(b)  </a:t>
            </a:r>
            <a:r>
              <a:rPr lang="en-GB" b="1" i="1" dirty="0"/>
              <a:t>essential requirements </a:t>
            </a:r>
            <a:r>
              <a:rPr lang="en-GB" i="1" dirty="0"/>
              <a:t>for the </a:t>
            </a:r>
            <a:r>
              <a:rPr lang="en-GB" b="1" i="1" dirty="0"/>
              <a:t>design, development and production </a:t>
            </a:r>
            <a:r>
              <a:rPr lang="en-GB" i="1" dirty="0"/>
              <a:t>of products with digital elements, </a:t>
            </a:r>
            <a:r>
              <a:rPr lang="en-GB" b="1" i="1" dirty="0"/>
              <a:t>and obligations for economic operators </a:t>
            </a:r>
            <a:r>
              <a:rPr lang="en-GB" i="1" dirty="0"/>
              <a:t>in relation to those products </a:t>
            </a:r>
            <a:r>
              <a:rPr lang="en-GB" b="1" i="1" dirty="0"/>
              <a:t>with respect to cybersecurity</a:t>
            </a:r>
            <a:r>
              <a:rPr lang="en-GB" i="1" dirty="0"/>
              <a:t>;</a:t>
            </a:r>
          </a:p>
          <a:p>
            <a:r>
              <a:rPr lang="en-GB" i="1" dirty="0"/>
              <a:t>(c)  essential requirements for the </a:t>
            </a:r>
            <a:r>
              <a:rPr lang="en-GB" b="1" i="1" dirty="0"/>
              <a:t>vulnerability handling processes </a:t>
            </a:r>
            <a:r>
              <a:rPr lang="en-GB" i="1" dirty="0"/>
              <a:t>put in place by manufacturers to </a:t>
            </a:r>
            <a:r>
              <a:rPr lang="en-GB" b="1" i="1" dirty="0"/>
              <a:t>ensure the cybersecurity </a:t>
            </a:r>
            <a:r>
              <a:rPr lang="en-GB" i="1" dirty="0"/>
              <a:t>of products with digital elements </a:t>
            </a:r>
            <a:r>
              <a:rPr lang="en-GB" b="1" i="1" dirty="0"/>
              <a:t>during the time the product is expected to be in use</a:t>
            </a:r>
            <a:r>
              <a:rPr lang="en-GB" i="1" dirty="0"/>
              <a:t>, and </a:t>
            </a:r>
            <a:r>
              <a:rPr lang="en-GB" b="1" i="1" dirty="0"/>
              <a:t>obligations for economic operators </a:t>
            </a:r>
            <a:r>
              <a:rPr lang="en-GB" i="1" dirty="0"/>
              <a:t>in relation to those processes;</a:t>
            </a:r>
          </a:p>
          <a:p>
            <a:r>
              <a:rPr lang="en-GB" i="1" dirty="0"/>
              <a:t>(d)  rules on </a:t>
            </a:r>
            <a:r>
              <a:rPr lang="en-GB" b="1" i="1" dirty="0"/>
              <a:t>market surveillance, including monitoring, and enforcement of the rules </a:t>
            </a:r>
            <a:r>
              <a:rPr lang="en-GB" i="1" dirty="0"/>
              <a:t>and </a:t>
            </a:r>
            <a:r>
              <a:rPr lang="en-GB" b="1" i="1" dirty="0"/>
              <a:t>requirements</a:t>
            </a:r>
            <a:r>
              <a:rPr lang="en-GB" i="1" dirty="0"/>
              <a:t> referred to in this Article.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2706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7C46F-C614-18BE-E5BB-E63A0830D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8BD8B-2312-E76A-967D-AC1034436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chemeClr val="accent5"/>
                </a:solidFill>
              </a:rPr>
              <a:t>3.1</a:t>
            </a:r>
            <a:endParaRPr lang="en-GB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BFE41-2450-164F-1565-07703108E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Article</a:t>
            </a:r>
            <a:r>
              <a:rPr lang="da-DK" dirty="0"/>
              <a:t> 13(2):</a:t>
            </a:r>
            <a:endParaRPr lang="en-GB" dirty="0"/>
          </a:p>
          <a:p>
            <a:r>
              <a:rPr lang="en-GB" i="1" dirty="0"/>
              <a:t>2.  For the purpose of complying with the obligation laid down in paragraph 1, manufacturers shall undertake </a:t>
            </a:r>
            <a:r>
              <a:rPr lang="en-GB" b="1" i="1" dirty="0"/>
              <a:t>an assessment of the cybersecurity risks</a:t>
            </a:r>
            <a:r>
              <a:rPr lang="en-GB" i="1" dirty="0"/>
              <a:t> associated with a product with </a:t>
            </a:r>
            <a:r>
              <a:rPr lang="en-GB" b="1" i="1" dirty="0"/>
              <a:t>digital elements</a:t>
            </a:r>
            <a:r>
              <a:rPr lang="en-GB" i="1" dirty="0"/>
              <a:t> and take </a:t>
            </a:r>
            <a:r>
              <a:rPr lang="en-GB" b="1" i="1" dirty="0"/>
              <a:t>the outcome of that assessment into account </a:t>
            </a:r>
            <a:r>
              <a:rPr lang="en-GB" i="1" dirty="0"/>
              <a:t>during the </a:t>
            </a:r>
            <a:r>
              <a:rPr lang="en-GB" b="1" i="1" dirty="0"/>
              <a:t>planning, design, development, production, delivery and maintenance phases </a:t>
            </a:r>
            <a:r>
              <a:rPr lang="en-GB" i="1" dirty="0"/>
              <a:t>of the product with digital elements with </a:t>
            </a:r>
            <a:r>
              <a:rPr lang="en-GB" b="1" i="1" dirty="0"/>
              <a:t>a view to minimising cybersecurity risks</a:t>
            </a:r>
            <a:r>
              <a:rPr lang="en-GB" i="1" dirty="0"/>
              <a:t>, </a:t>
            </a:r>
            <a:r>
              <a:rPr lang="en-GB" b="1" i="1" dirty="0"/>
              <a:t>preventing incidents </a:t>
            </a:r>
            <a:r>
              <a:rPr lang="en-GB" i="1" dirty="0"/>
              <a:t>and </a:t>
            </a:r>
            <a:r>
              <a:rPr lang="en-GB" b="1" i="1" dirty="0"/>
              <a:t>minimising the impacts of such incidents</a:t>
            </a:r>
            <a:r>
              <a:rPr lang="en-GB" i="1" dirty="0"/>
              <a:t>, including in relation to the </a:t>
            </a:r>
            <a:r>
              <a:rPr lang="en-GB" b="1" i="1" dirty="0"/>
              <a:t>health and safety of users.</a:t>
            </a:r>
          </a:p>
        </p:txBody>
      </p:sp>
    </p:spTree>
    <p:extLst>
      <p:ext uri="{BB962C8B-B14F-4D97-AF65-F5344CB8AC3E}">
        <p14:creationId xmlns:p14="http://schemas.microsoft.com/office/powerpoint/2010/main" val="3444616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6C70E-7736-B57E-B3A6-36EA8D48D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2E736-3926-489F-0705-4218BB61C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4C568-FDDA-5A13-FB41-79D209EC5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Similar structure to what we have seen before</a:t>
            </a:r>
          </a:p>
          <a:p>
            <a:r>
              <a:rPr lang="en-GB" dirty="0"/>
              <a:t>Notified bodies, authorities etc.</a:t>
            </a:r>
          </a:p>
          <a:p>
            <a:r>
              <a:rPr lang="en-GB" dirty="0"/>
              <a:t>Strong focus on testing and providing results</a:t>
            </a:r>
          </a:p>
          <a:p>
            <a:r>
              <a:rPr lang="en-GB" dirty="0"/>
              <a:t>Depends on manufacturers/economic operators</a:t>
            </a:r>
          </a:p>
          <a:p>
            <a:r>
              <a:rPr lang="en-GB" dirty="0"/>
              <a:t>Generally quite strong</a:t>
            </a:r>
          </a:p>
          <a:p>
            <a:pPr marL="0" indent="0">
              <a:buNone/>
            </a:pPr>
            <a:r>
              <a:rPr lang="en-GB" dirty="0"/>
              <a:t>Weak for a regulation however..</a:t>
            </a:r>
          </a:p>
        </p:txBody>
      </p:sp>
    </p:spTree>
    <p:extLst>
      <p:ext uri="{BB962C8B-B14F-4D97-AF65-F5344CB8AC3E}">
        <p14:creationId xmlns:p14="http://schemas.microsoft.com/office/powerpoint/2010/main" val="1471884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3D9E-655C-40E1-01A4-AB80DFE64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1F057-BFD5-3798-EC67-A9C5DDD9F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4.0 NIS2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D90A1-6012-16F1-E2F3-C003B8352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Followup</a:t>
            </a:r>
            <a:r>
              <a:rPr lang="en-GB" dirty="0"/>
              <a:t> from NIS1</a:t>
            </a:r>
          </a:p>
          <a:p>
            <a:r>
              <a:rPr lang="en-GB" dirty="0"/>
              <a:t>Critical infrastructure cybersecurity</a:t>
            </a:r>
          </a:p>
          <a:p>
            <a:r>
              <a:rPr lang="en-GB" dirty="0"/>
              <a:t>Applies to AI used in hospitals – the latter is critical infrastructure always</a:t>
            </a:r>
          </a:p>
          <a:p>
            <a:r>
              <a:rPr lang="en-GB" dirty="0"/>
              <a:t>Applies even if used in treatment outside of hospitals </a:t>
            </a:r>
          </a:p>
          <a:p>
            <a:r>
              <a:rPr lang="en-GB" dirty="0"/>
              <a:t>Additional certification, but easier if already fulfilling other legislation </a:t>
            </a:r>
          </a:p>
        </p:txBody>
      </p:sp>
    </p:spTree>
    <p:extLst>
      <p:ext uri="{BB962C8B-B14F-4D97-AF65-F5344CB8AC3E}">
        <p14:creationId xmlns:p14="http://schemas.microsoft.com/office/powerpoint/2010/main" val="1212627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1511C-DBD3-E6C4-116F-A98A09E57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EB187-534C-8375-86E3-6AE1E7257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4.1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83E40-B7AC-F470-405D-3C05C530E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Article 1 is worth it, but more important here are the measures needed. </a:t>
            </a:r>
          </a:p>
          <a:p>
            <a:r>
              <a:rPr lang="en-GB" dirty="0"/>
              <a:t>NIS2 is for states to implement, exceptions to private and public entities by themselves</a:t>
            </a:r>
          </a:p>
          <a:p>
            <a:r>
              <a:rPr lang="en-GB" dirty="0"/>
              <a:t>Chapter IV</a:t>
            </a:r>
          </a:p>
          <a:p>
            <a:r>
              <a:rPr lang="en-GB" dirty="0"/>
              <a:t>Article 21 (cybersecurity risk management measures)</a:t>
            </a:r>
          </a:p>
          <a:p>
            <a:pPr marL="0" indent="0">
              <a:buNone/>
            </a:pPr>
            <a:r>
              <a:rPr lang="en-GB" dirty="0"/>
              <a:t>Very strong – actual actions depends on jurisdiction</a:t>
            </a:r>
          </a:p>
          <a:p>
            <a:pPr marL="0" indent="0">
              <a:buNone/>
            </a:pPr>
            <a:r>
              <a:rPr lang="en-GB" dirty="0"/>
              <a:t>Prevention of hazards – security within etc.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8797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44A4C-B4A3-1D8B-2219-A45EF3F4A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E9FC5-00C2-3AC6-8DA0-411F0722A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4.2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9A65C-0107-3254-A49B-DAC716F0C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Supervisory Structure – Chapter VII</a:t>
            </a:r>
          </a:p>
          <a:p>
            <a:r>
              <a:rPr lang="en-GB" dirty="0"/>
              <a:t>Potentially very strong scheme</a:t>
            </a:r>
          </a:p>
          <a:p>
            <a:r>
              <a:rPr lang="en-GB" dirty="0"/>
              <a:t>A development from NIS1</a:t>
            </a:r>
          </a:p>
          <a:p>
            <a:r>
              <a:rPr lang="en-GB" dirty="0"/>
              <a:t>Yet to be tested</a:t>
            </a:r>
          </a:p>
          <a:p>
            <a:r>
              <a:rPr lang="en-GB" dirty="0"/>
              <a:t>Like NIS1, extremely complex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1713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DF022-2DF9-9079-623E-134006C38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2F7C-0580-1605-CF19-7A55BFBF3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4.3 Art 33(2)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B6EA5-7276-34E9-8541-53A8A5004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549" y="1329070"/>
            <a:ext cx="11695814" cy="5454501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sz="1800" i="1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2.   Member States shall ensure that the competent authorities, when exercising their supervisory tasks in relation to important entities, </a:t>
            </a:r>
            <a:r>
              <a:rPr lang="en-GB" sz="1800" b="1" i="1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have the power to subject those entities at least to</a:t>
            </a:r>
            <a:r>
              <a:rPr lang="en-GB" sz="1800" i="1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sz="1800" i="1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(a) on-site inspections and off-site ex post supervision conducted by trained professionals;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sz="1800" i="1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(b) targeted security audits carried out by an independent body or a competent authority;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sz="1800" i="1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(c) security scans based on objective, non-discriminatory, fair and transparent risk assessment criteria, where necessary with the cooperation of the entity concerned;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sz="1800" i="1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(d) requests for information necessary to assess, ex post, the cybersecurity risk-management measures adopted by the entity concerned, including documented cybersecurity policies, as well as compliance with the obligation to submit information to the competent authorities pursuant to Article 27; 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sz="1800" i="1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(e) requests to access data, documents and information necessary to carry out their supervisory tasks;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sz="1800" i="1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(f) requests for evidence of implementation of cybersecurity policies, such as the results of security audits carried out by a qualified auditor and the respective underlying evidence.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0275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0531F-5653-19A0-3AD1-9220C9406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7BA2F-F803-3DC8-EA60-F685BE478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4.4 Article 39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8956F-FFCD-38D2-B1E7-E8E6CFEBE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i="1" dirty="0"/>
              <a:t>Member States </a:t>
            </a:r>
            <a:r>
              <a:rPr lang="en-GB" b="1" i="1" dirty="0"/>
              <a:t>shall lay down rules on penalties</a:t>
            </a:r>
            <a:r>
              <a:rPr lang="en-GB" i="1" dirty="0"/>
              <a:t> applicable to infringements of national measures adopted pursuant to this Directive and shall take </a:t>
            </a:r>
            <a:r>
              <a:rPr lang="en-GB" b="1" i="1" dirty="0"/>
              <a:t>all measures necessary </a:t>
            </a:r>
            <a:r>
              <a:rPr lang="en-GB" i="1" dirty="0"/>
              <a:t>to ensure that they are implemented. The penalties provided for shall be </a:t>
            </a:r>
            <a:r>
              <a:rPr lang="en-GB" b="1" i="1" dirty="0"/>
              <a:t>effective, proportionate and dissuasive</a:t>
            </a:r>
            <a:r>
              <a:rPr lang="en-GB" i="1" dirty="0"/>
              <a:t>. Member States shall, by 17 January 2025, notify the Commission of those rules and of those measures and shall notify it, without delay of any subsequent amendment affecting them.</a:t>
            </a:r>
          </a:p>
        </p:txBody>
      </p:sp>
    </p:spTree>
    <p:extLst>
      <p:ext uri="{BB962C8B-B14F-4D97-AF65-F5344CB8AC3E}">
        <p14:creationId xmlns:p14="http://schemas.microsoft.com/office/powerpoint/2010/main" val="2358697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F181C-7212-D559-9044-75ACA631A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5AA4B-8DE5-D7AF-586C-357A694EC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Final Part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46B4E-84FE-DB78-A62B-FD195C451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Cybersecurity regulation is finally going somewhere</a:t>
            </a:r>
          </a:p>
          <a:p>
            <a:r>
              <a:rPr lang="en-GB" dirty="0"/>
              <a:t>Direct and rational fulfilment of standards and the basic notion of preventing adversaries from tampering with AI is great</a:t>
            </a:r>
          </a:p>
          <a:p>
            <a:r>
              <a:rPr lang="en-GB" dirty="0"/>
              <a:t>Extremely important due to the risks when such </a:t>
            </a:r>
            <a:r>
              <a:rPr lang="en-GB"/>
              <a:t>AI systems fail at large.</a:t>
            </a:r>
            <a:endParaRPr lang="en-GB" dirty="0"/>
          </a:p>
          <a:p>
            <a:r>
              <a:rPr lang="en-GB" dirty="0"/>
              <a:t>Other:</a:t>
            </a:r>
          </a:p>
          <a:p>
            <a:pPr marL="0" indent="0">
              <a:buNone/>
            </a:pPr>
            <a:r>
              <a:rPr lang="en-GB" dirty="0"/>
              <a:t>The timeslot on Friday means you can sleep in more</a:t>
            </a:r>
          </a:p>
          <a:p>
            <a:pPr marL="0" indent="0">
              <a:buNone/>
            </a:pPr>
            <a:r>
              <a:rPr lang="en-GB" dirty="0"/>
              <a:t>I am in my office, PCL119 and available there – but not after due to teaching/seminars</a:t>
            </a:r>
          </a:p>
        </p:txBody>
      </p:sp>
    </p:spTree>
    <p:extLst>
      <p:ext uri="{BB962C8B-B14F-4D97-AF65-F5344CB8AC3E}">
        <p14:creationId xmlns:p14="http://schemas.microsoft.com/office/powerpoint/2010/main" val="425877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1470</Words>
  <Application>Microsoft Office PowerPoint</Application>
  <PresentationFormat>Widescreen</PresentationFormat>
  <Paragraphs>121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LECTURE FOUR – CYBERSECURITY</vt:lpstr>
      <vt:lpstr>0.0</vt:lpstr>
      <vt:lpstr>1.0 Security Concepts</vt:lpstr>
      <vt:lpstr>PowerPoint Presentation</vt:lpstr>
      <vt:lpstr>1.1</vt:lpstr>
      <vt:lpstr>1.2</vt:lpstr>
      <vt:lpstr>2.0 Cybersecurity in the AIA and the MDR</vt:lpstr>
      <vt:lpstr>PowerPoint Presentation</vt:lpstr>
      <vt:lpstr>PowerPoint Presentation</vt:lpstr>
      <vt:lpstr>2.1 </vt:lpstr>
      <vt:lpstr>2.2 MDR</vt:lpstr>
      <vt:lpstr>3.0 Cyber Resilience Act</vt:lpstr>
      <vt:lpstr>Art 1 (CRA)</vt:lpstr>
      <vt:lpstr>3.1</vt:lpstr>
      <vt:lpstr>3.2</vt:lpstr>
      <vt:lpstr>4.0 NIS2</vt:lpstr>
      <vt:lpstr>4.1 </vt:lpstr>
      <vt:lpstr>4.2</vt:lpstr>
      <vt:lpstr>4.3 Art 33(2)</vt:lpstr>
      <vt:lpstr>4.4 Article 39</vt:lpstr>
      <vt:lpstr>Final Part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Kaspar Ludvigsen</dc:creator>
  <cp:lastModifiedBy>Kaspar Ludvigsen</cp:lastModifiedBy>
  <cp:revision>2</cp:revision>
  <dcterms:created xsi:type="dcterms:W3CDTF">2024-12-01T10:32:07Z</dcterms:created>
  <dcterms:modified xsi:type="dcterms:W3CDTF">2024-12-01T13:08:58Z</dcterms:modified>
</cp:coreProperties>
</file>