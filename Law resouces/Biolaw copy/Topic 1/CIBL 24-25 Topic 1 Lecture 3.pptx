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0"/>
  </p:notesMasterIdLst>
  <p:sldIdLst>
    <p:sldId id="403" r:id="rId2"/>
    <p:sldId id="429" r:id="rId3"/>
    <p:sldId id="431" r:id="rId4"/>
    <p:sldId id="433" r:id="rId5"/>
    <p:sldId id="434" r:id="rId6"/>
    <p:sldId id="435" r:id="rId7"/>
    <p:sldId id="427" r:id="rId8"/>
    <p:sldId id="430" r:id="rId9"/>
    <p:sldId id="440" r:id="rId10"/>
    <p:sldId id="441" r:id="rId11"/>
    <p:sldId id="428" r:id="rId12"/>
    <p:sldId id="442" r:id="rId13"/>
    <p:sldId id="444" r:id="rId14"/>
    <p:sldId id="437" r:id="rId15"/>
    <p:sldId id="445" r:id="rId16"/>
    <p:sldId id="446" r:id="rId17"/>
    <p:sldId id="447" r:id="rId18"/>
    <p:sldId id="425"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3366"/>
    <a:srgbClr val="DC9E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99"/>
    <p:restoredTop sz="96327"/>
  </p:normalViewPr>
  <p:slideViewPr>
    <p:cSldViewPr snapToGrid="0" snapToObjects="1">
      <p:cViewPr varScale="1">
        <p:scale>
          <a:sx n="128" d="100"/>
          <a:sy n="128" d="100"/>
        </p:scale>
        <p:origin x="18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D87592-7BCA-5F47-A220-9248EA949367}" type="datetimeFigureOut">
              <a:rPr lang="en-US" smtClean="0"/>
              <a:t>10/17/24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838BB4-FC3F-C244-A671-ED4A628DDD39}" type="slidenum">
              <a:rPr lang="en-US" smtClean="0"/>
              <a:t>‹#›</a:t>
            </a:fld>
            <a:endParaRPr lang="en-US"/>
          </a:p>
        </p:txBody>
      </p:sp>
    </p:spTree>
    <p:extLst>
      <p:ext uri="{BB962C8B-B14F-4D97-AF65-F5344CB8AC3E}">
        <p14:creationId xmlns:p14="http://schemas.microsoft.com/office/powerpoint/2010/main" val="4231268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a:defRPr/>
            </a:pPr>
            <a:fld id="{23AA3C72-0142-4919-AC5F-A1F13C156A7C}" type="slidenum">
              <a:rPr lang="en-GB" altLang="en-US" smtClean="0"/>
              <a:pPr>
                <a:defRPr/>
              </a:pPr>
              <a:t>1</a:t>
            </a:fld>
            <a:endParaRPr lang="en-GB" altLang="en-US"/>
          </a:p>
        </p:txBody>
      </p:sp>
    </p:spTree>
    <p:extLst>
      <p:ext uri="{BB962C8B-B14F-4D97-AF65-F5344CB8AC3E}">
        <p14:creationId xmlns:p14="http://schemas.microsoft.com/office/powerpoint/2010/main" val="183666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2</a:t>
            </a:fld>
            <a:endParaRPr lang="en-US"/>
          </a:p>
        </p:txBody>
      </p:sp>
    </p:spTree>
    <p:extLst>
      <p:ext uri="{BB962C8B-B14F-4D97-AF65-F5344CB8AC3E}">
        <p14:creationId xmlns:p14="http://schemas.microsoft.com/office/powerpoint/2010/main" val="80283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3</a:t>
            </a:fld>
            <a:endParaRPr lang="en-US"/>
          </a:p>
        </p:txBody>
      </p:sp>
    </p:spTree>
    <p:extLst>
      <p:ext uri="{BB962C8B-B14F-4D97-AF65-F5344CB8AC3E}">
        <p14:creationId xmlns:p14="http://schemas.microsoft.com/office/powerpoint/2010/main" val="1681334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4</a:t>
            </a:fld>
            <a:endParaRPr lang="en-US"/>
          </a:p>
        </p:txBody>
      </p:sp>
    </p:spTree>
    <p:extLst>
      <p:ext uri="{BB962C8B-B14F-4D97-AF65-F5344CB8AC3E}">
        <p14:creationId xmlns:p14="http://schemas.microsoft.com/office/powerpoint/2010/main" val="3454652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5</a:t>
            </a:fld>
            <a:endParaRPr lang="en-US"/>
          </a:p>
        </p:txBody>
      </p:sp>
    </p:spTree>
    <p:extLst>
      <p:ext uri="{BB962C8B-B14F-4D97-AF65-F5344CB8AC3E}">
        <p14:creationId xmlns:p14="http://schemas.microsoft.com/office/powerpoint/2010/main" val="1892575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6</a:t>
            </a:fld>
            <a:endParaRPr lang="en-US"/>
          </a:p>
        </p:txBody>
      </p:sp>
    </p:spTree>
    <p:extLst>
      <p:ext uri="{BB962C8B-B14F-4D97-AF65-F5344CB8AC3E}">
        <p14:creationId xmlns:p14="http://schemas.microsoft.com/office/powerpoint/2010/main" val="1699530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7</a:t>
            </a:fld>
            <a:endParaRPr lang="en-US"/>
          </a:p>
        </p:txBody>
      </p:sp>
    </p:spTree>
    <p:extLst>
      <p:ext uri="{BB962C8B-B14F-4D97-AF65-F5344CB8AC3E}">
        <p14:creationId xmlns:p14="http://schemas.microsoft.com/office/powerpoint/2010/main" val="1963870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8</a:t>
            </a:fld>
            <a:endParaRPr lang="en-US"/>
          </a:p>
        </p:txBody>
      </p:sp>
    </p:spTree>
    <p:extLst>
      <p:ext uri="{BB962C8B-B14F-4D97-AF65-F5344CB8AC3E}">
        <p14:creationId xmlns:p14="http://schemas.microsoft.com/office/powerpoint/2010/main" val="6873828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9</a:t>
            </a:fld>
            <a:endParaRPr lang="en-US"/>
          </a:p>
        </p:txBody>
      </p:sp>
    </p:spTree>
    <p:extLst>
      <p:ext uri="{BB962C8B-B14F-4D97-AF65-F5344CB8AC3E}">
        <p14:creationId xmlns:p14="http://schemas.microsoft.com/office/powerpoint/2010/main" val="12476712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10</a:t>
            </a:fld>
            <a:endParaRPr lang="en-US"/>
          </a:p>
        </p:txBody>
      </p:sp>
    </p:spTree>
    <p:extLst>
      <p:ext uri="{BB962C8B-B14F-4D97-AF65-F5344CB8AC3E}">
        <p14:creationId xmlns:p14="http://schemas.microsoft.com/office/powerpoint/2010/main" val="2185925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11</a:t>
            </a:fld>
            <a:endParaRPr lang="en-US"/>
          </a:p>
        </p:txBody>
      </p:sp>
    </p:spTree>
    <p:extLst>
      <p:ext uri="{BB962C8B-B14F-4D97-AF65-F5344CB8AC3E}">
        <p14:creationId xmlns:p14="http://schemas.microsoft.com/office/powerpoint/2010/main" val="344073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12</a:t>
            </a:fld>
            <a:endParaRPr lang="en-US"/>
          </a:p>
        </p:txBody>
      </p:sp>
    </p:spTree>
    <p:extLst>
      <p:ext uri="{BB962C8B-B14F-4D97-AF65-F5344CB8AC3E}">
        <p14:creationId xmlns:p14="http://schemas.microsoft.com/office/powerpoint/2010/main" val="307065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13</a:t>
            </a:fld>
            <a:endParaRPr lang="en-US"/>
          </a:p>
        </p:txBody>
      </p:sp>
    </p:spTree>
    <p:extLst>
      <p:ext uri="{BB962C8B-B14F-4D97-AF65-F5344CB8AC3E}">
        <p14:creationId xmlns:p14="http://schemas.microsoft.com/office/powerpoint/2010/main" val="4214521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14</a:t>
            </a:fld>
            <a:endParaRPr lang="en-US"/>
          </a:p>
        </p:txBody>
      </p:sp>
    </p:spTree>
    <p:extLst>
      <p:ext uri="{BB962C8B-B14F-4D97-AF65-F5344CB8AC3E}">
        <p14:creationId xmlns:p14="http://schemas.microsoft.com/office/powerpoint/2010/main" val="14621194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15</a:t>
            </a:fld>
            <a:endParaRPr lang="en-US"/>
          </a:p>
        </p:txBody>
      </p:sp>
    </p:spTree>
    <p:extLst>
      <p:ext uri="{BB962C8B-B14F-4D97-AF65-F5344CB8AC3E}">
        <p14:creationId xmlns:p14="http://schemas.microsoft.com/office/powerpoint/2010/main" val="24776781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16</a:t>
            </a:fld>
            <a:endParaRPr lang="en-US"/>
          </a:p>
        </p:txBody>
      </p:sp>
    </p:spTree>
    <p:extLst>
      <p:ext uri="{BB962C8B-B14F-4D97-AF65-F5344CB8AC3E}">
        <p14:creationId xmlns:p14="http://schemas.microsoft.com/office/powerpoint/2010/main" val="4057099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4838BB4-FC3F-C244-A671-ED4A628DDD39}" type="slidenum">
              <a:rPr lang="en-US" smtClean="0"/>
              <a:t>17</a:t>
            </a:fld>
            <a:endParaRPr lang="en-US"/>
          </a:p>
        </p:txBody>
      </p:sp>
    </p:spTree>
    <p:extLst>
      <p:ext uri="{BB962C8B-B14F-4D97-AF65-F5344CB8AC3E}">
        <p14:creationId xmlns:p14="http://schemas.microsoft.com/office/powerpoint/2010/main" val="36888143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pPr>
              <a:defRPr/>
            </a:pPr>
            <a:fld id="{23AA3C72-0142-4919-AC5F-A1F13C156A7C}" type="slidenum">
              <a:rPr lang="en-GB" altLang="en-US" smtClean="0"/>
              <a:pPr>
                <a:defRPr/>
              </a:pPr>
              <a:t>18</a:t>
            </a:fld>
            <a:endParaRPr lang="en-GB" altLang="en-US"/>
          </a:p>
        </p:txBody>
      </p:sp>
    </p:spTree>
    <p:extLst>
      <p:ext uri="{BB962C8B-B14F-4D97-AF65-F5344CB8AC3E}">
        <p14:creationId xmlns:p14="http://schemas.microsoft.com/office/powerpoint/2010/main" val="17516040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2"/>
            <a:ext cx="9144000" cy="5516563"/>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sz="1800">
              <a:solidFill>
                <a:srgbClr val="663366"/>
              </a:solidFill>
              <a:ea typeface="+mn-ea"/>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2"/>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9"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smtClean="0"/>
            </a:lvl1pPr>
          </a:lstStyle>
          <a:p>
            <a:pPr>
              <a:defRPr/>
            </a:pPr>
            <a:fld id="{B05F4EE8-4612-499A-BC73-103125B2ED71}" type="slidenum">
              <a:rPr lang="en-GB" altLang="en-US"/>
              <a:pPr>
                <a:defRPr/>
              </a:pPr>
              <a:t>‹#›</a:t>
            </a:fld>
            <a:endParaRPr lang="en-GB" altLang="en-US"/>
          </a:p>
        </p:txBody>
      </p:sp>
    </p:spTree>
    <p:extLst>
      <p:ext uri="{BB962C8B-B14F-4D97-AF65-F5344CB8AC3E}">
        <p14:creationId xmlns:p14="http://schemas.microsoft.com/office/powerpoint/2010/main" val="2180198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25357C20-2BA9-4F11-AA78-4A313C4AE23C}" type="slidenum">
              <a:rPr lang="en-GB" altLang="en-US"/>
              <a:pPr>
                <a:defRPr/>
              </a:pPr>
              <a:t>‹#›</a:t>
            </a:fld>
            <a:endParaRPr lang="en-GB" altLang="en-US"/>
          </a:p>
        </p:txBody>
      </p:sp>
    </p:spTree>
    <p:extLst>
      <p:ext uri="{BB962C8B-B14F-4D97-AF65-F5344CB8AC3E}">
        <p14:creationId xmlns:p14="http://schemas.microsoft.com/office/powerpoint/2010/main" val="3632507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GB"/>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GB"/>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0EA6F27-4F63-4B3C-8176-CB0B8A760ADA}" type="slidenum">
              <a:rPr lang="en-GB" altLang="en-US"/>
              <a:pPr>
                <a:defRPr/>
              </a:pPr>
              <a:t>‹#›</a:t>
            </a:fld>
            <a:endParaRPr lang="en-GB" altLang="en-US"/>
          </a:p>
        </p:txBody>
      </p:sp>
    </p:spTree>
    <p:extLst>
      <p:ext uri="{BB962C8B-B14F-4D97-AF65-F5344CB8AC3E}">
        <p14:creationId xmlns:p14="http://schemas.microsoft.com/office/powerpoint/2010/main" val="296665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684213" y="1989138"/>
            <a:ext cx="3810000" cy="38163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4646613" y="1989138"/>
            <a:ext cx="3810000" cy="38163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D6CB2284-4B96-4AEE-BB2B-AD220FD78D93}" type="slidenum">
              <a:rPr lang="en-GB" altLang="en-US"/>
              <a:pPr>
                <a:defRPr/>
              </a:pPr>
              <a:t>‹#›</a:t>
            </a:fld>
            <a:endParaRPr lang="en-GB" altLang="en-US"/>
          </a:p>
        </p:txBody>
      </p:sp>
    </p:spTree>
    <p:extLst>
      <p:ext uri="{BB962C8B-B14F-4D97-AF65-F5344CB8AC3E}">
        <p14:creationId xmlns:p14="http://schemas.microsoft.com/office/powerpoint/2010/main" val="1570950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76D2632D-58C7-458F-8DCF-DF8EC53102AF}" type="slidenum">
              <a:rPr lang="en-GB" altLang="en-US"/>
              <a:pPr>
                <a:defRPr/>
              </a:pPr>
              <a:t>‹#›</a:t>
            </a:fld>
            <a:endParaRPr lang="en-GB" altLang="en-US"/>
          </a:p>
        </p:txBody>
      </p:sp>
    </p:spTree>
    <p:extLst>
      <p:ext uri="{BB962C8B-B14F-4D97-AF65-F5344CB8AC3E}">
        <p14:creationId xmlns:p14="http://schemas.microsoft.com/office/powerpoint/2010/main" val="2285471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08A3060E-D658-4641-B5BC-4288BF99F61D}" type="slidenum">
              <a:rPr lang="en-GB" altLang="en-US"/>
              <a:pPr>
                <a:defRPr/>
              </a:pPr>
              <a:t>‹#›</a:t>
            </a:fld>
            <a:endParaRPr lang="en-GB" altLang="en-US"/>
          </a:p>
        </p:txBody>
      </p:sp>
    </p:spTree>
    <p:extLst>
      <p:ext uri="{BB962C8B-B14F-4D97-AF65-F5344CB8AC3E}">
        <p14:creationId xmlns:p14="http://schemas.microsoft.com/office/powerpoint/2010/main" val="131473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42D4FFF6-B26E-44E1-8035-9AA72793EBB7}" type="slidenum">
              <a:rPr lang="en-GB" altLang="en-US"/>
              <a:pPr>
                <a:defRPr/>
              </a:pPr>
              <a:t>‹#›</a:t>
            </a:fld>
            <a:endParaRPr lang="en-GB" altLang="en-US"/>
          </a:p>
        </p:txBody>
      </p:sp>
    </p:spTree>
    <p:extLst>
      <p:ext uri="{BB962C8B-B14F-4D97-AF65-F5344CB8AC3E}">
        <p14:creationId xmlns:p14="http://schemas.microsoft.com/office/powerpoint/2010/main" val="3263325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GB"/>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86764D1-0408-4731-B445-141C48803F53}" type="slidenum">
              <a:rPr lang="en-GB" altLang="en-US"/>
              <a:pPr>
                <a:defRPr/>
              </a:pPr>
              <a:t>‹#›</a:t>
            </a:fld>
            <a:endParaRPr lang="en-GB" altLang="en-US"/>
          </a:p>
        </p:txBody>
      </p:sp>
    </p:spTree>
    <p:extLst>
      <p:ext uri="{BB962C8B-B14F-4D97-AF65-F5344CB8AC3E}">
        <p14:creationId xmlns:p14="http://schemas.microsoft.com/office/powerpoint/2010/main" val="3719756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GB"/>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GB"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47E957CA-A0A2-43E1-910E-44DE4AF152B8}" type="slidenum">
              <a:rPr lang="en-GB" altLang="en-US"/>
              <a:pPr>
                <a:defRPr/>
              </a:pPr>
              <a:t>‹#›</a:t>
            </a:fld>
            <a:endParaRPr lang="en-GB" altLang="en-US"/>
          </a:p>
        </p:txBody>
      </p:sp>
    </p:spTree>
    <p:extLst>
      <p:ext uri="{BB962C8B-B14F-4D97-AF65-F5344CB8AC3E}">
        <p14:creationId xmlns:p14="http://schemas.microsoft.com/office/powerpoint/2010/main" val="1338853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FBCD9D9-EC86-4835-ACEE-0186AF9E2FBA}" type="slidenum">
              <a:rPr lang="en-GB" altLang="en-US"/>
              <a:pPr>
                <a:defRPr/>
              </a:pPr>
              <a:t>‹#›</a:t>
            </a:fld>
            <a:endParaRPr lang="en-GB" altLang="en-US"/>
          </a:p>
        </p:txBody>
      </p:sp>
    </p:spTree>
    <p:extLst>
      <p:ext uri="{BB962C8B-B14F-4D97-AF65-F5344CB8AC3E}">
        <p14:creationId xmlns:p14="http://schemas.microsoft.com/office/powerpoint/2010/main" val="1422294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684214" y="609600"/>
            <a:ext cx="5678487" cy="519588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130B6A3D-1F96-44F3-8E17-5FB77289CF60}" type="slidenum">
              <a:rPr lang="en-GB" altLang="en-US"/>
              <a:pPr>
                <a:defRPr/>
              </a:pPr>
              <a:t>‹#›</a:t>
            </a:fld>
            <a:endParaRPr lang="en-GB" altLang="en-US"/>
          </a:p>
        </p:txBody>
      </p:sp>
    </p:spTree>
    <p:extLst>
      <p:ext uri="{BB962C8B-B14F-4D97-AF65-F5344CB8AC3E}">
        <p14:creationId xmlns:p14="http://schemas.microsoft.com/office/powerpoint/2010/main" val="401615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1" y="2"/>
            <a:ext cx="9140825" cy="6873875"/>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charset="0"/>
                <a:ea typeface="ＭＳ Ｐゴシック" charset="-128"/>
              </a:defRPr>
            </a:lvl1pPr>
            <a:lvl2pPr marL="742950" indent="-285750">
              <a:defRPr sz="2400">
                <a:solidFill>
                  <a:schemeClr val="tx1"/>
                </a:solidFill>
                <a:latin typeface="Times" charset="0"/>
                <a:ea typeface="ＭＳ Ｐゴシック" charset="-128"/>
              </a:defRPr>
            </a:lvl2pPr>
            <a:lvl3pPr marL="1143000" indent="-228600">
              <a:defRPr sz="2400">
                <a:solidFill>
                  <a:schemeClr val="tx1"/>
                </a:solidFill>
                <a:latin typeface="Times" charset="0"/>
                <a:ea typeface="ＭＳ Ｐゴシック" charset="-128"/>
              </a:defRPr>
            </a:lvl3pPr>
            <a:lvl4pPr marL="1600200" indent="-228600">
              <a:defRPr sz="2400">
                <a:solidFill>
                  <a:schemeClr val="tx1"/>
                </a:solidFill>
                <a:latin typeface="Times" charset="0"/>
                <a:ea typeface="ＭＳ Ｐゴシック" charset="-128"/>
              </a:defRPr>
            </a:lvl4pPr>
            <a:lvl5pPr marL="2057400" indent="-228600">
              <a:defRPr sz="2400">
                <a:solidFill>
                  <a:schemeClr val="tx1"/>
                </a:solidFill>
                <a:latin typeface="Times" charset="0"/>
                <a:ea typeface="ＭＳ Ｐゴシック" charset="-128"/>
              </a:defRPr>
            </a:lvl5pPr>
            <a:lvl6pPr marL="2514600" indent="-228600" eaLnBrk="0" fontAlgn="base" hangingPunct="0">
              <a:spcBef>
                <a:spcPct val="0"/>
              </a:spcBef>
              <a:spcAft>
                <a:spcPct val="0"/>
              </a:spcAft>
              <a:defRPr sz="2400">
                <a:solidFill>
                  <a:schemeClr val="tx1"/>
                </a:solidFill>
                <a:latin typeface="Times" charset="0"/>
                <a:ea typeface="ＭＳ Ｐゴシック" charset="-128"/>
              </a:defRPr>
            </a:lvl6pPr>
            <a:lvl7pPr marL="2971800" indent="-228600" eaLnBrk="0" fontAlgn="base" hangingPunct="0">
              <a:spcBef>
                <a:spcPct val="0"/>
              </a:spcBef>
              <a:spcAft>
                <a:spcPct val="0"/>
              </a:spcAft>
              <a:defRPr sz="2400">
                <a:solidFill>
                  <a:schemeClr val="tx1"/>
                </a:solidFill>
                <a:latin typeface="Times" charset="0"/>
                <a:ea typeface="ＭＳ Ｐゴシック" charset="-128"/>
              </a:defRPr>
            </a:lvl7pPr>
            <a:lvl8pPr marL="3429000" indent="-228600" eaLnBrk="0" fontAlgn="base" hangingPunct="0">
              <a:spcBef>
                <a:spcPct val="0"/>
              </a:spcBef>
              <a:spcAft>
                <a:spcPct val="0"/>
              </a:spcAft>
              <a:defRPr sz="2400">
                <a:solidFill>
                  <a:schemeClr val="tx1"/>
                </a:solidFill>
                <a:latin typeface="Times" charset="0"/>
                <a:ea typeface="ＭＳ Ｐゴシック" charset="-128"/>
              </a:defRPr>
            </a:lvl8pPr>
            <a:lvl9pPr marL="3886200" indent="-228600" eaLnBrk="0" fontAlgn="base" hangingPunct="0">
              <a:spcBef>
                <a:spcPct val="0"/>
              </a:spcBef>
              <a:spcAft>
                <a:spcPct val="0"/>
              </a:spcAft>
              <a:defRPr sz="2400">
                <a:solidFill>
                  <a:schemeClr val="tx1"/>
                </a:solidFill>
                <a:latin typeface="Times" charset="0"/>
                <a:ea typeface="ＭＳ Ｐゴシック" charset="-128"/>
              </a:defRPr>
            </a:lvl9pPr>
          </a:lstStyle>
          <a:p>
            <a:pPr algn="ctr">
              <a:defRPr/>
            </a:pPr>
            <a:r>
              <a:rPr lang="en-GB" altLang="en-US" sz="1800">
                <a:solidFill>
                  <a:srgbClr val="663366"/>
                </a:solidFill>
              </a:rPr>
              <a:t>∂</a:t>
            </a:r>
          </a:p>
        </p:txBody>
      </p:sp>
      <p:sp>
        <p:nvSpPr>
          <p:cNvPr id="1027" name="Rectangle 8"/>
          <p:cNvSpPr>
            <a:spLocks noChangeArrowheads="1"/>
          </p:cNvSpPr>
          <p:nvPr userDrawn="1"/>
        </p:nvSpPr>
        <p:spPr bwMode="auto">
          <a:xfrm>
            <a:off x="107951" y="107952"/>
            <a:ext cx="8924925" cy="665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sz="1800">
              <a:solidFill>
                <a:srgbClr val="663366"/>
              </a:solidFill>
              <a:ea typeface="+mn-ea"/>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50">
                <a:latin typeface="Times" panose="02020603050405020304" pitchFamily="18" charset="0"/>
                <a:ea typeface="+mn-ea"/>
                <a:cs typeface="+mn-cs"/>
              </a:defRPr>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50">
                <a:latin typeface="Times" panose="02020603050405020304" pitchFamily="18" charset="0"/>
                <a:ea typeface="+mn-ea"/>
                <a:cs typeface="+mn-cs"/>
              </a:defRPr>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50" smtClean="0"/>
            </a:lvl1pPr>
          </a:lstStyle>
          <a:p>
            <a:pPr>
              <a:defRPr/>
            </a:pPr>
            <a:fld id="{76C50416-43D2-4DB3-AE3E-F3360FE993C8}" type="slidenum">
              <a:rPr lang="en-GB" altLang="en-US"/>
              <a:pPr>
                <a:defRPr/>
              </a:pPr>
              <a:t>‹#›</a:t>
            </a:fld>
            <a:endParaRPr lang="en-GB" altLang="en-US"/>
          </a:p>
        </p:txBody>
      </p:sp>
      <p:sp>
        <p:nvSpPr>
          <p:cNvPr id="1033" name="Rectangle 9"/>
          <p:cNvSpPr>
            <a:spLocks noChangeArrowheads="1"/>
          </p:cNvSpPr>
          <p:nvPr userDrawn="1"/>
        </p:nvSpPr>
        <p:spPr bwMode="auto">
          <a:xfrm>
            <a:off x="790576" y="611188"/>
            <a:ext cx="80248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3300">
              <a:solidFill>
                <a:schemeClr val="bg1"/>
              </a:solidFill>
              <a:ea typeface="+mn-ea"/>
            </a:endParaRPr>
          </a:p>
        </p:txBody>
      </p:sp>
      <p:sp>
        <p:nvSpPr>
          <p:cNvPr id="1034" name="Rectangle 10"/>
          <p:cNvSpPr>
            <a:spLocks noChangeArrowheads="1"/>
          </p:cNvSpPr>
          <p:nvPr userDrawn="1"/>
        </p:nvSpPr>
        <p:spPr bwMode="auto">
          <a:xfrm>
            <a:off x="790576" y="1798638"/>
            <a:ext cx="8024813" cy="381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350" b="1">
              <a:solidFill>
                <a:schemeClr val="bg1"/>
              </a:solidFill>
              <a:latin typeface="Arial" charset="0"/>
              <a:ea typeface="+mn-ea"/>
            </a:endParaRPr>
          </a:p>
        </p:txBody>
      </p:sp>
      <p:pic>
        <p:nvPicPr>
          <p:cNvPr id="1035" name="Picture 1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834187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fontAlgn="base" hangingPunct="1">
        <a:spcBef>
          <a:spcPct val="0"/>
        </a:spcBef>
        <a:spcAft>
          <a:spcPct val="0"/>
        </a:spcAft>
        <a:defRPr sz="3300">
          <a:solidFill>
            <a:srgbClr val="663366"/>
          </a:solidFill>
          <a:latin typeface="+mj-lt"/>
          <a:ea typeface="ＭＳ Ｐゴシック" charset="0"/>
          <a:cs typeface="ＭＳ Ｐゴシック" charset="0"/>
        </a:defRPr>
      </a:lvl1pPr>
      <a:lvl2pPr algn="l" rtl="0" eaLnBrk="1" fontAlgn="base" hangingPunct="1">
        <a:spcBef>
          <a:spcPct val="0"/>
        </a:spcBef>
        <a:spcAft>
          <a:spcPct val="0"/>
        </a:spcAft>
        <a:defRPr sz="3300">
          <a:solidFill>
            <a:srgbClr val="663366"/>
          </a:solidFill>
          <a:latin typeface="Times" pitchFamily="18" charset="0"/>
          <a:ea typeface="ＭＳ Ｐゴシック" charset="0"/>
          <a:cs typeface="ＭＳ Ｐゴシック" charset="0"/>
        </a:defRPr>
      </a:lvl2pPr>
      <a:lvl3pPr algn="l" rtl="0" eaLnBrk="1" fontAlgn="base" hangingPunct="1">
        <a:spcBef>
          <a:spcPct val="0"/>
        </a:spcBef>
        <a:spcAft>
          <a:spcPct val="0"/>
        </a:spcAft>
        <a:defRPr sz="3300">
          <a:solidFill>
            <a:srgbClr val="663366"/>
          </a:solidFill>
          <a:latin typeface="Times" pitchFamily="18" charset="0"/>
          <a:ea typeface="ＭＳ Ｐゴシック" charset="0"/>
          <a:cs typeface="ＭＳ Ｐゴシック" charset="0"/>
        </a:defRPr>
      </a:lvl3pPr>
      <a:lvl4pPr algn="l" rtl="0" eaLnBrk="1" fontAlgn="base" hangingPunct="1">
        <a:spcBef>
          <a:spcPct val="0"/>
        </a:spcBef>
        <a:spcAft>
          <a:spcPct val="0"/>
        </a:spcAft>
        <a:defRPr sz="3300">
          <a:solidFill>
            <a:srgbClr val="663366"/>
          </a:solidFill>
          <a:latin typeface="Times" pitchFamily="18" charset="0"/>
          <a:ea typeface="ＭＳ Ｐゴシック" charset="0"/>
          <a:cs typeface="ＭＳ Ｐゴシック" charset="0"/>
        </a:defRPr>
      </a:lvl4pPr>
      <a:lvl5pPr algn="l" rtl="0" eaLnBrk="1" fontAlgn="base" hangingPunct="1">
        <a:spcBef>
          <a:spcPct val="0"/>
        </a:spcBef>
        <a:spcAft>
          <a:spcPct val="0"/>
        </a:spcAft>
        <a:defRPr sz="3300">
          <a:solidFill>
            <a:srgbClr val="663366"/>
          </a:solidFill>
          <a:latin typeface="Times" pitchFamily="18" charset="0"/>
          <a:ea typeface="ＭＳ Ｐゴシック" charset="0"/>
          <a:cs typeface="ＭＳ Ｐゴシック" charset="0"/>
        </a:defRPr>
      </a:lvl5pPr>
      <a:lvl6pPr marL="342900" algn="l" rtl="0" eaLnBrk="1" fontAlgn="base" hangingPunct="1">
        <a:spcBef>
          <a:spcPct val="0"/>
        </a:spcBef>
        <a:spcAft>
          <a:spcPct val="0"/>
        </a:spcAft>
        <a:defRPr sz="3300">
          <a:solidFill>
            <a:srgbClr val="663366"/>
          </a:solidFill>
          <a:latin typeface="Times" pitchFamily="18" charset="0"/>
        </a:defRPr>
      </a:lvl6pPr>
      <a:lvl7pPr marL="685800" algn="l" rtl="0" eaLnBrk="1" fontAlgn="base" hangingPunct="1">
        <a:spcBef>
          <a:spcPct val="0"/>
        </a:spcBef>
        <a:spcAft>
          <a:spcPct val="0"/>
        </a:spcAft>
        <a:defRPr sz="3300">
          <a:solidFill>
            <a:srgbClr val="663366"/>
          </a:solidFill>
          <a:latin typeface="Times" pitchFamily="18" charset="0"/>
        </a:defRPr>
      </a:lvl7pPr>
      <a:lvl8pPr marL="1028700" algn="l" rtl="0" eaLnBrk="1" fontAlgn="base" hangingPunct="1">
        <a:spcBef>
          <a:spcPct val="0"/>
        </a:spcBef>
        <a:spcAft>
          <a:spcPct val="0"/>
        </a:spcAft>
        <a:defRPr sz="3300">
          <a:solidFill>
            <a:srgbClr val="663366"/>
          </a:solidFill>
          <a:latin typeface="Times" pitchFamily="18" charset="0"/>
        </a:defRPr>
      </a:lvl8pPr>
      <a:lvl9pPr marL="1371600" algn="l" rtl="0" eaLnBrk="1" fontAlgn="base" hangingPunct="1">
        <a:spcBef>
          <a:spcPct val="0"/>
        </a:spcBef>
        <a:spcAft>
          <a:spcPct val="0"/>
        </a:spcAft>
        <a:defRPr sz="3300">
          <a:solidFill>
            <a:srgbClr val="663366"/>
          </a:solidFill>
          <a:latin typeface="Times" pitchFamily="18" charset="0"/>
        </a:defRPr>
      </a:lvl9pPr>
    </p:titleStyle>
    <p:bodyStyle>
      <a:lvl1pPr marL="257175" indent="-257175" algn="l" rtl="0" eaLnBrk="1" fontAlgn="base" hangingPunct="1">
        <a:spcBef>
          <a:spcPct val="20000"/>
        </a:spcBef>
        <a:spcAft>
          <a:spcPct val="0"/>
        </a:spcAft>
        <a:defRPr>
          <a:solidFill>
            <a:schemeClr val="tx1"/>
          </a:solidFill>
          <a:latin typeface="+mn-lt"/>
          <a:ea typeface="ＭＳ Ｐゴシック" charset="0"/>
          <a:cs typeface="ＭＳ Ｐゴシック" charset="0"/>
        </a:defRPr>
      </a:lvl1pPr>
      <a:lvl2pPr marL="557213" indent="-214313" algn="l" rtl="0" eaLnBrk="1" fontAlgn="base" hangingPunct="1">
        <a:spcBef>
          <a:spcPct val="20000"/>
        </a:spcBef>
        <a:spcAft>
          <a:spcPct val="0"/>
        </a:spcAft>
        <a:buChar char="–"/>
        <a:defRPr sz="1200">
          <a:solidFill>
            <a:schemeClr val="tx1"/>
          </a:solidFill>
          <a:latin typeface="+mn-lt"/>
          <a:ea typeface="ＭＳ Ｐゴシック" charset="0"/>
        </a:defRPr>
      </a:lvl2pPr>
      <a:lvl3pPr marL="857250" indent="-171450" algn="l" rtl="0" eaLnBrk="1" fontAlgn="base" hangingPunct="1">
        <a:spcBef>
          <a:spcPct val="20000"/>
        </a:spcBef>
        <a:spcAft>
          <a:spcPct val="0"/>
        </a:spcAft>
        <a:buChar char="•"/>
        <a:defRPr sz="1050">
          <a:solidFill>
            <a:schemeClr val="tx1"/>
          </a:solidFill>
          <a:latin typeface="+mn-lt"/>
          <a:ea typeface="ＭＳ Ｐゴシック" charset="0"/>
        </a:defRPr>
      </a:lvl3pPr>
      <a:lvl4pPr marL="1200150" indent="-171450" algn="l" rtl="0" eaLnBrk="1" fontAlgn="base" hangingPunct="1">
        <a:spcBef>
          <a:spcPct val="20000"/>
        </a:spcBef>
        <a:spcAft>
          <a:spcPct val="0"/>
        </a:spcAft>
        <a:buChar char="–"/>
        <a:defRPr sz="900">
          <a:solidFill>
            <a:schemeClr val="tx1"/>
          </a:solidFill>
          <a:latin typeface="+mn-lt"/>
          <a:ea typeface="ＭＳ Ｐゴシック" charset="0"/>
        </a:defRPr>
      </a:lvl4pPr>
      <a:lvl5pPr marL="1543050" indent="-171450" algn="l" rtl="0" eaLnBrk="1" fontAlgn="base" hangingPunct="1">
        <a:spcBef>
          <a:spcPct val="20000"/>
        </a:spcBef>
        <a:spcAft>
          <a:spcPct val="0"/>
        </a:spcAft>
        <a:buChar char="»"/>
        <a:defRPr sz="900">
          <a:solidFill>
            <a:schemeClr val="tx1"/>
          </a:solidFill>
          <a:latin typeface="+mn-lt"/>
          <a:ea typeface="ＭＳ Ｐゴシック" charset="0"/>
        </a:defRPr>
      </a:lvl5pPr>
      <a:lvl6pPr marL="1885950" indent="-171450" algn="l" rtl="0" eaLnBrk="1" fontAlgn="base" hangingPunct="1">
        <a:spcBef>
          <a:spcPct val="20000"/>
        </a:spcBef>
        <a:spcAft>
          <a:spcPct val="0"/>
        </a:spcAft>
        <a:buChar char="»"/>
        <a:defRPr sz="900">
          <a:solidFill>
            <a:schemeClr val="tx1"/>
          </a:solidFill>
          <a:latin typeface="+mn-lt"/>
        </a:defRPr>
      </a:lvl6pPr>
      <a:lvl7pPr marL="2228850" indent="-171450" algn="l" rtl="0" eaLnBrk="1" fontAlgn="base" hangingPunct="1">
        <a:spcBef>
          <a:spcPct val="20000"/>
        </a:spcBef>
        <a:spcAft>
          <a:spcPct val="0"/>
        </a:spcAft>
        <a:buChar char="»"/>
        <a:defRPr sz="900">
          <a:solidFill>
            <a:schemeClr val="tx1"/>
          </a:solidFill>
          <a:latin typeface="+mn-lt"/>
        </a:defRPr>
      </a:lvl7pPr>
      <a:lvl8pPr marL="2571750" indent="-171450" algn="l" rtl="0" eaLnBrk="1" fontAlgn="base" hangingPunct="1">
        <a:spcBef>
          <a:spcPct val="20000"/>
        </a:spcBef>
        <a:spcAft>
          <a:spcPct val="0"/>
        </a:spcAft>
        <a:buChar char="»"/>
        <a:defRPr sz="900">
          <a:solidFill>
            <a:schemeClr val="tx1"/>
          </a:solidFill>
          <a:latin typeface="+mn-lt"/>
        </a:defRPr>
      </a:lvl8pPr>
      <a:lvl9pPr marL="2914650" indent="-171450" algn="l" rtl="0" eaLnBrk="1" fontAlgn="base" hangingPunct="1">
        <a:spcBef>
          <a:spcPct val="20000"/>
        </a:spcBef>
        <a:spcAft>
          <a:spcPct val="0"/>
        </a:spcAft>
        <a:buChar char="»"/>
        <a:defRPr sz="9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sz="quarter"/>
          </p:nvPr>
        </p:nvSpPr>
        <p:spPr/>
        <p:txBody>
          <a:bodyPr/>
          <a:lstStyle/>
          <a:p>
            <a:pPr algn="ctr"/>
            <a:r>
              <a:rPr lang="en-GB" altLang="en-US" b="1" dirty="0">
                <a:latin typeface="Book Antiqua" panose="02040602050305030304" pitchFamily="18" charset="0"/>
              </a:rPr>
              <a:t>Developing Brains </a:t>
            </a:r>
            <a:r>
              <a:rPr lang="en-GB" altLang="en-US" b="1">
                <a:latin typeface="Book Antiqua" panose="02040602050305030304" pitchFamily="18" charset="0"/>
              </a:rPr>
              <a:t>And Behaviour</a:t>
            </a:r>
            <a:endParaRPr lang="en-GB" altLang="en-US" b="1" dirty="0">
              <a:latin typeface="Book Antiqua" panose="02040602050305030304" pitchFamily="18" charset="0"/>
            </a:endParaRPr>
          </a:p>
        </p:txBody>
      </p:sp>
      <p:sp>
        <p:nvSpPr>
          <p:cNvPr id="3075" name="Subtitle 2"/>
          <p:cNvSpPr>
            <a:spLocks noGrp="1"/>
          </p:cNvSpPr>
          <p:nvPr>
            <p:ph type="subTitle" sz="quarter" idx="1"/>
          </p:nvPr>
        </p:nvSpPr>
        <p:spPr>
          <a:xfrm>
            <a:off x="755650" y="2492822"/>
            <a:ext cx="7561262" cy="2376264"/>
          </a:xfrm>
        </p:spPr>
        <p:txBody>
          <a:bodyPr/>
          <a:lstStyle/>
          <a:p>
            <a:pPr eaLnBrk="1" hangingPunct="1">
              <a:lnSpc>
                <a:spcPct val="110000"/>
              </a:lnSpc>
              <a:spcBef>
                <a:spcPct val="0"/>
              </a:spcBef>
            </a:pPr>
            <a:r>
              <a:rPr lang="en-GB" altLang="en-US" b="0" dirty="0">
                <a:latin typeface="Book Antiqua" panose="02040602050305030304" pitchFamily="18" charset="0"/>
              </a:rPr>
              <a:t>Michaelmas Term 2024</a:t>
            </a:r>
          </a:p>
          <a:p>
            <a:pPr eaLnBrk="1" hangingPunct="1">
              <a:lnSpc>
                <a:spcPct val="110000"/>
              </a:lnSpc>
              <a:spcBef>
                <a:spcPct val="0"/>
              </a:spcBef>
            </a:pPr>
            <a:r>
              <a:rPr lang="en-GB" altLang="en-US" dirty="0">
                <a:latin typeface="Book Antiqua" panose="02040602050305030304" pitchFamily="18" charset="0"/>
              </a:rPr>
              <a:t>Dr David Lawrence</a:t>
            </a:r>
          </a:p>
          <a:p>
            <a:pPr eaLnBrk="1" hangingPunct="1">
              <a:lnSpc>
                <a:spcPct val="110000"/>
              </a:lnSpc>
              <a:spcBef>
                <a:spcPct val="0"/>
              </a:spcBef>
            </a:pPr>
            <a:endParaRPr lang="en-GB" altLang="en-US" sz="2000" dirty="0">
              <a:solidFill>
                <a:srgbClr val="663366"/>
              </a:solidFill>
              <a:latin typeface="Book Antiqua" panose="02040602050305030304" pitchFamily="18" charset="0"/>
            </a:endParaRPr>
          </a:p>
          <a:p>
            <a:pPr eaLnBrk="1" hangingPunct="1">
              <a:lnSpc>
                <a:spcPct val="110000"/>
              </a:lnSpc>
              <a:spcBef>
                <a:spcPct val="0"/>
              </a:spcBef>
            </a:pPr>
            <a:endParaRPr lang="en-GB" altLang="en-US" sz="2000" dirty="0">
              <a:solidFill>
                <a:srgbClr val="663366"/>
              </a:solidFill>
              <a:latin typeface="Book Antiqua" panose="02040602050305030304" pitchFamily="18" charset="0"/>
            </a:endParaRPr>
          </a:p>
          <a:p>
            <a:pPr eaLnBrk="1" hangingPunct="1">
              <a:lnSpc>
                <a:spcPct val="110000"/>
              </a:lnSpc>
              <a:spcBef>
                <a:spcPct val="0"/>
              </a:spcBef>
            </a:pPr>
            <a:r>
              <a:rPr lang="en-GB" altLang="en-US" sz="2000" b="0" dirty="0" err="1">
                <a:latin typeface="Book Antiqua" panose="02040602050305030304" pitchFamily="18" charset="0"/>
              </a:rPr>
              <a:t>David.lawrence@durham.ac.uk</a:t>
            </a:r>
            <a:endParaRPr lang="en-GB" altLang="en-US" sz="2000" b="0" dirty="0">
              <a:latin typeface="Book Antiqua" panose="02040602050305030304" pitchFamily="18" charset="0"/>
            </a:endParaRPr>
          </a:p>
          <a:p>
            <a:pPr eaLnBrk="1" hangingPunct="1">
              <a:lnSpc>
                <a:spcPct val="110000"/>
              </a:lnSpc>
              <a:spcBef>
                <a:spcPct val="0"/>
              </a:spcBef>
            </a:pPr>
            <a:endParaRPr lang="en-GB" altLang="en-US" sz="2000" b="0" dirty="0">
              <a:latin typeface="Book Antiqua" panose="02040602050305030304" pitchFamily="18" charset="0"/>
            </a:endParaRPr>
          </a:p>
          <a:p>
            <a:pPr eaLnBrk="1" hangingPunct="1">
              <a:lnSpc>
                <a:spcPct val="110000"/>
              </a:lnSpc>
              <a:spcBef>
                <a:spcPct val="0"/>
              </a:spcBef>
            </a:pPr>
            <a:r>
              <a:rPr lang="en-GB" altLang="en-US" sz="2000" b="0" dirty="0">
                <a:latin typeface="Book Antiqua" panose="02040602050305030304" pitchFamily="18" charset="0"/>
              </a:rPr>
              <a:t>     @</a:t>
            </a:r>
            <a:r>
              <a:rPr lang="en-GB" altLang="en-US" sz="2000" b="0" dirty="0" err="1">
                <a:latin typeface="Book Antiqua" panose="02040602050305030304" pitchFamily="18" charset="0"/>
              </a:rPr>
              <a:t>biojammer</a:t>
            </a:r>
            <a:endParaRPr lang="en-GB" altLang="en-US" sz="2000" b="0" dirty="0">
              <a:latin typeface="Book Antiqua" panose="02040602050305030304" pitchFamily="18" charset="0"/>
            </a:endParaRPr>
          </a:p>
          <a:p>
            <a:pPr eaLnBrk="1" hangingPunct="1"/>
            <a:endParaRPr lang="en-GB" alt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200" y="4509120"/>
            <a:ext cx="359966" cy="359966"/>
          </a:xfrm>
          <a:prstGeom prst="ellipse">
            <a:avLst/>
          </a:prstGeom>
          <a:solidFill>
            <a:schemeClr val="bg1"/>
          </a:solidFill>
          <a:ln w="63500" cap="rnd">
            <a:solidFill>
              <a:schemeClr val="accent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032" name="Picture 8" descr="Calvin • How old do you have to be before you know what's going on? | Calvin  and hobbes quotes, Calvin and hobbes comics, Calvin and hobbes">
            <a:extLst>
              <a:ext uri="{FF2B5EF4-FFF2-40B4-BE49-F238E27FC236}">
                <a16:creationId xmlns:a16="http://schemas.microsoft.com/office/drawing/2014/main" id="{D6F559F9-7FB2-B2E7-2716-7000F9063D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6745" y="1845891"/>
            <a:ext cx="2626055" cy="3166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3011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509D9-201C-0E2A-AAEA-67078A2E3B8F}"/>
              </a:ext>
            </a:extLst>
          </p:cNvPr>
          <p:cNvSpPr>
            <a:spLocks noGrp="1"/>
          </p:cNvSpPr>
          <p:nvPr>
            <p:ph type="title"/>
          </p:nvPr>
        </p:nvSpPr>
        <p:spPr/>
        <p:txBody>
          <a:bodyPr/>
          <a:lstStyle/>
          <a:p>
            <a:r>
              <a:rPr lang="en-GB" dirty="0"/>
              <a:t>Age of Criminal Responsibility</a:t>
            </a:r>
          </a:p>
        </p:txBody>
      </p:sp>
      <p:sp>
        <p:nvSpPr>
          <p:cNvPr id="3" name="Content Placeholder 2">
            <a:extLst>
              <a:ext uri="{FF2B5EF4-FFF2-40B4-BE49-F238E27FC236}">
                <a16:creationId xmlns:a16="http://schemas.microsoft.com/office/drawing/2014/main" id="{96308738-8B00-806E-315E-5009BF171AEE}"/>
              </a:ext>
            </a:extLst>
          </p:cNvPr>
          <p:cNvSpPr>
            <a:spLocks noGrp="1"/>
          </p:cNvSpPr>
          <p:nvPr>
            <p:ph idx="1"/>
          </p:nvPr>
        </p:nvSpPr>
        <p:spPr/>
        <p:txBody>
          <a:bodyPr/>
          <a:lstStyle/>
          <a:p>
            <a:pPr marL="285750" indent="-285750">
              <a:buFont typeface="Arial" panose="020B0604020202020204" pitchFamily="34" charset="0"/>
              <a:buChar char="•"/>
            </a:pPr>
            <a:r>
              <a:rPr lang="en-GB" dirty="0">
                <a:latin typeface="Book Antiqua" panose="02040602050305030304" pitchFamily="18" charset="0"/>
              </a:rPr>
              <a:t>Current Minimum Age of Criminal Responsibility (MACR) in E&amp;W is </a:t>
            </a:r>
            <a:r>
              <a:rPr lang="en-GB" b="1" dirty="0">
                <a:latin typeface="Book Antiqua" panose="02040602050305030304" pitchFamily="18" charset="0"/>
              </a:rPr>
              <a:t>10 years old</a:t>
            </a:r>
          </a:p>
          <a:p>
            <a:pPr marL="285750" indent="-285750">
              <a:buFont typeface="Arial" panose="020B0604020202020204" pitchFamily="34" charset="0"/>
              <a:buChar char="•"/>
            </a:pPr>
            <a:r>
              <a:rPr lang="en-GB" dirty="0">
                <a:solidFill>
                  <a:srgbClr val="000000"/>
                </a:solidFill>
                <a:latin typeface="Book Antiqua" panose="02040602050305030304" pitchFamily="18" charset="0"/>
                <a:ea typeface="Times New Roman" panose="02020603050405020304" pitchFamily="18" charset="0"/>
              </a:rPr>
              <a:t>Children over ten should be subject to </a:t>
            </a:r>
            <a:r>
              <a:rPr lang="en-GB" sz="1800" dirty="0">
                <a:solidFill>
                  <a:srgbClr val="000000"/>
                </a:solidFill>
                <a:effectLst/>
                <a:latin typeface="Book Antiqua" panose="02040602050305030304" pitchFamily="18" charset="0"/>
                <a:ea typeface="Times New Roman" panose="02020603050405020304" pitchFamily="18" charset="0"/>
              </a:rPr>
              <a:t>“the full brunt of the criminal law with no defence available to them to reflect their status as children”</a:t>
            </a:r>
          </a:p>
          <a:p>
            <a:pPr marL="300038" lvl="1" indent="0">
              <a:buNone/>
            </a:pPr>
            <a:r>
              <a:rPr lang="en-GB" dirty="0">
                <a:solidFill>
                  <a:srgbClr val="000000"/>
                </a:solidFill>
                <a:effectLst/>
                <a:latin typeface="Book Antiqua" panose="02040602050305030304" pitchFamily="18" charset="0"/>
                <a:ea typeface="Times New Roman" panose="02020603050405020304" pitchFamily="18" charset="0"/>
              </a:rPr>
              <a:t>	﻿Elliott, ‘Criminal Responsibility and Children: A New Defence Required to Acknowledge the 	Absence of Capacity and Choice’ (2011) 75 Journal of Criminal Law 289, 289.</a:t>
            </a:r>
          </a:p>
          <a:p>
            <a:pPr marL="285750" indent="-285750">
              <a:buFont typeface="Arial" panose="020B0604020202020204" pitchFamily="34" charset="0"/>
              <a:buChar char="•"/>
            </a:pPr>
            <a:endParaRPr lang="en-GB" dirty="0">
              <a:solidFill>
                <a:srgbClr val="000000"/>
              </a:solidFill>
              <a:latin typeface="Book Antiqua" panose="02040602050305030304" pitchFamily="18" charset="0"/>
            </a:endParaRPr>
          </a:p>
          <a:p>
            <a:pPr marL="285750" indent="-285750">
              <a:buFont typeface="Arial" panose="020B0604020202020204" pitchFamily="34" charset="0"/>
              <a:buChar char="•"/>
            </a:pPr>
            <a:r>
              <a:rPr lang="en-GB" dirty="0">
                <a:solidFill>
                  <a:srgbClr val="000000"/>
                </a:solidFill>
                <a:latin typeface="Book Antiqua" panose="02040602050305030304" pitchFamily="18" charset="0"/>
              </a:rPr>
              <a:t>United Nations:</a:t>
            </a:r>
          </a:p>
          <a:p>
            <a:pPr marL="0" indent="0"/>
            <a:r>
              <a:rPr lang="en-GB" dirty="0">
                <a:solidFill>
                  <a:srgbClr val="000000"/>
                </a:solidFill>
                <a:latin typeface="Book Antiqua" panose="02040602050305030304" pitchFamily="18" charset="0"/>
              </a:rPr>
              <a:t>	﻿“a minimum age of criminal responsibility below the age of 12 	years is considered … not to be internationally acceptable”</a:t>
            </a:r>
          </a:p>
          <a:p>
            <a:pPr marL="0" indent="0"/>
            <a:r>
              <a:rPr lang="en-GB" dirty="0">
                <a:solidFill>
                  <a:srgbClr val="000000"/>
                </a:solidFill>
                <a:latin typeface="Book Antiqua" panose="02040602050305030304" pitchFamily="18" charset="0"/>
              </a:rPr>
              <a:t>		</a:t>
            </a:r>
            <a:r>
              <a:rPr lang="en-GB" sz="1200" dirty="0">
                <a:solidFill>
                  <a:srgbClr val="000000"/>
                </a:solidFill>
                <a:latin typeface="Book Antiqua" panose="02040602050305030304" pitchFamily="18" charset="0"/>
              </a:rPr>
              <a:t>﻿United Nations Committee on the Rights of the Child, ‘General Comment No. 10: 		Children’s rights in juvenile justice’ (2007) UN Doc CRC/C/GC/10, para 32.</a:t>
            </a:r>
          </a:p>
          <a:p>
            <a:pPr marL="285750" indent="-285750">
              <a:buFont typeface="Arial" panose="020B0604020202020204" pitchFamily="34" charset="0"/>
              <a:buChar char="•"/>
            </a:pPr>
            <a:endParaRPr lang="en-GB" dirty="0">
              <a:latin typeface="Book Antiqua" panose="02040602050305030304" pitchFamily="18" charset="0"/>
            </a:endParaRPr>
          </a:p>
        </p:txBody>
      </p:sp>
    </p:spTree>
    <p:extLst>
      <p:ext uri="{BB962C8B-B14F-4D97-AF65-F5344CB8AC3E}">
        <p14:creationId xmlns:p14="http://schemas.microsoft.com/office/powerpoint/2010/main" val="4106368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692F4-5B40-5FDA-8B07-8A68E14F35CB}"/>
              </a:ext>
            </a:extLst>
          </p:cNvPr>
          <p:cNvSpPr>
            <a:spLocks noGrp="1"/>
          </p:cNvSpPr>
          <p:nvPr>
            <p:ph type="title"/>
          </p:nvPr>
        </p:nvSpPr>
        <p:spPr/>
        <p:txBody>
          <a:bodyPr/>
          <a:lstStyle/>
          <a:p>
            <a:r>
              <a:rPr lang="en-US" dirty="0"/>
              <a:t>Context</a:t>
            </a:r>
          </a:p>
        </p:txBody>
      </p:sp>
      <p:sp>
        <p:nvSpPr>
          <p:cNvPr id="3" name="Content Placeholder 2">
            <a:extLst>
              <a:ext uri="{FF2B5EF4-FFF2-40B4-BE49-F238E27FC236}">
                <a16:creationId xmlns:a16="http://schemas.microsoft.com/office/drawing/2014/main" id="{AD988048-A95A-7FA9-7CD0-0E94C923500C}"/>
              </a:ext>
            </a:extLst>
          </p:cNvPr>
          <p:cNvSpPr>
            <a:spLocks noGrp="1"/>
          </p:cNvSpPr>
          <p:nvPr>
            <p:ph sz="half" idx="1"/>
          </p:nvPr>
        </p:nvSpPr>
        <p:spPr>
          <a:xfrm>
            <a:off x="685800" y="1826768"/>
            <a:ext cx="3810000" cy="3816350"/>
          </a:xfrm>
        </p:spPr>
        <p:txBody>
          <a:bodyPr/>
          <a:lstStyle/>
          <a:p>
            <a:pPr marL="285750" indent="-285750">
              <a:buFont typeface="Arial" panose="020B0604020202020204" pitchFamily="34" charset="0"/>
              <a:buChar char="•"/>
            </a:pPr>
            <a:r>
              <a:rPr lang="en-US" sz="1800" dirty="0">
                <a:latin typeface="Book Antiqua" panose="02040602050305030304" pitchFamily="18" charset="0"/>
              </a:rPr>
              <a:t>&lt;18s cannot:</a:t>
            </a:r>
          </a:p>
          <a:p>
            <a:pPr marL="585788" lvl="1" indent="-285750">
              <a:buFont typeface="Arial" panose="020B0604020202020204" pitchFamily="34" charset="0"/>
              <a:buChar char="•"/>
            </a:pPr>
            <a:r>
              <a:rPr lang="en-US" sz="1400" dirty="0">
                <a:latin typeface="Book Antiqua" panose="02040602050305030304" pitchFamily="18" charset="0"/>
              </a:rPr>
              <a:t>Vote, be a juror, buy alcohol, get a tattoo, buy fireworks, open bank account</a:t>
            </a:r>
          </a:p>
          <a:p>
            <a:pPr marL="285750" indent="-285750">
              <a:buFont typeface="Arial" panose="020B0604020202020204" pitchFamily="34" charset="0"/>
              <a:buChar char="•"/>
            </a:pPr>
            <a:r>
              <a:rPr lang="en-US" sz="1800" dirty="0">
                <a:latin typeface="Book Antiqua" panose="02040602050305030304" pitchFamily="18" charset="0"/>
              </a:rPr>
              <a:t>&lt;16s cannot:</a:t>
            </a:r>
          </a:p>
          <a:p>
            <a:pPr marL="585788" lvl="1" indent="-285750">
              <a:buFont typeface="Arial" panose="020B0604020202020204" pitchFamily="34" charset="0"/>
              <a:buChar char="•"/>
            </a:pPr>
            <a:r>
              <a:rPr lang="en-US" sz="1400" dirty="0">
                <a:latin typeface="Book Antiqua" panose="02040602050305030304" pitchFamily="18" charset="0"/>
              </a:rPr>
              <a:t>Leave school, buy lottery tickets, buy animals, consent to sex</a:t>
            </a:r>
          </a:p>
          <a:p>
            <a:pPr marL="285750" indent="-285750">
              <a:buFont typeface="Arial" panose="020B0604020202020204" pitchFamily="34" charset="0"/>
              <a:buChar char="•"/>
            </a:pPr>
            <a:r>
              <a:rPr lang="en-US" sz="1800" dirty="0">
                <a:latin typeface="Book Antiqua" panose="02040602050305030304" pitchFamily="18" charset="0"/>
              </a:rPr>
              <a:t>&gt;10s can:</a:t>
            </a:r>
          </a:p>
          <a:p>
            <a:pPr marL="585788" lvl="1" indent="-285750">
              <a:buFont typeface="Arial" panose="020B0604020202020204" pitchFamily="34" charset="0"/>
              <a:buChar char="•"/>
            </a:pPr>
            <a:r>
              <a:rPr lang="en-US" sz="1400" dirty="0">
                <a:latin typeface="Book Antiqua" panose="02040602050305030304" pitchFamily="18" charset="0"/>
              </a:rPr>
              <a:t>Be held to same criminal justice standards as an adult</a:t>
            </a:r>
          </a:p>
          <a:p>
            <a:pPr marL="285750" indent="-285750">
              <a:buFont typeface="Arial" panose="020B0604020202020204" pitchFamily="34" charset="0"/>
              <a:buChar char="•"/>
            </a:pPr>
            <a:endParaRPr lang="en-US" sz="1200" dirty="0">
              <a:latin typeface="Book Antiqua" panose="02040602050305030304" pitchFamily="18" charset="0"/>
            </a:endParaRPr>
          </a:p>
        </p:txBody>
      </p:sp>
      <p:sp>
        <p:nvSpPr>
          <p:cNvPr id="4" name="Content Placeholder 3">
            <a:extLst>
              <a:ext uri="{FF2B5EF4-FFF2-40B4-BE49-F238E27FC236}">
                <a16:creationId xmlns:a16="http://schemas.microsoft.com/office/drawing/2014/main" id="{BD1C0135-D6BC-30B6-F304-635C3BCAB5C2}"/>
              </a:ext>
            </a:extLst>
          </p:cNvPr>
          <p:cNvSpPr>
            <a:spLocks noGrp="1"/>
          </p:cNvSpPr>
          <p:nvPr>
            <p:ph sz="half" idx="2"/>
          </p:nvPr>
        </p:nvSpPr>
        <p:spPr>
          <a:xfrm>
            <a:off x="4572000" y="1752600"/>
            <a:ext cx="3810000" cy="3816350"/>
          </a:xfrm>
        </p:spPr>
        <p:txBody>
          <a:bodyPr/>
          <a:lstStyle/>
          <a:p>
            <a:pPr marL="285750" indent="-285750">
              <a:buFont typeface="Arial" panose="020B0604020202020204" pitchFamily="34" charset="0"/>
              <a:buChar char="•"/>
            </a:pPr>
            <a:r>
              <a:rPr lang="en-US" sz="1800" dirty="0">
                <a:latin typeface="Book Antiqua" panose="02040602050305030304" pitchFamily="18" charset="0"/>
              </a:rPr>
              <a:t>Law Commission:</a:t>
            </a:r>
          </a:p>
          <a:p>
            <a:pPr marL="585788" lvl="1" indent="-285750">
              <a:buFont typeface="Arial" panose="020B0604020202020204" pitchFamily="34" charset="0"/>
              <a:buChar char="•"/>
            </a:pPr>
            <a:r>
              <a:rPr lang="en-GB" sz="1400" dirty="0">
                <a:solidFill>
                  <a:srgbClr val="000000"/>
                </a:solidFill>
                <a:effectLst/>
                <a:latin typeface="Times New Roman" panose="02020603050405020304" pitchFamily="18" charset="0"/>
                <a:ea typeface="Times New Roman" panose="02020603050405020304" pitchFamily="18" charset="0"/>
              </a:rPr>
              <a:t>if  “a person cannot choose between right and wrong or … has no power to act on that knowledge, then it is not fair to hold that person criminally responsible”</a:t>
            </a:r>
            <a:r>
              <a:rPr lang="en-GB" sz="2000" dirty="0">
                <a:effectLst/>
              </a:rPr>
              <a:t> </a:t>
            </a:r>
          </a:p>
          <a:p>
            <a:pPr marL="885825" lvl="2" indent="-285750">
              <a:buFont typeface="Arial" panose="020B0604020202020204" pitchFamily="34" charset="0"/>
              <a:buChar char="•"/>
            </a:pPr>
            <a:r>
              <a:rPr lang="en-US" sz="1400" dirty="0">
                <a:latin typeface="Book Antiqua" panose="02040602050305030304" pitchFamily="18" charset="0"/>
              </a:rPr>
              <a:t>﻿</a:t>
            </a:r>
            <a:r>
              <a:rPr lang="en-US" sz="1050" dirty="0">
                <a:latin typeface="Book Antiqua" panose="02040602050305030304" pitchFamily="18" charset="0"/>
              </a:rPr>
              <a:t>Law Commission, Murder, Manslaughter and Infanticide (Law Com No 304, 2006).</a:t>
            </a:r>
          </a:p>
          <a:p>
            <a:pPr marL="285750" indent="-285750">
              <a:buFont typeface="Arial" panose="020B0604020202020204" pitchFamily="34" charset="0"/>
              <a:buChar char="•"/>
            </a:pPr>
            <a:r>
              <a:rPr lang="en-US" sz="1800" dirty="0">
                <a:latin typeface="Book Antiqua" panose="02040602050305030304" pitchFamily="18" charset="0"/>
              </a:rPr>
              <a:t>Neuroscience suggests that adolescents lack the capacity for fully rational decisions…</a:t>
            </a:r>
          </a:p>
        </p:txBody>
      </p:sp>
      <p:pic>
        <p:nvPicPr>
          <p:cNvPr id="14338" name="Picture 2">
            <a:extLst>
              <a:ext uri="{FF2B5EF4-FFF2-40B4-BE49-F238E27FC236}">
                <a16:creationId xmlns:a16="http://schemas.microsoft.com/office/drawing/2014/main" id="{15C1EC32-C584-6326-163C-79DFCF9D4D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8081" y="4545323"/>
            <a:ext cx="6819545" cy="2166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8248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7961A-DB4C-AF1A-DC06-E1B54412A5D3}"/>
              </a:ext>
            </a:extLst>
          </p:cNvPr>
          <p:cNvSpPr>
            <a:spLocks noGrp="1"/>
          </p:cNvSpPr>
          <p:nvPr>
            <p:ph type="title"/>
          </p:nvPr>
        </p:nvSpPr>
        <p:spPr/>
        <p:txBody>
          <a:bodyPr/>
          <a:lstStyle/>
          <a:p>
            <a:r>
              <a:rPr lang="en-US" dirty="0"/>
              <a:t>Criminal Responsibility in Children I</a:t>
            </a:r>
          </a:p>
        </p:txBody>
      </p:sp>
      <p:sp>
        <p:nvSpPr>
          <p:cNvPr id="3" name="Content Placeholder 2">
            <a:extLst>
              <a:ext uri="{FF2B5EF4-FFF2-40B4-BE49-F238E27FC236}">
                <a16:creationId xmlns:a16="http://schemas.microsoft.com/office/drawing/2014/main" id="{9A13267B-A8D3-2554-602F-705D3EA555A0}"/>
              </a:ext>
            </a:extLst>
          </p:cNvPr>
          <p:cNvSpPr>
            <a:spLocks noGrp="1"/>
          </p:cNvSpPr>
          <p:nvPr>
            <p:ph idx="1"/>
          </p:nvPr>
        </p:nvSpPr>
        <p:spPr>
          <a:xfrm>
            <a:off x="684213" y="1989138"/>
            <a:ext cx="4007428" cy="3816350"/>
          </a:xfrm>
        </p:spPr>
        <p:txBody>
          <a:bodyPr/>
          <a:lstStyle/>
          <a:p>
            <a:pPr marL="285750" indent="-285750">
              <a:buFont typeface="Arial" panose="020B0604020202020204" pitchFamily="34" charset="0"/>
              <a:buChar char="•"/>
            </a:pPr>
            <a:r>
              <a:rPr lang="en-US" dirty="0">
                <a:latin typeface="Book Antiqua" panose="02040602050305030304" pitchFamily="18" charset="0"/>
              </a:rPr>
              <a:t>Role-based / Capacity-based / Practically-based understandings of responsibility</a:t>
            </a:r>
          </a:p>
          <a:p>
            <a:pPr marL="285750" indent="-285750">
              <a:buFont typeface="Arial" panose="020B0604020202020204" pitchFamily="34" charset="0"/>
              <a:buChar char="•"/>
            </a:pPr>
            <a:r>
              <a:rPr lang="en-US" dirty="0">
                <a:latin typeface="Book Antiqua" panose="02040602050305030304" pitchFamily="18" charset="0"/>
              </a:rPr>
              <a:t>Criminal responsibility = Capacity/ Practical</a:t>
            </a:r>
          </a:p>
          <a:p>
            <a:pPr marL="285750" indent="-285750">
              <a:buFont typeface="Arial" panose="020B0604020202020204" pitchFamily="34" charset="0"/>
              <a:buChar char="•"/>
            </a:pPr>
            <a:r>
              <a:rPr lang="en-US" i="1" dirty="0">
                <a:latin typeface="Book Antiqua" panose="02040602050305030304" pitchFamily="18" charset="0"/>
              </a:rPr>
              <a:t>Actus reus / </a:t>
            </a:r>
            <a:r>
              <a:rPr lang="en-US" i="1" dirty="0" err="1">
                <a:latin typeface="Book Antiqua" panose="02040602050305030304" pitchFamily="18" charset="0"/>
              </a:rPr>
              <a:t>mens</a:t>
            </a:r>
            <a:r>
              <a:rPr lang="en-US" i="1" dirty="0">
                <a:latin typeface="Book Antiqua" panose="02040602050305030304" pitchFamily="18" charset="0"/>
              </a:rPr>
              <a:t> rea</a:t>
            </a:r>
          </a:p>
          <a:p>
            <a:pPr marL="285750" indent="-285750">
              <a:buFont typeface="Arial" panose="020B0604020202020204" pitchFamily="34" charset="0"/>
              <a:buChar char="•"/>
            </a:pPr>
            <a:r>
              <a:rPr lang="en-US" dirty="0">
                <a:latin typeface="Book Antiqua" panose="02040602050305030304" pitchFamily="18" charset="0"/>
              </a:rPr>
              <a:t>Capacity (here)= ability to understand right and wrong, consequences</a:t>
            </a:r>
          </a:p>
          <a:p>
            <a:pPr marL="285750" indent="-285750">
              <a:buFont typeface="Arial" panose="020B0604020202020204" pitchFamily="34" charset="0"/>
              <a:buChar char="•"/>
            </a:pPr>
            <a:r>
              <a:rPr lang="en-US" dirty="0">
                <a:latin typeface="Book Antiqua" panose="02040602050305030304" pitchFamily="18" charset="0"/>
              </a:rPr>
              <a:t>Criminal responsibility = autonomous free choice of </a:t>
            </a:r>
            <a:r>
              <a:rPr lang="en-US" dirty="0" err="1">
                <a:latin typeface="Book Antiqua" panose="02040602050305030304" pitchFamily="18" charset="0"/>
              </a:rPr>
              <a:t>behaviour</a:t>
            </a:r>
            <a:r>
              <a:rPr lang="en-US" dirty="0">
                <a:latin typeface="Book Antiqua" panose="02040602050305030304" pitchFamily="18" charset="0"/>
              </a:rPr>
              <a:t> and capacity to make that choice</a:t>
            </a:r>
          </a:p>
        </p:txBody>
      </p:sp>
      <p:pic>
        <p:nvPicPr>
          <p:cNvPr id="4098" name="Picture 2" descr="Dennis the Menace and Gnasher - Wikipedia">
            <a:extLst>
              <a:ext uri="{FF2B5EF4-FFF2-40B4-BE49-F238E27FC236}">
                <a16:creationId xmlns:a16="http://schemas.microsoft.com/office/drawing/2014/main" id="{E2EB2851-DB17-4D1D-2AE3-E4C6C75189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1641" y="1940000"/>
            <a:ext cx="4229100" cy="37973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1A4A39D-F7F1-E049-DF65-F1615F5D346B}"/>
              </a:ext>
            </a:extLst>
          </p:cNvPr>
          <p:cNvSpPr txBox="1"/>
          <p:nvPr/>
        </p:nvSpPr>
        <p:spPr>
          <a:xfrm>
            <a:off x="4638231" y="5805488"/>
            <a:ext cx="4324172" cy="338554"/>
          </a:xfrm>
          <a:prstGeom prst="rect">
            <a:avLst/>
          </a:prstGeom>
          <a:noFill/>
        </p:spPr>
        <p:txBody>
          <a:bodyPr wrap="square" rtlCol="0">
            <a:spAutoFit/>
          </a:bodyPr>
          <a:lstStyle/>
          <a:p>
            <a:r>
              <a:rPr lang="en-US" sz="800" dirty="0">
                <a:latin typeface="Book Antiqua" panose="02040602050305030304" pitchFamily="18" charset="0"/>
              </a:rPr>
              <a:t>Ok it is really hard to find images relating to child criminal </a:t>
            </a:r>
            <a:r>
              <a:rPr lang="en-US" sz="800" dirty="0" err="1">
                <a:latin typeface="Book Antiqua" panose="02040602050305030304" pitchFamily="18" charset="0"/>
              </a:rPr>
              <a:t>behaviour</a:t>
            </a:r>
            <a:r>
              <a:rPr lang="en-US" sz="800" dirty="0">
                <a:latin typeface="Book Antiqua" panose="02040602050305030304" pitchFamily="18" charset="0"/>
              </a:rPr>
              <a:t> that aren’t depressing so work with me here</a:t>
            </a:r>
          </a:p>
        </p:txBody>
      </p:sp>
    </p:spTree>
    <p:extLst>
      <p:ext uri="{BB962C8B-B14F-4D97-AF65-F5344CB8AC3E}">
        <p14:creationId xmlns:p14="http://schemas.microsoft.com/office/powerpoint/2010/main" val="321032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07BF3-9449-8EE9-E712-15F70FAE2200}"/>
              </a:ext>
            </a:extLst>
          </p:cNvPr>
          <p:cNvSpPr>
            <a:spLocks noGrp="1"/>
          </p:cNvSpPr>
          <p:nvPr>
            <p:ph type="title"/>
          </p:nvPr>
        </p:nvSpPr>
        <p:spPr/>
        <p:txBody>
          <a:bodyPr/>
          <a:lstStyle/>
          <a:p>
            <a:r>
              <a:rPr lang="en-US" dirty="0"/>
              <a:t>Criminal Responsibility in Children II</a:t>
            </a:r>
          </a:p>
        </p:txBody>
      </p:sp>
      <p:sp>
        <p:nvSpPr>
          <p:cNvPr id="3" name="Content Placeholder 2">
            <a:extLst>
              <a:ext uri="{FF2B5EF4-FFF2-40B4-BE49-F238E27FC236}">
                <a16:creationId xmlns:a16="http://schemas.microsoft.com/office/drawing/2014/main" id="{9DEF1DEC-F522-6BA6-EFB7-9DA2498F08F3}"/>
              </a:ext>
            </a:extLst>
          </p:cNvPr>
          <p:cNvSpPr>
            <a:spLocks noGrp="1"/>
          </p:cNvSpPr>
          <p:nvPr>
            <p:ph idx="1"/>
          </p:nvPr>
        </p:nvSpPr>
        <p:spPr/>
        <p:txBody>
          <a:bodyPr/>
          <a:lstStyle/>
          <a:p>
            <a:pPr marL="285750" indent="-285750">
              <a:buFont typeface="Arial" panose="020B0604020202020204" pitchFamily="34" charset="0"/>
              <a:buChar char="•"/>
            </a:pPr>
            <a:r>
              <a:rPr lang="en-US" dirty="0">
                <a:latin typeface="Book Antiqua" panose="02040602050305030304" pitchFamily="18" charset="0"/>
              </a:rPr>
              <a:t>MACR dates from late 7</a:t>
            </a:r>
            <a:r>
              <a:rPr lang="en-US" baseline="30000" dirty="0">
                <a:latin typeface="Book Antiqua" panose="02040602050305030304" pitchFamily="18" charset="0"/>
              </a:rPr>
              <a:t>th</a:t>
            </a:r>
            <a:r>
              <a:rPr lang="en-US" dirty="0">
                <a:latin typeface="Book Antiqua" panose="02040602050305030304" pitchFamily="18" charset="0"/>
              </a:rPr>
              <a:t> Century- children under 10 lack </a:t>
            </a:r>
            <a:r>
              <a:rPr lang="en-US" i="1" dirty="0" err="1">
                <a:latin typeface="Book Antiqua" panose="02040602050305030304" pitchFamily="18" charset="0"/>
              </a:rPr>
              <a:t>mens</a:t>
            </a:r>
            <a:r>
              <a:rPr lang="en-US" i="1" dirty="0">
                <a:latin typeface="Book Antiqua" panose="02040602050305030304" pitchFamily="18" charset="0"/>
              </a:rPr>
              <a:t> rea</a:t>
            </a:r>
          </a:p>
          <a:p>
            <a:pPr marL="585788" lvl="1" indent="-285750">
              <a:buFont typeface="Arial" panose="020B0604020202020204" pitchFamily="34" charset="0"/>
              <a:buChar char="•"/>
            </a:pPr>
            <a:r>
              <a:rPr lang="en-US" sz="1400" dirty="0">
                <a:latin typeface="Book Antiqua" panose="02040602050305030304" pitchFamily="18" charset="0"/>
              </a:rPr>
              <a:t>Laws of </a:t>
            </a:r>
            <a:r>
              <a:rPr lang="en-US" sz="1400" dirty="0" err="1">
                <a:latin typeface="Book Antiqua" panose="02040602050305030304" pitchFamily="18" charset="0"/>
              </a:rPr>
              <a:t>Ine</a:t>
            </a:r>
            <a:r>
              <a:rPr lang="en-US" sz="1400" dirty="0">
                <a:latin typeface="Book Antiqua" panose="02040602050305030304" pitchFamily="18" charset="0"/>
              </a:rPr>
              <a:t>, 694 CE</a:t>
            </a:r>
          </a:p>
          <a:p>
            <a:pPr marL="285750" indent="-285750">
              <a:buFont typeface="Arial" panose="020B0604020202020204" pitchFamily="34" charset="0"/>
              <a:buChar char="•"/>
            </a:pPr>
            <a:r>
              <a:rPr lang="en-US" dirty="0" err="1">
                <a:latin typeface="Book Antiqua" panose="02040602050305030304" pitchFamily="18" charset="0"/>
              </a:rPr>
              <a:t>Bracton</a:t>
            </a:r>
            <a:r>
              <a:rPr lang="en-US" dirty="0">
                <a:latin typeface="Book Antiqua" panose="02040602050305030304" pitchFamily="18" charset="0"/>
              </a:rPr>
              <a:t> 13</a:t>
            </a:r>
            <a:r>
              <a:rPr lang="en-US" baseline="30000" dirty="0">
                <a:latin typeface="Book Antiqua" panose="02040602050305030304" pitchFamily="18" charset="0"/>
              </a:rPr>
              <a:t>th</a:t>
            </a:r>
            <a:r>
              <a:rPr lang="en-US" dirty="0">
                <a:latin typeface="Book Antiqua" panose="02040602050305030304" pitchFamily="18" charset="0"/>
              </a:rPr>
              <a:t> Century- ﻿“harmlessness of intention”, “innocence of purpose”, “lack of intention to harm”</a:t>
            </a:r>
          </a:p>
          <a:p>
            <a:pPr marL="585788" lvl="1" indent="-285750">
              <a:buFont typeface="Arial" panose="020B0604020202020204" pitchFamily="34" charset="0"/>
              <a:buChar char="•"/>
            </a:pPr>
            <a:r>
              <a:rPr lang="en-US" dirty="0">
                <a:latin typeface="Book Antiqua" panose="02040602050305030304" pitchFamily="18" charset="0"/>
              </a:rPr>
              <a:t>﻿Henry de </a:t>
            </a:r>
            <a:r>
              <a:rPr lang="en-US" dirty="0" err="1">
                <a:latin typeface="Book Antiqua" panose="02040602050305030304" pitchFamily="18" charset="0"/>
              </a:rPr>
              <a:t>Braction</a:t>
            </a:r>
            <a:r>
              <a:rPr lang="en-US" dirty="0">
                <a:latin typeface="Book Antiqua" panose="02040602050305030304" pitchFamily="18" charset="0"/>
              </a:rPr>
              <a:t>, ‘De </a:t>
            </a:r>
            <a:r>
              <a:rPr lang="en-US" dirty="0" err="1">
                <a:latin typeface="Book Antiqua" panose="02040602050305030304" pitchFamily="18" charset="0"/>
              </a:rPr>
              <a:t>Legibus</a:t>
            </a:r>
            <a:r>
              <a:rPr lang="en-US" dirty="0">
                <a:latin typeface="Book Antiqua" panose="02040602050305030304" pitchFamily="18" charset="0"/>
              </a:rPr>
              <a:t> et </a:t>
            </a:r>
            <a:r>
              <a:rPr lang="en-US" dirty="0" err="1">
                <a:latin typeface="Book Antiqua" panose="02040602050305030304" pitchFamily="18" charset="0"/>
              </a:rPr>
              <a:t>Consuetudinibus</a:t>
            </a:r>
            <a:r>
              <a:rPr lang="en-US" dirty="0">
                <a:latin typeface="Book Antiqua" panose="02040602050305030304" pitchFamily="18" charset="0"/>
              </a:rPr>
              <a:t> </a:t>
            </a:r>
            <a:r>
              <a:rPr lang="en-US" dirty="0" err="1">
                <a:latin typeface="Book Antiqua" panose="02040602050305030304" pitchFamily="18" charset="0"/>
              </a:rPr>
              <a:t>Angilae</a:t>
            </a:r>
            <a:r>
              <a:rPr lang="en-US" dirty="0">
                <a:latin typeface="Book Antiqua" panose="02040602050305030304" pitchFamily="18" charset="0"/>
              </a:rPr>
              <a:t>’ in George E Woodbine (ed), Thirteenth Century Law Tracts (Yale University Press 1910) 143-159.</a:t>
            </a:r>
          </a:p>
          <a:p>
            <a:pPr marL="285750" indent="-285750">
              <a:buFont typeface="Arial" panose="020B0604020202020204" pitchFamily="34" charset="0"/>
              <a:buChar char="•"/>
            </a:pPr>
            <a:endParaRPr lang="en-US" b="1" dirty="0">
              <a:latin typeface="Book Antiqua" panose="02040602050305030304" pitchFamily="18" charset="0"/>
            </a:endParaRPr>
          </a:p>
          <a:p>
            <a:pPr marL="285750" indent="-285750">
              <a:buFont typeface="Arial" panose="020B0604020202020204" pitchFamily="34" charset="0"/>
              <a:buChar char="•"/>
            </a:pPr>
            <a:r>
              <a:rPr lang="en-US" b="1" dirty="0">
                <a:latin typeface="Book Antiqua" panose="02040602050305030304" pitchFamily="18" charset="0"/>
              </a:rPr>
              <a:t>Children Act </a:t>
            </a:r>
            <a:r>
              <a:rPr lang="en-US" b="1" u="sng" dirty="0">
                <a:latin typeface="Book Antiqua" panose="02040602050305030304" pitchFamily="18" charset="0"/>
              </a:rPr>
              <a:t>1908</a:t>
            </a:r>
            <a:r>
              <a:rPr lang="en-US" dirty="0">
                <a:latin typeface="Book Antiqua" panose="02040602050305030304" pitchFamily="18" charset="0"/>
              </a:rPr>
              <a:t> recognized children not fully responsible for first time- MACR </a:t>
            </a:r>
            <a:r>
              <a:rPr lang="en-US" b="1" dirty="0">
                <a:latin typeface="Book Antiqua" panose="02040602050305030304" pitchFamily="18" charset="0"/>
              </a:rPr>
              <a:t>7 years old</a:t>
            </a:r>
          </a:p>
          <a:p>
            <a:pPr marL="285750" indent="-285750">
              <a:buFont typeface="Arial" panose="020B0604020202020204" pitchFamily="34" charset="0"/>
              <a:buChar char="•"/>
            </a:pPr>
            <a:r>
              <a:rPr lang="en-US" b="1" dirty="0">
                <a:latin typeface="Book Antiqua" panose="02040602050305030304" pitchFamily="18" charset="0"/>
              </a:rPr>
              <a:t>Children and Young Persons Act 1933 s.50</a:t>
            </a:r>
            <a:r>
              <a:rPr lang="en-US" dirty="0">
                <a:latin typeface="Book Antiqua" panose="02040602050305030304" pitchFamily="18" charset="0"/>
              </a:rPr>
              <a:t> MACR 8 years old</a:t>
            </a:r>
            <a:endParaRPr lang="en-US" b="1" dirty="0">
              <a:latin typeface="Book Antiqua" panose="02040602050305030304" pitchFamily="18" charset="0"/>
            </a:endParaRPr>
          </a:p>
          <a:p>
            <a:pPr marL="285750" indent="-285750">
              <a:buFont typeface="Arial" panose="020B0604020202020204" pitchFamily="34" charset="0"/>
              <a:buChar char="•"/>
            </a:pPr>
            <a:r>
              <a:rPr lang="en-US" b="1" dirty="0">
                <a:latin typeface="Book Antiqua" panose="02040602050305030304" pitchFamily="18" charset="0"/>
              </a:rPr>
              <a:t>Children and Young Persons Act 1963 </a:t>
            </a:r>
            <a:r>
              <a:rPr lang="en-US" dirty="0">
                <a:latin typeface="Book Antiqua" panose="02040602050305030304" pitchFamily="18" charset="0"/>
              </a:rPr>
              <a:t>Raised to 10 years old</a:t>
            </a:r>
          </a:p>
          <a:p>
            <a:pPr marL="285750" indent="-285750">
              <a:buFont typeface="Arial" panose="020B0604020202020204" pitchFamily="34" charset="0"/>
              <a:buChar char="•"/>
            </a:pPr>
            <a:endParaRPr lang="en-US" dirty="0">
              <a:latin typeface="Book Antiqua" panose="02040602050305030304" pitchFamily="18" charset="0"/>
            </a:endParaRPr>
          </a:p>
          <a:p>
            <a:pPr marL="285750" indent="-285750">
              <a:buFont typeface="Arial" panose="020B0604020202020204" pitchFamily="34" charset="0"/>
              <a:buChar char="•"/>
            </a:pPr>
            <a:r>
              <a:rPr lang="en-US" dirty="0">
                <a:latin typeface="Book Antiqua" panose="02040602050305030304" pitchFamily="18" charset="0"/>
              </a:rPr>
              <a:t>Without MACR- how many of you were naughty toddlers?</a:t>
            </a:r>
          </a:p>
        </p:txBody>
      </p:sp>
    </p:spTree>
    <p:extLst>
      <p:ext uri="{BB962C8B-B14F-4D97-AF65-F5344CB8AC3E}">
        <p14:creationId xmlns:p14="http://schemas.microsoft.com/office/powerpoint/2010/main" val="3083011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7A1FC-71FA-C959-CD2C-B46477D2EB0B}"/>
              </a:ext>
            </a:extLst>
          </p:cNvPr>
          <p:cNvSpPr>
            <a:spLocks noGrp="1"/>
          </p:cNvSpPr>
          <p:nvPr>
            <p:ph type="title"/>
          </p:nvPr>
        </p:nvSpPr>
        <p:spPr>
          <a:xfrm>
            <a:off x="685800" y="0"/>
            <a:ext cx="7772400" cy="1752600"/>
          </a:xfrm>
        </p:spPr>
        <p:txBody>
          <a:bodyPr/>
          <a:lstStyle/>
          <a:p>
            <a:r>
              <a:rPr lang="en-US" sz="2400" dirty="0"/>
              <a:t>Criminal Responsibility in Children III- </a:t>
            </a:r>
            <a:r>
              <a:rPr lang="en-US" sz="2400" i="1" dirty="0" err="1"/>
              <a:t>Doli</a:t>
            </a:r>
            <a:r>
              <a:rPr lang="en-US" sz="2400" i="1" dirty="0"/>
              <a:t> incapax</a:t>
            </a:r>
          </a:p>
        </p:txBody>
      </p:sp>
      <p:sp>
        <p:nvSpPr>
          <p:cNvPr id="3" name="Content Placeholder 2">
            <a:extLst>
              <a:ext uri="{FF2B5EF4-FFF2-40B4-BE49-F238E27FC236}">
                <a16:creationId xmlns:a16="http://schemas.microsoft.com/office/drawing/2014/main" id="{8D396AA0-1406-3FDC-27BC-B34A4D298C87}"/>
              </a:ext>
            </a:extLst>
          </p:cNvPr>
          <p:cNvSpPr>
            <a:spLocks noGrp="1"/>
          </p:cNvSpPr>
          <p:nvPr>
            <p:ph idx="1"/>
          </p:nvPr>
        </p:nvSpPr>
        <p:spPr>
          <a:xfrm>
            <a:off x="803855" y="1274013"/>
            <a:ext cx="7772400" cy="4309974"/>
          </a:xfrm>
        </p:spPr>
        <p:txBody>
          <a:bodyPr/>
          <a:lstStyle/>
          <a:p>
            <a:pPr marL="285750" indent="-285750">
              <a:buFont typeface="Arial" panose="020B0604020202020204" pitchFamily="34" charset="0"/>
              <a:buChar char="•"/>
            </a:pPr>
            <a:r>
              <a:rPr lang="en-US" sz="1500" dirty="0">
                <a:latin typeface="Book Antiqua" panose="02040602050305030304" pitchFamily="18" charset="0"/>
              </a:rPr>
              <a:t>Rebuttable presumption that 10-14 year </a:t>
            </a:r>
            <a:r>
              <a:rPr lang="en-US" sz="1500" dirty="0" err="1">
                <a:latin typeface="Book Antiqua" panose="02040602050305030304" pitchFamily="18" charset="0"/>
              </a:rPr>
              <a:t>olds</a:t>
            </a:r>
            <a:r>
              <a:rPr lang="en-US" sz="1500" dirty="0">
                <a:latin typeface="Book Antiqua" panose="02040602050305030304" pitchFamily="18" charset="0"/>
              </a:rPr>
              <a:t> are incapable of knowing right from wrong</a:t>
            </a:r>
          </a:p>
          <a:p>
            <a:pPr marL="285750" indent="-285750">
              <a:buFont typeface="Arial" panose="020B0604020202020204" pitchFamily="34" charset="0"/>
              <a:buChar char="•"/>
            </a:pPr>
            <a:r>
              <a:rPr lang="en-US" sz="1500" dirty="0">
                <a:latin typeface="Book Antiqua" panose="02040602050305030304" pitchFamily="18" charset="0"/>
              </a:rPr>
              <a:t>Acted as a </a:t>
            </a:r>
            <a:r>
              <a:rPr lang="en-US" sz="1500" dirty="0" err="1">
                <a:latin typeface="Book Antiqua" panose="02040602050305030304" pitchFamily="18" charset="0"/>
              </a:rPr>
              <a:t>defence</a:t>
            </a:r>
            <a:r>
              <a:rPr lang="en-US" sz="1500" dirty="0">
                <a:latin typeface="Book Antiqua" panose="02040602050305030304" pitchFamily="18" charset="0"/>
              </a:rPr>
              <a:t> since 14</a:t>
            </a:r>
            <a:r>
              <a:rPr lang="en-US" sz="1500" baseline="30000" dirty="0">
                <a:latin typeface="Book Antiqua" panose="02040602050305030304" pitchFamily="18" charset="0"/>
              </a:rPr>
              <a:t>th</a:t>
            </a:r>
            <a:r>
              <a:rPr lang="en-US" sz="1500" dirty="0">
                <a:latin typeface="Book Antiqua" panose="02040602050305030304" pitchFamily="18" charset="0"/>
              </a:rPr>
              <a:t> Century, established law 1845 (</a:t>
            </a:r>
            <a:r>
              <a:rPr lang="en-US" sz="1500" i="1" dirty="0">
                <a:latin typeface="Book Antiqua" panose="02040602050305030304" pitchFamily="18" charset="0"/>
              </a:rPr>
              <a:t>R v Smith</a:t>
            </a:r>
            <a:r>
              <a:rPr lang="en-US" sz="1500" dirty="0">
                <a:latin typeface="Book Antiqua" panose="02040602050305030304" pitchFamily="18" charset="0"/>
              </a:rPr>
              <a:t>)- requiring </a:t>
            </a:r>
            <a:r>
              <a:rPr lang="en-US" sz="1500" i="1" dirty="0" err="1">
                <a:latin typeface="Book Antiqua" panose="02040602050305030304" pitchFamily="18" charset="0"/>
              </a:rPr>
              <a:t>mens</a:t>
            </a:r>
            <a:r>
              <a:rPr lang="en-US" sz="1500" i="1" dirty="0">
                <a:latin typeface="Book Antiqua" panose="02040602050305030304" pitchFamily="18" charset="0"/>
              </a:rPr>
              <a:t> rea</a:t>
            </a:r>
          </a:p>
          <a:p>
            <a:pPr marL="285750" indent="-285750">
              <a:buFont typeface="Arial" panose="020B0604020202020204" pitchFamily="34" charset="0"/>
              <a:buChar char="•"/>
            </a:pPr>
            <a:r>
              <a:rPr lang="en-US" sz="1500" dirty="0">
                <a:latin typeface="Book Antiqua" panose="02040602050305030304" pitchFamily="18" charset="0"/>
              </a:rPr>
              <a:t>Shift in attitude to </a:t>
            </a:r>
            <a:r>
              <a:rPr lang="en-GB" sz="1500" dirty="0">
                <a:latin typeface="Book Antiqua" panose="02040602050305030304" pitchFamily="18" charset="0"/>
              </a:rPr>
              <a:t>defence</a:t>
            </a:r>
            <a:r>
              <a:rPr lang="en-US" sz="1500" dirty="0">
                <a:latin typeface="Book Antiqua" panose="02040602050305030304" pitchFamily="18" charset="0"/>
              </a:rPr>
              <a:t> following murder of Jamie Bulger 1993</a:t>
            </a:r>
          </a:p>
          <a:p>
            <a:pPr marL="285750" indent="-285750">
              <a:buFont typeface="Arial" panose="020B0604020202020204" pitchFamily="34" charset="0"/>
              <a:buChar char="•"/>
            </a:pPr>
            <a:endParaRPr lang="en-US" sz="1500" dirty="0">
              <a:latin typeface="Book Antiqua" panose="02040602050305030304" pitchFamily="18" charset="0"/>
            </a:endParaRPr>
          </a:p>
          <a:p>
            <a:pPr marL="285750" indent="-285750">
              <a:buFont typeface="Arial" panose="020B0604020202020204" pitchFamily="34" charset="0"/>
              <a:buChar char="•"/>
            </a:pPr>
            <a:endParaRPr lang="en-US" sz="1500" dirty="0">
              <a:latin typeface="Book Antiqua" panose="02040602050305030304" pitchFamily="18" charset="0"/>
            </a:endParaRPr>
          </a:p>
          <a:p>
            <a:pPr marL="285750" indent="-285750">
              <a:buFont typeface="Arial" panose="020B0604020202020204" pitchFamily="34" charset="0"/>
              <a:buChar char="•"/>
            </a:pPr>
            <a:endParaRPr lang="en-US" sz="1500" dirty="0">
              <a:latin typeface="Book Antiqua" panose="02040602050305030304" pitchFamily="18" charset="0"/>
            </a:endParaRPr>
          </a:p>
          <a:p>
            <a:pPr marL="285750" indent="-285750">
              <a:buFont typeface="Arial" panose="020B0604020202020204" pitchFamily="34" charset="0"/>
              <a:buChar char="•"/>
            </a:pPr>
            <a:endParaRPr lang="en-US" sz="1500" dirty="0">
              <a:latin typeface="Book Antiqua" panose="02040602050305030304" pitchFamily="18" charset="0"/>
            </a:endParaRPr>
          </a:p>
          <a:p>
            <a:pPr marL="285750" indent="-285750">
              <a:buFont typeface="Arial" panose="020B0604020202020204" pitchFamily="34" charset="0"/>
              <a:buChar char="•"/>
            </a:pPr>
            <a:endParaRPr lang="en-US" sz="1500" dirty="0">
              <a:latin typeface="Book Antiqua" panose="02040602050305030304" pitchFamily="18" charset="0"/>
            </a:endParaRPr>
          </a:p>
          <a:p>
            <a:pPr marL="285750" indent="-285750">
              <a:buFont typeface="Arial" panose="020B0604020202020204" pitchFamily="34" charset="0"/>
              <a:buChar char="•"/>
            </a:pPr>
            <a:endParaRPr lang="en-US" sz="1500" dirty="0">
              <a:latin typeface="Book Antiqua" panose="02040602050305030304" pitchFamily="18" charset="0"/>
            </a:endParaRPr>
          </a:p>
          <a:p>
            <a:pPr marL="0" indent="0"/>
            <a:endParaRPr lang="en-US" sz="1500" dirty="0">
              <a:latin typeface="Book Antiqua" panose="02040602050305030304" pitchFamily="18" charset="0"/>
            </a:endParaRPr>
          </a:p>
          <a:p>
            <a:pPr marL="0" indent="0"/>
            <a:endParaRPr lang="en-US" sz="1500" dirty="0">
              <a:latin typeface="Book Antiqua" panose="02040602050305030304" pitchFamily="18" charset="0"/>
            </a:endParaRPr>
          </a:p>
          <a:p>
            <a:pPr marL="285750" indent="-285750">
              <a:buFont typeface="Arial" panose="020B0604020202020204" pitchFamily="34" charset="0"/>
              <a:buChar char="•"/>
            </a:pPr>
            <a:r>
              <a:rPr lang="en-US" sz="1500" dirty="0">
                <a:latin typeface="Book Antiqua" panose="02040602050305030304" pitchFamily="18" charset="0"/>
              </a:rPr>
              <a:t>“[</a:t>
            </a:r>
            <a:r>
              <a:rPr lang="en-US" sz="1500" i="1" dirty="0" err="1">
                <a:latin typeface="Book Antiqua" panose="02040602050305030304" pitchFamily="18" charset="0"/>
              </a:rPr>
              <a:t>doli</a:t>
            </a:r>
            <a:r>
              <a:rPr lang="en-US" sz="1500" i="1" dirty="0">
                <a:latin typeface="Book Antiqua" panose="02040602050305030304" pitchFamily="18" charset="0"/>
              </a:rPr>
              <a:t> incapax</a:t>
            </a:r>
            <a:r>
              <a:rPr lang="en-US" sz="1500" dirty="0">
                <a:latin typeface="Book Antiqua" panose="02040602050305030304" pitchFamily="18" charset="0"/>
              </a:rPr>
              <a:t>] is contrary to common sense … presuming that children of this age generally do not know the difference between naughtiness and serious wrongdoing”</a:t>
            </a:r>
          </a:p>
          <a:p>
            <a:pPr marL="285750" indent="-285750">
              <a:buFont typeface="Arial" panose="020B0604020202020204" pitchFamily="34" charset="0"/>
              <a:buChar char="•"/>
            </a:pPr>
            <a:r>
              <a:rPr lang="en-US" sz="1400" dirty="0">
                <a:latin typeface="Book Antiqua" panose="02040602050305030304" pitchFamily="18" charset="0"/>
              </a:rPr>
              <a:t>	</a:t>
            </a:r>
            <a:r>
              <a:rPr lang="en-GB" sz="1400" dirty="0">
                <a:effectLst/>
                <a:latin typeface="Book Antiqua" panose="02040602050305030304" pitchFamily="18" charset="0"/>
                <a:ea typeface="Calibri" panose="020F0502020204030204" pitchFamily="34" charset="0"/>
              </a:rPr>
              <a:t> </a:t>
            </a:r>
            <a:r>
              <a:rPr lang="en-GB" sz="1050" dirty="0">
                <a:effectLst/>
                <a:latin typeface="Book Antiqua" panose="02040602050305030304" pitchFamily="18" charset="0"/>
                <a:ea typeface="Calibri" panose="020F0502020204030204" pitchFamily="34" charset="0"/>
              </a:rPr>
              <a:t>Home Office, </a:t>
            </a:r>
            <a:r>
              <a:rPr lang="en-GB" sz="1050" i="1" dirty="0">
                <a:effectLst/>
                <a:latin typeface="Book Antiqua" panose="02040602050305030304" pitchFamily="18" charset="0"/>
                <a:ea typeface="Calibri" panose="020F0502020204030204" pitchFamily="34" charset="0"/>
              </a:rPr>
              <a:t>No More Excuses: A New Approach to Tackling Youth Crime in England and Wales</a:t>
            </a:r>
            <a:r>
              <a:rPr lang="en-GB" sz="1050" dirty="0">
                <a:effectLst/>
                <a:latin typeface="Book Antiqua" panose="02040602050305030304" pitchFamily="18" charset="0"/>
                <a:ea typeface="Calibri" panose="020F0502020204030204" pitchFamily="34" charset="0"/>
              </a:rPr>
              <a:t> (Cm 3809, 1997)</a:t>
            </a:r>
          </a:p>
          <a:p>
            <a:pPr marL="285750" indent="-285750">
              <a:buFont typeface="Arial" panose="020B0604020202020204" pitchFamily="34" charset="0"/>
              <a:buChar char="•"/>
            </a:pPr>
            <a:r>
              <a:rPr lang="en-US" sz="1500" dirty="0" err="1">
                <a:latin typeface="Book Antiqua" panose="02040602050305030304" pitchFamily="18" charset="0"/>
              </a:rPr>
              <a:t>Defence</a:t>
            </a:r>
            <a:r>
              <a:rPr lang="en-US" sz="1500" dirty="0">
                <a:latin typeface="Book Antiqua" panose="02040602050305030304" pitchFamily="18" charset="0"/>
              </a:rPr>
              <a:t> abolished s.34 Crime and Disorder Act 1998</a:t>
            </a:r>
          </a:p>
          <a:p>
            <a:endParaRPr lang="en-US" dirty="0"/>
          </a:p>
        </p:txBody>
      </p:sp>
      <p:pic>
        <p:nvPicPr>
          <p:cNvPr id="5122" name="Picture 2" descr="The Age of Criminal Responsibility in Australia | LY Lawyers">
            <a:extLst>
              <a:ext uri="{FF2B5EF4-FFF2-40B4-BE49-F238E27FC236}">
                <a16:creationId xmlns:a16="http://schemas.microsoft.com/office/drawing/2014/main" id="{E3CFB2BE-CEA0-9DFF-8058-F33487E796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8837" y="2671284"/>
            <a:ext cx="3281585" cy="199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644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F1A8C-6517-A647-811F-0DE8DAD9FA69}"/>
              </a:ext>
            </a:extLst>
          </p:cNvPr>
          <p:cNvSpPr>
            <a:spLocks noGrp="1"/>
          </p:cNvSpPr>
          <p:nvPr>
            <p:ph type="ctrTitle" sz="quarter"/>
          </p:nvPr>
        </p:nvSpPr>
        <p:spPr>
          <a:xfrm>
            <a:off x="685800" y="1958975"/>
            <a:ext cx="7772400" cy="1470025"/>
          </a:xfrm>
        </p:spPr>
        <p:txBody>
          <a:bodyPr/>
          <a:lstStyle/>
          <a:p>
            <a:pPr algn="ctr"/>
            <a:r>
              <a:rPr lang="en-US" dirty="0"/>
              <a:t>Current Position</a:t>
            </a:r>
          </a:p>
        </p:txBody>
      </p:sp>
    </p:spTree>
    <p:extLst>
      <p:ext uri="{BB962C8B-B14F-4D97-AF65-F5344CB8AC3E}">
        <p14:creationId xmlns:p14="http://schemas.microsoft.com/office/powerpoint/2010/main" val="3034681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7FB91-D451-14B4-6689-FA71956271C0}"/>
              </a:ext>
            </a:extLst>
          </p:cNvPr>
          <p:cNvSpPr>
            <a:spLocks noGrp="1"/>
          </p:cNvSpPr>
          <p:nvPr>
            <p:ph type="title"/>
          </p:nvPr>
        </p:nvSpPr>
        <p:spPr>
          <a:xfrm>
            <a:off x="685800" y="609600"/>
            <a:ext cx="7772400" cy="1143000"/>
          </a:xfrm>
        </p:spPr>
        <p:txBody>
          <a:bodyPr wrap="square" anchor="ctr">
            <a:normAutofit/>
          </a:bodyPr>
          <a:lstStyle/>
          <a:p>
            <a:r>
              <a:rPr lang="en-GB" dirty="0"/>
              <a:t>England and Wales</a:t>
            </a:r>
          </a:p>
        </p:txBody>
      </p:sp>
      <p:sp>
        <p:nvSpPr>
          <p:cNvPr id="3" name="Content Placeholder 2">
            <a:extLst>
              <a:ext uri="{FF2B5EF4-FFF2-40B4-BE49-F238E27FC236}">
                <a16:creationId xmlns:a16="http://schemas.microsoft.com/office/drawing/2014/main" id="{E3F22A84-0CB6-B7E2-27D4-711428170CD3}"/>
              </a:ext>
            </a:extLst>
          </p:cNvPr>
          <p:cNvSpPr>
            <a:spLocks noGrp="1"/>
          </p:cNvSpPr>
          <p:nvPr>
            <p:ph sz="half" idx="1"/>
          </p:nvPr>
        </p:nvSpPr>
        <p:spPr>
          <a:xfrm>
            <a:off x="684213" y="1989138"/>
            <a:ext cx="3810000" cy="3816350"/>
          </a:xfrm>
        </p:spPr>
        <p:txBody>
          <a:bodyPr wrap="square" anchor="t">
            <a:normAutofit/>
          </a:bodyPr>
          <a:lstStyle/>
          <a:p>
            <a:pPr marL="285750" indent="-285750">
              <a:lnSpc>
                <a:spcPct val="90000"/>
              </a:lnSpc>
              <a:buFont typeface="Arial" panose="020B0604020202020204" pitchFamily="34" charset="0"/>
              <a:buChar char="•"/>
            </a:pPr>
            <a:r>
              <a:rPr lang="en-GB" sz="1800" dirty="0"/>
              <a:t>MACR 10 years old</a:t>
            </a:r>
          </a:p>
          <a:p>
            <a:pPr marL="285750" indent="-285750">
              <a:lnSpc>
                <a:spcPct val="90000"/>
              </a:lnSpc>
              <a:buFont typeface="Arial" panose="020B0604020202020204" pitchFamily="34" charset="0"/>
              <a:buChar char="•"/>
            </a:pPr>
            <a:r>
              <a:rPr lang="en-GB" sz="1800" dirty="0"/>
              <a:t>﻿“… a person is completely irresponsible on the day before his tenth birthday and fully responsible as soon as the jelly and ice-cream have been cleared the following day”</a:t>
            </a:r>
          </a:p>
          <a:p>
            <a:pPr marL="585788" lvl="1" indent="-285750">
              <a:lnSpc>
                <a:spcPct val="90000"/>
              </a:lnSpc>
              <a:buFont typeface="Arial" panose="020B0604020202020204" pitchFamily="34" charset="0"/>
              <a:buChar char="•"/>
            </a:pPr>
            <a:r>
              <a:rPr lang="en-GB" dirty="0"/>
              <a:t>﻿</a:t>
            </a:r>
            <a:r>
              <a:rPr lang="en-GB" sz="1200" dirty="0"/>
              <a:t>A T H Smith, ‘</a:t>
            </a:r>
            <a:r>
              <a:rPr lang="en-GB" sz="1200" dirty="0" err="1"/>
              <a:t>Doli</a:t>
            </a:r>
            <a:r>
              <a:rPr lang="en-GB" sz="1200" dirty="0"/>
              <a:t> Incapax under threat” (1994) 53 Cambridge Law Journal 426, 427.</a:t>
            </a:r>
          </a:p>
          <a:p>
            <a:pPr marL="285750" indent="-285750">
              <a:lnSpc>
                <a:spcPct val="90000"/>
              </a:lnSpc>
              <a:buFont typeface="Arial" panose="020B0604020202020204" pitchFamily="34" charset="0"/>
              <a:buChar char="•"/>
            </a:pPr>
            <a:r>
              <a:rPr lang="en-GB" sz="1800" dirty="0"/>
              <a:t>Lowest MACR in Europe</a:t>
            </a:r>
          </a:p>
          <a:p>
            <a:pPr marL="285750" indent="-285750">
              <a:lnSpc>
                <a:spcPct val="90000"/>
              </a:lnSpc>
              <a:buFont typeface="Arial" panose="020B0604020202020204" pitchFamily="34" charset="0"/>
              <a:buChar char="•"/>
            </a:pPr>
            <a:r>
              <a:rPr lang="en-GB" sz="1800" dirty="0"/>
              <a:t>UN has called for considerable raise</a:t>
            </a:r>
          </a:p>
        </p:txBody>
      </p:sp>
      <p:pic>
        <p:nvPicPr>
          <p:cNvPr id="6146" name="Picture 2" descr="Jelly and Ice Cream Recipe - Great British Chefs">
            <a:extLst>
              <a:ext uri="{FF2B5EF4-FFF2-40B4-BE49-F238E27FC236}">
                <a16:creationId xmlns:a16="http://schemas.microsoft.com/office/drawing/2014/main" id="{C56B5264-1A55-59DA-F08C-17CB1D43F8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422" r="7937" b="-3"/>
          <a:stretch/>
        </p:blipFill>
        <p:spPr bwMode="auto">
          <a:xfrm>
            <a:off x="4646613" y="1989138"/>
            <a:ext cx="3810000" cy="3816350"/>
          </a:xfrm>
          <a:prstGeom prst="rect">
            <a:avLst/>
          </a:prstGeom>
          <a:solidFill>
            <a:srgbClr val="FFFFFF"/>
          </a:solidFill>
        </p:spPr>
      </p:pic>
    </p:spTree>
    <p:extLst>
      <p:ext uri="{BB962C8B-B14F-4D97-AF65-F5344CB8AC3E}">
        <p14:creationId xmlns:p14="http://schemas.microsoft.com/office/powerpoint/2010/main" val="3832379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807C8-DC80-A871-9AD0-A69D200031EE}"/>
              </a:ext>
            </a:extLst>
          </p:cNvPr>
          <p:cNvSpPr>
            <a:spLocks noGrp="1"/>
          </p:cNvSpPr>
          <p:nvPr>
            <p:ph type="title"/>
          </p:nvPr>
        </p:nvSpPr>
        <p:spPr/>
        <p:txBody>
          <a:bodyPr/>
          <a:lstStyle/>
          <a:p>
            <a:r>
              <a:rPr lang="en-US" dirty="0"/>
              <a:t>USA</a:t>
            </a:r>
          </a:p>
        </p:txBody>
      </p:sp>
      <p:sp>
        <p:nvSpPr>
          <p:cNvPr id="3" name="Content Placeholder 2">
            <a:extLst>
              <a:ext uri="{FF2B5EF4-FFF2-40B4-BE49-F238E27FC236}">
                <a16:creationId xmlns:a16="http://schemas.microsoft.com/office/drawing/2014/main" id="{DCB6136A-8926-2966-A8FE-E42DA416645A}"/>
              </a:ext>
            </a:extLst>
          </p:cNvPr>
          <p:cNvSpPr>
            <a:spLocks noGrp="1"/>
          </p:cNvSpPr>
          <p:nvPr>
            <p:ph idx="1"/>
          </p:nvPr>
        </p:nvSpPr>
        <p:spPr>
          <a:xfrm>
            <a:off x="685800" y="1752600"/>
            <a:ext cx="7772400" cy="4292170"/>
          </a:xfrm>
        </p:spPr>
        <p:txBody>
          <a:bodyPr/>
          <a:lstStyle/>
          <a:p>
            <a:pPr marL="285750" indent="-285750">
              <a:buFont typeface="Arial" panose="020B0604020202020204" pitchFamily="34" charset="0"/>
              <a:buChar char="•"/>
            </a:pPr>
            <a:r>
              <a:rPr lang="en-US" i="1" dirty="0">
                <a:latin typeface="Book Antiqua" panose="02040602050305030304" pitchFamily="18" charset="0"/>
              </a:rPr>
              <a:t>Roper v Simmons </a:t>
            </a:r>
            <a:r>
              <a:rPr lang="en-US" dirty="0">
                <a:latin typeface="Book Antiqua" panose="02040602050305030304" pitchFamily="18" charset="0"/>
              </a:rPr>
              <a:t>2005</a:t>
            </a:r>
          </a:p>
          <a:p>
            <a:pPr marL="585788" lvl="1" indent="-285750">
              <a:buFont typeface="Arial" panose="020B0604020202020204" pitchFamily="34" charset="0"/>
              <a:buChar char="•"/>
            </a:pPr>
            <a:r>
              <a:rPr lang="en-US" sz="1800" dirty="0">
                <a:latin typeface="Book Antiqua" panose="02040602050305030304" pitchFamily="18" charset="0"/>
              </a:rPr>
              <a:t>Capital punishment unconstitutional for under 18s</a:t>
            </a:r>
          </a:p>
          <a:p>
            <a:pPr marL="285750" indent="-285750">
              <a:buFont typeface="Arial" panose="020B0604020202020204" pitchFamily="34" charset="0"/>
              <a:buChar char="•"/>
            </a:pPr>
            <a:r>
              <a:rPr lang="en-US" dirty="0">
                <a:latin typeface="Book Antiqua" panose="02040602050305030304" pitchFamily="18" charset="0"/>
              </a:rPr>
              <a:t>Relied on brain development neuroscience- more </a:t>
            </a:r>
          </a:p>
          <a:p>
            <a:pPr marL="0" indent="0"/>
            <a:r>
              <a:rPr lang="en-US" dirty="0">
                <a:latin typeface="Book Antiqua" panose="02040602050305030304" pitchFamily="18" charset="0"/>
              </a:rPr>
              <a:t>     immature, vulnerable, lack of control</a:t>
            </a:r>
          </a:p>
          <a:p>
            <a:pPr marL="285750" indent="-285750">
              <a:buFont typeface="Arial" panose="020B0604020202020204" pitchFamily="34" charset="0"/>
              <a:buChar char="•"/>
            </a:pPr>
            <a:endParaRPr lang="en-US" dirty="0">
              <a:latin typeface="Book Antiqua" panose="02040602050305030304" pitchFamily="18" charset="0"/>
            </a:endParaRPr>
          </a:p>
          <a:p>
            <a:pPr marL="285750" indent="-285750">
              <a:buFont typeface="Arial" panose="020B0604020202020204" pitchFamily="34" charset="0"/>
              <a:buChar char="•"/>
            </a:pPr>
            <a:r>
              <a:rPr lang="en-US" i="1" dirty="0">
                <a:latin typeface="Book Antiqua" panose="02040602050305030304" pitchFamily="18" charset="0"/>
              </a:rPr>
              <a:t>Graham v Florida</a:t>
            </a:r>
            <a:r>
              <a:rPr lang="en-US" dirty="0">
                <a:latin typeface="Book Antiqua" panose="02040602050305030304" pitchFamily="18" charset="0"/>
              </a:rPr>
              <a:t> 2010 (non-homicide)- actions of child “not as morally reprehensible” as of adult / </a:t>
            </a:r>
            <a:r>
              <a:rPr lang="en-US" i="1" dirty="0">
                <a:latin typeface="Book Antiqua" panose="02040602050305030304" pitchFamily="18" charset="0"/>
              </a:rPr>
              <a:t>Miller v Alabama</a:t>
            </a:r>
            <a:r>
              <a:rPr lang="en-US" dirty="0">
                <a:latin typeface="Book Antiqua" panose="02040602050305030304" pitchFamily="18" charset="0"/>
              </a:rPr>
              <a:t> 2012 (homicide)</a:t>
            </a:r>
          </a:p>
          <a:p>
            <a:pPr marL="585788" lvl="1" indent="-285750">
              <a:buFont typeface="Arial" panose="020B0604020202020204" pitchFamily="34" charset="0"/>
              <a:buChar char="•"/>
            </a:pPr>
            <a:r>
              <a:rPr lang="en-US" sz="1800" dirty="0">
                <a:latin typeface="Book Antiqua" panose="02040602050305030304" pitchFamily="18" charset="0"/>
              </a:rPr>
              <a:t>Life without parole unconstitutional for adolescents</a:t>
            </a:r>
          </a:p>
          <a:p>
            <a:pPr marL="285750" indent="-285750">
              <a:buFont typeface="Arial" panose="020B0604020202020204" pitchFamily="34" charset="0"/>
              <a:buChar char="•"/>
            </a:pPr>
            <a:endParaRPr lang="en-US" dirty="0">
              <a:latin typeface="Book Antiqua" panose="02040602050305030304" pitchFamily="18" charset="0"/>
            </a:endParaRPr>
          </a:p>
          <a:p>
            <a:pPr marL="285750" indent="-285750">
              <a:buFont typeface="Arial" panose="020B0604020202020204" pitchFamily="34" charset="0"/>
              <a:buChar char="•"/>
            </a:pPr>
            <a:r>
              <a:rPr lang="en-US" dirty="0">
                <a:latin typeface="Book Antiqua" panose="02040602050305030304" pitchFamily="18" charset="0"/>
              </a:rPr>
              <a:t>Increasing recognition of </a:t>
            </a:r>
            <a:r>
              <a:rPr lang="en-US" dirty="0" err="1">
                <a:latin typeface="Book Antiqua" panose="02040602050305030304" pitchFamily="18" charset="0"/>
              </a:rPr>
              <a:t>neuroevidence</a:t>
            </a:r>
            <a:r>
              <a:rPr lang="en-US" dirty="0">
                <a:latin typeface="Book Antiqua" panose="02040602050305030304" pitchFamily="18" charset="0"/>
              </a:rPr>
              <a:t> for criminal responsibility in children</a:t>
            </a:r>
          </a:p>
        </p:txBody>
      </p:sp>
      <p:pic>
        <p:nvPicPr>
          <p:cNvPr id="9218" name="Picture 2">
            <a:extLst>
              <a:ext uri="{FF2B5EF4-FFF2-40B4-BE49-F238E27FC236}">
                <a16:creationId xmlns:a16="http://schemas.microsoft.com/office/drawing/2014/main" id="{FDCDABC0-7C13-5C30-23BF-1CE7EAEBF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6757" y="609600"/>
            <a:ext cx="2264667" cy="2560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9327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39543-6990-97C8-6DF8-9CF141D73F4C}"/>
              </a:ext>
            </a:extLst>
          </p:cNvPr>
          <p:cNvSpPr>
            <a:spLocks noGrp="1"/>
          </p:cNvSpPr>
          <p:nvPr>
            <p:ph type="title"/>
          </p:nvPr>
        </p:nvSpPr>
        <p:spPr/>
        <p:txBody>
          <a:bodyPr/>
          <a:lstStyle/>
          <a:p>
            <a:r>
              <a:rPr lang="en-US" dirty="0"/>
              <a:t>Netherlands</a:t>
            </a:r>
          </a:p>
        </p:txBody>
      </p:sp>
      <p:sp>
        <p:nvSpPr>
          <p:cNvPr id="3" name="Content Placeholder 2">
            <a:extLst>
              <a:ext uri="{FF2B5EF4-FFF2-40B4-BE49-F238E27FC236}">
                <a16:creationId xmlns:a16="http://schemas.microsoft.com/office/drawing/2014/main" id="{8D5041F8-341C-24D2-542B-D07B2A24E662}"/>
              </a:ext>
            </a:extLst>
          </p:cNvPr>
          <p:cNvSpPr>
            <a:spLocks noGrp="1"/>
          </p:cNvSpPr>
          <p:nvPr>
            <p:ph idx="1"/>
          </p:nvPr>
        </p:nvSpPr>
        <p:spPr/>
        <p:txBody>
          <a:bodyPr/>
          <a:lstStyle/>
          <a:p>
            <a:pPr marL="285750" indent="-285750">
              <a:buFont typeface="Arial" panose="020B0604020202020204" pitchFamily="34" charset="0"/>
              <a:buChar char="•"/>
            </a:pPr>
            <a:r>
              <a:rPr lang="en-US" dirty="0" err="1">
                <a:latin typeface="Book Antiqua" panose="02040602050305030304" pitchFamily="18" charset="0"/>
              </a:rPr>
              <a:t>Neuroevidence</a:t>
            </a:r>
            <a:r>
              <a:rPr lang="en-US" dirty="0">
                <a:latin typeface="Book Antiqua" panose="02040602050305030304" pitchFamily="18" charset="0"/>
              </a:rPr>
              <a:t> (medical/ physiological) comparatively widely used</a:t>
            </a:r>
          </a:p>
          <a:p>
            <a:pPr marL="285750" indent="-285750">
              <a:buFont typeface="Arial" panose="020B0604020202020204" pitchFamily="34" charset="0"/>
              <a:buChar char="•"/>
            </a:pPr>
            <a:endParaRPr lang="en-US" dirty="0">
              <a:latin typeface="Book Antiqua" panose="02040602050305030304" pitchFamily="18" charset="0"/>
            </a:endParaRPr>
          </a:p>
          <a:p>
            <a:pPr marL="285750" indent="-285750">
              <a:buFont typeface="Arial" panose="020B0604020202020204" pitchFamily="34" charset="0"/>
              <a:buChar char="•"/>
            </a:pPr>
            <a:r>
              <a:rPr lang="en-US" dirty="0">
                <a:latin typeface="Book Antiqua" panose="02040602050305030304" pitchFamily="18" charset="0"/>
              </a:rPr>
              <a:t>Always accompanied by </a:t>
            </a:r>
            <a:r>
              <a:rPr lang="en-US" dirty="0" err="1">
                <a:latin typeface="Book Antiqua" panose="02040602050305030304" pitchFamily="18" charset="0"/>
              </a:rPr>
              <a:t>behavioural</a:t>
            </a:r>
            <a:r>
              <a:rPr lang="en-US" dirty="0">
                <a:latin typeface="Book Antiqua" panose="02040602050305030304" pitchFamily="18" charset="0"/>
              </a:rPr>
              <a:t> assessment to ensure reliability</a:t>
            </a:r>
          </a:p>
          <a:p>
            <a:pPr marL="285750" indent="-285750">
              <a:buFont typeface="Arial" panose="020B0604020202020204" pitchFamily="34" charset="0"/>
              <a:buChar char="•"/>
            </a:pPr>
            <a:endParaRPr lang="en-US" dirty="0">
              <a:latin typeface="Book Antiqua" panose="02040602050305030304" pitchFamily="18" charset="0"/>
            </a:endParaRPr>
          </a:p>
          <a:p>
            <a:pPr marL="285750" indent="-285750">
              <a:buFont typeface="Arial" panose="020B0604020202020204" pitchFamily="34" charset="0"/>
              <a:buChar char="•"/>
            </a:pPr>
            <a:r>
              <a:rPr lang="en-US" dirty="0">
                <a:latin typeface="Book Antiqua" panose="02040602050305030304" pitchFamily="18" charset="0"/>
              </a:rPr>
              <a:t>MACR raised- justified by neuroscience:</a:t>
            </a:r>
          </a:p>
          <a:p>
            <a:pPr marL="585788" lvl="1" indent="-285750">
              <a:buFont typeface="Arial" panose="020B0604020202020204" pitchFamily="34" charset="0"/>
              <a:buChar char="•"/>
            </a:pPr>
            <a:r>
              <a:rPr lang="en-US" dirty="0">
                <a:latin typeface="Book Antiqua" panose="02040602050305030304" pitchFamily="18" charset="0"/>
              </a:rPr>
              <a:t>﻿“risk </a:t>
            </a:r>
            <a:r>
              <a:rPr lang="en-US" dirty="0" err="1">
                <a:latin typeface="Book Antiqua" panose="02040602050305030304" pitchFamily="18" charset="0"/>
              </a:rPr>
              <a:t>behaviour</a:t>
            </a:r>
            <a:r>
              <a:rPr lang="en-US" dirty="0">
                <a:latin typeface="Book Antiqua" panose="02040602050305030304" pitchFamily="18" charset="0"/>
              </a:rPr>
              <a:t> occurs between the age of 15 and 23 and can also be attributed to an incomplete development of important brain functions. […] Modern research on the functioning of the brain aided by scanning techniques is said to explain that adolescents let themselves be guided more by brain parts reacting to immediate reward than adults” ﻿(</a:t>
            </a:r>
            <a:r>
              <a:rPr lang="en-US" dirty="0" err="1">
                <a:latin typeface="Book Antiqua" panose="02040602050305030304" pitchFamily="18" charset="0"/>
              </a:rPr>
              <a:t>Kamerstuk</a:t>
            </a:r>
            <a:r>
              <a:rPr lang="en-US" dirty="0">
                <a:latin typeface="Book Antiqua" panose="02040602050305030304" pitchFamily="18" charset="0"/>
              </a:rPr>
              <a:t> 33 498 Nr. 3 d. d. 13)</a:t>
            </a:r>
          </a:p>
          <a:p>
            <a:pPr marL="585788" lvl="1" indent="-285750">
              <a:buFont typeface="Arial" panose="020B0604020202020204" pitchFamily="34" charset="0"/>
              <a:buChar char="•"/>
            </a:pPr>
            <a:endParaRPr lang="en-US" dirty="0">
              <a:latin typeface="Book Antiqua" panose="02040602050305030304" pitchFamily="18" charset="0"/>
            </a:endParaRPr>
          </a:p>
          <a:p>
            <a:pPr marL="285750" indent="-285750">
              <a:buFont typeface="Arial" panose="020B0604020202020204" pitchFamily="34" charset="0"/>
              <a:buChar char="•"/>
            </a:pPr>
            <a:r>
              <a:rPr lang="en-US" dirty="0">
                <a:latin typeface="Book Antiqua" panose="02040602050305030304" pitchFamily="18" charset="0"/>
              </a:rPr>
              <a:t>MACR 18, 18-23 at judge’s discretion</a:t>
            </a:r>
          </a:p>
        </p:txBody>
      </p:sp>
    </p:spTree>
    <p:extLst>
      <p:ext uri="{BB962C8B-B14F-4D97-AF65-F5344CB8AC3E}">
        <p14:creationId xmlns:p14="http://schemas.microsoft.com/office/powerpoint/2010/main" val="3604254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0E370-E8EC-CF45-B61C-229964C6AE9B}"/>
              </a:ext>
            </a:extLst>
          </p:cNvPr>
          <p:cNvSpPr>
            <a:spLocks noGrp="1"/>
          </p:cNvSpPr>
          <p:nvPr>
            <p:ph type="ctrTitle" sz="quarter"/>
          </p:nvPr>
        </p:nvSpPr>
        <p:spPr>
          <a:xfrm>
            <a:off x="685800" y="1958975"/>
            <a:ext cx="7772400" cy="1470025"/>
          </a:xfrm>
        </p:spPr>
        <p:txBody>
          <a:bodyPr/>
          <a:lstStyle/>
          <a:p>
            <a:pPr algn="ctr"/>
            <a:r>
              <a:rPr lang="en-US" dirty="0"/>
              <a:t>The Neuroscience Bit</a:t>
            </a:r>
          </a:p>
        </p:txBody>
      </p:sp>
    </p:spTree>
    <p:extLst>
      <p:ext uri="{BB962C8B-B14F-4D97-AF65-F5344CB8AC3E}">
        <p14:creationId xmlns:p14="http://schemas.microsoft.com/office/powerpoint/2010/main" val="3175980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E6C2-4437-BEB4-999B-C30AF97464D0}"/>
              </a:ext>
            </a:extLst>
          </p:cNvPr>
          <p:cNvSpPr>
            <a:spLocks noGrp="1"/>
          </p:cNvSpPr>
          <p:nvPr>
            <p:ph type="title"/>
          </p:nvPr>
        </p:nvSpPr>
        <p:spPr>
          <a:xfrm>
            <a:off x="685800" y="609600"/>
            <a:ext cx="7772400" cy="1143000"/>
          </a:xfrm>
        </p:spPr>
        <p:txBody>
          <a:bodyPr wrap="square" anchor="ctr">
            <a:normAutofit/>
          </a:bodyPr>
          <a:lstStyle/>
          <a:p>
            <a:r>
              <a:rPr lang="en-US" dirty="0"/>
              <a:t>What should the MACR be?</a:t>
            </a:r>
          </a:p>
        </p:txBody>
      </p:sp>
      <p:sp>
        <p:nvSpPr>
          <p:cNvPr id="3" name="Content Placeholder 2">
            <a:extLst>
              <a:ext uri="{FF2B5EF4-FFF2-40B4-BE49-F238E27FC236}">
                <a16:creationId xmlns:a16="http://schemas.microsoft.com/office/drawing/2014/main" id="{4D699897-3A8B-F84F-6DE8-F3E05103558C}"/>
              </a:ext>
            </a:extLst>
          </p:cNvPr>
          <p:cNvSpPr>
            <a:spLocks noGrp="1"/>
          </p:cNvSpPr>
          <p:nvPr>
            <p:ph sz="half" idx="1"/>
          </p:nvPr>
        </p:nvSpPr>
        <p:spPr>
          <a:xfrm>
            <a:off x="684213" y="1598064"/>
            <a:ext cx="3810000" cy="4546362"/>
          </a:xfrm>
        </p:spPr>
        <p:txBody>
          <a:bodyPr wrap="square" anchor="t">
            <a:normAutofit fontScale="92500" lnSpcReduction="20000"/>
          </a:bodyPr>
          <a:lstStyle/>
          <a:p>
            <a:pPr marL="285750" indent="-285750">
              <a:lnSpc>
                <a:spcPct val="90000"/>
              </a:lnSpc>
              <a:buFont typeface="Arial" panose="020B0604020202020204" pitchFamily="34" charset="0"/>
              <a:buChar char="•"/>
            </a:pPr>
            <a:r>
              <a:rPr lang="en-US" sz="1800" dirty="0">
                <a:latin typeface="Book Antiqua" panose="02040602050305030304" pitchFamily="18" charset="0"/>
              </a:rPr>
              <a:t>Many facets of brain development influence </a:t>
            </a:r>
            <a:r>
              <a:rPr lang="en-US" sz="1800" dirty="0" err="1">
                <a:latin typeface="Book Antiqua" panose="02040602050305030304" pitchFamily="18" charset="0"/>
              </a:rPr>
              <a:t>behaviour</a:t>
            </a:r>
            <a:endParaRPr lang="en-US" sz="1800" dirty="0">
              <a:latin typeface="Book Antiqua" panose="02040602050305030304" pitchFamily="18" charset="0"/>
            </a:endParaRPr>
          </a:p>
          <a:p>
            <a:pPr marL="285750" indent="-285750">
              <a:lnSpc>
                <a:spcPct val="90000"/>
              </a:lnSpc>
              <a:buFont typeface="Arial" panose="020B0604020202020204" pitchFamily="34" charset="0"/>
              <a:buChar char="•"/>
            </a:pPr>
            <a:r>
              <a:rPr lang="en-US" sz="1800" dirty="0">
                <a:latin typeface="Book Antiqua" panose="02040602050305030304" pitchFamily="18" charset="0"/>
              </a:rPr>
              <a:t>Development of amygdala- emotions, instincts </a:t>
            </a:r>
            <a:r>
              <a:rPr lang="en-US" sz="1800" dirty="0" err="1">
                <a:latin typeface="Book Antiqua" panose="02040602050305030304" pitchFamily="18" charset="0"/>
              </a:rPr>
              <a:t>etc</a:t>
            </a:r>
            <a:r>
              <a:rPr lang="en-US" sz="1800" dirty="0">
                <a:latin typeface="Book Antiqua" panose="02040602050305030304" pitchFamily="18" charset="0"/>
              </a:rPr>
              <a:t>- grows fast-</a:t>
            </a:r>
          </a:p>
          <a:p>
            <a:pPr marL="285750" indent="-285750">
              <a:lnSpc>
                <a:spcPct val="90000"/>
              </a:lnSpc>
              <a:buFont typeface="Arial" panose="020B0604020202020204" pitchFamily="34" charset="0"/>
              <a:buChar char="•"/>
            </a:pPr>
            <a:r>
              <a:rPr lang="en-US" sz="1800" dirty="0">
                <a:latin typeface="Book Antiqua" panose="02040602050305030304" pitchFamily="18" charset="0"/>
              </a:rPr>
              <a:t>Growth of white and grey matter- transmission of brain signals- erratic </a:t>
            </a:r>
            <a:r>
              <a:rPr lang="en-US" sz="1800" dirty="0" err="1">
                <a:latin typeface="Book Antiqua" panose="02040602050305030304" pitchFamily="18" charset="0"/>
              </a:rPr>
              <a:t>signalling</a:t>
            </a:r>
            <a:r>
              <a:rPr lang="en-US" sz="1800" dirty="0">
                <a:latin typeface="Book Antiqua" panose="02040602050305030304" pitchFamily="18" charset="0"/>
              </a:rPr>
              <a:t> until properly distributed</a:t>
            </a:r>
          </a:p>
          <a:p>
            <a:pPr marL="285750" indent="-285750">
              <a:lnSpc>
                <a:spcPct val="90000"/>
              </a:lnSpc>
              <a:buFont typeface="Arial" panose="020B0604020202020204" pitchFamily="34" charset="0"/>
              <a:buChar char="•"/>
            </a:pPr>
            <a:r>
              <a:rPr lang="en-US" sz="1800" dirty="0">
                <a:latin typeface="Book Antiqua" panose="02040602050305030304" pitchFamily="18" charset="0"/>
              </a:rPr>
              <a:t>Development of frontal lobe- rationality- grows slowly</a:t>
            </a:r>
          </a:p>
          <a:p>
            <a:pPr marL="285750" indent="-285750">
              <a:lnSpc>
                <a:spcPct val="90000"/>
              </a:lnSpc>
              <a:buFont typeface="Arial" panose="020B0604020202020204" pitchFamily="34" charset="0"/>
              <a:buChar char="•"/>
            </a:pPr>
            <a:r>
              <a:rPr lang="en-US" sz="1800" dirty="0">
                <a:latin typeface="Book Antiqua" panose="02040602050305030304" pitchFamily="18" charset="0"/>
              </a:rPr>
              <a:t>Imbalance model of brain development- amygdala ahead of frontal lobe = </a:t>
            </a:r>
            <a:r>
              <a:rPr lang="en-US" sz="1800" b="1" dirty="0">
                <a:latin typeface="Book Antiqua" panose="02040602050305030304" pitchFamily="18" charset="0"/>
              </a:rPr>
              <a:t>impulse led </a:t>
            </a:r>
            <a:r>
              <a:rPr lang="en-US" sz="1800" b="1" dirty="0" err="1">
                <a:latin typeface="Book Antiqua" panose="02040602050305030304" pitchFamily="18" charset="0"/>
              </a:rPr>
              <a:t>behaviour</a:t>
            </a:r>
            <a:endParaRPr lang="en-US" sz="1800" b="1" dirty="0">
              <a:latin typeface="Book Antiqua" panose="02040602050305030304" pitchFamily="18" charset="0"/>
            </a:endParaRPr>
          </a:p>
          <a:p>
            <a:pPr marL="285750" indent="-285750">
              <a:lnSpc>
                <a:spcPct val="90000"/>
              </a:lnSpc>
              <a:buFont typeface="Arial" panose="020B0604020202020204" pitchFamily="34" charset="0"/>
              <a:buChar char="•"/>
            </a:pPr>
            <a:r>
              <a:rPr lang="en-US" sz="1800" dirty="0">
                <a:latin typeface="Book Antiqua" panose="02040602050305030304" pitchFamily="18" charset="0"/>
              </a:rPr>
              <a:t>Executive function, judgement- matures in </a:t>
            </a:r>
            <a:r>
              <a:rPr lang="en-US" sz="1800" b="1" dirty="0">
                <a:solidFill>
                  <a:srgbClr val="663366"/>
                </a:solidFill>
                <a:latin typeface="Book Antiqua" panose="02040602050305030304" pitchFamily="18" charset="0"/>
              </a:rPr>
              <a:t>adulthood</a:t>
            </a:r>
          </a:p>
          <a:p>
            <a:pPr marL="285750" indent="-285750">
              <a:lnSpc>
                <a:spcPct val="90000"/>
              </a:lnSpc>
              <a:buFont typeface="Arial" panose="020B0604020202020204" pitchFamily="34" charset="0"/>
              <a:buChar char="•"/>
            </a:pPr>
            <a:r>
              <a:rPr lang="en-US" sz="1800" dirty="0">
                <a:latin typeface="Book Antiqua" panose="02040602050305030304" pitchFamily="18" charset="0"/>
              </a:rPr>
              <a:t>Abstract thinking- guilt, awareness of consequences- in </a:t>
            </a:r>
            <a:r>
              <a:rPr lang="en-US" sz="1800" b="1" dirty="0">
                <a:solidFill>
                  <a:srgbClr val="663366"/>
                </a:solidFill>
                <a:latin typeface="Book Antiqua" panose="02040602050305030304" pitchFamily="18" charset="0"/>
              </a:rPr>
              <a:t>mid teens</a:t>
            </a:r>
          </a:p>
          <a:p>
            <a:pPr marL="285750" indent="-285750">
              <a:lnSpc>
                <a:spcPct val="90000"/>
              </a:lnSpc>
              <a:buFont typeface="Arial" panose="020B0604020202020204" pitchFamily="34" charset="0"/>
              <a:buChar char="•"/>
            </a:pPr>
            <a:endParaRPr lang="en-US" sz="1800" dirty="0">
              <a:latin typeface="Book Antiqua" panose="02040602050305030304" pitchFamily="18" charset="0"/>
            </a:endParaRPr>
          </a:p>
          <a:p>
            <a:pPr marL="285750" indent="-285750">
              <a:lnSpc>
                <a:spcPct val="90000"/>
              </a:lnSpc>
              <a:buFont typeface="Arial" panose="020B0604020202020204" pitchFamily="34" charset="0"/>
              <a:buChar char="•"/>
            </a:pPr>
            <a:r>
              <a:rPr lang="en-US" sz="1800" dirty="0">
                <a:latin typeface="Book Antiqua" panose="02040602050305030304" pitchFamily="18" charset="0"/>
              </a:rPr>
              <a:t>By 10…?!?</a:t>
            </a:r>
          </a:p>
          <a:p>
            <a:pPr marL="285750" indent="-285750">
              <a:lnSpc>
                <a:spcPct val="90000"/>
              </a:lnSpc>
              <a:buFont typeface="Arial" panose="020B0604020202020204" pitchFamily="34" charset="0"/>
              <a:buChar char="•"/>
            </a:pPr>
            <a:endParaRPr lang="en-US" sz="1300" dirty="0"/>
          </a:p>
        </p:txBody>
      </p:sp>
      <p:pic>
        <p:nvPicPr>
          <p:cNvPr id="10242" name="Picture 2" descr="The Limbic System">
            <a:extLst>
              <a:ext uri="{FF2B5EF4-FFF2-40B4-BE49-F238E27FC236}">
                <a16:creationId xmlns:a16="http://schemas.microsoft.com/office/drawing/2014/main" id="{2F9C300D-DC20-0678-3CE1-F4FAE90B9A5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46613" y="2678113"/>
            <a:ext cx="3810000" cy="2438400"/>
          </a:xfrm>
          <a:prstGeom prst="rect">
            <a:avLst/>
          </a:prstGeom>
          <a:solidFill>
            <a:srgbClr val="FFFFFF"/>
          </a:solidFill>
        </p:spPr>
      </p:pic>
    </p:spTree>
    <p:extLst>
      <p:ext uri="{BB962C8B-B14F-4D97-AF65-F5344CB8AC3E}">
        <p14:creationId xmlns:p14="http://schemas.microsoft.com/office/powerpoint/2010/main" val="99243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292A-0AFB-ED70-3E96-8D5D479F6CC8}"/>
              </a:ext>
            </a:extLst>
          </p:cNvPr>
          <p:cNvSpPr>
            <a:spLocks noGrp="1"/>
          </p:cNvSpPr>
          <p:nvPr>
            <p:ph type="title"/>
          </p:nvPr>
        </p:nvSpPr>
        <p:spPr/>
        <p:txBody>
          <a:bodyPr/>
          <a:lstStyle/>
          <a:p>
            <a:r>
              <a:rPr lang="en-US" dirty="0"/>
              <a:t>Social/ psychological evidence</a:t>
            </a:r>
          </a:p>
        </p:txBody>
      </p:sp>
      <p:sp>
        <p:nvSpPr>
          <p:cNvPr id="3" name="Content Placeholder 2">
            <a:extLst>
              <a:ext uri="{FF2B5EF4-FFF2-40B4-BE49-F238E27FC236}">
                <a16:creationId xmlns:a16="http://schemas.microsoft.com/office/drawing/2014/main" id="{D613994D-6C5D-99C4-02F5-753BA9546B0F}"/>
              </a:ext>
            </a:extLst>
          </p:cNvPr>
          <p:cNvSpPr>
            <a:spLocks noGrp="1"/>
          </p:cNvSpPr>
          <p:nvPr>
            <p:ph idx="1"/>
          </p:nvPr>
        </p:nvSpPr>
        <p:spPr/>
        <p:txBody>
          <a:bodyPr/>
          <a:lstStyle/>
          <a:p>
            <a:pPr marL="285750" indent="-285750">
              <a:buFont typeface="Arial" panose="020B0604020202020204" pitchFamily="34" charset="0"/>
              <a:buChar char="•"/>
            </a:pPr>
            <a:r>
              <a:rPr lang="en-US" dirty="0">
                <a:latin typeface="Book Antiqua" panose="02040602050305030304" pitchFamily="18" charset="0"/>
              </a:rPr>
              <a:t>US/ Netherlands- </a:t>
            </a:r>
            <a:r>
              <a:rPr lang="en-US" dirty="0" err="1">
                <a:latin typeface="Book Antiqua" panose="02040602050305030304" pitchFamily="18" charset="0"/>
              </a:rPr>
              <a:t>neuroevidence</a:t>
            </a:r>
            <a:r>
              <a:rPr lang="en-US" dirty="0">
                <a:latin typeface="Book Antiqua" panose="02040602050305030304" pitchFamily="18" charset="0"/>
              </a:rPr>
              <a:t> often accompanied with supporting evidence for reliability- model for EW?</a:t>
            </a:r>
          </a:p>
          <a:p>
            <a:pPr marL="285750" indent="-285750">
              <a:buFont typeface="Arial" panose="020B0604020202020204" pitchFamily="34" charset="0"/>
              <a:buChar char="•"/>
            </a:pPr>
            <a:r>
              <a:rPr lang="en-US" dirty="0">
                <a:latin typeface="Book Antiqua" panose="02040602050305030304" pitchFamily="18" charset="0"/>
              </a:rPr>
              <a:t>Psychological development of different characteristics occurs at different rates- intellectual, emotional, moral…</a:t>
            </a:r>
          </a:p>
          <a:p>
            <a:pPr marL="285750" indent="-285750">
              <a:buFont typeface="Arial" panose="020B0604020202020204" pitchFamily="34" charset="0"/>
              <a:buChar char="•"/>
            </a:pPr>
            <a:r>
              <a:rPr lang="en-US" dirty="0">
                <a:latin typeface="Book Antiqua" panose="02040602050305030304" pitchFamily="18" charset="0"/>
              </a:rPr>
              <a:t>Cognitive structure- experiential filters</a:t>
            </a:r>
          </a:p>
          <a:p>
            <a:pPr marL="285750" indent="-285750">
              <a:buFont typeface="Arial" panose="020B0604020202020204" pitchFamily="34" charset="0"/>
              <a:buChar char="•"/>
            </a:pPr>
            <a:r>
              <a:rPr lang="en-US" dirty="0">
                <a:latin typeface="Book Antiqua" panose="02040602050305030304" pitchFamily="18" charset="0"/>
              </a:rPr>
              <a:t>Jean Piaget- capacity for formal reason begins around 11 years old</a:t>
            </a:r>
          </a:p>
          <a:p>
            <a:pPr marL="285750" indent="-285750">
              <a:buFont typeface="Arial" panose="020B0604020202020204" pitchFamily="34" charset="0"/>
              <a:buChar char="•"/>
            </a:pPr>
            <a:endParaRPr lang="en-US" dirty="0">
              <a:latin typeface="Book Antiqua" panose="02040602050305030304" pitchFamily="18" charset="0"/>
            </a:endParaRPr>
          </a:p>
          <a:p>
            <a:pPr marL="285750" indent="-285750">
              <a:buFont typeface="Arial" panose="020B0604020202020204" pitchFamily="34" charset="0"/>
              <a:buChar char="•"/>
            </a:pPr>
            <a:r>
              <a:rPr lang="en-US" dirty="0">
                <a:latin typeface="Book Antiqua" panose="02040602050305030304" pitchFamily="18" charset="0"/>
              </a:rPr>
              <a:t>So- does one standard MACR even make any sense?</a:t>
            </a:r>
          </a:p>
          <a:p>
            <a:pPr marL="285750" indent="-285750">
              <a:buFont typeface="Arial" panose="020B0604020202020204" pitchFamily="34" charset="0"/>
              <a:buChar char="•"/>
            </a:pPr>
            <a:endParaRPr lang="en-US" dirty="0">
              <a:latin typeface="Book Antiqua" panose="02040602050305030304" pitchFamily="18" charset="0"/>
            </a:endParaRPr>
          </a:p>
        </p:txBody>
      </p:sp>
      <p:pic>
        <p:nvPicPr>
          <p:cNvPr id="11266" name="Picture 2" descr="The Legacy of Dr. Frasier Crane - Paste">
            <a:extLst>
              <a:ext uri="{FF2B5EF4-FFF2-40B4-BE49-F238E27FC236}">
                <a16:creationId xmlns:a16="http://schemas.microsoft.com/office/drawing/2014/main" id="{BBE191B9-2113-3845-8C39-AD670B767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1801" y="4694965"/>
            <a:ext cx="3157223" cy="177562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E473CF5-9803-3DC0-E1EE-35728A1CD9B6}"/>
              </a:ext>
            </a:extLst>
          </p:cNvPr>
          <p:cNvSpPr txBox="1"/>
          <p:nvPr/>
        </p:nvSpPr>
        <p:spPr>
          <a:xfrm>
            <a:off x="2387763" y="6470591"/>
            <a:ext cx="4365298" cy="230832"/>
          </a:xfrm>
          <a:prstGeom prst="rect">
            <a:avLst/>
          </a:prstGeom>
          <a:noFill/>
        </p:spPr>
        <p:txBody>
          <a:bodyPr wrap="none" rtlCol="0">
            <a:spAutoFit/>
          </a:bodyPr>
          <a:lstStyle/>
          <a:p>
            <a:r>
              <a:rPr lang="en-US" sz="900" dirty="0"/>
              <a:t>Yeah, I know he’s a psychiatrist, but you try finding a fun picture of a psychologist.</a:t>
            </a:r>
          </a:p>
        </p:txBody>
      </p:sp>
    </p:spTree>
    <p:extLst>
      <p:ext uri="{BB962C8B-B14F-4D97-AF65-F5344CB8AC3E}">
        <p14:creationId xmlns:p14="http://schemas.microsoft.com/office/powerpoint/2010/main" val="120095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710D2-9443-4D98-49B5-975283077B98}"/>
              </a:ext>
            </a:extLst>
          </p:cNvPr>
          <p:cNvSpPr>
            <a:spLocks noGrp="1"/>
          </p:cNvSpPr>
          <p:nvPr>
            <p:ph type="title"/>
          </p:nvPr>
        </p:nvSpPr>
        <p:spPr>
          <a:xfrm>
            <a:off x="685800" y="609600"/>
            <a:ext cx="7772400" cy="1143000"/>
          </a:xfrm>
        </p:spPr>
        <p:txBody>
          <a:bodyPr wrap="square" anchor="ctr">
            <a:normAutofit/>
          </a:bodyPr>
          <a:lstStyle/>
          <a:p>
            <a:r>
              <a:rPr lang="en-US" dirty="0"/>
              <a:t>Agency and Responsibility</a:t>
            </a:r>
          </a:p>
        </p:txBody>
      </p:sp>
      <p:pic>
        <p:nvPicPr>
          <p:cNvPr id="7170" name="Picture 2" descr="Writable Walls!? YES! 3 Ways to Turn Your Walls into a Creative Canvas">
            <a:extLst>
              <a:ext uri="{FF2B5EF4-FFF2-40B4-BE49-F238E27FC236}">
                <a16:creationId xmlns:a16="http://schemas.microsoft.com/office/drawing/2014/main" id="{E56AA57D-B828-FB68-9EA6-237D566B42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3359" b="-3"/>
          <a:stretch/>
        </p:blipFill>
        <p:spPr bwMode="auto">
          <a:xfrm>
            <a:off x="684213" y="1989138"/>
            <a:ext cx="3810000" cy="3816350"/>
          </a:xfrm>
          <a:prstGeom prst="rect">
            <a:avLst/>
          </a:prstGeom>
          <a:solidFill>
            <a:srgbClr val="FFFFFF"/>
          </a:solidFill>
        </p:spPr>
      </p:pic>
      <p:sp>
        <p:nvSpPr>
          <p:cNvPr id="3" name="Content Placeholder 2">
            <a:extLst>
              <a:ext uri="{FF2B5EF4-FFF2-40B4-BE49-F238E27FC236}">
                <a16:creationId xmlns:a16="http://schemas.microsoft.com/office/drawing/2014/main" id="{4E46668F-3395-0248-BDD9-E219D6ABCA31}"/>
              </a:ext>
            </a:extLst>
          </p:cNvPr>
          <p:cNvSpPr>
            <a:spLocks noGrp="1"/>
          </p:cNvSpPr>
          <p:nvPr>
            <p:ph sz="half" idx="2"/>
          </p:nvPr>
        </p:nvSpPr>
        <p:spPr>
          <a:xfrm>
            <a:off x="4646613" y="1989138"/>
            <a:ext cx="3810000" cy="3816350"/>
          </a:xfrm>
        </p:spPr>
        <p:txBody>
          <a:bodyPr wrap="square" anchor="t">
            <a:normAutofit/>
          </a:bodyPr>
          <a:lstStyle/>
          <a:p>
            <a:pPr marL="285750" indent="-285750">
              <a:buFont typeface="Arial" panose="020B0604020202020204" pitchFamily="34" charset="0"/>
              <a:buChar char="•"/>
            </a:pPr>
            <a:r>
              <a:rPr lang="en-US" dirty="0">
                <a:latin typeface="Book Antiqua" panose="02040602050305030304" pitchFamily="18" charset="0"/>
              </a:rPr>
              <a:t>Individual’s capacity to act on intentions</a:t>
            </a:r>
          </a:p>
          <a:p>
            <a:pPr marL="285750" indent="-285750">
              <a:buFont typeface="Arial" panose="020B0604020202020204" pitchFamily="34" charset="0"/>
              <a:buChar char="•"/>
            </a:pPr>
            <a:r>
              <a:rPr lang="en-US" dirty="0">
                <a:latin typeface="Book Antiqua" panose="02040602050305030304" pitchFamily="18" charset="0"/>
              </a:rPr>
              <a:t>”my” actions</a:t>
            </a:r>
          </a:p>
          <a:p>
            <a:pPr marL="285750" indent="-285750">
              <a:buFont typeface="Arial" panose="020B0604020202020204" pitchFamily="34" charset="0"/>
              <a:buChar char="•"/>
            </a:pPr>
            <a:r>
              <a:rPr lang="en-US" dirty="0">
                <a:latin typeface="Book Antiqua" panose="02040602050305030304" pitchFamily="18" charset="0"/>
              </a:rPr>
              <a:t>Whether we have free will or not (next week!), actus reus only requires the impression that you could act otherwise</a:t>
            </a:r>
          </a:p>
          <a:p>
            <a:pPr marL="285750" indent="-285750">
              <a:buFont typeface="Arial" panose="020B0604020202020204" pitchFamily="34" charset="0"/>
              <a:buChar char="•"/>
            </a:pPr>
            <a:r>
              <a:rPr lang="en-US" dirty="0">
                <a:latin typeface="Book Antiqua" panose="02040602050305030304" pitchFamily="18" charset="0"/>
              </a:rPr>
              <a:t>Children seen as unable to exercise rational </a:t>
            </a:r>
            <a:r>
              <a:rPr lang="en-US" dirty="0" err="1">
                <a:latin typeface="Book Antiqua" panose="02040602050305030304" pitchFamily="18" charset="0"/>
              </a:rPr>
              <a:t>behavioural</a:t>
            </a:r>
            <a:r>
              <a:rPr lang="en-US" dirty="0">
                <a:latin typeface="Book Antiqua" panose="02040602050305030304" pitchFamily="18" charset="0"/>
              </a:rPr>
              <a:t> control</a:t>
            </a:r>
          </a:p>
        </p:txBody>
      </p:sp>
    </p:spTree>
    <p:extLst>
      <p:ext uri="{BB962C8B-B14F-4D97-AF65-F5344CB8AC3E}">
        <p14:creationId xmlns:p14="http://schemas.microsoft.com/office/powerpoint/2010/main" val="3100875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17FF6-9381-ACCE-9CF1-089FE5FE1E71}"/>
              </a:ext>
            </a:extLst>
          </p:cNvPr>
          <p:cNvSpPr>
            <a:spLocks noGrp="1"/>
          </p:cNvSpPr>
          <p:nvPr>
            <p:ph type="title"/>
          </p:nvPr>
        </p:nvSpPr>
        <p:spPr>
          <a:xfrm>
            <a:off x="685800" y="464322"/>
            <a:ext cx="7772400" cy="442913"/>
          </a:xfrm>
        </p:spPr>
        <p:txBody>
          <a:bodyPr/>
          <a:lstStyle/>
          <a:p>
            <a:r>
              <a:rPr lang="en-US" dirty="0"/>
              <a:t>Should we use this </a:t>
            </a:r>
            <a:r>
              <a:rPr lang="en-US" dirty="0" err="1"/>
              <a:t>neuroevidence</a:t>
            </a:r>
            <a:r>
              <a:rPr lang="en-US" dirty="0"/>
              <a:t>?</a:t>
            </a:r>
          </a:p>
        </p:txBody>
      </p:sp>
      <p:sp>
        <p:nvSpPr>
          <p:cNvPr id="3" name="Content Placeholder 2">
            <a:extLst>
              <a:ext uri="{FF2B5EF4-FFF2-40B4-BE49-F238E27FC236}">
                <a16:creationId xmlns:a16="http://schemas.microsoft.com/office/drawing/2014/main" id="{6F7C9BD2-B7B4-885F-2DE1-BAD232764E6F}"/>
              </a:ext>
            </a:extLst>
          </p:cNvPr>
          <p:cNvSpPr>
            <a:spLocks noGrp="1"/>
          </p:cNvSpPr>
          <p:nvPr>
            <p:ph idx="1"/>
          </p:nvPr>
        </p:nvSpPr>
        <p:spPr>
          <a:xfrm>
            <a:off x="684213" y="3537958"/>
            <a:ext cx="7772400" cy="2267529"/>
          </a:xfrm>
        </p:spPr>
        <p:txBody>
          <a:bodyPr/>
          <a:lstStyle/>
          <a:p>
            <a:pPr marL="285750" indent="-285750">
              <a:buFont typeface="Arial" panose="020B0604020202020204" pitchFamily="34" charset="0"/>
              <a:buChar char="•"/>
            </a:pPr>
            <a:r>
              <a:rPr lang="en-US" dirty="0">
                <a:latin typeface="Book Antiqua" panose="02040602050305030304" pitchFamily="18" charset="0"/>
              </a:rPr>
              <a:t>Children can’t rationally control their </a:t>
            </a:r>
            <a:r>
              <a:rPr lang="en-US" dirty="0" err="1">
                <a:latin typeface="Book Antiqua" panose="02040602050305030304" pitchFamily="18" charset="0"/>
              </a:rPr>
              <a:t>behaviour</a:t>
            </a:r>
            <a:endParaRPr lang="en-US" dirty="0">
              <a:latin typeface="Book Antiqua" panose="02040602050305030304" pitchFamily="18" charset="0"/>
            </a:endParaRPr>
          </a:p>
          <a:p>
            <a:pPr marL="285750" indent="-285750">
              <a:buFont typeface="Arial" panose="020B0604020202020204" pitchFamily="34" charset="0"/>
              <a:buChar char="•"/>
            </a:pPr>
            <a:r>
              <a:rPr lang="en-US" dirty="0">
                <a:latin typeface="Book Antiqua" panose="02040602050305030304" pitchFamily="18" charset="0"/>
              </a:rPr>
              <a:t>Criminal justice system ignores developmental maturity</a:t>
            </a:r>
          </a:p>
          <a:p>
            <a:pPr marL="285750" indent="-285750">
              <a:buFont typeface="Arial" panose="020B0604020202020204" pitchFamily="34" charset="0"/>
              <a:buChar char="•"/>
            </a:pPr>
            <a:r>
              <a:rPr lang="en-GB" dirty="0">
                <a:latin typeface="Times New Roman" panose="02020603050405020304" pitchFamily="18" charset="0"/>
                <a:ea typeface="Calibri" panose="020F0502020204030204" pitchFamily="34" charset="0"/>
              </a:rPr>
              <a:t>C</a:t>
            </a:r>
            <a:r>
              <a:rPr lang="en-GB" sz="1800" dirty="0">
                <a:effectLst/>
                <a:latin typeface="Times New Roman" panose="02020603050405020304" pitchFamily="18" charset="0"/>
                <a:ea typeface="Calibri" panose="020F0502020204030204" pitchFamily="34" charset="0"/>
              </a:rPr>
              <a:t>riminal liability “should be imposed only on persons who are sufficiently aware of what they are doing, and of the consequences it may have, that they can fairly be said to have chosen the behaviour and its consequences”</a:t>
            </a:r>
          </a:p>
          <a:p>
            <a:pPr marL="585788" lvl="1" indent="-285750">
              <a:buFont typeface="Arial" panose="020B0604020202020204" pitchFamily="34" charset="0"/>
              <a:buChar char="•"/>
            </a:pPr>
            <a:r>
              <a:rPr lang="en-US" dirty="0">
                <a:latin typeface="Book Antiqua" panose="02040602050305030304" pitchFamily="18" charset="0"/>
              </a:rPr>
              <a:t> (Ashworth, 2003: 158)</a:t>
            </a:r>
            <a:endParaRPr lang="en-GB" dirty="0">
              <a:latin typeface="Times New Roman" panose="02020603050405020304" pitchFamily="18" charset="0"/>
            </a:endParaRPr>
          </a:p>
          <a:p>
            <a:pPr marL="285750" indent="-285750">
              <a:buFont typeface="Arial" panose="020B0604020202020204" pitchFamily="34" charset="0"/>
              <a:buChar char="•"/>
            </a:pPr>
            <a:r>
              <a:rPr lang="en-US" i="1" dirty="0">
                <a:latin typeface="Book Antiqua" panose="02040602050305030304" pitchFamily="18" charset="0"/>
              </a:rPr>
              <a:t>R v G and R</a:t>
            </a:r>
            <a:r>
              <a:rPr lang="en-US" dirty="0">
                <a:latin typeface="Book Antiqua" panose="02040602050305030304" pitchFamily="18" charset="0"/>
              </a:rPr>
              <a:t> 2003- ‘ignoring the special position of children… is not acceptable in a modern civil society’</a:t>
            </a:r>
            <a:endParaRPr lang="en-US" i="1" dirty="0">
              <a:latin typeface="Book Antiqua" panose="02040602050305030304" pitchFamily="18" charset="0"/>
            </a:endParaRPr>
          </a:p>
        </p:txBody>
      </p:sp>
      <p:pic>
        <p:nvPicPr>
          <p:cNvPr id="12292" name="Picture 4" descr="I've never understood this comic. : r/calvinandhobbes">
            <a:extLst>
              <a:ext uri="{FF2B5EF4-FFF2-40B4-BE49-F238E27FC236}">
                <a16:creationId xmlns:a16="http://schemas.microsoft.com/office/drawing/2014/main" id="{F929A371-F307-20B6-4BB0-2D99342C4F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2524" y="1226661"/>
            <a:ext cx="6118951" cy="1998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9772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EAFD2-2235-27CB-924A-68E76C14E4EC}"/>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2C2730F6-AC90-3A07-FB66-150766406A02}"/>
              </a:ext>
            </a:extLst>
          </p:cNvPr>
          <p:cNvSpPr>
            <a:spLocks noGrp="1"/>
          </p:cNvSpPr>
          <p:nvPr>
            <p:ph idx="1"/>
          </p:nvPr>
        </p:nvSpPr>
        <p:spPr>
          <a:xfrm>
            <a:off x="684213" y="1946409"/>
            <a:ext cx="7772400" cy="3816350"/>
          </a:xfrm>
        </p:spPr>
        <p:txBody>
          <a:bodyPr/>
          <a:lstStyle/>
          <a:p>
            <a:pPr marL="285750" indent="-285750">
              <a:buFont typeface="Arial" panose="020B0604020202020204" pitchFamily="34" charset="0"/>
              <a:buChar char="•"/>
            </a:pPr>
            <a:r>
              <a:rPr lang="en-US" dirty="0">
                <a:latin typeface="Book Antiqua" panose="02040602050305030304" pitchFamily="18" charset="0"/>
              </a:rPr>
              <a:t>Association ≠ causation</a:t>
            </a:r>
          </a:p>
          <a:p>
            <a:pPr marL="285750" indent="-285750">
              <a:buFont typeface="Arial" panose="020B0604020202020204" pitchFamily="34" charset="0"/>
              <a:buChar char="•"/>
            </a:pPr>
            <a:r>
              <a:rPr lang="en-US" dirty="0">
                <a:latin typeface="Book Antiqua" panose="02040602050305030304" pitchFamily="18" charset="0"/>
              </a:rPr>
              <a:t>We understand so little about the brain and brain development! Accuracy, validity of evidence… </a:t>
            </a:r>
          </a:p>
          <a:p>
            <a:pPr marL="285750" indent="-285750">
              <a:buFont typeface="Arial" panose="020B0604020202020204" pitchFamily="34" charset="0"/>
              <a:buChar char="•"/>
            </a:pPr>
            <a:r>
              <a:rPr lang="en-US" dirty="0">
                <a:latin typeface="Book Antiqua" panose="02040602050305030304" pitchFamily="18" charset="0"/>
              </a:rPr>
              <a:t>‘ecological validity’ – is your brain like my brain? Is the lab brain like your brain?</a:t>
            </a:r>
          </a:p>
          <a:p>
            <a:pPr marL="285750" indent="-285750">
              <a:buFont typeface="Arial" panose="020B0604020202020204" pitchFamily="34" charset="0"/>
              <a:buChar char="•"/>
            </a:pPr>
            <a:r>
              <a:rPr lang="en-US" dirty="0">
                <a:latin typeface="Book Antiqua" panose="02040602050305030304" pitchFamily="18" charset="0"/>
              </a:rPr>
              <a:t>Differing rates of development between individuals</a:t>
            </a:r>
          </a:p>
          <a:p>
            <a:pPr marL="285750" indent="-285750">
              <a:buFont typeface="Arial" panose="020B0604020202020204" pitchFamily="34" charset="0"/>
              <a:buChar char="•"/>
            </a:pPr>
            <a:r>
              <a:rPr lang="en-US" dirty="0">
                <a:latin typeface="Book Antiqua" panose="02040602050305030304" pitchFamily="18" charset="0"/>
              </a:rPr>
              <a:t>Oversimplification of science, overreach of scientific testimony, influencing/ replacing juries</a:t>
            </a:r>
          </a:p>
          <a:p>
            <a:pPr marL="285750" indent="-285750">
              <a:buFont typeface="Arial" panose="020B0604020202020204" pitchFamily="34" charset="0"/>
              <a:buChar char="•"/>
            </a:pPr>
            <a:r>
              <a:rPr lang="en-US" dirty="0">
                <a:latin typeface="Book Antiqua" panose="02040602050305030304" pitchFamily="18" charset="0"/>
              </a:rPr>
              <a:t>Historical limits- trials taking place well after crimes- brain changes</a:t>
            </a:r>
          </a:p>
          <a:p>
            <a:pPr marL="285750" indent="-285750">
              <a:buFont typeface="Arial" panose="020B0604020202020204" pitchFamily="34" charset="0"/>
              <a:buChar char="•"/>
            </a:pPr>
            <a:endParaRPr lang="en-US" dirty="0">
              <a:latin typeface="Book Antiqua" panose="02040602050305030304" pitchFamily="18" charset="0"/>
            </a:endParaRPr>
          </a:p>
          <a:p>
            <a:pPr marL="285750" indent="-285750">
              <a:buFont typeface="Arial" panose="020B0604020202020204" pitchFamily="34" charset="0"/>
              <a:buChar char="•"/>
            </a:pPr>
            <a:r>
              <a:rPr lang="en-US" dirty="0">
                <a:latin typeface="Book Antiqua" panose="02040602050305030304" pitchFamily="18" charset="0"/>
              </a:rPr>
              <a:t>Do these lend any weight to calls for cognitive rights?</a:t>
            </a:r>
          </a:p>
          <a:p>
            <a:pPr marL="285750" indent="-285750">
              <a:buFont typeface="Arial" panose="020B0604020202020204" pitchFamily="34" charset="0"/>
              <a:buChar char="•"/>
            </a:pPr>
            <a:endParaRPr lang="en-US" dirty="0">
              <a:latin typeface="Book Antiqua" panose="02040602050305030304" pitchFamily="18" charset="0"/>
            </a:endParaRPr>
          </a:p>
          <a:p>
            <a:pPr marL="285750" indent="-285750">
              <a:buFont typeface="Arial" panose="020B0604020202020204" pitchFamily="34" charset="0"/>
              <a:buChar char="•"/>
            </a:pPr>
            <a:endParaRPr lang="en-US" dirty="0">
              <a:latin typeface="Book Antiqua" panose="02040602050305030304" pitchFamily="18" charset="0"/>
            </a:endParaRPr>
          </a:p>
        </p:txBody>
      </p:sp>
      <p:pic>
        <p:nvPicPr>
          <p:cNvPr id="13314" name="Picture 2" descr="calvin and hobbes – how boring « MyConfinedSpace">
            <a:extLst>
              <a:ext uri="{FF2B5EF4-FFF2-40B4-BE49-F238E27FC236}">
                <a16:creationId xmlns:a16="http://schemas.microsoft.com/office/drawing/2014/main" id="{792F3D25-4B59-37F7-2DF0-D0A18A13E0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280" t="11080" r="9813" b="16148"/>
          <a:stretch/>
        </p:blipFill>
        <p:spPr bwMode="auto">
          <a:xfrm>
            <a:off x="7631394" y="173859"/>
            <a:ext cx="1016951" cy="2091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0667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B6B15-B88C-720B-ED57-9067D271B7D2}"/>
              </a:ext>
            </a:extLst>
          </p:cNvPr>
          <p:cNvSpPr>
            <a:spLocks noGrp="1"/>
          </p:cNvSpPr>
          <p:nvPr>
            <p:ph type="title"/>
          </p:nvPr>
        </p:nvSpPr>
        <p:spPr/>
        <p:txBody>
          <a:bodyPr/>
          <a:lstStyle/>
          <a:p>
            <a:r>
              <a:rPr lang="en-US" dirty="0"/>
              <a:t>Reforms?</a:t>
            </a:r>
          </a:p>
        </p:txBody>
      </p:sp>
      <p:sp>
        <p:nvSpPr>
          <p:cNvPr id="3" name="Content Placeholder 2">
            <a:extLst>
              <a:ext uri="{FF2B5EF4-FFF2-40B4-BE49-F238E27FC236}">
                <a16:creationId xmlns:a16="http://schemas.microsoft.com/office/drawing/2014/main" id="{3DCF3F9F-90DA-4290-BB6F-9B6A47D7618D}"/>
              </a:ext>
            </a:extLst>
          </p:cNvPr>
          <p:cNvSpPr>
            <a:spLocks noGrp="1"/>
          </p:cNvSpPr>
          <p:nvPr>
            <p:ph idx="1"/>
          </p:nvPr>
        </p:nvSpPr>
        <p:spPr>
          <a:xfrm>
            <a:off x="685800" y="1613123"/>
            <a:ext cx="7772400" cy="3816350"/>
          </a:xfrm>
        </p:spPr>
        <p:txBody>
          <a:bodyPr/>
          <a:lstStyle/>
          <a:p>
            <a:pPr marL="285750" indent="-285750">
              <a:buFont typeface="Arial" panose="020B0604020202020204" pitchFamily="34" charset="0"/>
              <a:buChar char="•"/>
            </a:pPr>
            <a:r>
              <a:rPr lang="en-US" dirty="0">
                <a:latin typeface="Book Antiqua" panose="02040602050305030304" pitchFamily="18" charset="0"/>
              </a:rPr>
              <a:t>Raise the MACR?</a:t>
            </a:r>
          </a:p>
          <a:p>
            <a:pPr marL="285750" indent="-285750">
              <a:buFont typeface="Arial" panose="020B0604020202020204" pitchFamily="34" charset="0"/>
              <a:buChar char="•"/>
            </a:pPr>
            <a:r>
              <a:rPr lang="en-US" dirty="0">
                <a:latin typeface="Book Antiqua" panose="02040602050305030304" pitchFamily="18" charset="0"/>
              </a:rPr>
              <a:t>Suggestions of 14 or 15 for a practical compromise</a:t>
            </a:r>
          </a:p>
          <a:p>
            <a:pPr marL="285750" indent="-285750">
              <a:buFont typeface="Arial" panose="020B0604020202020204" pitchFamily="34" charset="0"/>
              <a:buChar char="•"/>
            </a:pPr>
            <a:r>
              <a:rPr lang="en-US" dirty="0">
                <a:latin typeface="Book Antiqua" panose="02040602050305030304" pitchFamily="18" charset="0"/>
              </a:rPr>
              <a:t>Is a new </a:t>
            </a:r>
            <a:r>
              <a:rPr lang="en-US" dirty="0" err="1">
                <a:latin typeface="Book Antiqua" panose="02040602050305030304" pitchFamily="18" charset="0"/>
              </a:rPr>
              <a:t>defence</a:t>
            </a:r>
            <a:r>
              <a:rPr lang="en-US" dirty="0">
                <a:latin typeface="Book Antiqua" panose="02040602050305030304" pitchFamily="18" charset="0"/>
              </a:rPr>
              <a:t> necessary between 15-21?</a:t>
            </a:r>
          </a:p>
          <a:p>
            <a:pPr marL="285750" indent="-285750">
              <a:buFont typeface="Arial" panose="020B0604020202020204" pitchFamily="34" charset="0"/>
              <a:buChar char="•"/>
            </a:pPr>
            <a:r>
              <a:rPr lang="en-US" dirty="0">
                <a:latin typeface="Book Antiqua" panose="02040602050305030304" pitchFamily="18" charset="0"/>
              </a:rPr>
              <a:t>Requirement to prove defendant probably knew conduct was wrong?</a:t>
            </a:r>
          </a:p>
          <a:p>
            <a:pPr marL="285750" indent="-285750">
              <a:buFont typeface="Arial" panose="020B0604020202020204" pitchFamily="34" charset="0"/>
              <a:buChar char="•"/>
            </a:pPr>
            <a:r>
              <a:rPr lang="en-US" dirty="0" err="1">
                <a:latin typeface="Book Antiqua" panose="02040602050305030304" pitchFamily="18" charset="0"/>
              </a:rPr>
              <a:t>Neuroevidence</a:t>
            </a:r>
            <a:r>
              <a:rPr lang="en-US" dirty="0">
                <a:latin typeface="Book Antiqua" panose="02040602050305030304" pitchFamily="18" charset="0"/>
              </a:rPr>
              <a:t> to support underdevelopment?</a:t>
            </a:r>
          </a:p>
          <a:p>
            <a:pPr marL="285750" indent="-285750">
              <a:buFont typeface="Arial" panose="020B0604020202020204" pitchFamily="34" charset="0"/>
              <a:buChar char="•"/>
            </a:pPr>
            <a:endParaRPr lang="en-US" dirty="0">
              <a:latin typeface="Book Antiqua" panose="02040602050305030304" pitchFamily="18" charset="0"/>
            </a:endParaRPr>
          </a:p>
          <a:p>
            <a:pPr marL="285750" indent="-285750">
              <a:buFont typeface="Arial" panose="020B0604020202020204" pitchFamily="34" charset="0"/>
              <a:buChar char="•"/>
            </a:pPr>
            <a:r>
              <a:rPr lang="en-US" dirty="0">
                <a:latin typeface="Book Antiqua" panose="02040602050305030304" pitchFamily="18" charset="0"/>
              </a:rPr>
              <a:t>Something needs to change- we cannot blame people for that which they could not control!</a:t>
            </a:r>
          </a:p>
        </p:txBody>
      </p:sp>
      <p:pic>
        <p:nvPicPr>
          <p:cNvPr id="15362" name="Picture 2" descr="My brain is trying to kill me |">
            <a:extLst>
              <a:ext uri="{FF2B5EF4-FFF2-40B4-BE49-F238E27FC236}">
                <a16:creationId xmlns:a16="http://schemas.microsoft.com/office/drawing/2014/main" id="{39DC2F86-6122-AA6F-AF8E-D7B6668386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4935" y="4760007"/>
            <a:ext cx="5575514" cy="1756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5358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sz="quarter"/>
          </p:nvPr>
        </p:nvSpPr>
        <p:spPr>
          <a:xfrm>
            <a:off x="755650" y="233836"/>
            <a:ext cx="7772400" cy="1470025"/>
          </a:xfrm>
        </p:spPr>
        <p:txBody>
          <a:bodyPr/>
          <a:lstStyle/>
          <a:p>
            <a:pPr algn="ctr"/>
            <a:r>
              <a:rPr lang="en-GB" altLang="en-US" b="1" dirty="0">
                <a:latin typeface="Book Antiqua" panose="02040602050305030304" pitchFamily="18" charset="0"/>
              </a:rPr>
              <a:t>Developing Brains And Behaviour</a:t>
            </a:r>
          </a:p>
        </p:txBody>
      </p:sp>
      <p:sp>
        <p:nvSpPr>
          <p:cNvPr id="3075" name="Subtitle 2"/>
          <p:cNvSpPr>
            <a:spLocks noGrp="1"/>
          </p:cNvSpPr>
          <p:nvPr>
            <p:ph type="subTitle" sz="quarter" idx="1"/>
          </p:nvPr>
        </p:nvSpPr>
        <p:spPr>
          <a:xfrm>
            <a:off x="639258" y="2057400"/>
            <a:ext cx="4330307" cy="2061673"/>
          </a:xfrm>
        </p:spPr>
        <p:txBody>
          <a:bodyPr/>
          <a:lstStyle/>
          <a:p>
            <a:r>
              <a:rPr lang="en-GB" altLang="en-US" dirty="0">
                <a:latin typeface="Book Antiqua" panose="02040602050305030304" pitchFamily="18" charset="0"/>
              </a:rPr>
              <a:t>Questions for Reflection</a:t>
            </a:r>
          </a:p>
          <a:p>
            <a:pPr marL="285750" indent="-285750">
              <a:buFont typeface="Arial" panose="020B0604020202020204" pitchFamily="34" charset="0"/>
              <a:buChar char="•"/>
            </a:pPr>
            <a:r>
              <a:rPr lang="en-GB" b="0" dirty="0">
                <a:latin typeface="Book Antiqua" panose="02040602050305030304" pitchFamily="18" charset="0"/>
              </a:rPr>
              <a:t>Does having a set MACR make sense?</a:t>
            </a:r>
          </a:p>
          <a:p>
            <a:pPr marL="285750" indent="-285750">
              <a:buFont typeface="Arial" panose="020B0604020202020204" pitchFamily="34" charset="0"/>
              <a:buChar char="•"/>
            </a:pPr>
            <a:r>
              <a:rPr lang="en-GB" b="0" dirty="0">
                <a:latin typeface="Book Antiqua" panose="02040602050305030304" pitchFamily="18" charset="0"/>
              </a:rPr>
              <a:t>How much latitude can the law afford to give?</a:t>
            </a:r>
          </a:p>
          <a:p>
            <a:pPr marL="285750" indent="-285750">
              <a:buFont typeface="Arial" panose="020B0604020202020204" pitchFamily="34" charset="0"/>
              <a:buChar char="•"/>
            </a:pPr>
            <a:r>
              <a:rPr lang="en-GB" b="0" dirty="0">
                <a:latin typeface="Book Antiqua" panose="02040602050305030304" pitchFamily="18" charset="0"/>
              </a:rPr>
              <a:t>Can scientific fact excuse the worst behaviours?</a:t>
            </a:r>
          </a:p>
          <a:p>
            <a:pPr marL="285750" indent="-285750">
              <a:buFont typeface="Arial" panose="020B0604020202020204" pitchFamily="34" charset="0"/>
              <a:buChar char="•"/>
            </a:pPr>
            <a:endParaRPr lang="en-GB" b="0" dirty="0">
              <a:latin typeface="Book Antiqua" panose="02040602050305030304" pitchFamily="18" charset="0"/>
            </a:endParaRPr>
          </a:p>
          <a:p>
            <a:endParaRPr lang="en-GB" altLang="en-US" dirty="0">
              <a:latin typeface="Book Antiqua" panose="02040602050305030304" pitchFamily="18" charset="0"/>
            </a:endParaRPr>
          </a:p>
          <a:p>
            <a:pPr eaLnBrk="1" hangingPunct="1"/>
            <a:endParaRPr lang="en-GB" altLang="en-US" dirty="0"/>
          </a:p>
        </p:txBody>
      </p:sp>
      <p:pic>
        <p:nvPicPr>
          <p:cNvPr id="3" name="Picture 8" descr="Calvin • How old do you have to be before you know what's going on? | Calvin  and hobbes quotes, Calvin and hobbes comics, Calvin and hobbes">
            <a:extLst>
              <a:ext uri="{FF2B5EF4-FFF2-40B4-BE49-F238E27FC236}">
                <a16:creationId xmlns:a16="http://schemas.microsoft.com/office/drawing/2014/main" id="{4DA34A9C-0C87-361F-B1FF-A50D630CC8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6745" y="1845891"/>
            <a:ext cx="2626055" cy="3166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194536"/>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urham" id="{700E4952-F2AA-7C44-9591-F2E619722527}" vid="{D421FB46-412D-1243-85D0-7E4CC3A8C5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10583</TotalTime>
  <Words>1331</Words>
  <Application>Microsoft Macintosh PowerPoint</Application>
  <PresentationFormat>On-screen Show (4:3)</PresentationFormat>
  <Paragraphs>157</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Book Antiqua</vt:lpstr>
      <vt:lpstr>Calibri</vt:lpstr>
      <vt:lpstr>Times</vt:lpstr>
      <vt:lpstr>Times New Roman</vt:lpstr>
      <vt:lpstr>Blank</vt:lpstr>
      <vt:lpstr>Developing Brains And Behaviour</vt:lpstr>
      <vt:lpstr>Age of Criminal Responsibility</vt:lpstr>
      <vt:lpstr>Context</vt:lpstr>
      <vt:lpstr>Criminal Responsibility in Children I</vt:lpstr>
      <vt:lpstr>Criminal Responsibility in Children II</vt:lpstr>
      <vt:lpstr>Criminal Responsibility in Children III- Doli incapax</vt:lpstr>
      <vt:lpstr>Current Position</vt:lpstr>
      <vt:lpstr>England and Wales</vt:lpstr>
      <vt:lpstr>USA</vt:lpstr>
      <vt:lpstr>Netherlands</vt:lpstr>
      <vt:lpstr>The Neuroscience Bit</vt:lpstr>
      <vt:lpstr>What should the MACR be?</vt:lpstr>
      <vt:lpstr>Social/ psychological evidence</vt:lpstr>
      <vt:lpstr>Agency and Responsibility</vt:lpstr>
      <vt:lpstr>Should we use this neuroevidence?</vt:lpstr>
      <vt:lpstr>Limitations</vt:lpstr>
      <vt:lpstr>Reforms?</vt:lpstr>
      <vt:lpstr>Developing Brains And Behaviour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Cognitive Enhancement And Personal Identity</dc:title>
  <dc:creator>LAWRENCE, DAVID</dc:creator>
  <cp:lastModifiedBy>LAWRENCE, DAVID</cp:lastModifiedBy>
  <cp:revision>27</cp:revision>
  <cp:lastPrinted>2022-09-20T12:04:15Z</cp:lastPrinted>
  <dcterms:created xsi:type="dcterms:W3CDTF">2022-01-21T12:32:29Z</dcterms:created>
  <dcterms:modified xsi:type="dcterms:W3CDTF">2024-10-17T13:30:55Z</dcterms:modified>
</cp:coreProperties>
</file>