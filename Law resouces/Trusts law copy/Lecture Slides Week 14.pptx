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77" r:id="rId3"/>
    <p:sldId id="260" r:id="rId4"/>
    <p:sldId id="261" r:id="rId5"/>
    <p:sldId id="278"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29FDAA-CC07-2647-51E4-728EF3D6B6D5}" v="67" dt="2025-01-31T09:53:56.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904" y="48"/>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ardo Jacques" userId="69f3e2d4fa199a86" providerId="Windows Live" clId="Web-{8A29FDAA-CC07-2647-51E4-728EF3D6B6D5}"/>
    <pc:docChg chg="addSld modSld">
      <pc:chgData name="Ricardo Jacques" userId="69f3e2d4fa199a86" providerId="Windows Live" clId="Web-{8A29FDAA-CC07-2647-51E4-728EF3D6B6D5}" dt="2025-01-31T09:53:55.933" v="37" actId="1076"/>
      <pc:docMkLst>
        <pc:docMk/>
      </pc:docMkLst>
      <pc:sldChg chg="delSp modSp add replId">
        <pc:chgData name="Ricardo Jacques" userId="69f3e2d4fa199a86" providerId="Windows Live" clId="Web-{8A29FDAA-CC07-2647-51E4-728EF3D6B6D5}" dt="2025-01-31T09:53:55.933" v="37" actId="1076"/>
        <pc:sldMkLst>
          <pc:docMk/>
          <pc:sldMk cId="2430947602" sldId="278"/>
        </pc:sldMkLst>
        <pc:spChg chg="mod">
          <ac:chgData name="Ricardo Jacques" userId="69f3e2d4fa199a86" providerId="Windows Live" clId="Web-{8A29FDAA-CC07-2647-51E4-728EF3D6B6D5}" dt="2025-01-31T09:53:55.933" v="37" actId="1076"/>
          <ac:spMkLst>
            <pc:docMk/>
            <pc:sldMk cId="2430947602" sldId="278"/>
            <ac:spMk id="142" creationId="{DC431778-0DEF-704F-2E81-9DB3999C73E1}"/>
          </ac:spMkLst>
        </pc:spChg>
        <pc:spChg chg="del mod">
          <ac:chgData name="Ricardo Jacques" userId="69f3e2d4fa199a86" providerId="Windows Live" clId="Web-{8A29FDAA-CC07-2647-51E4-728EF3D6B6D5}" dt="2025-01-31T09:53:07.664" v="13"/>
          <ac:spMkLst>
            <pc:docMk/>
            <pc:sldMk cId="2430947602" sldId="278"/>
            <ac:spMk id="143" creationId="{A4E6EB43-EC07-37ED-24E0-D69CB3A10295}"/>
          </ac:spMkLst>
        </pc:spChg>
        <pc:spChg chg="del">
          <ac:chgData name="Ricardo Jacques" userId="69f3e2d4fa199a86" providerId="Windows Live" clId="Web-{8A29FDAA-CC07-2647-51E4-728EF3D6B6D5}" dt="2025-01-31T09:52:43.241" v="3"/>
          <ac:spMkLst>
            <pc:docMk/>
            <pc:sldMk cId="2430947602" sldId="278"/>
            <ac:spMk id="144" creationId="{C3F77F3C-71DD-16E0-09C8-90988289E8C5}"/>
          </ac:spMkLst>
        </pc:spChg>
        <pc:spChg chg="del mod">
          <ac:chgData name="Ricardo Jacques" userId="69f3e2d4fa199a86" providerId="Windows Live" clId="Web-{8A29FDAA-CC07-2647-51E4-728EF3D6B6D5}" dt="2025-01-31T09:52:41.975" v="2"/>
          <ac:spMkLst>
            <pc:docMk/>
            <pc:sldMk cId="2430947602" sldId="278"/>
            <ac:spMk id="145" creationId="{ED95D393-F0B5-D2BC-5392-218259692DC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1pPr>
            <a:lvl2pPr marL="914400" marR="0" lvl="1"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2pPr>
            <a:lvl3pPr marL="1371600" marR="0" lvl="2"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3pPr>
            <a:lvl4pPr marL="1828800" marR="0" lvl="3"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4pPr>
            <a:lvl5pPr marL="2286000" marR="0" lvl="4" indent="-228600" algn="l" rtl="0">
              <a:spcBef>
                <a:spcPts val="360"/>
              </a:spcBef>
              <a:spcAft>
                <a:spcPts val="0"/>
              </a:spcAft>
              <a:buSzPts val="1400"/>
              <a:buNone/>
              <a:defRPr sz="1200" b="0" i="0" u="none" strike="noStrike" cap="none">
                <a:solidFill>
                  <a:schemeClr val="dk1"/>
                </a:solidFill>
                <a:latin typeface="Times"/>
                <a:ea typeface="Times"/>
                <a:cs typeface="Times"/>
                <a:sym typeface="Time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Times"/>
                <a:ea typeface="Times"/>
                <a:cs typeface="Times"/>
                <a:sym typeface="Times"/>
              </a:rPr>
              <a:t>‹#›</a:t>
            </a:fld>
            <a:endParaRPr sz="1200" b="0" i="0" u="none" strike="noStrike" cap="none">
              <a:solidFill>
                <a:schemeClr val="dk1"/>
              </a:solidFill>
              <a:latin typeface="Times"/>
              <a:ea typeface="Times"/>
              <a:cs typeface="Times"/>
              <a:sym typeface="Time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1" name="Google Shape;9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7" name="Google Shape;9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 name="Google Shape;12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F6820B48-60C2-05C1-EC0C-FE7805D6DBB6}"/>
            </a:ext>
          </a:extLst>
        </p:cNvPr>
        <p:cNvGrpSpPr/>
        <p:nvPr/>
      </p:nvGrpSpPr>
      <p:grpSpPr>
        <a:xfrm>
          <a:off x="0" y="0"/>
          <a:ext cx="0" cy="0"/>
          <a:chOff x="0" y="0"/>
          <a:chExt cx="0" cy="0"/>
        </a:xfrm>
      </p:grpSpPr>
      <p:sp>
        <p:nvSpPr>
          <p:cNvPr id="138" name="Google Shape;138;p7:notes">
            <a:extLst>
              <a:ext uri="{FF2B5EF4-FFF2-40B4-BE49-F238E27FC236}">
                <a16:creationId xmlns:a16="http://schemas.microsoft.com/office/drawing/2014/main" id="{0C42A7DE-8EEF-19D0-5D6D-802318DBE8A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39" name="Google Shape;139;p7:notes">
            <a:extLst>
              <a:ext uri="{FF2B5EF4-FFF2-40B4-BE49-F238E27FC236}">
                <a16:creationId xmlns:a16="http://schemas.microsoft.com/office/drawing/2014/main" id="{2F4BA229-2BD4-57FF-329C-4C9E2170222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6991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39" name="Google Shape;13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5" name="Google Shape;15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3" name="Google Shape;17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0" name="Google Shape;18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6" name="Google Shape;20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3" name="Google Shape;21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4" name="Google Shape;23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1" name="Google Shape;24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7" name="Google Shape;25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4" name="Google Shape;26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6" name="Google Shape;27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8" name="Google Shape;288;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5" name="Google Shape;29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1" name="Google Shape;30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0"/>
        <p:cNvGrpSpPr/>
        <p:nvPr/>
      </p:nvGrpSpPr>
      <p:grpSpPr>
        <a:xfrm>
          <a:off x="0" y="0"/>
          <a:ext cx="0" cy="0"/>
          <a:chOff x="0" y="0"/>
          <a:chExt cx="0" cy="0"/>
        </a:xfrm>
      </p:grpSpPr>
      <p:sp>
        <p:nvSpPr>
          <p:cNvPr id="21" name="Google Shape;21;p2"/>
          <p:cNvSpPr/>
          <p:nvPr/>
        </p:nvSpPr>
        <p:spPr>
          <a:xfrm>
            <a:off x="0" y="0"/>
            <a:ext cx="9144000" cy="5516563"/>
          </a:xfrm>
          <a:prstGeom prst="rect">
            <a:avLst/>
          </a:prstGeom>
          <a:solidFill>
            <a:srgbClr val="66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663366"/>
              </a:solidFill>
              <a:latin typeface="Times"/>
              <a:ea typeface="Times"/>
              <a:cs typeface="Times"/>
              <a:sym typeface="Times"/>
            </a:endParaRPr>
          </a:p>
        </p:txBody>
      </p:sp>
      <p:pic>
        <p:nvPicPr>
          <p:cNvPr id="22" name="Google Shape;22;p2"/>
          <p:cNvPicPr preferRelativeResize="0"/>
          <p:nvPr/>
        </p:nvPicPr>
        <p:blipFill rotWithShape="1">
          <a:blip r:embed="rId2">
            <a:alphaModFix/>
          </a:blip>
          <a:srcRect/>
          <a:stretch/>
        </p:blipFill>
        <p:spPr>
          <a:xfrm>
            <a:off x="266700" y="5843588"/>
            <a:ext cx="1943100" cy="862012"/>
          </a:xfrm>
          <a:prstGeom prst="rect">
            <a:avLst/>
          </a:prstGeom>
          <a:noFill/>
          <a:ln>
            <a:noFill/>
          </a:ln>
        </p:spPr>
      </p:pic>
      <p:sp>
        <p:nvSpPr>
          <p:cNvPr id="23" name="Google Shape;23;p2"/>
          <p:cNvSpPr txBox="1">
            <a:spLocks noGrp="1"/>
          </p:cNvSpPr>
          <p:nvPr>
            <p:ph type="ctrTitle"/>
          </p:nvPr>
        </p:nvSpPr>
        <p:spPr>
          <a:xfrm>
            <a:off x="755650" y="476250"/>
            <a:ext cx="7772400" cy="14700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
          <p:cNvSpPr txBox="1">
            <a:spLocks noGrp="1"/>
          </p:cNvSpPr>
          <p:nvPr>
            <p:ph type="subTitle" idx="1"/>
          </p:nvPr>
        </p:nvSpPr>
        <p:spPr>
          <a:xfrm>
            <a:off x="827088" y="2420938"/>
            <a:ext cx="7561262" cy="1752600"/>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SzPts val="1400"/>
              <a:buNone/>
              <a:defRPr b="1">
                <a:solidFill>
                  <a:schemeClr val="lt1"/>
                </a:solidFill>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sp>
        <p:nvSpPr>
          <p:cNvPr id="25" name="Google Shape;25;p2"/>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a:ea typeface="Times"/>
                <a:cs typeface="Times"/>
                <a:sym typeface="Times"/>
              </a:defRPr>
            </a:lvl1pPr>
            <a:lvl2pPr marL="0" lvl="1" indent="0" algn="r">
              <a:spcBef>
                <a:spcPts val="0"/>
              </a:spcBef>
              <a:spcAft>
                <a:spcPts val="0"/>
              </a:spcAft>
              <a:buNone/>
              <a:defRPr sz="1400" b="0" i="0" u="none" strike="noStrike" cap="none">
                <a:solidFill>
                  <a:schemeClr val="dk1"/>
                </a:solidFill>
                <a:latin typeface="Times"/>
                <a:ea typeface="Times"/>
                <a:cs typeface="Times"/>
                <a:sym typeface="Times"/>
              </a:defRPr>
            </a:lvl2pPr>
            <a:lvl3pPr marL="0" lvl="2" indent="0" algn="r">
              <a:spcBef>
                <a:spcPts val="0"/>
              </a:spcBef>
              <a:spcAft>
                <a:spcPts val="0"/>
              </a:spcAft>
              <a:buNone/>
              <a:defRPr sz="1400" b="0" i="0" u="none" strike="noStrike" cap="none">
                <a:solidFill>
                  <a:schemeClr val="dk1"/>
                </a:solidFill>
                <a:latin typeface="Times"/>
                <a:ea typeface="Times"/>
                <a:cs typeface="Times"/>
                <a:sym typeface="Times"/>
              </a:defRPr>
            </a:lvl3pPr>
            <a:lvl4pPr marL="0" lvl="3" indent="0" algn="r">
              <a:spcBef>
                <a:spcPts val="0"/>
              </a:spcBef>
              <a:spcAft>
                <a:spcPts val="0"/>
              </a:spcAft>
              <a:buNone/>
              <a:defRPr sz="1400" b="0" i="0" u="none" strike="noStrike" cap="none">
                <a:solidFill>
                  <a:schemeClr val="dk1"/>
                </a:solidFill>
                <a:latin typeface="Times"/>
                <a:ea typeface="Times"/>
                <a:cs typeface="Times"/>
                <a:sym typeface="Times"/>
              </a:defRPr>
            </a:lvl4pPr>
            <a:lvl5pPr marL="0" lvl="4" indent="0" algn="r">
              <a:spcBef>
                <a:spcPts val="0"/>
              </a:spcBef>
              <a:spcAft>
                <a:spcPts val="0"/>
              </a:spcAft>
              <a:buNone/>
              <a:defRPr sz="1400" b="0" i="0" u="none" strike="noStrike" cap="none">
                <a:solidFill>
                  <a:schemeClr val="dk1"/>
                </a:solidFill>
                <a:latin typeface="Times"/>
                <a:ea typeface="Times"/>
                <a:cs typeface="Times"/>
                <a:sym typeface="Times"/>
              </a:defRPr>
            </a:lvl5pPr>
            <a:lvl6pPr marL="0" lvl="5" indent="0" algn="r">
              <a:spcBef>
                <a:spcPts val="0"/>
              </a:spcBef>
              <a:spcAft>
                <a:spcPts val="0"/>
              </a:spcAft>
              <a:buNone/>
              <a:defRPr sz="1400" b="0" i="0" u="none" strike="noStrike" cap="none">
                <a:solidFill>
                  <a:schemeClr val="dk1"/>
                </a:solidFill>
                <a:latin typeface="Times"/>
                <a:ea typeface="Times"/>
                <a:cs typeface="Times"/>
                <a:sym typeface="Times"/>
              </a:defRPr>
            </a:lvl6pPr>
            <a:lvl7pPr marL="0" lvl="6" indent="0" algn="r">
              <a:spcBef>
                <a:spcPts val="0"/>
              </a:spcBef>
              <a:spcAft>
                <a:spcPts val="0"/>
              </a:spcAft>
              <a:buNone/>
              <a:defRPr sz="1400" b="0" i="0" u="none" strike="noStrike" cap="none">
                <a:solidFill>
                  <a:schemeClr val="dk1"/>
                </a:solidFill>
                <a:latin typeface="Times"/>
                <a:ea typeface="Times"/>
                <a:cs typeface="Times"/>
                <a:sym typeface="Times"/>
              </a:defRPr>
            </a:lvl7pPr>
            <a:lvl8pPr marL="0" lvl="7" indent="0" algn="r">
              <a:spcBef>
                <a:spcPts val="0"/>
              </a:spcBef>
              <a:spcAft>
                <a:spcPts val="0"/>
              </a:spcAft>
              <a:buNone/>
              <a:defRPr sz="1400" b="0" i="0" u="none" strike="noStrike" cap="none">
                <a:solidFill>
                  <a:schemeClr val="dk1"/>
                </a:solidFill>
                <a:latin typeface="Times"/>
                <a:ea typeface="Times"/>
                <a:cs typeface="Times"/>
                <a:sym typeface="Times"/>
              </a:defRPr>
            </a:lvl8pPr>
            <a:lvl9pPr marL="0" lvl="8" indent="0" algn="r">
              <a:spcBef>
                <a:spcPts val="0"/>
              </a:spcBef>
              <a:spcAft>
                <a:spcPts val="0"/>
              </a:spcAft>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body" idx="1"/>
          </p:nvPr>
        </p:nvSpPr>
        <p:spPr>
          <a:xfrm>
            <a:off x="684213" y="1989138"/>
            <a:ext cx="7772400" cy="381635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a:ea typeface="Times"/>
                <a:cs typeface="Times"/>
                <a:sym typeface="Times"/>
              </a:defRPr>
            </a:lvl1pPr>
            <a:lvl2pPr marL="0" lvl="1" indent="0" algn="r">
              <a:spcBef>
                <a:spcPts val="0"/>
              </a:spcBef>
              <a:spcAft>
                <a:spcPts val="0"/>
              </a:spcAft>
              <a:buNone/>
              <a:defRPr sz="1400" b="0" i="0" u="none" strike="noStrike" cap="none">
                <a:solidFill>
                  <a:schemeClr val="dk1"/>
                </a:solidFill>
                <a:latin typeface="Times"/>
                <a:ea typeface="Times"/>
                <a:cs typeface="Times"/>
                <a:sym typeface="Times"/>
              </a:defRPr>
            </a:lvl2pPr>
            <a:lvl3pPr marL="0" lvl="2" indent="0" algn="r">
              <a:spcBef>
                <a:spcPts val="0"/>
              </a:spcBef>
              <a:spcAft>
                <a:spcPts val="0"/>
              </a:spcAft>
              <a:buNone/>
              <a:defRPr sz="1400" b="0" i="0" u="none" strike="noStrike" cap="none">
                <a:solidFill>
                  <a:schemeClr val="dk1"/>
                </a:solidFill>
                <a:latin typeface="Times"/>
                <a:ea typeface="Times"/>
                <a:cs typeface="Times"/>
                <a:sym typeface="Times"/>
              </a:defRPr>
            </a:lvl3pPr>
            <a:lvl4pPr marL="0" lvl="3" indent="0" algn="r">
              <a:spcBef>
                <a:spcPts val="0"/>
              </a:spcBef>
              <a:spcAft>
                <a:spcPts val="0"/>
              </a:spcAft>
              <a:buNone/>
              <a:defRPr sz="1400" b="0" i="0" u="none" strike="noStrike" cap="none">
                <a:solidFill>
                  <a:schemeClr val="dk1"/>
                </a:solidFill>
                <a:latin typeface="Times"/>
                <a:ea typeface="Times"/>
                <a:cs typeface="Times"/>
                <a:sym typeface="Times"/>
              </a:defRPr>
            </a:lvl4pPr>
            <a:lvl5pPr marL="0" lvl="4" indent="0" algn="r">
              <a:spcBef>
                <a:spcPts val="0"/>
              </a:spcBef>
              <a:spcAft>
                <a:spcPts val="0"/>
              </a:spcAft>
              <a:buNone/>
              <a:defRPr sz="1400" b="0" i="0" u="none" strike="noStrike" cap="none">
                <a:solidFill>
                  <a:schemeClr val="dk1"/>
                </a:solidFill>
                <a:latin typeface="Times"/>
                <a:ea typeface="Times"/>
                <a:cs typeface="Times"/>
                <a:sym typeface="Times"/>
              </a:defRPr>
            </a:lvl5pPr>
            <a:lvl6pPr marL="0" lvl="5" indent="0" algn="r">
              <a:spcBef>
                <a:spcPts val="0"/>
              </a:spcBef>
              <a:spcAft>
                <a:spcPts val="0"/>
              </a:spcAft>
              <a:buNone/>
              <a:defRPr sz="1400" b="0" i="0" u="none" strike="noStrike" cap="none">
                <a:solidFill>
                  <a:schemeClr val="dk1"/>
                </a:solidFill>
                <a:latin typeface="Times"/>
                <a:ea typeface="Times"/>
                <a:cs typeface="Times"/>
                <a:sym typeface="Times"/>
              </a:defRPr>
            </a:lvl6pPr>
            <a:lvl7pPr marL="0" lvl="6" indent="0" algn="r">
              <a:spcBef>
                <a:spcPts val="0"/>
              </a:spcBef>
              <a:spcAft>
                <a:spcPts val="0"/>
              </a:spcAft>
              <a:buNone/>
              <a:defRPr sz="1400" b="0" i="0" u="none" strike="noStrike" cap="none">
                <a:solidFill>
                  <a:schemeClr val="dk1"/>
                </a:solidFill>
                <a:latin typeface="Times"/>
                <a:ea typeface="Times"/>
                <a:cs typeface="Times"/>
                <a:sym typeface="Times"/>
              </a:defRPr>
            </a:lvl7pPr>
            <a:lvl8pPr marL="0" lvl="7" indent="0" algn="r">
              <a:spcBef>
                <a:spcPts val="0"/>
              </a:spcBef>
              <a:spcAft>
                <a:spcPts val="0"/>
              </a:spcAft>
              <a:buNone/>
              <a:defRPr sz="1400" b="0" i="0" u="none" strike="noStrike" cap="none">
                <a:solidFill>
                  <a:schemeClr val="dk1"/>
                </a:solidFill>
                <a:latin typeface="Times"/>
                <a:ea typeface="Times"/>
                <a:cs typeface="Times"/>
                <a:sym typeface="Times"/>
              </a:defRPr>
            </a:lvl8pPr>
            <a:lvl9pPr marL="0" lvl="8" indent="0" algn="r">
              <a:spcBef>
                <a:spcPts val="0"/>
              </a:spcBef>
              <a:spcAft>
                <a:spcPts val="0"/>
              </a:spcAft>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4"/>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Arial"/>
              <a:buNone/>
              <a:defRPr sz="2000"/>
            </a:lvl1pPr>
            <a:lvl2pPr marL="914400" lvl="1" indent="-228600" algn="l">
              <a:spcBef>
                <a:spcPts val="360"/>
              </a:spcBef>
              <a:spcAft>
                <a:spcPts val="0"/>
              </a:spcAft>
              <a:buClr>
                <a:schemeClr val="dk1"/>
              </a:buClr>
              <a:buSzPts val="1800"/>
              <a:buFont typeface="Arial"/>
              <a:buNone/>
              <a:defRPr sz="1800"/>
            </a:lvl2pPr>
            <a:lvl3pPr marL="1371600" lvl="2" indent="-228600" algn="l">
              <a:spcBef>
                <a:spcPts val="320"/>
              </a:spcBef>
              <a:spcAft>
                <a:spcPts val="0"/>
              </a:spcAft>
              <a:buClr>
                <a:schemeClr val="dk1"/>
              </a:buClr>
              <a:buSzPts val="1600"/>
              <a:buFont typeface="Arial"/>
              <a:buNone/>
              <a:defRPr sz="1600"/>
            </a:lvl3pPr>
            <a:lvl4pPr marL="1828800" lvl="3" indent="-228600" algn="l">
              <a:spcBef>
                <a:spcPts val="280"/>
              </a:spcBef>
              <a:spcAft>
                <a:spcPts val="0"/>
              </a:spcAft>
              <a:buClr>
                <a:schemeClr val="dk1"/>
              </a:buClr>
              <a:buSzPts val="1400"/>
              <a:buFont typeface="Arial"/>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
        <p:nvSpPr>
          <p:cNvPr id="40" name="Google Shape;40;p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body" idx="1"/>
          </p:nvPr>
        </p:nvSpPr>
        <p:spPr>
          <a:xfrm>
            <a:off x="684213" y="1989138"/>
            <a:ext cx="3810000" cy="3816350"/>
          </a:xfrm>
          <a:prstGeom prst="rect">
            <a:avLst/>
          </a:prstGeom>
          <a:noFill/>
          <a:ln>
            <a:noFill/>
          </a:ln>
        </p:spPr>
        <p:txBody>
          <a:bodyPr spcFirstLastPara="1" wrap="square" lIns="91425" tIns="45700" rIns="91425" bIns="45700" anchor="t" anchorCtr="0">
            <a:noAutofit/>
          </a:bodyPr>
          <a:lstStyle>
            <a:lvl1pPr marL="457200" lvl="0" indent="-228600" algn="l">
              <a:spcBef>
                <a:spcPts val="560"/>
              </a:spcBef>
              <a:spcAft>
                <a:spcPts val="0"/>
              </a:spcAft>
              <a:buSzPts val="1400"/>
              <a:buNone/>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6" name="Google Shape;46;p6"/>
          <p:cNvSpPr txBox="1">
            <a:spLocks noGrp="1"/>
          </p:cNvSpPr>
          <p:nvPr>
            <p:ph type="body" idx="2"/>
          </p:nvPr>
        </p:nvSpPr>
        <p:spPr>
          <a:xfrm>
            <a:off x="4646613" y="1989138"/>
            <a:ext cx="3810000" cy="3816350"/>
          </a:xfrm>
          <a:prstGeom prst="rect">
            <a:avLst/>
          </a:prstGeom>
          <a:noFill/>
          <a:ln>
            <a:noFill/>
          </a:ln>
        </p:spPr>
        <p:txBody>
          <a:bodyPr spcFirstLastPara="1" wrap="square" lIns="91425" tIns="45700" rIns="91425" bIns="45700" anchor="t" anchorCtr="0">
            <a:noAutofit/>
          </a:bodyPr>
          <a:lstStyle>
            <a:lvl1pPr marL="457200" lvl="0" indent="-228600" algn="l">
              <a:spcBef>
                <a:spcPts val="560"/>
              </a:spcBef>
              <a:spcAft>
                <a:spcPts val="0"/>
              </a:spcAft>
              <a:buSzPts val="1400"/>
              <a:buNone/>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7" name="Google Shape;47;p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53" name="Google Shape;5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SzPts val="1400"/>
              <a:buNone/>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54" name="Google Shape;5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55" name="Google Shape;5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SzPts val="1400"/>
              <a:buNone/>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56" name="Google Shape;56;p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228600" algn="l">
              <a:spcBef>
                <a:spcPts val="640"/>
              </a:spcBef>
              <a:spcAft>
                <a:spcPts val="0"/>
              </a:spcAft>
              <a:buSzPts val="1400"/>
              <a:buNone/>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66" name="Google Shape;66;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67" name="Google Shape;67;p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a:spLocks noGrp="1"/>
          </p:cNvSpPr>
          <p:nvPr>
            <p:ph type="pic" idx="2"/>
          </p:nvPr>
        </p:nvSpPr>
        <p:spPr>
          <a:xfrm>
            <a:off x="1792288" y="612775"/>
            <a:ext cx="5486400" cy="4114800"/>
          </a:xfrm>
          <a:prstGeom prst="rect">
            <a:avLst/>
          </a:prstGeom>
          <a:noFill/>
          <a:ln>
            <a:noFill/>
          </a:ln>
        </p:spPr>
      </p:sp>
      <p:sp>
        <p:nvSpPr>
          <p:cNvPr id="73" name="Google Shape;73;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74" name="Google Shape;74;p10"/>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0"/>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body" idx="1"/>
          </p:nvPr>
        </p:nvSpPr>
        <p:spPr>
          <a:xfrm rot="5400000">
            <a:off x="2662238" y="11113"/>
            <a:ext cx="3816350" cy="77724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 name="Google Shape;80;p1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rot="5400000">
            <a:off x="4888706" y="2235994"/>
            <a:ext cx="5195888" cy="1943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body" idx="1"/>
          </p:nvPr>
        </p:nvSpPr>
        <p:spPr>
          <a:xfrm rot="5400000">
            <a:off x="925513" y="368300"/>
            <a:ext cx="5195888" cy="5678487"/>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0825" cy="6873875"/>
          </a:xfrm>
          <a:prstGeom prst="rect">
            <a:avLst/>
          </a:prstGeom>
          <a:solidFill>
            <a:srgbClr val="66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2400" b="0" i="0" u="none" strike="noStrike" cap="none">
                <a:solidFill>
                  <a:srgbClr val="663366"/>
                </a:solidFill>
                <a:latin typeface="Times"/>
                <a:ea typeface="Times"/>
                <a:cs typeface="Times"/>
                <a:sym typeface="Times"/>
              </a:rPr>
              <a:t>∂</a:t>
            </a:r>
            <a:endParaRPr/>
          </a:p>
        </p:txBody>
      </p:sp>
      <p:sp>
        <p:nvSpPr>
          <p:cNvPr id="11" name="Google Shape;11;p1"/>
          <p:cNvSpPr/>
          <p:nvPr/>
        </p:nvSpPr>
        <p:spPr>
          <a:xfrm>
            <a:off x="107950" y="107950"/>
            <a:ext cx="8924925" cy="665797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663366"/>
              </a:solidFill>
              <a:latin typeface="Times"/>
              <a:ea typeface="Times"/>
              <a:cs typeface="Times"/>
              <a:sym typeface="Times"/>
            </a:endParaRPr>
          </a:p>
        </p:txBody>
      </p:sp>
      <p:sp>
        <p:nvSpPr>
          <p:cNvPr id="12" name="Google Shape;12;p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rgbClr val="663366"/>
                </a:solidFill>
                <a:latin typeface="Times"/>
                <a:ea typeface="Times"/>
                <a:cs typeface="Times"/>
                <a:sym typeface="Times"/>
              </a:defRPr>
            </a:lvl1pPr>
            <a:lvl2pPr marR="0" lvl="1" algn="l" rtl="0">
              <a:spcBef>
                <a:spcPts val="0"/>
              </a:spcBef>
              <a:spcAft>
                <a:spcPts val="0"/>
              </a:spcAft>
              <a:buSzPts val="1400"/>
              <a:buNone/>
              <a:defRPr sz="4400" b="0" i="0" u="none" strike="noStrike" cap="none">
                <a:solidFill>
                  <a:srgbClr val="663366"/>
                </a:solidFill>
                <a:latin typeface="Times"/>
                <a:ea typeface="Times"/>
                <a:cs typeface="Times"/>
                <a:sym typeface="Times"/>
              </a:defRPr>
            </a:lvl2pPr>
            <a:lvl3pPr marR="0" lvl="2" algn="l" rtl="0">
              <a:spcBef>
                <a:spcPts val="0"/>
              </a:spcBef>
              <a:spcAft>
                <a:spcPts val="0"/>
              </a:spcAft>
              <a:buSzPts val="1400"/>
              <a:buNone/>
              <a:defRPr sz="4400" b="0" i="0" u="none" strike="noStrike" cap="none">
                <a:solidFill>
                  <a:srgbClr val="663366"/>
                </a:solidFill>
                <a:latin typeface="Times"/>
                <a:ea typeface="Times"/>
                <a:cs typeface="Times"/>
                <a:sym typeface="Times"/>
              </a:defRPr>
            </a:lvl3pPr>
            <a:lvl4pPr marR="0" lvl="3" algn="l" rtl="0">
              <a:spcBef>
                <a:spcPts val="0"/>
              </a:spcBef>
              <a:spcAft>
                <a:spcPts val="0"/>
              </a:spcAft>
              <a:buSzPts val="1400"/>
              <a:buNone/>
              <a:defRPr sz="4400" b="0" i="0" u="none" strike="noStrike" cap="none">
                <a:solidFill>
                  <a:srgbClr val="663366"/>
                </a:solidFill>
                <a:latin typeface="Times"/>
                <a:ea typeface="Times"/>
                <a:cs typeface="Times"/>
                <a:sym typeface="Times"/>
              </a:defRPr>
            </a:lvl4pPr>
            <a:lvl5pPr marR="0" lvl="4" algn="l" rtl="0">
              <a:spcBef>
                <a:spcPts val="0"/>
              </a:spcBef>
              <a:spcAft>
                <a:spcPts val="0"/>
              </a:spcAft>
              <a:buSzPts val="1400"/>
              <a:buNone/>
              <a:defRPr sz="4400" b="0" i="0" u="none" strike="noStrike" cap="none">
                <a:solidFill>
                  <a:srgbClr val="663366"/>
                </a:solidFill>
                <a:latin typeface="Times"/>
                <a:ea typeface="Times"/>
                <a:cs typeface="Times"/>
                <a:sym typeface="Times"/>
              </a:defRPr>
            </a:lvl5pPr>
            <a:lvl6pPr marR="0" lvl="5" algn="l" rtl="0">
              <a:spcBef>
                <a:spcPts val="0"/>
              </a:spcBef>
              <a:spcAft>
                <a:spcPts val="0"/>
              </a:spcAft>
              <a:buSzPts val="1400"/>
              <a:buNone/>
              <a:defRPr sz="4400" b="0" i="0" u="none" strike="noStrike" cap="none">
                <a:solidFill>
                  <a:srgbClr val="663366"/>
                </a:solidFill>
                <a:latin typeface="Times"/>
                <a:ea typeface="Times"/>
                <a:cs typeface="Times"/>
                <a:sym typeface="Times"/>
              </a:defRPr>
            </a:lvl6pPr>
            <a:lvl7pPr marR="0" lvl="6" algn="l" rtl="0">
              <a:spcBef>
                <a:spcPts val="0"/>
              </a:spcBef>
              <a:spcAft>
                <a:spcPts val="0"/>
              </a:spcAft>
              <a:buSzPts val="1400"/>
              <a:buNone/>
              <a:defRPr sz="4400" b="0" i="0" u="none" strike="noStrike" cap="none">
                <a:solidFill>
                  <a:srgbClr val="663366"/>
                </a:solidFill>
                <a:latin typeface="Times"/>
                <a:ea typeface="Times"/>
                <a:cs typeface="Times"/>
                <a:sym typeface="Times"/>
              </a:defRPr>
            </a:lvl7pPr>
            <a:lvl8pPr marR="0" lvl="7" algn="l" rtl="0">
              <a:spcBef>
                <a:spcPts val="0"/>
              </a:spcBef>
              <a:spcAft>
                <a:spcPts val="0"/>
              </a:spcAft>
              <a:buSzPts val="1400"/>
              <a:buNone/>
              <a:defRPr sz="4400" b="0" i="0" u="none" strike="noStrike" cap="none">
                <a:solidFill>
                  <a:srgbClr val="663366"/>
                </a:solidFill>
                <a:latin typeface="Times"/>
                <a:ea typeface="Times"/>
                <a:cs typeface="Times"/>
                <a:sym typeface="Times"/>
              </a:defRPr>
            </a:lvl8pPr>
            <a:lvl9pPr marR="0" lvl="8" algn="l" rtl="0">
              <a:spcBef>
                <a:spcPts val="0"/>
              </a:spcBef>
              <a:spcAft>
                <a:spcPts val="0"/>
              </a:spcAft>
              <a:buSzPts val="1400"/>
              <a:buNone/>
              <a:defRPr sz="4400" b="0" i="0" u="none" strike="noStrike" cap="none">
                <a:solidFill>
                  <a:srgbClr val="663366"/>
                </a:solidFill>
                <a:latin typeface="Times"/>
                <a:ea typeface="Times"/>
                <a:cs typeface="Times"/>
                <a:sym typeface="Times"/>
              </a:defRPr>
            </a:lvl9pPr>
          </a:lstStyle>
          <a:p>
            <a:endParaRPr/>
          </a:p>
        </p:txBody>
      </p:sp>
      <p:sp>
        <p:nvSpPr>
          <p:cNvPr id="13" name="Google Shape;13;p1"/>
          <p:cNvSpPr txBox="1">
            <a:spLocks noGrp="1"/>
          </p:cNvSpPr>
          <p:nvPr>
            <p:ph type="body" idx="1"/>
          </p:nvPr>
        </p:nvSpPr>
        <p:spPr>
          <a:xfrm>
            <a:off x="684213" y="1989138"/>
            <a:ext cx="7772400" cy="38163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800" b="0" i="0" u="none" strike="noStrike" cap="none">
                <a:solidFill>
                  <a:schemeClr val="dk1"/>
                </a:solidFill>
                <a:latin typeface="Arial"/>
                <a:ea typeface="Arial"/>
                <a:cs typeface="Arial"/>
                <a:sym typeface="Arial"/>
              </a:defRPr>
            </a:lvl1pPr>
            <a:lvl2pPr marL="914400" marR="0" lvl="1"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15" name="Google Shape;15;p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16" name="Google Shape;16;p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Times"/>
                <a:ea typeface="Times"/>
                <a:cs typeface="Times"/>
                <a:sym typeface="Times"/>
              </a:defRPr>
            </a:lvl1pPr>
            <a:lvl2pPr marL="0" marR="0" lvl="1" indent="0" algn="r" rtl="0">
              <a:spcBef>
                <a:spcPts val="0"/>
              </a:spcBef>
              <a:spcAft>
                <a:spcPts val="0"/>
              </a:spcAft>
              <a:buNone/>
              <a:defRPr sz="1400" b="0" i="0" u="none" strike="noStrike" cap="none">
                <a:solidFill>
                  <a:schemeClr val="dk1"/>
                </a:solidFill>
                <a:latin typeface="Times"/>
                <a:ea typeface="Times"/>
                <a:cs typeface="Times"/>
                <a:sym typeface="Times"/>
              </a:defRPr>
            </a:lvl2pPr>
            <a:lvl3pPr marL="0" marR="0" lvl="2" indent="0" algn="r" rtl="0">
              <a:spcBef>
                <a:spcPts val="0"/>
              </a:spcBef>
              <a:spcAft>
                <a:spcPts val="0"/>
              </a:spcAft>
              <a:buNone/>
              <a:defRPr sz="1400" b="0" i="0" u="none" strike="noStrike" cap="none">
                <a:solidFill>
                  <a:schemeClr val="dk1"/>
                </a:solidFill>
                <a:latin typeface="Times"/>
                <a:ea typeface="Times"/>
                <a:cs typeface="Times"/>
                <a:sym typeface="Times"/>
              </a:defRPr>
            </a:lvl3pPr>
            <a:lvl4pPr marL="0" marR="0" lvl="3" indent="0" algn="r" rtl="0">
              <a:spcBef>
                <a:spcPts val="0"/>
              </a:spcBef>
              <a:spcAft>
                <a:spcPts val="0"/>
              </a:spcAft>
              <a:buNone/>
              <a:defRPr sz="1400" b="0" i="0" u="none" strike="noStrike" cap="none">
                <a:solidFill>
                  <a:schemeClr val="dk1"/>
                </a:solidFill>
                <a:latin typeface="Times"/>
                <a:ea typeface="Times"/>
                <a:cs typeface="Times"/>
                <a:sym typeface="Times"/>
              </a:defRPr>
            </a:lvl4pPr>
            <a:lvl5pPr marL="0" marR="0" lvl="4" indent="0" algn="r" rtl="0">
              <a:spcBef>
                <a:spcPts val="0"/>
              </a:spcBef>
              <a:spcAft>
                <a:spcPts val="0"/>
              </a:spcAft>
              <a:buNone/>
              <a:defRPr sz="1400" b="0" i="0" u="none" strike="noStrike" cap="none">
                <a:solidFill>
                  <a:schemeClr val="dk1"/>
                </a:solidFill>
                <a:latin typeface="Times"/>
                <a:ea typeface="Times"/>
                <a:cs typeface="Times"/>
                <a:sym typeface="Times"/>
              </a:defRPr>
            </a:lvl5pPr>
            <a:lvl6pPr marL="0" marR="0" lvl="5" indent="0" algn="r" rtl="0">
              <a:spcBef>
                <a:spcPts val="0"/>
              </a:spcBef>
              <a:spcAft>
                <a:spcPts val="0"/>
              </a:spcAft>
              <a:buNone/>
              <a:defRPr sz="1400" b="0" i="0" u="none" strike="noStrike" cap="none">
                <a:solidFill>
                  <a:schemeClr val="dk1"/>
                </a:solidFill>
                <a:latin typeface="Times"/>
                <a:ea typeface="Times"/>
                <a:cs typeface="Times"/>
                <a:sym typeface="Times"/>
              </a:defRPr>
            </a:lvl6pPr>
            <a:lvl7pPr marL="0" marR="0" lvl="6" indent="0" algn="r" rtl="0">
              <a:spcBef>
                <a:spcPts val="0"/>
              </a:spcBef>
              <a:spcAft>
                <a:spcPts val="0"/>
              </a:spcAft>
              <a:buNone/>
              <a:defRPr sz="1400" b="0" i="0" u="none" strike="noStrike" cap="none">
                <a:solidFill>
                  <a:schemeClr val="dk1"/>
                </a:solidFill>
                <a:latin typeface="Times"/>
                <a:ea typeface="Times"/>
                <a:cs typeface="Times"/>
                <a:sym typeface="Times"/>
              </a:defRPr>
            </a:lvl7pPr>
            <a:lvl8pPr marL="0" marR="0" lvl="7" indent="0" algn="r" rtl="0">
              <a:spcBef>
                <a:spcPts val="0"/>
              </a:spcBef>
              <a:spcAft>
                <a:spcPts val="0"/>
              </a:spcAft>
              <a:buNone/>
              <a:defRPr sz="1400" b="0" i="0" u="none" strike="noStrike" cap="none">
                <a:solidFill>
                  <a:schemeClr val="dk1"/>
                </a:solidFill>
                <a:latin typeface="Times"/>
                <a:ea typeface="Times"/>
                <a:cs typeface="Times"/>
                <a:sym typeface="Times"/>
              </a:defRPr>
            </a:lvl8pPr>
            <a:lvl9pPr marL="0" marR="0" lvl="8" indent="0" algn="r" rtl="0">
              <a:spcBef>
                <a:spcPts val="0"/>
              </a:spcBef>
              <a:spcAft>
                <a:spcPts val="0"/>
              </a:spcAft>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GB"/>
              <a:t>‹#›</a:t>
            </a:fld>
            <a:endParaRPr/>
          </a:p>
        </p:txBody>
      </p:sp>
      <p:sp>
        <p:nvSpPr>
          <p:cNvPr id="17" name="Google Shape;17;p1"/>
          <p:cNvSpPr/>
          <p:nvPr/>
        </p:nvSpPr>
        <p:spPr>
          <a:xfrm>
            <a:off x="790575" y="611188"/>
            <a:ext cx="8024813" cy="114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4400" b="0" i="0" u="none" strike="noStrike" cap="none">
              <a:solidFill>
                <a:schemeClr val="lt1"/>
              </a:solidFill>
              <a:latin typeface="Times"/>
              <a:ea typeface="Times"/>
              <a:cs typeface="Times"/>
              <a:sym typeface="Times"/>
            </a:endParaRPr>
          </a:p>
        </p:txBody>
      </p:sp>
      <p:sp>
        <p:nvSpPr>
          <p:cNvPr id="18" name="Google Shape;18;p1"/>
          <p:cNvSpPr/>
          <p:nvPr/>
        </p:nvSpPr>
        <p:spPr>
          <a:xfrm>
            <a:off x="790575" y="1798638"/>
            <a:ext cx="8024813" cy="38131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i="0" u="none" strike="noStrike" cap="none">
              <a:solidFill>
                <a:schemeClr val="lt1"/>
              </a:solidFill>
              <a:latin typeface="Arial"/>
              <a:ea typeface="Arial"/>
              <a:cs typeface="Arial"/>
              <a:sym typeface="Arial"/>
            </a:endParaRPr>
          </a:p>
        </p:txBody>
      </p:sp>
      <p:pic>
        <p:nvPicPr>
          <p:cNvPr id="19" name="Google Shape;19;p1"/>
          <p:cNvPicPr preferRelativeResize="0"/>
          <p:nvPr/>
        </p:nvPicPr>
        <p:blipFill rotWithShape="1">
          <a:blip r:embed="rId13">
            <a:alphaModFix/>
          </a:blip>
          <a:srcRect/>
          <a:stretch/>
        </p:blipFill>
        <p:spPr>
          <a:xfrm>
            <a:off x="266700" y="5843588"/>
            <a:ext cx="1943100" cy="86201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3"/>
          <p:cNvSpPr txBox="1">
            <a:spLocks noGrp="1"/>
          </p:cNvSpPr>
          <p:nvPr>
            <p:ph type="ctrTitle"/>
          </p:nvPr>
        </p:nvSpPr>
        <p:spPr>
          <a:xfrm>
            <a:off x="721519" y="620688"/>
            <a:ext cx="7772400" cy="1470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br>
              <a:rPr lang="en-GB"/>
            </a:br>
            <a:br>
              <a:rPr lang="en-GB"/>
            </a:br>
            <a:br>
              <a:rPr lang="en-GB"/>
            </a:br>
            <a:r>
              <a:rPr lang="en-GB">
                <a:latin typeface="Arial"/>
                <a:ea typeface="Arial"/>
                <a:cs typeface="Arial"/>
                <a:sym typeface="Arial"/>
              </a:rPr>
              <a:t>Trusts Law</a:t>
            </a:r>
            <a:br>
              <a:rPr lang="en-GB">
                <a:latin typeface="Arial"/>
                <a:ea typeface="Arial"/>
                <a:cs typeface="Arial"/>
                <a:sym typeface="Arial"/>
              </a:rPr>
            </a:br>
            <a:br>
              <a:rPr lang="en-GB">
                <a:latin typeface="Arial"/>
                <a:ea typeface="Arial"/>
                <a:cs typeface="Arial"/>
                <a:sym typeface="Arial"/>
              </a:rPr>
            </a:br>
            <a:r>
              <a:rPr lang="en-GB">
                <a:latin typeface="Arial"/>
                <a:ea typeface="Arial"/>
                <a:cs typeface="Arial"/>
                <a:sym typeface="Arial"/>
              </a:rPr>
              <a:t>Week 14: Remedies for breach of non-fiduciary duties</a:t>
            </a:r>
            <a:br>
              <a:rPr lang="en-GB">
                <a:latin typeface="Times New Roman"/>
                <a:ea typeface="Times New Roman"/>
                <a:cs typeface="Times New Roman"/>
                <a:sym typeface="Times New Roman"/>
              </a:rPr>
            </a:br>
            <a:br>
              <a:rPr lang="en-GB" sz="3600"/>
            </a:br>
            <a:endParaRPr sz="2800"/>
          </a:p>
        </p:txBody>
      </p:sp>
      <p:sp>
        <p:nvSpPr>
          <p:cNvPr id="94" name="Google Shape;94;p13"/>
          <p:cNvSpPr txBox="1">
            <a:spLocks noGrp="1"/>
          </p:cNvSpPr>
          <p:nvPr>
            <p:ph type="subTitle" idx="1"/>
          </p:nvPr>
        </p:nvSpPr>
        <p:spPr>
          <a:xfrm>
            <a:off x="751547" y="3284984"/>
            <a:ext cx="7561262" cy="1223963"/>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None/>
            </a:pPr>
            <a:endParaRPr b="0">
              <a:latin typeface="Calibri"/>
              <a:ea typeface="Calibri"/>
              <a:cs typeface="Calibri"/>
              <a:sym typeface="Calibri"/>
            </a:endParaRPr>
          </a:p>
          <a:p>
            <a:pPr marL="0" lvl="0" indent="0" algn="l" rtl="0">
              <a:lnSpc>
                <a:spcPct val="110000"/>
              </a:lnSpc>
              <a:spcBef>
                <a:spcPts val="0"/>
              </a:spcBef>
              <a:spcAft>
                <a:spcPts val="0"/>
              </a:spcAft>
              <a:buNone/>
            </a:pPr>
            <a:r>
              <a:rPr lang="en-GB" b="0"/>
              <a:t>Dr Johanna Jacques</a:t>
            </a:r>
            <a:endParaRPr/>
          </a:p>
          <a:p>
            <a:pPr marL="0" lvl="0" indent="0" algn="l" rtl="0">
              <a:lnSpc>
                <a:spcPct val="110000"/>
              </a:lnSpc>
              <a:spcBef>
                <a:spcPts val="0"/>
              </a:spcBef>
              <a:spcAft>
                <a:spcPts val="0"/>
              </a:spcAft>
              <a:buNone/>
            </a:pPr>
            <a:endParaRPr b="0"/>
          </a:p>
          <a:p>
            <a:pPr marL="0" lvl="0" indent="0" algn="l" rtl="0">
              <a:spcBef>
                <a:spcPts val="36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body" idx="1"/>
          </p:nvPr>
        </p:nvSpPr>
        <p:spPr>
          <a:xfrm>
            <a:off x="682626" y="2132856"/>
            <a:ext cx="7772400" cy="38163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mj-lt"/>
              <a:buAutoNum type="arabicPeriod"/>
            </a:pPr>
            <a:r>
              <a:rPr lang="en-GB" dirty="0"/>
              <a:t>A charitable trust is:</a:t>
            </a:r>
          </a:p>
          <a:p>
            <a:pPr marL="800100" lvl="1" indent="-342900" algn="l" rtl="0">
              <a:spcBef>
                <a:spcPts val="320"/>
              </a:spcBef>
              <a:spcAft>
                <a:spcPts val="0"/>
              </a:spcAft>
              <a:buClr>
                <a:schemeClr val="dk1"/>
              </a:buClr>
              <a:buSzPts val="1600"/>
              <a:buFont typeface="Arial"/>
              <a:buAutoNum type="alphaLcPeriod"/>
            </a:pPr>
            <a:r>
              <a:rPr lang="en-GB" dirty="0">
                <a:solidFill>
                  <a:schemeClr val="tx1"/>
                </a:solidFill>
              </a:rPr>
              <a:t>A trust in which the beneficiary is the public.</a:t>
            </a:r>
          </a:p>
          <a:p>
            <a:pPr marL="800100" lvl="1" indent="-342900" algn="l" rtl="0">
              <a:spcBef>
                <a:spcPts val="320"/>
              </a:spcBef>
              <a:spcAft>
                <a:spcPts val="0"/>
              </a:spcAft>
              <a:buClr>
                <a:schemeClr val="dk1"/>
              </a:buClr>
              <a:buSzPts val="1600"/>
              <a:buFont typeface="Arial"/>
              <a:buAutoNum type="alphaLcPeriod"/>
            </a:pPr>
            <a:r>
              <a:rPr lang="en-GB" dirty="0">
                <a:solidFill>
                  <a:schemeClr val="tx1"/>
                </a:solidFill>
              </a:rPr>
              <a:t>A public beneficiary trust.</a:t>
            </a:r>
          </a:p>
          <a:p>
            <a:pPr marL="800100" lvl="1" indent="-342900" algn="l" rtl="0">
              <a:spcBef>
                <a:spcPts val="320"/>
              </a:spcBef>
              <a:spcAft>
                <a:spcPts val="0"/>
              </a:spcAft>
              <a:buClr>
                <a:schemeClr val="dk1"/>
              </a:buClr>
              <a:buSzPts val="1600"/>
              <a:buFont typeface="Arial"/>
              <a:buAutoNum type="alphaLcPeriod"/>
            </a:pPr>
            <a:r>
              <a:rPr lang="en-GB" dirty="0">
                <a:solidFill>
                  <a:schemeClr val="tx1"/>
                </a:solidFill>
              </a:rPr>
              <a:t>A public purpose trust.</a:t>
            </a:r>
          </a:p>
          <a:p>
            <a:pPr marL="800100" lvl="1" indent="-342900" algn="l" rtl="0">
              <a:spcBef>
                <a:spcPts val="320"/>
              </a:spcBef>
              <a:spcAft>
                <a:spcPts val="0"/>
              </a:spcAft>
              <a:buClr>
                <a:schemeClr val="dk1"/>
              </a:buClr>
              <a:buSzPts val="1600"/>
              <a:buFont typeface="Arial"/>
              <a:buAutoNum type="alphaLcPeriod"/>
            </a:pPr>
            <a:r>
              <a:rPr lang="en-GB" dirty="0">
                <a:solidFill>
                  <a:schemeClr val="tx1"/>
                </a:solidFill>
              </a:rPr>
              <a:t>A private purpose trust.</a:t>
            </a:r>
          </a:p>
          <a:p>
            <a:pPr marL="0" lvl="0" indent="0" algn="l" rtl="0">
              <a:spcBef>
                <a:spcPts val="0"/>
              </a:spcBef>
              <a:spcAft>
                <a:spcPts val="0"/>
              </a:spcAft>
              <a:buClr>
                <a:schemeClr val="dk1"/>
              </a:buClr>
              <a:buSzPts val="1800"/>
            </a:pPr>
            <a:endParaRPr lang="en-US" dirty="0"/>
          </a:p>
          <a:p>
            <a:pPr marL="342900" lvl="0" indent="-342900" algn="l" rtl="0">
              <a:spcBef>
                <a:spcPts val="0"/>
              </a:spcBef>
              <a:spcAft>
                <a:spcPts val="0"/>
              </a:spcAft>
              <a:buClr>
                <a:schemeClr val="dk1"/>
              </a:buClr>
              <a:buSzPts val="1800"/>
              <a:buFont typeface="+mj-lt"/>
              <a:buAutoNum type="arabicPeriod" startAt="2"/>
            </a:pPr>
            <a:r>
              <a:rPr lang="en-US" dirty="0"/>
              <a:t>Your accountant advises you to buy into a legal tax avoidance scheme, which ultimately causes you losses but (unknowingly to you) earns her a handsome commission. Thinking about her possible liability, you wonder whether she is:</a:t>
            </a:r>
            <a:endParaRPr dirty="0"/>
          </a:p>
          <a:p>
            <a:pPr marL="800100" lvl="1" indent="-342900" algn="l" rtl="0">
              <a:spcBef>
                <a:spcPts val="320"/>
              </a:spcBef>
              <a:spcAft>
                <a:spcPts val="0"/>
              </a:spcAft>
              <a:buClr>
                <a:schemeClr val="dk1"/>
              </a:buClr>
              <a:buSzPts val="1600"/>
              <a:buFont typeface="Arial"/>
              <a:buAutoNum type="alphaLcPeriod"/>
            </a:pPr>
            <a:r>
              <a:rPr lang="en-US" dirty="0"/>
              <a:t>A fiduciary?</a:t>
            </a:r>
            <a:endParaRPr dirty="0"/>
          </a:p>
          <a:p>
            <a:pPr marL="800100" lvl="1" indent="-342900" algn="l" rtl="0">
              <a:spcBef>
                <a:spcPts val="320"/>
              </a:spcBef>
              <a:spcAft>
                <a:spcPts val="0"/>
              </a:spcAft>
              <a:buClr>
                <a:schemeClr val="dk1"/>
              </a:buClr>
              <a:buSzPts val="1600"/>
              <a:buFont typeface="Arial"/>
              <a:buAutoNum type="alphaLcPeriod"/>
            </a:pPr>
            <a:r>
              <a:rPr lang="en-US" dirty="0"/>
              <a:t>A trustee?</a:t>
            </a:r>
            <a:endParaRPr dirty="0"/>
          </a:p>
          <a:p>
            <a:pPr marL="800100" lvl="1" indent="-342900" algn="l" rtl="0">
              <a:spcBef>
                <a:spcPts val="320"/>
              </a:spcBef>
              <a:spcAft>
                <a:spcPts val="0"/>
              </a:spcAft>
              <a:buClr>
                <a:schemeClr val="dk1"/>
              </a:buClr>
              <a:buSzPts val="1600"/>
              <a:buFont typeface="Arial"/>
              <a:buAutoNum type="alphaLcPeriod"/>
            </a:pPr>
            <a:r>
              <a:rPr lang="en-US" dirty="0"/>
              <a:t>Both?</a:t>
            </a:r>
            <a:endParaRPr dirty="0"/>
          </a:p>
          <a:p>
            <a:pPr marL="800100" lvl="1" indent="-241300" algn="l" rtl="0">
              <a:spcBef>
                <a:spcPts val="320"/>
              </a:spcBef>
              <a:spcAft>
                <a:spcPts val="0"/>
              </a:spcAft>
              <a:buClr>
                <a:schemeClr val="dk1"/>
              </a:buClr>
              <a:buSzPts val="1600"/>
              <a:buFont typeface="Arial"/>
              <a:buNone/>
            </a:pPr>
            <a:endParaRPr dirty="0"/>
          </a:p>
          <a:p>
            <a:pPr marL="800100" lvl="1" indent="-241300" algn="l" rtl="0">
              <a:spcBef>
                <a:spcPts val="320"/>
              </a:spcBef>
              <a:spcAft>
                <a:spcPts val="0"/>
              </a:spcAft>
              <a:buClr>
                <a:schemeClr val="dk1"/>
              </a:buClr>
              <a:buSzPts val="1600"/>
              <a:buFont typeface="Arial"/>
              <a:buNone/>
            </a:pPr>
            <a:endParaRPr dirty="0"/>
          </a:p>
        </p:txBody>
      </p:sp>
      <p:pic>
        <p:nvPicPr>
          <p:cNvPr id="100" name="Google Shape;100;p14"/>
          <p:cNvPicPr preferRelativeResize="0"/>
          <p:nvPr/>
        </p:nvPicPr>
        <p:blipFill rotWithShape="1">
          <a:blip r:embed="rId3">
            <a:alphaModFix/>
          </a:blip>
          <a:srcRect/>
          <a:stretch/>
        </p:blipFill>
        <p:spPr>
          <a:xfrm>
            <a:off x="682626" y="283098"/>
            <a:ext cx="3025278" cy="1580952"/>
          </a:xfrm>
          <a:prstGeom prst="rect">
            <a:avLst/>
          </a:prstGeom>
          <a:noFill/>
          <a:ln>
            <a:noFill/>
          </a:ln>
        </p:spPr>
      </p:pic>
      <p:sp>
        <p:nvSpPr>
          <p:cNvPr id="101" name="Google Shape;101;p14"/>
          <p:cNvSpPr/>
          <p:nvPr/>
        </p:nvSpPr>
        <p:spPr>
          <a:xfrm>
            <a:off x="3707903" y="3051287"/>
            <a:ext cx="216495" cy="266328"/>
          </a:xfrm>
          <a:prstGeom prst="star6">
            <a:avLst>
              <a:gd name="adj" fmla="val 28868"/>
              <a:gd name="hf" fmla="val 115470"/>
            </a:avLst>
          </a:prstGeom>
          <a:solidFill>
            <a:srgbClr val="C0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02" name="Google Shape;102;p14"/>
          <p:cNvSpPr/>
          <p:nvPr/>
        </p:nvSpPr>
        <p:spPr>
          <a:xfrm>
            <a:off x="2749052" y="4969179"/>
            <a:ext cx="216495" cy="266328"/>
          </a:xfrm>
          <a:prstGeom prst="star6">
            <a:avLst>
              <a:gd name="adj" fmla="val 28868"/>
              <a:gd name="hf" fmla="val 115470"/>
            </a:avLst>
          </a:prstGeom>
          <a:solidFill>
            <a:srgbClr val="C000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684213" y="620713"/>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br>
              <a:rPr lang="en-GB">
                <a:latin typeface="Calibri"/>
                <a:ea typeface="Calibri"/>
                <a:cs typeface="Calibri"/>
                <a:sym typeface="Calibri"/>
              </a:rPr>
            </a:br>
            <a:r>
              <a:rPr lang="en-GB">
                <a:latin typeface="Arial"/>
                <a:ea typeface="Arial"/>
                <a:cs typeface="Arial"/>
                <a:sym typeface="Arial"/>
              </a:rPr>
              <a:t>Last week and this week</a:t>
            </a:r>
            <a:br>
              <a:rPr lang="en-GB">
                <a:latin typeface="Calibri"/>
                <a:ea typeface="Calibri"/>
                <a:cs typeface="Calibri"/>
                <a:sym typeface="Calibri"/>
              </a:rPr>
            </a:br>
            <a:br>
              <a:rPr lang="en-GB" i="1">
                <a:latin typeface="Calibri"/>
                <a:ea typeface="Calibri"/>
                <a:cs typeface="Calibri"/>
                <a:sym typeface="Calibri"/>
              </a:rPr>
            </a:br>
            <a:endParaRPr>
              <a:latin typeface="Calibri"/>
              <a:ea typeface="Calibri"/>
              <a:cs typeface="Calibri"/>
              <a:sym typeface="Calibri"/>
            </a:endParaRPr>
          </a:p>
        </p:txBody>
      </p:sp>
      <p:sp>
        <p:nvSpPr>
          <p:cNvPr id="121" name="Google Shape;121;p17"/>
          <p:cNvSpPr txBox="1">
            <a:spLocks noGrp="1"/>
          </p:cNvSpPr>
          <p:nvPr>
            <p:ph type="body" idx="1"/>
          </p:nvPr>
        </p:nvSpPr>
        <p:spPr>
          <a:xfrm>
            <a:off x="651780" y="1763713"/>
            <a:ext cx="5864436" cy="38957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2400" b="1"/>
              <a:t>Last week:</a:t>
            </a:r>
            <a:endParaRPr/>
          </a:p>
          <a:p>
            <a:pPr marL="342900" lvl="0" indent="-342900" algn="l" rtl="0">
              <a:spcBef>
                <a:spcPts val="480"/>
              </a:spcBef>
              <a:spcAft>
                <a:spcPts val="0"/>
              </a:spcAft>
              <a:buClr>
                <a:schemeClr val="dk1"/>
              </a:buClr>
              <a:buSzPts val="2400"/>
              <a:buFont typeface="Arial"/>
              <a:buChar char="•"/>
            </a:pPr>
            <a:r>
              <a:rPr lang="en-GB" sz="2400"/>
              <a:t>We looked at trustees’ non-fiduciary </a:t>
            </a:r>
            <a:r>
              <a:rPr lang="en-GB" sz="2400" b="1"/>
              <a:t>duties</a:t>
            </a:r>
            <a:r>
              <a:rPr lang="en-GB" sz="2400"/>
              <a:t>.</a:t>
            </a:r>
            <a:endParaRPr/>
          </a:p>
          <a:p>
            <a:pPr marL="0" lvl="0" indent="0" algn="l" rtl="0">
              <a:spcBef>
                <a:spcPts val="480"/>
              </a:spcBef>
              <a:spcAft>
                <a:spcPts val="0"/>
              </a:spcAft>
              <a:buNone/>
            </a:pPr>
            <a:endParaRPr sz="2400">
              <a:solidFill>
                <a:srgbClr val="FF0000"/>
              </a:solidFill>
              <a:latin typeface="Calibri"/>
              <a:ea typeface="Calibri"/>
              <a:cs typeface="Calibri"/>
              <a:sym typeface="Calibri"/>
            </a:endParaRPr>
          </a:p>
          <a:p>
            <a:pPr marL="0" lvl="0" indent="0" algn="l" rtl="0">
              <a:spcBef>
                <a:spcPts val="480"/>
              </a:spcBef>
              <a:spcAft>
                <a:spcPts val="0"/>
              </a:spcAft>
              <a:buNone/>
            </a:pPr>
            <a:r>
              <a:rPr lang="en-GB" sz="2400" b="1"/>
              <a:t>This week:</a:t>
            </a:r>
            <a:endParaRPr/>
          </a:p>
          <a:p>
            <a:pPr marL="342900" lvl="0" indent="-342900" algn="l" rtl="0">
              <a:spcBef>
                <a:spcPts val="480"/>
              </a:spcBef>
              <a:spcAft>
                <a:spcPts val="0"/>
              </a:spcAft>
              <a:buClr>
                <a:schemeClr val="dk1"/>
              </a:buClr>
              <a:buSzPts val="2400"/>
              <a:buFont typeface="Arial"/>
              <a:buChar char="•"/>
            </a:pPr>
            <a:r>
              <a:rPr lang="en-GB" sz="2400"/>
              <a:t>We will look at how these duties can be </a:t>
            </a:r>
            <a:r>
              <a:rPr lang="en-GB" sz="2400" b="1"/>
              <a:t>breached</a:t>
            </a:r>
            <a:r>
              <a:rPr lang="en-GB" sz="2400"/>
              <a:t>, seek to understand the </a:t>
            </a:r>
            <a:r>
              <a:rPr lang="en-GB" sz="2400" b="1"/>
              <a:t>liability</a:t>
            </a:r>
            <a:r>
              <a:rPr lang="en-GB" sz="2400"/>
              <a:t> that flows from the different breaches and consider exemption clauses and other </a:t>
            </a:r>
            <a:r>
              <a:rPr lang="en-GB" sz="2400" b="1"/>
              <a:t>defences</a:t>
            </a:r>
            <a:r>
              <a:rPr lang="en-GB" sz="2400"/>
              <a:t>.</a:t>
            </a:r>
            <a:endParaRPr/>
          </a:p>
        </p:txBody>
      </p:sp>
      <p:pic>
        <p:nvPicPr>
          <p:cNvPr id="122" name="Google Shape;122;p17" descr="Exclusion clauses - OpenLearn - Open University"/>
          <p:cNvPicPr preferRelativeResize="0"/>
          <p:nvPr/>
        </p:nvPicPr>
        <p:blipFill rotWithShape="1">
          <a:blip r:embed="rId3">
            <a:alphaModFix/>
          </a:blip>
          <a:srcRect/>
          <a:stretch/>
        </p:blipFill>
        <p:spPr>
          <a:xfrm>
            <a:off x="6490893" y="2491086"/>
            <a:ext cx="2263108" cy="31683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8"/>
          <p:cNvSpPr/>
          <p:nvPr/>
        </p:nvSpPr>
        <p:spPr>
          <a:xfrm>
            <a:off x="2670570" y="2130504"/>
            <a:ext cx="792088" cy="766225"/>
          </a:xfrm>
          <a:prstGeom prst="ellipse">
            <a:avLst/>
          </a:prstGeom>
          <a:solidFill>
            <a:schemeClr val="lt1"/>
          </a:solidFill>
          <a:ln w="28575"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28" name="Google Shape;128;p18"/>
          <p:cNvSpPr txBox="1">
            <a:spLocks noGrp="1"/>
          </p:cNvSpPr>
          <p:nvPr>
            <p:ph type="title"/>
          </p:nvPr>
        </p:nvSpPr>
        <p:spPr>
          <a:xfrm>
            <a:off x="685800" y="609600"/>
            <a:ext cx="77724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Breach and personal liability</a:t>
            </a:r>
            <a:endParaRPr/>
          </a:p>
        </p:txBody>
      </p:sp>
      <p:sp>
        <p:nvSpPr>
          <p:cNvPr id="129" name="Google Shape;129;p18"/>
          <p:cNvSpPr txBox="1"/>
          <p:nvPr/>
        </p:nvSpPr>
        <p:spPr>
          <a:xfrm>
            <a:off x="2003287" y="2255395"/>
            <a:ext cx="21314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accent4"/>
                </a:solidFill>
                <a:latin typeface="Calibri"/>
                <a:ea typeface="Calibri"/>
                <a:cs typeface="Calibri"/>
                <a:sym typeface="Calibri"/>
              </a:rPr>
              <a:t>T</a:t>
            </a:r>
            <a:r>
              <a:rPr lang="en-GB" sz="1100">
                <a:solidFill>
                  <a:schemeClr val="accent4"/>
                </a:solidFill>
                <a:latin typeface="Calibri"/>
                <a:ea typeface="Calibri"/>
                <a:cs typeface="Calibri"/>
                <a:sym typeface="Calibri"/>
              </a:rPr>
              <a:t>rustee</a:t>
            </a:r>
            <a:endParaRPr/>
          </a:p>
        </p:txBody>
      </p:sp>
      <p:sp>
        <p:nvSpPr>
          <p:cNvPr id="130" name="Google Shape;130;p18"/>
          <p:cNvSpPr/>
          <p:nvPr/>
        </p:nvSpPr>
        <p:spPr>
          <a:xfrm rot="10800000">
            <a:off x="1809026" y="2440134"/>
            <a:ext cx="587300" cy="2963388"/>
          </a:xfrm>
          <a:prstGeom prst="rightBrace">
            <a:avLst>
              <a:gd name="adj1" fmla="val 8333"/>
              <a:gd name="adj2" fmla="val 50000"/>
            </a:avLst>
          </a:prstGeom>
          <a:solidFill>
            <a:schemeClr val="lt1"/>
          </a:solidFill>
          <a:ln w="1905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31" name="Google Shape;131;p18"/>
          <p:cNvSpPr txBox="1"/>
          <p:nvPr/>
        </p:nvSpPr>
        <p:spPr>
          <a:xfrm>
            <a:off x="685800" y="3709362"/>
            <a:ext cx="8834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dirty="0">
                <a:solidFill>
                  <a:schemeClr val="dk1"/>
                </a:solidFill>
                <a:latin typeface="Calibri"/>
                <a:ea typeface="Calibri"/>
                <a:cs typeface="Calibri"/>
                <a:sym typeface="Calibri"/>
              </a:rPr>
              <a:t>Trust</a:t>
            </a:r>
            <a:endParaRPr dirty="0"/>
          </a:p>
        </p:txBody>
      </p:sp>
      <p:sp>
        <p:nvSpPr>
          <p:cNvPr id="132" name="Google Shape;132;p18"/>
          <p:cNvSpPr txBox="1"/>
          <p:nvPr/>
        </p:nvSpPr>
        <p:spPr>
          <a:xfrm>
            <a:off x="2102676" y="5137255"/>
            <a:ext cx="21314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accent4"/>
                </a:solidFill>
                <a:latin typeface="Calibri"/>
                <a:ea typeface="Calibri"/>
                <a:cs typeface="Calibri"/>
                <a:sym typeface="Calibri"/>
              </a:rPr>
              <a:t>B</a:t>
            </a:r>
            <a:r>
              <a:rPr lang="en-GB" sz="1100">
                <a:solidFill>
                  <a:schemeClr val="accent4"/>
                </a:solidFill>
                <a:latin typeface="Calibri"/>
                <a:ea typeface="Calibri"/>
                <a:cs typeface="Calibri"/>
                <a:sym typeface="Calibri"/>
              </a:rPr>
              <a:t>eneficiary</a:t>
            </a:r>
            <a:endParaRPr/>
          </a:p>
        </p:txBody>
      </p:sp>
      <p:sp>
        <p:nvSpPr>
          <p:cNvPr id="133" name="Google Shape;133;p18"/>
          <p:cNvSpPr txBox="1"/>
          <p:nvPr/>
        </p:nvSpPr>
        <p:spPr>
          <a:xfrm>
            <a:off x="2030866" y="3697742"/>
            <a:ext cx="21314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accent4"/>
                </a:solidFill>
                <a:latin typeface="Calibri"/>
                <a:ea typeface="Calibri"/>
                <a:cs typeface="Calibri"/>
                <a:sym typeface="Calibri"/>
              </a:rPr>
              <a:t>P</a:t>
            </a:r>
            <a:r>
              <a:rPr lang="en-GB" sz="1100">
                <a:solidFill>
                  <a:schemeClr val="accent4"/>
                </a:solidFill>
                <a:latin typeface="Calibri"/>
                <a:ea typeface="Calibri"/>
                <a:cs typeface="Calibri"/>
                <a:sym typeface="Calibri"/>
              </a:rPr>
              <a:t>roperty</a:t>
            </a:r>
            <a:endParaRPr/>
          </a:p>
        </p:txBody>
      </p:sp>
      <p:sp>
        <p:nvSpPr>
          <p:cNvPr id="134" name="Google Shape;134;p18"/>
          <p:cNvSpPr txBox="1"/>
          <p:nvPr/>
        </p:nvSpPr>
        <p:spPr>
          <a:xfrm>
            <a:off x="1918946" y="2896729"/>
            <a:ext cx="2355265"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rgbClr val="FF0000"/>
                </a:solidFill>
                <a:latin typeface="Calibri"/>
                <a:ea typeface="Calibri"/>
                <a:cs typeface="Calibri"/>
                <a:sym typeface="Calibri"/>
              </a:rPr>
              <a:t>Commits breach</a:t>
            </a:r>
            <a:endParaRPr/>
          </a:p>
        </p:txBody>
      </p:sp>
      <p:sp>
        <p:nvSpPr>
          <p:cNvPr id="135" name="Google Shape;135;p18"/>
          <p:cNvSpPr txBox="1"/>
          <p:nvPr/>
        </p:nvSpPr>
        <p:spPr>
          <a:xfrm>
            <a:off x="774148" y="1492580"/>
            <a:ext cx="7241576"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rgbClr val="00B050"/>
                </a:solidFill>
                <a:latin typeface="Calibri"/>
                <a:ea typeface="Calibri"/>
                <a:cs typeface="Calibri"/>
                <a:sym typeface="Calibri"/>
              </a:rPr>
              <a:t>Personal liability of trustees… their house, money, car, investments…</a:t>
            </a:r>
            <a:endParaRPr/>
          </a:p>
        </p:txBody>
      </p:sp>
      <p:sp>
        <p:nvSpPr>
          <p:cNvPr id="136" name="Google Shape;136;p18"/>
          <p:cNvSpPr txBox="1"/>
          <p:nvPr/>
        </p:nvSpPr>
        <p:spPr>
          <a:xfrm>
            <a:off x="1977817" y="3211009"/>
            <a:ext cx="2355265"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rgbClr val="FF0000"/>
                </a:solidFill>
                <a:latin typeface="Calibri"/>
                <a:ea typeface="Calibri"/>
                <a:cs typeface="Calibri"/>
                <a:sym typeface="Calibri"/>
              </a:rPr>
              <a:t>= loss to trust fund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7"/>
                                        </p:tgtEl>
                                        <p:attrNameLst>
                                          <p:attrName>style.visibility</p:attrName>
                                        </p:attrNameLst>
                                      </p:cBhvr>
                                      <p:to>
                                        <p:strVal val="visible"/>
                                      </p:to>
                                    </p:set>
                                    <p:animEffect transition="in" filter="fade">
                                      <p:cBhvr>
                                        <p:cTn id="27" dur="2000"/>
                                        <p:tgtEl>
                                          <p:spTgt spid="12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03A25720-BC49-A568-460D-4841C05ABE15}"/>
            </a:ext>
          </a:extLst>
        </p:cNvPr>
        <p:cNvGrpSpPr/>
        <p:nvPr/>
      </p:nvGrpSpPr>
      <p:grpSpPr>
        <a:xfrm>
          <a:off x="0" y="0"/>
          <a:ext cx="0" cy="0"/>
          <a:chOff x="0" y="0"/>
          <a:chExt cx="0" cy="0"/>
        </a:xfrm>
      </p:grpSpPr>
      <p:sp>
        <p:nvSpPr>
          <p:cNvPr id="141" name="Google Shape;141;p19">
            <a:extLst>
              <a:ext uri="{FF2B5EF4-FFF2-40B4-BE49-F238E27FC236}">
                <a16:creationId xmlns:a16="http://schemas.microsoft.com/office/drawing/2014/main" id="{F8E167DC-6F3F-FBAA-C187-DDA1F2FA9CE3}"/>
              </a:ext>
            </a:extLst>
          </p:cNvPr>
          <p:cNvSpPr txBox="1">
            <a:spLocks noGrp="1"/>
          </p:cNvSpPr>
          <p:nvPr>
            <p:ph type="title"/>
          </p:nvPr>
        </p:nvSpPr>
        <p:spPr>
          <a:xfrm>
            <a:off x="685800" y="477003"/>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dirty="0">
                <a:latin typeface="Arial"/>
                <a:ea typeface="Arial"/>
                <a:cs typeface="Arial"/>
                <a:sym typeface="Arial"/>
              </a:rPr>
              <a:t>Types of breach</a:t>
            </a:r>
            <a:endParaRPr dirty="0"/>
          </a:p>
        </p:txBody>
      </p:sp>
      <p:sp>
        <p:nvSpPr>
          <p:cNvPr id="142" name="Google Shape;142;p19">
            <a:extLst>
              <a:ext uri="{FF2B5EF4-FFF2-40B4-BE49-F238E27FC236}">
                <a16:creationId xmlns:a16="http://schemas.microsoft.com/office/drawing/2014/main" id="{DC431778-0DEF-704F-2E81-9DB3999C73E1}"/>
              </a:ext>
            </a:extLst>
          </p:cNvPr>
          <p:cNvSpPr txBox="1"/>
          <p:nvPr/>
        </p:nvSpPr>
        <p:spPr>
          <a:xfrm>
            <a:off x="685800" y="1763589"/>
            <a:ext cx="7426842" cy="4452461"/>
          </a:xfrm>
          <a:prstGeom prst="rect">
            <a:avLst/>
          </a:prstGeom>
          <a:noFill/>
          <a:ln>
            <a:noFill/>
          </a:ln>
        </p:spPr>
        <p:txBody>
          <a:bodyPr spcFirstLastPara="1" wrap="square" lIns="91425" tIns="45700" rIns="91425" bIns="45700" anchor="t" anchorCtr="0">
            <a:spAutoFit/>
          </a:bodyPr>
          <a:lstStyle/>
          <a:p>
            <a:r>
              <a:rPr lang="en-GB" sz="1800" dirty="0">
                <a:solidFill>
                  <a:schemeClr val="dk1"/>
                </a:solidFill>
              </a:rPr>
              <a:t>Including also fiduciary duties, there are three distinct types of </a:t>
            </a:r>
            <a:r>
              <a:rPr lang="en-GB" sz="1800" b="1" dirty="0">
                <a:solidFill>
                  <a:srgbClr val="FFC000"/>
                </a:solidFill>
              </a:rPr>
              <a:t>breach</a:t>
            </a:r>
            <a:r>
              <a:rPr lang="en-GB" sz="1800" dirty="0">
                <a:solidFill>
                  <a:schemeClr val="dk1"/>
                </a:solidFill>
              </a:rPr>
              <a:t>. Each may be loosely said to give rise to a </a:t>
            </a:r>
            <a:r>
              <a:rPr lang="en-GB" sz="1800" b="1" dirty="0">
                <a:solidFill>
                  <a:srgbClr val="0070C0"/>
                </a:solidFill>
              </a:rPr>
              <a:t>remedy </a:t>
            </a:r>
            <a:r>
              <a:rPr lang="en-GB" sz="1800" dirty="0">
                <a:solidFill>
                  <a:schemeClr val="tx1"/>
                </a:solidFill>
              </a:rPr>
              <a:t>of ‘</a:t>
            </a:r>
            <a:r>
              <a:rPr lang="en-GB" sz="1800" dirty="0">
                <a:solidFill>
                  <a:schemeClr val="dk1"/>
                </a:solidFill>
              </a:rPr>
              <a:t>equitable compensation’ or one or other type of ‘liability to account,’ depending on the commentator. These terms are not wrong, but the law is complex in this area, and it may be helpful to adopt a more specific and slightly simplified terminology: </a:t>
            </a:r>
            <a:endParaRPr lang="en-GB" sz="1800" dirty="0">
              <a:solidFill>
                <a:schemeClr val="dk1"/>
              </a:solidFill>
              <a:sym typeface="Calibri"/>
            </a:endParaRPr>
          </a:p>
          <a:p>
            <a:pPr marL="571500" indent="-571500">
              <a:spcBef>
                <a:spcPts val="360"/>
              </a:spcBef>
              <a:buSzPts val="1800"/>
              <a:buFont typeface="Arial"/>
              <a:buAutoNum type="arabicPeriod"/>
            </a:pPr>
            <a:r>
              <a:rPr lang="en-GB" sz="1800" b="1" dirty="0">
                <a:solidFill>
                  <a:srgbClr val="FFC000"/>
                </a:solidFill>
              </a:rPr>
              <a:t>Breach of fiduciary duty </a:t>
            </a:r>
            <a:r>
              <a:rPr lang="en-GB" sz="1800" dirty="0">
                <a:solidFill>
                  <a:schemeClr val="tx1"/>
                </a:solidFill>
              </a:rPr>
              <a:t>(unauthorised profits) &gt;&gt; </a:t>
            </a:r>
            <a:r>
              <a:rPr lang="en-GB" sz="1800" b="1" dirty="0">
                <a:solidFill>
                  <a:srgbClr val="0070C0"/>
                </a:solidFill>
              </a:rPr>
              <a:t>disgorgement of </a:t>
            </a:r>
            <a:r>
              <a:rPr lang="en-GB" sz="1800" b="1" u="sng" dirty="0">
                <a:solidFill>
                  <a:srgbClr val="0070C0"/>
                </a:solidFill>
              </a:rPr>
              <a:t>profits</a:t>
            </a:r>
            <a:r>
              <a:rPr lang="en-GB" sz="1800" dirty="0">
                <a:solidFill>
                  <a:schemeClr val="tx1"/>
                </a:solidFill>
              </a:rPr>
              <a:t> (personal or proprietary) or ‘accounting for profits.’</a:t>
            </a:r>
          </a:p>
          <a:p>
            <a:pPr marL="571500" lvl="0" indent="-571500">
              <a:spcBef>
                <a:spcPts val="360"/>
              </a:spcBef>
              <a:buSzPts val="1800"/>
              <a:buFont typeface="Arial"/>
              <a:buAutoNum type="arabicPeriod"/>
            </a:pPr>
            <a:r>
              <a:rPr lang="en-GB" sz="1800" b="1" dirty="0">
                <a:solidFill>
                  <a:srgbClr val="FFC000"/>
                </a:solidFill>
              </a:rPr>
              <a:t>Unauthorised action </a:t>
            </a:r>
            <a:r>
              <a:rPr lang="en-GB" sz="1800" dirty="0">
                <a:solidFill>
                  <a:schemeClr val="tx1"/>
                </a:solidFill>
              </a:rPr>
              <a:t>(misapplication of trust property) &gt;&gt; </a:t>
            </a:r>
            <a:r>
              <a:rPr lang="en-GB" sz="1800" b="1" dirty="0">
                <a:solidFill>
                  <a:srgbClr val="0070C0"/>
                </a:solidFill>
              </a:rPr>
              <a:t>substitutive compensation for </a:t>
            </a:r>
            <a:r>
              <a:rPr lang="en-GB" sz="1800" b="1" u="sng" dirty="0">
                <a:solidFill>
                  <a:srgbClr val="0070C0"/>
                </a:solidFill>
              </a:rPr>
              <a:t>loss </a:t>
            </a:r>
            <a:r>
              <a:rPr lang="en-GB" sz="1800" dirty="0">
                <a:solidFill>
                  <a:schemeClr val="tx1"/>
                </a:solidFill>
              </a:rPr>
              <a:t>or ‘falsifying the account.’</a:t>
            </a:r>
            <a:endParaRPr sz="1800" dirty="0">
              <a:solidFill>
                <a:schemeClr val="tx1"/>
              </a:solidFill>
            </a:endParaRPr>
          </a:p>
          <a:p>
            <a:pPr marL="571500" indent="-571500">
              <a:spcBef>
                <a:spcPts val="360"/>
              </a:spcBef>
              <a:buSzPts val="1800"/>
              <a:buAutoNum type="arabicPeriod"/>
            </a:pPr>
            <a:r>
              <a:rPr lang="en-GB" sz="1800" b="1" dirty="0">
                <a:solidFill>
                  <a:srgbClr val="FFC000"/>
                </a:solidFill>
              </a:rPr>
              <a:t>Failure to act with due skill and care </a:t>
            </a:r>
            <a:r>
              <a:rPr lang="en-GB" sz="1800" dirty="0">
                <a:solidFill>
                  <a:schemeClr val="dk1"/>
                </a:solidFill>
              </a:rPr>
              <a:t>(breach of duty of care) &gt;&gt; </a:t>
            </a:r>
            <a:r>
              <a:rPr lang="en-GB" sz="1800" b="1" dirty="0">
                <a:solidFill>
                  <a:srgbClr val="0070C0"/>
                </a:solidFill>
              </a:rPr>
              <a:t>reparative compensation for </a:t>
            </a:r>
            <a:r>
              <a:rPr lang="en-GB" sz="1800" b="1" u="sng" dirty="0">
                <a:solidFill>
                  <a:srgbClr val="0070C0"/>
                </a:solidFill>
              </a:rPr>
              <a:t>loss</a:t>
            </a:r>
            <a:r>
              <a:rPr lang="en-GB" sz="1800" b="1" dirty="0">
                <a:solidFill>
                  <a:srgbClr val="0070C0"/>
                </a:solidFill>
              </a:rPr>
              <a:t> </a:t>
            </a:r>
            <a:r>
              <a:rPr lang="en-GB" sz="1800" dirty="0">
                <a:solidFill>
                  <a:schemeClr val="dk1"/>
                </a:solidFill>
              </a:rPr>
              <a:t>or ‘surcharging the account.’</a:t>
            </a:r>
            <a:endParaRPr lang="en-US" dirty="0">
              <a:solidFill>
                <a:schemeClr val="dk1"/>
              </a:solidFill>
            </a:endParaRPr>
          </a:p>
          <a:p>
            <a:pPr marL="571500" indent="-457200">
              <a:spcBef>
                <a:spcPts val="360"/>
              </a:spcBef>
              <a:buClr>
                <a:srgbClr val="663366"/>
              </a:buClr>
              <a:buSzPts val="1800"/>
            </a:pPr>
            <a:endParaRPr lang="en-US" sz="1800" dirty="0">
              <a:solidFill>
                <a:schemeClr val="dk1"/>
              </a:solidFill>
            </a:endParaRPr>
          </a:p>
        </p:txBody>
      </p:sp>
    </p:spTree>
    <p:extLst>
      <p:ext uri="{BB962C8B-B14F-4D97-AF65-F5344CB8AC3E}">
        <p14:creationId xmlns:p14="http://schemas.microsoft.com/office/powerpoint/2010/main" val="2430947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9"/>
          <p:cNvSpPr txBox="1">
            <a:spLocks noGrp="1"/>
          </p:cNvSpPr>
          <p:nvPr>
            <p:ph type="title"/>
          </p:nvPr>
        </p:nvSpPr>
        <p:spPr>
          <a:xfrm>
            <a:off x="685800" y="477003"/>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dirty="0">
                <a:latin typeface="Arial"/>
                <a:ea typeface="Arial"/>
                <a:cs typeface="Arial"/>
                <a:sym typeface="Arial"/>
              </a:rPr>
              <a:t>Considerations to apply</a:t>
            </a:r>
            <a:endParaRPr dirty="0"/>
          </a:p>
        </p:txBody>
      </p:sp>
      <p:sp>
        <p:nvSpPr>
          <p:cNvPr id="144" name="Google Shape;144;p19"/>
          <p:cNvSpPr txBox="1"/>
          <p:nvPr/>
        </p:nvSpPr>
        <p:spPr>
          <a:xfrm>
            <a:off x="4572000" y="2015069"/>
            <a:ext cx="3384376" cy="3139281"/>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dirty="0">
                <a:solidFill>
                  <a:srgbClr val="000000"/>
                </a:solidFill>
                <a:latin typeface="Arial"/>
                <a:ea typeface="Arial"/>
                <a:cs typeface="Arial"/>
                <a:sym typeface="Arial"/>
              </a:rPr>
              <a:t>Note: </a:t>
            </a:r>
            <a:r>
              <a:rPr lang="en-GB" sz="1800" dirty="0">
                <a:solidFill>
                  <a:srgbClr val="000000"/>
                </a:solidFill>
                <a:latin typeface="Arial"/>
                <a:ea typeface="Arial"/>
                <a:cs typeface="Arial"/>
                <a:sym typeface="Arial"/>
              </a:rPr>
              <a:t>Liability is to trust fund, not to beneficiaries personally. Compensation is not intended to remedy losses incurred by beneficiaries from the breach.</a:t>
            </a:r>
            <a:endParaRPr dirty="0"/>
          </a:p>
          <a:p>
            <a:pPr marL="0" marR="0" lvl="0" indent="0" algn="l" rtl="0">
              <a:spcBef>
                <a:spcPts val="0"/>
              </a:spcBef>
              <a:spcAft>
                <a:spcPts val="0"/>
              </a:spcAft>
              <a:buNone/>
            </a:pPr>
            <a:r>
              <a:rPr lang="en-GB" sz="1800" b="1" dirty="0">
                <a:solidFill>
                  <a:srgbClr val="000000"/>
                </a:solidFill>
                <a:latin typeface="Arial"/>
                <a:ea typeface="Arial"/>
                <a:cs typeface="Arial"/>
                <a:sym typeface="Arial"/>
              </a:rPr>
              <a:t>And: </a:t>
            </a:r>
            <a:r>
              <a:rPr lang="en-GB" sz="1800" dirty="0">
                <a:solidFill>
                  <a:srgbClr val="000000"/>
                </a:solidFill>
                <a:latin typeface="Arial"/>
                <a:ea typeface="Arial"/>
                <a:cs typeface="Arial"/>
                <a:sym typeface="Arial"/>
              </a:rPr>
              <a:t>Holding the trustee personally liable only works if they are solvent.</a:t>
            </a:r>
            <a:endParaRPr sz="2800" dirty="0">
              <a:solidFill>
                <a:srgbClr val="FF0000"/>
              </a:solidFill>
              <a:latin typeface="Arial"/>
              <a:ea typeface="Arial"/>
              <a:cs typeface="Arial"/>
              <a:sym typeface="Arial"/>
            </a:endParaRPr>
          </a:p>
          <a:p>
            <a:pPr marL="0" marR="0" lvl="0" indent="0" algn="l" rtl="0">
              <a:spcBef>
                <a:spcPts val="0"/>
              </a:spcBef>
              <a:spcAft>
                <a:spcPts val="0"/>
              </a:spcAft>
              <a:buNone/>
            </a:pPr>
            <a:r>
              <a:rPr lang="en-GB" sz="1800" b="1" dirty="0">
                <a:solidFill>
                  <a:srgbClr val="000000"/>
                </a:solidFill>
                <a:latin typeface="Arial"/>
                <a:ea typeface="Arial"/>
                <a:cs typeface="Arial"/>
                <a:sym typeface="Arial"/>
              </a:rPr>
              <a:t>And: </a:t>
            </a:r>
            <a:r>
              <a:rPr lang="en-GB" sz="1800" dirty="0">
                <a:solidFill>
                  <a:srgbClr val="000000"/>
                </a:solidFill>
                <a:latin typeface="Arial"/>
                <a:ea typeface="Arial"/>
                <a:cs typeface="Arial"/>
                <a:sym typeface="Arial"/>
              </a:rPr>
              <a:t>If the property is specific, </a:t>
            </a:r>
            <a:r>
              <a:rPr lang="en-GB" sz="1800" dirty="0"/>
              <a:t>financial </a:t>
            </a:r>
            <a:r>
              <a:rPr lang="en-GB" sz="1800" dirty="0">
                <a:solidFill>
                  <a:srgbClr val="000000"/>
                </a:solidFill>
                <a:latin typeface="Arial"/>
                <a:ea typeface="Arial"/>
                <a:cs typeface="Arial"/>
                <a:sym typeface="Arial"/>
              </a:rPr>
              <a:t>compensation may not be appropriate.</a:t>
            </a:r>
            <a:endParaRPr dirty="0"/>
          </a:p>
        </p:txBody>
      </p:sp>
      <p:sp>
        <p:nvSpPr>
          <p:cNvPr id="145" name="Google Shape;145;p19"/>
          <p:cNvSpPr txBox="1"/>
          <p:nvPr/>
        </p:nvSpPr>
        <p:spPr>
          <a:xfrm>
            <a:off x="910225" y="2015070"/>
            <a:ext cx="3244222" cy="3139281"/>
          </a:xfrm>
          <a:prstGeom prst="rect">
            <a:avLst/>
          </a:prstGeom>
          <a:solidFill>
            <a:srgbClr val="92D05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rgbClr val="000000"/>
                </a:solidFill>
                <a:latin typeface="Arial"/>
                <a:ea typeface="Arial"/>
                <a:cs typeface="Arial"/>
                <a:sym typeface="Arial"/>
              </a:rPr>
              <a:t>Beneficiaries have standing to bring a claim against the trustees, as they have </a:t>
            </a:r>
            <a:r>
              <a:rPr lang="en-GB" sz="1800" b="1" dirty="0">
                <a:solidFill>
                  <a:srgbClr val="000000"/>
                </a:solidFill>
                <a:latin typeface="Arial"/>
                <a:ea typeface="Arial"/>
                <a:cs typeface="Arial"/>
                <a:sym typeface="Arial"/>
              </a:rPr>
              <a:t>the right to have the trust duly administered in accordance with provisions of the trust instrument, if any, and the general law.</a:t>
            </a:r>
          </a:p>
          <a:p>
            <a:pPr marL="0" marR="0" lvl="0" indent="0" algn="l" rtl="0">
              <a:spcBef>
                <a:spcPts val="0"/>
              </a:spcBef>
              <a:spcAft>
                <a:spcPts val="0"/>
              </a:spcAft>
              <a:buNone/>
            </a:pPr>
            <a:r>
              <a:rPr lang="en-GB" sz="1800" dirty="0"/>
              <a:t>However, they can also choose to adopt the transaction in question.</a:t>
            </a:r>
            <a:endParaRPr lang="en-GB" sz="1800" b="1"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animBg="1"/>
      <p:bldP spid="1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Losses</a:t>
            </a:r>
            <a:endParaRPr/>
          </a:p>
        </p:txBody>
      </p:sp>
      <p:sp>
        <p:nvSpPr>
          <p:cNvPr id="151" name="Google Shape;151;p20"/>
          <p:cNvSpPr txBox="1"/>
          <p:nvPr/>
        </p:nvSpPr>
        <p:spPr>
          <a:xfrm>
            <a:off x="685800" y="1628800"/>
            <a:ext cx="4412145" cy="4555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a:p>
            <a:pPr marL="571500" marR="0" lvl="0" indent="-571500" algn="l" rtl="0">
              <a:spcBef>
                <a:spcPts val="360"/>
              </a:spcBef>
              <a:spcAft>
                <a:spcPts val="0"/>
              </a:spcAft>
              <a:buClr>
                <a:srgbClr val="663366"/>
              </a:buClr>
              <a:buSzPts val="1800"/>
              <a:buFont typeface="Arial"/>
              <a:buChar char="•"/>
            </a:pPr>
            <a:r>
              <a:rPr lang="en-GB" sz="1800" dirty="0">
                <a:solidFill>
                  <a:schemeClr val="dk1"/>
                </a:solidFill>
                <a:latin typeface="Arial"/>
                <a:ea typeface="Arial"/>
                <a:cs typeface="Arial"/>
                <a:sym typeface="Arial"/>
              </a:rPr>
              <a:t>A breach on its own does not give rise to a remedy – a loss is needed.</a:t>
            </a:r>
            <a:endParaRPr dirty="0"/>
          </a:p>
          <a:p>
            <a:pPr marL="571500" marR="0" lvl="0" indent="-571500" algn="l" rtl="0">
              <a:spcBef>
                <a:spcPts val="360"/>
              </a:spcBef>
              <a:spcAft>
                <a:spcPts val="0"/>
              </a:spcAft>
              <a:buClr>
                <a:srgbClr val="663366"/>
              </a:buClr>
              <a:buSzPts val="1800"/>
              <a:buFont typeface="Arial"/>
              <a:buChar char="•"/>
            </a:pPr>
            <a:r>
              <a:rPr lang="en-GB" sz="1800" dirty="0">
                <a:solidFill>
                  <a:schemeClr val="dk1"/>
                </a:solidFill>
                <a:latin typeface="Arial"/>
                <a:ea typeface="Arial"/>
                <a:cs typeface="Arial"/>
                <a:sym typeface="Arial"/>
              </a:rPr>
              <a:t>Equally, a loss without a breach does not give rise to a remedy.</a:t>
            </a:r>
            <a:endParaRPr dirty="0"/>
          </a:p>
          <a:p>
            <a:pPr marL="571500" marR="0" lvl="0" indent="-571500" algn="l" rtl="0">
              <a:spcBef>
                <a:spcPts val="360"/>
              </a:spcBef>
              <a:spcAft>
                <a:spcPts val="0"/>
              </a:spcAft>
              <a:buClr>
                <a:srgbClr val="663366"/>
              </a:buClr>
              <a:buSzPts val="1800"/>
              <a:buFont typeface="Arial"/>
              <a:buChar char="•"/>
            </a:pPr>
            <a:r>
              <a:rPr lang="en-GB" sz="1800" dirty="0">
                <a:solidFill>
                  <a:schemeClr val="dk1"/>
                </a:solidFill>
                <a:latin typeface="Arial"/>
                <a:ea typeface="Arial"/>
                <a:cs typeface="Arial"/>
                <a:sym typeface="Arial"/>
              </a:rPr>
              <a:t>Losses stemming from breaches of the duty of care pose evidential problems. </a:t>
            </a:r>
            <a:endParaRPr dirty="0"/>
          </a:p>
          <a:p>
            <a:pPr marL="571500" marR="0" lvl="0" indent="-571500" algn="l" rtl="0">
              <a:spcBef>
                <a:spcPts val="360"/>
              </a:spcBef>
              <a:spcAft>
                <a:spcPts val="0"/>
              </a:spcAft>
              <a:buClr>
                <a:srgbClr val="663366"/>
              </a:buClr>
              <a:buSzPts val="1800"/>
              <a:buFont typeface="Arial"/>
              <a:buChar char="•"/>
            </a:pPr>
            <a:r>
              <a:rPr lang="en-GB" sz="1800" dirty="0">
                <a:solidFill>
                  <a:schemeClr val="dk1"/>
                </a:solidFill>
                <a:latin typeface="Arial"/>
                <a:ea typeface="Arial"/>
                <a:cs typeface="Arial"/>
                <a:sym typeface="Arial"/>
              </a:rPr>
              <a:t>Losses and gains cannot be offset unless they stem from the same unauthorised transaction.</a:t>
            </a:r>
          </a:p>
          <a:p>
            <a:pPr marL="571500" marR="0" lvl="0" indent="-571500" algn="l" rtl="0">
              <a:spcBef>
                <a:spcPts val="360"/>
              </a:spcBef>
              <a:spcAft>
                <a:spcPts val="0"/>
              </a:spcAft>
              <a:buClr>
                <a:srgbClr val="663366"/>
              </a:buClr>
              <a:buSzPts val="1800"/>
              <a:buFont typeface="Arial"/>
              <a:buChar char="•"/>
            </a:pPr>
            <a:r>
              <a:rPr lang="en-GB" sz="1800" dirty="0">
                <a:solidFill>
                  <a:schemeClr val="dk1"/>
                </a:solidFill>
              </a:rPr>
              <a:t>As in other private law areas, the question is </a:t>
            </a:r>
            <a:r>
              <a:rPr lang="en-GB" sz="1800" i="1" dirty="0">
                <a:solidFill>
                  <a:schemeClr val="dk1"/>
                </a:solidFill>
              </a:rPr>
              <a:t>who should bear the loss?</a:t>
            </a:r>
            <a:endParaRPr i="1" dirty="0"/>
          </a:p>
          <a:p>
            <a:pPr marL="571500" marR="0" lvl="0" indent="-457200" algn="l" rtl="0">
              <a:spcBef>
                <a:spcPts val="360"/>
              </a:spcBef>
              <a:spcAft>
                <a:spcPts val="0"/>
              </a:spcAft>
              <a:buClr>
                <a:srgbClr val="663366"/>
              </a:buClr>
              <a:buSzPts val="1800"/>
              <a:buFont typeface="Times"/>
              <a:buNone/>
            </a:pPr>
            <a:endParaRPr sz="1800" dirty="0">
              <a:solidFill>
                <a:schemeClr val="dk1"/>
              </a:solidFill>
              <a:latin typeface="Arial"/>
              <a:ea typeface="Arial"/>
              <a:cs typeface="Arial"/>
              <a:sym typeface="Arial"/>
            </a:endParaRPr>
          </a:p>
        </p:txBody>
      </p:sp>
      <p:pic>
        <p:nvPicPr>
          <p:cNvPr id="152" name="Google Shape;152;p20" descr="Losing Your Wealth Increases Your Risk for Death, Study Says | Time"/>
          <p:cNvPicPr preferRelativeResize="0"/>
          <p:nvPr/>
        </p:nvPicPr>
        <p:blipFill rotWithShape="1">
          <a:blip r:embed="rId3">
            <a:alphaModFix/>
          </a:blip>
          <a:srcRect/>
          <a:stretch/>
        </p:blipFill>
        <p:spPr>
          <a:xfrm>
            <a:off x="5220072" y="2222500"/>
            <a:ext cx="3378200" cy="2413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1"/>
          <p:cNvSpPr/>
          <p:nvPr/>
        </p:nvSpPr>
        <p:spPr>
          <a:xfrm>
            <a:off x="2670570" y="2130504"/>
            <a:ext cx="792088" cy="766225"/>
          </a:xfrm>
          <a:prstGeom prst="ellipse">
            <a:avLst/>
          </a:prstGeom>
          <a:solidFill>
            <a:schemeClr val="lt1"/>
          </a:solidFill>
          <a:ln w="28575"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58" name="Google Shape;158;p21"/>
          <p:cNvSpPr txBox="1">
            <a:spLocks noGrp="1"/>
          </p:cNvSpPr>
          <p:nvPr>
            <p:ph type="title"/>
          </p:nvPr>
        </p:nvSpPr>
        <p:spPr>
          <a:xfrm>
            <a:off x="685800" y="609600"/>
            <a:ext cx="77724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Substitutive compensation (I)</a:t>
            </a:r>
            <a:endParaRPr/>
          </a:p>
        </p:txBody>
      </p:sp>
      <p:sp>
        <p:nvSpPr>
          <p:cNvPr id="159" name="Google Shape;159;p21"/>
          <p:cNvSpPr txBox="1"/>
          <p:nvPr/>
        </p:nvSpPr>
        <p:spPr>
          <a:xfrm>
            <a:off x="2003287" y="2255395"/>
            <a:ext cx="21314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accent4"/>
                </a:solidFill>
                <a:latin typeface="Calibri"/>
                <a:ea typeface="Calibri"/>
                <a:cs typeface="Calibri"/>
                <a:sym typeface="Calibri"/>
              </a:rPr>
              <a:t>T</a:t>
            </a:r>
            <a:r>
              <a:rPr lang="en-GB" sz="1100">
                <a:solidFill>
                  <a:schemeClr val="accent4"/>
                </a:solidFill>
                <a:latin typeface="Calibri"/>
                <a:ea typeface="Calibri"/>
                <a:cs typeface="Calibri"/>
                <a:sym typeface="Calibri"/>
              </a:rPr>
              <a:t>rustee</a:t>
            </a:r>
            <a:endParaRPr/>
          </a:p>
        </p:txBody>
      </p:sp>
      <p:sp>
        <p:nvSpPr>
          <p:cNvPr id="160" name="Google Shape;160;p21"/>
          <p:cNvSpPr/>
          <p:nvPr/>
        </p:nvSpPr>
        <p:spPr>
          <a:xfrm rot="10800000">
            <a:off x="1809026" y="2440134"/>
            <a:ext cx="587300" cy="2963388"/>
          </a:xfrm>
          <a:prstGeom prst="rightBrace">
            <a:avLst>
              <a:gd name="adj1" fmla="val 8333"/>
              <a:gd name="adj2" fmla="val 50000"/>
            </a:avLst>
          </a:prstGeom>
          <a:solidFill>
            <a:schemeClr val="lt1"/>
          </a:solidFill>
          <a:ln w="1905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61" name="Google Shape;161;p21"/>
          <p:cNvSpPr txBox="1"/>
          <p:nvPr/>
        </p:nvSpPr>
        <p:spPr>
          <a:xfrm>
            <a:off x="685800" y="3709361"/>
            <a:ext cx="8834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dirty="0">
                <a:solidFill>
                  <a:schemeClr val="dk1"/>
                </a:solidFill>
                <a:latin typeface="Calibri"/>
                <a:ea typeface="Calibri"/>
                <a:cs typeface="Calibri"/>
                <a:sym typeface="Calibri"/>
              </a:rPr>
              <a:t>Trust</a:t>
            </a:r>
            <a:endParaRPr dirty="0"/>
          </a:p>
        </p:txBody>
      </p:sp>
      <p:sp>
        <p:nvSpPr>
          <p:cNvPr id="162" name="Google Shape;162;p21"/>
          <p:cNvSpPr txBox="1"/>
          <p:nvPr/>
        </p:nvSpPr>
        <p:spPr>
          <a:xfrm>
            <a:off x="2102676" y="5137255"/>
            <a:ext cx="21314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accent4"/>
                </a:solidFill>
                <a:latin typeface="Calibri"/>
                <a:ea typeface="Calibri"/>
                <a:cs typeface="Calibri"/>
                <a:sym typeface="Calibri"/>
              </a:rPr>
              <a:t>B</a:t>
            </a:r>
            <a:r>
              <a:rPr lang="en-GB" sz="1100">
                <a:solidFill>
                  <a:schemeClr val="accent4"/>
                </a:solidFill>
                <a:latin typeface="Calibri"/>
                <a:ea typeface="Calibri"/>
                <a:cs typeface="Calibri"/>
                <a:sym typeface="Calibri"/>
              </a:rPr>
              <a:t>eneficiary</a:t>
            </a:r>
            <a:endParaRPr/>
          </a:p>
        </p:txBody>
      </p:sp>
      <p:sp>
        <p:nvSpPr>
          <p:cNvPr id="163" name="Google Shape;163;p21"/>
          <p:cNvSpPr txBox="1"/>
          <p:nvPr/>
        </p:nvSpPr>
        <p:spPr>
          <a:xfrm>
            <a:off x="2030866" y="3697742"/>
            <a:ext cx="21314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accent4"/>
                </a:solidFill>
                <a:latin typeface="Calibri"/>
                <a:ea typeface="Calibri"/>
                <a:cs typeface="Calibri"/>
                <a:sym typeface="Calibri"/>
              </a:rPr>
              <a:t>P</a:t>
            </a:r>
            <a:r>
              <a:rPr lang="en-GB" sz="1100">
                <a:solidFill>
                  <a:schemeClr val="accent4"/>
                </a:solidFill>
                <a:latin typeface="Calibri"/>
                <a:ea typeface="Calibri"/>
                <a:cs typeface="Calibri"/>
                <a:sym typeface="Calibri"/>
              </a:rPr>
              <a:t>roperty</a:t>
            </a:r>
            <a:endParaRPr/>
          </a:p>
        </p:txBody>
      </p:sp>
      <p:sp>
        <p:nvSpPr>
          <p:cNvPr id="164" name="Google Shape;164;p21"/>
          <p:cNvSpPr txBox="1"/>
          <p:nvPr/>
        </p:nvSpPr>
        <p:spPr>
          <a:xfrm>
            <a:off x="6108739" y="2174188"/>
            <a:ext cx="213142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accent4"/>
                </a:solidFill>
                <a:latin typeface="Calibri"/>
                <a:ea typeface="Calibri"/>
                <a:cs typeface="Calibri"/>
                <a:sym typeface="Calibri"/>
              </a:rPr>
              <a:t>3</a:t>
            </a:r>
            <a:r>
              <a:rPr lang="en-GB" sz="1100" baseline="30000">
                <a:solidFill>
                  <a:schemeClr val="accent4"/>
                </a:solidFill>
                <a:latin typeface="Calibri"/>
                <a:ea typeface="Calibri"/>
                <a:cs typeface="Calibri"/>
                <a:sym typeface="Calibri"/>
              </a:rPr>
              <a:t>rd</a:t>
            </a:r>
            <a:r>
              <a:rPr lang="en-GB" sz="1100">
                <a:solidFill>
                  <a:schemeClr val="accent4"/>
                </a:solidFill>
                <a:latin typeface="Calibri"/>
                <a:ea typeface="Calibri"/>
                <a:cs typeface="Calibri"/>
                <a:sym typeface="Calibri"/>
              </a:rPr>
              <a:t> party</a:t>
            </a:r>
            <a:endParaRPr/>
          </a:p>
        </p:txBody>
      </p:sp>
      <p:sp>
        <p:nvSpPr>
          <p:cNvPr id="165" name="Google Shape;165;p21"/>
          <p:cNvSpPr txBox="1"/>
          <p:nvPr/>
        </p:nvSpPr>
        <p:spPr>
          <a:xfrm>
            <a:off x="3469121" y="1687299"/>
            <a:ext cx="2355265"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rgbClr val="FF0000"/>
                </a:solidFill>
                <a:latin typeface="Calibri"/>
                <a:ea typeface="Calibri"/>
                <a:cs typeface="Calibri"/>
                <a:sym typeface="Calibri"/>
              </a:rPr>
              <a:t>Transfers P in breach</a:t>
            </a:r>
            <a:endParaRPr/>
          </a:p>
        </p:txBody>
      </p:sp>
      <p:cxnSp>
        <p:nvCxnSpPr>
          <p:cNvPr id="166" name="Google Shape;166;p21"/>
          <p:cNvCxnSpPr/>
          <p:nvPr/>
        </p:nvCxnSpPr>
        <p:spPr>
          <a:xfrm flipH="1">
            <a:off x="3635896" y="2466003"/>
            <a:ext cx="2299605" cy="20224"/>
          </a:xfrm>
          <a:prstGeom prst="straightConnector1">
            <a:avLst/>
          </a:prstGeom>
          <a:solidFill>
            <a:schemeClr val="accent1"/>
          </a:solidFill>
          <a:ln w="19050" cap="flat" cmpd="sng">
            <a:solidFill>
              <a:schemeClr val="dk1"/>
            </a:solidFill>
            <a:prstDash val="solid"/>
            <a:round/>
            <a:headEnd type="triangle" w="med" len="med"/>
            <a:tailEnd type="none" w="sm" len="sm"/>
          </a:ln>
        </p:spPr>
      </p:cxnSp>
      <p:sp>
        <p:nvSpPr>
          <p:cNvPr id="167" name="Google Shape;167;p21"/>
          <p:cNvSpPr txBox="1"/>
          <p:nvPr/>
        </p:nvSpPr>
        <p:spPr>
          <a:xfrm>
            <a:off x="3394367" y="2009094"/>
            <a:ext cx="2355265"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rgbClr val="FF0000"/>
                </a:solidFill>
                <a:latin typeface="Calibri"/>
                <a:ea typeface="Calibri"/>
                <a:cs typeface="Calibri"/>
                <a:sym typeface="Calibri"/>
              </a:rPr>
              <a:t>= loss to trust fund</a:t>
            </a:r>
            <a:endParaRPr/>
          </a:p>
        </p:txBody>
      </p:sp>
      <p:sp>
        <p:nvSpPr>
          <p:cNvPr id="168" name="Google Shape;168;p21"/>
          <p:cNvSpPr txBox="1"/>
          <p:nvPr/>
        </p:nvSpPr>
        <p:spPr>
          <a:xfrm>
            <a:off x="3094940" y="2954300"/>
            <a:ext cx="235526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b="1">
                <a:solidFill>
                  <a:srgbClr val="00B050"/>
                </a:solidFill>
                <a:latin typeface="Calibri"/>
                <a:ea typeface="Calibri"/>
                <a:cs typeface="Calibri"/>
                <a:sym typeface="Calibri"/>
              </a:rPr>
              <a:t>Must reconstitute P out of their own pocket</a:t>
            </a:r>
            <a:endParaRPr/>
          </a:p>
        </p:txBody>
      </p:sp>
      <p:cxnSp>
        <p:nvCxnSpPr>
          <p:cNvPr id="169" name="Google Shape;169;p21"/>
          <p:cNvCxnSpPr/>
          <p:nvPr/>
        </p:nvCxnSpPr>
        <p:spPr>
          <a:xfrm>
            <a:off x="3066614" y="3040169"/>
            <a:ext cx="0" cy="657573"/>
          </a:xfrm>
          <a:prstGeom prst="straightConnector1">
            <a:avLst/>
          </a:prstGeom>
          <a:solidFill>
            <a:schemeClr val="accent1"/>
          </a:solidFill>
          <a:ln w="28575" cap="flat" cmpd="sng">
            <a:solidFill>
              <a:srgbClr val="00B050"/>
            </a:solidFill>
            <a:prstDash val="solid"/>
            <a:round/>
            <a:headEnd type="none" w="sm" len="sm"/>
            <a:tailEnd type="stealth" w="med" len="med"/>
          </a:ln>
        </p:spPr>
      </p:cxnSp>
      <p:sp>
        <p:nvSpPr>
          <p:cNvPr id="170" name="Google Shape;170;p21"/>
          <p:cNvSpPr txBox="1"/>
          <p:nvPr/>
        </p:nvSpPr>
        <p:spPr>
          <a:xfrm>
            <a:off x="4757869" y="4365105"/>
            <a:ext cx="3198507" cy="1169551"/>
          </a:xfrm>
          <a:prstGeom prst="rect">
            <a:avLst/>
          </a:prstGeom>
          <a:solidFill>
            <a:srgbClr val="FFC000"/>
          </a:solidFill>
          <a:ln w="28575" cap="flat" cmpd="sng">
            <a:solidFill>
              <a:srgbClr val="FFC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400" b="1">
              <a:solidFill>
                <a:schemeClr val="accent6"/>
              </a:solidFill>
              <a:latin typeface="Calibri"/>
              <a:ea typeface="Calibri"/>
              <a:cs typeface="Calibri"/>
              <a:sym typeface="Calibri"/>
            </a:endParaRPr>
          </a:p>
          <a:p>
            <a:pPr marL="0" marR="0" lvl="0" indent="0" algn="ctr" rtl="0">
              <a:spcBef>
                <a:spcPts val="0"/>
              </a:spcBef>
              <a:spcAft>
                <a:spcPts val="0"/>
              </a:spcAft>
              <a:buNone/>
            </a:pPr>
            <a:r>
              <a:rPr lang="en-GB" sz="1400" b="1">
                <a:solidFill>
                  <a:schemeClr val="accent6"/>
                </a:solidFill>
                <a:latin typeface="Calibri"/>
                <a:ea typeface="Calibri"/>
                <a:cs typeface="Calibri"/>
                <a:sym typeface="Calibri"/>
              </a:rPr>
              <a:t>***Relevant point in time for assessing the amount of compensation: Point of breach***</a:t>
            </a:r>
            <a:endParaRPr/>
          </a:p>
          <a:p>
            <a:pPr marL="0" marR="0" lvl="0" indent="0" algn="ctr" rtl="0">
              <a:spcBef>
                <a:spcPts val="0"/>
              </a:spcBef>
              <a:spcAft>
                <a:spcPts val="0"/>
              </a:spcAft>
              <a:buNone/>
            </a:pPr>
            <a:endParaRPr sz="1400" b="1">
              <a:solidFill>
                <a:schemeClr val="accent6"/>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66"/>
                                        </p:tgtEl>
                                        <p:attrNameLst>
                                          <p:attrName>style.visibility</p:attrName>
                                        </p:attrNameLst>
                                      </p:cBhvr>
                                      <p:to>
                                        <p:strVal val="visible"/>
                                      </p:to>
                                    </p:set>
                                    <p:animEffect transition="in" filter="fade">
                                      <p:cBhvr>
                                        <p:cTn id="19" dur="500"/>
                                        <p:tgtEl>
                                          <p:spTgt spid="166"/>
                                        </p:tgtEl>
                                      </p:cBhvr>
                                    </p:animEffect>
                                  </p:childTnLst>
                                </p:cTn>
                              </p:par>
                              <p:par>
                                <p:cTn id="20" presetID="1" presetClass="entr" presetSubtype="0" fill="hold" nodeType="withEffect">
                                  <p:stCondLst>
                                    <p:cond delay="0"/>
                                  </p:stCondLst>
                                  <p:childTnLst>
                                    <p:set>
                                      <p:cBhvr>
                                        <p:cTn id="21" dur="1" fill="hold">
                                          <p:stCondLst>
                                            <p:cond delay="0"/>
                                          </p:stCondLst>
                                        </p:cTn>
                                        <p:tgtEl>
                                          <p:spTgt spid="16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6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6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57"/>
                                        </p:tgtEl>
                                        <p:attrNameLst>
                                          <p:attrName>style.visibility</p:attrName>
                                        </p:attrNameLst>
                                      </p:cBhvr>
                                      <p:to>
                                        <p:strVal val="visible"/>
                                      </p:to>
                                    </p:set>
                                    <p:animEffect transition="in" filter="fade">
                                      <p:cBhvr>
                                        <p:cTn id="34" dur="2000"/>
                                        <p:tgtEl>
                                          <p:spTgt spid="157"/>
                                        </p:tgtEl>
                                      </p:cBhvr>
                                    </p:animEffect>
                                  </p:childTnLst>
                                </p:cTn>
                              </p:par>
                              <p:par>
                                <p:cTn id="35" presetID="1" presetClass="entr" presetSubtype="0" fill="hold" nodeType="withEffect">
                                  <p:stCondLst>
                                    <p:cond delay="0"/>
                                  </p:stCondLst>
                                  <p:childTnLst>
                                    <p:set>
                                      <p:cBhvr>
                                        <p:cTn id="36" dur="1" fill="hold">
                                          <p:stCondLst>
                                            <p:cond delay="0"/>
                                          </p:stCondLst>
                                        </p:cTn>
                                        <p:tgtEl>
                                          <p:spTgt spid="16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22" descr="HANG YOUR HEADS IN SHAME - Page 8 - Sheffield Wednesday Matchday - Owlstalk  | Sheffield Wednesday News for SWFC fans"/>
          <p:cNvPicPr preferRelativeResize="0"/>
          <p:nvPr/>
        </p:nvPicPr>
        <p:blipFill rotWithShape="1">
          <a:blip r:embed="rId3">
            <a:alphaModFix amt="33000"/>
          </a:blip>
          <a:srcRect/>
          <a:stretch/>
        </p:blipFill>
        <p:spPr>
          <a:xfrm>
            <a:off x="5590584" y="4502312"/>
            <a:ext cx="3097250" cy="2061075"/>
          </a:xfrm>
          <a:prstGeom prst="rect">
            <a:avLst/>
          </a:prstGeom>
          <a:noFill/>
          <a:ln>
            <a:noFill/>
          </a:ln>
        </p:spPr>
      </p:pic>
      <p:sp>
        <p:nvSpPr>
          <p:cNvPr id="176" name="Google Shape;176;p22"/>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Substitutive compensation (II)</a:t>
            </a:r>
            <a:endParaRPr/>
          </a:p>
        </p:txBody>
      </p:sp>
      <p:sp>
        <p:nvSpPr>
          <p:cNvPr id="177" name="Google Shape;177;p22"/>
          <p:cNvSpPr txBox="1"/>
          <p:nvPr/>
        </p:nvSpPr>
        <p:spPr>
          <a:xfrm>
            <a:off x="685800" y="1413386"/>
            <a:ext cx="7270500" cy="290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dirty="0">
              <a:solidFill>
                <a:srgbClr val="000000"/>
              </a:solidFill>
              <a:latin typeface="Calibri"/>
              <a:ea typeface="Calibri"/>
              <a:cs typeface="Calibri"/>
              <a:sym typeface="Calibri"/>
            </a:endParaRPr>
          </a:p>
          <a:p>
            <a:pPr marL="0" marR="0" lvl="0" indent="0" algn="l" rtl="0">
              <a:spcBef>
                <a:spcPts val="400"/>
              </a:spcBef>
              <a:spcAft>
                <a:spcPts val="0"/>
              </a:spcAft>
              <a:buNone/>
            </a:pPr>
            <a:r>
              <a:rPr lang="en-GB" sz="2000" dirty="0">
                <a:solidFill>
                  <a:schemeClr val="dk1"/>
                </a:solidFill>
                <a:latin typeface="Arial"/>
                <a:ea typeface="Arial"/>
                <a:cs typeface="Arial"/>
                <a:sym typeface="Arial"/>
              </a:rPr>
              <a:t>Three things to remember about substitutive compensation:</a:t>
            </a:r>
            <a:endParaRPr dirty="0"/>
          </a:p>
          <a:p>
            <a:pPr marL="571500" indent="-571500">
              <a:spcBef>
                <a:spcPts val="360"/>
              </a:spcBef>
              <a:buClr>
                <a:srgbClr val="663366"/>
              </a:buClr>
              <a:buSzPts val="1800"/>
              <a:buFont typeface="Arial"/>
              <a:buAutoNum type="arabicPeriod"/>
            </a:pPr>
            <a:r>
              <a:rPr lang="en-GB" sz="1800" dirty="0">
                <a:solidFill>
                  <a:schemeClr val="dk1"/>
                </a:solidFill>
              </a:rPr>
              <a:t>The transaction in question is regarded as having been undertaken </a:t>
            </a:r>
            <a:r>
              <a:rPr lang="en-GB" sz="1800" b="1" dirty="0">
                <a:solidFill>
                  <a:schemeClr val="dk1"/>
                </a:solidFill>
              </a:rPr>
              <a:t>with the trustee’s own assets </a:t>
            </a:r>
            <a:r>
              <a:rPr lang="en-GB" sz="1800" dirty="0">
                <a:solidFill>
                  <a:schemeClr val="dk1"/>
                </a:solidFill>
              </a:rPr>
              <a:t>(with the trustee having to reconstitute the trust fund).</a:t>
            </a:r>
            <a:endParaRPr sz="1800" dirty="0">
              <a:solidFill>
                <a:schemeClr val="dk1"/>
              </a:solidFill>
            </a:endParaRPr>
          </a:p>
          <a:p>
            <a:pPr marL="571500" indent="-571500">
              <a:spcBef>
                <a:spcPts val="360"/>
              </a:spcBef>
              <a:buClr>
                <a:srgbClr val="663366"/>
              </a:buClr>
              <a:buSzPts val="1800"/>
              <a:buFont typeface="Arial"/>
              <a:buAutoNum type="arabicPeriod"/>
            </a:pPr>
            <a:r>
              <a:rPr lang="en-GB" sz="1800" dirty="0">
                <a:solidFill>
                  <a:schemeClr val="dk1"/>
                </a:solidFill>
              </a:rPr>
              <a:t>The </a:t>
            </a:r>
            <a:r>
              <a:rPr lang="en-GB" sz="1800" b="1" dirty="0">
                <a:solidFill>
                  <a:schemeClr val="dk1"/>
                </a:solidFill>
              </a:rPr>
              <a:t>relevant point </a:t>
            </a:r>
            <a:r>
              <a:rPr lang="en-GB" sz="1800" dirty="0">
                <a:solidFill>
                  <a:schemeClr val="dk1"/>
                </a:solidFill>
              </a:rPr>
              <a:t>in time by which the loss is assessed is </a:t>
            </a:r>
            <a:r>
              <a:rPr lang="en-GB" sz="1800" b="1" dirty="0">
                <a:solidFill>
                  <a:schemeClr val="dk1"/>
                </a:solidFill>
              </a:rPr>
              <a:t>the time of the breach</a:t>
            </a:r>
            <a:r>
              <a:rPr lang="en-GB" sz="1800" dirty="0">
                <a:solidFill>
                  <a:schemeClr val="dk1"/>
                </a:solidFill>
              </a:rPr>
              <a:t>.</a:t>
            </a:r>
            <a:endParaRPr sz="1800" dirty="0">
              <a:solidFill>
                <a:schemeClr val="dk1"/>
              </a:solidFill>
            </a:endParaRPr>
          </a:p>
          <a:p>
            <a:pPr marL="571500" indent="-571500">
              <a:spcBef>
                <a:spcPts val="360"/>
              </a:spcBef>
              <a:buClr>
                <a:srgbClr val="663366"/>
              </a:buClr>
              <a:buSzPts val="1800"/>
              <a:buFont typeface="Arial"/>
              <a:buAutoNum type="arabicPeriod"/>
            </a:pPr>
            <a:r>
              <a:rPr lang="en-GB" sz="1800" dirty="0">
                <a:solidFill>
                  <a:schemeClr val="dk1"/>
                </a:solidFill>
              </a:rPr>
              <a:t>Causation and remoteness have </a:t>
            </a:r>
            <a:r>
              <a:rPr lang="en-GB" sz="1800" b="1" dirty="0">
                <a:solidFill>
                  <a:schemeClr val="dk1"/>
                </a:solidFill>
              </a:rPr>
              <a:t>not usually been found to be applicable</a:t>
            </a:r>
            <a:r>
              <a:rPr lang="en-GB" sz="1800" dirty="0">
                <a:solidFill>
                  <a:schemeClr val="dk1"/>
                </a:solidFill>
              </a:rPr>
              <a:t> in determining the loss (but see next slides). </a:t>
            </a:r>
            <a:endParaRPr sz="1800"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p:nvPr/>
        </p:nvSpPr>
        <p:spPr>
          <a:xfrm>
            <a:off x="4419601" y="5091278"/>
            <a:ext cx="1361610" cy="1371600"/>
          </a:xfrm>
          <a:prstGeom prst="ellipse">
            <a:avLst/>
          </a:prstGeom>
          <a:solidFill>
            <a:schemeClr val="lt1"/>
          </a:solidFill>
          <a:ln w="28575"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183" name="Google Shape;183;p2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sz="4000" i="1" u="sng">
                <a:latin typeface="Arial"/>
                <a:ea typeface="Arial"/>
                <a:cs typeface="Arial"/>
                <a:sym typeface="Arial"/>
              </a:rPr>
              <a:t>Target Holdings Ltd v Redferns</a:t>
            </a:r>
            <a:r>
              <a:rPr lang="en-GB" sz="4000" u="sng">
                <a:latin typeface="Arial"/>
                <a:ea typeface="Arial"/>
                <a:cs typeface="Arial"/>
                <a:sym typeface="Arial"/>
              </a:rPr>
              <a:t> [1995] 3 All ER 785</a:t>
            </a:r>
            <a:endParaRPr sz="4000">
              <a:latin typeface="Arial"/>
              <a:ea typeface="Arial"/>
              <a:cs typeface="Arial"/>
              <a:sym typeface="Arial"/>
            </a:endParaRPr>
          </a:p>
        </p:txBody>
      </p:sp>
      <p:sp>
        <p:nvSpPr>
          <p:cNvPr id="184" name="Google Shape;184;p23"/>
          <p:cNvSpPr txBox="1"/>
          <p:nvPr/>
        </p:nvSpPr>
        <p:spPr>
          <a:xfrm>
            <a:off x="609600" y="2590800"/>
            <a:ext cx="30480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Arial"/>
                <a:ea typeface="Arial"/>
                <a:cs typeface="Arial"/>
                <a:sym typeface="Arial"/>
              </a:rPr>
              <a:t> </a:t>
            </a:r>
            <a:r>
              <a:rPr lang="en-GB" sz="1800" b="1">
                <a:solidFill>
                  <a:schemeClr val="dk1"/>
                </a:solidFill>
                <a:latin typeface="Arial"/>
                <a:ea typeface="Arial"/>
                <a:cs typeface="Arial"/>
                <a:sym typeface="Arial"/>
              </a:rPr>
              <a:t>T</a:t>
            </a:r>
            <a:r>
              <a:rPr lang="en-GB" sz="1800">
                <a:solidFill>
                  <a:schemeClr val="dk1"/>
                </a:solidFill>
                <a:latin typeface="Arial"/>
                <a:ea typeface="Arial"/>
                <a:cs typeface="Arial"/>
                <a:sym typeface="Arial"/>
              </a:rPr>
              <a:t> = </a:t>
            </a:r>
            <a:r>
              <a:rPr lang="en-GB" sz="1800" i="1">
                <a:solidFill>
                  <a:schemeClr val="dk1"/>
                </a:solidFill>
                <a:latin typeface="Arial"/>
                <a:ea typeface="Arial"/>
                <a:cs typeface="Arial"/>
                <a:sym typeface="Arial"/>
              </a:rPr>
              <a:t>Redferns</a:t>
            </a:r>
            <a:r>
              <a:rPr lang="en-GB" sz="1800">
                <a:solidFill>
                  <a:schemeClr val="dk1"/>
                </a:solidFill>
                <a:latin typeface="Arial"/>
                <a:ea typeface="Arial"/>
                <a:cs typeface="Arial"/>
                <a:sym typeface="Arial"/>
              </a:rPr>
              <a:t> (solicitors)</a:t>
            </a:r>
            <a:endParaRPr/>
          </a:p>
        </p:txBody>
      </p:sp>
      <p:sp>
        <p:nvSpPr>
          <p:cNvPr id="185" name="Google Shape;185;p23"/>
          <p:cNvSpPr txBox="1"/>
          <p:nvPr/>
        </p:nvSpPr>
        <p:spPr>
          <a:xfrm>
            <a:off x="685800" y="5029200"/>
            <a:ext cx="4191000"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chemeClr val="dk1"/>
                </a:solidFill>
                <a:latin typeface="Arial"/>
                <a:ea typeface="Arial"/>
                <a:cs typeface="Arial"/>
                <a:sym typeface="Arial"/>
              </a:rPr>
              <a:t>B</a:t>
            </a:r>
            <a:r>
              <a:rPr lang="en-GB" sz="1800">
                <a:solidFill>
                  <a:schemeClr val="dk1"/>
                </a:solidFill>
                <a:latin typeface="Arial"/>
                <a:ea typeface="Arial"/>
                <a:cs typeface="Arial"/>
                <a:sym typeface="Arial"/>
              </a:rPr>
              <a:t> = </a:t>
            </a:r>
            <a:r>
              <a:rPr lang="en-GB" sz="1800" i="1">
                <a:solidFill>
                  <a:schemeClr val="dk1"/>
                </a:solidFill>
                <a:latin typeface="Arial"/>
                <a:ea typeface="Arial"/>
                <a:cs typeface="Arial"/>
                <a:sym typeface="Arial"/>
              </a:rPr>
              <a:t>Target </a:t>
            </a:r>
            <a:r>
              <a:rPr lang="en-GB" sz="1800">
                <a:solidFill>
                  <a:schemeClr val="dk1"/>
                </a:solidFill>
                <a:latin typeface="Arial"/>
                <a:ea typeface="Arial"/>
                <a:cs typeface="Arial"/>
                <a:sym typeface="Arial"/>
              </a:rPr>
              <a:t>(finance company)</a:t>
            </a:r>
            <a:endParaRPr/>
          </a:p>
        </p:txBody>
      </p:sp>
      <p:sp>
        <p:nvSpPr>
          <p:cNvPr id="186" name="Google Shape;186;p23"/>
          <p:cNvSpPr txBox="1"/>
          <p:nvPr/>
        </p:nvSpPr>
        <p:spPr>
          <a:xfrm>
            <a:off x="4953000" y="2590800"/>
            <a:ext cx="2743200"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i="1">
                <a:solidFill>
                  <a:schemeClr val="dk1"/>
                </a:solidFill>
                <a:latin typeface="Arial"/>
                <a:ea typeface="Arial"/>
                <a:cs typeface="Arial"/>
                <a:sym typeface="Arial"/>
              </a:rPr>
              <a:t>Crowngate </a:t>
            </a:r>
            <a:r>
              <a:rPr lang="en-GB" sz="1800">
                <a:solidFill>
                  <a:schemeClr val="dk1"/>
                </a:solidFill>
                <a:latin typeface="Arial"/>
                <a:ea typeface="Arial"/>
                <a:cs typeface="Arial"/>
                <a:sym typeface="Arial"/>
              </a:rPr>
              <a:t>(borrower)</a:t>
            </a:r>
            <a:endParaRPr/>
          </a:p>
        </p:txBody>
      </p:sp>
      <p:sp>
        <p:nvSpPr>
          <p:cNvPr id="187" name="Google Shape;187;p23"/>
          <p:cNvSpPr txBox="1"/>
          <p:nvPr/>
        </p:nvSpPr>
        <p:spPr>
          <a:xfrm>
            <a:off x="4572000" y="5334000"/>
            <a:ext cx="19050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Loan to be secured by </a:t>
            </a:r>
            <a:r>
              <a:rPr lang="en-GB" sz="1600" b="1">
                <a:solidFill>
                  <a:schemeClr val="dk1"/>
                </a:solidFill>
                <a:latin typeface="Arial"/>
                <a:ea typeface="Arial"/>
                <a:cs typeface="Arial"/>
                <a:sym typeface="Arial"/>
              </a:rPr>
              <a:t>mortgage</a:t>
            </a:r>
            <a:endParaRPr/>
          </a:p>
        </p:txBody>
      </p:sp>
      <p:sp>
        <p:nvSpPr>
          <p:cNvPr id="188" name="Google Shape;188;p23"/>
          <p:cNvSpPr txBox="1"/>
          <p:nvPr/>
        </p:nvSpPr>
        <p:spPr>
          <a:xfrm>
            <a:off x="2811211" y="2200359"/>
            <a:ext cx="22860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Advance money early, </a:t>
            </a:r>
            <a:r>
              <a:rPr lang="en-GB" sz="1600">
                <a:solidFill>
                  <a:srgbClr val="FF0000"/>
                </a:solidFill>
                <a:latin typeface="Arial"/>
                <a:ea typeface="Arial"/>
                <a:cs typeface="Arial"/>
                <a:sym typeface="Arial"/>
              </a:rPr>
              <a:t>in breach of trust</a:t>
            </a:r>
            <a:endParaRPr/>
          </a:p>
        </p:txBody>
      </p:sp>
      <p:sp>
        <p:nvSpPr>
          <p:cNvPr id="189" name="Google Shape;189;p23"/>
          <p:cNvSpPr/>
          <p:nvPr/>
        </p:nvSpPr>
        <p:spPr>
          <a:xfrm>
            <a:off x="4419600" y="3429000"/>
            <a:ext cx="1981200" cy="1371600"/>
          </a:xfrm>
          <a:prstGeom prst="rect">
            <a:avLst/>
          </a:prstGeom>
          <a:solidFill>
            <a:schemeClr val="accent2"/>
          </a:solidFill>
          <a:ln w="25400" cap="flat" cmpd="sng">
            <a:solidFill>
              <a:srgbClr val="2525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2400" dirty="0">
                <a:solidFill>
                  <a:schemeClr val="lt1"/>
                </a:solidFill>
                <a:latin typeface="Arial"/>
                <a:ea typeface="Arial"/>
                <a:cs typeface="Arial"/>
                <a:sym typeface="Arial"/>
              </a:rPr>
              <a:t>PROPERTY </a:t>
            </a:r>
            <a:r>
              <a:rPr lang="en-GB" sz="1800" dirty="0">
                <a:solidFill>
                  <a:schemeClr val="lt1"/>
                </a:solidFill>
                <a:sym typeface="Arial"/>
              </a:rPr>
              <a:t>(worth </a:t>
            </a:r>
            <a:r>
              <a:rPr lang="en-GB" sz="1800" dirty="0">
                <a:solidFill>
                  <a:schemeClr val="lt1"/>
                </a:solidFill>
              </a:rPr>
              <a:t>£2m, but in reality only worth </a:t>
            </a:r>
            <a:r>
              <a:rPr lang="en-GB" sz="1800" dirty="0">
                <a:solidFill>
                  <a:schemeClr val="lt1"/>
                </a:solidFill>
                <a:sym typeface="Arial"/>
              </a:rPr>
              <a:t>£500k)</a:t>
            </a:r>
            <a:endParaRPr sz="1800" dirty="0"/>
          </a:p>
        </p:txBody>
      </p:sp>
      <p:cxnSp>
        <p:nvCxnSpPr>
          <p:cNvPr id="190" name="Google Shape;190;p23"/>
          <p:cNvCxnSpPr/>
          <p:nvPr/>
        </p:nvCxnSpPr>
        <p:spPr>
          <a:xfrm rot="-5400000">
            <a:off x="5258594" y="3123406"/>
            <a:ext cx="304800" cy="1588"/>
          </a:xfrm>
          <a:prstGeom prst="straightConnector1">
            <a:avLst/>
          </a:prstGeom>
          <a:noFill/>
          <a:ln w="9525" cap="flat" cmpd="sng">
            <a:solidFill>
              <a:schemeClr val="dk1"/>
            </a:solidFill>
            <a:prstDash val="solid"/>
            <a:round/>
            <a:headEnd type="none" w="med" len="med"/>
            <a:tailEnd type="none" w="med" len="med"/>
          </a:ln>
        </p:spPr>
      </p:cxnSp>
      <p:cxnSp>
        <p:nvCxnSpPr>
          <p:cNvPr id="191" name="Google Shape;191;p23"/>
          <p:cNvCxnSpPr/>
          <p:nvPr/>
        </p:nvCxnSpPr>
        <p:spPr>
          <a:xfrm>
            <a:off x="3352800" y="2819400"/>
            <a:ext cx="1524000" cy="1588"/>
          </a:xfrm>
          <a:prstGeom prst="straightConnector1">
            <a:avLst/>
          </a:prstGeom>
          <a:noFill/>
          <a:ln w="9525" cap="flat" cmpd="sng">
            <a:solidFill>
              <a:schemeClr val="dk1"/>
            </a:solidFill>
            <a:prstDash val="solid"/>
            <a:round/>
            <a:headEnd type="none" w="med" len="med"/>
            <a:tailEnd type="stealth" w="med" len="med"/>
          </a:ln>
        </p:spPr>
      </p:cxnSp>
      <p:cxnSp>
        <p:nvCxnSpPr>
          <p:cNvPr id="192" name="Google Shape;192;p23"/>
          <p:cNvCxnSpPr>
            <a:endCxn id="184" idx="2"/>
          </p:cNvCxnSpPr>
          <p:nvPr/>
        </p:nvCxnSpPr>
        <p:spPr>
          <a:xfrm rot="10800000">
            <a:off x="2133600" y="3052763"/>
            <a:ext cx="0" cy="1976400"/>
          </a:xfrm>
          <a:prstGeom prst="straightConnector1">
            <a:avLst/>
          </a:prstGeom>
          <a:noFill/>
          <a:ln w="9525" cap="flat" cmpd="sng">
            <a:solidFill>
              <a:schemeClr val="dk1"/>
            </a:solidFill>
            <a:prstDash val="solid"/>
            <a:round/>
            <a:headEnd type="none" w="med" len="med"/>
            <a:tailEnd type="stealth" w="med" len="med"/>
          </a:ln>
        </p:spPr>
      </p:cxnSp>
      <p:sp>
        <p:nvSpPr>
          <p:cNvPr id="193" name="Google Shape;193;p23"/>
          <p:cNvSpPr txBox="1"/>
          <p:nvPr/>
        </p:nvSpPr>
        <p:spPr>
          <a:xfrm>
            <a:off x="685800" y="3442060"/>
            <a:ext cx="18288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Transfers </a:t>
            </a:r>
            <a:endParaRPr/>
          </a:p>
          <a:p>
            <a:pPr marL="0" marR="0" lvl="0" indent="0" algn="l" rtl="0">
              <a:spcBef>
                <a:spcPts val="0"/>
              </a:spcBef>
              <a:spcAft>
                <a:spcPts val="0"/>
              </a:spcAft>
              <a:buNone/>
            </a:pPr>
            <a:r>
              <a:rPr lang="en-GB" sz="1600">
                <a:solidFill>
                  <a:schemeClr val="dk1"/>
                </a:solidFill>
                <a:latin typeface="Arial"/>
                <a:ea typeface="Arial"/>
                <a:cs typeface="Arial"/>
                <a:sym typeface="Arial"/>
              </a:rPr>
              <a:t>money to </a:t>
            </a:r>
            <a:endParaRPr/>
          </a:p>
          <a:p>
            <a:pPr marL="0" marR="0" lvl="0" indent="0" algn="l" rtl="0">
              <a:spcBef>
                <a:spcPts val="0"/>
              </a:spcBef>
              <a:spcAft>
                <a:spcPts val="0"/>
              </a:spcAft>
              <a:buNone/>
            </a:pPr>
            <a:r>
              <a:rPr lang="en-GB" sz="1600">
                <a:solidFill>
                  <a:schemeClr val="dk1"/>
                </a:solidFill>
                <a:latin typeface="Arial"/>
                <a:ea typeface="Arial"/>
                <a:cs typeface="Arial"/>
                <a:sym typeface="Arial"/>
              </a:rPr>
              <a:t>hold on trust</a:t>
            </a:r>
            <a:endParaRPr/>
          </a:p>
        </p:txBody>
      </p:sp>
      <p:cxnSp>
        <p:nvCxnSpPr>
          <p:cNvPr id="194" name="Google Shape;194;p23"/>
          <p:cNvCxnSpPr/>
          <p:nvPr/>
        </p:nvCxnSpPr>
        <p:spPr>
          <a:xfrm rot="10800000" flipH="1">
            <a:off x="3886200" y="4953000"/>
            <a:ext cx="1524000" cy="304800"/>
          </a:xfrm>
          <a:prstGeom prst="bentConnector3">
            <a:avLst>
              <a:gd name="adj1" fmla="val 100569"/>
            </a:avLst>
          </a:prstGeom>
          <a:noFill/>
          <a:ln w="9525" cap="flat" cmpd="sng">
            <a:solidFill>
              <a:schemeClr val="dk1"/>
            </a:solidFill>
            <a:prstDash val="solid"/>
            <a:round/>
            <a:headEnd type="none" w="med" len="med"/>
            <a:tailEnd type="none" w="med" len="med"/>
          </a:ln>
        </p:spPr>
      </p:cxnSp>
      <p:sp>
        <p:nvSpPr>
          <p:cNvPr id="195" name="Google Shape;195;p23"/>
          <p:cNvSpPr txBox="1"/>
          <p:nvPr/>
        </p:nvSpPr>
        <p:spPr>
          <a:xfrm>
            <a:off x="5562600" y="1447800"/>
            <a:ext cx="2743200"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i="1">
                <a:solidFill>
                  <a:schemeClr val="dk1"/>
                </a:solidFill>
                <a:latin typeface="Arial"/>
                <a:ea typeface="Arial"/>
                <a:cs typeface="Arial"/>
                <a:sym typeface="Arial"/>
              </a:rPr>
              <a:t>Mirage</a:t>
            </a:r>
            <a:r>
              <a:rPr lang="en-GB" sz="1800">
                <a:solidFill>
                  <a:schemeClr val="dk1"/>
                </a:solidFill>
                <a:latin typeface="Arial"/>
                <a:ea typeface="Arial"/>
                <a:cs typeface="Arial"/>
                <a:sym typeface="Arial"/>
              </a:rPr>
              <a:t> (vendor)</a:t>
            </a:r>
            <a:endParaRPr/>
          </a:p>
        </p:txBody>
      </p:sp>
      <p:sp>
        <p:nvSpPr>
          <p:cNvPr id="196" name="Google Shape;196;p23"/>
          <p:cNvSpPr/>
          <p:nvPr/>
        </p:nvSpPr>
        <p:spPr>
          <a:xfrm>
            <a:off x="6858000" y="2057400"/>
            <a:ext cx="1981200" cy="381000"/>
          </a:xfrm>
          <a:prstGeom prst="rect">
            <a:avLst/>
          </a:prstGeom>
          <a:solidFill>
            <a:srgbClr val="3C8C93"/>
          </a:solidFill>
          <a:ln w="9525" cap="flat" cmpd="sng">
            <a:solidFill>
              <a:srgbClr val="2F2F98"/>
            </a:solidFill>
            <a:prstDash val="solid"/>
            <a:miter lim="800000"/>
            <a:headEnd type="none" w="sm" len="sm"/>
            <a:tailEnd type="none" w="sm" len="sm"/>
          </a:ln>
          <a:effectLst>
            <a:outerShdw blurRad="40000" dist="20000" dir="5400000" rotWithShape="0">
              <a:srgbClr val="808080">
                <a:alpha val="37647"/>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r>
              <a:rPr lang="en-GB" sz="1800">
                <a:solidFill>
                  <a:schemeClr val="lt1"/>
                </a:solidFill>
                <a:latin typeface="Arial"/>
                <a:ea typeface="Arial"/>
                <a:cs typeface="Arial"/>
                <a:sym typeface="Arial"/>
              </a:rPr>
              <a:t>Other companies</a:t>
            </a:r>
            <a:endParaRPr/>
          </a:p>
        </p:txBody>
      </p:sp>
      <p:cxnSp>
        <p:nvCxnSpPr>
          <p:cNvPr id="197" name="Google Shape;197;p23"/>
          <p:cNvCxnSpPr/>
          <p:nvPr/>
        </p:nvCxnSpPr>
        <p:spPr>
          <a:xfrm>
            <a:off x="7391400" y="1676400"/>
            <a:ext cx="609600" cy="304800"/>
          </a:xfrm>
          <a:prstGeom prst="bentConnector3">
            <a:avLst>
              <a:gd name="adj1" fmla="val 98079"/>
            </a:avLst>
          </a:prstGeom>
          <a:noFill/>
          <a:ln w="9525" cap="flat" cmpd="sng">
            <a:solidFill>
              <a:schemeClr val="dk1"/>
            </a:solidFill>
            <a:prstDash val="solid"/>
            <a:round/>
            <a:headEnd type="none" w="med" len="med"/>
            <a:tailEnd type="triangle" w="med" len="med"/>
          </a:ln>
        </p:spPr>
      </p:cxnSp>
      <p:cxnSp>
        <p:nvCxnSpPr>
          <p:cNvPr id="198" name="Google Shape;198;p23"/>
          <p:cNvCxnSpPr/>
          <p:nvPr/>
        </p:nvCxnSpPr>
        <p:spPr>
          <a:xfrm flipH="1">
            <a:off x="7391400" y="2590800"/>
            <a:ext cx="609600" cy="228600"/>
          </a:xfrm>
          <a:prstGeom prst="bentConnector3">
            <a:avLst>
              <a:gd name="adj1" fmla="val -1639"/>
            </a:avLst>
          </a:prstGeom>
          <a:noFill/>
          <a:ln w="9525" cap="flat" cmpd="sng">
            <a:solidFill>
              <a:schemeClr val="dk1"/>
            </a:solidFill>
            <a:prstDash val="solid"/>
            <a:round/>
            <a:headEnd type="none" w="med" len="med"/>
            <a:tailEnd type="stealth" w="med" len="med"/>
          </a:ln>
        </p:spPr>
      </p:cxnSp>
      <p:sp>
        <p:nvSpPr>
          <p:cNvPr id="199" name="Google Shape;199;p23"/>
          <p:cNvSpPr/>
          <p:nvPr/>
        </p:nvSpPr>
        <p:spPr>
          <a:xfrm>
            <a:off x="7432705" y="4190288"/>
            <a:ext cx="1066800" cy="838200"/>
          </a:xfrm>
          <a:prstGeom prst="rect">
            <a:avLst/>
          </a:prstGeom>
          <a:solidFill>
            <a:srgbClr val="606060"/>
          </a:solidFill>
          <a:ln w="9525" cap="flat" cmpd="sng">
            <a:solidFill>
              <a:srgbClr val="2F2F98"/>
            </a:solidFill>
            <a:prstDash val="solid"/>
            <a:miter lim="800000"/>
            <a:headEnd type="none" w="sm" len="sm"/>
            <a:tailEnd type="none" w="sm" len="sm"/>
          </a:ln>
          <a:effectLst>
            <a:outerShdw blurRad="40000" dist="20000" dir="5400000" rotWithShape="0">
              <a:srgbClr val="808080">
                <a:alpha val="37647"/>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r>
              <a:rPr lang="en-GB" sz="1800">
                <a:solidFill>
                  <a:srgbClr val="FFFFFF"/>
                </a:solidFill>
                <a:latin typeface="Arial"/>
                <a:ea typeface="Arial"/>
                <a:cs typeface="Arial"/>
                <a:sym typeface="Arial"/>
              </a:rPr>
              <a:t>Estate agent</a:t>
            </a:r>
            <a:endParaRPr/>
          </a:p>
        </p:txBody>
      </p:sp>
      <p:cxnSp>
        <p:nvCxnSpPr>
          <p:cNvPr id="200" name="Google Shape;200;p23"/>
          <p:cNvCxnSpPr/>
          <p:nvPr/>
        </p:nvCxnSpPr>
        <p:spPr>
          <a:xfrm rot="10800000">
            <a:off x="7305701" y="3312268"/>
            <a:ext cx="542899" cy="728714"/>
          </a:xfrm>
          <a:prstGeom prst="straightConnector1">
            <a:avLst/>
          </a:prstGeom>
          <a:noFill/>
          <a:ln w="9525" cap="flat" cmpd="sng">
            <a:solidFill>
              <a:schemeClr val="dk1"/>
            </a:solidFill>
            <a:prstDash val="solid"/>
            <a:round/>
            <a:headEnd type="none" w="med" len="med"/>
            <a:tailEnd type="stealth" w="med" len="med"/>
          </a:ln>
        </p:spPr>
      </p:cxnSp>
      <p:sp>
        <p:nvSpPr>
          <p:cNvPr id="201" name="Google Shape;201;p23"/>
          <p:cNvSpPr txBox="1"/>
          <p:nvPr/>
        </p:nvSpPr>
        <p:spPr>
          <a:xfrm>
            <a:off x="7772400" y="3260941"/>
            <a:ext cx="1066800" cy="584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Provides valuation</a:t>
            </a:r>
            <a:endParaRPr/>
          </a:p>
        </p:txBody>
      </p:sp>
      <p:sp>
        <p:nvSpPr>
          <p:cNvPr id="202" name="Google Shape;202;p23"/>
          <p:cNvSpPr txBox="1"/>
          <p:nvPr/>
        </p:nvSpPr>
        <p:spPr>
          <a:xfrm>
            <a:off x="5524500" y="2973714"/>
            <a:ext cx="22860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Wants to buy for £2m</a:t>
            </a:r>
            <a:endParaRPr/>
          </a:p>
        </p:txBody>
      </p:sp>
      <p:sp>
        <p:nvSpPr>
          <p:cNvPr id="203" name="Google Shape;203;p23"/>
          <p:cNvSpPr txBox="1"/>
          <p:nvPr/>
        </p:nvSpPr>
        <p:spPr>
          <a:xfrm>
            <a:off x="7990012" y="1226428"/>
            <a:ext cx="115398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Price inflation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9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0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9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82"/>
                                        </p:tgtEl>
                                        <p:attrNameLst>
                                          <p:attrName>style.visibility</p:attrName>
                                        </p:attrNameLst>
                                      </p:cBhvr>
                                      <p:to>
                                        <p:strVal val="visible"/>
                                      </p:to>
                                    </p:set>
                                    <p:animEffect transition="in" filter="fade">
                                      <p:cBhvr>
                                        <p:cTn id="75" dur="20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8" name="Google Shape;208;p24"/>
          <p:cNvPicPr preferRelativeResize="0"/>
          <p:nvPr/>
        </p:nvPicPr>
        <p:blipFill rotWithShape="1">
          <a:blip r:embed="rId3">
            <a:alphaModFix/>
          </a:blip>
          <a:srcRect/>
          <a:stretch/>
        </p:blipFill>
        <p:spPr>
          <a:xfrm>
            <a:off x="4057381" y="609600"/>
            <a:ext cx="2158960" cy="1292600"/>
          </a:xfrm>
          <a:prstGeom prst="rect">
            <a:avLst/>
          </a:prstGeom>
          <a:noFill/>
          <a:ln>
            <a:noFill/>
          </a:ln>
        </p:spPr>
      </p:pic>
      <p:sp>
        <p:nvSpPr>
          <p:cNvPr id="209" name="Google Shape;209;p24"/>
          <p:cNvSpPr txBox="1">
            <a:spLocks noGrp="1"/>
          </p:cNvSpPr>
          <p:nvPr>
            <p:ph type="title"/>
          </p:nvPr>
        </p:nvSpPr>
        <p:spPr>
          <a:xfrm>
            <a:off x="685800" y="609600"/>
            <a:ext cx="5746898"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dirty="0">
                <a:latin typeface="Arial"/>
                <a:ea typeface="Arial"/>
                <a:cs typeface="Arial"/>
                <a:sym typeface="Arial"/>
              </a:rPr>
              <a:t>Changes after          : </a:t>
            </a:r>
            <a:endParaRPr dirty="0"/>
          </a:p>
        </p:txBody>
      </p:sp>
      <p:sp>
        <p:nvSpPr>
          <p:cNvPr id="210" name="Google Shape;210;p24"/>
          <p:cNvSpPr txBox="1"/>
          <p:nvPr/>
        </p:nvSpPr>
        <p:spPr>
          <a:xfrm>
            <a:off x="685800" y="1413386"/>
            <a:ext cx="7270576" cy="47089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dirty="0">
              <a:solidFill>
                <a:srgbClr val="000000"/>
              </a:solidFill>
              <a:latin typeface="Calibri"/>
              <a:ea typeface="Calibri"/>
              <a:cs typeface="Calibri"/>
              <a:sym typeface="Calibri"/>
            </a:endParaRPr>
          </a:p>
          <a:p>
            <a:pPr marL="0" marR="0" lvl="0" indent="0" algn="l" rtl="0">
              <a:spcBef>
                <a:spcPts val="400"/>
              </a:spcBef>
              <a:spcAft>
                <a:spcPts val="0"/>
              </a:spcAft>
              <a:buNone/>
            </a:pPr>
            <a:r>
              <a:rPr lang="en-GB" sz="2000" i="1" u="sng" dirty="0">
                <a:solidFill>
                  <a:schemeClr val="dk1"/>
                </a:solidFill>
                <a:latin typeface="Arial"/>
                <a:ea typeface="Arial"/>
                <a:cs typeface="Arial"/>
                <a:sym typeface="Arial"/>
              </a:rPr>
              <a:t>Target</a:t>
            </a:r>
            <a:r>
              <a:rPr lang="en-GB" sz="2000" dirty="0">
                <a:solidFill>
                  <a:schemeClr val="dk1"/>
                </a:solidFill>
                <a:latin typeface="Arial"/>
                <a:ea typeface="Arial"/>
                <a:cs typeface="Arial"/>
                <a:sym typeface="Arial"/>
              </a:rPr>
              <a:t> established three changes in the law relating to substitutive compensation: </a:t>
            </a:r>
            <a:endParaRPr dirty="0"/>
          </a:p>
          <a:p>
            <a:pPr marL="342900" marR="0" lvl="0" indent="-342900" algn="l" rtl="0">
              <a:spcBef>
                <a:spcPts val="400"/>
              </a:spcBef>
              <a:spcAft>
                <a:spcPts val="0"/>
              </a:spcAft>
              <a:buClr>
                <a:srgbClr val="663366"/>
              </a:buClr>
              <a:buSzPts val="2000"/>
              <a:buFont typeface="Arial"/>
              <a:buAutoNum type="arabicParenR"/>
            </a:pPr>
            <a:r>
              <a:rPr lang="en-GB" sz="2000" dirty="0">
                <a:solidFill>
                  <a:schemeClr val="dk1"/>
                </a:solidFill>
                <a:latin typeface="Arial"/>
                <a:ea typeface="Arial"/>
                <a:cs typeface="Arial"/>
                <a:sym typeface="Arial"/>
              </a:rPr>
              <a:t>Bare trusts in a commercial arrangements are treated differently than other trusts.</a:t>
            </a:r>
            <a:endParaRPr dirty="0"/>
          </a:p>
          <a:p>
            <a:pPr marL="342900" marR="0" lvl="0" indent="-342900" algn="l" rtl="0">
              <a:spcBef>
                <a:spcPts val="400"/>
              </a:spcBef>
              <a:spcAft>
                <a:spcPts val="0"/>
              </a:spcAft>
              <a:buClr>
                <a:srgbClr val="663366"/>
              </a:buClr>
              <a:buSzPts val="2000"/>
              <a:buFont typeface="Arial"/>
              <a:buAutoNum type="arabicParenR"/>
            </a:pPr>
            <a:r>
              <a:rPr lang="en-GB" sz="2000" dirty="0">
                <a:solidFill>
                  <a:schemeClr val="dk1"/>
                </a:solidFill>
                <a:latin typeface="Arial"/>
                <a:ea typeface="Arial"/>
                <a:cs typeface="Arial"/>
                <a:sym typeface="Arial"/>
              </a:rPr>
              <a:t>When bare trusts have concluded, the focus moves from restoring the trust fund to compensating the beneficiary for losses flowing from the breach.</a:t>
            </a:r>
            <a:endParaRPr dirty="0"/>
          </a:p>
          <a:p>
            <a:pPr marL="342900" marR="0" lvl="0" indent="-342900" algn="l" rtl="0">
              <a:spcBef>
                <a:spcPts val="400"/>
              </a:spcBef>
              <a:spcAft>
                <a:spcPts val="0"/>
              </a:spcAft>
              <a:buClr>
                <a:srgbClr val="663366"/>
              </a:buClr>
              <a:buSzPts val="2000"/>
              <a:buFont typeface="Arial"/>
              <a:buAutoNum type="arabicParenR"/>
            </a:pPr>
            <a:r>
              <a:rPr lang="en-GB" sz="2000" dirty="0">
                <a:solidFill>
                  <a:schemeClr val="dk1"/>
                </a:solidFill>
                <a:latin typeface="Arial"/>
                <a:ea typeface="Arial"/>
                <a:cs typeface="Arial"/>
                <a:sym typeface="Arial"/>
              </a:rPr>
              <a:t>Losses are assessed </a:t>
            </a:r>
            <a:r>
              <a:rPr lang="en-GB" sz="2000" dirty="0">
                <a:solidFill>
                  <a:schemeClr val="dk1"/>
                </a:solidFill>
              </a:rPr>
              <a:t>on the day of the court hearing </a:t>
            </a:r>
            <a:r>
              <a:rPr lang="en-GB" sz="2000" dirty="0">
                <a:solidFill>
                  <a:schemeClr val="dk1"/>
                </a:solidFill>
                <a:latin typeface="Arial"/>
                <a:ea typeface="Arial"/>
                <a:cs typeface="Arial"/>
                <a:sym typeface="Arial"/>
              </a:rPr>
              <a:t>with ‘the full benefit of hindsight.’</a:t>
            </a:r>
          </a:p>
          <a:p>
            <a:pPr marL="342900" marR="0" lvl="0" indent="-342900" algn="l" rtl="0">
              <a:spcBef>
                <a:spcPts val="400"/>
              </a:spcBef>
              <a:spcAft>
                <a:spcPts val="0"/>
              </a:spcAft>
              <a:buClr>
                <a:srgbClr val="663366"/>
              </a:buClr>
              <a:buSzPts val="2000"/>
              <a:buFont typeface="Arial"/>
              <a:buAutoNum type="arabicParenR"/>
            </a:pPr>
            <a:r>
              <a:rPr lang="en-GB" sz="2000" dirty="0">
                <a:solidFill>
                  <a:schemeClr val="dk1"/>
                </a:solidFill>
                <a:latin typeface="Arial"/>
                <a:ea typeface="Arial"/>
                <a:cs typeface="Arial"/>
                <a:sym typeface="Arial"/>
              </a:rPr>
              <a:t>Causation is used to establish liability. If the loss would have occurred in any case, then there is no liability (the ‘but for’ test).</a:t>
            </a:r>
            <a:endParaRPr dirty="0"/>
          </a:p>
          <a:p>
            <a:pPr marL="457200" marR="0" lvl="0" indent="-330200" algn="l" rtl="0">
              <a:spcBef>
                <a:spcPts val="400"/>
              </a:spcBef>
              <a:spcAft>
                <a:spcPts val="0"/>
              </a:spcAft>
              <a:buClr>
                <a:srgbClr val="663366"/>
              </a:buClr>
              <a:buSzPts val="2000"/>
              <a:buFont typeface="Times"/>
              <a:buNone/>
            </a:pPr>
            <a:endParaRPr sz="2000" dirty="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5"/>
          <p:cNvSpPr/>
          <p:nvPr/>
        </p:nvSpPr>
        <p:spPr>
          <a:xfrm>
            <a:off x="3297933" y="4813564"/>
            <a:ext cx="1769367" cy="1669480"/>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16" name="Google Shape;216;p25"/>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sz="4000" i="1" u="sng">
                <a:latin typeface="Arial"/>
                <a:ea typeface="Arial"/>
                <a:cs typeface="Arial"/>
                <a:sym typeface="Arial"/>
              </a:rPr>
              <a:t>AIB Group (UK) plc v Mark Redler &amp; Co Solicitors [2014] UKSC 58</a:t>
            </a:r>
            <a:endParaRPr/>
          </a:p>
        </p:txBody>
      </p:sp>
      <p:sp>
        <p:nvSpPr>
          <p:cNvPr id="217" name="Google Shape;217;p25"/>
          <p:cNvSpPr txBox="1"/>
          <p:nvPr/>
        </p:nvSpPr>
        <p:spPr>
          <a:xfrm>
            <a:off x="609600" y="2590800"/>
            <a:ext cx="30480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dirty="0">
                <a:solidFill>
                  <a:schemeClr val="dk1"/>
                </a:solidFill>
                <a:latin typeface="Arial"/>
                <a:ea typeface="Arial"/>
                <a:cs typeface="Arial"/>
                <a:sym typeface="Arial"/>
              </a:rPr>
              <a:t> </a:t>
            </a:r>
            <a:r>
              <a:rPr lang="en-GB" sz="1800" b="1" dirty="0">
                <a:solidFill>
                  <a:schemeClr val="dk1"/>
                </a:solidFill>
                <a:latin typeface="Arial"/>
                <a:ea typeface="Arial"/>
                <a:cs typeface="Arial"/>
                <a:sym typeface="Arial"/>
              </a:rPr>
              <a:t>T</a:t>
            </a:r>
            <a:r>
              <a:rPr lang="en-GB" sz="1800" dirty="0">
                <a:solidFill>
                  <a:schemeClr val="dk1"/>
                </a:solidFill>
                <a:latin typeface="Arial"/>
                <a:ea typeface="Arial"/>
                <a:cs typeface="Arial"/>
                <a:sym typeface="Arial"/>
              </a:rPr>
              <a:t> = </a:t>
            </a:r>
            <a:r>
              <a:rPr lang="en-GB" sz="1800" i="1" dirty="0" err="1">
                <a:solidFill>
                  <a:schemeClr val="dk1"/>
                </a:solidFill>
                <a:latin typeface="Arial"/>
                <a:ea typeface="Arial"/>
                <a:cs typeface="Arial"/>
                <a:sym typeface="Arial"/>
              </a:rPr>
              <a:t>Redler</a:t>
            </a:r>
            <a:r>
              <a:rPr lang="en-GB" sz="1800" dirty="0">
                <a:solidFill>
                  <a:schemeClr val="dk1"/>
                </a:solidFill>
                <a:latin typeface="Arial"/>
                <a:ea typeface="Arial"/>
                <a:cs typeface="Arial"/>
                <a:sym typeface="Arial"/>
              </a:rPr>
              <a:t> (solicitors)</a:t>
            </a:r>
            <a:endParaRPr dirty="0"/>
          </a:p>
        </p:txBody>
      </p:sp>
      <p:sp>
        <p:nvSpPr>
          <p:cNvPr id="218" name="Google Shape;218;p25"/>
          <p:cNvSpPr txBox="1"/>
          <p:nvPr/>
        </p:nvSpPr>
        <p:spPr>
          <a:xfrm>
            <a:off x="685800" y="5029200"/>
            <a:ext cx="4191000"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chemeClr val="dk1"/>
                </a:solidFill>
                <a:latin typeface="Arial"/>
                <a:ea typeface="Arial"/>
                <a:cs typeface="Arial"/>
                <a:sym typeface="Arial"/>
              </a:rPr>
              <a:t>B</a:t>
            </a:r>
            <a:r>
              <a:rPr lang="en-GB" sz="1800">
                <a:solidFill>
                  <a:schemeClr val="dk1"/>
                </a:solidFill>
                <a:latin typeface="Arial"/>
                <a:ea typeface="Arial"/>
                <a:cs typeface="Arial"/>
                <a:sym typeface="Arial"/>
              </a:rPr>
              <a:t> = </a:t>
            </a:r>
            <a:r>
              <a:rPr lang="en-GB" sz="1800" i="1">
                <a:solidFill>
                  <a:schemeClr val="dk1"/>
                </a:solidFill>
                <a:latin typeface="Arial"/>
                <a:ea typeface="Arial"/>
                <a:cs typeface="Arial"/>
                <a:sym typeface="Arial"/>
              </a:rPr>
              <a:t>AIB </a:t>
            </a:r>
            <a:r>
              <a:rPr lang="en-GB" sz="1800">
                <a:solidFill>
                  <a:schemeClr val="dk1"/>
                </a:solidFill>
                <a:latin typeface="Arial"/>
                <a:ea typeface="Arial"/>
                <a:cs typeface="Arial"/>
                <a:sym typeface="Arial"/>
              </a:rPr>
              <a:t>(bank)</a:t>
            </a:r>
            <a:endParaRPr/>
          </a:p>
        </p:txBody>
      </p:sp>
      <p:sp>
        <p:nvSpPr>
          <p:cNvPr id="219" name="Google Shape;219;p25"/>
          <p:cNvSpPr txBox="1"/>
          <p:nvPr/>
        </p:nvSpPr>
        <p:spPr>
          <a:xfrm>
            <a:off x="4953000" y="2590800"/>
            <a:ext cx="2743200"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i="1">
                <a:solidFill>
                  <a:schemeClr val="dk1"/>
                </a:solidFill>
                <a:latin typeface="Arial"/>
                <a:ea typeface="Arial"/>
                <a:cs typeface="Arial"/>
                <a:sym typeface="Arial"/>
              </a:rPr>
              <a:t>Sondhi </a:t>
            </a:r>
            <a:r>
              <a:rPr lang="en-GB" sz="1800">
                <a:solidFill>
                  <a:schemeClr val="dk1"/>
                </a:solidFill>
                <a:latin typeface="Arial"/>
                <a:ea typeface="Arial"/>
                <a:cs typeface="Arial"/>
                <a:sym typeface="Arial"/>
              </a:rPr>
              <a:t>(borrowers)</a:t>
            </a:r>
            <a:endParaRPr/>
          </a:p>
        </p:txBody>
      </p:sp>
      <p:sp>
        <p:nvSpPr>
          <p:cNvPr id="220" name="Google Shape;220;p25"/>
          <p:cNvSpPr txBox="1"/>
          <p:nvPr/>
        </p:nvSpPr>
        <p:spPr>
          <a:xfrm>
            <a:off x="3530690" y="5078013"/>
            <a:ext cx="1905000"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dirty="0">
                <a:solidFill>
                  <a:schemeClr val="dk1"/>
                </a:solidFill>
                <a:latin typeface="Arial"/>
                <a:ea typeface="Arial"/>
                <a:cs typeface="Arial"/>
                <a:sym typeface="Arial"/>
              </a:rPr>
              <a:t>Loan to be secured by mortgage (</a:t>
            </a:r>
            <a:r>
              <a:rPr lang="en-GB" sz="1600" b="1" dirty="0">
                <a:solidFill>
                  <a:schemeClr val="dk1"/>
                </a:solidFill>
                <a:latin typeface="Arial"/>
                <a:ea typeface="Arial"/>
                <a:cs typeface="Arial"/>
                <a:sym typeface="Arial"/>
              </a:rPr>
              <a:t>first charge</a:t>
            </a:r>
            <a:r>
              <a:rPr lang="en-GB" sz="1600" dirty="0">
                <a:solidFill>
                  <a:schemeClr val="dk1"/>
                </a:solidFill>
                <a:latin typeface="Arial"/>
                <a:ea typeface="Arial"/>
                <a:cs typeface="Arial"/>
                <a:sym typeface="Arial"/>
              </a:rPr>
              <a:t>)</a:t>
            </a:r>
            <a:endParaRPr dirty="0"/>
          </a:p>
        </p:txBody>
      </p:sp>
      <p:sp>
        <p:nvSpPr>
          <p:cNvPr id="221" name="Google Shape;221;p25"/>
          <p:cNvSpPr txBox="1"/>
          <p:nvPr/>
        </p:nvSpPr>
        <p:spPr>
          <a:xfrm>
            <a:off x="2949297" y="2090961"/>
            <a:ext cx="2327140"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dirty="0">
                <a:solidFill>
                  <a:schemeClr val="dk1"/>
                </a:solidFill>
                <a:sym typeface="Arial"/>
              </a:rPr>
              <a:t>Paid off only £1.2m in </a:t>
            </a:r>
            <a:r>
              <a:rPr lang="en-GB" dirty="0">
                <a:solidFill>
                  <a:srgbClr val="FF0000"/>
                </a:solidFill>
                <a:sym typeface="Arial"/>
              </a:rPr>
              <a:t>breach of trust</a:t>
            </a:r>
            <a:r>
              <a:rPr lang="en-GB" dirty="0">
                <a:solidFill>
                  <a:schemeClr val="tx1"/>
                </a:solidFill>
                <a:sym typeface="Arial"/>
              </a:rPr>
              <a:t>; £300k extra to borrowers</a:t>
            </a:r>
            <a:endParaRPr dirty="0">
              <a:solidFill>
                <a:schemeClr val="tx1"/>
              </a:solidFill>
            </a:endParaRPr>
          </a:p>
        </p:txBody>
      </p:sp>
      <p:sp>
        <p:nvSpPr>
          <p:cNvPr id="222" name="Google Shape;222;p25"/>
          <p:cNvSpPr/>
          <p:nvPr/>
        </p:nvSpPr>
        <p:spPr>
          <a:xfrm>
            <a:off x="4495800" y="3429000"/>
            <a:ext cx="1905000" cy="1299046"/>
          </a:xfrm>
          <a:prstGeom prst="rect">
            <a:avLst/>
          </a:prstGeom>
          <a:solidFill>
            <a:schemeClr val="accent2"/>
          </a:solidFill>
          <a:ln w="25400" cap="flat" cmpd="sng">
            <a:solidFill>
              <a:srgbClr val="2525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2400" dirty="0">
                <a:solidFill>
                  <a:schemeClr val="lt1"/>
                </a:solidFill>
                <a:latin typeface="Arial"/>
                <a:ea typeface="Arial"/>
                <a:cs typeface="Arial"/>
                <a:sym typeface="Arial"/>
              </a:rPr>
              <a:t>PROPERTY </a:t>
            </a:r>
            <a:r>
              <a:rPr lang="en-GB" sz="1800" dirty="0">
                <a:solidFill>
                  <a:schemeClr val="lt1"/>
                </a:solidFill>
                <a:sym typeface="Arial"/>
              </a:rPr>
              <a:t>(initially worth £4.25m, then only £1.2m)</a:t>
            </a:r>
            <a:endParaRPr sz="1800" dirty="0"/>
          </a:p>
        </p:txBody>
      </p:sp>
      <p:cxnSp>
        <p:nvCxnSpPr>
          <p:cNvPr id="223" name="Google Shape;223;p25"/>
          <p:cNvCxnSpPr/>
          <p:nvPr/>
        </p:nvCxnSpPr>
        <p:spPr>
          <a:xfrm rot="-5400000">
            <a:off x="5258594" y="3123406"/>
            <a:ext cx="304800" cy="1588"/>
          </a:xfrm>
          <a:prstGeom prst="straightConnector1">
            <a:avLst/>
          </a:prstGeom>
          <a:noFill/>
          <a:ln w="9525" cap="flat" cmpd="sng">
            <a:solidFill>
              <a:schemeClr val="dk1"/>
            </a:solidFill>
            <a:prstDash val="solid"/>
            <a:round/>
            <a:headEnd type="none" w="med" len="med"/>
            <a:tailEnd type="none" w="med" len="med"/>
          </a:ln>
        </p:spPr>
      </p:cxnSp>
      <p:cxnSp>
        <p:nvCxnSpPr>
          <p:cNvPr id="224" name="Google Shape;224;p25"/>
          <p:cNvCxnSpPr/>
          <p:nvPr/>
        </p:nvCxnSpPr>
        <p:spPr>
          <a:xfrm>
            <a:off x="3059007" y="2867618"/>
            <a:ext cx="3836268" cy="1206122"/>
          </a:xfrm>
          <a:prstGeom prst="straightConnector1">
            <a:avLst/>
          </a:prstGeom>
          <a:noFill/>
          <a:ln w="9525" cap="flat" cmpd="sng">
            <a:solidFill>
              <a:schemeClr val="dk1"/>
            </a:solidFill>
            <a:prstDash val="solid"/>
            <a:round/>
            <a:headEnd type="none" w="med" len="med"/>
            <a:tailEnd type="stealth" w="med" len="med"/>
          </a:ln>
        </p:spPr>
      </p:cxnSp>
      <p:cxnSp>
        <p:nvCxnSpPr>
          <p:cNvPr id="225" name="Google Shape;225;p25"/>
          <p:cNvCxnSpPr>
            <a:endCxn id="217" idx="2"/>
          </p:cNvCxnSpPr>
          <p:nvPr/>
        </p:nvCxnSpPr>
        <p:spPr>
          <a:xfrm rot="10800000">
            <a:off x="2133600" y="3052763"/>
            <a:ext cx="0" cy="1976400"/>
          </a:xfrm>
          <a:prstGeom prst="straightConnector1">
            <a:avLst/>
          </a:prstGeom>
          <a:noFill/>
          <a:ln w="9525" cap="flat" cmpd="sng">
            <a:solidFill>
              <a:schemeClr val="dk1"/>
            </a:solidFill>
            <a:prstDash val="solid"/>
            <a:round/>
            <a:headEnd type="none" w="med" len="med"/>
            <a:tailEnd type="stealth" w="med" len="med"/>
          </a:ln>
        </p:spPr>
      </p:cxnSp>
      <p:sp>
        <p:nvSpPr>
          <p:cNvPr id="226" name="Google Shape;226;p25"/>
          <p:cNvSpPr txBox="1"/>
          <p:nvPr/>
        </p:nvSpPr>
        <p:spPr>
          <a:xfrm>
            <a:off x="685800" y="3442060"/>
            <a:ext cx="18288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Transfers </a:t>
            </a:r>
            <a:endParaRPr/>
          </a:p>
          <a:p>
            <a:pPr marL="0" marR="0" lvl="0" indent="0" algn="l" rtl="0">
              <a:spcBef>
                <a:spcPts val="0"/>
              </a:spcBef>
              <a:spcAft>
                <a:spcPts val="0"/>
              </a:spcAft>
              <a:buNone/>
            </a:pPr>
            <a:r>
              <a:rPr lang="en-GB" sz="1600">
                <a:solidFill>
                  <a:schemeClr val="dk1"/>
                </a:solidFill>
                <a:latin typeface="Arial"/>
                <a:ea typeface="Arial"/>
                <a:cs typeface="Arial"/>
                <a:sym typeface="Arial"/>
              </a:rPr>
              <a:t>£3.3m to </a:t>
            </a:r>
            <a:endParaRPr/>
          </a:p>
          <a:p>
            <a:pPr marL="0" marR="0" lvl="0" indent="0" algn="l" rtl="0">
              <a:spcBef>
                <a:spcPts val="0"/>
              </a:spcBef>
              <a:spcAft>
                <a:spcPts val="0"/>
              </a:spcAft>
              <a:buNone/>
            </a:pPr>
            <a:r>
              <a:rPr lang="en-GB" sz="1600">
                <a:solidFill>
                  <a:schemeClr val="dk1"/>
                </a:solidFill>
                <a:latin typeface="Arial"/>
                <a:ea typeface="Arial"/>
                <a:cs typeface="Arial"/>
                <a:sym typeface="Arial"/>
              </a:rPr>
              <a:t>hold on trust</a:t>
            </a:r>
            <a:endParaRPr/>
          </a:p>
        </p:txBody>
      </p:sp>
      <p:cxnSp>
        <p:nvCxnSpPr>
          <p:cNvPr id="227" name="Google Shape;227;p25"/>
          <p:cNvCxnSpPr/>
          <p:nvPr/>
        </p:nvCxnSpPr>
        <p:spPr>
          <a:xfrm rot="10800000" flipH="1">
            <a:off x="2514600" y="4122553"/>
            <a:ext cx="1769400" cy="1008000"/>
          </a:xfrm>
          <a:prstGeom prst="bentConnector3">
            <a:avLst>
              <a:gd name="adj1" fmla="val 49999"/>
            </a:avLst>
          </a:prstGeom>
          <a:noFill/>
          <a:ln w="9525" cap="flat" cmpd="sng">
            <a:solidFill>
              <a:schemeClr val="dk1"/>
            </a:solidFill>
            <a:prstDash val="solid"/>
            <a:round/>
            <a:headEnd type="none" w="med" len="med"/>
            <a:tailEnd type="none" w="med" len="med"/>
          </a:ln>
        </p:spPr>
      </p:cxnSp>
      <p:sp>
        <p:nvSpPr>
          <p:cNvPr id="228" name="Google Shape;228;p25"/>
          <p:cNvSpPr/>
          <p:nvPr/>
        </p:nvSpPr>
        <p:spPr>
          <a:xfrm>
            <a:off x="6934200" y="3695700"/>
            <a:ext cx="1066800" cy="838200"/>
          </a:xfrm>
          <a:prstGeom prst="rect">
            <a:avLst/>
          </a:prstGeom>
          <a:solidFill>
            <a:srgbClr val="606060"/>
          </a:solidFill>
          <a:ln w="9525" cap="flat" cmpd="sng">
            <a:solidFill>
              <a:srgbClr val="2F2F98"/>
            </a:solidFill>
            <a:prstDash val="solid"/>
            <a:miter lim="800000"/>
            <a:headEnd type="none" w="sm" len="sm"/>
            <a:tailEnd type="none" w="sm" len="sm"/>
          </a:ln>
          <a:effectLst>
            <a:outerShdw blurRad="40000" dist="20000" dir="5400000" rotWithShape="0">
              <a:srgbClr val="808080">
                <a:alpha val="37647"/>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r>
              <a:rPr lang="en-GB" sz="1800">
                <a:solidFill>
                  <a:srgbClr val="FFFFFF"/>
                </a:solidFill>
                <a:latin typeface="Arial"/>
                <a:ea typeface="Arial"/>
                <a:cs typeface="Arial"/>
                <a:sym typeface="Arial"/>
              </a:rPr>
              <a:t>Barclays Bank</a:t>
            </a:r>
            <a:endParaRPr/>
          </a:p>
        </p:txBody>
      </p:sp>
      <p:cxnSp>
        <p:nvCxnSpPr>
          <p:cNvPr id="229" name="Google Shape;229;p25"/>
          <p:cNvCxnSpPr>
            <a:stCxn id="228" idx="1"/>
            <a:endCxn id="222" idx="3"/>
          </p:cNvCxnSpPr>
          <p:nvPr/>
        </p:nvCxnSpPr>
        <p:spPr>
          <a:xfrm rot="10800000">
            <a:off x="6400800" y="4078500"/>
            <a:ext cx="533400" cy="36300"/>
          </a:xfrm>
          <a:prstGeom prst="straightConnector1">
            <a:avLst/>
          </a:prstGeom>
          <a:noFill/>
          <a:ln w="9525" cap="flat" cmpd="sng">
            <a:solidFill>
              <a:schemeClr val="dk1"/>
            </a:solidFill>
            <a:prstDash val="solid"/>
            <a:round/>
            <a:headEnd type="none" w="med" len="med"/>
            <a:tailEnd type="none" w="sm" len="sm"/>
          </a:ln>
        </p:spPr>
      </p:cxnSp>
      <p:sp>
        <p:nvSpPr>
          <p:cNvPr id="230" name="Google Shape;230;p25"/>
          <p:cNvSpPr txBox="1"/>
          <p:nvPr/>
        </p:nvSpPr>
        <p:spPr>
          <a:xfrm>
            <a:off x="6895275" y="4590160"/>
            <a:ext cx="10668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Pre-existing first charge (£1.5m)</a:t>
            </a:r>
            <a:endParaRPr/>
          </a:p>
        </p:txBody>
      </p:sp>
      <p:sp>
        <p:nvSpPr>
          <p:cNvPr id="231" name="Google Shape;231;p25"/>
          <p:cNvSpPr txBox="1"/>
          <p:nvPr/>
        </p:nvSpPr>
        <p:spPr>
          <a:xfrm>
            <a:off x="5524500" y="2973714"/>
            <a:ext cx="22860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dk1"/>
                </a:solidFill>
                <a:latin typeface="Arial"/>
                <a:ea typeface="Arial"/>
                <a:cs typeface="Arial"/>
                <a:sym typeface="Arial"/>
              </a:rPr>
              <a:t>Want to remortgage</a:t>
            </a:r>
            <a:endParaRPr/>
          </a:p>
        </p:txBody>
      </p:sp>
      <p:cxnSp>
        <p:nvCxnSpPr>
          <p:cNvPr id="2" name="Google Shape;224;p25">
            <a:extLst>
              <a:ext uri="{FF2B5EF4-FFF2-40B4-BE49-F238E27FC236}">
                <a16:creationId xmlns:a16="http://schemas.microsoft.com/office/drawing/2014/main" id="{CF7710AE-3B90-4CE9-60C4-D32760567B3B}"/>
              </a:ext>
            </a:extLst>
          </p:cNvPr>
          <p:cNvCxnSpPr>
            <a:cxnSpLocks/>
          </p:cNvCxnSpPr>
          <p:nvPr/>
        </p:nvCxnSpPr>
        <p:spPr>
          <a:xfrm>
            <a:off x="3189767" y="2867618"/>
            <a:ext cx="1687033" cy="0"/>
          </a:xfrm>
          <a:prstGeom prst="straightConnector1">
            <a:avLst/>
          </a:prstGeom>
          <a:noFill/>
          <a:ln w="9525" cap="flat" cmpd="sng">
            <a:solidFill>
              <a:schemeClr val="dk1"/>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2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15"/>
                                        </p:tgtEl>
                                        <p:attrNameLst>
                                          <p:attrName>style.visibility</p:attrName>
                                        </p:attrNameLst>
                                      </p:cBhvr>
                                      <p:to>
                                        <p:strVal val="visible"/>
                                      </p:to>
                                    </p:set>
                                    <p:animEffect transition="in" filter="fade">
                                      <p:cBhvr>
                                        <p:cTn id="53" dur="20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dirty="0">
                <a:latin typeface="Arial"/>
                <a:ea typeface="Arial"/>
                <a:cs typeface="Arial"/>
                <a:sym typeface="Arial"/>
              </a:rPr>
              <a:t>Changes after </a:t>
            </a:r>
            <a:r>
              <a:rPr lang="en-GB" i="1" dirty="0">
                <a:latin typeface="Arial"/>
                <a:ea typeface="Arial"/>
                <a:cs typeface="Arial"/>
                <a:sym typeface="Arial"/>
              </a:rPr>
              <a:t>    </a:t>
            </a:r>
            <a:r>
              <a:rPr lang="en-GB" dirty="0">
                <a:latin typeface="Arial"/>
                <a:ea typeface="Arial"/>
                <a:cs typeface="Arial"/>
                <a:sym typeface="Arial"/>
              </a:rPr>
              <a:t>: </a:t>
            </a:r>
            <a:endParaRPr dirty="0"/>
          </a:p>
        </p:txBody>
      </p:sp>
      <p:sp>
        <p:nvSpPr>
          <p:cNvPr id="237" name="Google Shape;237;p26"/>
          <p:cNvSpPr txBox="1"/>
          <p:nvPr/>
        </p:nvSpPr>
        <p:spPr>
          <a:xfrm>
            <a:off x="685800" y="1413386"/>
            <a:ext cx="7270576" cy="47089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dirty="0">
              <a:solidFill>
                <a:srgbClr val="000000"/>
              </a:solidFill>
              <a:latin typeface="Calibri"/>
              <a:ea typeface="Calibri"/>
              <a:cs typeface="Calibri"/>
              <a:sym typeface="Calibri"/>
            </a:endParaRPr>
          </a:p>
          <a:p>
            <a:pPr marL="0" marR="0" lvl="0" indent="0" algn="l" rtl="0">
              <a:spcBef>
                <a:spcPts val="400"/>
              </a:spcBef>
              <a:spcAft>
                <a:spcPts val="0"/>
              </a:spcAft>
              <a:buNone/>
            </a:pPr>
            <a:r>
              <a:rPr lang="en-GB" sz="2000" i="1" u="sng" dirty="0">
                <a:solidFill>
                  <a:schemeClr val="dk1"/>
                </a:solidFill>
                <a:latin typeface="Arial"/>
                <a:ea typeface="Arial"/>
                <a:cs typeface="Arial"/>
                <a:sym typeface="Arial"/>
              </a:rPr>
              <a:t>AIB</a:t>
            </a:r>
            <a:r>
              <a:rPr lang="en-GB" sz="2000" i="1" dirty="0">
                <a:solidFill>
                  <a:schemeClr val="dk1"/>
                </a:solidFill>
                <a:latin typeface="Arial"/>
                <a:ea typeface="Arial"/>
                <a:cs typeface="Arial"/>
                <a:sym typeface="Arial"/>
              </a:rPr>
              <a:t> </a:t>
            </a:r>
            <a:r>
              <a:rPr lang="en-GB" sz="2000" dirty="0">
                <a:solidFill>
                  <a:schemeClr val="dk1"/>
                </a:solidFill>
                <a:latin typeface="Arial"/>
                <a:ea typeface="Arial"/>
                <a:cs typeface="Arial"/>
                <a:sym typeface="Arial"/>
              </a:rPr>
              <a:t>confirmed the changes in the law relating to substitutive compensation established by </a:t>
            </a:r>
            <a:r>
              <a:rPr lang="en-GB" sz="2000" i="1" u="sng" dirty="0">
                <a:solidFill>
                  <a:schemeClr val="dk1"/>
                </a:solidFill>
                <a:latin typeface="Arial"/>
                <a:ea typeface="Arial"/>
                <a:cs typeface="Arial"/>
                <a:sym typeface="Arial"/>
              </a:rPr>
              <a:t>Target</a:t>
            </a:r>
            <a:r>
              <a:rPr lang="en-GB" sz="2000" dirty="0">
                <a:solidFill>
                  <a:schemeClr val="dk1"/>
                </a:solidFill>
                <a:latin typeface="Arial"/>
                <a:ea typeface="Arial"/>
                <a:cs typeface="Arial"/>
                <a:sym typeface="Arial"/>
              </a:rPr>
              <a:t> and clarified that: </a:t>
            </a:r>
            <a:endParaRPr dirty="0"/>
          </a:p>
          <a:p>
            <a:pPr marL="342900" marR="0" lvl="0" indent="-342900" algn="l" rtl="0">
              <a:spcBef>
                <a:spcPts val="400"/>
              </a:spcBef>
              <a:spcAft>
                <a:spcPts val="0"/>
              </a:spcAft>
              <a:buClr>
                <a:srgbClr val="663366"/>
              </a:buClr>
              <a:buSzPts val="2000"/>
              <a:buFont typeface="Arial"/>
              <a:buAutoNum type="arabicParenR"/>
            </a:pPr>
            <a:r>
              <a:rPr lang="en-GB" sz="2000" dirty="0">
                <a:solidFill>
                  <a:schemeClr val="dk1"/>
                </a:solidFill>
                <a:latin typeface="Arial"/>
                <a:ea typeface="Arial"/>
                <a:cs typeface="Arial"/>
                <a:sym typeface="Arial"/>
              </a:rPr>
              <a:t>Bare trusts in a commercial arrangements are treated differently, even when after their conclusion it transpires that the beneficiary has not received what they were due. </a:t>
            </a:r>
            <a:endParaRPr dirty="0"/>
          </a:p>
          <a:p>
            <a:pPr marL="342900" marR="0" lvl="0" indent="-342900" algn="l" rtl="0">
              <a:spcBef>
                <a:spcPts val="400"/>
              </a:spcBef>
              <a:spcAft>
                <a:spcPts val="0"/>
              </a:spcAft>
              <a:buClr>
                <a:srgbClr val="663366"/>
              </a:buClr>
              <a:buSzPts val="2000"/>
              <a:buFont typeface="Arial"/>
              <a:buAutoNum type="arabicParenR"/>
            </a:pPr>
            <a:r>
              <a:rPr lang="en-GB" sz="2000" dirty="0">
                <a:solidFill>
                  <a:schemeClr val="dk1"/>
                </a:solidFill>
                <a:latin typeface="Arial"/>
                <a:ea typeface="Arial"/>
                <a:cs typeface="Arial"/>
                <a:sym typeface="Arial"/>
              </a:rPr>
              <a:t>The ‘but for’ test established by </a:t>
            </a:r>
            <a:r>
              <a:rPr lang="en-GB" sz="2000" i="1" u="sng" dirty="0">
                <a:solidFill>
                  <a:schemeClr val="dk1"/>
                </a:solidFill>
                <a:latin typeface="Arial"/>
                <a:ea typeface="Arial"/>
                <a:cs typeface="Arial"/>
                <a:sym typeface="Arial"/>
              </a:rPr>
              <a:t>Target </a:t>
            </a:r>
            <a:r>
              <a:rPr lang="en-GB" sz="2000" dirty="0">
                <a:solidFill>
                  <a:schemeClr val="dk1"/>
                </a:solidFill>
                <a:latin typeface="Arial"/>
                <a:ea typeface="Arial"/>
                <a:cs typeface="Arial"/>
                <a:sym typeface="Arial"/>
              </a:rPr>
              <a:t>should be supplemented with a substantive sense of causation (i.e., was there a </a:t>
            </a:r>
            <a:r>
              <a:rPr lang="en-GB" sz="2000" i="1" dirty="0">
                <a:solidFill>
                  <a:schemeClr val="dk1"/>
                </a:solidFill>
                <a:latin typeface="Arial"/>
                <a:ea typeface="Arial"/>
                <a:cs typeface="Arial"/>
                <a:sym typeface="Arial"/>
              </a:rPr>
              <a:t>novus actus interveniens</a:t>
            </a:r>
            <a:r>
              <a:rPr lang="en-GB" sz="2000" dirty="0">
                <a:solidFill>
                  <a:schemeClr val="dk1"/>
                </a:solidFill>
                <a:latin typeface="Arial"/>
                <a:ea typeface="Arial"/>
                <a:cs typeface="Arial"/>
                <a:sym typeface="Arial"/>
              </a:rPr>
              <a:t>?)</a:t>
            </a:r>
          </a:p>
          <a:p>
            <a:pPr marL="342900" marR="0" lvl="0" indent="-342900" algn="l" rtl="0">
              <a:spcBef>
                <a:spcPts val="400"/>
              </a:spcBef>
              <a:spcAft>
                <a:spcPts val="0"/>
              </a:spcAft>
              <a:buClr>
                <a:srgbClr val="663366"/>
              </a:buClr>
              <a:buSzPts val="2000"/>
              <a:buFont typeface="Arial"/>
              <a:buAutoNum type="arabicParenR"/>
            </a:pPr>
            <a:r>
              <a:rPr lang="en-GB" sz="2000" dirty="0">
                <a:solidFill>
                  <a:schemeClr val="dk1"/>
                </a:solidFill>
                <a:latin typeface="Arial"/>
                <a:ea typeface="Arial"/>
                <a:cs typeface="Arial"/>
                <a:sym typeface="Arial"/>
              </a:rPr>
              <a:t>The dishonesty of the trustee in concealing the breach is not relevant for the purposes of establishing liability.</a:t>
            </a:r>
            <a:endParaRPr lang="en-GB" dirty="0"/>
          </a:p>
          <a:p>
            <a:pPr marL="342900" marR="0" lvl="0" indent="-342900" algn="l" rtl="0">
              <a:spcBef>
                <a:spcPts val="400"/>
              </a:spcBef>
              <a:spcAft>
                <a:spcPts val="0"/>
              </a:spcAft>
              <a:buClr>
                <a:srgbClr val="663366"/>
              </a:buClr>
              <a:buSzPts val="2000"/>
              <a:buFont typeface="Arial"/>
              <a:buAutoNum type="arabicParenR"/>
            </a:pPr>
            <a:r>
              <a:rPr lang="en-GB" sz="2000" dirty="0">
                <a:solidFill>
                  <a:schemeClr val="dk1"/>
                </a:solidFill>
              </a:rPr>
              <a:t>Commercial trustees are not required to effectively insure the beneficiary against market risk.</a:t>
            </a:r>
            <a:endParaRPr lang="en-GB" sz="2000" dirty="0"/>
          </a:p>
          <a:p>
            <a:pPr marL="457200" marR="0" lvl="0" indent="-330200" algn="l" rtl="0">
              <a:spcBef>
                <a:spcPts val="400"/>
              </a:spcBef>
              <a:spcAft>
                <a:spcPts val="0"/>
              </a:spcAft>
              <a:buClr>
                <a:srgbClr val="663366"/>
              </a:buClr>
              <a:buSzPts val="2000"/>
              <a:buFont typeface="Times"/>
              <a:buNone/>
            </a:pPr>
            <a:endParaRPr sz="2000" dirty="0">
              <a:solidFill>
                <a:schemeClr val="dk1"/>
              </a:solidFill>
              <a:latin typeface="Arial"/>
              <a:ea typeface="Arial"/>
              <a:cs typeface="Arial"/>
              <a:sym typeface="Arial"/>
            </a:endParaRPr>
          </a:p>
        </p:txBody>
      </p:sp>
      <p:pic>
        <p:nvPicPr>
          <p:cNvPr id="238" name="Google Shape;238;p26"/>
          <p:cNvPicPr preferRelativeResize="0"/>
          <p:nvPr/>
        </p:nvPicPr>
        <p:blipFill rotWithShape="1">
          <a:blip r:embed="rId3">
            <a:alphaModFix/>
          </a:blip>
          <a:srcRect/>
          <a:stretch/>
        </p:blipFill>
        <p:spPr>
          <a:xfrm>
            <a:off x="4405683" y="956929"/>
            <a:ext cx="623518" cy="5850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7"/>
          <p:cNvSpPr/>
          <p:nvPr/>
        </p:nvSpPr>
        <p:spPr>
          <a:xfrm>
            <a:off x="2670570" y="2130504"/>
            <a:ext cx="792088" cy="766225"/>
          </a:xfrm>
          <a:prstGeom prst="ellipse">
            <a:avLst/>
          </a:prstGeom>
          <a:solidFill>
            <a:schemeClr val="lt1"/>
          </a:solidFill>
          <a:ln w="28575"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44" name="Google Shape;244;p27"/>
          <p:cNvSpPr txBox="1">
            <a:spLocks noGrp="1"/>
          </p:cNvSpPr>
          <p:nvPr>
            <p:ph type="title"/>
          </p:nvPr>
        </p:nvSpPr>
        <p:spPr>
          <a:xfrm>
            <a:off x="685800" y="609600"/>
            <a:ext cx="7772400" cy="990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Reparative compensation (I)</a:t>
            </a:r>
            <a:endParaRPr/>
          </a:p>
        </p:txBody>
      </p:sp>
      <p:sp>
        <p:nvSpPr>
          <p:cNvPr id="245" name="Google Shape;245;p27"/>
          <p:cNvSpPr txBox="1"/>
          <p:nvPr/>
        </p:nvSpPr>
        <p:spPr>
          <a:xfrm>
            <a:off x="2003287" y="2255395"/>
            <a:ext cx="21314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accent4"/>
                </a:solidFill>
                <a:latin typeface="Calibri"/>
                <a:ea typeface="Calibri"/>
                <a:cs typeface="Calibri"/>
                <a:sym typeface="Calibri"/>
              </a:rPr>
              <a:t>T</a:t>
            </a:r>
            <a:r>
              <a:rPr lang="en-GB" sz="1100">
                <a:solidFill>
                  <a:schemeClr val="accent4"/>
                </a:solidFill>
                <a:latin typeface="Calibri"/>
                <a:ea typeface="Calibri"/>
                <a:cs typeface="Calibri"/>
                <a:sym typeface="Calibri"/>
              </a:rPr>
              <a:t>rustee</a:t>
            </a:r>
            <a:endParaRPr/>
          </a:p>
        </p:txBody>
      </p:sp>
      <p:sp>
        <p:nvSpPr>
          <p:cNvPr id="246" name="Google Shape;246;p27"/>
          <p:cNvSpPr/>
          <p:nvPr/>
        </p:nvSpPr>
        <p:spPr>
          <a:xfrm rot="10800000">
            <a:off x="1809026" y="2440134"/>
            <a:ext cx="587300" cy="2963388"/>
          </a:xfrm>
          <a:prstGeom prst="rightBrace">
            <a:avLst>
              <a:gd name="adj1" fmla="val 8333"/>
              <a:gd name="adj2" fmla="val 50000"/>
            </a:avLst>
          </a:prstGeom>
          <a:solidFill>
            <a:schemeClr val="lt1"/>
          </a:solidFill>
          <a:ln w="1905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a:solidFill>
                <a:schemeClr val="dk1"/>
              </a:solidFill>
              <a:latin typeface="Times"/>
              <a:ea typeface="Times"/>
              <a:cs typeface="Times"/>
              <a:sym typeface="Times"/>
            </a:endParaRPr>
          </a:p>
        </p:txBody>
      </p:sp>
      <p:sp>
        <p:nvSpPr>
          <p:cNvPr id="247" name="Google Shape;247;p27"/>
          <p:cNvSpPr txBox="1"/>
          <p:nvPr/>
        </p:nvSpPr>
        <p:spPr>
          <a:xfrm>
            <a:off x="685800" y="3709362"/>
            <a:ext cx="8834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dirty="0">
                <a:solidFill>
                  <a:schemeClr val="dk1"/>
                </a:solidFill>
                <a:latin typeface="Calibri"/>
                <a:ea typeface="Calibri"/>
                <a:cs typeface="Calibri"/>
                <a:sym typeface="Calibri"/>
              </a:rPr>
              <a:t>Trust</a:t>
            </a:r>
            <a:endParaRPr dirty="0"/>
          </a:p>
        </p:txBody>
      </p:sp>
      <p:sp>
        <p:nvSpPr>
          <p:cNvPr id="248" name="Google Shape;248;p27"/>
          <p:cNvSpPr txBox="1"/>
          <p:nvPr/>
        </p:nvSpPr>
        <p:spPr>
          <a:xfrm>
            <a:off x="2102676" y="5137255"/>
            <a:ext cx="21314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accent4"/>
                </a:solidFill>
                <a:latin typeface="Calibri"/>
                <a:ea typeface="Calibri"/>
                <a:cs typeface="Calibri"/>
                <a:sym typeface="Calibri"/>
              </a:rPr>
              <a:t>B</a:t>
            </a:r>
            <a:r>
              <a:rPr lang="en-GB" sz="1100">
                <a:solidFill>
                  <a:schemeClr val="accent4"/>
                </a:solidFill>
                <a:latin typeface="Calibri"/>
                <a:ea typeface="Calibri"/>
                <a:cs typeface="Calibri"/>
                <a:sym typeface="Calibri"/>
              </a:rPr>
              <a:t>eneficiary</a:t>
            </a:r>
            <a:endParaRPr/>
          </a:p>
        </p:txBody>
      </p:sp>
      <p:sp>
        <p:nvSpPr>
          <p:cNvPr id="249" name="Google Shape;249;p27"/>
          <p:cNvSpPr txBox="1"/>
          <p:nvPr/>
        </p:nvSpPr>
        <p:spPr>
          <a:xfrm>
            <a:off x="2030866" y="3697742"/>
            <a:ext cx="21314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accent4"/>
                </a:solidFill>
                <a:latin typeface="Calibri"/>
                <a:ea typeface="Calibri"/>
                <a:cs typeface="Calibri"/>
                <a:sym typeface="Calibri"/>
              </a:rPr>
              <a:t>P</a:t>
            </a:r>
            <a:r>
              <a:rPr lang="en-GB" sz="1100">
                <a:solidFill>
                  <a:schemeClr val="accent4"/>
                </a:solidFill>
                <a:latin typeface="Calibri"/>
                <a:ea typeface="Calibri"/>
                <a:cs typeface="Calibri"/>
                <a:sym typeface="Calibri"/>
              </a:rPr>
              <a:t>roperty</a:t>
            </a:r>
            <a:endParaRPr/>
          </a:p>
        </p:txBody>
      </p:sp>
      <p:sp>
        <p:nvSpPr>
          <p:cNvPr id="250" name="Google Shape;250;p27"/>
          <p:cNvSpPr txBox="1"/>
          <p:nvPr/>
        </p:nvSpPr>
        <p:spPr>
          <a:xfrm>
            <a:off x="3094940" y="2954300"/>
            <a:ext cx="235526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b="1">
                <a:solidFill>
                  <a:srgbClr val="00B050"/>
                </a:solidFill>
                <a:latin typeface="Calibri"/>
                <a:ea typeface="Calibri"/>
                <a:cs typeface="Calibri"/>
                <a:sym typeface="Calibri"/>
              </a:rPr>
              <a:t>Must make up the loss out of their own pocket</a:t>
            </a:r>
            <a:endParaRPr/>
          </a:p>
        </p:txBody>
      </p:sp>
      <p:cxnSp>
        <p:nvCxnSpPr>
          <p:cNvPr id="251" name="Google Shape;251;p27"/>
          <p:cNvCxnSpPr/>
          <p:nvPr/>
        </p:nvCxnSpPr>
        <p:spPr>
          <a:xfrm>
            <a:off x="3066614" y="3040169"/>
            <a:ext cx="0" cy="657573"/>
          </a:xfrm>
          <a:prstGeom prst="straightConnector1">
            <a:avLst/>
          </a:prstGeom>
          <a:solidFill>
            <a:schemeClr val="accent1"/>
          </a:solidFill>
          <a:ln w="28575" cap="flat" cmpd="sng">
            <a:solidFill>
              <a:srgbClr val="00B050"/>
            </a:solidFill>
            <a:prstDash val="solid"/>
            <a:round/>
            <a:headEnd type="none" w="sm" len="sm"/>
            <a:tailEnd type="stealth" w="med" len="med"/>
          </a:ln>
        </p:spPr>
      </p:cxnSp>
      <p:sp>
        <p:nvSpPr>
          <p:cNvPr id="252" name="Google Shape;252;p27"/>
          <p:cNvSpPr txBox="1"/>
          <p:nvPr/>
        </p:nvSpPr>
        <p:spPr>
          <a:xfrm>
            <a:off x="4757869" y="4437112"/>
            <a:ext cx="3558547" cy="954107"/>
          </a:xfrm>
          <a:prstGeom prst="rect">
            <a:avLst/>
          </a:prstGeom>
          <a:solidFill>
            <a:srgbClr val="FFC000"/>
          </a:solidFill>
          <a:ln w="28575" cap="flat" cmpd="sng">
            <a:solidFill>
              <a:srgbClr val="FFC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400" b="1">
              <a:solidFill>
                <a:schemeClr val="accent6"/>
              </a:solidFill>
              <a:latin typeface="Calibri"/>
              <a:ea typeface="Calibri"/>
              <a:cs typeface="Calibri"/>
              <a:sym typeface="Calibri"/>
            </a:endParaRPr>
          </a:p>
          <a:p>
            <a:pPr marL="0" marR="0" lvl="0" indent="0" algn="ctr" rtl="0">
              <a:spcBef>
                <a:spcPts val="0"/>
              </a:spcBef>
              <a:spcAft>
                <a:spcPts val="0"/>
              </a:spcAft>
              <a:buNone/>
            </a:pPr>
            <a:r>
              <a:rPr lang="en-GB" sz="1400" b="1">
                <a:solidFill>
                  <a:schemeClr val="accent6"/>
                </a:solidFill>
                <a:latin typeface="Calibri"/>
                <a:ea typeface="Calibri"/>
                <a:cs typeface="Calibri"/>
                <a:sym typeface="Calibri"/>
              </a:rPr>
              <a:t>***Relevant point in time for assessing the amount of compensation: Point of trial***</a:t>
            </a:r>
            <a:endParaRPr/>
          </a:p>
          <a:p>
            <a:pPr marL="0" marR="0" lvl="0" indent="0" algn="ctr" rtl="0">
              <a:spcBef>
                <a:spcPts val="0"/>
              </a:spcBef>
              <a:spcAft>
                <a:spcPts val="0"/>
              </a:spcAft>
              <a:buNone/>
            </a:pPr>
            <a:endParaRPr sz="1400" b="1">
              <a:solidFill>
                <a:schemeClr val="accent6"/>
              </a:solidFill>
              <a:latin typeface="Calibri"/>
              <a:ea typeface="Calibri"/>
              <a:cs typeface="Calibri"/>
              <a:sym typeface="Calibri"/>
            </a:endParaRPr>
          </a:p>
        </p:txBody>
      </p:sp>
      <p:sp>
        <p:nvSpPr>
          <p:cNvPr id="253" name="Google Shape;253;p27"/>
          <p:cNvSpPr txBox="1"/>
          <p:nvPr/>
        </p:nvSpPr>
        <p:spPr>
          <a:xfrm>
            <a:off x="3224774" y="1903493"/>
            <a:ext cx="2808312"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rgbClr val="FF0000"/>
                </a:solidFill>
                <a:latin typeface="Calibri"/>
                <a:ea typeface="Calibri"/>
                <a:cs typeface="Calibri"/>
                <a:sym typeface="Calibri"/>
              </a:rPr>
              <a:t>Does not apply required care</a:t>
            </a:r>
            <a:endParaRPr/>
          </a:p>
        </p:txBody>
      </p:sp>
      <p:sp>
        <p:nvSpPr>
          <p:cNvPr id="254" name="Google Shape;254;p27"/>
          <p:cNvSpPr txBox="1"/>
          <p:nvPr/>
        </p:nvSpPr>
        <p:spPr>
          <a:xfrm>
            <a:off x="3063609" y="2177997"/>
            <a:ext cx="2355265"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rgbClr val="FF0000"/>
                </a:solidFill>
                <a:latin typeface="Calibri"/>
                <a:ea typeface="Calibri"/>
                <a:cs typeface="Calibri"/>
                <a:sym typeface="Calibri"/>
              </a:rPr>
              <a:t>= loss to trust fund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3"/>
                                        </p:tgtEl>
                                        <p:attrNameLst>
                                          <p:attrName>style.visibility</p:attrName>
                                        </p:attrNameLst>
                                      </p:cBhvr>
                                      <p:to>
                                        <p:strVal val="visible"/>
                                      </p:to>
                                    </p:set>
                                    <p:animEffect transition="in" filter="fade">
                                      <p:cBhvr>
                                        <p:cTn id="27" dur="2000"/>
                                        <p:tgtEl>
                                          <p:spTgt spid="243"/>
                                        </p:tgtEl>
                                      </p:cBhvr>
                                    </p:animEffect>
                                  </p:childTnLst>
                                </p:cTn>
                              </p:par>
                              <p:par>
                                <p:cTn id="28" presetID="1" presetClass="entr" presetSubtype="0" fill="hold" nodeType="withEffect">
                                  <p:stCondLst>
                                    <p:cond delay="0"/>
                                  </p:stCondLst>
                                  <p:childTnLst>
                                    <p:set>
                                      <p:cBhvr>
                                        <p:cTn id="29" dur="1" fill="hold">
                                          <p:stCondLst>
                                            <p:cond delay="0"/>
                                          </p:stCondLst>
                                        </p:cTn>
                                        <p:tgtEl>
                                          <p:spTgt spid="250"/>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5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Reparative compensation (II)</a:t>
            </a:r>
            <a:endParaRPr/>
          </a:p>
        </p:txBody>
      </p:sp>
      <p:sp>
        <p:nvSpPr>
          <p:cNvPr id="260" name="Google Shape;260;p28"/>
          <p:cNvSpPr txBox="1"/>
          <p:nvPr/>
        </p:nvSpPr>
        <p:spPr>
          <a:xfrm>
            <a:off x="685800" y="1413386"/>
            <a:ext cx="7270500" cy="4299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dirty="0">
              <a:solidFill>
                <a:srgbClr val="000000"/>
              </a:solidFill>
              <a:latin typeface="Calibri"/>
              <a:ea typeface="Calibri"/>
              <a:cs typeface="Calibri"/>
              <a:sym typeface="Calibri"/>
            </a:endParaRPr>
          </a:p>
          <a:p>
            <a:pPr marL="0" marR="0" lvl="0" indent="0" algn="l" rtl="0">
              <a:spcBef>
                <a:spcPts val="400"/>
              </a:spcBef>
              <a:spcAft>
                <a:spcPts val="0"/>
              </a:spcAft>
              <a:buNone/>
            </a:pPr>
            <a:r>
              <a:rPr lang="en-GB" sz="2000" dirty="0">
                <a:solidFill>
                  <a:schemeClr val="dk1"/>
                </a:solidFill>
                <a:latin typeface="Arial"/>
                <a:ea typeface="Arial"/>
                <a:cs typeface="Arial"/>
                <a:sym typeface="Arial"/>
              </a:rPr>
              <a:t>Three things to remember about </a:t>
            </a:r>
            <a:endParaRPr dirty="0"/>
          </a:p>
          <a:p>
            <a:pPr marL="0" marR="0" lvl="0" indent="0" algn="l" rtl="0">
              <a:spcBef>
                <a:spcPts val="400"/>
              </a:spcBef>
              <a:spcAft>
                <a:spcPts val="0"/>
              </a:spcAft>
              <a:buNone/>
            </a:pPr>
            <a:r>
              <a:rPr lang="en-GB" sz="2000" dirty="0">
                <a:solidFill>
                  <a:schemeClr val="dk1"/>
                </a:solidFill>
                <a:latin typeface="Arial"/>
                <a:ea typeface="Arial"/>
                <a:cs typeface="Arial"/>
                <a:sym typeface="Arial"/>
              </a:rPr>
              <a:t>reparative compensation:</a:t>
            </a:r>
            <a:endParaRPr dirty="0"/>
          </a:p>
          <a:p>
            <a:pPr marL="342900" marR="0" lvl="0" indent="-342900" algn="l" rtl="0">
              <a:spcBef>
                <a:spcPts val="400"/>
              </a:spcBef>
              <a:spcAft>
                <a:spcPts val="0"/>
              </a:spcAft>
              <a:buClr>
                <a:srgbClr val="663366"/>
              </a:buClr>
              <a:buSzPts val="2000"/>
              <a:buFont typeface="Arial"/>
              <a:buAutoNum type="arabicParenR"/>
            </a:pPr>
            <a:r>
              <a:rPr lang="en-GB" sz="2000" dirty="0">
                <a:solidFill>
                  <a:schemeClr val="dk1"/>
                </a:solidFill>
                <a:latin typeface="Arial"/>
                <a:ea typeface="Arial"/>
                <a:cs typeface="Arial"/>
                <a:sym typeface="Arial"/>
              </a:rPr>
              <a:t>The trustee must compensate </a:t>
            </a:r>
            <a:endParaRPr dirty="0"/>
          </a:p>
          <a:p>
            <a:pPr marL="0" marR="0" lvl="0" indent="0" algn="l" rtl="0">
              <a:spcBef>
                <a:spcPts val="400"/>
              </a:spcBef>
              <a:spcAft>
                <a:spcPts val="0"/>
              </a:spcAft>
              <a:buNone/>
            </a:pPr>
            <a:r>
              <a:rPr lang="en-GB" sz="2000" dirty="0">
                <a:solidFill>
                  <a:schemeClr val="dk1"/>
                </a:solidFill>
                <a:latin typeface="Arial"/>
                <a:ea typeface="Arial"/>
                <a:cs typeface="Arial"/>
                <a:sym typeface="Arial"/>
              </a:rPr>
              <a:t>the trust for the </a:t>
            </a:r>
            <a:r>
              <a:rPr lang="en-GB" sz="2000" b="1" dirty="0">
                <a:solidFill>
                  <a:schemeClr val="dk1"/>
                </a:solidFill>
                <a:latin typeface="Arial"/>
                <a:ea typeface="Arial"/>
                <a:cs typeface="Arial"/>
                <a:sym typeface="Arial"/>
              </a:rPr>
              <a:t>difference between the </a:t>
            </a:r>
            <a:endParaRPr dirty="0"/>
          </a:p>
          <a:p>
            <a:pPr marL="0" marR="0" lvl="0" indent="0" algn="l" rtl="0">
              <a:spcBef>
                <a:spcPts val="400"/>
              </a:spcBef>
              <a:spcAft>
                <a:spcPts val="0"/>
              </a:spcAft>
              <a:buNone/>
            </a:pPr>
            <a:r>
              <a:rPr lang="en-GB" sz="2000" b="1" dirty="0">
                <a:solidFill>
                  <a:schemeClr val="dk1"/>
                </a:solidFill>
                <a:latin typeface="Arial"/>
                <a:ea typeface="Arial"/>
                <a:cs typeface="Arial"/>
                <a:sym typeface="Arial"/>
              </a:rPr>
              <a:t>bad action and the action if it had been </a:t>
            </a:r>
            <a:endParaRPr dirty="0"/>
          </a:p>
          <a:p>
            <a:pPr marL="0" marR="0" lvl="0" indent="0" algn="l" rtl="0">
              <a:spcBef>
                <a:spcPts val="400"/>
              </a:spcBef>
              <a:spcAft>
                <a:spcPts val="0"/>
              </a:spcAft>
              <a:buNone/>
            </a:pPr>
            <a:r>
              <a:rPr lang="en-GB" sz="2000" b="1" dirty="0">
                <a:solidFill>
                  <a:schemeClr val="dk1"/>
                </a:solidFill>
                <a:latin typeface="Arial"/>
                <a:ea typeface="Arial"/>
                <a:cs typeface="Arial"/>
                <a:sym typeface="Arial"/>
              </a:rPr>
              <a:t>carried out in full compliance </a:t>
            </a:r>
            <a:r>
              <a:rPr lang="en-GB" sz="2000" dirty="0">
                <a:solidFill>
                  <a:schemeClr val="dk1"/>
                </a:solidFill>
                <a:latin typeface="Arial"/>
                <a:ea typeface="Arial"/>
                <a:cs typeface="Arial"/>
                <a:sym typeface="Arial"/>
              </a:rPr>
              <a:t>with the </a:t>
            </a:r>
            <a:endParaRPr dirty="0"/>
          </a:p>
          <a:p>
            <a:pPr marL="0" marR="0" lvl="0" indent="0" algn="l" rtl="0">
              <a:spcBef>
                <a:spcPts val="400"/>
              </a:spcBef>
              <a:spcAft>
                <a:spcPts val="0"/>
              </a:spcAft>
              <a:buNone/>
            </a:pPr>
            <a:r>
              <a:rPr lang="en-GB" sz="2000" dirty="0">
                <a:solidFill>
                  <a:schemeClr val="dk1"/>
                </a:solidFill>
                <a:latin typeface="Arial"/>
                <a:ea typeface="Arial"/>
                <a:cs typeface="Arial"/>
                <a:sym typeface="Arial"/>
              </a:rPr>
              <a:t>trustee’s duties.</a:t>
            </a:r>
            <a:endParaRPr dirty="0"/>
          </a:p>
          <a:p>
            <a:pPr marL="457200" indent="-457200">
              <a:spcBef>
                <a:spcPts val="400"/>
              </a:spcBef>
              <a:buClr>
                <a:srgbClr val="663366"/>
              </a:buClr>
              <a:buSzPts val="2000"/>
              <a:buFont typeface="Arial"/>
              <a:buAutoNum type="arabicParenR" startAt="2"/>
            </a:pPr>
            <a:r>
              <a:rPr lang="en-GB" sz="2000" dirty="0">
                <a:solidFill>
                  <a:schemeClr val="dk1"/>
                </a:solidFill>
              </a:rPr>
              <a:t>The </a:t>
            </a:r>
            <a:r>
              <a:rPr lang="en-GB" sz="2000" b="1" dirty="0">
                <a:solidFill>
                  <a:schemeClr val="dk1"/>
                </a:solidFill>
              </a:rPr>
              <a:t>relevant point </a:t>
            </a:r>
            <a:r>
              <a:rPr lang="en-GB" sz="2000" dirty="0">
                <a:solidFill>
                  <a:schemeClr val="dk1"/>
                </a:solidFill>
              </a:rPr>
              <a:t>in time by which the </a:t>
            </a:r>
            <a:endParaRPr sz="2000" dirty="0">
              <a:solidFill>
                <a:schemeClr val="dk1"/>
              </a:solidFill>
            </a:endParaRPr>
          </a:p>
          <a:p>
            <a:pPr marL="0" indent="0">
              <a:spcBef>
                <a:spcPts val="400"/>
              </a:spcBef>
              <a:buFont typeface="Arial"/>
              <a:buNone/>
            </a:pPr>
            <a:r>
              <a:rPr lang="en-GB" sz="2000" dirty="0">
                <a:solidFill>
                  <a:schemeClr val="dk1"/>
                </a:solidFill>
              </a:rPr>
              <a:t>loss is assessed is </a:t>
            </a:r>
            <a:r>
              <a:rPr lang="en-GB" sz="2000" b="1" dirty="0">
                <a:solidFill>
                  <a:schemeClr val="dk1"/>
                </a:solidFill>
              </a:rPr>
              <a:t>the time of the trial</a:t>
            </a:r>
            <a:r>
              <a:rPr lang="en-GB" sz="2000" dirty="0">
                <a:solidFill>
                  <a:schemeClr val="dk1"/>
                </a:solidFill>
              </a:rPr>
              <a:t>.</a:t>
            </a:r>
            <a:endParaRPr sz="2000" dirty="0">
              <a:solidFill>
                <a:schemeClr val="dk1"/>
              </a:solidFill>
            </a:endParaRPr>
          </a:p>
          <a:p>
            <a:pPr marL="0" indent="0">
              <a:spcBef>
                <a:spcPts val="400"/>
              </a:spcBef>
              <a:buClr>
                <a:srgbClr val="663366"/>
              </a:buClr>
              <a:buSzPts val="2000"/>
              <a:buFont typeface="Arial"/>
              <a:buAutoNum type="arabicParenR" startAt="3"/>
            </a:pPr>
            <a:r>
              <a:rPr lang="en-GB" sz="2000" dirty="0">
                <a:solidFill>
                  <a:schemeClr val="dk1"/>
                </a:solidFill>
              </a:rPr>
              <a:t>    Causation and remoteness have been found </a:t>
            </a:r>
            <a:r>
              <a:rPr lang="en-GB" sz="2000" b="1" dirty="0">
                <a:solidFill>
                  <a:schemeClr val="dk1"/>
                </a:solidFill>
              </a:rPr>
              <a:t>to be applicable</a:t>
            </a:r>
            <a:r>
              <a:rPr lang="en-GB" sz="2000" dirty="0">
                <a:solidFill>
                  <a:schemeClr val="dk1"/>
                </a:solidFill>
              </a:rPr>
              <a:t> in determining the loss. </a:t>
            </a:r>
            <a:endParaRPr sz="2000" dirty="0">
              <a:solidFill>
                <a:schemeClr val="dk1"/>
              </a:solidFill>
            </a:endParaRPr>
          </a:p>
        </p:txBody>
      </p:sp>
      <p:pic>
        <p:nvPicPr>
          <p:cNvPr id="261" name="Google Shape;261;p28" descr="Head resting on one hand, bust (Portrait of a woman [Madame Bartholomé?]) »  Norton Simon Museum"/>
          <p:cNvPicPr preferRelativeResize="0"/>
          <p:nvPr/>
        </p:nvPicPr>
        <p:blipFill rotWithShape="1">
          <a:blip r:embed="rId3">
            <a:alphaModFix/>
          </a:blip>
          <a:srcRect/>
          <a:stretch/>
        </p:blipFill>
        <p:spPr>
          <a:xfrm>
            <a:off x="5868144" y="1752600"/>
            <a:ext cx="2692400" cy="3009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9"/>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Apportionment of liability between trustees</a:t>
            </a:r>
            <a:endParaRPr>
              <a:latin typeface="Arial"/>
              <a:ea typeface="Arial"/>
              <a:cs typeface="Arial"/>
              <a:sym typeface="Arial"/>
            </a:endParaRPr>
          </a:p>
        </p:txBody>
      </p:sp>
      <p:sp>
        <p:nvSpPr>
          <p:cNvPr id="267" name="Google Shape;267;p29"/>
          <p:cNvSpPr txBox="1"/>
          <p:nvPr/>
        </p:nvSpPr>
        <p:spPr>
          <a:xfrm>
            <a:off x="609600" y="1981200"/>
            <a:ext cx="6626225" cy="2239963"/>
          </a:xfrm>
          <a:prstGeom prst="rect">
            <a:avLst/>
          </a:prstGeom>
          <a:noFill/>
          <a:ln>
            <a:noFill/>
          </a:ln>
        </p:spPr>
        <p:txBody>
          <a:bodyPr spcFirstLastPara="1" wrap="square" lIns="91425" tIns="45700" rIns="91425" bIns="45700" anchor="t" anchorCtr="0">
            <a:noAutofit/>
          </a:bodyPr>
          <a:lstStyle/>
          <a:p>
            <a:pPr marL="342900" marR="0" lvl="0" indent="-266700" algn="l" rtl="0">
              <a:spcBef>
                <a:spcPts val="0"/>
              </a:spcBef>
              <a:spcAft>
                <a:spcPts val="0"/>
              </a:spcAft>
              <a:buClr>
                <a:schemeClr val="dk1"/>
              </a:buClr>
              <a:buSzPts val="1200"/>
              <a:buFont typeface="Arial"/>
              <a:buNone/>
            </a:pPr>
            <a:endParaRPr sz="1200">
              <a:solidFill>
                <a:schemeClr val="dk1"/>
              </a:solidFill>
            </a:endParaRPr>
          </a:p>
          <a:p>
            <a:pPr marL="342900" marR="0" lvl="0" indent="-342900" algn="l" rtl="0">
              <a:spcBef>
                <a:spcPts val="480"/>
              </a:spcBef>
              <a:spcAft>
                <a:spcPts val="0"/>
              </a:spcAft>
              <a:buNone/>
            </a:pPr>
            <a:endParaRPr sz="2400">
              <a:solidFill>
                <a:schemeClr val="dk1"/>
              </a:solidFill>
            </a:endParaRPr>
          </a:p>
        </p:txBody>
      </p:sp>
      <p:sp>
        <p:nvSpPr>
          <p:cNvPr id="268" name="Google Shape;268;p29"/>
          <p:cNvSpPr/>
          <p:nvPr/>
        </p:nvSpPr>
        <p:spPr>
          <a:xfrm>
            <a:off x="387838" y="2132856"/>
            <a:ext cx="2529253" cy="1113366"/>
          </a:xfrm>
          <a:prstGeom prst="roundRect">
            <a:avLst>
              <a:gd name="adj" fmla="val 16667"/>
            </a:avLst>
          </a:prstGeom>
          <a:solidFill>
            <a:srgbClr val="8093DA"/>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1">
                <a:solidFill>
                  <a:schemeClr val="lt1"/>
                </a:solidFill>
              </a:rPr>
              <a:t>Each trustee liable only for their own actions</a:t>
            </a:r>
            <a:endParaRPr sz="1600">
              <a:solidFill>
                <a:schemeClr val="lt1"/>
              </a:solidFill>
            </a:endParaRPr>
          </a:p>
        </p:txBody>
      </p:sp>
      <p:sp>
        <p:nvSpPr>
          <p:cNvPr id="269" name="Google Shape;269;p29"/>
          <p:cNvSpPr/>
          <p:nvPr/>
        </p:nvSpPr>
        <p:spPr>
          <a:xfrm>
            <a:off x="402258" y="3383213"/>
            <a:ext cx="2519668" cy="1090743"/>
          </a:xfrm>
          <a:prstGeom prst="roundRect">
            <a:avLst>
              <a:gd name="adj" fmla="val 16667"/>
            </a:avLst>
          </a:prstGeom>
          <a:solidFill>
            <a:srgbClr val="C19377"/>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1">
                <a:solidFill>
                  <a:schemeClr val="lt1"/>
                </a:solidFill>
              </a:rPr>
              <a:t>Indemnity from co-trustees possible</a:t>
            </a:r>
            <a:endParaRPr sz="1600" b="1">
              <a:solidFill>
                <a:schemeClr val="lt1"/>
              </a:solidFill>
            </a:endParaRPr>
          </a:p>
        </p:txBody>
      </p:sp>
      <p:sp>
        <p:nvSpPr>
          <p:cNvPr id="270" name="Google Shape;270;p29"/>
          <p:cNvSpPr/>
          <p:nvPr/>
        </p:nvSpPr>
        <p:spPr>
          <a:xfrm>
            <a:off x="423941" y="4648235"/>
            <a:ext cx="2510987" cy="1113366"/>
          </a:xfrm>
          <a:prstGeom prst="roundRect">
            <a:avLst>
              <a:gd name="adj" fmla="val 16667"/>
            </a:avLst>
          </a:prstGeom>
          <a:solidFill>
            <a:srgbClr val="A2A945"/>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1">
                <a:solidFill>
                  <a:schemeClr val="lt1"/>
                </a:solidFill>
              </a:rPr>
              <a:t>Joint and several liability</a:t>
            </a:r>
            <a:endParaRPr/>
          </a:p>
        </p:txBody>
      </p:sp>
      <p:sp>
        <p:nvSpPr>
          <p:cNvPr id="271" name="Google Shape;271;p29"/>
          <p:cNvSpPr/>
          <p:nvPr/>
        </p:nvSpPr>
        <p:spPr>
          <a:xfrm>
            <a:off x="3016679" y="2132856"/>
            <a:ext cx="5790889" cy="1113366"/>
          </a:xfrm>
          <a:prstGeom prst="roundRect">
            <a:avLst>
              <a:gd name="adj" fmla="val 16667"/>
            </a:avLst>
          </a:prstGeom>
          <a:solidFill>
            <a:schemeClr val="lt1"/>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500" b="1">
                <a:solidFill>
                  <a:schemeClr val="dk1"/>
                </a:solidFill>
              </a:rPr>
              <a:t>However: </a:t>
            </a:r>
            <a:endParaRPr/>
          </a:p>
          <a:p>
            <a:pPr marL="285750" marR="0" lvl="0" indent="-285750" algn="ctr" rtl="0">
              <a:spcBef>
                <a:spcPts val="0"/>
              </a:spcBef>
              <a:spcAft>
                <a:spcPts val="0"/>
              </a:spcAft>
              <a:buClr>
                <a:schemeClr val="dk1"/>
              </a:buClr>
              <a:buSzPts val="1500"/>
              <a:buChar char="•"/>
            </a:pPr>
            <a:r>
              <a:rPr lang="en-GB" sz="1500" b="1">
                <a:solidFill>
                  <a:schemeClr val="dk1"/>
                </a:solidFill>
              </a:rPr>
              <a:t>Trustees must reach decisions unanimously</a:t>
            </a:r>
            <a:endParaRPr/>
          </a:p>
          <a:p>
            <a:pPr marL="285750" marR="0" lvl="0" indent="-285750" algn="ctr" rtl="0">
              <a:spcBef>
                <a:spcPts val="0"/>
              </a:spcBef>
              <a:spcAft>
                <a:spcPts val="0"/>
              </a:spcAft>
              <a:buClr>
                <a:schemeClr val="dk1"/>
              </a:buClr>
              <a:buSzPts val="1500"/>
              <a:buChar char="•"/>
            </a:pPr>
            <a:r>
              <a:rPr lang="en-GB" sz="1500" b="1">
                <a:solidFill>
                  <a:schemeClr val="dk1"/>
                </a:solidFill>
              </a:rPr>
              <a:t>Equity does not tolerate a sleeping trustee</a:t>
            </a:r>
            <a:endParaRPr/>
          </a:p>
          <a:p>
            <a:pPr marL="285750" marR="0" lvl="0" indent="-285750" algn="ctr" rtl="0">
              <a:spcBef>
                <a:spcPts val="0"/>
              </a:spcBef>
              <a:spcAft>
                <a:spcPts val="0"/>
              </a:spcAft>
              <a:buClr>
                <a:schemeClr val="dk1"/>
              </a:buClr>
              <a:buSzPts val="1500"/>
              <a:buChar char="•"/>
            </a:pPr>
            <a:r>
              <a:rPr lang="en-GB" sz="1500" b="1">
                <a:solidFill>
                  <a:schemeClr val="dk1"/>
                </a:solidFill>
              </a:rPr>
              <a:t>Trustees have a duty of care</a:t>
            </a:r>
            <a:endParaRPr/>
          </a:p>
        </p:txBody>
      </p:sp>
      <p:sp>
        <p:nvSpPr>
          <p:cNvPr id="272" name="Google Shape;272;p29"/>
          <p:cNvSpPr/>
          <p:nvPr/>
        </p:nvSpPr>
        <p:spPr>
          <a:xfrm>
            <a:off x="3050882" y="3383212"/>
            <a:ext cx="5774197" cy="1090743"/>
          </a:xfrm>
          <a:prstGeom prst="roundRect">
            <a:avLst>
              <a:gd name="adj" fmla="val 16667"/>
            </a:avLst>
          </a:prstGeom>
          <a:solidFill>
            <a:schemeClr val="lt1"/>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500" b="1">
                <a:solidFill>
                  <a:schemeClr val="dk1"/>
                </a:solidFill>
              </a:rPr>
              <a:t>However:</a:t>
            </a:r>
            <a:endParaRPr sz="1500" b="1">
              <a:solidFill>
                <a:schemeClr val="dk1"/>
              </a:solidFill>
            </a:endParaRPr>
          </a:p>
          <a:p>
            <a:pPr marL="0" marR="0" lvl="0" indent="0" algn="ctr" rtl="0">
              <a:spcBef>
                <a:spcPts val="0"/>
              </a:spcBef>
              <a:spcAft>
                <a:spcPts val="0"/>
              </a:spcAft>
              <a:buNone/>
            </a:pPr>
            <a:r>
              <a:rPr lang="en-GB" sz="1500" b="1">
                <a:solidFill>
                  <a:schemeClr val="dk1"/>
                </a:solidFill>
              </a:rPr>
              <a:t>Relevant only where one or more trustees have special skills</a:t>
            </a:r>
            <a:endParaRPr sz="1500" b="1">
              <a:solidFill>
                <a:schemeClr val="dk1"/>
              </a:solidFill>
            </a:endParaRPr>
          </a:p>
        </p:txBody>
      </p:sp>
      <p:sp>
        <p:nvSpPr>
          <p:cNvPr id="273" name="Google Shape;273;p29"/>
          <p:cNvSpPr/>
          <p:nvPr/>
        </p:nvSpPr>
        <p:spPr>
          <a:xfrm>
            <a:off x="3050882" y="4648235"/>
            <a:ext cx="5754303" cy="1113366"/>
          </a:xfrm>
          <a:prstGeom prst="roundRect">
            <a:avLst>
              <a:gd name="adj" fmla="val 16667"/>
            </a:avLst>
          </a:prstGeom>
          <a:solidFill>
            <a:schemeClr val="lt1"/>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500" b="1">
                <a:solidFill>
                  <a:schemeClr val="dk1"/>
                </a:solidFill>
              </a:rPr>
              <a:t>However: </a:t>
            </a:r>
            <a:endParaRPr/>
          </a:p>
          <a:p>
            <a:pPr marL="0" marR="0" lvl="0" indent="0" algn="ctr" rtl="0">
              <a:spcBef>
                <a:spcPts val="0"/>
              </a:spcBef>
              <a:spcAft>
                <a:spcPts val="0"/>
              </a:spcAft>
              <a:buNone/>
            </a:pPr>
            <a:r>
              <a:rPr lang="en-GB" sz="1500" b="1">
                <a:solidFill>
                  <a:schemeClr val="dk1"/>
                </a:solidFill>
              </a:rPr>
              <a:t>Court has discretion to apportion contributions between trustees under the Civil Liability (Contribution) Act 1978</a:t>
            </a:r>
            <a:endParaRPr sz="1500" b="1">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anim calcmode="lin" valueType="num">
                                      <p:cBhvr additive="base">
                                        <p:cTn id="7" dur="2000"/>
                                        <p:tgtEl>
                                          <p:spTgt spid="268"/>
                                        </p:tgtEl>
                                        <p:attrNameLst>
                                          <p:attrName>ppt_w</p:attrName>
                                        </p:attrNameLst>
                                      </p:cBhvr>
                                      <p:tavLst>
                                        <p:tav tm="0">
                                          <p:val>
                                            <p:strVal val="0"/>
                                          </p:val>
                                        </p:tav>
                                        <p:tav tm="100000">
                                          <p:val>
                                            <p:strVal val="#ppt_w"/>
                                          </p:val>
                                        </p:tav>
                                      </p:tavLst>
                                    </p:anim>
                                    <p:anim calcmode="lin" valueType="num">
                                      <p:cBhvr additive="base">
                                        <p:cTn id="8" dur="2000"/>
                                        <p:tgtEl>
                                          <p:spTgt spid="26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71"/>
                                        </p:tgtEl>
                                        <p:attrNameLst>
                                          <p:attrName>style.visibility</p:attrName>
                                        </p:attrNameLst>
                                      </p:cBhvr>
                                      <p:to>
                                        <p:strVal val="visible"/>
                                      </p:to>
                                    </p:set>
                                    <p:anim calcmode="lin" valueType="num">
                                      <p:cBhvr additive="base">
                                        <p:cTn id="13" dur="2000"/>
                                        <p:tgtEl>
                                          <p:spTgt spid="271"/>
                                        </p:tgtEl>
                                        <p:attrNameLst>
                                          <p:attrName>ppt_w</p:attrName>
                                        </p:attrNameLst>
                                      </p:cBhvr>
                                      <p:tavLst>
                                        <p:tav tm="0">
                                          <p:val>
                                            <p:strVal val="0"/>
                                          </p:val>
                                        </p:tav>
                                        <p:tav tm="100000">
                                          <p:val>
                                            <p:strVal val="#ppt_w"/>
                                          </p:val>
                                        </p:tav>
                                      </p:tavLst>
                                    </p:anim>
                                    <p:anim calcmode="lin" valueType="num">
                                      <p:cBhvr additive="base">
                                        <p:cTn id="14" dur="2000"/>
                                        <p:tgtEl>
                                          <p:spTgt spid="271"/>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69"/>
                                        </p:tgtEl>
                                        <p:attrNameLst>
                                          <p:attrName>style.visibility</p:attrName>
                                        </p:attrNameLst>
                                      </p:cBhvr>
                                      <p:to>
                                        <p:strVal val="visible"/>
                                      </p:to>
                                    </p:set>
                                    <p:anim calcmode="lin" valueType="num">
                                      <p:cBhvr additive="base">
                                        <p:cTn id="19" dur="2000"/>
                                        <p:tgtEl>
                                          <p:spTgt spid="269"/>
                                        </p:tgtEl>
                                        <p:attrNameLst>
                                          <p:attrName>ppt_w</p:attrName>
                                        </p:attrNameLst>
                                      </p:cBhvr>
                                      <p:tavLst>
                                        <p:tav tm="0">
                                          <p:val>
                                            <p:strVal val="0"/>
                                          </p:val>
                                        </p:tav>
                                        <p:tav tm="100000">
                                          <p:val>
                                            <p:strVal val="#ppt_w"/>
                                          </p:val>
                                        </p:tav>
                                      </p:tavLst>
                                    </p:anim>
                                    <p:anim calcmode="lin" valueType="num">
                                      <p:cBhvr additive="base">
                                        <p:cTn id="20" dur="2000"/>
                                        <p:tgtEl>
                                          <p:spTgt spid="269"/>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272"/>
                                        </p:tgtEl>
                                        <p:attrNameLst>
                                          <p:attrName>style.visibility</p:attrName>
                                        </p:attrNameLst>
                                      </p:cBhvr>
                                      <p:to>
                                        <p:strVal val="visible"/>
                                      </p:to>
                                    </p:set>
                                    <p:anim calcmode="lin" valueType="num">
                                      <p:cBhvr additive="base">
                                        <p:cTn id="25" dur="2000"/>
                                        <p:tgtEl>
                                          <p:spTgt spid="272"/>
                                        </p:tgtEl>
                                        <p:attrNameLst>
                                          <p:attrName>ppt_w</p:attrName>
                                        </p:attrNameLst>
                                      </p:cBhvr>
                                      <p:tavLst>
                                        <p:tav tm="0">
                                          <p:val>
                                            <p:strVal val="0"/>
                                          </p:val>
                                        </p:tav>
                                        <p:tav tm="100000">
                                          <p:val>
                                            <p:strVal val="#ppt_w"/>
                                          </p:val>
                                        </p:tav>
                                      </p:tavLst>
                                    </p:anim>
                                    <p:anim calcmode="lin" valueType="num">
                                      <p:cBhvr additive="base">
                                        <p:cTn id="26" dur="2000"/>
                                        <p:tgtEl>
                                          <p:spTgt spid="272"/>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270"/>
                                        </p:tgtEl>
                                        <p:attrNameLst>
                                          <p:attrName>style.visibility</p:attrName>
                                        </p:attrNameLst>
                                      </p:cBhvr>
                                      <p:to>
                                        <p:strVal val="visible"/>
                                      </p:to>
                                    </p:set>
                                    <p:anim calcmode="lin" valueType="num">
                                      <p:cBhvr additive="base">
                                        <p:cTn id="31" dur="2000"/>
                                        <p:tgtEl>
                                          <p:spTgt spid="270"/>
                                        </p:tgtEl>
                                        <p:attrNameLst>
                                          <p:attrName>ppt_w</p:attrName>
                                        </p:attrNameLst>
                                      </p:cBhvr>
                                      <p:tavLst>
                                        <p:tav tm="0">
                                          <p:val>
                                            <p:strVal val="0"/>
                                          </p:val>
                                        </p:tav>
                                        <p:tav tm="100000">
                                          <p:val>
                                            <p:strVal val="#ppt_w"/>
                                          </p:val>
                                        </p:tav>
                                      </p:tavLst>
                                    </p:anim>
                                    <p:anim calcmode="lin" valueType="num">
                                      <p:cBhvr additive="base">
                                        <p:cTn id="32" dur="2000"/>
                                        <p:tgtEl>
                                          <p:spTgt spid="270"/>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273"/>
                                        </p:tgtEl>
                                        <p:attrNameLst>
                                          <p:attrName>style.visibility</p:attrName>
                                        </p:attrNameLst>
                                      </p:cBhvr>
                                      <p:to>
                                        <p:strVal val="visible"/>
                                      </p:to>
                                    </p:set>
                                    <p:anim calcmode="lin" valueType="num">
                                      <p:cBhvr additive="base">
                                        <p:cTn id="37" dur="2000"/>
                                        <p:tgtEl>
                                          <p:spTgt spid="273"/>
                                        </p:tgtEl>
                                        <p:attrNameLst>
                                          <p:attrName>ppt_w</p:attrName>
                                        </p:attrNameLst>
                                      </p:cBhvr>
                                      <p:tavLst>
                                        <p:tav tm="0">
                                          <p:val>
                                            <p:strVal val="0"/>
                                          </p:val>
                                        </p:tav>
                                        <p:tav tm="100000">
                                          <p:val>
                                            <p:strVal val="#ppt_w"/>
                                          </p:val>
                                        </p:tav>
                                      </p:tavLst>
                                    </p:anim>
                                    <p:anim calcmode="lin" valueType="num">
                                      <p:cBhvr additive="base">
                                        <p:cTn id="38" dur="2000"/>
                                        <p:tgtEl>
                                          <p:spTgt spid="27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0"/>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Relief and defences</a:t>
            </a:r>
            <a:endParaRPr>
              <a:latin typeface="Arial"/>
              <a:ea typeface="Arial"/>
              <a:cs typeface="Arial"/>
              <a:sym typeface="Arial"/>
            </a:endParaRPr>
          </a:p>
        </p:txBody>
      </p:sp>
      <p:sp>
        <p:nvSpPr>
          <p:cNvPr id="279" name="Google Shape;279;p30"/>
          <p:cNvSpPr txBox="1"/>
          <p:nvPr/>
        </p:nvSpPr>
        <p:spPr>
          <a:xfrm>
            <a:off x="637755" y="1755205"/>
            <a:ext cx="6626225" cy="2239963"/>
          </a:xfrm>
          <a:prstGeom prst="rect">
            <a:avLst/>
          </a:prstGeom>
          <a:noFill/>
          <a:ln>
            <a:noFill/>
          </a:ln>
        </p:spPr>
        <p:txBody>
          <a:bodyPr spcFirstLastPara="1" wrap="square" lIns="91425" tIns="45700" rIns="91425" bIns="45700" anchor="t" anchorCtr="0">
            <a:noAutofit/>
          </a:bodyPr>
          <a:lstStyle/>
          <a:p>
            <a:pPr marL="342900" marR="0" lvl="0" indent="-266700" algn="l" rtl="0">
              <a:spcBef>
                <a:spcPts val="0"/>
              </a:spcBef>
              <a:spcAft>
                <a:spcPts val="0"/>
              </a:spcAft>
              <a:buClr>
                <a:schemeClr val="dk1"/>
              </a:buClr>
              <a:buSzPts val="1200"/>
              <a:buFont typeface="Arial"/>
              <a:buNone/>
            </a:pPr>
            <a:endParaRPr sz="1200">
              <a:solidFill>
                <a:schemeClr val="dk1"/>
              </a:solidFill>
            </a:endParaRPr>
          </a:p>
          <a:p>
            <a:pPr marL="342900" marR="0" lvl="0" indent="-342900" algn="l" rtl="0">
              <a:spcBef>
                <a:spcPts val="480"/>
              </a:spcBef>
              <a:spcAft>
                <a:spcPts val="0"/>
              </a:spcAft>
              <a:buNone/>
            </a:pPr>
            <a:endParaRPr sz="2400">
              <a:solidFill>
                <a:schemeClr val="dk1"/>
              </a:solidFill>
            </a:endParaRPr>
          </a:p>
        </p:txBody>
      </p:sp>
      <p:sp>
        <p:nvSpPr>
          <p:cNvPr id="280" name="Google Shape;280;p30"/>
          <p:cNvSpPr/>
          <p:nvPr/>
        </p:nvSpPr>
        <p:spPr>
          <a:xfrm>
            <a:off x="415993" y="1906861"/>
            <a:ext cx="2529253" cy="1113366"/>
          </a:xfrm>
          <a:prstGeom prst="roundRect">
            <a:avLst>
              <a:gd name="adj" fmla="val 16667"/>
            </a:avLst>
          </a:prstGeom>
          <a:solidFill>
            <a:srgbClr val="663366"/>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1">
                <a:solidFill>
                  <a:schemeClr val="lt1"/>
                </a:solidFill>
              </a:rPr>
              <a:t>Consent or acquiescence by beneficiaries</a:t>
            </a:r>
            <a:r>
              <a:rPr lang="en-GB" sz="1600">
                <a:solidFill>
                  <a:schemeClr val="lt1"/>
                </a:solidFill>
              </a:rPr>
              <a:t> </a:t>
            </a:r>
            <a:endParaRPr/>
          </a:p>
        </p:txBody>
      </p:sp>
      <p:sp>
        <p:nvSpPr>
          <p:cNvPr id="281" name="Google Shape;281;p30"/>
          <p:cNvSpPr/>
          <p:nvPr/>
        </p:nvSpPr>
        <p:spPr>
          <a:xfrm>
            <a:off x="430413" y="3157218"/>
            <a:ext cx="2519668" cy="1090743"/>
          </a:xfrm>
          <a:prstGeom prst="roundRect">
            <a:avLst>
              <a:gd name="adj" fmla="val 16667"/>
            </a:avLst>
          </a:prstGeom>
          <a:solidFill>
            <a:srgbClr val="C0606B"/>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1">
                <a:solidFill>
                  <a:schemeClr val="lt1"/>
                </a:solidFill>
              </a:rPr>
              <a:t>Trustee exemption clauses</a:t>
            </a:r>
            <a:endParaRPr sz="1600" b="1">
              <a:solidFill>
                <a:schemeClr val="lt1"/>
              </a:solidFill>
            </a:endParaRPr>
          </a:p>
        </p:txBody>
      </p:sp>
      <p:sp>
        <p:nvSpPr>
          <p:cNvPr id="282" name="Google Shape;282;p30"/>
          <p:cNvSpPr/>
          <p:nvPr/>
        </p:nvSpPr>
        <p:spPr>
          <a:xfrm>
            <a:off x="452096" y="4422240"/>
            <a:ext cx="2510987" cy="1113366"/>
          </a:xfrm>
          <a:prstGeom prst="roundRect">
            <a:avLst>
              <a:gd name="adj" fmla="val 16667"/>
            </a:avLst>
          </a:prstGeom>
          <a:solidFill>
            <a:srgbClr val="3C8C92"/>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600" b="1">
                <a:solidFill>
                  <a:schemeClr val="lt1"/>
                </a:solidFill>
              </a:rPr>
              <a:t>The court’s discretion to grant relief</a:t>
            </a:r>
            <a:endParaRPr/>
          </a:p>
        </p:txBody>
      </p:sp>
      <p:sp>
        <p:nvSpPr>
          <p:cNvPr id="283" name="Google Shape;283;p30"/>
          <p:cNvSpPr/>
          <p:nvPr/>
        </p:nvSpPr>
        <p:spPr>
          <a:xfrm>
            <a:off x="3059832" y="1887432"/>
            <a:ext cx="5790889" cy="1113366"/>
          </a:xfrm>
          <a:prstGeom prst="roundRect">
            <a:avLst>
              <a:gd name="adj" fmla="val 16667"/>
            </a:avLst>
          </a:prstGeom>
          <a:solidFill>
            <a:schemeClr val="lt1"/>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285750" lvl="0" indent="-285750" algn="ctr">
              <a:buClr>
                <a:schemeClr val="dk1"/>
              </a:buClr>
              <a:buSzPts val="1500"/>
              <a:buChar char="•"/>
            </a:pPr>
            <a:r>
              <a:rPr lang="en-GB" sz="1500" b="1" i="1" u="sng" dirty="0">
                <a:solidFill>
                  <a:schemeClr val="dk1"/>
                </a:solidFill>
              </a:rPr>
              <a:t>Re Pauling’s Settlement Trust</a:t>
            </a:r>
            <a:r>
              <a:rPr lang="en-GB" sz="1500" b="1" u="sng" dirty="0">
                <a:solidFill>
                  <a:schemeClr val="dk1"/>
                </a:solidFill>
              </a:rPr>
              <a:t> [1964] Ch 303</a:t>
            </a:r>
            <a:r>
              <a:rPr lang="en-GB" sz="1500" dirty="0">
                <a:solidFill>
                  <a:schemeClr val="dk1"/>
                </a:solidFill>
              </a:rPr>
              <a:t>: “a united family, who, at all material times, lived beyond their means and were continually in grave financial difficulties”</a:t>
            </a:r>
            <a:endParaRPr sz="1500" dirty="0">
              <a:solidFill>
                <a:schemeClr val="dk1"/>
              </a:solidFill>
            </a:endParaRPr>
          </a:p>
          <a:p>
            <a:pPr marL="285750" marR="0" lvl="0" indent="-285750" algn="ctr" rtl="0">
              <a:spcBef>
                <a:spcPts val="0"/>
              </a:spcBef>
              <a:spcAft>
                <a:spcPts val="0"/>
              </a:spcAft>
              <a:buClr>
                <a:schemeClr val="dk1"/>
              </a:buClr>
              <a:buSzPts val="1500"/>
              <a:buChar char="•"/>
            </a:pPr>
            <a:r>
              <a:rPr lang="en-GB" sz="1500" b="1" dirty="0">
                <a:solidFill>
                  <a:schemeClr val="dk1"/>
                </a:solidFill>
              </a:rPr>
              <a:t>Trustee Act 1925, section 62</a:t>
            </a:r>
            <a:endParaRPr dirty="0"/>
          </a:p>
        </p:txBody>
      </p:sp>
      <p:sp>
        <p:nvSpPr>
          <p:cNvPr id="284" name="Google Shape;284;p30"/>
          <p:cNvSpPr/>
          <p:nvPr/>
        </p:nvSpPr>
        <p:spPr>
          <a:xfrm>
            <a:off x="3076524" y="3133025"/>
            <a:ext cx="5774197" cy="1090743"/>
          </a:xfrm>
          <a:prstGeom prst="roundRect">
            <a:avLst>
              <a:gd name="adj" fmla="val 16667"/>
            </a:avLst>
          </a:prstGeom>
          <a:solidFill>
            <a:schemeClr val="lt1"/>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285750" marR="0" lvl="0" indent="-285750" algn="ctr" rtl="0">
              <a:spcBef>
                <a:spcPts val="0"/>
              </a:spcBef>
              <a:spcAft>
                <a:spcPts val="0"/>
              </a:spcAft>
              <a:buClr>
                <a:schemeClr val="dk1"/>
              </a:buClr>
              <a:buSzPts val="1500"/>
              <a:buChar char="•"/>
            </a:pPr>
            <a:r>
              <a:rPr lang="en-GB" sz="1500" b="1" i="1" u="sng">
                <a:solidFill>
                  <a:schemeClr val="dk1"/>
                </a:solidFill>
              </a:rPr>
              <a:t>Armitage v Nurse </a:t>
            </a:r>
            <a:r>
              <a:rPr lang="en-GB" sz="1500" b="1" u="sng">
                <a:solidFill>
                  <a:schemeClr val="dk1"/>
                </a:solidFill>
              </a:rPr>
              <a:t>[1998] Ch 241</a:t>
            </a:r>
            <a:endParaRPr sz="1500" b="1">
              <a:solidFill>
                <a:schemeClr val="dk1"/>
              </a:solidFill>
            </a:endParaRPr>
          </a:p>
          <a:p>
            <a:pPr marL="285750" marR="0" lvl="0" indent="-285750" algn="ctr" rtl="0">
              <a:spcBef>
                <a:spcPts val="0"/>
              </a:spcBef>
              <a:spcAft>
                <a:spcPts val="0"/>
              </a:spcAft>
              <a:buClr>
                <a:schemeClr val="dk1"/>
              </a:buClr>
              <a:buSzPts val="1500"/>
              <a:buChar char="•"/>
            </a:pPr>
            <a:r>
              <a:rPr lang="en-GB" sz="1500" b="1" i="1" u="sng">
                <a:solidFill>
                  <a:schemeClr val="dk1"/>
                </a:solidFill>
              </a:rPr>
              <a:t>Walker v Stones </a:t>
            </a:r>
            <a:r>
              <a:rPr lang="en-GB" sz="1500" b="1" u="sng">
                <a:solidFill>
                  <a:schemeClr val="dk1"/>
                </a:solidFill>
              </a:rPr>
              <a:t>[2001] QB 902</a:t>
            </a:r>
            <a:endParaRPr/>
          </a:p>
          <a:p>
            <a:pPr marL="285750" marR="0" lvl="0" indent="-285750" algn="ctr" rtl="0">
              <a:spcBef>
                <a:spcPts val="0"/>
              </a:spcBef>
              <a:spcAft>
                <a:spcPts val="0"/>
              </a:spcAft>
              <a:buClr>
                <a:schemeClr val="dk1"/>
              </a:buClr>
              <a:buSzPts val="1500"/>
              <a:buChar char="•"/>
            </a:pPr>
            <a:r>
              <a:rPr lang="en-GB" sz="1500" b="1" u="sng">
                <a:solidFill>
                  <a:schemeClr val="dk1"/>
                </a:solidFill>
              </a:rPr>
              <a:t>Anti-Bartlett clauses</a:t>
            </a:r>
            <a:endParaRPr sz="1500" b="1" u="sng">
              <a:solidFill>
                <a:schemeClr val="dk1"/>
              </a:solidFill>
            </a:endParaRPr>
          </a:p>
        </p:txBody>
      </p:sp>
      <p:sp>
        <p:nvSpPr>
          <p:cNvPr id="285" name="Google Shape;285;p30"/>
          <p:cNvSpPr/>
          <p:nvPr/>
        </p:nvSpPr>
        <p:spPr>
          <a:xfrm>
            <a:off x="3063126" y="4422240"/>
            <a:ext cx="5754303" cy="1113366"/>
          </a:xfrm>
          <a:prstGeom prst="roundRect">
            <a:avLst>
              <a:gd name="adj" fmla="val 16667"/>
            </a:avLst>
          </a:prstGeom>
          <a:solidFill>
            <a:schemeClr val="lt1"/>
          </a:solidFill>
          <a:ln w="381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285750" marR="0" lvl="0" indent="-285750" algn="ctr" rtl="0">
              <a:spcBef>
                <a:spcPts val="0"/>
              </a:spcBef>
              <a:spcAft>
                <a:spcPts val="0"/>
              </a:spcAft>
              <a:buClr>
                <a:schemeClr val="dk1"/>
              </a:buClr>
              <a:buSzPts val="1500"/>
              <a:buChar char="•"/>
            </a:pPr>
            <a:r>
              <a:rPr lang="en-GB" sz="1500" b="1">
                <a:solidFill>
                  <a:schemeClr val="dk1"/>
                </a:solidFill>
              </a:rPr>
              <a:t>Trustee Act 1925, section 61; </a:t>
            </a:r>
            <a:endParaRPr/>
          </a:p>
          <a:p>
            <a:pPr marL="285750" marR="0" lvl="0" indent="-285750" algn="ctr" rtl="0">
              <a:spcBef>
                <a:spcPts val="0"/>
              </a:spcBef>
              <a:spcAft>
                <a:spcPts val="0"/>
              </a:spcAft>
              <a:buClr>
                <a:schemeClr val="dk1"/>
              </a:buClr>
              <a:buSzPts val="1500"/>
              <a:buChar char="•"/>
            </a:pPr>
            <a:r>
              <a:rPr lang="en-GB" sz="1500" b="1">
                <a:solidFill>
                  <a:schemeClr val="dk1"/>
                </a:solidFill>
              </a:rPr>
              <a:t>Honesty, reasonableness, fairness</a:t>
            </a:r>
            <a:endParaRPr sz="1500" b="1">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Time limitations</a:t>
            </a:r>
            <a:endParaRPr/>
          </a:p>
        </p:txBody>
      </p:sp>
      <p:sp>
        <p:nvSpPr>
          <p:cNvPr id="291" name="Google Shape;291;p31"/>
          <p:cNvSpPr txBox="1"/>
          <p:nvPr/>
        </p:nvSpPr>
        <p:spPr>
          <a:xfrm>
            <a:off x="685797" y="1686046"/>
            <a:ext cx="7878600" cy="39558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100">
              <a:solidFill>
                <a:schemeClr val="dk1"/>
              </a:solidFill>
              <a:latin typeface="Times"/>
              <a:ea typeface="Times"/>
              <a:cs typeface="Times"/>
              <a:sym typeface="Times"/>
            </a:endParaRPr>
          </a:p>
          <a:p>
            <a:pPr marL="0" marR="0" lvl="0" indent="0" algn="just" rtl="0">
              <a:spcBef>
                <a:spcPts val="0"/>
              </a:spcBef>
              <a:spcAft>
                <a:spcPts val="0"/>
              </a:spcAft>
              <a:buNone/>
            </a:pPr>
            <a:r>
              <a:rPr lang="en-GB" sz="2400" b="1" u="sng">
                <a:solidFill>
                  <a:schemeClr val="dk1"/>
                </a:solidFill>
                <a:latin typeface="Arial"/>
                <a:ea typeface="Arial"/>
                <a:cs typeface="Arial"/>
                <a:sym typeface="Arial"/>
              </a:rPr>
              <a:t>The Limitation Act 1980: </a:t>
            </a:r>
            <a:endParaRPr/>
          </a:p>
          <a:p>
            <a:pPr marL="0" marR="0" lvl="0" indent="0" algn="just" rtl="0">
              <a:spcBef>
                <a:spcPts val="0"/>
              </a:spcBef>
              <a:spcAft>
                <a:spcPts val="0"/>
              </a:spcAft>
              <a:buNone/>
            </a:pPr>
            <a:r>
              <a:rPr lang="en-GB" sz="2400">
                <a:solidFill>
                  <a:schemeClr val="dk1"/>
                </a:solidFill>
                <a:latin typeface="Arial"/>
                <a:ea typeface="Arial"/>
                <a:cs typeface="Arial"/>
                <a:sym typeface="Arial"/>
              </a:rPr>
              <a:t>6 years from breach, with some exemptions:</a:t>
            </a:r>
            <a:endParaRPr/>
          </a:p>
          <a:p>
            <a:pPr marL="800100" marR="0" lvl="1" indent="-342900" algn="just" rtl="0">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Breach was fraudulent; or</a:t>
            </a:r>
            <a:endParaRPr/>
          </a:p>
          <a:p>
            <a:pPr marL="800100" marR="0" lvl="1" indent="-342900" algn="just" rtl="0">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Property in trustee’s possession; or</a:t>
            </a:r>
            <a:endParaRPr/>
          </a:p>
          <a:p>
            <a:pPr marL="800100" marR="0" lvl="1" indent="-342900" algn="just" rtl="0">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Interest not yet in possession; or</a:t>
            </a:r>
            <a:endParaRPr/>
          </a:p>
          <a:p>
            <a:pPr marL="800100" marR="0" lvl="1" indent="-342900" algn="just" rtl="0">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Trustee has deliberately concealed information.</a:t>
            </a:r>
            <a:endParaRPr/>
          </a:p>
          <a:p>
            <a:pPr marL="0" marR="0" lvl="0" indent="0" algn="just" rtl="0">
              <a:spcBef>
                <a:spcPts val="0"/>
              </a:spcBef>
              <a:spcAft>
                <a:spcPts val="0"/>
              </a:spcAft>
              <a:buNone/>
            </a:pPr>
            <a:endParaRPr sz="2400">
              <a:solidFill>
                <a:schemeClr val="dk1"/>
              </a:solidFill>
              <a:latin typeface="Arial"/>
              <a:ea typeface="Arial"/>
              <a:cs typeface="Arial"/>
              <a:sym typeface="Arial"/>
            </a:endParaRPr>
          </a:p>
          <a:p>
            <a:pPr marL="0" marR="0" lvl="0" indent="0" algn="just" rtl="0">
              <a:spcBef>
                <a:spcPts val="0"/>
              </a:spcBef>
              <a:spcAft>
                <a:spcPts val="0"/>
              </a:spcAft>
              <a:buNone/>
            </a:pPr>
            <a:r>
              <a:rPr lang="en-GB" sz="2400" b="1" u="sng">
                <a:solidFill>
                  <a:schemeClr val="dk1"/>
                </a:solidFill>
                <a:latin typeface="Arial"/>
                <a:ea typeface="Arial"/>
                <a:cs typeface="Arial"/>
                <a:sym typeface="Arial"/>
              </a:rPr>
              <a:t>Laches</a:t>
            </a:r>
            <a:endParaRPr/>
          </a:p>
          <a:p>
            <a:pPr marL="0" marR="0" lvl="0" indent="0" algn="just" rtl="0">
              <a:spcBef>
                <a:spcPts val="0"/>
              </a:spcBef>
              <a:spcAft>
                <a:spcPts val="0"/>
              </a:spcAft>
              <a:buNone/>
            </a:pPr>
            <a:r>
              <a:rPr lang="en-GB" sz="2400">
                <a:solidFill>
                  <a:schemeClr val="dk1"/>
                </a:solidFill>
                <a:latin typeface="Arial"/>
                <a:ea typeface="Arial"/>
                <a:cs typeface="Arial"/>
                <a:sym typeface="Arial"/>
              </a:rPr>
              <a:t>Defeats claim brought after an unreasonable delay, but only where the Limitation Act 1980 does not apply.</a:t>
            </a:r>
            <a:endParaRPr sz="2400">
              <a:solidFill>
                <a:schemeClr val="dk1"/>
              </a:solidFill>
              <a:latin typeface="Arial"/>
              <a:ea typeface="Arial"/>
              <a:cs typeface="Arial"/>
              <a:sym typeface="Arial"/>
            </a:endParaRPr>
          </a:p>
        </p:txBody>
      </p:sp>
      <p:pic>
        <p:nvPicPr>
          <p:cNvPr id="292" name="Google Shape;292;p31" descr="Symantec security certificates – the clock is ticking - 1E Blogs"/>
          <p:cNvPicPr preferRelativeResize="0"/>
          <p:nvPr/>
        </p:nvPicPr>
        <p:blipFill rotWithShape="1">
          <a:blip r:embed="rId3">
            <a:alphaModFix/>
          </a:blip>
          <a:srcRect/>
          <a:stretch/>
        </p:blipFill>
        <p:spPr>
          <a:xfrm>
            <a:off x="5794900" y="476675"/>
            <a:ext cx="2551850" cy="1275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2"/>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Recap</a:t>
            </a:r>
            <a:endParaRPr/>
          </a:p>
        </p:txBody>
      </p:sp>
      <p:sp>
        <p:nvSpPr>
          <p:cNvPr id="298" name="Google Shape;298;p32"/>
          <p:cNvSpPr txBox="1"/>
          <p:nvPr/>
        </p:nvSpPr>
        <p:spPr>
          <a:xfrm>
            <a:off x="609600" y="1981200"/>
            <a:ext cx="7923213" cy="3680048"/>
          </a:xfrm>
          <a:prstGeom prst="rect">
            <a:avLst/>
          </a:prstGeom>
          <a:noFill/>
          <a:ln>
            <a:noFill/>
          </a:ln>
        </p:spPr>
        <p:txBody>
          <a:bodyPr spcFirstLastPara="1" wrap="square" lIns="91425" tIns="45700" rIns="91425" bIns="45700" anchor="t" anchorCtr="0">
            <a:noAutofit/>
          </a:bodyPr>
          <a:lstStyle/>
          <a:p>
            <a:pPr marL="571500" marR="0" lvl="0" indent="-571500" algn="l" rtl="0">
              <a:spcBef>
                <a:spcPts val="0"/>
              </a:spcBef>
              <a:spcAft>
                <a:spcPts val="0"/>
              </a:spcAft>
              <a:buClr>
                <a:schemeClr val="dk1"/>
              </a:buClr>
              <a:buSzPts val="2400"/>
              <a:buFont typeface="Noto Sans Symbols"/>
              <a:buChar char="❑"/>
            </a:pPr>
            <a:r>
              <a:rPr lang="en-GB" sz="2400">
                <a:solidFill>
                  <a:schemeClr val="dk1"/>
                </a:solidFill>
                <a:latin typeface="Arial"/>
                <a:ea typeface="Arial"/>
                <a:cs typeface="Arial"/>
                <a:sym typeface="Arial"/>
              </a:rPr>
              <a:t>Suing the trustees personally for loss is an option if they are solvent.</a:t>
            </a:r>
            <a:endParaRPr/>
          </a:p>
          <a:p>
            <a:pPr marL="571500" marR="0" lvl="0" indent="-571500" algn="l" rtl="0">
              <a:spcBef>
                <a:spcPts val="480"/>
              </a:spcBef>
              <a:spcAft>
                <a:spcPts val="0"/>
              </a:spcAft>
              <a:buClr>
                <a:schemeClr val="dk1"/>
              </a:buClr>
              <a:buSzPts val="2400"/>
              <a:buFont typeface="Noto Sans Symbols"/>
              <a:buChar char="❑"/>
            </a:pPr>
            <a:r>
              <a:rPr lang="en-GB" sz="2400">
                <a:solidFill>
                  <a:schemeClr val="dk1"/>
                </a:solidFill>
                <a:latin typeface="Arial"/>
                <a:ea typeface="Arial"/>
                <a:cs typeface="Arial"/>
                <a:sym typeface="Arial"/>
              </a:rPr>
              <a:t>Compensation, timing and the applicability of causation and remoteness depend on the type of breach, although there is some uncertainty in this area.</a:t>
            </a:r>
            <a:endParaRPr/>
          </a:p>
          <a:p>
            <a:pPr marL="571500" marR="0" lvl="0" indent="-571500" algn="l" rtl="0">
              <a:spcBef>
                <a:spcPts val="480"/>
              </a:spcBef>
              <a:spcAft>
                <a:spcPts val="0"/>
              </a:spcAft>
              <a:buClr>
                <a:schemeClr val="dk1"/>
              </a:buClr>
              <a:buSzPts val="2400"/>
              <a:buFont typeface="Noto Sans Symbols"/>
              <a:buChar char="❑"/>
            </a:pPr>
            <a:r>
              <a:rPr lang="en-GB" sz="2400">
                <a:solidFill>
                  <a:schemeClr val="dk1"/>
                </a:solidFill>
                <a:latin typeface="Arial"/>
                <a:ea typeface="Arial"/>
                <a:cs typeface="Arial"/>
                <a:sym typeface="Arial"/>
              </a:rPr>
              <a:t>Trustees have a number of options for limiting their liability; most importantly, exemption clauses.</a:t>
            </a:r>
            <a:endParaRPr/>
          </a:p>
          <a:p>
            <a:pPr marL="0" marR="0" lvl="0" indent="0" algn="l" rtl="0">
              <a:spcBef>
                <a:spcPts val="480"/>
              </a:spcBef>
              <a:spcAft>
                <a:spcPts val="0"/>
              </a:spcAft>
              <a:buNone/>
            </a:pPr>
            <a:endParaRPr sz="2400" b="1">
              <a:solidFill>
                <a:srgbClr val="FF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latin typeface="Arial"/>
                <a:ea typeface="Arial"/>
                <a:cs typeface="Arial"/>
                <a:sym typeface="Arial"/>
              </a:rPr>
              <a:t>Activity</a:t>
            </a:r>
            <a:endParaRPr/>
          </a:p>
        </p:txBody>
      </p:sp>
      <p:sp>
        <p:nvSpPr>
          <p:cNvPr id="304" name="Google Shape;304;p33"/>
          <p:cNvSpPr txBox="1"/>
          <p:nvPr/>
        </p:nvSpPr>
        <p:spPr>
          <a:xfrm>
            <a:off x="655779" y="1628800"/>
            <a:ext cx="7580400" cy="378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Arial"/>
                <a:ea typeface="Arial"/>
                <a:cs typeface="Arial"/>
                <a:sym typeface="Arial"/>
              </a:rPr>
              <a:t>Do trusts law cases sometimes seem dated? Why not see how the same issues play out in a more recent cas</a:t>
            </a:r>
            <a:r>
              <a:rPr lang="en-GB" sz="2400">
                <a:solidFill>
                  <a:schemeClr val="dk1"/>
                </a:solidFill>
              </a:rPr>
              <a:t>e?</a:t>
            </a:r>
            <a:r>
              <a:rPr lang="en-GB" sz="2400">
                <a:solidFill>
                  <a:schemeClr val="dk1"/>
                </a:solidFill>
                <a:latin typeface="Arial"/>
                <a:ea typeface="Arial"/>
                <a:cs typeface="Arial"/>
                <a:sym typeface="Arial"/>
              </a:rPr>
              <a:t> </a:t>
            </a:r>
            <a:endParaRPr/>
          </a:p>
          <a:p>
            <a:pPr marL="0" marR="0" lvl="0" indent="0" algn="l" rtl="0">
              <a:spcBef>
                <a:spcPts val="0"/>
              </a:spcBef>
              <a:spcAft>
                <a:spcPts val="0"/>
              </a:spcAft>
              <a:buNone/>
            </a:pPr>
            <a:r>
              <a:rPr lang="en-GB" sz="2400" i="1" u="sng">
                <a:solidFill>
                  <a:schemeClr val="dk1"/>
                </a:solidFill>
                <a:latin typeface="Arial"/>
                <a:ea typeface="Arial"/>
                <a:cs typeface="Arial"/>
                <a:sym typeface="Arial"/>
              </a:rPr>
              <a:t>LIV Bridging Finance Ltd v EAD Solicitors LLP (In Administration) </a:t>
            </a:r>
            <a:r>
              <a:rPr lang="en-GB" sz="2400" u="sng">
                <a:solidFill>
                  <a:schemeClr val="dk1"/>
                </a:solidFill>
                <a:latin typeface="Arial"/>
                <a:ea typeface="Arial"/>
                <a:cs typeface="Arial"/>
                <a:sym typeface="Arial"/>
              </a:rPr>
              <a:t>[2020] EWHC 1590 (Ch)</a:t>
            </a:r>
            <a:endParaRPr sz="2400" i="1" u="sng">
              <a:solidFill>
                <a:schemeClr val="dk1"/>
              </a:solidFill>
              <a:latin typeface="Arial"/>
              <a:ea typeface="Arial"/>
              <a:cs typeface="Arial"/>
              <a:sym typeface="Arial"/>
            </a:endParaRPr>
          </a:p>
          <a:p>
            <a:pPr marL="0" marR="0" lvl="0" indent="0" algn="l" rtl="0">
              <a:spcBef>
                <a:spcPts val="0"/>
              </a:spcBef>
              <a:spcAft>
                <a:spcPts val="0"/>
              </a:spcAft>
              <a:buNone/>
            </a:pPr>
            <a:r>
              <a:rPr lang="en-GB" sz="2400">
                <a:solidFill>
                  <a:schemeClr val="dk1"/>
                </a:solidFill>
                <a:latin typeface="Arial"/>
                <a:ea typeface="Arial"/>
                <a:cs typeface="Arial"/>
                <a:sym typeface="Arial"/>
              </a:rPr>
              <a:t> </a:t>
            </a:r>
            <a:endParaRPr/>
          </a:p>
          <a:p>
            <a:pPr marL="0" marR="0" lvl="0" indent="0" algn="l" rtl="0">
              <a:spcBef>
                <a:spcPts val="0"/>
              </a:spcBef>
              <a:spcAft>
                <a:spcPts val="0"/>
              </a:spcAft>
              <a:buNone/>
            </a:pPr>
            <a:r>
              <a:rPr lang="en-GB" sz="2400">
                <a:solidFill>
                  <a:schemeClr val="dk1"/>
                </a:solidFill>
                <a:latin typeface="Arial"/>
                <a:ea typeface="Arial"/>
                <a:cs typeface="Arial"/>
                <a:sym typeface="Arial"/>
              </a:rPr>
              <a:t>(Ignore references to the SAAMCO principle</a:t>
            </a:r>
            <a:r>
              <a:rPr lang="en-GB" sz="2400">
                <a:solidFill>
                  <a:schemeClr val="dk1"/>
                </a:solidFill>
              </a:rPr>
              <a:t> and</a:t>
            </a:r>
            <a:r>
              <a:rPr lang="en-GB" sz="2400">
                <a:solidFill>
                  <a:schemeClr val="dk1"/>
                </a:solidFill>
                <a:latin typeface="Arial"/>
                <a:ea typeface="Arial"/>
                <a:cs typeface="Arial"/>
                <a:sym typeface="Arial"/>
              </a:rPr>
              <a:t> note that the court uses the term ‘equitable compensation’ for what we would describe as ‘substitutive compensation.’) </a:t>
            </a:r>
            <a:endParaRPr/>
          </a:p>
        </p:txBody>
      </p:sp>
    </p:spTree>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1495</Words>
  <Application>Microsoft Office PowerPoint</Application>
  <PresentationFormat>On-screen Show (4:3)</PresentationFormat>
  <Paragraphs>170</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Noto Sans Symbols</vt:lpstr>
      <vt:lpstr>Times</vt:lpstr>
      <vt:lpstr>Times New Roman</vt:lpstr>
      <vt:lpstr>Blank</vt:lpstr>
      <vt:lpstr>   Trusts Law  Week 14: Remedies for breach of non-fiduciary duties  </vt:lpstr>
      <vt:lpstr>PowerPoint Presentation</vt:lpstr>
      <vt:lpstr> Last week and this week  </vt:lpstr>
      <vt:lpstr>Breach and personal liability</vt:lpstr>
      <vt:lpstr>Types of breach</vt:lpstr>
      <vt:lpstr>Considerations to apply</vt:lpstr>
      <vt:lpstr>Losses</vt:lpstr>
      <vt:lpstr>Substitutive compensation (I)</vt:lpstr>
      <vt:lpstr>Substitutive compensation (II)</vt:lpstr>
      <vt:lpstr>Target Holdings Ltd v Redferns [1995] 3 All ER 785</vt:lpstr>
      <vt:lpstr>Changes after          : </vt:lpstr>
      <vt:lpstr>AIB Group (UK) plc v Mark Redler &amp; Co Solicitors [2014] UKSC 58</vt:lpstr>
      <vt:lpstr>Changes after     : </vt:lpstr>
      <vt:lpstr>Reparative compensation (I)</vt:lpstr>
      <vt:lpstr>Reparative compensation (II)</vt:lpstr>
      <vt:lpstr>Apportionment of liability between trustees</vt:lpstr>
      <vt:lpstr>Relief and defences</vt:lpstr>
      <vt:lpstr>Time limitations</vt:lpstr>
      <vt:lpstr>Recap</vt:lpstr>
      <vt:lpstr>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Trusts Law  Week 14: Remedies for breach of non-fiduciary duties  </dc:title>
  <cp:lastModifiedBy>JACQUES, JOHANNA P.</cp:lastModifiedBy>
  <cp:revision>28</cp:revision>
  <dcterms:modified xsi:type="dcterms:W3CDTF">2025-02-03T10:21:48Z</dcterms:modified>
</cp:coreProperties>
</file>