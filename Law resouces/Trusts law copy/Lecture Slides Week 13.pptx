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361" r:id="rId3"/>
    <p:sldId id="35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7B1D1-F9B5-47BA-AE62-E059DC62F2AA}" v="30" dt="2024-01-25T20:50:38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89916" autoAdjust="0"/>
  </p:normalViewPr>
  <p:slideViewPr>
    <p:cSldViewPr snapToGrid="0">
      <p:cViewPr varScale="1">
        <p:scale>
          <a:sx n="58" d="100"/>
          <a:sy n="58" d="100"/>
        </p:scale>
        <p:origin x="15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Jacques" userId="69f3e2d4fa199a86" providerId="Windows Live" clId="Web-{A6E7B1D1-F9B5-47BA-AE62-E059DC62F2AA}"/>
    <pc:docChg chg="addSld modSld">
      <pc:chgData name="Ricardo Jacques" userId="69f3e2d4fa199a86" providerId="Windows Live" clId="Web-{A6E7B1D1-F9B5-47BA-AE62-E059DC62F2AA}" dt="2024-01-25T20:50:38.247" v="28" actId="14100"/>
      <pc:docMkLst>
        <pc:docMk/>
      </pc:docMkLst>
      <pc:sldChg chg="addSp delSp modSp">
        <pc:chgData name="Ricardo Jacques" userId="69f3e2d4fa199a86" providerId="Windows Live" clId="Web-{A6E7B1D1-F9B5-47BA-AE62-E059DC62F2AA}" dt="2024-01-25T20:48:30.103" v="23" actId="20577"/>
        <pc:sldMkLst>
          <pc:docMk/>
          <pc:sldMk cId="0" sldId="260"/>
        </pc:sldMkLst>
        <pc:spChg chg="add mod">
          <ac:chgData name="Ricardo Jacques" userId="69f3e2d4fa199a86" providerId="Windows Live" clId="Web-{A6E7B1D1-F9B5-47BA-AE62-E059DC62F2AA}" dt="2024-01-25T20:47:16.991" v="1"/>
          <ac:spMkLst>
            <pc:docMk/>
            <pc:sldMk cId="0" sldId="260"/>
            <ac:spMk id="3" creationId="{A25F2D5C-BE75-F49D-9AF3-9D0C5590B36C}"/>
          </ac:spMkLst>
        </pc:spChg>
        <pc:spChg chg="del">
          <ac:chgData name="Ricardo Jacques" userId="69f3e2d4fa199a86" providerId="Windows Live" clId="Web-{A6E7B1D1-F9B5-47BA-AE62-E059DC62F2AA}" dt="2024-01-25T20:47:16.991" v="1"/>
          <ac:spMkLst>
            <pc:docMk/>
            <pc:sldMk cId="0" sldId="260"/>
            <ac:spMk id="121" creationId="{00000000-0000-0000-0000-000000000000}"/>
          </ac:spMkLst>
        </pc:spChg>
        <pc:spChg chg="mod">
          <ac:chgData name="Ricardo Jacques" userId="69f3e2d4fa199a86" providerId="Windows Live" clId="Web-{A6E7B1D1-F9B5-47BA-AE62-E059DC62F2AA}" dt="2024-01-25T20:48:30.103" v="23" actId="20577"/>
          <ac:spMkLst>
            <pc:docMk/>
            <pc:sldMk cId="0" sldId="260"/>
            <ac:spMk id="122" creationId="{00000000-0000-0000-0000-000000000000}"/>
          </ac:spMkLst>
        </pc:spChg>
        <pc:picChg chg="del">
          <ac:chgData name="Ricardo Jacques" userId="69f3e2d4fa199a86" providerId="Windows Live" clId="Web-{A6E7B1D1-F9B5-47BA-AE62-E059DC62F2AA}" dt="2024-01-25T20:47:19.663" v="2"/>
          <ac:picMkLst>
            <pc:docMk/>
            <pc:sldMk cId="0" sldId="260"/>
            <ac:picMk id="120" creationId="{00000000-0000-0000-0000-000000000000}"/>
          </ac:picMkLst>
        </pc:picChg>
      </pc:sldChg>
      <pc:sldChg chg="addSp modSp">
        <pc:chgData name="Ricardo Jacques" userId="69f3e2d4fa199a86" providerId="Windows Live" clId="Web-{A6E7B1D1-F9B5-47BA-AE62-E059DC62F2AA}" dt="2024-01-25T20:50:38.247" v="28" actId="14100"/>
        <pc:sldMkLst>
          <pc:docMk/>
          <pc:sldMk cId="2787328111" sldId="360"/>
        </pc:sldMkLst>
        <pc:picChg chg="add mod">
          <ac:chgData name="Ricardo Jacques" userId="69f3e2d4fa199a86" providerId="Windows Live" clId="Web-{A6E7B1D1-F9B5-47BA-AE62-E059DC62F2AA}" dt="2024-01-25T20:50:38.247" v="28" actId="14100"/>
          <ac:picMkLst>
            <pc:docMk/>
            <pc:sldMk cId="2787328111" sldId="360"/>
            <ac:picMk id="2" creationId="{322BE798-C59D-6203-1233-7C1D6EFBFB69}"/>
          </ac:picMkLst>
        </pc:picChg>
      </pc:sldChg>
      <pc:sldChg chg="add replId">
        <pc:chgData name="Ricardo Jacques" userId="69f3e2d4fa199a86" providerId="Windows Live" clId="Web-{A6E7B1D1-F9B5-47BA-AE62-E059DC62F2AA}" dt="2024-01-25T20:47:03.913" v="0"/>
        <pc:sldMkLst>
          <pc:docMk/>
          <pc:sldMk cId="3094283354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6EDD3B6-193A-8C9D-9573-D3BA692F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C820D63C-E144-8370-12A9-F8260599A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>
            <a:extLst>
              <a:ext uri="{FF2B5EF4-FFF2-40B4-BE49-F238E27FC236}">
                <a16:creationId xmlns:a16="http://schemas.microsoft.com/office/drawing/2014/main" id="{03AE576E-1F1B-0075-64E2-75669ABB1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7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be0e36199_0_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1dbe0e361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66336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755650" y="47625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827088" y="2420938"/>
            <a:ext cx="756126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84213" y="1989138"/>
            <a:ext cx="38100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646613" y="1989138"/>
            <a:ext cx="38100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662238" y="11113"/>
            <a:ext cx="381635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4888706" y="2235994"/>
            <a:ext cx="5195888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925513" y="368300"/>
            <a:ext cx="5195888" cy="567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rPr>
              <a:t>∂</a:t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107950" y="107950"/>
            <a:ext cx="8924925" cy="6657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66336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dbook.fca.org.uk/handbook/ESG/1/?view=chapte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hyperlink" Target="https://www.fca.org.uk/publication/finalised-guidance/fg24-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ctrTitle"/>
          </p:nvPr>
        </p:nvSpPr>
        <p:spPr>
          <a:xfrm>
            <a:off x="721519" y="62068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Trusts Law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Week 13: Non-fiduciary duties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/>
            </a:br>
            <a:endParaRPr sz="280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"/>
          </p:nvPr>
        </p:nvSpPr>
        <p:spPr>
          <a:xfrm>
            <a:off x="751547" y="3284984"/>
            <a:ext cx="7561262" cy="12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Dr Johanna Jacques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35F39FB-5CCE-7F9B-FEC9-45CCA925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19403218-A8B8-CF0D-06A6-FEB4FD288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latin typeface="Calibri"/>
                <a:ea typeface="Calibri"/>
                <a:cs typeface="Calibri"/>
                <a:sym typeface="Calibri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Last week and this week</a:t>
            </a:r>
            <a:br>
              <a:rPr lang="en-GB">
                <a:latin typeface="Calibri"/>
                <a:ea typeface="Calibri"/>
                <a:cs typeface="Calibri"/>
                <a:sym typeface="Calibri"/>
              </a:rPr>
            </a:br>
            <a:br>
              <a:rPr lang="en-GB" i="1">
                <a:latin typeface="Calibri"/>
                <a:ea typeface="Calibri"/>
                <a:cs typeface="Calibri"/>
                <a:sym typeface="Calibri"/>
              </a:rPr>
            </a:br>
            <a:endParaRPr lang="en-GB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5C10BF25-677C-02A2-EDA1-28F2BD282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13" y="1609602"/>
            <a:ext cx="4834620" cy="197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/>
              <a:t>Last week:</a:t>
            </a:r>
            <a:endParaRPr lang="en-GB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dirty="0"/>
              <a:t>We looked at trustees’ duties in their capacity as </a:t>
            </a:r>
            <a:r>
              <a:rPr lang="en-GB" sz="2400" dirty="0">
                <a:highlight>
                  <a:srgbClr val="00FFFF"/>
                </a:highlight>
              </a:rPr>
              <a:t>fiduciaries</a:t>
            </a:r>
            <a:r>
              <a:rPr lang="en-GB" sz="2400" dirty="0"/>
              <a:t>. We also covered associated remedies.</a:t>
            </a:r>
            <a:endParaRPr lang="en-GB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lang="en-GB" sz="2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6EC757-C3C5-B9C0-1AC5-A97537DD8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65" y="1763713"/>
            <a:ext cx="2965553" cy="1973441"/>
          </a:xfrm>
          <a:prstGeom prst="rect">
            <a:avLst/>
          </a:prstGeom>
        </p:spPr>
      </p:pic>
      <p:sp>
        <p:nvSpPr>
          <p:cNvPr id="4" name="Google Shape;122;p17">
            <a:extLst>
              <a:ext uri="{FF2B5EF4-FFF2-40B4-BE49-F238E27FC236}">
                <a16:creationId xmlns:a16="http://schemas.microsoft.com/office/drawing/2014/main" id="{4E0D9814-EB27-7999-4899-1A8FED2F81AB}"/>
              </a:ext>
            </a:extLst>
          </p:cNvPr>
          <p:cNvSpPr txBox="1">
            <a:spLocks/>
          </p:cNvSpPr>
          <p:nvPr/>
        </p:nvSpPr>
        <p:spPr>
          <a:xfrm>
            <a:off x="799638" y="3300536"/>
            <a:ext cx="7890480" cy="217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80"/>
              </a:spcBef>
            </a:pPr>
            <a:endParaRPr lang="en-GB" sz="2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480"/>
              </a:spcBef>
            </a:pPr>
            <a:r>
              <a:rPr lang="en-GB" sz="2400" b="1" dirty="0"/>
              <a:t>This week:</a:t>
            </a:r>
            <a:endParaRPr lang="en-GB" dirty="0"/>
          </a:p>
          <a:p>
            <a:pPr marL="342900" indent="-342900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dirty="0"/>
              <a:t>We will look at trustees’ duties in their capacity as </a:t>
            </a:r>
            <a:r>
              <a:rPr lang="en-GB" sz="2400" dirty="0">
                <a:highlight>
                  <a:srgbClr val="00FFFF"/>
                </a:highlight>
              </a:rPr>
              <a:t>trustees</a:t>
            </a:r>
            <a:r>
              <a:rPr lang="en-GB" sz="2400" dirty="0"/>
              <a:t>. We will cover associated remedies next week.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428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8513A72-C5BA-45DB-9DEF-F02E5C87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04664"/>
            <a:ext cx="8153400" cy="1143000"/>
          </a:xfrm>
        </p:spPr>
        <p:txBody>
          <a:bodyPr/>
          <a:lstStyle/>
          <a:p>
            <a:r>
              <a:rPr lang="en-GB" altLang="en-US" sz="4000" dirty="0">
                <a:latin typeface="+mn-lt"/>
                <a:ea typeface="ＭＳ Ｐゴシック" panose="020B0600070205080204" pitchFamily="34" charset="-128"/>
              </a:rPr>
              <a:t>Last week: </a:t>
            </a:r>
            <a:r>
              <a:rPr lang="en-GB" altLang="en-US" sz="4000" i="1" dirty="0">
                <a:latin typeface="+mn-lt"/>
                <a:ea typeface="ＭＳ Ｐゴシック" panose="020B0600070205080204" pitchFamily="34" charset="-128"/>
              </a:rPr>
              <a:t>Boardman v Phipps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28358C9E-D438-44AC-98D3-350180B14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76264"/>
            <a:ext cx="7772400" cy="3816350"/>
          </a:xfrm>
        </p:spPr>
        <p:txBody>
          <a:bodyPr/>
          <a:lstStyle/>
          <a:p>
            <a:r>
              <a:rPr lang="en-GB" sz="2000" i="1" u="sng" dirty="0">
                <a:ea typeface="ＭＳ Ｐゴシック"/>
              </a:rPr>
              <a:t>Boardman v Phipps</a:t>
            </a:r>
            <a:r>
              <a:rPr lang="en-GB" sz="2000" u="sng" dirty="0">
                <a:ea typeface="ＭＳ Ｐゴシック"/>
              </a:rPr>
              <a:t> [1967] 2 AC 46</a:t>
            </a:r>
            <a:endParaRPr lang="en-GB" altLang="en-US" sz="2000" b="1" dirty="0">
              <a:ea typeface="ＭＳ Ｐゴシック"/>
            </a:endParaRPr>
          </a:p>
        </p:txBody>
      </p:sp>
      <p:sp>
        <p:nvSpPr>
          <p:cNvPr id="11268" name="TextBox 4">
            <a:extLst>
              <a:ext uri="{FF2B5EF4-FFF2-40B4-BE49-F238E27FC236}">
                <a16:creationId xmlns:a16="http://schemas.microsoft.com/office/drawing/2014/main" id="{5C7B4279-7AA0-4B1B-992B-132BC1FCB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960" y="2538264"/>
            <a:ext cx="91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 T’s</a:t>
            </a:r>
          </a:p>
        </p:txBody>
      </p:sp>
      <p:sp>
        <p:nvSpPr>
          <p:cNvPr id="11269" name="TextBox 5">
            <a:extLst>
              <a:ext uri="{FF2B5EF4-FFF2-40B4-BE49-F238E27FC236}">
                <a16:creationId xmlns:a16="http://schemas.microsoft.com/office/drawing/2014/main" id="{5F541F1B-EAFA-4C94-8A8D-82CE2AF81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960" y="4748064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B’s; including John Phipps (respondent) and Tom Phipps</a:t>
            </a:r>
          </a:p>
        </p:txBody>
      </p:sp>
      <p:cxnSp>
        <p:nvCxnSpPr>
          <p:cNvPr id="11270" name="Straight Arrow Connector 25">
            <a:extLst>
              <a:ext uri="{FF2B5EF4-FFF2-40B4-BE49-F238E27FC236}">
                <a16:creationId xmlns:a16="http://schemas.microsoft.com/office/drawing/2014/main" id="{0D3DC29F-2864-46CD-8953-7928B548C1C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373561" y="3909864"/>
            <a:ext cx="16764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E43CB5C-29FD-49CD-BE66-2739C7B40A26}"/>
              </a:ext>
            </a:extLst>
          </p:cNvPr>
          <p:cNvSpPr txBox="1"/>
          <p:nvPr/>
        </p:nvSpPr>
        <p:spPr>
          <a:xfrm>
            <a:off x="4345360" y="2538264"/>
            <a:ext cx="4419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Boardman, solicitor (claimant)</a:t>
            </a:r>
          </a:p>
        </p:txBody>
      </p:sp>
      <p:cxnSp>
        <p:nvCxnSpPr>
          <p:cNvPr id="11272" name="Straight Connector 12">
            <a:extLst>
              <a:ext uri="{FF2B5EF4-FFF2-40B4-BE49-F238E27FC236}">
                <a16:creationId xmlns:a16="http://schemas.microsoft.com/office/drawing/2014/main" id="{77FD1FE1-3B66-4679-8B17-AD631CA0AD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40360" y="4062264"/>
            <a:ext cx="3200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4C6AC2-476D-4433-A74B-07AE7C888453}"/>
              </a:ext>
            </a:extLst>
          </p:cNvPr>
          <p:cNvSpPr txBox="1"/>
          <p:nvPr/>
        </p:nvSpPr>
        <p:spPr>
          <a:xfrm>
            <a:off x="3430960" y="3681264"/>
            <a:ext cx="19050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Trust owns 27% of</a:t>
            </a:r>
          </a:p>
        </p:txBody>
      </p:sp>
      <p:cxnSp>
        <p:nvCxnSpPr>
          <p:cNvPr id="11274" name="Straight Connector 15">
            <a:extLst>
              <a:ext uri="{FF2B5EF4-FFF2-40B4-BE49-F238E27FC236}">
                <a16:creationId xmlns:a16="http://schemas.microsoft.com/office/drawing/2014/main" id="{C79E0BA7-B693-4A2B-9934-2F2092D867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68960" y="2766864"/>
            <a:ext cx="1676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3CA988-ED06-4ED0-B383-29B6B82E7D1A}"/>
              </a:ext>
            </a:extLst>
          </p:cNvPr>
          <p:cNvSpPr txBox="1"/>
          <p:nvPr/>
        </p:nvSpPr>
        <p:spPr>
          <a:xfrm>
            <a:off x="2592760" y="2843064"/>
            <a:ext cx="22860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Agency, advice</a:t>
            </a:r>
          </a:p>
        </p:txBody>
      </p:sp>
      <p:cxnSp>
        <p:nvCxnSpPr>
          <p:cNvPr id="11276" name="Elbow Connector 23">
            <a:extLst>
              <a:ext uri="{FF2B5EF4-FFF2-40B4-BE49-F238E27FC236}">
                <a16:creationId xmlns:a16="http://schemas.microsoft.com/office/drawing/2014/main" id="{EF170D83-2A9A-434E-A061-C2414C43FFF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154860" y="3338364"/>
            <a:ext cx="2895600" cy="2209800"/>
          </a:xfrm>
          <a:prstGeom prst="bentConnector3">
            <a:avLst>
              <a:gd name="adj1" fmla="val 100236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7CB4A7D-2676-4CE9-9F56-B86AF90BA4C5}"/>
              </a:ext>
            </a:extLst>
          </p:cNvPr>
          <p:cNvSpPr/>
          <p:nvPr/>
        </p:nvSpPr>
        <p:spPr bwMode="auto">
          <a:xfrm>
            <a:off x="5793160" y="3376464"/>
            <a:ext cx="1981200" cy="1371600"/>
          </a:xfrm>
          <a:prstGeom prst="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COMPANY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BF6B20-9F29-43F4-AA11-C5ABCD19B414}"/>
              </a:ext>
            </a:extLst>
          </p:cNvPr>
          <p:cNvSpPr txBox="1"/>
          <p:nvPr/>
        </p:nvSpPr>
        <p:spPr>
          <a:xfrm>
            <a:off x="6858000" y="5334000"/>
            <a:ext cx="21336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ea typeface="ＭＳ Ｐゴシック" pitchFamily="4" charset="-128"/>
                <a:cs typeface="ＭＳ Ｐゴシック" pitchFamily="4" charset="-128"/>
              </a:rPr>
              <a:t>Boardman and Tom Phipps purchase remaining shares</a:t>
            </a:r>
          </a:p>
        </p:txBody>
      </p:sp>
    </p:spTree>
    <p:extLst>
      <p:ext uri="{BB962C8B-B14F-4D97-AF65-F5344CB8AC3E}">
        <p14:creationId xmlns:p14="http://schemas.microsoft.com/office/powerpoint/2010/main" val="223483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04647" y="1460754"/>
            <a:ext cx="2383177" cy="3936492"/>
          </a:xfrm>
          <a:prstGeom prst="rect">
            <a:avLst/>
          </a:prstGeom>
          <a:noFill/>
          <a:ln w="2857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trustee’s overriding duty</a:t>
            </a:r>
            <a:endParaRPr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2987824" y="1460754"/>
            <a:ext cx="5544020" cy="3936493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CARRY OUT THE TRUST IN ACCORDANCE WITH THE TERMS OF THE TRUST INSTRUMENT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9584D-D628-092E-28EF-212741F5A2F8}"/>
              </a:ext>
            </a:extLst>
          </p:cNvPr>
          <p:cNvSpPr txBox="1">
            <a:spLocks/>
          </p:cNvSpPr>
          <p:nvPr/>
        </p:nvSpPr>
        <p:spPr>
          <a:xfrm>
            <a:off x="707087" y="404664"/>
            <a:ext cx="7772400" cy="10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663366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r>
              <a:rPr lang="en-US" altLang="en-US" dirty="0">
                <a:latin typeface="+mn-lt"/>
                <a:ea typeface="ＭＳ Ｐゴシック" panose="020B0600070205080204" pitchFamily="34" charset="-128"/>
              </a:rPr>
              <a:t>This week: Trustee duties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7513" y="1763714"/>
            <a:ext cx="2601687" cy="2764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Duties from the general law of trusts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51779" y="1611314"/>
            <a:ext cx="5727250" cy="2764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of trustees to </a:t>
            </a:r>
            <a:r>
              <a:rPr lang="en-US" sz="1600" dirty="0" err="1"/>
              <a:t>familiarise</a:t>
            </a:r>
            <a:r>
              <a:rPr lang="en-US" sz="1600" dirty="0"/>
              <a:t> themselves with the terms of the trust and ensure that their appointment was properly made.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to inquire about the past and present business of the trust.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of personal service.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to exercise discretion properly.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to act unanimously.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to keep proper financial accounts and records.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The duty to provide information to beneficiaries. </a:t>
            </a:r>
            <a:endParaRPr dirty="0"/>
          </a:p>
          <a:p>
            <a:pPr marL="34290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/>
          </a:p>
        </p:txBody>
      </p:sp>
      <p:sp>
        <p:nvSpPr>
          <p:cNvPr id="2" name="Google Shape;135;p19">
            <a:extLst>
              <a:ext uri="{FF2B5EF4-FFF2-40B4-BE49-F238E27FC236}">
                <a16:creationId xmlns:a16="http://schemas.microsoft.com/office/drawing/2014/main" id="{2B116CCB-E2E2-7054-438A-9D2BB6549FE1}"/>
              </a:ext>
            </a:extLst>
          </p:cNvPr>
          <p:cNvSpPr txBox="1">
            <a:spLocks/>
          </p:cNvSpPr>
          <p:nvPr/>
        </p:nvSpPr>
        <p:spPr>
          <a:xfrm>
            <a:off x="651779" y="4284323"/>
            <a:ext cx="8307164" cy="138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32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/>
              <a:t>The duty of care.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/>
              <a:t>The duty to have regard to the standard investment criteria and the duty to review.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/>
              <a:t>The duty to obtain and consider advice.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/>
              <a:t>The duty to act in the best interests of the beneficiaries.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/>
              <a:t>The duty of impartiality.</a:t>
            </a:r>
            <a:endParaRPr lang="en-US" dirty="0"/>
          </a:p>
          <a:p>
            <a:pPr marL="342900" indent="-241300">
              <a:spcBef>
                <a:spcPts val="320"/>
              </a:spcBef>
              <a:buClr>
                <a:schemeClr val="dk1"/>
              </a:buClr>
              <a:buSzPts val="1600"/>
            </a:pPr>
            <a:endParaRPr lang="en-US" sz="1600" dirty="0"/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Investments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684213" y="1481137"/>
            <a:ext cx="7772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The general power of investment, s 3(1) TA 2000: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/>
              <a:t>	</a:t>
            </a:r>
            <a:r>
              <a:rPr lang="en-US" sz="1600" dirty="0"/>
              <a:t>“A Trustee may make any kind of investment that he could make if he 	were absolutely entitled to the assets of the trust.”</a:t>
            </a:r>
            <a:endParaRPr sz="16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What is an investment?</a:t>
            </a:r>
            <a:endParaRPr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/>
              <a:t>Investment products that provide income, an increase in capital value or both; or</a:t>
            </a:r>
            <a:endParaRPr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/>
              <a:t>Other property that provides an income or is anticipated to rise in value.</a:t>
            </a:r>
            <a:endParaRPr dirty="0"/>
          </a:p>
          <a:p>
            <a:pPr marL="45720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9757" y="4579898"/>
            <a:ext cx="3304486" cy="1971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duty of care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684213" y="1481137"/>
            <a:ext cx="7772400" cy="3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/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l="960"/>
          <a:stretch/>
        </p:blipFill>
        <p:spPr>
          <a:xfrm>
            <a:off x="777463" y="1763713"/>
            <a:ext cx="7585900" cy="29584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F41FAE-2152-4EEA-26CD-BD22E8BAB7FC}"/>
              </a:ext>
            </a:extLst>
          </p:cNvPr>
          <p:cNvSpPr txBox="1"/>
          <p:nvPr/>
        </p:nvSpPr>
        <p:spPr>
          <a:xfrm>
            <a:off x="2422124" y="5172772"/>
            <a:ext cx="4296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But note the power to exclude in Schedule 1(7) TA 2000!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684226" y="620725"/>
            <a:ext cx="8106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standard of care: Prudence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685788" y="1227137"/>
            <a:ext cx="7772400" cy="3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The ‘prudent man of business’ </a:t>
            </a:r>
            <a:r>
              <a:rPr lang="en-US" sz="2400" i="1" u="sng" dirty="0"/>
              <a:t>(Speight v Gaunt).</a:t>
            </a:r>
            <a:endParaRPr sz="2400" i="1" u="sng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 err="1"/>
              <a:t>Learoyd</a:t>
            </a:r>
            <a:r>
              <a:rPr lang="en-US" sz="2400" i="1" u="sng" dirty="0"/>
              <a:t> v Whiteley</a:t>
            </a:r>
            <a:r>
              <a:rPr lang="en-US" sz="2400" dirty="0"/>
              <a:t>, Court of Appeal: Investing for yourself is nothing like investing for another. </a:t>
            </a:r>
            <a:endParaRPr sz="2400" b="1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 err="1"/>
              <a:t>Learoyd</a:t>
            </a:r>
            <a:r>
              <a:rPr lang="en-US" sz="2400" i="1" u="sng" dirty="0"/>
              <a:t> v Whiteley</a:t>
            </a:r>
            <a:r>
              <a:rPr lang="en-US" sz="2400" dirty="0"/>
              <a:t>, House of Lords: “. . . to avoid all investments of that class which are attended with hazard.”</a:t>
            </a:r>
            <a:endParaRPr sz="24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/>
          </a:p>
        </p:txBody>
      </p:sp>
      <p:pic>
        <p:nvPicPr>
          <p:cNvPr id="156" name="Google Shape;156;p22" descr="COSHH Hazard Symbols and their Meanings Explain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4599" y="3937000"/>
            <a:ext cx="1994800" cy="26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duty of care and Modern Portfolio Theory (MPT)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667093" y="1604913"/>
            <a:ext cx="7772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Bartlett v Barclays Bank</a:t>
            </a:r>
            <a:r>
              <a:rPr lang="en-US" sz="2400" dirty="0"/>
              <a:t>: Prudent businessmen take risks.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Nestle v NatWest</a:t>
            </a:r>
            <a:r>
              <a:rPr lang="en-US" sz="2400" dirty="0"/>
              <a:t>: “An investment which in isolation is too risky and therefore in breach of trust may be justified when held in conjunction with other investments.”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Trustees of the British Museum v AG</a:t>
            </a:r>
            <a:r>
              <a:rPr lang="en-US" sz="2400" dirty="0"/>
              <a:t>: More risks appropriate for larger funds.</a:t>
            </a:r>
            <a:endParaRPr sz="2400" dirty="0"/>
          </a:p>
        </p:txBody>
      </p:sp>
      <p:pic>
        <p:nvPicPr>
          <p:cNvPr id="163" name="Google Shape;163;p23" descr="Modern Portfolio Theory: Why It's Still Hi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0072" y="4516466"/>
            <a:ext cx="3456384" cy="2193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/>
            </a:br>
            <a:r>
              <a:rPr lang="en-GB" dirty="0">
                <a:latin typeface="+mn-lt"/>
              </a:rPr>
              <a:t>The duty of care and different types of trustees</a:t>
            </a:r>
            <a:br>
              <a:rPr lang="en-GB" dirty="0">
                <a:latin typeface="+mn-lt"/>
              </a:rPr>
            </a:br>
            <a:br>
              <a:rPr lang="en-GB" sz="1800" i="1" dirty="0"/>
            </a:br>
            <a:endParaRPr lang="en-GB" sz="1800" dirty="0"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4294967295"/>
          </p:nvPr>
        </p:nvSpPr>
        <p:spPr>
          <a:xfrm>
            <a:off x="685800" y="1943100"/>
            <a:ext cx="5913120" cy="4352544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Standard is variable (see s 1(1) TA 2000).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Continuous balancing act between: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Justifiably high expectations of professional trustees;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Trustees being made to insure investment performance;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Costs.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tx1"/>
                </a:solidFill>
              </a:rPr>
              <a:t>Exclusion clauses are now the norm.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46FA4D-7C5B-4C54-33C3-B2BC1AE3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17" r="66113" b="-2"/>
          <a:stretch/>
        </p:blipFill>
        <p:spPr>
          <a:xfrm>
            <a:off x="6979920" y="1943100"/>
            <a:ext cx="1478279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duty of care in practice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684213" y="1557551"/>
            <a:ext cx="7772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Re Chapman</a:t>
            </a:r>
            <a:r>
              <a:rPr lang="en-US" sz="2400" u="sng" dirty="0"/>
              <a:t> [1896] 2 Ch 763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Nestle v National Westminster Bank Plc</a:t>
            </a:r>
            <a:r>
              <a:rPr lang="en-US" sz="2400" u="sng" dirty="0"/>
              <a:t> [1993] 1 WLR 1260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Bartlett v Barclays Bank Trust Co Ltd</a:t>
            </a:r>
            <a:r>
              <a:rPr lang="en-US" sz="2400" u="sng" dirty="0"/>
              <a:t> [1980] Ch 515</a:t>
            </a:r>
            <a:endParaRPr sz="2400" dirty="0"/>
          </a:p>
        </p:txBody>
      </p:sp>
      <p:pic>
        <p:nvPicPr>
          <p:cNvPr id="177" name="Google Shape;177;p25" descr="Nestlé image library | Nestlé Glob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5329" y="3867055"/>
            <a:ext cx="1796009" cy="179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 descr="FutureBrand | NatWes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2896" y="3867056"/>
            <a:ext cx="3207159" cy="179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 descr="Barclays Bracknell | Banks in Bracknell The Lexicon Shopping - The Lexicon  Brackne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938" y="3867056"/>
            <a:ext cx="1796009" cy="1796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684213" y="764704"/>
            <a:ext cx="7772400" cy="223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duty to have regard to the standard investment criteria and the duty to review</a:t>
            </a:r>
            <a:br>
              <a:rPr lang="en-US"/>
            </a:b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l="5630" t="7304" r="2804" b="11727"/>
          <a:stretch/>
        </p:blipFill>
        <p:spPr>
          <a:xfrm>
            <a:off x="1080567" y="2234040"/>
            <a:ext cx="6982866" cy="3859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duty to obtain and consider advice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 rotWithShape="1">
          <a:blip r:embed="rId3">
            <a:alphaModFix/>
          </a:blip>
          <a:srcRect l="7408" t="8420" r="3118" b="24800"/>
          <a:stretch/>
        </p:blipFill>
        <p:spPr>
          <a:xfrm>
            <a:off x="206150" y="1628800"/>
            <a:ext cx="8731699" cy="4032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856" y="2236424"/>
            <a:ext cx="1327739" cy="131911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duty to act in the best interests of the beneficiaries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759570" y="1801368"/>
            <a:ext cx="7772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Financial vs. non-financial: </a:t>
            </a:r>
            <a:r>
              <a:rPr lang="en-GB" sz="2400" i="1" u="sng" dirty="0"/>
              <a:t>Cowan v Scargill</a:t>
            </a:r>
            <a:r>
              <a:rPr lang="en-GB" sz="2400" u="sng" dirty="0"/>
              <a:t> [1985] Ch 270</a:t>
            </a:r>
            <a:r>
              <a:rPr lang="en-GB" sz="2400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2400" u="sng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Purpose of the trust? </a:t>
            </a:r>
            <a:r>
              <a:rPr lang="en-GB" sz="2400" i="1" u="sng" dirty="0"/>
              <a:t>Merchant Navy Ratings Pension Fund Trustees Ltd v Stena Line Ltd and others</a:t>
            </a:r>
            <a:r>
              <a:rPr lang="en-GB" sz="2400" u="sng" dirty="0"/>
              <a:t> [2015] EWHC 448 (Ch)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2400" u="sng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ESG investments: </a:t>
            </a:r>
            <a:r>
              <a:rPr lang="en-GB" sz="2400" i="1" u="sng" dirty="0"/>
              <a:t>Harries v Church Commissioners </a:t>
            </a:r>
            <a:r>
              <a:rPr lang="en-GB" sz="2400" u="sng" dirty="0"/>
              <a:t>[1992] 1 WLR 1241</a:t>
            </a:r>
            <a:r>
              <a:rPr lang="en-GB" sz="2400" dirty="0"/>
              <a:t>; </a:t>
            </a:r>
            <a:r>
              <a:rPr lang="en-GB" sz="2400" i="1" u="sng" dirty="0"/>
              <a:t>Butler-</a:t>
            </a:r>
            <a:r>
              <a:rPr lang="en-GB" sz="2400" i="1" u="sng" dirty="0" err="1"/>
              <a:t>Sloss</a:t>
            </a:r>
            <a:r>
              <a:rPr lang="en-GB" sz="2400" i="1" u="sng" dirty="0"/>
              <a:t> v The Charity Commission</a:t>
            </a:r>
            <a:r>
              <a:rPr lang="en-GB" sz="2400" u="sng" dirty="0"/>
              <a:t> [2022] EWHC 974 (Ch)</a:t>
            </a:r>
            <a:endParaRPr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 descr="Sinai and Sons, London, Raphael and Joshua Sinai – Offering Documented and  Unusual Examples of 19th and 20th Century Decorative Ar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8599" y="2681976"/>
            <a:ext cx="2540124" cy="381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The duty of impartiality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 i="1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684213" y="1557551"/>
            <a:ext cx="7772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Life tenants vs. remaindermen.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Duty to invest, but no duty to convert if not intended by the settlor.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Fair balance ≠ equality.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1" u="sng" dirty="0"/>
              <a:t>Nestle v National </a:t>
            </a:r>
            <a:endParaRPr sz="2400" i="1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i="1" dirty="0"/>
              <a:t>    </a:t>
            </a:r>
            <a:r>
              <a:rPr lang="en-US" sz="2400" i="1" u="sng" dirty="0"/>
              <a:t>Westminster Bank Plc.</a:t>
            </a:r>
            <a:endParaRPr sz="2400" i="1" u="sng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Does not apply to discretionary</a:t>
            </a:r>
            <a:endParaRPr sz="2400" dirty="0"/>
          </a:p>
          <a:p>
            <a:pPr marL="342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/>
              <a:t>Powers.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body" idx="1"/>
          </p:nvPr>
        </p:nvSpPr>
        <p:spPr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342900" lvl="0" indent="-34290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/>
              <a:t>“Lord Chancellor </a:t>
            </a:r>
            <a:r>
              <a:rPr lang="en-US" sz="2400" dirty="0" err="1"/>
              <a:t>Cottenham</a:t>
            </a:r>
            <a:r>
              <a:rPr lang="en-US" sz="2400" dirty="0"/>
              <a:t> once deemed any man who would accept a trusteeship a second time fit only for a lunatic asylum”</a:t>
            </a:r>
            <a:endParaRPr dirty="0"/>
          </a:p>
          <a:p>
            <a:pPr marL="342900" lvl="0" indent="-342900" algn="ctr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600" i="1" dirty="0"/>
              <a:t>(Moffat’s Trusts Law)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685800" y="404664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Recap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534988" y="1752600"/>
            <a:ext cx="7923212" cy="383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addition to fiduciary duties, trustees are also subject to non-fiduciary duties.</a:t>
            </a:r>
            <a:endParaRPr/>
          </a:p>
          <a:p>
            <a:pPr marL="571500" marR="0" lvl="0" indent="-571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these, we have discussed the duties most relevant to investment decisions (except for delegation).</a:t>
            </a:r>
            <a:endParaRPr/>
          </a:p>
          <a:p>
            <a:pPr marL="571500" marR="0" lvl="0" indent="-571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a stringent duty of care arises, in practice a breach is difficult to litigate.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0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Activity</a:t>
            </a:r>
            <a:endParaRPr dirty="0"/>
          </a:p>
        </p:txBody>
      </p:sp>
      <p:sp>
        <p:nvSpPr>
          <p:cNvPr id="223" name="Google Shape;223;p32"/>
          <p:cNvSpPr txBox="1"/>
          <p:nvPr/>
        </p:nvSpPr>
        <p:spPr>
          <a:xfrm>
            <a:off x="685800" y="1412776"/>
            <a:ext cx="5463721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‘Greenwashing’ </a:t>
            </a:r>
            <a:r>
              <a:rPr lang="en-GB" sz="2000" dirty="0">
                <a:solidFill>
                  <a:schemeClr val="dk1"/>
                </a:solidFill>
                <a:latin typeface="+mn-lt"/>
              </a:rPr>
              <a:t>refers to firms making untrue statements about their climate credentials. The Financial Conduct Authority has introduced rules on greenwashing for the financial services sector (</a:t>
            </a:r>
            <a:r>
              <a:rPr lang="en-GB" sz="2000" dirty="0">
                <a:solidFill>
                  <a:schemeClr val="dk1"/>
                </a:solidFill>
                <a:latin typeface="+mn-lt"/>
                <a:hlinkClick r:id="rId3"/>
              </a:rPr>
              <a:t>ESG – the Environmental, Social and Governance sourcebook</a:t>
            </a:r>
            <a:r>
              <a:rPr lang="en-GB" sz="2000" dirty="0">
                <a:solidFill>
                  <a:schemeClr val="dk1"/>
                </a:solidFill>
                <a:latin typeface="+mn-lt"/>
              </a:rPr>
              <a:t>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+mn-lt"/>
              </a:rPr>
              <a:t>Alongside these rules, the FCA has also issued guidance that gives examples of good and bad practice. You can find the guidance </a:t>
            </a:r>
            <a:r>
              <a:rPr lang="en-GB" sz="2000" dirty="0">
                <a:solidFill>
                  <a:schemeClr val="dk1"/>
                </a:solidFill>
                <a:latin typeface="+mn-lt"/>
                <a:hlinkClick r:id="rId4"/>
              </a:rPr>
              <a:t>here</a:t>
            </a:r>
            <a:r>
              <a:rPr lang="en-GB" sz="2000" dirty="0">
                <a:solidFill>
                  <a:schemeClr val="dk1"/>
                </a:solidFill>
                <a:latin typeface="+mn-lt"/>
              </a:rPr>
              <a:t>. Have a look at the example boxes only, starting on page 8. This should give you an idea of the aim of these rules.</a:t>
            </a:r>
          </a:p>
        </p:txBody>
      </p:sp>
      <p:pic>
        <p:nvPicPr>
          <p:cNvPr id="1028" name="Picture 4" descr="What does transparency mean when it comes to climate change? | Climate  Promise">
            <a:extLst>
              <a:ext uri="{FF2B5EF4-FFF2-40B4-BE49-F238E27FC236}">
                <a16:creationId xmlns:a16="http://schemas.microsoft.com/office/drawing/2014/main" id="{0A33C947-6683-87F8-BD6C-AD388596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992" y="316459"/>
            <a:ext cx="2588601" cy="193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922</Words>
  <Application>Microsoft Office PowerPoint</Application>
  <PresentationFormat>On-screen Show (4:3)</PresentationFormat>
  <Paragraphs>90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ＭＳ Ｐゴシック</vt:lpstr>
      <vt:lpstr>Arial</vt:lpstr>
      <vt:lpstr>Calibri</vt:lpstr>
      <vt:lpstr>Noto Sans Symbols</vt:lpstr>
      <vt:lpstr>Times</vt:lpstr>
      <vt:lpstr>Times New Roman</vt:lpstr>
      <vt:lpstr>Blank</vt:lpstr>
      <vt:lpstr>   Trusts Law  Week 13: Non-fiduciary duties  </vt:lpstr>
      <vt:lpstr> Last week and this week  </vt:lpstr>
      <vt:lpstr>Last week: Boardman v Phipps</vt:lpstr>
      <vt:lpstr>A trustee’s overriding duty</vt:lpstr>
      <vt:lpstr> Duties from the general law of trusts  </vt:lpstr>
      <vt:lpstr> Investments  </vt:lpstr>
      <vt:lpstr> The duty of care  </vt:lpstr>
      <vt:lpstr> The standard of care: Prudence  </vt:lpstr>
      <vt:lpstr> The duty of care and Modern Portfolio Theory (MPT)  </vt:lpstr>
      <vt:lpstr> The duty of care and different types of trustees  </vt:lpstr>
      <vt:lpstr> The duty of care in practice  </vt:lpstr>
      <vt:lpstr> The duty to have regard to the standard investment criteria and the duty to review   </vt:lpstr>
      <vt:lpstr> The duty to obtain and consider advice  </vt:lpstr>
      <vt:lpstr> The duty to act in the best interests of the beneficiaries  </vt:lpstr>
      <vt:lpstr> The duty of impartiality  </vt:lpstr>
      <vt:lpstr>PowerPoint Presentation</vt:lpstr>
      <vt:lpstr>Recap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Trusts Law  Week 13: Non-fiduciary duties  </dc:title>
  <cp:lastModifiedBy>JACQUES, JOHANNA P.</cp:lastModifiedBy>
  <cp:revision>22</cp:revision>
  <cp:lastPrinted>2024-01-26T10:36:05Z</cp:lastPrinted>
  <dcterms:modified xsi:type="dcterms:W3CDTF">2025-01-27T10:43:08Z</dcterms:modified>
</cp:coreProperties>
</file>