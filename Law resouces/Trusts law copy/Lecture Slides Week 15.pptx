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saveSubsetFonts="1">
  <p:sldMasterIdLst>
    <p:sldMasterId id="2147483648" r:id="rId1"/>
  </p:sldMasterIdLst>
  <p:notesMasterIdLst>
    <p:notesMasterId r:id="rId26"/>
  </p:notesMasterIdLst>
  <p:sldIdLst>
    <p:sldId id="274" r:id="rId2"/>
    <p:sldId id="278" r:id="rId3"/>
    <p:sldId id="260" r:id="rId4"/>
    <p:sldId id="299" r:id="rId5"/>
    <p:sldId id="545" r:id="rId6"/>
    <p:sldId id="533" r:id="rId7"/>
    <p:sldId id="535" r:id="rId8"/>
    <p:sldId id="536" r:id="rId9"/>
    <p:sldId id="537" r:id="rId10"/>
    <p:sldId id="357" r:id="rId11"/>
    <p:sldId id="538" r:id="rId12"/>
    <p:sldId id="550" r:id="rId13"/>
    <p:sldId id="539" r:id="rId14"/>
    <p:sldId id="540" r:id="rId15"/>
    <p:sldId id="541" r:id="rId16"/>
    <p:sldId id="542" r:id="rId17"/>
    <p:sldId id="380" r:id="rId18"/>
    <p:sldId id="381" r:id="rId19"/>
    <p:sldId id="378" r:id="rId20"/>
    <p:sldId id="543" r:id="rId21"/>
    <p:sldId id="544" r:id="rId22"/>
    <p:sldId id="290" r:id="rId23"/>
    <p:sldId id="356" r:id="rId24"/>
    <p:sldId id="546" r:id="rId25"/>
  </p:sldIdLst>
  <p:sldSz cx="9144000" cy="6858000" type="screen4x3"/>
  <p:notesSz cx="6858000" cy="9144000"/>
  <p:defaultTextStyle>
    <a:defPPr>
      <a:defRPr lang="en-GB"/>
    </a:defPPr>
    <a:lvl1pPr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7CC7"/>
    <a:srgbClr val="C0606B"/>
    <a:srgbClr val="663366"/>
    <a:srgbClr val="F9CAFE"/>
    <a:srgbClr val="8093DA"/>
    <a:srgbClr val="A2A945"/>
    <a:srgbClr val="C19377"/>
    <a:srgbClr val="DEE1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6961F1-CC86-4EA9-A849-6FF189FB9E5D}" v="2" dt="2020-11-24T09:37:51.307"/>
    <p1510:client id="{ED1659D8-31A9-4ED9-92CD-63C4C2394A0D}" v="80" dt="2020-11-27T15:10:50.2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53" autoAdjust="0"/>
    <p:restoredTop sz="94660"/>
  </p:normalViewPr>
  <p:slideViewPr>
    <p:cSldViewPr>
      <p:cViewPr varScale="1">
        <p:scale>
          <a:sx n="64" d="100"/>
          <a:sy n="64" d="100"/>
        </p:scale>
        <p:origin x="736" y="48"/>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54" d="100"/>
          <a:sy n="54" d="100"/>
        </p:scale>
        <p:origin x="-115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40E3C261-B448-4441-BB46-E5A2BDD1348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8" charset="0"/>
                <a:ea typeface="+mn-ea"/>
                <a:cs typeface="+mn-cs"/>
              </a:defRPr>
            </a:lvl1pPr>
          </a:lstStyle>
          <a:p>
            <a:pPr>
              <a:defRPr/>
            </a:pPr>
            <a:endParaRPr lang="en-GB"/>
          </a:p>
        </p:txBody>
      </p:sp>
      <p:sp>
        <p:nvSpPr>
          <p:cNvPr id="24579" name="Rectangle 3">
            <a:extLst>
              <a:ext uri="{FF2B5EF4-FFF2-40B4-BE49-F238E27FC236}">
                <a16:creationId xmlns:a16="http://schemas.microsoft.com/office/drawing/2014/main" id="{5A0C0D56-0608-4264-9B45-F2A206274AAA}"/>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8" charset="0"/>
                <a:ea typeface="+mn-ea"/>
                <a:cs typeface="+mn-cs"/>
              </a:defRPr>
            </a:lvl1pPr>
          </a:lstStyle>
          <a:p>
            <a:pPr>
              <a:defRPr/>
            </a:pPr>
            <a:endParaRPr lang="en-GB"/>
          </a:p>
        </p:txBody>
      </p:sp>
      <p:sp>
        <p:nvSpPr>
          <p:cNvPr id="3076" name="Rectangle 4">
            <a:extLst>
              <a:ext uri="{FF2B5EF4-FFF2-40B4-BE49-F238E27FC236}">
                <a16:creationId xmlns:a16="http://schemas.microsoft.com/office/drawing/2014/main" id="{2D1D2E50-49C5-4533-96AF-A7C7EECDFFE0}"/>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1" name="Rectangle 5">
            <a:extLst>
              <a:ext uri="{FF2B5EF4-FFF2-40B4-BE49-F238E27FC236}">
                <a16:creationId xmlns:a16="http://schemas.microsoft.com/office/drawing/2014/main" id="{93208D0A-AF9A-4C90-943B-AD8303FCB5EE}"/>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a:extLst>
              <a:ext uri="{FF2B5EF4-FFF2-40B4-BE49-F238E27FC236}">
                <a16:creationId xmlns:a16="http://schemas.microsoft.com/office/drawing/2014/main" id="{1912AC1D-966F-4E62-812A-630AC71691CB}"/>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8" charset="0"/>
                <a:ea typeface="+mn-ea"/>
                <a:cs typeface="+mn-cs"/>
              </a:defRPr>
            </a:lvl1pPr>
          </a:lstStyle>
          <a:p>
            <a:pPr>
              <a:defRPr/>
            </a:pPr>
            <a:endParaRPr lang="en-GB"/>
          </a:p>
        </p:txBody>
      </p:sp>
      <p:sp>
        <p:nvSpPr>
          <p:cNvPr id="24583" name="Rectangle 7">
            <a:extLst>
              <a:ext uri="{FF2B5EF4-FFF2-40B4-BE49-F238E27FC236}">
                <a16:creationId xmlns:a16="http://schemas.microsoft.com/office/drawing/2014/main" id="{B112D953-89D2-4162-AA6E-F5EBB55BCC51}"/>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16AE4678-90B4-4C05-A085-EF63AAF3CD64}"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ＭＳ Ｐゴシック" pitchFamily="4" charset="-128"/>
      </a:defRPr>
    </a:lvl1pPr>
    <a:lvl2pPr marL="4572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ＭＳ Ｐゴシック" pitchFamily="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8" name="Google Shape;11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29C45B4A-9683-4D90-922F-4E654AE87F69}"/>
              </a:ext>
            </a:extLst>
          </p:cNvPr>
          <p:cNvSpPr>
            <a:spLocks noChangeArrowheads="1"/>
          </p:cNvSpPr>
          <p:nvPr userDrawn="1"/>
        </p:nvSpPr>
        <p:spPr bwMode="auto">
          <a:xfrm>
            <a:off x="0" y="0"/>
            <a:ext cx="9144000" cy="5516563"/>
          </a:xfrm>
          <a:prstGeom prst="rect">
            <a:avLst/>
          </a:prstGeom>
          <a:solidFill>
            <a:srgbClr val="663366"/>
          </a:solidFill>
          <a:ln>
            <a:noFill/>
          </a:ln>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a typeface="+mn-ea"/>
            </a:endParaRPr>
          </a:p>
        </p:txBody>
      </p:sp>
      <p:pic>
        <p:nvPicPr>
          <p:cNvPr id="5" name="Picture 8">
            <a:extLst>
              <a:ext uri="{FF2B5EF4-FFF2-40B4-BE49-F238E27FC236}">
                <a16:creationId xmlns:a16="http://schemas.microsoft.com/office/drawing/2014/main" id="{C95370D7-3277-4EC9-A1BF-A9ADB42E60B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GB"/>
              <a:t>Click to edit Master title style</a:t>
            </a:r>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GB"/>
              <a:t>Click to edit Master subtitle style</a:t>
            </a:r>
          </a:p>
        </p:txBody>
      </p:sp>
      <p:sp>
        <p:nvSpPr>
          <p:cNvPr id="6" name="Rectangle 6">
            <a:extLst>
              <a:ext uri="{FF2B5EF4-FFF2-40B4-BE49-F238E27FC236}">
                <a16:creationId xmlns:a16="http://schemas.microsoft.com/office/drawing/2014/main" id="{D3264623-1ED4-4C0D-A04E-89E8770981EA}"/>
              </a:ext>
            </a:extLst>
          </p:cNvPr>
          <p:cNvSpPr>
            <a:spLocks noGrp="1" noChangeArrowheads="1"/>
          </p:cNvSpPr>
          <p:nvPr>
            <p:ph type="sldNum" sz="quarter" idx="10"/>
          </p:nvPr>
        </p:nvSpPr>
        <p:spPr>
          <a:xfrm>
            <a:off x="6553200" y="6245225"/>
            <a:ext cx="2133600" cy="476250"/>
          </a:xfrm>
        </p:spPr>
        <p:txBody>
          <a:bodyPr/>
          <a:lstStyle>
            <a:lvl1pPr>
              <a:defRPr/>
            </a:lvl1pPr>
          </a:lstStyle>
          <a:p>
            <a:pPr>
              <a:defRPr/>
            </a:pPr>
            <a:fld id="{89C7692E-AA10-4566-8C32-4FF2F79061E9}" type="slidenum">
              <a:rPr lang="en-GB" altLang="en-US"/>
              <a:pPr>
                <a:defRPr/>
              </a:pPr>
              <a:t>‹#›</a:t>
            </a:fld>
            <a:endParaRPr lang="en-GB" altLang="en-US"/>
          </a:p>
        </p:txBody>
      </p:sp>
    </p:spTree>
    <p:extLst>
      <p:ext uri="{BB962C8B-B14F-4D97-AF65-F5344CB8AC3E}">
        <p14:creationId xmlns:p14="http://schemas.microsoft.com/office/powerpoint/2010/main" val="3901625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8593661B-2C4A-4938-B4A1-F04DB78BB752}"/>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99455869-7788-438B-BAF6-4D3723E9DBE1}"/>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14C21E5B-32F1-4758-B476-CBE69BA8B65B}"/>
              </a:ext>
            </a:extLst>
          </p:cNvPr>
          <p:cNvSpPr>
            <a:spLocks noGrp="1" noChangeArrowheads="1"/>
          </p:cNvSpPr>
          <p:nvPr>
            <p:ph type="sldNum" sz="quarter" idx="12"/>
          </p:nvPr>
        </p:nvSpPr>
        <p:spPr>
          <a:ln/>
        </p:spPr>
        <p:txBody>
          <a:bodyPr/>
          <a:lstStyle>
            <a:lvl1pPr>
              <a:defRPr/>
            </a:lvl1pPr>
          </a:lstStyle>
          <a:p>
            <a:pPr>
              <a:defRPr/>
            </a:pPr>
            <a:fld id="{7768E837-C9AF-4723-AB3A-9EB2A919E4FA}" type="slidenum">
              <a:rPr lang="en-GB" altLang="en-US"/>
              <a:pPr>
                <a:defRPr/>
              </a:pPr>
              <a:t>‹#›</a:t>
            </a:fld>
            <a:endParaRPr lang="en-GB" altLang="en-US"/>
          </a:p>
        </p:txBody>
      </p:sp>
    </p:spTree>
    <p:extLst>
      <p:ext uri="{BB962C8B-B14F-4D97-AF65-F5344CB8AC3E}">
        <p14:creationId xmlns:p14="http://schemas.microsoft.com/office/powerpoint/2010/main" val="1176960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A0E0DA5F-9BDF-4830-82F9-DBE2188DD1A7}"/>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1CAFFB10-6073-4716-93EA-309E957D0E39}"/>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894CE2F2-B33A-47A0-882C-9C6710D7436E}"/>
              </a:ext>
            </a:extLst>
          </p:cNvPr>
          <p:cNvSpPr>
            <a:spLocks noGrp="1" noChangeArrowheads="1"/>
          </p:cNvSpPr>
          <p:nvPr>
            <p:ph type="sldNum" sz="quarter" idx="12"/>
          </p:nvPr>
        </p:nvSpPr>
        <p:spPr>
          <a:ln/>
        </p:spPr>
        <p:txBody>
          <a:bodyPr/>
          <a:lstStyle>
            <a:lvl1pPr>
              <a:defRPr/>
            </a:lvl1pPr>
          </a:lstStyle>
          <a:p>
            <a:pPr>
              <a:defRPr/>
            </a:pPr>
            <a:fld id="{E000B14A-E303-4B19-BCA7-55F3D872DA11}" type="slidenum">
              <a:rPr lang="en-GB" altLang="en-US"/>
              <a:pPr>
                <a:defRPr/>
              </a:pPr>
              <a:t>‹#›</a:t>
            </a:fld>
            <a:endParaRPr lang="en-GB" altLang="en-US"/>
          </a:p>
        </p:txBody>
      </p:sp>
    </p:spTree>
    <p:extLst>
      <p:ext uri="{BB962C8B-B14F-4D97-AF65-F5344CB8AC3E}">
        <p14:creationId xmlns:p14="http://schemas.microsoft.com/office/powerpoint/2010/main" val="4043030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a:extLst>
              <a:ext uri="{FF2B5EF4-FFF2-40B4-BE49-F238E27FC236}">
                <a16:creationId xmlns:a16="http://schemas.microsoft.com/office/drawing/2014/main" id="{2B802FAA-266B-49BE-BC84-9D954A195567}"/>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6201F10C-4C85-480A-AB9F-ACA0B4A92472}"/>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C3B84531-85D4-444B-B4AE-924AED62E4CE}"/>
              </a:ext>
            </a:extLst>
          </p:cNvPr>
          <p:cNvSpPr>
            <a:spLocks noGrp="1" noChangeArrowheads="1"/>
          </p:cNvSpPr>
          <p:nvPr>
            <p:ph type="sldNum" sz="quarter" idx="12"/>
          </p:nvPr>
        </p:nvSpPr>
        <p:spPr>
          <a:ln/>
        </p:spPr>
        <p:txBody>
          <a:bodyPr/>
          <a:lstStyle>
            <a:lvl1pPr>
              <a:defRPr/>
            </a:lvl1pPr>
          </a:lstStyle>
          <a:p>
            <a:pPr>
              <a:defRPr/>
            </a:pPr>
            <a:fld id="{0B6B5AEB-2AE3-4C36-B080-75DB24B8A01A}" type="slidenum">
              <a:rPr lang="en-GB" altLang="en-US"/>
              <a:pPr>
                <a:defRPr/>
              </a:pPr>
              <a:t>‹#›</a:t>
            </a:fld>
            <a:endParaRPr lang="en-GB" altLang="en-US"/>
          </a:p>
        </p:txBody>
      </p:sp>
    </p:spTree>
    <p:extLst>
      <p:ext uri="{BB962C8B-B14F-4D97-AF65-F5344CB8AC3E}">
        <p14:creationId xmlns:p14="http://schemas.microsoft.com/office/powerpoint/2010/main" val="1066959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a:extLst>
              <a:ext uri="{FF2B5EF4-FFF2-40B4-BE49-F238E27FC236}">
                <a16:creationId xmlns:a16="http://schemas.microsoft.com/office/drawing/2014/main" id="{1B46C861-E9C1-4234-9BDE-B93068EFE150}"/>
              </a:ext>
            </a:extLst>
          </p:cNvPr>
          <p:cNvSpPr>
            <a:spLocks noGrp="1" noChangeArrowheads="1"/>
          </p:cNvSpPr>
          <p:nvPr>
            <p:ph type="dt" sz="half" idx="10"/>
          </p:nvPr>
        </p:nvSpPr>
        <p:spPr>
          <a:ln/>
        </p:spPr>
        <p:txBody>
          <a:bodyPr/>
          <a:lstStyle>
            <a:lvl1pPr>
              <a:defRPr/>
            </a:lvl1pPr>
          </a:lstStyle>
          <a:p>
            <a:pPr>
              <a:defRPr/>
            </a:pPr>
            <a:endParaRPr lang="en-GB"/>
          </a:p>
        </p:txBody>
      </p:sp>
      <p:sp>
        <p:nvSpPr>
          <p:cNvPr id="8" name="Rectangle 5">
            <a:extLst>
              <a:ext uri="{FF2B5EF4-FFF2-40B4-BE49-F238E27FC236}">
                <a16:creationId xmlns:a16="http://schemas.microsoft.com/office/drawing/2014/main" id="{47B9337C-DFB1-44E2-9091-341A33DA0AE0}"/>
              </a:ext>
            </a:extLst>
          </p:cNvPr>
          <p:cNvSpPr>
            <a:spLocks noGrp="1" noChangeArrowheads="1"/>
          </p:cNvSpPr>
          <p:nvPr>
            <p:ph type="ftr" sz="quarter" idx="11"/>
          </p:nvPr>
        </p:nvSpPr>
        <p:spPr>
          <a:ln/>
        </p:spPr>
        <p:txBody>
          <a:bodyPr/>
          <a:lstStyle>
            <a:lvl1pPr>
              <a:defRPr/>
            </a:lvl1pPr>
          </a:lstStyle>
          <a:p>
            <a:pPr>
              <a:defRPr/>
            </a:pPr>
            <a:endParaRPr lang="en-GB"/>
          </a:p>
        </p:txBody>
      </p:sp>
      <p:sp>
        <p:nvSpPr>
          <p:cNvPr id="9" name="Rectangle 6">
            <a:extLst>
              <a:ext uri="{FF2B5EF4-FFF2-40B4-BE49-F238E27FC236}">
                <a16:creationId xmlns:a16="http://schemas.microsoft.com/office/drawing/2014/main" id="{EACE1486-EE8F-4A17-83D5-93299B73C722}"/>
              </a:ext>
            </a:extLst>
          </p:cNvPr>
          <p:cNvSpPr>
            <a:spLocks noGrp="1" noChangeArrowheads="1"/>
          </p:cNvSpPr>
          <p:nvPr>
            <p:ph type="sldNum" sz="quarter" idx="12"/>
          </p:nvPr>
        </p:nvSpPr>
        <p:spPr>
          <a:ln/>
        </p:spPr>
        <p:txBody>
          <a:bodyPr/>
          <a:lstStyle>
            <a:lvl1pPr>
              <a:defRPr/>
            </a:lvl1pPr>
          </a:lstStyle>
          <a:p>
            <a:pPr>
              <a:defRPr/>
            </a:pPr>
            <a:fld id="{210A4DB5-9773-48DF-AA9B-18B51FB9D167}" type="slidenum">
              <a:rPr lang="en-GB" altLang="en-US"/>
              <a:pPr>
                <a:defRPr/>
              </a:pPr>
              <a:t>‹#›</a:t>
            </a:fld>
            <a:endParaRPr lang="en-GB" altLang="en-US"/>
          </a:p>
        </p:txBody>
      </p:sp>
    </p:spTree>
    <p:extLst>
      <p:ext uri="{BB962C8B-B14F-4D97-AF65-F5344CB8AC3E}">
        <p14:creationId xmlns:p14="http://schemas.microsoft.com/office/powerpoint/2010/main" val="2083595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21D7EF32-6B26-4C33-8556-738C86D391D8}"/>
              </a:ext>
            </a:extLst>
          </p:cNvPr>
          <p:cNvSpPr>
            <a:spLocks noGrp="1" noChangeArrowheads="1"/>
          </p:cNvSpPr>
          <p:nvPr>
            <p:ph type="dt" sz="half" idx="10"/>
          </p:nvPr>
        </p:nvSpPr>
        <p:spPr>
          <a:ln/>
        </p:spPr>
        <p:txBody>
          <a:bodyPr/>
          <a:lstStyle>
            <a:lvl1pPr>
              <a:defRPr/>
            </a:lvl1pPr>
          </a:lstStyle>
          <a:p>
            <a:pPr>
              <a:defRPr/>
            </a:pPr>
            <a:endParaRPr lang="en-GB"/>
          </a:p>
        </p:txBody>
      </p:sp>
      <p:sp>
        <p:nvSpPr>
          <p:cNvPr id="4" name="Rectangle 5">
            <a:extLst>
              <a:ext uri="{FF2B5EF4-FFF2-40B4-BE49-F238E27FC236}">
                <a16:creationId xmlns:a16="http://schemas.microsoft.com/office/drawing/2014/main" id="{7BC65D2D-E19C-4AE2-99B5-E753958ACD10}"/>
              </a:ext>
            </a:extLst>
          </p:cNvPr>
          <p:cNvSpPr>
            <a:spLocks noGrp="1" noChangeArrowheads="1"/>
          </p:cNvSpPr>
          <p:nvPr>
            <p:ph type="ftr" sz="quarter" idx="11"/>
          </p:nvPr>
        </p:nvSpPr>
        <p:spPr>
          <a:ln/>
        </p:spPr>
        <p:txBody>
          <a:bodyPr/>
          <a:lstStyle>
            <a:lvl1pPr>
              <a:defRPr/>
            </a:lvl1pPr>
          </a:lstStyle>
          <a:p>
            <a:pPr>
              <a:defRPr/>
            </a:pPr>
            <a:endParaRPr lang="en-GB"/>
          </a:p>
        </p:txBody>
      </p:sp>
      <p:sp>
        <p:nvSpPr>
          <p:cNvPr id="5" name="Rectangle 6">
            <a:extLst>
              <a:ext uri="{FF2B5EF4-FFF2-40B4-BE49-F238E27FC236}">
                <a16:creationId xmlns:a16="http://schemas.microsoft.com/office/drawing/2014/main" id="{AE2D4E06-50F6-463A-8430-DA21B6A686C9}"/>
              </a:ext>
            </a:extLst>
          </p:cNvPr>
          <p:cNvSpPr>
            <a:spLocks noGrp="1" noChangeArrowheads="1"/>
          </p:cNvSpPr>
          <p:nvPr>
            <p:ph type="sldNum" sz="quarter" idx="12"/>
          </p:nvPr>
        </p:nvSpPr>
        <p:spPr>
          <a:ln/>
        </p:spPr>
        <p:txBody>
          <a:bodyPr/>
          <a:lstStyle>
            <a:lvl1pPr>
              <a:defRPr/>
            </a:lvl1pPr>
          </a:lstStyle>
          <a:p>
            <a:pPr>
              <a:defRPr/>
            </a:pPr>
            <a:fld id="{55237459-80F6-4E48-A1BD-07C9E51F56B1}" type="slidenum">
              <a:rPr lang="en-GB" altLang="en-US"/>
              <a:pPr>
                <a:defRPr/>
              </a:pPr>
              <a:t>‹#›</a:t>
            </a:fld>
            <a:endParaRPr lang="en-GB" altLang="en-US"/>
          </a:p>
        </p:txBody>
      </p:sp>
    </p:spTree>
    <p:extLst>
      <p:ext uri="{BB962C8B-B14F-4D97-AF65-F5344CB8AC3E}">
        <p14:creationId xmlns:p14="http://schemas.microsoft.com/office/powerpoint/2010/main" val="2637071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DD2A3B2-779F-4B8C-AC47-2867909F3A3A}"/>
              </a:ext>
            </a:extLst>
          </p:cNvPr>
          <p:cNvSpPr>
            <a:spLocks noGrp="1" noChangeArrowheads="1"/>
          </p:cNvSpPr>
          <p:nvPr>
            <p:ph type="dt" sz="half" idx="10"/>
          </p:nvPr>
        </p:nvSpPr>
        <p:spPr>
          <a:ln/>
        </p:spPr>
        <p:txBody>
          <a:bodyPr/>
          <a:lstStyle>
            <a:lvl1pPr>
              <a:defRPr/>
            </a:lvl1pPr>
          </a:lstStyle>
          <a:p>
            <a:pPr>
              <a:defRPr/>
            </a:pPr>
            <a:endParaRPr lang="en-GB"/>
          </a:p>
        </p:txBody>
      </p:sp>
      <p:sp>
        <p:nvSpPr>
          <p:cNvPr id="3" name="Rectangle 5">
            <a:extLst>
              <a:ext uri="{FF2B5EF4-FFF2-40B4-BE49-F238E27FC236}">
                <a16:creationId xmlns:a16="http://schemas.microsoft.com/office/drawing/2014/main" id="{A6992D9D-086C-4A95-B3B2-76BBD10B9496}"/>
              </a:ext>
            </a:extLst>
          </p:cNvPr>
          <p:cNvSpPr>
            <a:spLocks noGrp="1" noChangeArrowheads="1"/>
          </p:cNvSpPr>
          <p:nvPr>
            <p:ph type="ftr" sz="quarter" idx="11"/>
          </p:nvPr>
        </p:nvSpPr>
        <p:spPr>
          <a:ln/>
        </p:spPr>
        <p:txBody>
          <a:bodyPr/>
          <a:lstStyle>
            <a:lvl1pPr>
              <a:defRPr/>
            </a:lvl1pPr>
          </a:lstStyle>
          <a:p>
            <a:pPr>
              <a:defRPr/>
            </a:pPr>
            <a:endParaRPr lang="en-GB"/>
          </a:p>
        </p:txBody>
      </p:sp>
      <p:sp>
        <p:nvSpPr>
          <p:cNvPr id="4" name="Rectangle 6">
            <a:extLst>
              <a:ext uri="{FF2B5EF4-FFF2-40B4-BE49-F238E27FC236}">
                <a16:creationId xmlns:a16="http://schemas.microsoft.com/office/drawing/2014/main" id="{CBC28E2E-6A26-4BE9-97AF-AA31AE07A30E}"/>
              </a:ext>
            </a:extLst>
          </p:cNvPr>
          <p:cNvSpPr>
            <a:spLocks noGrp="1" noChangeArrowheads="1"/>
          </p:cNvSpPr>
          <p:nvPr>
            <p:ph type="sldNum" sz="quarter" idx="12"/>
          </p:nvPr>
        </p:nvSpPr>
        <p:spPr>
          <a:ln/>
        </p:spPr>
        <p:txBody>
          <a:bodyPr/>
          <a:lstStyle>
            <a:lvl1pPr>
              <a:defRPr/>
            </a:lvl1pPr>
          </a:lstStyle>
          <a:p>
            <a:pPr>
              <a:defRPr/>
            </a:pPr>
            <a:fld id="{488E585E-B1CF-4353-866C-E5AC071EAA78}" type="slidenum">
              <a:rPr lang="en-GB" altLang="en-US"/>
              <a:pPr>
                <a:defRPr/>
              </a:pPr>
              <a:t>‹#›</a:t>
            </a:fld>
            <a:endParaRPr lang="en-GB" altLang="en-US"/>
          </a:p>
        </p:txBody>
      </p:sp>
    </p:spTree>
    <p:extLst>
      <p:ext uri="{BB962C8B-B14F-4D97-AF65-F5344CB8AC3E}">
        <p14:creationId xmlns:p14="http://schemas.microsoft.com/office/powerpoint/2010/main" val="3242380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38D548CD-31FC-4508-8F95-9A1175C8F593}"/>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0D93392A-604E-4EDA-B362-6DECFD84B6F2}"/>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75E4BC1B-C89D-45BA-9E6D-7B341F59E2C9}"/>
              </a:ext>
            </a:extLst>
          </p:cNvPr>
          <p:cNvSpPr>
            <a:spLocks noGrp="1" noChangeArrowheads="1"/>
          </p:cNvSpPr>
          <p:nvPr>
            <p:ph type="sldNum" sz="quarter" idx="12"/>
          </p:nvPr>
        </p:nvSpPr>
        <p:spPr>
          <a:ln/>
        </p:spPr>
        <p:txBody>
          <a:bodyPr/>
          <a:lstStyle>
            <a:lvl1pPr>
              <a:defRPr/>
            </a:lvl1pPr>
          </a:lstStyle>
          <a:p>
            <a:pPr>
              <a:defRPr/>
            </a:pPr>
            <a:fld id="{06227871-BF62-4505-9A3B-9784D6F3EFAB}" type="slidenum">
              <a:rPr lang="en-GB" altLang="en-US"/>
              <a:pPr>
                <a:defRPr/>
              </a:pPr>
              <a:t>‹#›</a:t>
            </a:fld>
            <a:endParaRPr lang="en-GB" altLang="en-US"/>
          </a:p>
        </p:txBody>
      </p:sp>
    </p:spTree>
    <p:extLst>
      <p:ext uri="{BB962C8B-B14F-4D97-AF65-F5344CB8AC3E}">
        <p14:creationId xmlns:p14="http://schemas.microsoft.com/office/powerpoint/2010/main" val="1123212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BAB5FFD-C4C5-4A49-9B54-7F5FA73B1F5C}"/>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DC554197-D0AB-4FB7-8A20-B4EF31EE4A5E}"/>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6">
            <a:extLst>
              <a:ext uri="{FF2B5EF4-FFF2-40B4-BE49-F238E27FC236}">
                <a16:creationId xmlns:a16="http://schemas.microsoft.com/office/drawing/2014/main" id="{7BA43BC1-E682-48B9-BE85-051F2902E23F}"/>
              </a:ext>
            </a:extLst>
          </p:cNvPr>
          <p:cNvSpPr>
            <a:spLocks noGrp="1" noChangeArrowheads="1"/>
          </p:cNvSpPr>
          <p:nvPr>
            <p:ph type="sldNum" sz="quarter" idx="12"/>
          </p:nvPr>
        </p:nvSpPr>
        <p:spPr>
          <a:ln/>
        </p:spPr>
        <p:txBody>
          <a:bodyPr/>
          <a:lstStyle>
            <a:lvl1pPr>
              <a:defRPr/>
            </a:lvl1pPr>
          </a:lstStyle>
          <a:p>
            <a:pPr>
              <a:defRPr/>
            </a:pPr>
            <a:fld id="{41202B1A-979F-40F0-AE61-AC792F2C6225}" type="slidenum">
              <a:rPr lang="en-GB" altLang="en-US"/>
              <a:pPr>
                <a:defRPr/>
              </a:pPr>
              <a:t>‹#›</a:t>
            </a:fld>
            <a:endParaRPr lang="en-GB" altLang="en-US"/>
          </a:p>
        </p:txBody>
      </p:sp>
    </p:spTree>
    <p:extLst>
      <p:ext uri="{BB962C8B-B14F-4D97-AF65-F5344CB8AC3E}">
        <p14:creationId xmlns:p14="http://schemas.microsoft.com/office/powerpoint/2010/main" val="1233073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A213DA0C-5611-4D7D-9EC4-4764176F5702}"/>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2A5C6620-9A91-4D2F-9743-A27D1824A5A6}"/>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B61D0D6A-3B25-4134-BCEB-17BD388930B6}"/>
              </a:ext>
            </a:extLst>
          </p:cNvPr>
          <p:cNvSpPr>
            <a:spLocks noGrp="1" noChangeArrowheads="1"/>
          </p:cNvSpPr>
          <p:nvPr>
            <p:ph type="sldNum" sz="quarter" idx="12"/>
          </p:nvPr>
        </p:nvSpPr>
        <p:spPr>
          <a:ln/>
        </p:spPr>
        <p:txBody>
          <a:bodyPr/>
          <a:lstStyle>
            <a:lvl1pPr>
              <a:defRPr/>
            </a:lvl1pPr>
          </a:lstStyle>
          <a:p>
            <a:pPr>
              <a:defRPr/>
            </a:pPr>
            <a:fld id="{4951A2F3-F244-4ED3-AEF1-8C1374E43A2A}" type="slidenum">
              <a:rPr lang="en-GB" altLang="en-US"/>
              <a:pPr>
                <a:defRPr/>
              </a:pPr>
              <a:t>‹#›</a:t>
            </a:fld>
            <a:endParaRPr lang="en-GB" altLang="en-US"/>
          </a:p>
        </p:txBody>
      </p:sp>
    </p:spTree>
    <p:extLst>
      <p:ext uri="{BB962C8B-B14F-4D97-AF65-F5344CB8AC3E}">
        <p14:creationId xmlns:p14="http://schemas.microsoft.com/office/powerpoint/2010/main" val="360619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14A21C74-6CDD-4C41-B7CA-2A9711F04CE6}"/>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DB8DAE21-94CD-4421-85EA-A37DAAE90ED9}"/>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6">
            <a:extLst>
              <a:ext uri="{FF2B5EF4-FFF2-40B4-BE49-F238E27FC236}">
                <a16:creationId xmlns:a16="http://schemas.microsoft.com/office/drawing/2014/main" id="{AC0FE116-4BC1-41A0-9228-0E19A741701B}"/>
              </a:ext>
            </a:extLst>
          </p:cNvPr>
          <p:cNvSpPr>
            <a:spLocks noGrp="1" noChangeArrowheads="1"/>
          </p:cNvSpPr>
          <p:nvPr>
            <p:ph type="sldNum" sz="quarter" idx="12"/>
          </p:nvPr>
        </p:nvSpPr>
        <p:spPr>
          <a:ln/>
        </p:spPr>
        <p:txBody>
          <a:bodyPr/>
          <a:lstStyle>
            <a:lvl1pPr>
              <a:defRPr/>
            </a:lvl1pPr>
          </a:lstStyle>
          <a:p>
            <a:pPr>
              <a:defRPr/>
            </a:pPr>
            <a:fld id="{7B8B6FE5-17A4-4A48-BDFB-C6FBE95D7034}" type="slidenum">
              <a:rPr lang="en-GB" altLang="en-US"/>
              <a:pPr>
                <a:defRPr/>
              </a:pPr>
              <a:t>‹#›</a:t>
            </a:fld>
            <a:endParaRPr lang="en-GB" altLang="en-US"/>
          </a:p>
        </p:txBody>
      </p:sp>
    </p:spTree>
    <p:extLst>
      <p:ext uri="{BB962C8B-B14F-4D97-AF65-F5344CB8AC3E}">
        <p14:creationId xmlns:p14="http://schemas.microsoft.com/office/powerpoint/2010/main" val="2754380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40000"/>
            <a:lumOff val="60000"/>
            <a:alpha val="16000"/>
          </a:schemeClr>
        </a:solidFill>
        <a:effectLst/>
      </p:bgPr>
    </p:bg>
    <p:spTree>
      <p:nvGrpSpPr>
        <p:cNvPr id="1" name=""/>
        <p:cNvGrpSpPr/>
        <p:nvPr/>
      </p:nvGrpSpPr>
      <p:grpSpPr>
        <a:xfrm>
          <a:off x="0" y="0"/>
          <a:ext cx="0" cy="0"/>
          <a:chOff x="0" y="0"/>
          <a:chExt cx="0" cy="0"/>
        </a:xfrm>
      </p:grpSpPr>
      <p:sp>
        <p:nvSpPr>
          <p:cNvPr id="1026" name="Rectangle 7">
            <a:extLst>
              <a:ext uri="{FF2B5EF4-FFF2-40B4-BE49-F238E27FC236}">
                <a16:creationId xmlns:a16="http://schemas.microsoft.com/office/drawing/2014/main" id="{4CA75121-6ED4-418C-A52F-0EBF728E02A6}"/>
              </a:ext>
            </a:extLst>
          </p:cNvPr>
          <p:cNvSpPr>
            <a:spLocks noChangeArrowheads="1"/>
          </p:cNvSpPr>
          <p:nvPr userDrawn="1"/>
        </p:nvSpPr>
        <p:spPr bwMode="auto">
          <a:xfrm>
            <a:off x="0" y="0"/>
            <a:ext cx="9140825" cy="6873875"/>
          </a:xfrm>
          <a:prstGeom prst="rect">
            <a:avLst/>
          </a:prstGeom>
          <a:solidFill>
            <a:srgbClr val="663366"/>
          </a:solidFill>
          <a:ln>
            <a:noFill/>
          </a:ln>
        </p:spPr>
        <p:txBody>
          <a:bodyPr wrap="none" anchor="ctr"/>
          <a:lstStyle>
            <a:lvl1pPr>
              <a:defRPr sz="2400">
                <a:solidFill>
                  <a:schemeClr val="tx1"/>
                </a:solidFill>
                <a:latin typeface="Times" pitchFamily="4" charset="0"/>
                <a:ea typeface="ＭＳ Ｐゴシック" pitchFamily="4" charset="-128"/>
              </a:defRPr>
            </a:lvl1pPr>
            <a:lvl2pPr marL="37931725" indent="-37474525">
              <a:defRPr sz="2400">
                <a:solidFill>
                  <a:schemeClr val="tx1"/>
                </a:solidFill>
                <a:latin typeface="Times" pitchFamily="4" charset="0"/>
                <a:ea typeface="ＭＳ Ｐゴシック" pitchFamily="4" charset="-128"/>
              </a:defRPr>
            </a:lvl2pPr>
            <a:lvl3pPr>
              <a:defRPr sz="2400">
                <a:solidFill>
                  <a:schemeClr val="tx1"/>
                </a:solidFill>
                <a:latin typeface="Times" pitchFamily="4" charset="0"/>
                <a:ea typeface="ＭＳ Ｐゴシック" pitchFamily="4" charset="-128"/>
              </a:defRPr>
            </a:lvl3pPr>
            <a:lvl4pPr>
              <a:defRPr sz="2400">
                <a:solidFill>
                  <a:schemeClr val="tx1"/>
                </a:solidFill>
                <a:latin typeface="Times" pitchFamily="4" charset="0"/>
                <a:ea typeface="ＭＳ Ｐゴシック" pitchFamily="4" charset="-128"/>
              </a:defRPr>
            </a:lvl4pPr>
            <a:lvl5pPr>
              <a:defRPr sz="2400">
                <a:solidFill>
                  <a:schemeClr val="tx1"/>
                </a:solidFill>
                <a:latin typeface="Times" pitchFamily="4" charset="0"/>
                <a:ea typeface="ＭＳ Ｐゴシック" pitchFamily="4" charset="-128"/>
              </a:defRPr>
            </a:lvl5pPr>
            <a:lvl6pPr marL="457200" eaLnBrk="0" fontAlgn="base" hangingPunct="0">
              <a:spcBef>
                <a:spcPct val="0"/>
              </a:spcBef>
              <a:spcAft>
                <a:spcPct val="0"/>
              </a:spcAft>
              <a:defRPr sz="2400">
                <a:solidFill>
                  <a:schemeClr val="tx1"/>
                </a:solidFill>
                <a:latin typeface="Times" pitchFamily="4" charset="0"/>
                <a:ea typeface="ＭＳ Ｐゴシック" pitchFamily="4" charset="-128"/>
              </a:defRPr>
            </a:lvl6pPr>
            <a:lvl7pPr marL="914400" eaLnBrk="0" fontAlgn="base" hangingPunct="0">
              <a:spcBef>
                <a:spcPct val="0"/>
              </a:spcBef>
              <a:spcAft>
                <a:spcPct val="0"/>
              </a:spcAft>
              <a:defRPr sz="2400">
                <a:solidFill>
                  <a:schemeClr val="tx1"/>
                </a:solidFill>
                <a:latin typeface="Times" pitchFamily="4" charset="0"/>
                <a:ea typeface="ＭＳ Ｐゴシック" pitchFamily="4" charset="-128"/>
              </a:defRPr>
            </a:lvl7pPr>
            <a:lvl8pPr marL="1371600" eaLnBrk="0" fontAlgn="base" hangingPunct="0">
              <a:spcBef>
                <a:spcPct val="0"/>
              </a:spcBef>
              <a:spcAft>
                <a:spcPct val="0"/>
              </a:spcAft>
              <a:defRPr sz="2400">
                <a:solidFill>
                  <a:schemeClr val="tx1"/>
                </a:solidFill>
                <a:latin typeface="Times" pitchFamily="4" charset="0"/>
                <a:ea typeface="ＭＳ Ｐゴシック" pitchFamily="4" charset="-128"/>
              </a:defRPr>
            </a:lvl8pPr>
            <a:lvl9pPr marL="1828800" eaLnBrk="0" fontAlgn="base" hangingPunct="0">
              <a:spcBef>
                <a:spcPct val="0"/>
              </a:spcBef>
              <a:spcAft>
                <a:spcPct val="0"/>
              </a:spcAft>
              <a:defRPr sz="2400">
                <a:solidFill>
                  <a:schemeClr val="tx1"/>
                </a:solidFill>
                <a:latin typeface="Times" pitchFamily="4" charset="0"/>
                <a:ea typeface="ＭＳ Ｐゴシック" pitchFamily="4" charset="-128"/>
              </a:defRPr>
            </a:lvl9pPr>
          </a:lstStyle>
          <a:p>
            <a:pPr algn="ctr">
              <a:defRPr/>
            </a:pPr>
            <a:r>
              <a:rPr lang="en-GB" altLang="en-US">
                <a:solidFill>
                  <a:srgbClr val="663366"/>
                </a:solidFill>
              </a:rPr>
              <a:t>∂</a:t>
            </a:r>
          </a:p>
        </p:txBody>
      </p:sp>
      <p:sp>
        <p:nvSpPr>
          <p:cNvPr id="1027" name="Rectangle 8">
            <a:extLst>
              <a:ext uri="{FF2B5EF4-FFF2-40B4-BE49-F238E27FC236}">
                <a16:creationId xmlns:a16="http://schemas.microsoft.com/office/drawing/2014/main" id="{AF994EE9-4162-4C57-A06F-234A4C2C1AA9}"/>
              </a:ext>
            </a:extLst>
          </p:cNvPr>
          <p:cNvSpPr>
            <a:spLocks noChangeArrowheads="1"/>
          </p:cNvSpPr>
          <p:nvPr userDrawn="1"/>
        </p:nvSpPr>
        <p:spPr bwMode="auto">
          <a:xfrm>
            <a:off x="107950" y="107950"/>
            <a:ext cx="8924925" cy="6657975"/>
          </a:xfrm>
          <a:prstGeom prst="rect">
            <a:avLst/>
          </a:prstGeom>
          <a:solidFill>
            <a:schemeClr val="bg1"/>
          </a:solidFill>
          <a:ln>
            <a:noFill/>
          </a:ln>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a typeface="+mn-ea"/>
            </a:endParaRPr>
          </a:p>
        </p:txBody>
      </p:sp>
      <p:sp>
        <p:nvSpPr>
          <p:cNvPr id="1028" name="Rectangle 2">
            <a:extLst>
              <a:ext uri="{FF2B5EF4-FFF2-40B4-BE49-F238E27FC236}">
                <a16:creationId xmlns:a16="http://schemas.microsoft.com/office/drawing/2014/main" id="{E4EE7BDB-E3E8-4F6D-9D93-38BFAE070D8F}"/>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1029" name="Rectangle 3">
            <a:extLst>
              <a:ext uri="{FF2B5EF4-FFF2-40B4-BE49-F238E27FC236}">
                <a16:creationId xmlns:a16="http://schemas.microsoft.com/office/drawing/2014/main" id="{7D82C5C5-0204-4531-9809-8E82E0A16D3B}"/>
              </a:ext>
            </a:extLst>
          </p:cNvPr>
          <p:cNvSpPr>
            <a:spLocks noGrp="1" noChangeArrowheads="1"/>
          </p:cNvSpPr>
          <p:nvPr>
            <p:ph type="body" idx="1"/>
          </p:nvPr>
        </p:nvSpPr>
        <p:spPr bwMode="auto">
          <a:xfrm>
            <a:off x="684213" y="1989138"/>
            <a:ext cx="77724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4">
            <a:extLst>
              <a:ext uri="{FF2B5EF4-FFF2-40B4-BE49-F238E27FC236}">
                <a16:creationId xmlns:a16="http://schemas.microsoft.com/office/drawing/2014/main" id="{2245D02C-F2B4-463A-B951-ABE65C3912FC}"/>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pitchFamily="18" charset="0"/>
                <a:ea typeface="+mn-ea"/>
                <a:cs typeface="+mn-cs"/>
              </a:defRPr>
            </a:lvl1pPr>
          </a:lstStyle>
          <a:p>
            <a:pPr>
              <a:defRPr/>
            </a:pPr>
            <a:endParaRPr lang="en-GB"/>
          </a:p>
        </p:txBody>
      </p:sp>
      <p:sp>
        <p:nvSpPr>
          <p:cNvPr id="3" name="Rectangle 5">
            <a:extLst>
              <a:ext uri="{FF2B5EF4-FFF2-40B4-BE49-F238E27FC236}">
                <a16:creationId xmlns:a16="http://schemas.microsoft.com/office/drawing/2014/main" id="{4551678A-B0D6-4667-B05B-9B7136CEC13D}"/>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pitchFamily="18" charset="0"/>
                <a:ea typeface="+mn-ea"/>
                <a:cs typeface="+mn-cs"/>
              </a:defRPr>
            </a:lvl1pPr>
          </a:lstStyle>
          <a:p>
            <a:pPr>
              <a:defRPr/>
            </a:pPr>
            <a:endParaRPr lang="en-GB"/>
          </a:p>
        </p:txBody>
      </p:sp>
      <p:sp>
        <p:nvSpPr>
          <p:cNvPr id="1030" name="Rectangle 6">
            <a:extLst>
              <a:ext uri="{FF2B5EF4-FFF2-40B4-BE49-F238E27FC236}">
                <a16:creationId xmlns:a16="http://schemas.microsoft.com/office/drawing/2014/main" id="{967C843E-8651-4847-8049-619E5024D053}"/>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2AE4C63E-F336-477F-8085-E17D9CEABBAC}" type="slidenum">
              <a:rPr lang="en-GB" altLang="en-US"/>
              <a:pPr>
                <a:defRPr/>
              </a:pPr>
              <a:t>‹#›</a:t>
            </a:fld>
            <a:endParaRPr lang="en-GB" altLang="en-US"/>
          </a:p>
        </p:txBody>
      </p:sp>
      <p:sp>
        <p:nvSpPr>
          <p:cNvPr id="1033" name="Rectangle 9">
            <a:extLst>
              <a:ext uri="{FF2B5EF4-FFF2-40B4-BE49-F238E27FC236}">
                <a16:creationId xmlns:a16="http://schemas.microsoft.com/office/drawing/2014/main" id="{693DC962-D018-4B35-9D25-C755C182A3CF}"/>
              </a:ext>
            </a:extLst>
          </p:cNvPr>
          <p:cNvSpPr>
            <a:spLocks noChangeArrowheads="1"/>
          </p:cNvSpPr>
          <p:nvPr userDrawn="1"/>
        </p:nvSpPr>
        <p:spPr bwMode="auto">
          <a:xfrm>
            <a:off x="790575" y="611188"/>
            <a:ext cx="8024813" cy="1143000"/>
          </a:xfrm>
          <a:prstGeom prst="rect">
            <a:avLst/>
          </a:prstGeom>
          <a:noFill/>
          <a:ln>
            <a:noFill/>
          </a:ln>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defRPr/>
            </a:pPr>
            <a:endParaRPr lang="en-US" altLang="en-US" sz="4400">
              <a:solidFill>
                <a:schemeClr val="bg1"/>
              </a:solidFill>
              <a:ea typeface="+mn-ea"/>
            </a:endParaRPr>
          </a:p>
        </p:txBody>
      </p:sp>
      <p:sp>
        <p:nvSpPr>
          <p:cNvPr id="1034" name="Rectangle 10">
            <a:extLst>
              <a:ext uri="{FF2B5EF4-FFF2-40B4-BE49-F238E27FC236}">
                <a16:creationId xmlns:a16="http://schemas.microsoft.com/office/drawing/2014/main" id="{5D76511D-C600-49A2-BD0D-F26925B5C6E9}"/>
              </a:ext>
            </a:extLst>
          </p:cNvPr>
          <p:cNvSpPr>
            <a:spLocks noChangeArrowheads="1"/>
          </p:cNvSpPr>
          <p:nvPr userDrawn="1"/>
        </p:nvSpPr>
        <p:spPr bwMode="auto">
          <a:xfrm>
            <a:off x="790575" y="1798638"/>
            <a:ext cx="8024813" cy="3813175"/>
          </a:xfrm>
          <a:prstGeom prst="rect">
            <a:avLst/>
          </a:prstGeom>
          <a:noFill/>
          <a:ln>
            <a:noFill/>
          </a:ln>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spcBef>
                <a:spcPct val="20000"/>
              </a:spcBef>
              <a:defRPr/>
            </a:pPr>
            <a:endParaRPr lang="en-US" altLang="en-US" sz="1800" b="1">
              <a:solidFill>
                <a:schemeClr val="bg1"/>
              </a:solidFill>
              <a:latin typeface="Arial" charset="0"/>
              <a:ea typeface="+mn-ea"/>
            </a:endParaRPr>
          </a:p>
        </p:txBody>
      </p:sp>
      <p:pic>
        <p:nvPicPr>
          <p:cNvPr id="1035" name="Picture 11">
            <a:extLst>
              <a:ext uri="{FF2B5EF4-FFF2-40B4-BE49-F238E27FC236}">
                <a16:creationId xmlns:a16="http://schemas.microsoft.com/office/drawing/2014/main" id="{DE700224-5394-477F-BBB0-F2164CC07038}"/>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07" r:id="rId1"/>
    <p:sldLayoutId id="2147483997" r:id="rId2"/>
    <p:sldLayoutId id="2147483998" r:id="rId3"/>
    <p:sldLayoutId id="2147483999" r:id="rId4"/>
    <p:sldLayoutId id="2147484000" r:id="rId5"/>
    <p:sldLayoutId id="2147484001" r:id="rId6"/>
    <p:sldLayoutId id="2147484002" r:id="rId7"/>
    <p:sldLayoutId id="2147484003" r:id="rId8"/>
    <p:sldLayoutId id="2147484004" r:id="rId9"/>
    <p:sldLayoutId id="2147484005" r:id="rId10"/>
    <p:sldLayoutId id="2147484006" r:id="rId11"/>
  </p:sldLayoutIdLst>
  <p:txStyles>
    <p:titleStyle>
      <a:lvl1pPr algn="l" rtl="0" eaLnBrk="0" fontAlgn="base" hangingPunct="0">
        <a:spcBef>
          <a:spcPct val="0"/>
        </a:spcBef>
        <a:spcAft>
          <a:spcPct val="0"/>
        </a:spcAft>
        <a:defRPr sz="4400">
          <a:solidFill>
            <a:srgbClr val="663366"/>
          </a:solidFill>
          <a:latin typeface="+mj-lt"/>
          <a:ea typeface="ＭＳ Ｐゴシック" pitchFamily="4" charset="-128"/>
          <a:cs typeface="ＭＳ Ｐゴシック" pitchFamily="4" charset="-128"/>
        </a:defRPr>
      </a:lvl1pPr>
      <a:lvl2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2pPr>
      <a:lvl3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3pPr>
      <a:lvl4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4pPr>
      <a:lvl5pPr algn="l" rtl="0" eaLnBrk="0" fontAlgn="base" hangingPunct="0">
        <a:spcBef>
          <a:spcPct val="0"/>
        </a:spcBef>
        <a:spcAft>
          <a:spcPct val="0"/>
        </a:spcAft>
        <a:defRPr sz="4400">
          <a:solidFill>
            <a:srgbClr val="663366"/>
          </a:solidFill>
          <a:latin typeface="Times" pitchFamily="18" charset="0"/>
          <a:ea typeface="ＭＳ Ｐゴシック" pitchFamily="4" charset="-128"/>
          <a:cs typeface="ＭＳ Ｐゴシック" pitchFamily="4" charset="-128"/>
        </a:defRPr>
      </a:lvl5pPr>
      <a:lvl6pPr marL="457200" algn="l" rtl="0" fontAlgn="base">
        <a:spcBef>
          <a:spcPct val="0"/>
        </a:spcBef>
        <a:spcAft>
          <a:spcPct val="0"/>
        </a:spcAft>
        <a:defRPr sz="4400">
          <a:solidFill>
            <a:srgbClr val="663366"/>
          </a:solidFill>
          <a:latin typeface="Times" pitchFamily="18" charset="0"/>
        </a:defRPr>
      </a:lvl6pPr>
      <a:lvl7pPr marL="914400" algn="l" rtl="0" fontAlgn="base">
        <a:spcBef>
          <a:spcPct val="0"/>
        </a:spcBef>
        <a:spcAft>
          <a:spcPct val="0"/>
        </a:spcAft>
        <a:defRPr sz="4400">
          <a:solidFill>
            <a:srgbClr val="663366"/>
          </a:solidFill>
          <a:latin typeface="Times" pitchFamily="18" charset="0"/>
        </a:defRPr>
      </a:lvl7pPr>
      <a:lvl8pPr marL="1371600" algn="l" rtl="0" fontAlgn="base">
        <a:spcBef>
          <a:spcPct val="0"/>
        </a:spcBef>
        <a:spcAft>
          <a:spcPct val="0"/>
        </a:spcAft>
        <a:defRPr sz="4400">
          <a:solidFill>
            <a:srgbClr val="663366"/>
          </a:solidFill>
          <a:latin typeface="Times" pitchFamily="18" charset="0"/>
        </a:defRPr>
      </a:lvl8pPr>
      <a:lvl9pPr marL="1828800" algn="l" rtl="0" fontAlgn="base">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ＭＳ Ｐゴシック" pitchFamily="4" charset="-128"/>
          <a:cs typeface="ＭＳ Ｐゴシック" pitchFamily="4" charset="-128"/>
        </a:defRPr>
      </a:lvl1pPr>
      <a:lvl2pPr marL="742950" indent="-285750" algn="l" rtl="0" eaLnBrk="0" fontAlgn="base" hangingPunct="0">
        <a:spcBef>
          <a:spcPct val="20000"/>
        </a:spcBef>
        <a:spcAft>
          <a:spcPct val="0"/>
        </a:spcAft>
        <a:buChar char="–"/>
        <a:defRPr sz="1600">
          <a:solidFill>
            <a:schemeClr val="tx1"/>
          </a:solidFill>
          <a:latin typeface="+mn-lt"/>
          <a:ea typeface="ＭＳ Ｐゴシック" pitchFamily="4" charset="-128"/>
        </a:defRPr>
      </a:lvl2pPr>
      <a:lvl3pPr marL="1143000" indent="-228600" algn="l" rtl="0" eaLnBrk="0" fontAlgn="base" hangingPunct="0">
        <a:spcBef>
          <a:spcPct val="20000"/>
        </a:spcBef>
        <a:spcAft>
          <a:spcPct val="0"/>
        </a:spcAft>
        <a:buChar char="•"/>
        <a:defRPr sz="1400">
          <a:solidFill>
            <a:schemeClr val="tx1"/>
          </a:solidFill>
          <a:latin typeface="+mn-lt"/>
          <a:ea typeface="ＭＳ Ｐゴシック" pitchFamily="4" charset="-128"/>
        </a:defRPr>
      </a:lvl3pPr>
      <a:lvl4pPr marL="16002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4pPr>
      <a:lvl5pPr marL="20574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457F992B-5DD7-4AA8-81A4-A9170C995E63}"/>
              </a:ext>
            </a:extLst>
          </p:cNvPr>
          <p:cNvSpPr>
            <a:spLocks noGrp="1"/>
          </p:cNvSpPr>
          <p:nvPr>
            <p:ph type="ctrTitle" sz="quarter"/>
          </p:nvPr>
        </p:nvSpPr>
        <p:spPr>
          <a:xfrm>
            <a:off x="755650" y="1268413"/>
            <a:ext cx="7772400" cy="677862"/>
          </a:xfrm>
        </p:spPr>
        <p:txBody>
          <a:bodyPr/>
          <a:lstStyle/>
          <a:p>
            <a:pPr>
              <a:defRPr/>
            </a:pPr>
            <a:br>
              <a:rPr lang="en-US" altLang="en-US" dirty="0">
                <a:ea typeface="ＭＳ Ｐゴシック" panose="020B0600070205080204" pitchFamily="34" charset="-128"/>
              </a:rPr>
            </a:br>
            <a:br>
              <a:rPr lang="en-US" altLang="en-US" dirty="0">
                <a:latin typeface="+mn-lt"/>
                <a:ea typeface="ＭＳ Ｐゴシック" panose="020B0600070205080204" pitchFamily="34" charset="-128"/>
              </a:rPr>
            </a:br>
            <a:br>
              <a:rPr lang="en-US" altLang="en-US" dirty="0">
                <a:latin typeface="+mn-lt"/>
                <a:ea typeface="ＭＳ Ｐゴシック" panose="020B0600070205080204" pitchFamily="34" charset="-128"/>
                <a:cs typeface="Times New Roman" panose="02020603050405020304" pitchFamily="18" charset="0"/>
              </a:rPr>
            </a:br>
            <a:r>
              <a:rPr lang="en-US" altLang="en-US" sz="4000" dirty="0">
                <a:latin typeface="+mn-lt"/>
                <a:ea typeface="ＭＳ Ｐゴシック"/>
                <a:cs typeface="Times New Roman"/>
              </a:rPr>
              <a:t>Trusts Law</a:t>
            </a:r>
            <a:br>
              <a:rPr lang="en-US" altLang="en-US" dirty="0">
                <a:latin typeface="+mn-lt"/>
                <a:ea typeface="ＭＳ Ｐゴシック" panose="020B0600070205080204" pitchFamily="34" charset="-128"/>
                <a:cs typeface="Times New Roman" panose="02020603050405020304" pitchFamily="18" charset="0"/>
              </a:rPr>
            </a:br>
            <a:br>
              <a:rPr lang="en-US" altLang="en-US" dirty="0">
                <a:latin typeface="+mn-lt"/>
                <a:ea typeface="ＭＳ Ｐゴシック" panose="020B0600070205080204" pitchFamily="34" charset="-128"/>
                <a:cs typeface="Times New Roman" panose="02020603050405020304" pitchFamily="18" charset="0"/>
              </a:rPr>
            </a:br>
            <a:r>
              <a:rPr lang="en-US" altLang="en-US" sz="4000" dirty="0">
                <a:latin typeface="+mn-lt"/>
                <a:ea typeface="ＭＳ Ｐゴシック"/>
                <a:cs typeface="Times New Roman"/>
              </a:rPr>
              <a:t>Week 15: Tracing (I)</a:t>
            </a:r>
            <a:br>
              <a:rPr lang="en-US" altLang="en-US" sz="3600" dirty="0">
                <a:ea typeface="ＭＳ Ｐゴシック" panose="020B0600070205080204" pitchFamily="34" charset="-128"/>
              </a:rPr>
            </a:br>
            <a:endParaRPr lang="en-GB" altLang="en-US" sz="2800" dirty="0">
              <a:ea typeface="ＭＳ Ｐゴシック" panose="020B0600070205080204" pitchFamily="34" charset="-128"/>
            </a:endParaRPr>
          </a:p>
        </p:txBody>
      </p:sp>
      <p:sp>
        <p:nvSpPr>
          <p:cNvPr id="4099" name="Subtitle 2">
            <a:extLst>
              <a:ext uri="{FF2B5EF4-FFF2-40B4-BE49-F238E27FC236}">
                <a16:creationId xmlns:a16="http://schemas.microsoft.com/office/drawing/2014/main" id="{4C60B4F6-4F0F-4AAD-9975-28A0C5FC3CF2}"/>
              </a:ext>
            </a:extLst>
          </p:cNvPr>
          <p:cNvSpPr>
            <a:spLocks noGrp="1"/>
          </p:cNvSpPr>
          <p:nvPr>
            <p:ph type="subTitle" sz="quarter" idx="1"/>
          </p:nvPr>
        </p:nvSpPr>
        <p:spPr>
          <a:xfrm>
            <a:off x="827088" y="3717032"/>
            <a:ext cx="7561262" cy="864493"/>
          </a:xfrm>
        </p:spPr>
        <p:txBody>
          <a:bodyPr/>
          <a:lstStyle/>
          <a:p>
            <a:pPr eaLnBrk="1" hangingPunct="1">
              <a:lnSpc>
                <a:spcPct val="110000"/>
              </a:lnSpc>
              <a:spcBef>
                <a:spcPct val="0"/>
              </a:spcBef>
            </a:pPr>
            <a:endParaRPr lang="en-GB" altLang="en-US" b="0" dirty="0">
              <a:latin typeface="Calibri" panose="020F0502020204030204" pitchFamily="34" charset="0"/>
              <a:ea typeface="ＭＳ Ｐゴシック" panose="020B0600070205080204" pitchFamily="34" charset="-128"/>
            </a:endParaRPr>
          </a:p>
          <a:p>
            <a:pPr eaLnBrk="1" hangingPunct="1">
              <a:lnSpc>
                <a:spcPct val="110000"/>
              </a:lnSpc>
              <a:spcBef>
                <a:spcPct val="0"/>
              </a:spcBef>
            </a:pPr>
            <a:r>
              <a:rPr lang="en-GB" altLang="en-US" b="0" dirty="0">
                <a:ea typeface="ＭＳ Ｐゴシック" panose="020B0600070205080204" pitchFamily="34" charset="-128"/>
              </a:rPr>
              <a:t>Dr Johanna Jacques</a:t>
            </a:r>
          </a:p>
          <a:p>
            <a:pPr eaLnBrk="1" hangingPunct="1">
              <a:lnSpc>
                <a:spcPct val="110000"/>
              </a:lnSpc>
              <a:spcBef>
                <a:spcPct val="0"/>
              </a:spcBef>
            </a:pPr>
            <a:endParaRPr lang="en-GB" altLang="en-US" b="0" dirty="0">
              <a:ea typeface="ＭＳ Ｐゴシック" panose="020B0600070205080204" pitchFamily="34" charset="-128"/>
            </a:endParaRPr>
          </a:p>
          <a:p>
            <a:pPr eaLnBrk="1" hangingPunct="1"/>
            <a:endParaRPr lang="en-GB" altLang="en-US" dirty="0">
              <a:ea typeface="ＭＳ Ｐゴシック"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261E3-5A34-8F64-B937-39F9407AD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7F503-6679-353B-B73B-8DA5B5FCF6C3}"/>
              </a:ext>
            </a:extLst>
          </p:cNvPr>
          <p:cNvSpPr>
            <a:spLocks noGrp="1"/>
          </p:cNvSpPr>
          <p:nvPr>
            <p:ph type="title"/>
          </p:nvPr>
        </p:nvSpPr>
        <p:spPr/>
        <p:txBody>
          <a:bodyPr/>
          <a:lstStyle/>
          <a:p>
            <a:r>
              <a:rPr lang="en-US" dirty="0">
                <a:latin typeface="Arial"/>
                <a:cs typeface="Arial"/>
              </a:rPr>
              <a:t>Tutorial 3</a:t>
            </a:r>
          </a:p>
        </p:txBody>
      </p:sp>
      <p:sp>
        <p:nvSpPr>
          <p:cNvPr id="3" name="Text Placeholder 2">
            <a:extLst>
              <a:ext uri="{FF2B5EF4-FFF2-40B4-BE49-F238E27FC236}">
                <a16:creationId xmlns:a16="http://schemas.microsoft.com/office/drawing/2014/main" id="{B652669C-E5BC-E0AB-47F6-4EB8D1DA679F}"/>
              </a:ext>
            </a:extLst>
          </p:cNvPr>
          <p:cNvSpPr>
            <a:spLocks noGrp="1"/>
          </p:cNvSpPr>
          <p:nvPr>
            <p:ph type="body" idx="1"/>
          </p:nvPr>
        </p:nvSpPr>
        <p:spPr>
          <a:xfrm>
            <a:off x="685800" y="1752600"/>
            <a:ext cx="7772400" cy="2862263"/>
          </a:xfrm>
        </p:spPr>
        <p:txBody>
          <a:bodyPr/>
          <a:lstStyle/>
          <a:p>
            <a:pPr>
              <a:spcBef>
                <a:spcPts val="400"/>
              </a:spcBef>
              <a:buClr>
                <a:schemeClr val="dk1"/>
              </a:buClr>
              <a:buSzPts val="2000"/>
              <a:buFont typeface="Arial"/>
              <a:buChar char="•"/>
            </a:pPr>
            <a:r>
              <a:rPr lang="en-GB" b="1" dirty="0"/>
              <a:t>Public benefit</a:t>
            </a:r>
            <a:r>
              <a:rPr lang="en-GB" dirty="0"/>
              <a:t>: </a:t>
            </a:r>
          </a:p>
          <a:p>
            <a:pPr lvl="1">
              <a:spcBef>
                <a:spcPts val="400"/>
              </a:spcBef>
              <a:buClr>
                <a:schemeClr val="dk1"/>
              </a:buClr>
              <a:buSzPts val="2000"/>
              <a:buFont typeface="Arial"/>
              <a:buChar char="•"/>
            </a:pPr>
            <a:r>
              <a:rPr lang="en-GB" dirty="0"/>
              <a:t>Distinguish between legal requirements and a critical assessment of the charitable status accorded to various purposes of arguable public benefit.</a:t>
            </a:r>
          </a:p>
          <a:p>
            <a:pPr lvl="1">
              <a:spcBef>
                <a:spcPts val="400"/>
              </a:spcBef>
              <a:buClr>
                <a:schemeClr val="dk1"/>
              </a:buClr>
              <a:buSzPts val="2000"/>
              <a:buFont typeface="Arial"/>
              <a:buChar char="•"/>
            </a:pPr>
            <a:r>
              <a:rPr lang="en-GB" dirty="0"/>
              <a:t>Remember that charitable status effectively means subsidies from the public purpose.</a:t>
            </a:r>
          </a:p>
          <a:p>
            <a:pPr>
              <a:spcBef>
                <a:spcPts val="400"/>
              </a:spcBef>
              <a:buClr>
                <a:schemeClr val="dk1"/>
              </a:buClr>
              <a:buSzPts val="2000"/>
              <a:buFont typeface="Arial"/>
              <a:buChar char="•"/>
            </a:pPr>
            <a:r>
              <a:rPr lang="en-GB" b="1" dirty="0"/>
              <a:t>Three types of trust</a:t>
            </a:r>
            <a:r>
              <a:rPr lang="en-GB" dirty="0"/>
              <a:t>: </a:t>
            </a:r>
          </a:p>
          <a:p>
            <a:pPr lvl="1">
              <a:spcBef>
                <a:spcPts val="400"/>
              </a:spcBef>
              <a:buClr>
                <a:schemeClr val="dk1"/>
              </a:buClr>
              <a:buSzPts val="2000"/>
              <a:buFont typeface="Arial"/>
              <a:buChar char="•"/>
            </a:pPr>
            <a:r>
              <a:rPr lang="en-GB" dirty="0"/>
              <a:t>Beneficiary; </a:t>
            </a:r>
          </a:p>
          <a:p>
            <a:pPr lvl="1">
              <a:spcBef>
                <a:spcPts val="400"/>
              </a:spcBef>
              <a:buClr>
                <a:schemeClr val="dk1"/>
              </a:buClr>
              <a:buSzPts val="2000"/>
              <a:buFont typeface="Arial"/>
              <a:buChar char="•"/>
            </a:pPr>
            <a:r>
              <a:rPr lang="en-GB" dirty="0"/>
              <a:t>Purpose;</a:t>
            </a:r>
          </a:p>
          <a:p>
            <a:pPr lvl="1">
              <a:spcBef>
                <a:spcPts val="400"/>
              </a:spcBef>
              <a:buClr>
                <a:schemeClr val="dk1"/>
              </a:buClr>
              <a:buSzPts val="2000"/>
              <a:buFont typeface="Arial"/>
              <a:buChar char="•"/>
            </a:pPr>
            <a:r>
              <a:rPr lang="en-GB" dirty="0"/>
              <a:t>Something in-between, usually resolved for one or the other.</a:t>
            </a:r>
          </a:p>
          <a:p>
            <a:pPr>
              <a:spcBef>
                <a:spcPts val="400"/>
              </a:spcBef>
              <a:buClr>
                <a:schemeClr val="dk1"/>
              </a:buClr>
              <a:buSzPts val="2000"/>
              <a:buFont typeface="Arial"/>
              <a:buChar char="•"/>
            </a:pPr>
            <a:r>
              <a:rPr lang="en-GB" b="1" dirty="0"/>
              <a:t>Personal nexus</a:t>
            </a:r>
            <a:r>
              <a:rPr lang="en-GB" dirty="0"/>
              <a:t>: </a:t>
            </a:r>
          </a:p>
          <a:p>
            <a:pPr lvl="1">
              <a:spcBef>
                <a:spcPts val="400"/>
              </a:spcBef>
              <a:buClr>
                <a:schemeClr val="dk1"/>
              </a:buClr>
              <a:buSzPts val="2000"/>
              <a:buFont typeface="Arial"/>
              <a:buChar char="•"/>
            </a:pPr>
            <a:r>
              <a:rPr lang="en-GB" dirty="0"/>
              <a:t>A link between those who will benefit from the purpose and one legal or natural person.</a:t>
            </a:r>
          </a:p>
          <a:p>
            <a:pPr lvl="1">
              <a:spcBef>
                <a:spcPts val="400"/>
              </a:spcBef>
              <a:buClr>
                <a:schemeClr val="dk1"/>
              </a:buClr>
              <a:buSzPts val="2000"/>
              <a:buFont typeface="Arial"/>
              <a:buChar char="•"/>
            </a:pPr>
            <a:r>
              <a:rPr lang="en-GB" dirty="0"/>
              <a:t>That person is not necessarily the settlor.</a:t>
            </a:r>
          </a:p>
          <a:p>
            <a:pPr marL="0" indent="0">
              <a:spcBef>
                <a:spcPts val="400"/>
              </a:spcBef>
              <a:buClr>
                <a:schemeClr val="dk1"/>
              </a:buClr>
              <a:buSzPts val="2000"/>
            </a:pPr>
            <a:endParaRPr lang="en-US" sz="2000" dirty="0"/>
          </a:p>
          <a:p>
            <a:pPr>
              <a:spcBef>
                <a:spcPts val="400"/>
              </a:spcBef>
              <a:buClr>
                <a:schemeClr val="dk1"/>
              </a:buClr>
              <a:buSzPts val="2000"/>
              <a:buFont typeface="Arial"/>
              <a:buChar char="•"/>
            </a:pPr>
            <a:endParaRPr lang="en-GB" sz="2000" dirty="0"/>
          </a:p>
          <a:p>
            <a:endParaRPr lang="en-GB" dirty="0">
              <a:solidFill>
                <a:srgbClr val="1E1E1E"/>
              </a:solidFill>
              <a:latin typeface="arial" panose="020B0604020202020204" pitchFamily="34" charset="0"/>
            </a:endParaRPr>
          </a:p>
        </p:txBody>
      </p:sp>
    </p:spTree>
    <p:extLst>
      <p:ext uri="{BB962C8B-B14F-4D97-AF65-F5344CB8AC3E}">
        <p14:creationId xmlns:p14="http://schemas.microsoft.com/office/powerpoint/2010/main" val="2926807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684213" y="620713"/>
            <a:ext cx="77724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br>
              <a:rPr lang="en-GB" dirty="0">
                <a:latin typeface="Calibri"/>
                <a:ea typeface="Calibri"/>
                <a:cs typeface="Calibri"/>
                <a:sym typeface="Calibri"/>
              </a:rPr>
            </a:br>
            <a:r>
              <a:rPr lang="en-GB" dirty="0">
                <a:latin typeface="Arial"/>
                <a:ea typeface="Calibri"/>
                <a:cs typeface="Arial"/>
                <a:sym typeface="Arial"/>
              </a:rPr>
              <a:t>Our progress so far</a:t>
            </a:r>
            <a:br>
              <a:rPr lang="en-GB" dirty="0">
                <a:latin typeface="Calibri"/>
                <a:ea typeface="Calibri"/>
                <a:cs typeface="Calibri"/>
                <a:sym typeface="Calibri"/>
              </a:rPr>
            </a:br>
            <a:br>
              <a:rPr lang="en-GB" i="1" dirty="0">
                <a:latin typeface="Calibri"/>
                <a:ea typeface="Calibri"/>
                <a:cs typeface="Calibri"/>
                <a:sym typeface="Calibri"/>
              </a:rPr>
            </a:br>
            <a:endParaRPr dirty="0">
              <a:latin typeface="Calibri"/>
              <a:ea typeface="Calibri"/>
              <a:cs typeface="Calibri"/>
              <a:sym typeface="Calibri"/>
            </a:endParaRPr>
          </a:p>
        </p:txBody>
      </p:sp>
      <p:sp>
        <p:nvSpPr>
          <p:cNvPr id="121" name="Google Shape;121;p17"/>
          <p:cNvSpPr txBox="1">
            <a:spLocks noGrp="1"/>
          </p:cNvSpPr>
          <p:nvPr>
            <p:ph type="body" idx="1"/>
          </p:nvPr>
        </p:nvSpPr>
        <p:spPr>
          <a:xfrm>
            <a:off x="684212" y="1556792"/>
            <a:ext cx="7272163" cy="3895725"/>
          </a:xfrm>
          <a:prstGeom prst="rect">
            <a:avLst/>
          </a:prstGeom>
          <a:noFill/>
          <a:ln>
            <a:noFill/>
          </a:ln>
        </p:spPr>
        <p:txBody>
          <a:bodyPr spcFirstLastPara="1" wrap="square" lIns="91425" tIns="45700" rIns="91425" bIns="45700" anchor="t" anchorCtr="0">
            <a:noAutofit/>
          </a:bodyPr>
          <a:lstStyle/>
          <a:p>
            <a:pPr marL="0" lvl="0" indent="0" algn="l" rtl="0">
              <a:spcBef>
                <a:spcPts val="480"/>
              </a:spcBef>
              <a:spcAft>
                <a:spcPts val="0"/>
              </a:spcAft>
              <a:buClr>
                <a:schemeClr val="dk1"/>
              </a:buClr>
              <a:buSzPts val="2400"/>
            </a:pPr>
            <a:r>
              <a:rPr lang="en-GB" sz="2400" b="1" dirty="0"/>
              <a:t>You have already learned about:</a:t>
            </a:r>
          </a:p>
          <a:p>
            <a:pPr marL="342900" lvl="0" indent="-342900" algn="l" rtl="0">
              <a:spcBef>
                <a:spcPts val="480"/>
              </a:spcBef>
              <a:spcAft>
                <a:spcPts val="0"/>
              </a:spcAft>
              <a:buClr>
                <a:schemeClr val="dk1"/>
              </a:buClr>
              <a:buSzPts val="2400"/>
              <a:buFont typeface="Arial"/>
              <a:buChar char="•"/>
            </a:pPr>
            <a:r>
              <a:rPr lang="en-GB" sz="2400" dirty="0"/>
              <a:t>Trustees’ duties as fiduciaries.</a:t>
            </a:r>
          </a:p>
          <a:p>
            <a:pPr marL="342900" lvl="0" indent="-342900" algn="l" rtl="0">
              <a:spcBef>
                <a:spcPts val="480"/>
              </a:spcBef>
              <a:spcAft>
                <a:spcPts val="0"/>
              </a:spcAft>
              <a:buClr>
                <a:schemeClr val="dk1"/>
              </a:buClr>
              <a:buSzPts val="2400"/>
              <a:buFont typeface="Arial"/>
              <a:buChar char="•"/>
            </a:pPr>
            <a:r>
              <a:rPr lang="en-GB" sz="2400" dirty="0"/>
              <a:t>Remedies for breaches of fiduciary duties.</a:t>
            </a:r>
          </a:p>
          <a:p>
            <a:pPr marL="342900" lvl="0" indent="-342900" algn="l" rtl="0">
              <a:spcBef>
                <a:spcPts val="480"/>
              </a:spcBef>
              <a:spcAft>
                <a:spcPts val="0"/>
              </a:spcAft>
              <a:buClr>
                <a:schemeClr val="dk1"/>
              </a:buClr>
              <a:buSzPts val="2400"/>
              <a:buFont typeface="Arial"/>
              <a:buChar char="•"/>
            </a:pPr>
            <a:r>
              <a:rPr lang="en-GB" sz="2400" dirty="0"/>
              <a:t>Trustees’ trust duties.</a:t>
            </a:r>
          </a:p>
          <a:p>
            <a:pPr marL="342900" lvl="0" indent="-342900" algn="l" rtl="0">
              <a:spcBef>
                <a:spcPts val="480"/>
              </a:spcBef>
              <a:spcAft>
                <a:spcPts val="0"/>
              </a:spcAft>
              <a:buClr>
                <a:schemeClr val="dk1"/>
              </a:buClr>
              <a:buSzPts val="2400"/>
              <a:buFont typeface="Arial"/>
              <a:buChar char="•"/>
            </a:pPr>
            <a:r>
              <a:rPr lang="en-GB" sz="2400" dirty="0"/>
              <a:t>Remedies for breaches of trust duties.</a:t>
            </a:r>
          </a:p>
          <a:p>
            <a:pPr marL="0" lvl="0" indent="0" algn="l" rtl="0">
              <a:spcBef>
                <a:spcPts val="480"/>
              </a:spcBef>
              <a:spcAft>
                <a:spcPts val="0"/>
              </a:spcAft>
              <a:buNone/>
            </a:pPr>
            <a:endParaRPr sz="2400" dirty="0">
              <a:solidFill>
                <a:srgbClr val="FF0000"/>
              </a:solidFill>
              <a:latin typeface="Calibri"/>
              <a:ea typeface="Calibri"/>
              <a:cs typeface="Calibri"/>
              <a:sym typeface="Calibri"/>
            </a:endParaRPr>
          </a:p>
          <a:p>
            <a:pPr marL="0" lvl="0" indent="0" algn="l" rtl="0">
              <a:spcBef>
                <a:spcPts val="480"/>
              </a:spcBef>
              <a:spcAft>
                <a:spcPts val="0"/>
              </a:spcAft>
              <a:buNone/>
            </a:pPr>
            <a:r>
              <a:rPr lang="en-GB" sz="2400" b="1" dirty="0"/>
              <a:t>This week and next:</a:t>
            </a:r>
            <a:endParaRPr dirty="0"/>
          </a:p>
          <a:p>
            <a:pPr marL="342900" lvl="0" indent="-342900" algn="l" rtl="0">
              <a:spcBef>
                <a:spcPts val="480"/>
              </a:spcBef>
              <a:spcAft>
                <a:spcPts val="0"/>
              </a:spcAft>
              <a:buClr>
                <a:schemeClr val="dk1"/>
              </a:buClr>
              <a:buSzPts val="2400"/>
              <a:buFont typeface="Arial"/>
              <a:buChar char="•"/>
            </a:pPr>
            <a:r>
              <a:rPr lang="en-GB" sz="2400" dirty="0"/>
              <a:t>Proprietary remedies, or, how to recover the property itself or its substitution, particularly where the trustee no longer has it.</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47FE913C-4D0E-4628-8A76-5009C9BDD9EC}"/>
              </a:ext>
            </a:extLst>
          </p:cNvPr>
          <p:cNvSpPr>
            <a:spLocks noGrp="1"/>
          </p:cNvSpPr>
          <p:nvPr>
            <p:ph type="title"/>
          </p:nvPr>
        </p:nvSpPr>
        <p:spPr>
          <a:xfrm>
            <a:off x="684213" y="620713"/>
            <a:ext cx="7772400" cy="1143000"/>
          </a:xfrm>
        </p:spPr>
        <p:txBody>
          <a:bodyPr/>
          <a:lstStyle/>
          <a:p>
            <a:pPr>
              <a:defRPr/>
            </a:pPr>
            <a:br>
              <a:rPr lang="en-US" altLang="en-US" dirty="0">
                <a:latin typeface="Calibri" panose="020F0502020204030204" pitchFamily="34" charset="0"/>
                <a:ea typeface="ＭＳ Ｐゴシック" panose="020B0600070205080204" pitchFamily="34" charset="-128"/>
              </a:rPr>
            </a:br>
            <a:r>
              <a:rPr lang="en-US" altLang="en-US" dirty="0">
                <a:latin typeface="+mn-lt"/>
                <a:ea typeface="ＭＳ Ｐゴシック" panose="020B0600070205080204" pitchFamily="34" charset="-128"/>
              </a:rPr>
              <a:t>This week, our aim will be:</a:t>
            </a:r>
            <a:br>
              <a:rPr lang="en-US" altLang="en-US" dirty="0">
                <a:latin typeface="Calibri" panose="020F0502020204030204" pitchFamily="34" charset="0"/>
                <a:ea typeface="ＭＳ Ｐゴシック" panose="020B0600070205080204" pitchFamily="34" charset="-128"/>
              </a:rPr>
            </a:br>
            <a:br>
              <a:rPr lang="en-US" altLang="en-US" i="1" dirty="0">
                <a:latin typeface="Calibri" panose="020F0502020204030204" pitchFamily="34" charset="0"/>
                <a:ea typeface="ＭＳ Ｐゴシック" panose="020B0600070205080204" pitchFamily="34" charset="-128"/>
              </a:rPr>
            </a:br>
            <a:endParaRPr lang="en-US" altLang="en-US" dirty="0">
              <a:latin typeface="Calibri" panose="020F0502020204030204" pitchFamily="34" charset="0"/>
              <a:ea typeface="ＭＳ Ｐゴシック" panose="020B0600070205080204" pitchFamily="34" charset="-128"/>
            </a:endParaRPr>
          </a:p>
        </p:txBody>
      </p:sp>
      <p:sp>
        <p:nvSpPr>
          <p:cNvPr id="4" name="Content Placeholder 3">
            <a:extLst>
              <a:ext uri="{FF2B5EF4-FFF2-40B4-BE49-F238E27FC236}">
                <a16:creationId xmlns:a16="http://schemas.microsoft.com/office/drawing/2014/main" id="{DB2D1FDD-F32F-DE4F-8DE9-AB4E854A238A}"/>
              </a:ext>
            </a:extLst>
          </p:cNvPr>
          <p:cNvSpPr>
            <a:spLocks noGrp="1"/>
          </p:cNvSpPr>
          <p:nvPr>
            <p:ph idx="1"/>
          </p:nvPr>
        </p:nvSpPr>
        <p:spPr>
          <a:xfrm>
            <a:off x="467544" y="1844824"/>
            <a:ext cx="3816424" cy="2016224"/>
          </a:xfrm>
          <a:prstGeom prst="roundRect">
            <a:avLst/>
          </a:prstGeom>
          <a:solidFill>
            <a:srgbClr val="8093DA"/>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GB" sz="2400" b="1" dirty="0"/>
              <a:t>To understand the advantages of proprietary claims</a:t>
            </a:r>
          </a:p>
        </p:txBody>
      </p:sp>
      <p:sp>
        <p:nvSpPr>
          <p:cNvPr id="5" name="Rounded Rectangle 4">
            <a:extLst>
              <a:ext uri="{FF2B5EF4-FFF2-40B4-BE49-F238E27FC236}">
                <a16:creationId xmlns:a16="http://schemas.microsoft.com/office/drawing/2014/main" id="{3D6AD389-9B96-6B47-9E6D-98C96B3A3C82}"/>
              </a:ext>
            </a:extLst>
          </p:cNvPr>
          <p:cNvSpPr/>
          <p:nvPr/>
        </p:nvSpPr>
        <p:spPr>
          <a:xfrm>
            <a:off x="4498354" y="1844824"/>
            <a:ext cx="3958259" cy="2002655"/>
          </a:xfrm>
          <a:prstGeom prst="roundRect">
            <a:avLst/>
          </a:prstGeom>
          <a:solidFill>
            <a:srgbClr val="C19377"/>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GB" b="1" dirty="0"/>
              <a:t>To understand and distinguish the concepts of </a:t>
            </a:r>
            <a:r>
              <a:rPr lang="en-GB" b="1" i="1" dirty="0"/>
              <a:t>following</a:t>
            </a:r>
            <a:r>
              <a:rPr lang="en-GB" b="1" dirty="0"/>
              <a:t>, </a:t>
            </a:r>
            <a:r>
              <a:rPr lang="en-GB" b="1" i="1" dirty="0"/>
              <a:t>tracing</a:t>
            </a:r>
            <a:r>
              <a:rPr lang="en-GB" b="1" dirty="0"/>
              <a:t>, </a:t>
            </a:r>
            <a:r>
              <a:rPr lang="en-GB" b="1" i="1" dirty="0"/>
              <a:t>claiming</a:t>
            </a:r>
            <a:r>
              <a:rPr lang="en-GB" b="1" dirty="0"/>
              <a:t> and </a:t>
            </a:r>
            <a:r>
              <a:rPr lang="en-GB" b="1" i="1" dirty="0"/>
              <a:t>remedy</a:t>
            </a:r>
          </a:p>
        </p:txBody>
      </p:sp>
      <p:sp>
        <p:nvSpPr>
          <p:cNvPr id="6" name="Rounded Rectangle 5">
            <a:extLst>
              <a:ext uri="{FF2B5EF4-FFF2-40B4-BE49-F238E27FC236}">
                <a16:creationId xmlns:a16="http://schemas.microsoft.com/office/drawing/2014/main" id="{DB83404B-FB48-EE4E-AF25-EFA67EF3C118}"/>
              </a:ext>
            </a:extLst>
          </p:cNvPr>
          <p:cNvSpPr/>
          <p:nvPr/>
        </p:nvSpPr>
        <p:spPr>
          <a:xfrm>
            <a:off x="2400335" y="4221088"/>
            <a:ext cx="3958259" cy="2001567"/>
          </a:xfrm>
          <a:prstGeom prst="roundRect">
            <a:avLst/>
          </a:prstGeom>
          <a:solidFill>
            <a:srgbClr val="A2A945"/>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GB" sz="2400" b="1" dirty="0"/>
              <a:t>To understand and be able to apply the different steps involved in a proprietary claim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Oval 20"/>
          <p:cNvSpPr/>
          <p:nvPr/>
        </p:nvSpPr>
        <p:spPr bwMode="auto">
          <a:xfrm>
            <a:off x="5685244" y="2233595"/>
            <a:ext cx="849815" cy="851858"/>
          </a:xfrm>
          <a:prstGeom prst="ellipse">
            <a:avLst/>
          </a:prstGeom>
          <a:solidFill>
            <a:schemeClr val="bg1"/>
          </a:solid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imes" pitchFamily="18" charset="0"/>
            </a:endParaRPr>
          </a:p>
        </p:txBody>
      </p:sp>
      <p:sp>
        <p:nvSpPr>
          <p:cNvPr id="8194" name="Title 1"/>
          <p:cNvSpPr>
            <a:spLocks noGrp="1"/>
          </p:cNvSpPr>
          <p:nvPr>
            <p:ph type="title"/>
          </p:nvPr>
        </p:nvSpPr>
        <p:spPr>
          <a:xfrm>
            <a:off x="685800" y="609600"/>
            <a:ext cx="7772400" cy="990600"/>
          </a:xfrm>
        </p:spPr>
        <p:txBody>
          <a:bodyPr/>
          <a:lstStyle/>
          <a:p>
            <a:r>
              <a:rPr lang="en-US" altLang="en-US" dirty="0">
                <a:latin typeface="+mn-lt"/>
                <a:ea typeface="ＭＳ Ｐゴシック" pitchFamily="34" charset="-128"/>
              </a:rPr>
              <a:t>Proprietary claims</a:t>
            </a:r>
          </a:p>
        </p:txBody>
      </p:sp>
      <p:sp>
        <p:nvSpPr>
          <p:cNvPr id="32" name="TextBox 31"/>
          <p:cNvSpPr txBox="1"/>
          <p:nvPr/>
        </p:nvSpPr>
        <p:spPr>
          <a:xfrm>
            <a:off x="5931549" y="2421316"/>
            <a:ext cx="418979" cy="461665"/>
          </a:xfrm>
          <a:prstGeom prst="rect">
            <a:avLst/>
          </a:prstGeom>
          <a:noFill/>
        </p:spPr>
        <p:txBody>
          <a:bodyPr wrap="square">
            <a:spAutoFit/>
          </a:bodyPr>
          <a:lstStyle/>
          <a:p>
            <a:pPr>
              <a:defRPr/>
            </a:pPr>
            <a:r>
              <a:rPr lang="en-US" dirty="0">
                <a:solidFill>
                  <a:schemeClr val="accent4"/>
                </a:solidFill>
                <a:latin typeface="Calibri" panose="020F0502020204030204" pitchFamily="34" charset="0"/>
                <a:ea typeface="+mn-ea"/>
              </a:rPr>
              <a:t>C</a:t>
            </a:r>
          </a:p>
        </p:txBody>
      </p:sp>
      <p:cxnSp>
        <p:nvCxnSpPr>
          <p:cNvPr id="4" name="Straight Arrow Connector 3"/>
          <p:cNvCxnSpPr/>
          <p:nvPr/>
        </p:nvCxnSpPr>
        <p:spPr bwMode="auto">
          <a:xfrm flipV="1">
            <a:off x="3499500" y="3258156"/>
            <a:ext cx="2359040" cy="2115060"/>
          </a:xfrm>
          <a:prstGeom prst="straightConnector1">
            <a:avLst/>
          </a:prstGeom>
          <a:solidFill>
            <a:schemeClr val="accent1"/>
          </a:solidFill>
          <a:ln w="19050" cap="flat" cmpd="sng" algn="ctr">
            <a:solidFill>
              <a:srgbClr val="FF0000"/>
            </a:solidFill>
            <a:prstDash val="sysDot"/>
            <a:round/>
            <a:headEnd type="none" w="med" len="med"/>
            <a:tailEnd type="arrow"/>
          </a:ln>
          <a:effectLst/>
        </p:spPr>
      </p:cxnSp>
      <p:sp>
        <p:nvSpPr>
          <p:cNvPr id="33" name="TextBox 32"/>
          <p:cNvSpPr txBox="1"/>
          <p:nvPr/>
        </p:nvSpPr>
        <p:spPr>
          <a:xfrm>
            <a:off x="3329979" y="2255429"/>
            <a:ext cx="2355265" cy="369332"/>
          </a:xfrm>
          <a:prstGeom prst="rect">
            <a:avLst/>
          </a:prstGeom>
          <a:noFill/>
        </p:spPr>
        <p:txBody>
          <a:bodyPr wrap="square">
            <a:spAutoFit/>
          </a:bodyPr>
          <a:lstStyle/>
          <a:p>
            <a:pPr algn="ctr">
              <a:defRPr/>
            </a:pPr>
            <a:r>
              <a:rPr lang="en-US" sz="1800" dirty="0">
                <a:solidFill>
                  <a:schemeClr val="accent4"/>
                </a:solidFill>
                <a:latin typeface="Calibri" panose="020F0502020204030204" pitchFamily="34" charset="0"/>
                <a:ea typeface="+mn-ea"/>
              </a:rPr>
              <a:t>Transfers P in breach to</a:t>
            </a:r>
          </a:p>
        </p:txBody>
      </p:sp>
      <p:cxnSp>
        <p:nvCxnSpPr>
          <p:cNvPr id="38" name="Straight Arrow Connector 37"/>
          <p:cNvCxnSpPr/>
          <p:nvPr/>
        </p:nvCxnSpPr>
        <p:spPr bwMode="auto">
          <a:xfrm flipH="1">
            <a:off x="3499500" y="2675112"/>
            <a:ext cx="2008604" cy="17703"/>
          </a:xfrm>
          <a:prstGeom prst="straightConnector1">
            <a:avLst/>
          </a:prstGeom>
          <a:solidFill>
            <a:schemeClr val="accent1"/>
          </a:solidFill>
          <a:ln w="19050" cap="flat" cmpd="sng" algn="ctr">
            <a:solidFill>
              <a:schemeClr val="tx1"/>
            </a:solidFill>
            <a:prstDash val="solid"/>
            <a:round/>
            <a:headEnd type="triangle" w="med" len="med"/>
            <a:tailEnd type="none"/>
          </a:ln>
          <a:effectLst/>
        </p:spPr>
      </p:cxnSp>
      <p:sp>
        <p:nvSpPr>
          <p:cNvPr id="22" name="TextBox 21"/>
          <p:cNvSpPr txBox="1"/>
          <p:nvPr/>
        </p:nvSpPr>
        <p:spPr>
          <a:xfrm>
            <a:off x="639810" y="1498706"/>
            <a:ext cx="2355265" cy="707886"/>
          </a:xfrm>
          <a:prstGeom prst="rect">
            <a:avLst/>
          </a:prstGeom>
          <a:noFill/>
        </p:spPr>
        <p:txBody>
          <a:bodyPr wrap="square">
            <a:spAutoFit/>
          </a:bodyPr>
          <a:lstStyle/>
          <a:p>
            <a:pPr algn="ctr">
              <a:defRPr/>
            </a:pPr>
            <a:r>
              <a:rPr lang="en-US" sz="2000" b="1" dirty="0">
                <a:solidFill>
                  <a:srgbClr val="00B050"/>
                </a:solidFill>
                <a:latin typeface="Calibri" panose="020F0502020204030204" pitchFamily="34" charset="0"/>
                <a:ea typeface="+mn-ea"/>
              </a:rPr>
              <a:t>Last week: personal liability of trustee</a:t>
            </a:r>
          </a:p>
        </p:txBody>
      </p:sp>
      <p:sp>
        <p:nvSpPr>
          <p:cNvPr id="24" name="TextBox 23"/>
          <p:cNvSpPr txBox="1"/>
          <p:nvPr/>
        </p:nvSpPr>
        <p:spPr>
          <a:xfrm>
            <a:off x="6469837" y="2086152"/>
            <a:ext cx="2355265" cy="707886"/>
          </a:xfrm>
          <a:prstGeom prst="rect">
            <a:avLst/>
          </a:prstGeom>
          <a:noFill/>
        </p:spPr>
        <p:txBody>
          <a:bodyPr wrap="square">
            <a:spAutoFit/>
          </a:bodyPr>
          <a:lstStyle/>
          <a:p>
            <a:pPr algn="ctr">
              <a:defRPr/>
            </a:pPr>
            <a:r>
              <a:rPr lang="en-US" sz="2000" b="1" dirty="0">
                <a:solidFill>
                  <a:srgbClr val="FF0000"/>
                </a:solidFill>
                <a:latin typeface="Calibri" panose="020F0502020204030204" pitchFamily="34" charset="0"/>
                <a:ea typeface="+mn-ea"/>
              </a:rPr>
              <a:t>This week: proprietary claim</a:t>
            </a:r>
          </a:p>
        </p:txBody>
      </p:sp>
      <p:sp>
        <p:nvSpPr>
          <p:cNvPr id="35" name="Oval 34"/>
          <p:cNvSpPr/>
          <p:nvPr/>
        </p:nvSpPr>
        <p:spPr bwMode="auto">
          <a:xfrm>
            <a:off x="2484726" y="2269037"/>
            <a:ext cx="792088" cy="766225"/>
          </a:xfrm>
          <a:prstGeom prst="ellipse">
            <a:avLst/>
          </a:prstGeom>
          <a:solidFill>
            <a:schemeClr val="bg1"/>
          </a:solidFill>
          <a:ln w="2857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GB"/>
            </a:defPPr>
            <a:lvl1pPr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imes" pitchFamily="18" charset="0"/>
            </a:endParaRPr>
          </a:p>
        </p:txBody>
      </p:sp>
      <p:sp>
        <p:nvSpPr>
          <p:cNvPr id="37" name="TextBox 19"/>
          <p:cNvSpPr txBox="1"/>
          <p:nvPr/>
        </p:nvSpPr>
        <p:spPr>
          <a:xfrm>
            <a:off x="1817443" y="2393928"/>
            <a:ext cx="2131427" cy="461665"/>
          </a:xfrm>
          <a:prstGeom prst="rect">
            <a:avLst/>
          </a:prstGeom>
          <a:noFill/>
        </p:spPr>
        <p:txBody>
          <a:bodyPr wrap="square">
            <a:spAutoFit/>
          </a:bodyPr>
          <a:lstStyle>
            <a:defPPr>
              <a:defRPr lang="en-GB"/>
            </a:defPPr>
            <a:lvl1pPr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9pPr>
          </a:lstStyle>
          <a:p>
            <a:pPr algn="ctr">
              <a:defRPr/>
            </a:pPr>
            <a:r>
              <a:rPr lang="en-US" dirty="0">
                <a:solidFill>
                  <a:schemeClr val="accent4"/>
                </a:solidFill>
                <a:latin typeface="Calibri" panose="020F0502020204030204" pitchFamily="34" charset="0"/>
                <a:ea typeface="+mn-ea"/>
              </a:rPr>
              <a:t>T</a:t>
            </a:r>
            <a:r>
              <a:rPr lang="en-US" sz="1100" dirty="0">
                <a:solidFill>
                  <a:schemeClr val="accent4"/>
                </a:solidFill>
                <a:latin typeface="Calibri" panose="020F0502020204030204" pitchFamily="34" charset="0"/>
                <a:ea typeface="+mn-ea"/>
              </a:rPr>
              <a:t>rustee</a:t>
            </a:r>
          </a:p>
        </p:txBody>
      </p:sp>
      <p:sp>
        <p:nvSpPr>
          <p:cNvPr id="39" name="Right Brace 38"/>
          <p:cNvSpPr/>
          <p:nvPr/>
        </p:nvSpPr>
        <p:spPr bwMode="auto">
          <a:xfrm rot="10800000">
            <a:off x="1623182" y="2578667"/>
            <a:ext cx="587300" cy="2963388"/>
          </a:xfrm>
          <a:prstGeom prst="rightBrace">
            <a:avLst/>
          </a:prstGeom>
          <a:solidFill>
            <a:schemeClr val="bg1"/>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GB"/>
            </a:defPPr>
            <a:lvl1pPr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effectLst/>
              <a:latin typeface="Times" pitchFamily="18" charset="0"/>
            </a:endParaRPr>
          </a:p>
        </p:txBody>
      </p:sp>
      <p:sp>
        <p:nvSpPr>
          <p:cNvPr id="40" name="TextBox 26"/>
          <p:cNvSpPr txBox="1"/>
          <p:nvPr/>
        </p:nvSpPr>
        <p:spPr>
          <a:xfrm>
            <a:off x="708826" y="3787874"/>
            <a:ext cx="798119" cy="461665"/>
          </a:xfrm>
          <a:prstGeom prst="rect">
            <a:avLst/>
          </a:prstGeom>
          <a:noFill/>
        </p:spPr>
        <p:txBody>
          <a:bodyPr wrap="square">
            <a:spAutoFit/>
          </a:bodyPr>
          <a:lstStyle>
            <a:defPPr>
              <a:defRPr lang="en-GB"/>
            </a:defPPr>
            <a:lvl1pPr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9pPr>
          </a:lstStyle>
          <a:p>
            <a:pPr>
              <a:defRPr/>
            </a:pPr>
            <a:r>
              <a:rPr lang="en-US" dirty="0">
                <a:latin typeface="Calibri" panose="020F0502020204030204" pitchFamily="34" charset="0"/>
                <a:ea typeface="+mn-ea"/>
              </a:rPr>
              <a:t>Trust</a:t>
            </a:r>
          </a:p>
        </p:txBody>
      </p:sp>
      <p:sp>
        <p:nvSpPr>
          <p:cNvPr id="41" name="TextBox 27"/>
          <p:cNvSpPr txBox="1"/>
          <p:nvPr/>
        </p:nvSpPr>
        <p:spPr>
          <a:xfrm>
            <a:off x="1916832" y="5275788"/>
            <a:ext cx="2131427" cy="461665"/>
          </a:xfrm>
          <a:prstGeom prst="rect">
            <a:avLst/>
          </a:prstGeom>
          <a:noFill/>
        </p:spPr>
        <p:txBody>
          <a:bodyPr wrap="square">
            <a:spAutoFit/>
          </a:bodyPr>
          <a:lstStyle>
            <a:defPPr>
              <a:defRPr lang="en-GB"/>
            </a:defPPr>
            <a:lvl1pPr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9pPr>
          </a:lstStyle>
          <a:p>
            <a:pPr algn="ctr">
              <a:defRPr/>
            </a:pPr>
            <a:r>
              <a:rPr lang="en-US" dirty="0">
                <a:solidFill>
                  <a:schemeClr val="accent4"/>
                </a:solidFill>
                <a:latin typeface="Calibri" panose="020F0502020204030204" pitchFamily="34" charset="0"/>
                <a:ea typeface="+mn-ea"/>
              </a:rPr>
              <a:t>B</a:t>
            </a:r>
            <a:r>
              <a:rPr lang="en-US" sz="1100" dirty="0">
                <a:solidFill>
                  <a:schemeClr val="accent4"/>
                </a:solidFill>
                <a:latin typeface="Calibri" panose="020F0502020204030204" pitchFamily="34" charset="0"/>
                <a:ea typeface="+mn-ea"/>
              </a:rPr>
              <a:t>eneficiary</a:t>
            </a:r>
          </a:p>
        </p:txBody>
      </p:sp>
      <p:sp>
        <p:nvSpPr>
          <p:cNvPr id="42" name="TextBox 29"/>
          <p:cNvSpPr txBox="1"/>
          <p:nvPr/>
        </p:nvSpPr>
        <p:spPr>
          <a:xfrm>
            <a:off x="1845022" y="3836275"/>
            <a:ext cx="2131427" cy="461665"/>
          </a:xfrm>
          <a:prstGeom prst="rect">
            <a:avLst/>
          </a:prstGeom>
          <a:noFill/>
        </p:spPr>
        <p:txBody>
          <a:bodyPr wrap="square">
            <a:spAutoFit/>
          </a:bodyPr>
          <a:lstStyle>
            <a:defPPr>
              <a:defRPr lang="en-GB"/>
            </a:defPPr>
            <a:lvl1pPr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9pPr>
          </a:lstStyle>
          <a:p>
            <a:pPr algn="ctr">
              <a:defRPr/>
            </a:pPr>
            <a:r>
              <a:rPr lang="en-US" dirty="0">
                <a:solidFill>
                  <a:schemeClr val="accent4"/>
                </a:solidFill>
                <a:latin typeface="Calibri" panose="020F0502020204030204" pitchFamily="34" charset="0"/>
                <a:ea typeface="+mn-ea"/>
              </a:rPr>
              <a:t>P</a:t>
            </a:r>
            <a:r>
              <a:rPr lang="en-US" sz="1100" dirty="0">
                <a:solidFill>
                  <a:schemeClr val="accent4"/>
                </a:solidFill>
                <a:latin typeface="Calibri" panose="020F0502020204030204" pitchFamily="34" charset="0"/>
                <a:ea typeface="+mn-ea"/>
              </a:rPr>
              <a:t>roperty</a:t>
            </a:r>
          </a:p>
        </p:txBody>
      </p:sp>
      <p:sp>
        <p:nvSpPr>
          <p:cNvPr id="43" name="TextBox 32"/>
          <p:cNvSpPr txBox="1"/>
          <p:nvPr/>
        </p:nvSpPr>
        <p:spPr>
          <a:xfrm>
            <a:off x="1712757" y="3120894"/>
            <a:ext cx="2355265" cy="307777"/>
          </a:xfrm>
          <a:prstGeom prst="rect">
            <a:avLst/>
          </a:prstGeom>
          <a:noFill/>
        </p:spPr>
        <p:txBody>
          <a:bodyPr wrap="square">
            <a:spAutoFit/>
          </a:bodyPr>
          <a:lstStyle>
            <a:defPPr>
              <a:defRPr lang="en-GB"/>
            </a:defPPr>
            <a:lvl1pPr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9pPr>
          </a:lstStyle>
          <a:p>
            <a:pPr algn="ctr">
              <a:defRPr/>
            </a:pPr>
            <a:r>
              <a:rPr lang="en-US" sz="1400" b="1" dirty="0">
                <a:solidFill>
                  <a:srgbClr val="FF0000"/>
                </a:solidFill>
                <a:latin typeface="Calibri" panose="020F0502020204030204" pitchFamily="34" charset="0"/>
                <a:ea typeface="+mn-ea"/>
              </a:rPr>
              <a:t>Commits breach</a:t>
            </a:r>
          </a:p>
        </p:txBody>
      </p:sp>
      <p:sp>
        <p:nvSpPr>
          <p:cNvPr id="44" name="TextBox 20">
            <a:extLst>
              <a:ext uri="{FF2B5EF4-FFF2-40B4-BE49-F238E27FC236}">
                <a16:creationId xmlns:a16="http://schemas.microsoft.com/office/drawing/2014/main" id="{9A376F47-2642-1244-9213-4F9ADA8E5291}"/>
              </a:ext>
            </a:extLst>
          </p:cNvPr>
          <p:cNvSpPr txBox="1"/>
          <p:nvPr/>
        </p:nvSpPr>
        <p:spPr>
          <a:xfrm>
            <a:off x="1703137" y="3437645"/>
            <a:ext cx="2355265" cy="307777"/>
          </a:xfrm>
          <a:prstGeom prst="rect">
            <a:avLst/>
          </a:prstGeom>
          <a:noFill/>
        </p:spPr>
        <p:txBody>
          <a:bodyPr wrap="square">
            <a:spAutoFit/>
          </a:bodyPr>
          <a:lstStyle>
            <a:defPPr>
              <a:defRPr lang="en-GB"/>
            </a:defPPr>
            <a:lvl1pPr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9pPr>
          </a:lstStyle>
          <a:p>
            <a:pPr algn="ctr">
              <a:defRPr/>
            </a:pPr>
            <a:r>
              <a:rPr lang="en-US" sz="1400" b="1" dirty="0">
                <a:solidFill>
                  <a:srgbClr val="FF0000"/>
                </a:solidFill>
                <a:latin typeface="Calibri" panose="020F0502020204030204" pitchFamily="34" charset="0"/>
                <a:ea typeface="+mn-ea"/>
              </a:rPr>
              <a:t>= loss to trust fund</a:t>
            </a:r>
          </a:p>
        </p:txBody>
      </p:sp>
      <p:sp>
        <p:nvSpPr>
          <p:cNvPr id="46" name="TextBox 32"/>
          <p:cNvSpPr txBox="1"/>
          <p:nvPr/>
        </p:nvSpPr>
        <p:spPr>
          <a:xfrm>
            <a:off x="4347891" y="4229795"/>
            <a:ext cx="2355265" cy="307777"/>
          </a:xfrm>
          <a:prstGeom prst="rect">
            <a:avLst/>
          </a:prstGeom>
          <a:noFill/>
        </p:spPr>
        <p:txBody>
          <a:bodyPr wrap="square">
            <a:spAutoFit/>
          </a:bodyPr>
          <a:lstStyle>
            <a:defPPr>
              <a:defRPr lang="en-GB"/>
            </a:defPPr>
            <a:lvl1pPr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9pPr>
          </a:lstStyle>
          <a:p>
            <a:pPr algn="ctr">
              <a:defRPr/>
            </a:pPr>
            <a:r>
              <a:rPr lang="en-US" sz="1400" b="1" dirty="0">
                <a:solidFill>
                  <a:srgbClr val="FF0000"/>
                </a:solidFill>
                <a:latin typeface="Calibri" panose="020F0502020204030204" pitchFamily="34" charset="0"/>
                <a:ea typeface="+mn-ea"/>
              </a:rPr>
              <a:t>Traces P to</a:t>
            </a:r>
          </a:p>
        </p:txBody>
      </p:sp>
    </p:spTree>
    <p:extLst>
      <p:ext uri="{BB962C8B-B14F-4D97-AF65-F5344CB8AC3E}">
        <p14:creationId xmlns:p14="http://schemas.microsoft.com/office/powerpoint/2010/main" val="1018631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3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3"/>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4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wheel(1)">
                                      <p:cBhvr>
                                        <p:cTn id="24" dur="2000"/>
                                        <p:tgtEl>
                                          <p:spTgt spid="35"/>
                                        </p:tgtEl>
                                      </p:cBhvr>
                                    </p:animEffec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down)">
                                      <p:cBhvr>
                                        <p:cTn id="31" dur="500"/>
                                        <p:tgtEl>
                                          <p:spTgt spid="4"/>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1" presetClass="entr" presetSubtype="1"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wheel(1)">
                                      <p:cBhvr>
                                        <p:cTn id="40" dur="2000"/>
                                        <p:tgtEl>
                                          <p:spTgt spid="21"/>
                                        </p:tgtEl>
                                      </p:cBhvr>
                                    </p:animEffec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32" grpId="0"/>
      <p:bldP spid="33" grpId="0"/>
      <p:bldP spid="22" grpId="0"/>
      <p:bldP spid="24" grpId="0"/>
      <p:bldP spid="35" grpId="0" animBg="1"/>
      <p:bldP spid="43" grpId="0"/>
      <p:bldP spid="44" grpId="0"/>
      <p:bldP spid="4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mn-lt"/>
              </a:rPr>
              <a:t>Advantages of proprietary claims</a:t>
            </a:r>
          </a:p>
        </p:txBody>
      </p:sp>
      <p:sp>
        <p:nvSpPr>
          <p:cNvPr id="8" name="Rectangle 7">
            <a:extLst>
              <a:ext uri="{FF2B5EF4-FFF2-40B4-BE49-F238E27FC236}">
                <a16:creationId xmlns:a16="http://schemas.microsoft.com/office/drawing/2014/main" id="{FF866AB9-0D2D-864D-BE8B-650BF4878280}"/>
              </a:ext>
            </a:extLst>
          </p:cNvPr>
          <p:cNvSpPr/>
          <p:nvPr/>
        </p:nvSpPr>
        <p:spPr bwMode="auto">
          <a:xfrm>
            <a:off x="2253199" y="2455277"/>
            <a:ext cx="1745704" cy="1276275"/>
          </a:xfrm>
          <a:prstGeom prst="rect">
            <a:avLst/>
          </a:prstGeom>
          <a:solidFill>
            <a:srgbClr val="FF0000"/>
          </a:solidFill>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anchor="ctr"/>
          <a:lstStyle>
            <a:lvl1pPr>
              <a:defRPr sz="2400">
                <a:solidFill>
                  <a:schemeClr val="tx1"/>
                </a:solidFill>
                <a:latin typeface="Times" pitchFamily="4" charset="0"/>
                <a:ea typeface="ＭＳ Ｐゴシック" pitchFamily="4" charset="-128"/>
              </a:defRPr>
            </a:lvl1pPr>
            <a:lvl2pPr marL="37931725" indent="-37474525">
              <a:defRPr sz="2400">
                <a:solidFill>
                  <a:schemeClr val="tx1"/>
                </a:solidFill>
                <a:latin typeface="Times" pitchFamily="4" charset="0"/>
                <a:ea typeface="ＭＳ Ｐゴシック" pitchFamily="4" charset="-128"/>
              </a:defRPr>
            </a:lvl2pPr>
            <a:lvl3pPr>
              <a:defRPr sz="2400">
                <a:solidFill>
                  <a:schemeClr val="tx1"/>
                </a:solidFill>
                <a:latin typeface="Times" pitchFamily="4" charset="0"/>
                <a:ea typeface="ＭＳ Ｐゴシック" pitchFamily="4" charset="-128"/>
              </a:defRPr>
            </a:lvl3pPr>
            <a:lvl4pPr>
              <a:defRPr sz="2400">
                <a:solidFill>
                  <a:schemeClr val="tx1"/>
                </a:solidFill>
                <a:latin typeface="Times" pitchFamily="4" charset="0"/>
                <a:ea typeface="ＭＳ Ｐゴシック" pitchFamily="4" charset="-128"/>
              </a:defRPr>
            </a:lvl4pPr>
            <a:lvl5pPr>
              <a:defRPr sz="2400">
                <a:solidFill>
                  <a:schemeClr val="tx1"/>
                </a:solidFill>
                <a:latin typeface="Times" pitchFamily="4" charset="0"/>
                <a:ea typeface="ＭＳ Ｐゴシック" pitchFamily="4" charset="-128"/>
              </a:defRPr>
            </a:lvl5pPr>
            <a:lvl6pPr marL="457200" eaLnBrk="0" fontAlgn="base" hangingPunct="0">
              <a:spcBef>
                <a:spcPct val="0"/>
              </a:spcBef>
              <a:spcAft>
                <a:spcPct val="0"/>
              </a:spcAft>
              <a:defRPr sz="2400">
                <a:solidFill>
                  <a:schemeClr val="tx1"/>
                </a:solidFill>
                <a:latin typeface="Times" pitchFamily="4" charset="0"/>
                <a:ea typeface="ＭＳ Ｐゴシック" pitchFamily="4" charset="-128"/>
              </a:defRPr>
            </a:lvl6pPr>
            <a:lvl7pPr marL="914400" eaLnBrk="0" fontAlgn="base" hangingPunct="0">
              <a:spcBef>
                <a:spcPct val="0"/>
              </a:spcBef>
              <a:spcAft>
                <a:spcPct val="0"/>
              </a:spcAft>
              <a:defRPr sz="2400">
                <a:solidFill>
                  <a:schemeClr val="tx1"/>
                </a:solidFill>
                <a:latin typeface="Times" pitchFamily="4" charset="0"/>
                <a:ea typeface="ＭＳ Ｐゴシック" pitchFamily="4" charset="-128"/>
              </a:defRPr>
            </a:lvl7pPr>
            <a:lvl8pPr marL="1371600" eaLnBrk="0" fontAlgn="base" hangingPunct="0">
              <a:spcBef>
                <a:spcPct val="0"/>
              </a:spcBef>
              <a:spcAft>
                <a:spcPct val="0"/>
              </a:spcAft>
              <a:defRPr sz="2400">
                <a:solidFill>
                  <a:schemeClr val="tx1"/>
                </a:solidFill>
                <a:latin typeface="Times" pitchFamily="4" charset="0"/>
                <a:ea typeface="ＭＳ Ｐゴシック" pitchFamily="4" charset="-128"/>
              </a:defRPr>
            </a:lvl8pPr>
            <a:lvl9pPr marL="1828800" eaLnBrk="0" fontAlgn="base" hangingPunct="0">
              <a:spcBef>
                <a:spcPct val="0"/>
              </a:spcBef>
              <a:spcAft>
                <a:spcPct val="0"/>
              </a:spcAft>
              <a:defRPr sz="2400">
                <a:solidFill>
                  <a:schemeClr val="tx1"/>
                </a:solidFill>
                <a:latin typeface="Times" pitchFamily="4" charset="0"/>
                <a:ea typeface="ＭＳ Ｐゴシック" pitchFamily="4" charset="-128"/>
              </a:defRPr>
            </a:lvl9pPr>
          </a:lstStyle>
          <a:p>
            <a:pPr algn="ctr">
              <a:defRPr/>
            </a:pPr>
            <a:r>
              <a:rPr lang="en-US" altLang="en-US" sz="1800" dirty="0">
                <a:solidFill>
                  <a:schemeClr val="bg1"/>
                </a:solidFill>
                <a:latin typeface="Arial" charset="0"/>
              </a:rPr>
              <a:t>No wrongdoing by recipient required</a:t>
            </a:r>
          </a:p>
        </p:txBody>
      </p:sp>
      <p:sp>
        <p:nvSpPr>
          <p:cNvPr id="9" name="Rectangle 8">
            <a:extLst>
              <a:ext uri="{FF2B5EF4-FFF2-40B4-BE49-F238E27FC236}">
                <a16:creationId xmlns:a16="http://schemas.microsoft.com/office/drawing/2014/main" id="{C61F01F2-043F-6742-9EED-D5C1D1F25ECF}"/>
              </a:ext>
            </a:extLst>
          </p:cNvPr>
          <p:cNvSpPr/>
          <p:nvPr/>
        </p:nvSpPr>
        <p:spPr bwMode="auto">
          <a:xfrm>
            <a:off x="4592071" y="2420888"/>
            <a:ext cx="1745704" cy="1276275"/>
          </a:xfrm>
          <a:prstGeom prst="rect">
            <a:avLst/>
          </a:prstGeom>
          <a:solidFill>
            <a:srgbClr val="0070C0"/>
          </a:solidFill>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anchor="ctr"/>
          <a:lstStyle>
            <a:lvl1pPr>
              <a:defRPr sz="2400">
                <a:solidFill>
                  <a:schemeClr val="tx1"/>
                </a:solidFill>
                <a:latin typeface="Times" pitchFamily="4" charset="0"/>
                <a:ea typeface="ＭＳ Ｐゴシック" pitchFamily="4" charset="-128"/>
              </a:defRPr>
            </a:lvl1pPr>
            <a:lvl2pPr marL="37931725" indent="-37474525">
              <a:defRPr sz="2400">
                <a:solidFill>
                  <a:schemeClr val="tx1"/>
                </a:solidFill>
                <a:latin typeface="Times" pitchFamily="4" charset="0"/>
                <a:ea typeface="ＭＳ Ｐゴシック" pitchFamily="4" charset="-128"/>
              </a:defRPr>
            </a:lvl2pPr>
            <a:lvl3pPr>
              <a:defRPr sz="2400">
                <a:solidFill>
                  <a:schemeClr val="tx1"/>
                </a:solidFill>
                <a:latin typeface="Times" pitchFamily="4" charset="0"/>
                <a:ea typeface="ＭＳ Ｐゴシック" pitchFamily="4" charset="-128"/>
              </a:defRPr>
            </a:lvl3pPr>
            <a:lvl4pPr>
              <a:defRPr sz="2400">
                <a:solidFill>
                  <a:schemeClr val="tx1"/>
                </a:solidFill>
                <a:latin typeface="Times" pitchFamily="4" charset="0"/>
                <a:ea typeface="ＭＳ Ｐゴシック" pitchFamily="4" charset="-128"/>
              </a:defRPr>
            </a:lvl4pPr>
            <a:lvl5pPr>
              <a:defRPr sz="2400">
                <a:solidFill>
                  <a:schemeClr val="tx1"/>
                </a:solidFill>
                <a:latin typeface="Times" pitchFamily="4" charset="0"/>
                <a:ea typeface="ＭＳ Ｐゴシック" pitchFamily="4" charset="-128"/>
              </a:defRPr>
            </a:lvl5pPr>
            <a:lvl6pPr marL="457200" eaLnBrk="0" fontAlgn="base" hangingPunct="0">
              <a:spcBef>
                <a:spcPct val="0"/>
              </a:spcBef>
              <a:spcAft>
                <a:spcPct val="0"/>
              </a:spcAft>
              <a:defRPr sz="2400">
                <a:solidFill>
                  <a:schemeClr val="tx1"/>
                </a:solidFill>
                <a:latin typeface="Times" pitchFamily="4" charset="0"/>
                <a:ea typeface="ＭＳ Ｐゴシック" pitchFamily="4" charset="-128"/>
              </a:defRPr>
            </a:lvl6pPr>
            <a:lvl7pPr marL="914400" eaLnBrk="0" fontAlgn="base" hangingPunct="0">
              <a:spcBef>
                <a:spcPct val="0"/>
              </a:spcBef>
              <a:spcAft>
                <a:spcPct val="0"/>
              </a:spcAft>
              <a:defRPr sz="2400">
                <a:solidFill>
                  <a:schemeClr val="tx1"/>
                </a:solidFill>
                <a:latin typeface="Times" pitchFamily="4" charset="0"/>
                <a:ea typeface="ＭＳ Ｐゴシック" pitchFamily="4" charset="-128"/>
              </a:defRPr>
            </a:lvl7pPr>
            <a:lvl8pPr marL="1371600" eaLnBrk="0" fontAlgn="base" hangingPunct="0">
              <a:spcBef>
                <a:spcPct val="0"/>
              </a:spcBef>
              <a:spcAft>
                <a:spcPct val="0"/>
              </a:spcAft>
              <a:defRPr sz="2400">
                <a:solidFill>
                  <a:schemeClr val="tx1"/>
                </a:solidFill>
                <a:latin typeface="Times" pitchFamily="4" charset="0"/>
                <a:ea typeface="ＭＳ Ｐゴシック" pitchFamily="4" charset="-128"/>
              </a:defRPr>
            </a:lvl8pPr>
            <a:lvl9pPr marL="1828800" eaLnBrk="0" fontAlgn="base" hangingPunct="0">
              <a:spcBef>
                <a:spcPct val="0"/>
              </a:spcBef>
              <a:spcAft>
                <a:spcPct val="0"/>
              </a:spcAft>
              <a:defRPr sz="2400">
                <a:solidFill>
                  <a:schemeClr val="tx1"/>
                </a:solidFill>
                <a:latin typeface="Times" pitchFamily="4" charset="0"/>
                <a:ea typeface="ＭＳ Ｐゴシック" pitchFamily="4" charset="-128"/>
              </a:defRPr>
            </a:lvl9pPr>
          </a:lstStyle>
          <a:p>
            <a:pPr algn="ctr">
              <a:defRPr/>
            </a:pPr>
            <a:r>
              <a:rPr lang="en-US" altLang="en-US" sz="1800" dirty="0">
                <a:solidFill>
                  <a:schemeClr val="bg1"/>
                </a:solidFill>
                <a:latin typeface="Arial" charset="0"/>
              </a:rPr>
              <a:t>Higher chances of success</a:t>
            </a:r>
          </a:p>
        </p:txBody>
      </p:sp>
      <p:sp>
        <p:nvSpPr>
          <p:cNvPr id="10" name="Rectangle 9">
            <a:extLst>
              <a:ext uri="{FF2B5EF4-FFF2-40B4-BE49-F238E27FC236}">
                <a16:creationId xmlns:a16="http://schemas.microsoft.com/office/drawing/2014/main" id="{331CCF4F-2E56-C645-9662-BFF5DEBBE58A}"/>
              </a:ext>
            </a:extLst>
          </p:cNvPr>
          <p:cNvSpPr/>
          <p:nvPr/>
        </p:nvSpPr>
        <p:spPr bwMode="auto">
          <a:xfrm>
            <a:off x="5580112" y="4078922"/>
            <a:ext cx="1745704" cy="1276275"/>
          </a:xfrm>
          <a:prstGeom prst="rect">
            <a:avLst/>
          </a:prstGeom>
          <a:solidFill>
            <a:srgbClr val="00B050"/>
          </a:solidFill>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anchor="ctr"/>
          <a:lstStyle>
            <a:lvl1pPr>
              <a:defRPr sz="2400">
                <a:solidFill>
                  <a:schemeClr val="tx1"/>
                </a:solidFill>
                <a:latin typeface="Times" pitchFamily="4" charset="0"/>
                <a:ea typeface="ＭＳ Ｐゴシック" pitchFamily="4" charset="-128"/>
              </a:defRPr>
            </a:lvl1pPr>
            <a:lvl2pPr marL="37931725" indent="-37474525">
              <a:defRPr sz="2400">
                <a:solidFill>
                  <a:schemeClr val="tx1"/>
                </a:solidFill>
                <a:latin typeface="Times" pitchFamily="4" charset="0"/>
                <a:ea typeface="ＭＳ Ｐゴシック" pitchFamily="4" charset="-128"/>
              </a:defRPr>
            </a:lvl2pPr>
            <a:lvl3pPr>
              <a:defRPr sz="2400">
                <a:solidFill>
                  <a:schemeClr val="tx1"/>
                </a:solidFill>
                <a:latin typeface="Times" pitchFamily="4" charset="0"/>
                <a:ea typeface="ＭＳ Ｐゴシック" pitchFamily="4" charset="-128"/>
              </a:defRPr>
            </a:lvl3pPr>
            <a:lvl4pPr>
              <a:defRPr sz="2400">
                <a:solidFill>
                  <a:schemeClr val="tx1"/>
                </a:solidFill>
                <a:latin typeface="Times" pitchFamily="4" charset="0"/>
                <a:ea typeface="ＭＳ Ｐゴシック" pitchFamily="4" charset="-128"/>
              </a:defRPr>
            </a:lvl4pPr>
            <a:lvl5pPr>
              <a:defRPr sz="2400">
                <a:solidFill>
                  <a:schemeClr val="tx1"/>
                </a:solidFill>
                <a:latin typeface="Times" pitchFamily="4" charset="0"/>
                <a:ea typeface="ＭＳ Ｐゴシック" pitchFamily="4" charset="-128"/>
              </a:defRPr>
            </a:lvl5pPr>
            <a:lvl6pPr marL="457200" eaLnBrk="0" fontAlgn="base" hangingPunct="0">
              <a:spcBef>
                <a:spcPct val="0"/>
              </a:spcBef>
              <a:spcAft>
                <a:spcPct val="0"/>
              </a:spcAft>
              <a:defRPr sz="2400">
                <a:solidFill>
                  <a:schemeClr val="tx1"/>
                </a:solidFill>
                <a:latin typeface="Times" pitchFamily="4" charset="0"/>
                <a:ea typeface="ＭＳ Ｐゴシック" pitchFamily="4" charset="-128"/>
              </a:defRPr>
            </a:lvl6pPr>
            <a:lvl7pPr marL="914400" eaLnBrk="0" fontAlgn="base" hangingPunct="0">
              <a:spcBef>
                <a:spcPct val="0"/>
              </a:spcBef>
              <a:spcAft>
                <a:spcPct val="0"/>
              </a:spcAft>
              <a:defRPr sz="2400">
                <a:solidFill>
                  <a:schemeClr val="tx1"/>
                </a:solidFill>
                <a:latin typeface="Times" pitchFamily="4" charset="0"/>
                <a:ea typeface="ＭＳ Ｐゴシック" pitchFamily="4" charset="-128"/>
              </a:defRPr>
            </a:lvl7pPr>
            <a:lvl8pPr marL="1371600" eaLnBrk="0" fontAlgn="base" hangingPunct="0">
              <a:spcBef>
                <a:spcPct val="0"/>
              </a:spcBef>
              <a:spcAft>
                <a:spcPct val="0"/>
              </a:spcAft>
              <a:defRPr sz="2400">
                <a:solidFill>
                  <a:schemeClr val="tx1"/>
                </a:solidFill>
                <a:latin typeface="Times" pitchFamily="4" charset="0"/>
                <a:ea typeface="ＭＳ Ｐゴシック" pitchFamily="4" charset="-128"/>
              </a:defRPr>
            </a:lvl8pPr>
            <a:lvl9pPr marL="1828800" eaLnBrk="0" fontAlgn="base" hangingPunct="0">
              <a:spcBef>
                <a:spcPct val="0"/>
              </a:spcBef>
              <a:spcAft>
                <a:spcPct val="0"/>
              </a:spcAft>
              <a:defRPr sz="2400">
                <a:solidFill>
                  <a:schemeClr val="tx1"/>
                </a:solidFill>
                <a:latin typeface="Times" pitchFamily="4" charset="0"/>
                <a:ea typeface="ＭＳ Ｐゴシック" pitchFamily="4" charset="-128"/>
              </a:defRPr>
            </a:lvl9pPr>
          </a:lstStyle>
          <a:p>
            <a:pPr algn="ctr">
              <a:defRPr/>
            </a:pPr>
            <a:r>
              <a:rPr lang="en-US" altLang="en-US" sz="1800" dirty="0">
                <a:solidFill>
                  <a:schemeClr val="bg1"/>
                </a:solidFill>
                <a:latin typeface="Arial" charset="0"/>
              </a:rPr>
              <a:t>Increase in value can be recovered</a:t>
            </a:r>
          </a:p>
        </p:txBody>
      </p:sp>
      <p:sp>
        <p:nvSpPr>
          <p:cNvPr id="11" name="Rectangle 10">
            <a:extLst>
              <a:ext uri="{FF2B5EF4-FFF2-40B4-BE49-F238E27FC236}">
                <a16:creationId xmlns:a16="http://schemas.microsoft.com/office/drawing/2014/main" id="{EB91444B-0597-C443-8722-E4F4367A2AE4}"/>
              </a:ext>
            </a:extLst>
          </p:cNvPr>
          <p:cNvSpPr/>
          <p:nvPr/>
        </p:nvSpPr>
        <p:spPr bwMode="auto">
          <a:xfrm>
            <a:off x="1403648" y="4078922"/>
            <a:ext cx="1745704" cy="1276275"/>
          </a:xfrm>
          <a:prstGeom prst="rect">
            <a:avLst/>
          </a:prstGeom>
          <a:solidFill>
            <a:srgbClr val="FFC000"/>
          </a:solidFill>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anchor="ctr"/>
          <a:lstStyle>
            <a:lvl1pPr>
              <a:defRPr sz="2400">
                <a:solidFill>
                  <a:schemeClr val="tx1"/>
                </a:solidFill>
                <a:latin typeface="Times" pitchFamily="4" charset="0"/>
                <a:ea typeface="ＭＳ Ｐゴシック" pitchFamily="4" charset="-128"/>
              </a:defRPr>
            </a:lvl1pPr>
            <a:lvl2pPr marL="37931725" indent="-37474525">
              <a:defRPr sz="2400">
                <a:solidFill>
                  <a:schemeClr val="tx1"/>
                </a:solidFill>
                <a:latin typeface="Times" pitchFamily="4" charset="0"/>
                <a:ea typeface="ＭＳ Ｐゴシック" pitchFamily="4" charset="-128"/>
              </a:defRPr>
            </a:lvl2pPr>
            <a:lvl3pPr>
              <a:defRPr sz="2400">
                <a:solidFill>
                  <a:schemeClr val="tx1"/>
                </a:solidFill>
                <a:latin typeface="Times" pitchFamily="4" charset="0"/>
                <a:ea typeface="ＭＳ Ｐゴシック" pitchFamily="4" charset="-128"/>
              </a:defRPr>
            </a:lvl3pPr>
            <a:lvl4pPr>
              <a:defRPr sz="2400">
                <a:solidFill>
                  <a:schemeClr val="tx1"/>
                </a:solidFill>
                <a:latin typeface="Times" pitchFamily="4" charset="0"/>
                <a:ea typeface="ＭＳ Ｐゴシック" pitchFamily="4" charset="-128"/>
              </a:defRPr>
            </a:lvl4pPr>
            <a:lvl5pPr>
              <a:defRPr sz="2400">
                <a:solidFill>
                  <a:schemeClr val="tx1"/>
                </a:solidFill>
                <a:latin typeface="Times" pitchFamily="4" charset="0"/>
                <a:ea typeface="ＭＳ Ｐゴシック" pitchFamily="4" charset="-128"/>
              </a:defRPr>
            </a:lvl5pPr>
            <a:lvl6pPr marL="457200" eaLnBrk="0" fontAlgn="base" hangingPunct="0">
              <a:spcBef>
                <a:spcPct val="0"/>
              </a:spcBef>
              <a:spcAft>
                <a:spcPct val="0"/>
              </a:spcAft>
              <a:defRPr sz="2400">
                <a:solidFill>
                  <a:schemeClr val="tx1"/>
                </a:solidFill>
                <a:latin typeface="Times" pitchFamily="4" charset="0"/>
                <a:ea typeface="ＭＳ Ｐゴシック" pitchFamily="4" charset="-128"/>
              </a:defRPr>
            </a:lvl6pPr>
            <a:lvl7pPr marL="914400" eaLnBrk="0" fontAlgn="base" hangingPunct="0">
              <a:spcBef>
                <a:spcPct val="0"/>
              </a:spcBef>
              <a:spcAft>
                <a:spcPct val="0"/>
              </a:spcAft>
              <a:defRPr sz="2400">
                <a:solidFill>
                  <a:schemeClr val="tx1"/>
                </a:solidFill>
                <a:latin typeface="Times" pitchFamily="4" charset="0"/>
                <a:ea typeface="ＭＳ Ｐゴシック" pitchFamily="4" charset="-128"/>
              </a:defRPr>
            </a:lvl7pPr>
            <a:lvl8pPr marL="1371600" eaLnBrk="0" fontAlgn="base" hangingPunct="0">
              <a:spcBef>
                <a:spcPct val="0"/>
              </a:spcBef>
              <a:spcAft>
                <a:spcPct val="0"/>
              </a:spcAft>
              <a:defRPr sz="2400">
                <a:solidFill>
                  <a:schemeClr val="tx1"/>
                </a:solidFill>
                <a:latin typeface="Times" pitchFamily="4" charset="0"/>
                <a:ea typeface="ＭＳ Ｐゴシック" pitchFamily="4" charset="-128"/>
              </a:defRPr>
            </a:lvl8pPr>
            <a:lvl9pPr marL="1828800" eaLnBrk="0" fontAlgn="base" hangingPunct="0">
              <a:spcBef>
                <a:spcPct val="0"/>
              </a:spcBef>
              <a:spcAft>
                <a:spcPct val="0"/>
              </a:spcAft>
              <a:defRPr sz="2400">
                <a:solidFill>
                  <a:schemeClr val="tx1"/>
                </a:solidFill>
                <a:latin typeface="Times" pitchFamily="4" charset="0"/>
                <a:ea typeface="ＭＳ Ｐゴシック" pitchFamily="4" charset="-128"/>
              </a:defRPr>
            </a:lvl9pPr>
          </a:lstStyle>
          <a:p>
            <a:pPr algn="ctr">
              <a:defRPr/>
            </a:pPr>
            <a:r>
              <a:rPr lang="en-US" altLang="en-US" sz="1800" dirty="0">
                <a:solidFill>
                  <a:schemeClr val="bg1"/>
                </a:solidFill>
                <a:latin typeface="Arial" charset="0"/>
              </a:rPr>
              <a:t>Recovery of specific property</a:t>
            </a:r>
          </a:p>
        </p:txBody>
      </p:sp>
      <p:sp>
        <p:nvSpPr>
          <p:cNvPr id="12" name="Rectangle 11">
            <a:extLst>
              <a:ext uri="{FF2B5EF4-FFF2-40B4-BE49-F238E27FC236}">
                <a16:creationId xmlns:a16="http://schemas.microsoft.com/office/drawing/2014/main" id="{019E36BB-78D9-7448-9BBC-392F955016B5}"/>
              </a:ext>
            </a:extLst>
          </p:cNvPr>
          <p:cNvSpPr/>
          <p:nvPr/>
        </p:nvSpPr>
        <p:spPr bwMode="auto">
          <a:xfrm>
            <a:off x="3491880" y="4078922"/>
            <a:ext cx="1745704" cy="1276275"/>
          </a:xfrm>
          <a:prstGeom prst="rect">
            <a:avLst/>
          </a:prstGeom>
          <a:solidFill>
            <a:srgbClr val="7030A0"/>
          </a:solidFill>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anchor="ctr"/>
          <a:lstStyle>
            <a:lvl1pPr>
              <a:defRPr sz="2400">
                <a:solidFill>
                  <a:schemeClr val="tx1"/>
                </a:solidFill>
                <a:latin typeface="Times" pitchFamily="4" charset="0"/>
                <a:ea typeface="ＭＳ Ｐゴシック" pitchFamily="4" charset="-128"/>
              </a:defRPr>
            </a:lvl1pPr>
            <a:lvl2pPr marL="37931725" indent="-37474525">
              <a:defRPr sz="2400">
                <a:solidFill>
                  <a:schemeClr val="tx1"/>
                </a:solidFill>
                <a:latin typeface="Times" pitchFamily="4" charset="0"/>
                <a:ea typeface="ＭＳ Ｐゴシック" pitchFamily="4" charset="-128"/>
              </a:defRPr>
            </a:lvl2pPr>
            <a:lvl3pPr>
              <a:defRPr sz="2400">
                <a:solidFill>
                  <a:schemeClr val="tx1"/>
                </a:solidFill>
                <a:latin typeface="Times" pitchFamily="4" charset="0"/>
                <a:ea typeface="ＭＳ Ｐゴシック" pitchFamily="4" charset="-128"/>
              </a:defRPr>
            </a:lvl3pPr>
            <a:lvl4pPr>
              <a:defRPr sz="2400">
                <a:solidFill>
                  <a:schemeClr val="tx1"/>
                </a:solidFill>
                <a:latin typeface="Times" pitchFamily="4" charset="0"/>
                <a:ea typeface="ＭＳ Ｐゴシック" pitchFamily="4" charset="-128"/>
              </a:defRPr>
            </a:lvl4pPr>
            <a:lvl5pPr>
              <a:defRPr sz="2400">
                <a:solidFill>
                  <a:schemeClr val="tx1"/>
                </a:solidFill>
                <a:latin typeface="Times" pitchFamily="4" charset="0"/>
                <a:ea typeface="ＭＳ Ｐゴシック" pitchFamily="4" charset="-128"/>
              </a:defRPr>
            </a:lvl5pPr>
            <a:lvl6pPr marL="457200" eaLnBrk="0" fontAlgn="base" hangingPunct="0">
              <a:spcBef>
                <a:spcPct val="0"/>
              </a:spcBef>
              <a:spcAft>
                <a:spcPct val="0"/>
              </a:spcAft>
              <a:defRPr sz="2400">
                <a:solidFill>
                  <a:schemeClr val="tx1"/>
                </a:solidFill>
                <a:latin typeface="Times" pitchFamily="4" charset="0"/>
                <a:ea typeface="ＭＳ Ｐゴシック" pitchFamily="4" charset="-128"/>
              </a:defRPr>
            </a:lvl6pPr>
            <a:lvl7pPr marL="914400" eaLnBrk="0" fontAlgn="base" hangingPunct="0">
              <a:spcBef>
                <a:spcPct val="0"/>
              </a:spcBef>
              <a:spcAft>
                <a:spcPct val="0"/>
              </a:spcAft>
              <a:defRPr sz="2400">
                <a:solidFill>
                  <a:schemeClr val="tx1"/>
                </a:solidFill>
                <a:latin typeface="Times" pitchFamily="4" charset="0"/>
                <a:ea typeface="ＭＳ Ｐゴシック" pitchFamily="4" charset="-128"/>
              </a:defRPr>
            </a:lvl7pPr>
            <a:lvl8pPr marL="1371600" eaLnBrk="0" fontAlgn="base" hangingPunct="0">
              <a:spcBef>
                <a:spcPct val="0"/>
              </a:spcBef>
              <a:spcAft>
                <a:spcPct val="0"/>
              </a:spcAft>
              <a:defRPr sz="2400">
                <a:solidFill>
                  <a:schemeClr val="tx1"/>
                </a:solidFill>
                <a:latin typeface="Times" pitchFamily="4" charset="0"/>
                <a:ea typeface="ＭＳ Ｐゴシック" pitchFamily="4" charset="-128"/>
              </a:defRPr>
            </a:lvl8pPr>
            <a:lvl9pPr marL="1828800" eaLnBrk="0" fontAlgn="base" hangingPunct="0">
              <a:spcBef>
                <a:spcPct val="0"/>
              </a:spcBef>
              <a:spcAft>
                <a:spcPct val="0"/>
              </a:spcAft>
              <a:defRPr sz="2400">
                <a:solidFill>
                  <a:schemeClr val="tx1"/>
                </a:solidFill>
                <a:latin typeface="Times" pitchFamily="4" charset="0"/>
                <a:ea typeface="ＭＳ Ｐゴシック" pitchFamily="4" charset="-128"/>
              </a:defRPr>
            </a:lvl9pPr>
          </a:lstStyle>
          <a:p>
            <a:pPr algn="ctr">
              <a:defRPr/>
            </a:pPr>
            <a:r>
              <a:rPr lang="en-US" altLang="en-US" sz="1800" dirty="0">
                <a:solidFill>
                  <a:schemeClr val="bg1"/>
                </a:solidFill>
                <a:latin typeface="Arial" charset="0"/>
              </a:rPr>
              <a:t>Priority on insolvency</a:t>
            </a:r>
          </a:p>
        </p:txBody>
      </p:sp>
    </p:spTree>
    <p:extLst>
      <p:ext uri="{BB962C8B-B14F-4D97-AF65-F5344CB8AC3E}">
        <p14:creationId xmlns:p14="http://schemas.microsoft.com/office/powerpoint/2010/main" val="1388714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alpha val="16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mn-lt"/>
              </a:rPr>
              <a:t>The structure of a proprietary claim</a:t>
            </a:r>
          </a:p>
        </p:txBody>
      </p:sp>
      <p:sp>
        <p:nvSpPr>
          <p:cNvPr id="13" name="Rounded Rectangle 12">
            <a:extLst>
              <a:ext uri="{FF2B5EF4-FFF2-40B4-BE49-F238E27FC236}">
                <a16:creationId xmlns:a16="http://schemas.microsoft.com/office/drawing/2014/main" id="{693C3121-6CD4-C645-8A9A-7D5E27E36059}"/>
              </a:ext>
            </a:extLst>
          </p:cNvPr>
          <p:cNvSpPr/>
          <p:nvPr/>
        </p:nvSpPr>
        <p:spPr>
          <a:xfrm>
            <a:off x="2483768" y="2060848"/>
            <a:ext cx="3544560" cy="526441"/>
          </a:xfrm>
          <a:prstGeom prst="roundRect">
            <a:avLst/>
          </a:prstGeom>
          <a:solidFill>
            <a:schemeClr val="accent6">
              <a:lumMod val="40000"/>
              <a:lumOff val="60000"/>
            </a:schemeClr>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chemeClr val="bg1"/>
                </a:solidFill>
                <a:cs typeface="Calibri" panose="020F0502020204030204" pitchFamily="34" charset="0"/>
              </a:rPr>
              <a:t>Proprietary base</a:t>
            </a:r>
            <a:endParaRPr lang="en-GB" dirty="0"/>
          </a:p>
        </p:txBody>
      </p:sp>
      <p:sp>
        <p:nvSpPr>
          <p:cNvPr id="14" name="Rounded Rectangle 13">
            <a:extLst>
              <a:ext uri="{FF2B5EF4-FFF2-40B4-BE49-F238E27FC236}">
                <a16:creationId xmlns:a16="http://schemas.microsoft.com/office/drawing/2014/main" id="{34791564-BC4B-9B44-9940-26EB22A6C813}"/>
              </a:ext>
            </a:extLst>
          </p:cNvPr>
          <p:cNvSpPr/>
          <p:nvPr/>
        </p:nvSpPr>
        <p:spPr>
          <a:xfrm>
            <a:off x="2495981" y="5141722"/>
            <a:ext cx="3532347" cy="529747"/>
          </a:xfrm>
          <a:prstGeom prst="roundRect">
            <a:avLst/>
          </a:prstGeom>
          <a:solidFill>
            <a:schemeClr val="accent6">
              <a:lumMod val="50000"/>
            </a:schemeClr>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b="1" dirty="0" err="1">
                <a:solidFill>
                  <a:schemeClr val="bg1"/>
                </a:solidFill>
                <a:cs typeface="Calibri" panose="020F0502020204030204" pitchFamily="34" charset="0"/>
              </a:rPr>
              <a:t>Defences</a:t>
            </a:r>
            <a:endParaRPr lang="en-US" b="1" dirty="0">
              <a:solidFill>
                <a:schemeClr val="bg1"/>
              </a:solidFill>
              <a:cs typeface="Calibri" panose="020F0502020204030204" pitchFamily="34" charset="0"/>
            </a:endParaRPr>
          </a:p>
        </p:txBody>
      </p:sp>
      <p:sp>
        <p:nvSpPr>
          <p:cNvPr id="16" name="Down Arrow 15">
            <a:extLst>
              <a:ext uri="{FF2B5EF4-FFF2-40B4-BE49-F238E27FC236}">
                <a16:creationId xmlns:a16="http://schemas.microsoft.com/office/drawing/2014/main" id="{CCEE47B5-27F3-2F4D-B595-472C22DE5760}"/>
              </a:ext>
            </a:extLst>
          </p:cNvPr>
          <p:cNvSpPr/>
          <p:nvPr/>
        </p:nvSpPr>
        <p:spPr>
          <a:xfrm>
            <a:off x="4071897" y="2686029"/>
            <a:ext cx="368300" cy="29392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Down Arrow 16">
            <a:extLst>
              <a:ext uri="{FF2B5EF4-FFF2-40B4-BE49-F238E27FC236}">
                <a16:creationId xmlns:a16="http://schemas.microsoft.com/office/drawing/2014/main" id="{FD2B8118-635F-994B-B31B-8BA71F717114}"/>
              </a:ext>
            </a:extLst>
          </p:cNvPr>
          <p:cNvSpPr/>
          <p:nvPr/>
        </p:nvSpPr>
        <p:spPr>
          <a:xfrm>
            <a:off x="4071897" y="3728822"/>
            <a:ext cx="368300" cy="29392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own Arrow 17">
            <a:extLst>
              <a:ext uri="{FF2B5EF4-FFF2-40B4-BE49-F238E27FC236}">
                <a16:creationId xmlns:a16="http://schemas.microsoft.com/office/drawing/2014/main" id="{CA9EA82F-159E-2640-B448-F458D34CC237}"/>
              </a:ext>
            </a:extLst>
          </p:cNvPr>
          <p:cNvSpPr/>
          <p:nvPr/>
        </p:nvSpPr>
        <p:spPr>
          <a:xfrm>
            <a:off x="4046641" y="4750737"/>
            <a:ext cx="368300" cy="29392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a:extLst>
              <a:ext uri="{FF2B5EF4-FFF2-40B4-BE49-F238E27FC236}">
                <a16:creationId xmlns:a16="http://schemas.microsoft.com/office/drawing/2014/main" id="{204529EE-A495-8947-BBE2-A272F40834C3}"/>
              </a:ext>
            </a:extLst>
          </p:cNvPr>
          <p:cNvSpPr/>
          <p:nvPr/>
        </p:nvSpPr>
        <p:spPr>
          <a:xfrm>
            <a:off x="2483768" y="3085873"/>
            <a:ext cx="3532347" cy="529747"/>
          </a:xfrm>
          <a:prstGeom prst="roundRect">
            <a:avLst/>
          </a:prstGeom>
          <a:solidFill>
            <a:schemeClr val="accent6">
              <a:lumMod val="60000"/>
              <a:lumOff val="40000"/>
            </a:schemeClr>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chemeClr val="bg1"/>
                </a:solidFill>
                <a:cs typeface="Calibri" panose="020F0502020204030204" pitchFamily="34" charset="0"/>
              </a:rPr>
              <a:t>Following or Tracing</a:t>
            </a:r>
          </a:p>
        </p:txBody>
      </p:sp>
      <p:sp>
        <p:nvSpPr>
          <p:cNvPr id="21" name="Rounded Rectangle 20">
            <a:extLst>
              <a:ext uri="{FF2B5EF4-FFF2-40B4-BE49-F238E27FC236}">
                <a16:creationId xmlns:a16="http://schemas.microsoft.com/office/drawing/2014/main" id="{32D6A44C-F60D-DC44-8697-ED482014D798}"/>
              </a:ext>
            </a:extLst>
          </p:cNvPr>
          <p:cNvSpPr/>
          <p:nvPr/>
        </p:nvSpPr>
        <p:spPr>
          <a:xfrm>
            <a:off x="2477661" y="4095340"/>
            <a:ext cx="3544560" cy="529747"/>
          </a:xfrm>
          <a:prstGeom prst="roundRect">
            <a:avLst/>
          </a:prstGeom>
          <a:solidFill>
            <a:schemeClr val="accent6">
              <a:lumMod val="75000"/>
            </a:schemeClr>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chemeClr val="bg1"/>
                </a:solidFill>
                <a:cs typeface="Calibri" panose="020F0502020204030204" pitchFamily="34" charset="0"/>
              </a:rPr>
              <a:t>Claiming and remedy</a:t>
            </a:r>
          </a:p>
        </p:txBody>
      </p:sp>
    </p:spTree>
    <p:extLst>
      <p:ext uri="{BB962C8B-B14F-4D97-AF65-F5344CB8AC3E}">
        <p14:creationId xmlns:p14="http://schemas.microsoft.com/office/powerpoint/2010/main" val="103926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8224" y="4293096"/>
            <a:ext cx="2233400" cy="2463001"/>
          </a:xfrm>
          <a:prstGeom prst="rect">
            <a:avLst/>
          </a:prstGeom>
        </p:spPr>
      </p:pic>
      <p:sp>
        <p:nvSpPr>
          <p:cNvPr id="12" name="Content Placeholder 2">
            <a:extLst>
              <a:ext uri="{FF2B5EF4-FFF2-40B4-BE49-F238E27FC236}">
                <a16:creationId xmlns:a16="http://schemas.microsoft.com/office/drawing/2014/main" id="{BE8F733C-9B93-7D45-A33C-9CAA280AB5FA}"/>
              </a:ext>
            </a:extLst>
          </p:cNvPr>
          <p:cNvSpPr txBox="1">
            <a:spLocks/>
          </p:cNvSpPr>
          <p:nvPr/>
        </p:nvSpPr>
        <p:spPr>
          <a:xfrm>
            <a:off x="684213" y="1989138"/>
            <a:ext cx="7772400" cy="3816350"/>
          </a:xfrm>
          <a:prstGeom prst="rect">
            <a:avLst/>
          </a:prstGeom>
        </p:spPr>
        <p:txBody>
          <a:bodyPr/>
          <a:lstStyle>
            <a:lvl1pPr marL="342900" indent="-342900" algn="l" rtl="0" eaLnBrk="0" fontAlgn="base" hangingPunct="0">
              <a:spcBef>
                <a:spcPct val="20000"/>
              </a:spcBef>
              <a:spcAft>
                <a:spcPct val="0"/>
              </a:spcAft>
              <a:defRPr>
                <a:solidFill>
                  <a:schemeClr val="tx1"/>
                </a:solidFill>
                <a:latin typeface="+mn-lt"/>
                <a:ea typeface="ＭＳ Ｐゴシック" pitchFamily="4" charset="-128"/>
                <a:cs typeface="ＭＳ Ｐゴシック" pitchFamily="4" charset="-128"/>
              </a:defRPr>
            </a:lvl1pPr>
            <a:lvl2pPr marL="742950" indent="-285750" algn="l" rtl="0" eaLnBrk="0" fontAlgn="base" hangingPunct="0">
              <a:spcBef>
                <a:spcPct val="20000"/>
              </a:spcBef>
              <a:spcAft>
                <a:spcPct val="0"/>
              </a:spcAft>
              <a:buChar char="–"/>
              <a:defRPr sz="1600">
                <a:solidFill>
                  <a:schemeClr val="tx1"/>
                </a:solidFill>
                <a:latin typeface="+mn-lt"/>
                <a:ea typeface="ＭＳ Ｐゴシック" pitchFamily="4" charset="-128"/>
              </a:defRPr>
            </a:lvl2pPr>
            <a:lvl3pPr marL="1143000" indent="-228600" algn="l" rtl="0" eaLnBrk="0" fontAlgn="base" hangingPunct="0">
              <a:spcBef>
                <a:spcPct val="20000"/>
              </a:spcBef>
              <a:spcAft>
                <a:spcPct val="0"/>
              </a:spcAft>
              <a:buChar char="•"/>
              <a:defRPr sz="1400">
                <a:solidFill>
                  <a:schemeClr val="tx1"/>
                </a:solidFill>
                <a:latin typeface="+mn-lt"/>
                <a:ea typeface="ＭＳ Ｐゴシック" pitchFamily="4" charset="-128"/>
              </a:defRPr>
            </a:lvl3pPr>
            <a:lvl4pPr marL="16002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4pPr>
            <a:lvl5pPr marL="20574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a:lstStyle>
          <a:p>
            <a:pPr marL="0" indent="0"/>
            <a:r>
              <a:rPr lang="en-US" altLang="en-US" sz="3200" kern="0" dirty="0"/>
              <a:t>The claimant, in order to trace, needs to have one of these proprietary rights just before the </a:t>
            </a:r>
            <a:r>
              <a:rPr lang="en-US" altLang="en-US" sz="3200" kern="0" dirty="0" err="1"/>
              <a:t>unauthorised</a:t>
            </a:r>
            <a:r>
              <a:rPr lang="en-US" altLang="en-US" sz="3200" kern="0" dirty="0"/>
              <a:t> substitution is made:</a:t>
            </a:r>
          </a:p>
          <a:p>
            <a:pPr marL="457200" indent="-457200">
              <a:buFont typeface="Arial" panose="020B0604020202020204" pitchFamily="34" charset="0"/>
              <a:buChar char="•"/>
            </a:pPr>
            <a:r>
              <a:rPr lang="en-US" altLang="en-US" sz="3200" b="1" kern="0" dirty="0"/>
              <a:t>At common law</a:t>
            </a:r>
            <a:r>
              <a:rPr lang="en-US" altLang="en-US" sz="3200" kern="0" dirty="0"/>
              <a:t>: the legal title</a:t>
            </a:r>
          </a:p>
          <a:p>
            <a:pPr marL="457200" indent="-457200">
              <a:buFont typeface="Arial" panose="020B0604020202020204" pitchFamily="34" charset="0"/>
              <a:buChar char="•"/>
            </a:pPr>
            <a:r>
              <a:rPr lang="en-US" altLang="en-US" sz="3200" b="1" kern="0" dirty="0"/>
              <a:t>In equity</a:t>
            </a:r>
            <a:r>
              <a:rPr lang="en-US" altLang="en-US" sz="3200" kern="0" dirty="0"/>
              <a:t>: a beneficial interest</a:t>
            </a:r>
          </a:p>
          <a:p>
            <a:pPr marL="0" indent="0"/>
            <a:endParaRPr lang="en-US" altLang="en-US" sz="2000" kern="0" dirty="0"/>
          </a:p>
        </p:txBody>
      </p:sp>
      <p:sp>
        <p:nvSpPr>
          <p:cNvPr id="15" name="Title 14">
            <a:extLst>
              <a:ext uri="{FF2B5EF4-FFF2-40B4-BE49-F238E27FC236}">
                <a16:creationId xmlns:a16="http://schemas.microsoft.com/office/drawing/2014/main" id="{AD635190-C1F9-4A4C-AD39-C868845B6C55}"/>
              </a:ext>
            </a:extLst>
          </p:cNvPr>
          <p:cNvSpPr>
            <a:spLocks noGrp="1"/>
          </p:cNvSpPr>
          <p:nvPr>
            <p:ph type="title"/>
          </p:nvPr>
        </p:nvSpPr>
        <p:spPr>
          <a:prstGeom prst="roundRect">
            <a:avLst/>
          </a:prstGeom>
          <a:solidFill>
            <a:schemeClr val="accent6">
              <a:lumMod val="40000"/>
              <a:lumOff val="60000"/>
            </a:schemeClr>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chemeClr val="bg1"/>
                </a:solidFill>
                <a:cs typeface="Calibri" panose="020F0502020204030204" pitchFamily="34" charset="0"/>
              </a:rPr>
              <a:t>Proprietary base</a:t>
            </a:r>
            <a:endParaRPr lang="en-GB" dirty="0"/>
          </a:p>
        </p:txBody>
      </p:sp>
    </p:spTree>
    <p:extLst>
      <p:ext uri="{BB962C8B-B14F-4D97-AF65-F5344CB8AC3E}">
        <p14:creationId xmlns:p14="http://schemas.microsoft.com/office/powerpoint/2010/main" val="2361419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BE8F733C-9B93-7D45-A33C-9CAA280AB5FA}"/>
              </a:ext>
            </a:extLst>
          </p:cNvPr>
          <p:cNvSpPr txBox="1">
            <a:spLocks/>
          </p:cNvSpPr>
          <p:nvPr/>
        </p:nvSpPr>
        <p:spPr>
          <a:xfrm>
            <a:off x="684213" y="1989138"/>
            <a:ext cx="7772400" cy="3816350"/>
          </a:xfrm>
          <a:prstGeom prst="rect">
            <a:avLst/>
          </a:prstGeom>
        </p:spPr>
        <p:txBody>
          <a:bodyPr/>
          <a:lstStyle>
            <a:lvl1pPr marL="342900" indent="-342900" algn="l" rtl="0" eaLnBrk="0" fontAlgn="base" hangingPunct="0">
              <a:spcBef>
                <a:spcPct val="20000"/>
              </a:spcBef>
              <a:spcAft>
                <a:spcPct val="0"/>
              </a:spcAft>
              <a:defRPr>
                <a:solidFill>
                  <a:schemeClr val="tx1"/>
                </a:solidFill>
                <a:latin typeface="+mn-lt"/>
                <a:ea typeface="ＭＳ Ｐゴシック" pitchFamily="4" charset="-128"/>
                <a:cs typeface="ＭＳ Ｐゴシック" pitchFamily="4" charset="-128"/>
              </a:defRPr>
            </a:lvl1pPr>
            <a:lvl2pPr marL="742950" indent="-285750" algn="l" rtl="0" eaLnBrk="0" fontAlgn="base" hangingPunct="0">
              <a:spcBef>
                <a:spcPct val="20000"/>
              </a:spcBef>
              <a:spcAft>
                <a:spcPct val="0"/>
              </a:spcAft>
              <a:buChar char="–"/>
              <a:defRPr sz="1600">
                <a:solidFill>
                  <a:schemeClr val="tx1"/>
                </a:solidFill>
                <a:latin typeface="+mn-lt"/>
                <a:ea typeface="ＭＳ Ｐゴシック" pitchFamily="4" charset="-128"/>
              </a:defRPr>
            </a:lvl2pPr>
            <a:lvl3pPr marL="1143000" indent="-228600" algn="l" rtl="0" eaLnBrk="0" fontAlgn="base" hangingPunct="0">
              <a:spcBef>
                <a:spcPct val="20000"/>
              </a:spcBef>
              <a:spcAft>
                <a:spcPct val="0"/>
              </a:spcAft>
              <a:buChar char="•"/>
              <a:defRPr sz="1400">
                <a:solidFill>
                  <a:schemeClr val="tx1"/>
                </a:solidFill>
                <a:latin typeface="+mn-lt"/>
                <a:ea typeface="ＭＳ Ｐゴシック" pitchFamily="4" charset="-128"/>
              </a:defRPr>
            </a:lvl3pPr>
            <a:lvl4pPr marL="16002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4pPr>
            <a:lvl5pPr marL="20574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a:lstStyle>
          <a:p>
            <a:pPr>
              <a:buFont typeface="Arial" panose="020B0604020202020204" pitchFamily="34" charset="0"/>
              <a:buChar char="•"/>
            </a:pPr>
            <a:r>
              <a:rPr lang="en-US" altLang="en-US" sz="1800" kern="0" dirty="0"/>
              <a:t>Following and tracing are </a:t>
            </a:r>
            <a:r>
              <a:rPr lang="en-US" altLang="en-US" sz="1800" b="1" kern="0" dirty="0"/>
              <a:t>‘</a:t>
            </a:r>
            <a:r>
              <a:rPr lang="en-US" altLang="en-US" sz="1800" b="1" dirty="0"/>
              <a:t>exercises in locating assets which are or may be taken to represent an asset belonging to the plaintiffs and to which they assert ownership’ </a:t>
            </a:r>
            <a:r>
              <a:rPr lang="en-US" altLang="en-US" sz="1800" dirty="0"/>
              <a:t>(Smith, </a:t>
            </a:r>
            <a:r>
              <a:rPr lang="en-US" altLang="en-US" sz="1800" i="1" dirty="0"/>
              <a:t>The Law of Tracing</a:t>
            </a:r>
            <a:r>
              <a:rPr lang="en-US" altLang="en-US" sz="1800" dirty="0"/>
              <a:t>).</a:t>
            </a:r>
            <a:endParaRPr lang="en-US" altLang="en-US" sz="1800" kern="0" dirty="0"/>
          </a:p>
          <a:p>
            <a:pPr>
              <a:buFont typeface="Arial" panose="020B0604020202020204" pitchFamily="34" charset="0"/>
              <a:buChar char="•"/>
            </a:pPr>
            <a:r>
              <a:rPr lang="en-US" altLang="en-US" sz="1800" kern="0" dirty="0"/>
              <a:t>They are processes that generate evidence for a claim, they do not establish a claim.</a:t>
            </a:r>
          </a:p>
          <a:p>
            <a:pPr>
              <a:buFont typeface="Arial" panose="020B0604020202020204" pitchFamily="34" charset="0"/>
              <a:buChar char="•"/>
            </a:pPr>
            <a:r>
              <a:rPr lang="en-US" altLang="en-US" sz="1800" kern="0" dirty="0"/>
              <a:t>Following identifies the misappropriated property in a party’s hands, while tracing identifies substitute property.</a:t>
            </a:r>
          </a:p>
          <a:p>
            <a:pPr>
              <a:buFont typeface="Arial" panose="020B0604020202020204" pitchFamily="34" charset="0"/>
              <a:buChar char="•"/>
            </a:pPr>
            <a:r>
              <a:rPr lang="en-US" altLang="en-US" sz="1800" kern="0" dirty="0"/>
              <a:t>Which process to adopt is usually dictated by the particular circumstances (i.e., does the original property still exist and if yes, will it be likely to be recoverable?)</a:t>
            </a:r>
          </a:p>
          <a:p>
            <a:pPr>
              <a:buFont typeface="Arial" panose="020B0604020202020204" pitchFamily="34" charset="0"/>
              <a:buChar char="•"/>
            </a:pPr>
            <a:r>
              <a:rPr lang="en-US" altLang="en-US" sz="1800" kern="0" dirty="0"/>
              <a:t>Even if there are a number of options (due to ‘geometric multiplication’), the claimant must chose one and cannot recover twice.</a:t>
            </a:r>
          </a:p>
          <a:p>
            <a:pPr>
              <a:buFont typeface="Arial" panose="020B0604020202020204" pitchFamily="34" charset="0"/>
              <a:buChar char="•"/>
            </a:pPr>
            <a:r>
              <a:rPr lang="en-GB" altLang="en-US" sz="1800" kern="0" dirty="0"/>
              <a:t>There are different tracing rules at common law and in equity.</a:t>
            </a:r>
            <a:endParaRPr lang="en-US" altLang="en-US" sz="1800" kern="0" dirty="0"/>
          </a:p>
        </p:txBody>
      </p:sp>
      <p:sp>
        <p:nvSpPr>
          <p:cNvPr id="5" name="Title 4">
            <a:extLst>
              <a:ext uri="{FF2B5EF4-FFF2-40B4-BE49-F238E27FC236}">
                <a16:creationId xmlns:a16="http://schemas.microsoft.com/office/drawing/2014/main" id="{46E6F3D1-9FA9-F342-A8DA-B872933BB2FE}"/>
              </a:ext>
            </a:extLst>
          </p:cNvPr>
          <p:cNvSpPr>
            <a:spLocks noGrp="1"/>
          </p:cNvSpPr>
          <p:nvPr>
            <p:ph type="title"/>
          </p:nvPr>
        </p:nvSpPr>
        <p:spPr>
          <a:prstGeom prst="roundRect">
            <a:avLst/>
          </a:prstGeom>
          <a:solidFill>
            <a:schemeClr val="accent6">
              <a:lumMod val="60000"/>
              <a:lumOff val="40000"/>
            </a:schemeClr>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chemeClr val="bg1"/>
                </a:solidFill>
                <a:cs typeface="Calibri" panose="020F0502020204030204" pitchFamily="34" charset="0"/>
              </a:rPr>
              <a:t>Following or Tracing</a:t>
            </a:r>
          </a:p>
        </p:txBody>
      </p:sp>
    </p:spTree>
    <p:extLst>
      <p:ext uri="{BB962C8B-B14F-4D97-AF65-F5344CB8AC3E}">
        <p14:creationId xmlns:p14="http://schemas.microsoft.com/office/powerpoint/2010/main" val="1649302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ltLang="en-US" dirty="0">
                <a:latin typeface="+mn-lt"/>
              </a:rPr>
              <a:t>Following</a:t>
            </a:r>
          </a:p>
        </p:txBody>
      </p:sp>
      <p:sp>
        <p:nvSpPr>
          <p:cNvPr id="4" name="TextBox 3"/>
          <p:cNvSpPr txBox="1"/>
          <p:nvPr/>
        </p:nvSpPr>
        <p:spPr>
          <a:xfrm>
            <a:off x="3224808" y="3575236"/>
            <a:ext cx="533400" cy="646113"/>
          </a:xfrm>
          <a:prstGeom prst="rect">
            <a:avLst/>
          </a:prstGeom>
          <a:noFill/>
        </p:spPr>
        <p:txBody>
          <a:bodyPr>
            <a:spAutoFit/>
          </a:bodyPr>
          <a:lstStyle/>
          <a:p>
            <a:pPr>
              <a:defRPr/>
            </a:pPr>
            <a:r>
              <a:rPr lang="en-US" sz="3600" dirty="0">
                <a:latin typeface="+mn-lt"/>
                <a:ea typeface="ＭＳ Ｐゴシック" pitchFamily="-100" charset="-128"/>
                <a:cs typeface="ＭＳ Ｐゴシック" pitchFamily="-100" charset="-128"/>
              </a:rPr>
              <a:t>A</a:t>
            </a:r>
          </a:p>
        </p:txBody>
      </p:sp>
      <p:cxnSp>
        <p:nvCxnSpPr>
          <p:cNvPr id="6" name="Straight Arrow Connector 5"/>
          <p:cNvCxnSpPr>
            <a:cxnSpLocks noChangeShapeType="1"/>
          </p:cNvCxnSpPr>
          <p:nvPr/>
        </p:nvCxnSpPr>
        <p:spPr bwMode="auto">
          <a:xfrm>
            <a:off x="3910608" y="3803836"/>
            <a:ext cx="1143000" cy="1588"/>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sp>
        <p:nvSpPr>
          <p:cNvPr id="7" name="TextBox 6"/>
          <p:cNvSpPr txBox="1"/>
          <p:nvPr/>
        </p:nvSpPr>
        <p:spPr>
          <a:xfrm>
            <a:off x="5129808" y="3575236"/>
            <a:ext cx="533400" cy="646113"/>
          </a:xfrm>
          <a:prstGeom prst="rect">
            <a:avLst/>
          </a:prstGeom>
          <a:noFill/>
        </p:spPr>
        <p:txBody>
          <a:bodyPr>
            <a:spAutoFit/>
          </a:bodyPr>
          <a:lstStyle/>
          <a:p>
            <a:pPr>
              <a:defRPr/>
            </a:pPr>
            <a:r>
              <a:rPr lang="en-US" sz="3600" dirty="0">
                <a:latin typeface="+mn-lt"/>
                <a:ea typeface="ＭＳ Ｐゴシック" pitchFamily="-100" charset="-128"/>
                <a:cs typeface="ＭＳ Ｐゴシック" pitchFamily="-100" charset="-128"/>
              </a:rPr>
              <a:t>B</a:t>
            </a:r>
          </a:p>
        </p:txBody>
      </p:sp>
      <p:pic>
        <p:nvPicPr>
          <p:cNvPr id="10" name="Picture 9" descr="download.jpe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48808" y="2202049"/>
            <a:ext cx="12922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9" name="Straight Arrow Connector 18"/>
          <p:cNvCxnSpPr>
            <a:cxnSpLocks noChangeShapeType="1"/>
          </p:cNvCxnSpPr>
          <p:nvPr/>
        </p:nvCxnSpPr>
        <p:spPr bwMode="auto">
          <a:xfrm rot="10800000">
            <a:off x="3834408" y="4261036"/>
            <a:ext cx="1143000" cy="1588"/>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pic>
        <p:nvPicPr>
          <p:cNvPr id="20" name="Picture 19" descr="images.jpe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43808" y="4337236"/>
            <a:ext cx="1257300"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Box 20"/>
          <p:cNvSpPr txBox="1"/>
          <p:nvPr/>
        </p:nvSpPr>
        <p:spPr>
          <a:xfrm>
            <a:off x="1228080" y="5393759"/>
            <a:ext cx="7239000" cy="707886"/>
          </a:xfrm>
          <a:prstGeom prst="rect">
            <a:avLst/>
          </a:prstGeom>
          <a:noFill/>
        </p:spPr>
        <p:txBody>
          <a:bodyPr>
            <a:spAutoFit/>
          </a:bodyPr>
          <a:lstStyle/>
          <a:p>
            <a:pPr algn="ctr">
              <a:defRPr/>
            </a:pPr>
            <a:r>
              <a:rPr lang="en-US" sz="2000" dirty="0">
                <a:solidFill>
                  <a:srgbClr val="FF0000"/>
                </a:solidFill>
                <a:latin typeface="+mn-lt"/>
                <a:ea typeface="ＭＳ Ｐゴシック" pitchFamily="-100" charset="-128"/>
                <a:cs typeface="ＭＳ Ｐゴシック" pitchFamily="-100" charset="-128"/>
              </a:rPr>
              <a:t>Following</a:t>
            </a:r>
            <a:r>
              <a:rPr lang="en-US" sz="2000" dirty="0">
                <a:latin typeface="+mn-lt"/>
                <a:ea typeface="ＭＳ Ｐゴシック" pitchFamily="-100" charset="-128"/>
                <a:cs typeface="ＭＳ Ｐゴシック" pitchFamily="-100" charset="-128"/>
              </a:rPr>
              <a:t> identifies the same asset as it passes from one person to another.</a:t>
            </a:r>
          </a:p>
        </p:txBody>
      </p:sp>
      <p:pic>
        <p:nvPicPr>
          <p:cNvPr id="23" name="Picture 22" descr="download.jpe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2202049"/>
            <a:ext cx="12922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Oval 1"/>
          <p:cNvSpPr/>
          <p:nvPr/>
        </p:nvSpPr>
        <p:spPr bwMode="auto">
          <a:xfrm>
            <a:off x="4405907" y="1855975"/>
            <a:ext cx="1905001" cy="1793404"/>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imes" pitchFamily="18" charset="0"/>
            </a:endParaRPr>
          </a:p>
        </p:txBody>
      </p:sp>
      <p:sp>
        <p:nvSpPr>
          <p:cNvPr id="15" name="TextBox 14"/>
          <p:cNvSpPr txBox="1"/>
          <p:nvPr/>
        </p:nvSpPr>
        <p:spPr>
          <a:xfrm>
            <a:off x="323528" y="2337032"/>
            <a:ext cx="2037284" cy="707886"/>
          </a:xfrm>
          <a:prstGeom prst="rect">
            <a:avLst/>
          </a:prstGeom>
          <a:noFill/>
        </p:spPr>
        <p:txBody>
          <a:bodyPr wrap="square">
            <a:spAutoFit/>
          </a:bodyPr>
          <a:lstStyle/>
          <a:p>
            <a:pPr algn="ctr">
              <a:defRPr/>
            </a:pPr>
            <a:r>
              <a:rPr lang="en-US" sz="2000" dirty="0">
                <a:latin typeface="+mn-lt"/>
                <a:ea typeface="ＭＳ Ｐゴシック" pitchFamily="-100" charset="-128"/>
                <a:cs typeface="ＭＳ Ｐゴシック" pitchFamily="-100" charset="-128"/>
              </a:rPr>
              <a:t>Misappropriated trust property</a:t>
            </a:r>
          </a:p>
        </p:txBody>
      </p:sp>
      <p:cxnSp>
        <p:nvCxnSpPr>
          <p:cNvPr id="16" name="Straight Arrow Connector 15"/>
          <p:cNvCxnSpPr>
            <a:cxnSpLocks noChangeShapeType="1"/>
          </p:cNvCxnSpPr>
          <p:nvPr/>
        </p:nvCxnSpPr>
        <p:spPr bwMode="auto">
          <a:xfrm>
            <a:off x="2272308" y="2747454"/>
            <a:ext cx="431405" cy="5223"/>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734242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2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heel(1)">
                                      <p:cBhvr>
                                        <p:cTn id="25"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685800" y="609600"/>
            <a:ext cx="7772400" cy="704568"/>
          </a:xfrm>
        </p:spPr>
        <p:txBody>
          <a:bodyPr/>
          <a:lstStyle/>
          <a:p>
            <a:r>
              <a:rPr lang="en-US" altLang="en-US" dirty="0">
                <a:latin typeface="+mn-lt"/>
              </a:rPr>
              <a:t>Tracing</a:t>
            </a:r>
          </a:p>
        </p:txBody>
      </p:sp>
      <p:sp>
        <p:nvSpPr>
          <p:cNvPr id="4" name="TextBox 3"/>
          <p:cNvSpPr txBox="1"/>
          <p:nvPr/>
        </p:nvSpPr>
        <p:spPr>
          <a:xfrm>
            <a:off x="3336032" y="3146003"/>
            <a:ext cx="533400" cy="646113"/>
          </a:xfrm>
          <a:prstGeom prst="rect">
            <a:avLst/>
          </a:prstGeom>
          <a:noFill/>
        </p:spPr>
        <p:txBody>
          <a:bodyPr>
            <a:spAutoFit/>
          </a:bodyPr>
          <a:lstStyle/>
          <a:p>
            <a:pPr>
              <a:defRPr/>
            </a:pPr>
            <a:r>
              <a:rPr lang="en-US" sz="3600" dirty="0">
                <a:latin typeface="+mn-lt"/>
                <a:ea typeface="ＭＳ Ｐゴシック" pitchFamily="-100" charset="-128"/>
                <a:cs typeface="ＭＳ Ｐゴシック" pitchFamily="-100" charset="-128"/>
              </a:rPr>
              <a:t>A</a:t>
            </a:r>
          </a:p>
        </p:txBody>
      </p:sp>
      <p:cxnSp>
        <p:nvCxnSpPr>
          <p:cNvPr id="6" name="Straight Arrow Connector 5"/>
          <p:cNvCxnSpPr>
            <a:cxnSpLocks noChangeShapeType="1"/>
          </p:cNvCxnSpPr>
          <p:nvPr/>
        </p:nvCxnSpPr>
        <p:spPr bwMode="auto">
          <a:xfrm>
            <a:off x="4021832" y="3374603"/>
            <a:ext cx="1143000" cy="1588"/>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sp>
        <p:nvSpPr>
          <p:cNvPr id="7" name="TextBox 6"/>
          <p:cNvSpPr txBox="1"/>
          <p:nvPr/>
        </p:nvSpPr>
        <p:spPr>
          <a:xfrm>
            <a:off x="5241032" y="3146003"/>
            <a:ext cx="533400" cy="646113"/>
          </a:xfrm>
          <a:prstGeom prst="rect">
            <a:avLst/>
          </a:prstGeom>
          <a:noFill/>
        </p:spPr>
        <p:txBody>
          <a:bodyPr>
            <a:spAutoFit/>
          </a:bodyPr>
          <a:lstStyle/>
          <a:p>
            <a:pPr>
              <a:defRPr/>
            </a:pPr>
            <a:r>
              <a:rPr lang="en-US" sz="3600" dirty="0">
                <a:latin typeface="+mn-lt"/>
                <a:ea typeface="ＭＳ Ｐゴシック" pitchFamily="-100" charset="-128"/>
                <a:cs typeface="ＭＳ Ｐゴシック" pitchFamily="-100" charset="-128"/>
              </a:rPr>
              <a:t>B</a:t>
            </a:r>
          </a:p>
        </p:txBody>
      </p:sp>
      <p:pic>
        <p:nvPicPr>
          <p:cNvPr id="10" name="Picture 9" descr="download.jpe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60032" y="1772816"/>
            <a:ext cx="12922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9" name="Straight Arrow Connector 18"/>
          <p:cNvCxnSpPr>
            <a:cxnSpLocks noChangeShapeType="1"/>
          </p:cNvCxnSpPr>
          <p:nvPr/>
        </p:nvCxnSpPr>
        <p:spPr bwMode="auto">
          <a:xfrm rot="10800000">
            <a:off x="3945632" y="3831803"/>
            <a:ext cx="1143000" cy="1588"/>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pic>
        <p:nvPicPr>
          <p:cNvPr id="20" name="Picture 19" descr="images.jpe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55032" y="3908003"/>
            <a:ext cx="1257300"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Box 20"/>
          <p:cNvSpPr txBox="1"/>
          <p:nvPr/>
        </p:nvSpPr>
        <p:spPr>
          <a:xfrm>
            <a:off x="1273324" y="5915123"/>
            <a:ext cx="7239000" cy="400110"/>
          </a:xfrm>
          <a:prstGeom prst="rect">
            <a:avLst/>
          </a:prstGeom>
          <a:noFill/>
        </p:spPr>
        <p:txBody>
          <a:bodyPr>
            <a:spAutoFit/>
          </a:bodyPr>
          <a:lstStyle/>
          <a:p>
            <a:pPr algn="ctr">
              <a:defRPr/>
            </a:pPr>
            <a:r>
              <a:rPr lang="en-US" sz="2000" dirty="0">
                <a:solidFill>
                  <a:srgbClr val="0070C0"/>
                </a:solidFill>
                <a:latin typeface="+mn-lt"/>
                <a:ea typeface="ＭＳ Ｐゴシック" pitchFamily="-100" charset="-128"/>
                <a:cs typeface="ＭＳ Ｐゴシック" pitchFamily="-100" charset="-128"/>
              </a:rPr>
              <a:t>Tracing</a:t>
            </a:r>
            <a:r>
              <a:rPr lang="en-US" sz="2000" dirty="0">
                <a:latin typeface="+mn-lt"/>
                <a:ea typeface="ＭＳ Ｐゴシック" pitchFamily="-100" charset="-128"/>
                <a:cs typeface="ＭＳ Ｐゴシック" pitchFamily="-100" charset="-128"/>
              </a:rPr>
              <a:t> identifies substitute property.</a:t>
            </a:r>
          </a:p>
        </p:txBody>
      </p:sp>
      <p:pic>
        <p:nvPicPr>
          <p:cNvPr id="23" name="Picture 22" descr="download.jpe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55032" y="1772816"/>
            <a:ext cx="12922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a:extLst>
              <a:ext uri="{FF2B5EF4-FFF2-40B4-BE49-F238E27FC236}">
                <a16:creationId xmlns:a16="http://schemas.microsoft.com/office/drawing/2014/main" id="{27505878-9447-D64A-9DC4-F84915DCCE0D}"/>
              </a:ext>
            </a:extLst>
          </p:cNvPr>
          <p:cNvSpPr/>
          <p:nvPr/>
        </p:nvSpPr>
        <p:spPr bwMode="auto">
          <a:xfrm>
            <a:off x="2826592" y="3618815"/>
            <a:ext cx="1549103" cy="1414987"/>
          </a:xfrm>
          <a:prstGeom prst="ellipse">
            <a:avLst/>
          </a:prstGeom>
          <a:noFill/>
          <a:ln w="2857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imes" pitchFamily="18" charset="0"/>
            </a:endParaRPr>
          </a:p>
        </p:txBody>
      </p:sp>
      <p:sp>
        <p:nvSpPr>
          <p:cNvPr id="13" name="TextBox 12">
            <a:extLst>
              <a:ext uri="{FF2B5EF4-FFF2-40B4-BE49-F238E27FC236}">
                <a16:creationId xmlns:a16="http://schemas.microsoft.com/office/drawing/2014/main" id="{B5880DCB-F4B7-2A4A-8400-4175F91F5C07}"/>
              </a:ext>
            </a:extLst>
          </p:cNvPr>
          <p:cNvSpPr txBox="1"/>
          <p:nvPr/>
        </p:nvSpPr>
        <p:spPr>
          <a:xfrm>
            <a:off x="7452320" y="3714524"/>
            <a:ext cx="533400" cy="646113"/>
          </a:xfrm>
          <a:prstGeom prst="rect">
            <a:avLst/>
          </a:prstGeom>
          <a:noFill/>
        </p:spPr>
        <p:txBody>
          <a:bodyPr>
            <a:spAutoFit/>
          </a:bodyPr>
          <a:lstStyle/>
          <a:p>
            <a:pPr>
              <a:defRPr/>
            </a:pPr>
            <a:r>
              <a:rPr lang="en-US" sz="3600" dirty="0">
                <a:latin typeface="+mn-lt"/>
                <a:ea typeface="ＭＳ Ｐゴシック" pitchFamily="-100" charset="-128"/>
                <a:cs typeface="ＭＳ Ｐゴシック" pitchFamily="-100" charset="-128"/>
              </a:rPr>
              <a:t>C</a:t>
            </a:r>
          </a:p>
        </p:txBody>
      </p:sp>
      <p:cxnSp>
        <p:nvCxnSpPr>
          <p:cNvPr id="14" name="Straight Arrow Connector 13">
            <a:extLst>
              <a:ext uri="{FF2B5EF4-FFF2-40B4-BE49-F238E27FC236}">
                <a16:creationId xmlns:a16="http://schemas.microsoft.com/office/drawing/2014/main" id="{551B707F-BDB1-DB4F-A373-2F0FA11D8660}"/>
              </a:ext>
            </a:extLst>
          </p:cNvPr>
          <p:cNvCxnSpPr>
            <a:cxnSpLocks noChangeShapeType="1"/>
          </p:cNvCxnSpPr>
          <p:nvPr/>
        </p:nvCxnSpPr>
        <p:spPr bwMode="auto">
          <a:xfrm flipV="1">
            <a:off x="4584340" y="4101397"/>
            <a:ext cx="2644949" cy="15081"/>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pic>
        <p:nvPicPr>
          <p:cNvPr id="16" name="Picture 15" descr="images (2).jpeg">
            <a:extLst>
              <a:ext uri="{FF2B5EF4-FFF2-40B4-BE49-F238E27FC236}">
                <a16:creationId xmlns:a16="http://schemas.microsoft.com/office/drawing/2014/main" id="{8FA25349-1871-2E49-BBC4-B3AA8D82684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792436" y="4587551"/>
            <a:ext cx="1524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Oval 16">
            <a:extLst>
              <a:ext uri="{FF2B5EF4-FFF2-40B4-BE49-F238E27FC236}">
                <a16:creationId xmlns:a16="http://schemas.microsoft.com/office/drawing/2014/main" id="{246C7BBB-C7A1-4C44-B039-24688B1389CD}"/>
              </a:ext>
            </a:extLst>
          </p:cNvPr>
          <p:cNvSpPr/>
          <p:nvPr/>
        </p:nvSpPr>
        <p:spPr bwMode="auto">
          <a:xfrm>
            <a:off x="2765052" y="4315307"/>
            <a:ext cx="1606413" cy="1511601"/>
          </a:xfrm>
          <a:prstGeom prst="ellipse">
            <a:avLst/>
          </a:prstGeom>
          <a:noFill/>
          <a:ln w="2857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imes" pitchFamily="18" charset="0"/>
            </a:endParaRPr>
          </a:p>
        </p:txBody>
      </p:sp>
      <p:cxnSp>
        <p:nvCxnSpPr>
          <p:cNvPr id="18" name="Straight Arrow Connector 17">
            <a:extLst>
              <a:ext uri="{FF2B5EF4-FFF2-40B4-BE49-F238E27FC236}">
                <a16:creationId xmlns:a16="http://schemas.microsoft.com/office/drawing/2014/main" id="{220FAE36-2D43-484C-BFA8-6696E941366B}"/>
              </a:ext>
            </a:extLst>
          </p:cNvPr>
          <p:cNvCxnSpPr>
            <a:cxnSpLocks noChangeShapeType="1"/>
          </p:cNvCxnSpPr>
          <p:nvPr/>
        </p:nvCxnSpPr>
        <p:spPr bwMode="auto">
          <a:xfrm flipH="1">
            <a:off x="4470063" y="4999691"/>
            <a:ext cx="2333675" cy="24282"/>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pic>
        <p:nvPicPr>
          <p:cNvPr id="22" name="Picture 21" descr="images.jpeg">
            <a:extLst>
              <a:ext uri="{FF2B5EF4-FFF2-40B4-BE49-F238E27FC236}">
                <a16:creationId xmlns:a16="http://schemas.microsoft.com/office/drawing/2014/main" id="{C73758C4-F57E-264B-8E01-49F4D55A689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90370" y="4647936"/>
            <a:ext cx="1257300"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Box 24"/>
          <p:cNvSpPr txBox="1"/>
          <p:nvPr/>
        </p:nvSpPr>
        <p:spPr>
          <a:xfrm>
            <a:off x="290903" y="1994040"/>
            <a:ext cx="2037284" cy="707886"/>
          </a:xfrm>
          <a:prstGeom prst="rect">
            <a:avLst/>
          </a:prstGeom>
          <a:noFill/>
        </p:spPr>
        <p:txBody>
          <a:bodyPr wrap="square">
            <a:spAutoFit/>
          </a:bodyPr>
          <a:lstStyle/>
          <a:p>
            <a:pPr algn="ctr">
              <a:defRPr/>
            </a:pPr>
            <a:r>
              <a:rPr lang="en-US" sz="2000" dirty="0">
                <a:latin typeface="+mn-lt"/>
                <a:ea typeface="ＭＳ Ｐゴシック" pitchFamily="-100" charset="-128"/>
                <a:cs typeface="ＭＳ Ｐゴシック" pitchFamily="-100" charset="-128"/>
              </a:rPr>
              <a:t>Misappropriated trust property</a:t>
            </a:r>
          </a:p>
        </p:txBody>
      </p:sp>
      <p:cxnSp>
        <p:nvCxnSpPr>
          <p:cNvPr id="26" name="Straight Arrow Connector 25"/>
          <p:cNvCxnSpPr>
            <a:cxnSpLocks noChangeShapeType="1"/>
          </p:cNvCxnSpPr>
          <p:nvPr/>
        </p:nvCxnSpPr>
        <p:spPr bwMode="auto">
          <a:xfrm>
            <a:off x="2361031" y="2347983"/>
            <a:ext cx="431405" cy="5223"/>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2" name="Oval 1">
            <a:extLst>
              <a:ext uri="{FF2B5EF4-FFF2-40B4-BE49-F238E27FC236}">
                <a16:creationId xmlns:a16="http://schemas.microsoft.com/office/drawing/2014/main" id="{CCB45D39-0182-DAB7-8726-C4352FA49236}"/>
              </a:ext>
            </a:extLst>
          </p:cNvPr>
          <p:cNvSpPr/>
          <p:nvPr/>
        </p:nvSpPr>
        <p:spPr bwMode="auto">
          <a:xfrm>
            <a:off x="6927007" y="4272009"/>
            <a:ext cx="1606413" cy="1511601"/>
          </a:xfrm>
          <a:prstGeom prst="ellipse">
            <a:avLst/>
          </a:prstGeom>
          <a:noFill/>
          <a:ln w="28575" cap="flat" cmpd="sng" algn="ctr">
            <a:solidFill>
              <a:srgbClr val="0070C0"/>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chemeClr val="tx1"/>
              </a:solidFill>
              <a:effectLst/>
              <a:latin typeface="Times" pitchFamily="18" charset="0"/>
            </a:endParaRPr>
          </a:p>
        </p:txBody>
      </p:sp>
    </p:spTree>
    <p:extLst>
      <p:ext uri="{BB962C8B-B14F-4D97-AF65-F5344CB8AC3E}">
        <p14:creationId xmlns:p14="http://schemas.microsoft.com/office/powerpoint/2010/main" val="2649356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2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heel(1)">
                                      <p:cBhvr>
                                        <p:cTn id="25" dur="20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22"/>
                                        </p:tgtEl>
                                        <p:attrNameLst>
                                          <p:attrName>style.visibility</p:attrName>
                                        </p:attrNameLst>
                                      </p:cBhvr>
                                      <p:to>
                                        <p:strVal val="visible"/>
                                      </p:to>
                                    </p:set>
                                  </p:childTnLst>
                                </p:cTn>
                              </p:par>
                              <p:par>
                                <p:cTn id="38" presetID="1" presetClass="exit" presetSubtype="0" fill="hold" nodeType="withEffect">
                                  <p:stCondLst>
                                    <p:cond delay="0"/>
                                  </p:stCondLst>
                                  <p:childTnLst>
                                    <p:set>
                                      <p:cBhvr>
                                        <p:cTn id="39" dur="1" fill="hold">
                                          <p:stCondLst>
                                            <p:cond delay="0"/>
                                          </p:stCondLst>
                                        </p:cTn>
                                        <p:tgtEl>
                                          <p:spTgt spid="20"/>
                                        </p:tgtEl>
                                        <p:attrNameLst>
                                          <p:attrName>style.visibility</p:attrName>
                                        </p:attrNameLst>
                                      </p:cBhvr>
                                      <p:to>
                                        <p:strVal val="hidden"/>
                                      </p:to>
                                    </p:set>
                                  </p:childTnLst>
                                </p:cTn>
                              </p:par>
                              <p:par>
                                <p:cTn id="40" presetID="1" presetClass="exit" presetSubtype="0" fill="hold" grpId="1" nodeType="withEffect">
                                  <p:stCondLst>
                                    <p:cond delay="0"/>
                                  </p:stCondLst>
                                  <p:childTnLst>
                                    <p:set>
                                      <p:cBhvr>
                                        <p:cTn id="41" dur="1" fill="hold">
                                          <p:stCondLst>
                                            <p:cond delay="0"/>
                                          </p:stCondLst>
                                        </p:cTn>
                                        <p:tgtEl>
                                          <p:spTgt spid="12"/>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16"/>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1" presetClass="entr" presetSubtype="1" fill="hold" grpId="0" nodeType="click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wheel(1)">
                                      <p:cBhvr>
                                        <p:cTn id="54" dur="2000"/>
                                        <p:tgtEl>
                                          <p:spTgt spid="17"/>
                                        </p:tgtEl>
                                      </p:cBhvr>
                                    </p:animEffect>
                                  </p:childTnLst>
                                </p:cTn>
                              </p:par>
                            </p:childTnLst>
                          </p:cTn>
                        </p:par>
                      </p:childTnLst>
                    </p:cTn>
                  </p:par>
                  <p:par>
                    <p:cTn id="55" fill="hold">
                      <p:stCondLst>
                        <p:cond delay="indefinite"/>
                      </p:stCondLst>
                      <p:childTnLst>
                        <p:par>
                          <p:cTn id="56" fill="hold">
                            <p:stCondLst>
                              <p:cond delay="0"/>
                            </p:stCondLst>
                            <p:childTnLst>
                              <p:par>
                                <p:cTn id="57" presetID="21" presetClass="entr" presetSubtype="1" fill="hold" grpId="0" nodeType="clickEffect">
                                  <p:stCondLst>
                                    <p:cond delay="0"/>
                                  </p:stCondLst>
                                  <p:childTnLst>
                                    <p:set>
                                      <p:cBhvr>
                                        <p:cTn id="58" dur="1" fill="hold">
                                          <p:stCondLst>
                                            <p:cond delay="0"/>
                                          </p:stCondLst>
                                        </p:cTn>
                                        <p:tgtEl>
                                          <p:spTgt spid="2"/>
                                        </p:tgtEl>
                                        <p:attrNameLst>
                                          <p:attrName>style.visibility</p:attrName>
                                        </p:attrNameLst>
                                      </p:cBhvr>
                                      <p:to>
                                        <p:strVal val="visible"/>
                                      </p:to>
                                    </p:set>
                                    <p:animEffect transition="in" filter="wheel(1)">
                                      <p:cBhvr>
                                        <p:cTn id="59"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13" grpId="0"/>
      <p:bldP spid="17" grpId="0" animBg="1"/>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2115D-E097-BA4D-9BC8-D4FB9DCB78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8D7F7E-2CD3-D697-692F-E5E101B82D56}"/>
              </a:ext>
            </a:extLst>
          </p:cNvPr>
          <p:cNvSpPr>
            <a:spLocks noGrp="1"/>
          </p:cNvSpPr>
          <p:nvPr>
            <p:ph type="title"/>
          </p:nvPr>
        </p:nvSpPr>
        <p:spPr>
          <a:xfrm>
            <a:off x="685800" y="480526"/>
            <a:ext cx="7772400" cy="1143000"/>
          </a:xfrm>
        </p:spPr>
        <p:txBody>
          <a:bodyPr/>
          <a:lstStyle/>
          <a:p>
            <a:r>
              <a:rPr lang="en-GB" sz="4000" dirty="0">
                <a:latin typeface="+mn-lt"/>
              </a:rPr>
              <a:t>The fiction of ‘persistence’</a:t>
            </a:r>
          </a:p>
        </p:txBody>
      </p:sp>
      <p:sp>
        <p:nvSpPr>
          <p:cNvPr id="3" name="Rectangle 2">
            <a:extLst>
              <a:ext uri="{FF2B5EF4-FFF2-40B4-BE49-F238E27FC236}">
                <a16:creationId xmlns:a16="http://schemas.microsoft.com/office/drawing/2014/main" id="{13E9109B-45AD-D535-58BB-4693AEA84B95}"/>
              </a:ext>
            </a:extLst>
          </p:cNvPr>
          <p:cNvSpPr/>
          <p:nvPr/>
        </p:nvSpPr>
        <p:spPr>
          <a:xfrm>
            <a:off x="468102" y="1628800"/>
            <a:ext cx="8207796" cy="4561249"/>
          </a:xfrm>
          <a:prstGeom prst="rect">
            <a:avLst/>
          </a:prstGeom>
        </p:spPr>
        <p:txBody>
          <a:bodyPr wrap="square">
            <a:spAutoFit/>
          </a:bodyPr>
          <a:lstStyle/>
          <a:p>
            <a:pPr>
              <a:spcBef>
                <a:spcPct val="20000"/>
              </a:spcBef>
              <a:buClr>
                <a:srgbClr val="6D376D"/>
              </a:buClr>
            </a:pPr>
            <a:r>
              <a:rPr lang="en-GB" sz="1800" kern="0" dirty="0">
                <a:latin typeface="+mn-lt"/>
                <a:ea typeface="ＭＳ Ｐゴシック" pitchFamily="4" charset="-128"/>
                <a:cs typeface="ＭＳ Ｐゴシック" pitchFamily="4" charset="-128"/>
              </a:rPr>
              <a:t>“[When tracing into an unauthorised substitution,] one is not here concerned with following one’s property. There is a difference between following and tracing. One is concerned with the creation of new proprietary rights over property that does not already belong to the claimant but is rather a substitution of property previously owned in equity by the claimant. So, in an unauthorised substitution case, </a:t>
            </a:r>
            <a:r>
              <a:rPr lang="en-GB" sz="1800" b="1" kern="0" dirty="0">
                <a:latin typeface="+mn-lt"/>
                <a:ea typeface="ＭＳ Ｐゴシック" pitchFamily="4" charset="-128"/>
                <a:cs typeface="ＭＳ Ｐゴシック" pitchFamily="4" charset="-128"/>
              </a:rPr>
              <a:t>if one is entitled to trace from a pig to a horse to a car, one cannot say, without invoking fiction, that one has proprietary rights in the car merely because one owned the pig that is now represented b the car.</a:t>
            </a:r>
            <a:r>
              <a:rPr lang="en-GB" sz="1800" kern="0" dirty="0">
                <a:latin typeface="+mn-lt"/>
                <a:ea typeface="ＭＳ Ｐゴシック" pitchFamily="4" charset="-128"/>
                <a:cs typeface="ＭＳ Ｐゴシック" pitchFamily="4" charset="-128"/>
              </a:rPr>
              <a:t> The truth is that one’s proprietary rights in the pig entitle one to new property rights in the car because the holder of the car has been unjustly enriched at one’s expense. </a:t>
            </a:r>
          </a:p>
          <a:p>
            <a:pPr>
              <a:spcBef>
                <a:spcPct val="20000"/>
              </a:spcBef>
              <a:buClr>
                <a:srgbClr val="6D376D"/>
              </a:buClr>
            </a:pPr>
            <a:r>
              <a:rPr lang="en-GB" sz="1800" kern="0" dirty="0">
                <a:latin typeface="+mn-lt"/>
                <a:ea typeface="ＭＳ Ｐゴシック" pitchFamily="4" charset="-128"/>
                <a:cs typeface="ＭＳ Ｐゴシック" pitchFamily="4" charset="-128"/>
              </a:rPr>
              <a:t>Unfortunately, the majority of the House of Lords in </a:t>
            </a:r>
            <a:r>
              <a:rPr lang="en-GB" sz="1800" i="1" kern="0" dirty="0">
                <a:latin typeface="+mn-lt"/>
                <a:ea typeface="ＭＳ Ｐゴシック" pitchFamily="4" charset="-128"/>
                <a:cs typeface="ＭＳ Ｐゴシック" pitchFamily="4" charset="-128"/>
              </a:rPr>
              <a:t>Foskett v McKeown . . . </a:t>
            </a:r>
            <a:r>
              <a:rPr lang="en-GB" sz="1800" kern="0" dirty="0">
                <a:latin typeface="+mn-lt"/>
                <a:ea typeface="ＭＳ Ｐゴシック" pitchFamily="4" charset="-128"/>
                <a:cs typeface="ＭＳ Ｐゴシック" pitchFamily="4" charset="-128"/>
              </a:rPr>
              <a:t>has argued that </a:t>
            </a:r>
            <a:r>
              <a:rPr lang="en-GB" sz="1800" b="1" kern="0" dirty="0">
                <a:latin typeface="+mn-lt"/>
                <a:ea typeface="ＭＳ Ｐゴシック" pitchFamily="4" charset="-128"/>
                <a:cs typeface="ＭＳ Ｐゴシック" pitchFamily="4" charset="-128"/>
              </a:rPr>
              <a:t>a remedy imposed after tracing is purely a matter of property law and is not concerned to reverse the defendant's unjust enrichment</a:t>
            </a:r>
            <a:r>
              <a:rPr lang="en-GB" sz="1800" kern="0" dirty="0">
                <a:latin typeface="+mn-lt"/>
                <a:ea typeface="ＭＳ Ｐゴシック" pitchFamily="4" charset="-128"/>
                <a:cs typeface="ＭＳ Ｐゴシック" pitchFamily="4" charset="-128"/>
              </a:rPr>
              <a:t>.” </a:t>
            </a:r>
          </a:p>
          <a:p>
            <a:pPr>
              <a:spcBef>
                <a:spcPct val="20000"/>
              </a:spcBef>
              <a:buClr>
                <a:srgbClr val="6D376D"/>
              </a:buClr>
            </a:pPr>
            <a:r>
              <a:rPr lang="en-GB" sz="1400" kern="0" dirty="0">
                <a:latin typeface="+mn-lt"/>
                <a:ea typeface="ＭＳ Ｐゴシック" pitchFamily="4" charset="-128"/>
                <a:cs typeface="ＭＳ Ｐゴシック" pitchFamily="4" charset="-128"/>
              </a:rPr>
              <a:t>                                      (Andrew Burrows, </a:t>
            </a:r>
            <a:r>
              <a:rPr lang="en-GB" sz="1400" i="1" kern="0" dirty="0">
                <a:latin typeface="+mn-lt"/>
                <a:ea typeface="ＭＳ Ｐゴシック" pitchFamily="4" charset="-128"/>
                <a:cs typeface="ＭＳ Ｐゴシック" pitchFamily="4" charset="-128"/>
              </a:rPr>
              <a:t>The Law of Restitution</a:t>
            </a:r>
            <a:r>
              <a:rPr lang="en-GB" sz="1400" kern="0" dirty="0">
                <a:latin typeface="+mn-lt"/>
                <a:ea typeface="ＭＳ Ｐゴシック" pitchFamily="4" charset="-128"/>
                <a:cs typeface="ＭＳ Ｐゴシック" pitchFamily="4" charset="-128"/>
              </a:rPr>
              <a:t>)</a:t>
            </a:r>
          </a:p>
        </p:txBody>
      </p:sp>
    </p:spTree>
    <p:extLst>
      <p:ext uri="{BB962C8B-B14F-4D97-AF65-F5344CB8AC3E}">
        <p14:creationId xmlns:p14="http://schemas.microsoft.com/office/powerpoint/2010/main" val="2067724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i="1" u="sng" dirty="0" err="1">
                <a:latin typeface="+mn-lt"/>
              </a:rPr>
              <a:t>Foskett</a:t>
            </a:r>
            <a:r>
              <a:rPr lang="en-GB" i="1" u="sng" dirty="0">
                <a:latin typeface="+mn-lt"/>
              </a:rPr>
              <a:t> v </a:t>
            </a:r>
            <a:r>
              <a:rPr lang="en-GB" i="1" u="sng" dirty="0" err="1">
                <a:latin typeface="+mn-lt"/>
              </a:rPr>
              <a:t>McKeown</a:t>
            </a:r>
            <a:r>
              <a:rPr lang="en-GB" u="sng" dirty="0">
                <a:latin typeface="+mn-lt"/>
              </a:rPr>
              <a:t> [2001] 1 AC 102</a:t>
            </a:r>
            <a:endParaRPr lang="en-GB" dirty="0">
              <a:latin typeface="+mn-lt"/>
            </a:endParaRPr>
          </a:p>
        </p:txBody>
      </p:sp>
      <p:sp>
        <p:nvSpPr>
          <p:cNvPr id="3" name="Rectangle 2"/>
          <p:cNvSpPr/>
          <p:nvPr/>
        </p:nvSpPr>
        <p:spPr>
          <a:xfrm>
            <a:off x="670737" y="1988840"/>
            <a:ext cx="7918648" cy="3785652"/>
          </a:xfrm>
          <a:prstGeom prst="rect">
            <a:avLst/>
          </a:prstGeom>
        </p:spPr>
        <p:txBody>
          <a:bodyPr wrap="square">
            <a:spAutoFit/>
          </a:bodyPr>
          <a:lstStyle/>
          <a:p>
            <a:pPr marL="342900" indent="-342900">
              <a:spcBef>
                <a:spcPct val="20000"/>
              </a:spcBef>
              <a:buClr>
                <a:srgbClr val="6D376D"/>
              </a:buClr>
              <a:buFont typeface="Arial" panose="020B0604020202020204" pitchFamily="34" charset="0"/>
              <a:buChar char="•"/>
            </a:pPr>
            <a:r>
              <a:rPr lang="en-GB" sz="2000" kern="0" dirty="0">
                <a:latin typeface="+mn-lt"/>
                <a:ea typeface="ＭＳ Ｐゴシック" pitchFamily="4" charset="-128"/>
                <a:cs typeface="ＭＳ Ｐゴシック" pitchFamily="4" charset="-128"/>
              </a:rPr>
              <a:t>Murphy was trustee, holding purchasers’ money on trust with instructions to use the money for a golf course development in the Algarve.</a:t>
            </a:r>
          </a:p>
          <a:p>
            <a:pPr marL="342900" indent="-342900">
              <a:spcBef>
                <a:spcPct val="20000"/>
              </a:spcBef>
              <a:buClr>
                <a:srgbClr val="6D376D"/>
              </a:buClr>
              <a:buFont typeface="Arial" panose="020B0604020202020204" pitchFamily="34" charset="0"/>
              <a:buChar char="•"/>
            </a:pPr>
            <a:r>
              <a:rPr lang="en-GB" sz="2000" kern="0" dirty="0">
                <a:latin typeface="+mn-lt"/>
                <a:ea typeface="ＭＳ Ｐゴシック" pitchFamily="4" charset="-128"/>
                <a:cs typeface="ＭＳ Ｐゴシック" pitchFamily="4" charset="-128"/>
              </a:rPr>
              <a:t>Murphy, in breach of trust, used £20k of the trust money to pay for 2 of 5 payments of his life insurance policy.</a:t>
            </a:r>
          </a:p>
          <a:p>
            <a:pPr marL="342900" indent="-342900">
              <a:spcBef>
                <a:spcPct val="20000"/>
              </a:spcBef>
              <a:buClr>
                <a:srgbClr val="6D376D"/>
              </a:buClr>
              <a:buFont typeface="Arial" panose="020B0604020202020204" pitchFamily="34" charset="0"/>
              <a:buChar char="•"/>
            </a:pPr>
            <a:r>
              <a:rPr lang="en-GB" sz="2000" kern="0" dirty="0">
                <a:latin typeface="+mn-lt"/>
                <a:ea typeface="ＭＳ Ｐゴシック" pitchFamily="4" charset="-128"/>
                <a:cs typeface="ＭＳ Ｐゴシック" pitchFamily="4" charset="-128"/>
              </a:rPr>
              <a:t>Murphy died, leaving £1m death benefit for his children. The purchasers argued they could trace into 40% (£400k) of the death benefit, not only 20k.</a:t>
            </a:r>
          </a:p>
          <a:p>
            <a:pPr marL="342900" indent="-342900">
              <a:spcBef>
                <a:spcPct val="20000"/>
              </a:spcBef>
              <a:buClr>
                <a:srgbClr val="6D376D"/>
              </a:buClr>
              <a:buFont typeface="Arial" panose="020B0604020202020204" pitchFamily="34" charset="0"/>
              <a:buChar char="•"/>
            </a:pPr>
            <a:r>
              <a:rPr lang="en-GB" sz="2000" kern="0" dirty="0">
                <a:latin typeface="+mn-lt"/>
                <a:ea typeface="ＭＳ Ｐゴシック" pitchFamily="4" charset="-128"/>
                <a:cs typeface="ＭＳ Ｐゴシック" pitchFamily="4" charset="-128"/>
              </a:rPr>
              <a:t>Held by 3:2 majority (reversing CA </a:t>
            </a:r>
          </a:p>
          <a:p>
            <a:pPr>
              <a:spcBef>
                <a:spcPct val="20000"/>
              </a:spcBef>
              <a:buClr>
                <a:srgbClr val="6D376D"/>
              </a:buClr>
            </a:pPr>
            <a:r>
              <a:rPr lang="en-GB" sz="2000" kern="0" dirty="0">
                <a:latin typeface="+mn-lt"/>
                <a:ea typeface="ＭＳ Ｐゴシック" pitchFamily="4" charset="-128"/>
                <a:cs typeface="ＭＳ Ｐゴシック" pitchFamily="4" charset="-128"/>
              </a:rPr>
              <a:t>     decision) yes, tracing was possible into </a:t>
            </a:r>
          </a:p>
          <a:p>
            <a:pPr>
              <a:spcBef>
                <a:spcPct val="20000"/>
              </a:spcBef>
              <a:buClr>
                <a:srgbClr val="6D376D"/>
              </a:buClr>
            </a:pPr>
            <a:r>
              <a:rPr lang="en-GB" sz="2000" kern="0" dirty="0">
                <a:latin typeface="+mn-lt"/>
                <a:ea typeface="ＭＳ Ｐゴシック" pitchFamily="4" charset="-128"/>
                <a:cs typeface="ＭＳ Ｐゴシック" pitchFamily="4" charset="-128"/>
              </a:rPr>
              <a:t>     40% of the death benefit.</a:t>
            </a:r>
          </a:p>
        </p:txBody>
      </p:sp>
      <p:pic>
        <p:nvPicPr>
          <p:cNvPr id="4" name="Picture 3" descr="A picture containing grass, outdoor, nature, water&#10;&#10;Description automatically generated">
            <a:extLst>
              <a:ext uri="{FF2B5EF4-FFF2-40B4-BE49-F238E27FC236}">
                <a16:creationId xmlns:a16="http://schemas.microsoft.com/office/drawing/2014/main" id="{745EE752-D6E0-B34F-B2BA-0B7296DF0B68}"/>
              </a:ext>
            </a:extLst>
          </p:cNvPr>
          <p:cNvPicPr>
            <a:picLocks noChangeAspect="1"/>
          </p:cNvPicPr>
          <p:nvPr/>
        </p:nvPicPr>
        <p:blipFill>
          <a:blip r:embed="rId2"/>
          <a:stretch>
            <a:fillRect/>
          </a:stretch>
        </p:blipFill>
        <p:spPr>
          <a:xfrm>
            <a:off x="5546417" y="4365104"/>
            <a:ext cx="3042968" cy="2296869"/>
          </a:xfrm>
          <a:prstGeom prst="rect">
            <a:avLst/>
          </a:prstGeom>
        </p:spPr>
      </p:pic>
    </p:spTree>
    <p:extLst>
      <p:ext uri="{BB962C8B-B14F-4D97-AF65-F5344CB8AC3E}">
        <p14:creationId xmlns:p14="http://schemas.microsoft.com/office/powerpoint/2010/main" val="2125013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BE8F733C-9B93-7D45-A33C-9CAA280AB5FA}"/>
              </a:ext>
            </a:extLst>
          </p:cNvPr>
          <p:cNvSpPr txBox="1">
            <a:spLocks/>
          </p:cNvSpPr>
          <p:nvPr/>
        </p:nvSpPr>
        <p:spPr>
          <a:xfrm>
            <a:off x="684213" y="1989138"/>
            <a:ext cx="7772400" cy="3816350"/>
          </a:xfrm>
          <a:prstGeom prst="rect">
            <a:avLst/>
          </a:prstGeom>
        </p:spPr>
        <p:txBody>
          <a:bodyPr/>
          <a:lstStyle>
            <a:lvl1pPr marL="342900" indent="-342900" algn="l" rtl="0" eaLnBrk="0" fontAlgn="base" hangingPunct="0">
              <a:spcBef>
                <a:spcPct val="20000"/>
              </a:spcBef>
              <a:spcAft>
                <a:spcPct val="0"/>
              </a:spcAft>
              <a:defRPr>
                <a:solidFill>
                  <a:schemeClr val="tx1"/>
                </a:solidFill>
                <a:latin typeface="+mn-lt"/>
                <a:ea typeface="ＭＳ Ｐゴシック" pitchFamily="4" charset="-128"/>
                <a:cs typeface="ＭＳ Ｐゴシック" pitchFamily="4" charset="-128"/>
              </a:defRPr>
            </a:lvl1pPr>
            <a:lvl2pPr marL="742950" indent="-285750" algn="l" rtl="0" eaLnBrk="0" fontAlgn="base" hangingPunct="0">
              <a:spcBef>
                <a:spcPct val="20000"/>
              </a:spcBef>
              <a:spcAft>
                <a:spcPct val="0"/>
              </a:spcAft>
              <a:buChar char="–"/>
              <a:defRPr sz="1600">
                <a:solidFill>
                  <a:schemeClr val="tx1"/>
                </a:solidFill>
                <a:latin typeface="+mn-lt"/>
                <a:ea typeface="ＭＳ Ｐゴシック" pitchFamily="4" charset="-128"/>
              </a:defRPr>
            </a:lvl2pPr>
            <a:lvl3pPr marL="1143000" indent="-228600" algn="l" rtl="0" eaLnBrk="0" fontAlgn="base" hangingPunct="0">
              <a:spcBef>
                <a:spcPct val="20000"/>
              </a:spcBef>
              <a:spcAft>
                <a:spcPct val="0"/>
              </a:spcAft>
              <a:buChar char="•"/>
              <a:defRPr sz="1400">
                <a:solidFill>
                  <a:schemeClr val="tx1"/>
                </a:solidFill>
                <a:latin typeface="+mn-lt"/>
                <a:ea typeface="ＭＳ Ｐゴシック" pitchFamily="4" charset="-128"/>
              </a:defRPr>
            </a:lvl3pPr>
            <a:lvl4pPr marL="16002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4pPr>
            <a:lvl5pPr marL="20574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a:lstStyle>
          <a:p>
            <a:pPr marL="457200" indent="-457200">
              <a:buFont typeface="Arial" panose="020B0604020202020204" pitchFamily="34" charset="0"/>
              <a:buChar char="•"/>
            </a:pPr>
            <a:r>
              <a:rPr lang="en-US" altLang="en-US" sz="2800" kern="0" dirty="0"/>
              <a:t>Once the tracing process has established the location of the relevant property/substitute, </a:t>
            </a:r>
          </a:p>
          <a:p>
            <a:pPr marL="0" indent="0"/>
            <a:r>
              <a:rPr lang="en-US" altLang="en-US" sz="2800" kern="0" dirty="0"/>
              <a:t>     a claim needs to be made. </a:t>
            </a:r>
          </a:p>
          <a:p>
            <a:pPr marL="457200" indent="-457200">
              <a:buFont typeface="Arial" panose="020B0604020202020204" pitchFamily="34" charset="0"/>
              <a:buChar char="•"/>
            </a:pPr>
            <a:r>
              <a:rPr lang="en-US" altLang="en-US" sz="2800" kern="0" dirty="0"/>
              <a:t>Different claims are</a:t>
            </a:r>
          </a:p>
          <a:p>
            <a:pPr marL="0" indent="0"/>
            <a:r>
              <a:rPr lang="en-US" altLang="en-US" sz="2800" kern="0" dirty="0"/>
              <a:t>     associated with </a:t>
            </a:r>
          </a:p>
          <a:p>
            <a:pPr marL="0" indent="0"/>
            <a:r>
              <a:rPr lang="en-US" altLang="en-US" sz="2800" kern="0" dirty="0"/>
              <a:t>     different remedies.</a:t>
            </a:r>
          </a:p>
          <a:p>
            <a:pPr marL="0" indent="0"/>
            <a:endParaRPr lang="en-US" altLang="en-US" sz="2800" kern="0" dirty="0"/>
          </a:p>
        </p:txBody>
      </p:sp>
      <p:sp>
        <p:nvSpPr>
          <p:cNvPr id="15" name="Title 14">
            <a:extLst>
              <a:ext uri="{FF2B5EF4-FFF2-40B4-BE49-F238E27FC236}">
                <a16:creationId xmlns:a16="http://schemas.microsoft.com/office/drawing/2014/main" id="{AD635190-C1F9-4A4C-AD39-C868845B6C55}"/>
              </a:ext>
            </a:extLst>
          </p:cNvPr>
          <p:cNvSpPr>
            <a:spLocks noGrp="1"/>
          </p:cNvSpPr>
          <p:nvPr>
            <p:ph type="title"/>
          </p:nvPr>
        </p:nvSpPr>
        <p:spPr>
          <a:prstGeom prst="roundRect">
            <a:avLst/>
          </a:prstGeom>
          <a:solidFill>
            <a:schemeClr val="accent6">
              <a:lumMod val="75000"/>
            </a:schemeClr>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chemeClr val="bg1"/>
                </a:solidFill>
                <a:cs typeface="Calibri" panose="020F0502020204030204" pitchFamily="34" charset="0"/>
              </a:rPr>
              <a:t>Claiming and remedies</a:t>
            </a:r>
            <a:endParaRPr lang="en-GB" dirty="0"/>
          </a:p>
        </p:txBody>
      </p:sp>
      <p:sp>
        <p:nvSpPr>
          <p:cNvPr id="3" name="AutoShape 2" descr="Tree that grows 7 types of fruit! | Geek it out | Pinterest | Fruit salad  tree, Multi fruit tree, Fruit cocktail tre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6" name="Picture 5"/>
          <p:cNvPicPr>
            <a:picLocks noChangeAspect="1"/>
          </p:cNvPicPr>
          <p:nvPr/>
        </p:nvPicPr>
        <p:blipFill>
          <a:blip r:embed="rId2"/>
          <a:stretch>
            <a:fillRect/>
          </a:stretch>
        </p:blipFill>
        <p:spPr>
          <a:xfrm>
            <a:off x="4570413" y="3737770"/>
            <a:ext cx="4101027" cy="2304256"/>
          </a:xfrm>
          <a:prstGeom prst="rect">
            <a:avLst/>
          </a:prstGeom>
        </p:spPr>
      </p:pic>
    </p:spTree>
    <p:extLst>
      <p:ext uri="{BB962C8B-B14F-4D97-AF65-F5344CB8AC3E}">
        <p14:creationId xmlns:p14="http://schemas.microsoft.com/office/powerpoint/2010/main" val="518581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mn-lt"/>
              </a:rPr>
              <a:t>Common law claims and remedies</a:t>
            </a:r>
          </a:p>
        </p:txBody>
      </p:sp>
      <p:sp>
        <p:nvSpPr>
          <p:cNvPr id="3" name="Content Placeholder 2">
            <a:extLst>
              <a:ext uri="{FF2B5EF4-FFF2-40B4-BE49-F238E27FC236}">
                <a16:creationId xmlns:a16="http://schemas.microsoft.com/office/drawing/2014/main" id="{BE8F733C-9B93-7D45-A33C-9CAA280AB5FA}"/>
              </a:ext>
            </a:extLst>
          </p:cNvPr>
          <p:cNvSpPr txBox="1">
            <a:spLocks/>
          </p:cNvSpPr>
          <p:nvPr/>
        </p:nvSpPr>
        <p:spPr>
          <a:xfrm>
            <a:off x="684213" y="1989138"/>
            <a:ext cx="7772400" cy="3816350"/>
          </a:xfrm>
          <a:prstGeom prst="rect">
            <a:avLst/>
          </a:prstGeom>
        </p:spPr>
        <p:txBody>
          <a:bodyPr/>
          <a:lstStyle>
            <a:lvl1pPr marL="342900" indent="-342900" algn="l" rtl="0" eaLnBrk="0" fontAlgn="base" hangingPunct="0">
              <a:spcBef>
                <a:spcPct val="20000"/>
              </a:spcBef>
              <a:spcAft>
                <a:spcPct val="0"/>
              </a:spcAft>
              <a:defRPr>
                <a:solidFill>
                  <a:schemeClr val="tx1"/>
                </a:solidFill>
                <a:latin typeface="+mn-lt"/>
                <a:ea typeface="ＭＳ Ｐゴシック" pitchFamily="4" charset="-128"/>
                <a:cs typeface="ＭＳ Ｐゴシック" pitchFamily="4" charset="-128"/>
              </a:defRPr>
            </a:lvl1pPr>
            <a:lvl2pPr marL="742950" indent="-285750" algn="l" rtl="0" eaLnBrk="0" fontAlgn="base" hangingPunct="0">
              <a:spcBef>
                <a:spcPct val="20000"/>
              </a:spcBef>
              <a:spcAft>
                <a:spcPct val="0"/>
              </a:spcAft>
              <a:buChar char="–"/>
              <a:defRPr sz="1600">
                <a:solidFill>
                  <a:schemeClr val="tx1"/>
                </a:solidFill>
                <a:latin typeface="+mn-lt"/>
                <a:ea typeface="ＭＳ Ｐゴシック" pitchFamily="4" charset="-128"/>
              </a:defRPr>
            </a:lvl2pPr>
            <a:lvl3pPr marL="1143000" indent="-228600" algn="l" rtl="0" eaLnBrk="0" fontAlgn="base" hangingPunct="0">
              <a:spcBef>
                <a:spcPct val="20000"/>
              </a:spcBef>
              <a:spcAft>
                <a:spcPct val="0"/>
              </a:spcAft>
              <a:buChar char="•"/>
              <a:defRPr sz="1400">
                <a:solidFill>
                  <a:schemeClr val="tx1"/>
                </a:solidFill>
                <a:latin typeface="+mn-lt"/>
                <a:ea typeface="ＭＳ Ｐゴシック" pitchFamily="4" charset="-128"/>
              </a:defRPr>
            </a:lvl3pPr>
            <a:lvl4pPr marL="16002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4pPr>
            <a:lvl5pPr marL="20574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a:lstStyle>
          <a:p>
            <a:pPr marL="457200" indent="-457200">
              <a:buFont typeface="Arial" panose="020B0604020202020204" pitchFamily="34" charset="0"/>
              <a:buChar char="•"/>
            </a:pPr>
            <a:r>
              <a:rPr lang="en-GB" sz="2800" dirty="0"/>
              <a:t>Common law claims include:</a:t>
            </a:r>
          </a:p>
          <a:p>
            <a:pPr lvl="1">
              <a:buFont typeface="Arial" panose="020B0604020202020204" pitchFamily="34" charset="0"/>
              <a:buChar char="•"/>
            </a:pPr>
            <a:r>
              <a:rPr lang="en-GB" sz="2000" dirty="0"/>
              <a:t>Action for wrongful interference (conversion).</a:t>
            </a:r>
          </a:p>
          <a:p>
            <a:pPr lvl="1">
              <a:buFont typeface="Arial" panose="020B0604020202020204" pitchFamily="34" charset="0"/>
              <a:buChar char="•"/>
            </a:pPr>
            <a:r>
              <a:rPr lang="en-GB" sz="2000" dirty="0"/>
              <a:t>Action for money had and received.</a:t>
            </a:r>
            <a:endParaRPr lang="en-GB" altLang="en-US" sz="2000" kern="0" dirty="0"/>
          </a:p>
          <a:p>
            <a:pPr marL="457200" indent="-457200">
              <a:buFont typeface="Arial" panose="020B0604020202020204" pitchFamily="34" charset="0"/>
              <a:buChar char="•"/>
            </a:pPr>
            <a:r>
              <a:rPr lang="en-GB" sz="2800" dirty="0"/>
              <a:t>Note the </a:t>
            </a:r>
            <a:r>
              <a:rPr lang="en-GB" sz="2800" i="1" dirty="0">
                <a:solidFill>
                  <a:srgbClr val="FF0000"/>
                </a:solidFill>
              </a:rPr>
              <a:t>nemo </a:t>
            </a:r>
            <a:r>
              <a:rPr lang="en-GB" sz="2800" i="1" dirty="0" err="1">
                <a:solidFill>
                  <a:srgbClr val="FF0000"/>
                </a:solidFill>
              </a:rPr>
              <a:t>dat</a:t>
            </a:r>
            <a:r>
              <a:rPr lang="en-GB" sz="2800" i="1" dirty="0">
                <a:solidFill>
                  <a:srgbClr val="FF0000"/>
                </a:solidFill>
              </a:rPr>
              <a:t> </a:t>
            </a:r>
            <a:r>
              <a:rPr lang="en-GB" sz="2800" dirty="0"/>
              <a:t>rule (</a:t>
            </a:r>
            <a:r>
              <a:rPr lang="en-GB" sz="2800" i="1" dirty="0">
                <a:solidFill>
                  <a:srgbClr val="FF0000"/>
                </a:solidFill>
              </a:rPr>
              <a:t>nemo </a:t>
            </a:r>
            <a:r>
              <a:rPr lang="en-GB" sz="2800" i="1" dirty="0" err="1">
                <a:solidFill>
                  <a:srgbClr val="FF0000"/>
                </a:solidFill>
              </a:rPr>
              <a:t>dat</a:t>
            </a:r>
            <a:r>
              <a:rPr lang="en-GB" sz="2800" i="1" dirty="0">
                <a:solidFill>
                  <a:srgbClr val="FF0000"/>
                </a:solidFill>
              </a:rPr>
              <a:t> non quod </a:t>
            </a:r>
            <a:r>
              <a:rPr lang="en-GB" sz="2800" i="1" dirty="0" err="1">
                <a:solidFill>
                  <a:srgbClr val="FF0000"/>
                </a:solidFill>
              </a:rPr>
              <a:t>habet</a:t>
            </a:r>
            <a:r>
              <a:rPr lang="en-GB" sz="2800" dirty="0"/>
              <a:t>), which does not apply to money.</a:t>
            </a:r>
          </a:p>
          <a:p>
            <a:pPr marL="457200" indent="-457200">
              <a:buFont typeface="Arial" panose="020B0604020202020204" pitchFamily="34" charset="0"/>
              <a:buChar char="•"/>
            </a:pPr>
            <a:r>
              <a:rPr lang="en-GB" altLang="en-US" sz="2800" kern="0" dirty="0"/>
              <a:t>Remedies are often (but not always) personal (e.g., compensatory, restitutionary).</a:t>
            </a:r>
            <a:endParaRPr lang="en-US" altLang="en-US" sz="2800" kern="0" dirty="0"/>
          </a:p>
        </p:txBody>
      </p:sp>
      <p:pic>
        <p:nvPicPr>
          <p:cNvPr id="4" name="Picture 3"/>
          <p:cNvPicPr>
            <a:picLocks noChangeAspect="1"/>
          </p:cNvPicPr>
          <p:nvPr/>
        </p:nvPicPr>
        <p:blipFill>
          <a:blip r:embed="rId2"/>
          <a:stretch>
            <a:fillRect/>
          </a:stretch>
        </p:blipFill>
        <p:spPr>
          <a:xfrm>
            <a:off x="5720309" y="5231842"/>
            <a:ext cx="2596107" cy="1382343"/>
          </a:xfrm>
          <a:prstGeom prst="rect">
            <a:avLst/>
          </a:prstGeom>
        </p:spPr>
      </p:pic>
    </p:spTree>
    <p:extLst>
      <p:ext uri="{BB962C8B-B14F-4D97-AF65-F5344CB8AC3E}">
        <p14:creationId xmlns:p14="http://schemas.microsoft.com/office/powerpoint/2010/main" val="3261926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mn-lt"/>
              </a:rPr>
              <a:t>Equitable claims and remedies</a:t>
            </a:r>
          </a:p>
        </p:txBody>
      </p:sp>
      <p:sp>
        <p:nvSpPr>
          <p:cNvPr id="3" name="Content Placeholder 2">
            <a:extLst>
              <a:ext uri="{FF2B5EF4-FFF2-40B4-BE49-F238E27FC236}">
                <a16:creationId xmlns:a16="http://schemas.microsoft.com/office/drawing/2014/main" id="{BE8F733C-9B93-7D45-A33C-9CAA280AB5FA}"/>
              </a:ext>
            </a:extLst>
          </p:cNvPr>
          <p:cNvSpPr txBox="1">
            <a:spLocks/>
          </p:cNvSpPr>
          <p:nvPr/>
        </p:nvSpPr>
        <p:spPr>
          <a:xfrm>
            <a:off x="684213" y="1989138"/>
            <a:ext cx="7772400" cy="3816350"/>
          </a:xfrm>
          <a:prstGeom prst="rect">
            <a:avLst/>
          </a:prstGeom>
        </p:spPr>
        <p:txBody>
          <a:bodyPr/>
          <a:lstStyle>
            <a:lvl1pPr marL="342900" indent="-342900" algn="l" rtl="0" eaLnBrk="0" fontAlgn="base" hangingPunct="0">
              <a:spcBef>
                <a:spcPct val="20000"/>
              </a:spcBef>
              <a:spcAft>
                <a:spcPct val="0"/>
              </a:spcAft>
              <a:defRPr>
                <a:solidFill>
                  <a:schemeClr val="tx1"/>
                </a:solidFill>
                <a:latin typeface="+mn-lt"/>
                <a:ea typeface="ＭＳ Ｐゴシック" pitchFamily="4" charset="-128"/>
                <a:cs typeface="ＭＳ Ｐゴシック" pitchFamily="4" charset="-128"/>
              </a:defRPr>
            </a:lvl1pPr>
            <a:lvl2pPr marL="742950" indent="-285750" algn="l" rtl="0" eaLnBrk="0" fontAlgn="base" hangingPunct="0">
              <a:spcBef>
                <a:spcPct val="20000"/>
              </a:spcBef>
              <a:spcAft>
                <a:spcPct val="0"/>
              </a:spcAft>
              <a:buChar char="–"/>
              <a:defRPr sz="1600">
                <a:solidFill>
                  <a:schemeClr val="tx1"/>
                </a:solidFill>
                <a:latin typeface="+mn-lt"/>
                <a:ea typeface="ＭＳ Ｐゴシック" pitchFamily="4" charset="-128"/>
              </a:defRPr>
            </a:lvl2pPr>
            <a:lvl3pPr marL="1143000" indent="-228600" algn="l" rtl="0" eaLnBrk="0" fontAlgn="base" hangingPunct="0">
              <a:spcBef>
                <a:spcPct val="20000"/>
              </a:spcBef>
              <a:spcAft>
                <a:spcPct val="0"/>
              </a:spcAft>
              <a:buChar char="•"/>
              <a:defRPr sz="1400">
                <a:solidFill>
                  <a:schemeClr val="tx1"/>
                </a:solidFill>
                <a:latin typeface="+mn-lt"/>
                <a:ea typeface="ＭＳ Ｐゴシック" pitchFamily="4" charset="-128"/>
              </a:defRPr>
            </a:lvl3pPr>
            <a:lvl4pPr marL="16002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4pPr>
            <a:lvl5pPr marL="20574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a:lstStyle>
          <a:p>
            <a:pPr marL="0" indent="0"/>
            <a:r>
              <a:rPr lang="en-GB" dirty="0"/>
              <a:t>Equitable claims are usually the claims of beneficiaries under a trust. Remedies are proprietary and include:</a:t>
            </a:r>
          </a:p>
          <a:p>
            <a:pPr marL="457200" indent="-457200">
              <a:buFont typeface="Arial" panose="020B0604020202020204" pitchFamily="34" charset="0"/>
              <a:buChar char="•"/>
            </a:pPr>
            <a:r>
              <a:rPr lang="en-GB" dirty="0"/>
              <a:t>The property or a proportionate share thereof</a:t>
            </a:r>
          </a:p>
          <a:p>
            <a:pPr marL="457200" indent="-457200">
              <a:buFont typeface="Arial" panose="020B0604020202020204" pitchFamily="34" charset="0"/>
              <a:buChar char="•"/>
            </a:pPr>
            <a:r>
              <a:rPr lang="en-GB" dirty="0"/>
              <a:t>A lien: An </a:t>
            </a:r>
            <a:r>
              <a:rPr lang="en-US" dirty="0"/>
              <a:t>equitable charge </a:t>
            </a:r>
          </a:p>
          <a:p>
            <a:pPr marL="0" indent="0"/>
            <a:r>
              <a:rPr lang="en-US" dirty="0"/>
              <a:t>     over the property as a </a:t>
            </a:r>
          </a:p>
          <a:p>
            <a:pPr marL="0" indent="0"/>
            <a:r>
              <a:rPr lang="en-US" dirty="0"/>
              <a:t>     security for the repayment </a:t>
            </a:r>
          </a:p>
          <a:p>
            <a:pPr marL="0" indent="0"/>
            <a:r>
              <a:rPr lang="en-US" dirty="0"/>
              <a:t>     of the misappropriated value</a:t>
            </a:r>
            <a:endParaRPr lang="en-GB" dirty="0"/>
          </a:p>
          <a:p>
            <a:pPr marL="457200" indent="-457200">
              <a:buFont typeface="Arial" panose="020B0604020202020204" pitchFamily="34" charset="0"/>
              <a:buChar char="•"/>
            </a:pPr>
            <a:r>
              <a:rPr lang="en-GB" dirty="0"/>
              <a:t>Subrogation</a:t>
            </a:r>
          </a:p>
          <a:p>
            <a:pPr marL="0" indent="0"/>
            <a:endParaRPr lang="en-GB" sz="2800" dirty="0"/>
          </a:p>
        </p:txBody>
      </p:sp>
      <p:pic>
        <p:nvPicPr>
          <p:cNvPr id="4" name="Picture 3"/>
          <p:cNvPicPr>
            <a:picLocks noChangeAspect="1"/>
          </p:cNvPicPr>
          <p:nvPr/>
        </p:nvPicPr>
        <p:blipFill>
          <a:blip r:embed="rId2"/>
          <a:stretch>
            <a:fillRect/>
          </a:stretch>
        </p:blipFill>
        <p:spPr>
          <a:xfrm>
            <a:off x="5321987" y="3717032"/>
            <a:ext cx="3354469" cy="2232247"/>
          </a:xfrm>
          <a:prstGeom prst="rect">
            <a:avLst/>
          </a:prstGeom>
        </p:spPr>
      </p:pic>
    </p:spTree>
    <p:extLst>
      <p:ext uri="{BB962C8B-B14F-4D97-AF65-F5344CB8AC3E}">
        <p14:creationId xmlns:p14="http://schemas.microsoft.com/office/powerpoint/2010/main" val="14593413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685800" y="609600"/>
            <a:ext cx="7772400" cy="990600"/>
          </a:xfrm>
        </p:spPr>
        <p:txBody>
          <a:bodyPr/>
          <a:lstStyle/>
          <a:p>
            <a:r>
              <a:rPr lang="en-US" altLang="en-US" dirty="0">
                <a:latin typeface="+mn-lt"/>
                <a:ea typeface="ＭＳ Ｐゴシック" pitchFamily="34" charset="-128"/>
              </a:rPr>
              <a:t>Property or proportionate share thereof</a:t>
            </a:r>
          </a:p>
        </p:txBody>
      </p:sp>
      <p:sp>
        <p:nvSpPr>
          <p:cNvPr id="26" name="Right Brace 25"/>
          <p:cNvSpPr/>
          <p:nvPr/>
        </p:nvSpPr>
        <p:spPr bwMode="auto">
          <a:xfrm rot="10800000">
            <a:off x="1659036" y="2670928"/>
            <a:ext cx="587300" cy="2963388"/>
          </a:xfrm>
          <a:prstGeom prst="rightBrace">
            <a:avLst/>
          </a:prstGeom>
          <a:solidFill>
            <a:schemeClr val="bg1"/>
          </a:solid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rgbClr val="FF0000"/>
              </a:solidFill>
              <a:effectLst/>
              <a:latin typeface="Times" pitchFamily="18" charset="0"/>
            </a:endParaRPr>
          </a:p>
        </p:txBody>
      </p:sp>
      <p:sp>
        <p:nvSpPr>
          <p:cNvPr id="27" name="TextBox 26"/>
          <p:cNvSpPr txBox="1"/>
          <p:nvPr/>
        </p:nvSpPr>
        <p:spPr>
          <a:xfrm>
            <a:off x="621134" y="3940155"/>
            <a:ext cx="798119" cy="461665"/>
          </a:xfrm>
          <a:prstGeom prst="rect">
            <a:avLst/>
          </a:prstGeom>
          <a:noFill/>
        </p:spPr>
        <p:txBody>
          <a:bodyPr wrap="square">
            <a:spAutoFit/>
          </a:bodyPr>
          <a:lstStyle/>
          <a:p>
            <a:pPr>
              <a:defRPr/>
            </a:pPr>
            <a:r>
              <a:rPr lang="en-US" dirty="0">
                <a:solidFill>
                  <a:srgbClr val="FF0000"/>
                </a:solidFill>
                <a:latin typeface="Calibri" panose="020F0502020204030204" pitchFamily="34" charset="0"/>
                <a:ea typeface="+mn-ea"/>
              </a:rPr>
              <a:t>Trust</a:t>
            </a:r>
          </a:p>
        </p:txBody>
      </p:sp>
      <p:sp>
        <p:nvSpPr>
          <p:cNvPr id="32" name="TextBox 31"/>
          <p:cNvSpPr txBox="1"/>
          <p:nvPr/>
        </p:nvSpPr>
        <p:spPr>
          <a:xfrm>
            <a:off x="6153011" y="2429837"/>
            <a:ext cx="2131427" cy="461665"/>
          </a:xfrm>
          <a:prstGeom prst="rect">
            <a:avLst/>
          </a:prstGeom>
          <a:noFill/>
        </p:spPr>
        <p:txBody>
          <a:bodyPr wrap="square">
            <a:spAutoFit/>
          </a:bodyPr>
          <a:lstStyle/>
          <a:p>
            <a:pPr>
              <a:defRPr/>
            </a:pPr>
            <a:r>
              <a:rPr lang="en-US" dirty="0">
                <a:solidFill>
                  <a:schemeClr val="accent4"/>
                </a:solidFill>
                <a:latin typeface="Calibri" panose="020F0502020204030204" pitchFamily="34" charset="0"/>
                <a:ea typeface="+mn-ea"/>
              </a:rPr>
              <a:t>C</a:t>
            </a:r>
          </a:p>
        </p:txBody>
      </p:sp>
      <p:cxnSp>
        <p:nvCxnSpPr>
          <p:cNvPr id="4" name="Straight Arrow Connector 3"/>
          <p:cNvCxnSpPr/>
          <p:nvPr/>
        </p:nvCxnSpPr>
        <p:spPr bwMode="auto">
          <a:xfrm flipV="1">
            <a:off x="3563888" y="4869160"/>
            <a:ext cx="1728192" cy="422000"/>
          </a:xfrm>
          <a:prstGeom prst="straightConnector1">
            <a:avLst/>
          </a:prstGeom>
          <a:solidFill>
            <a:schemeClr val="accent1"/>
          </a:solidFill>
          <a:ln w="19050" cap="flat" cmpd="sng" algn="ctr">
            <a:solidFill>
              <a:srgbClr val="FF0000"/>
            </a:solidFill>
            <a:prstDash val="sysDot"/>
            <a:round/>
            <a:headEnd type="none" w="med" len="med"/>
            <a:tailEnd type="arrow"/>
          </a:ln>
          <a:effectLst/>
        </p:spPr>
      </p:cxnSp>
      <p:sp>
        <p:nvSpPr>
          <p:cNvPr id="33" name="TextBox 32"/>
          <p:cNvSpPr txBox="1"/>
          <p:nvPr/>
        </p:nvSpPr>
        <p:spPr>
          <a:xfrm>
            <a:off x="3324389" y="2255429"/>
            <a:ext cx="2903795" cy="369332"/>
          </a:xfrm>
          <a:prstGeom prst="rect">
            <a:avLst/>
          </a:prstGeom>
          <a:noFill/>
        </p:spPr>
        <p:txBody>
          <a:bodyPr wrap="square">
            <a:spAutoFit/>
          </a:bodyPr>
          <a:lstStyle/>
          <a:p>
            <a:pPr algn="ctr">
              <a:defRPr/>
            </a:pPr>
            <a:r>
              <a:rPr lang="en-US" sz="1800" dirty="0">
                <a:solidFill>
                  <a:schemeClr val="accent4"/>
                </a:solidFill>
                <a:latin typeface="Calibri" panose="020F0502020204030204" pitchFamily="34" charset="0"/>
                <a:ea typeface="+mn-ea"/>
              </a:rPr>
              <a:t>Transfers £100 in breach to</a:t>
            </a:r>
          </a:p>
        </p:txBody>
      </p:sp>
      <p:sp>
        <p:nvSpPr>
          <p:cNvPr id="36" name="TextBox 35"/>
          <p:cNvSpPr txBox="1"/>
          <p:nvPr/>
        </p:nvSpPr>
        <p:spPr>
          <a:xfrm>
            <a:off x="4592372" y="5153639"/>
            <a:ext cx="2520280" cy="923330"/>
          </a:xfrm>
          <a:prstGeom prst="rect">
            <a:avLst/>
          </a:prstGeom>
          <a:noFill/>
        </p:spPr>
        <p:txBody>
          <a:bodyPr wrap="square">
            <a:spAutoFit/>
          </a:bodyPr>
          <a:lstStyle/>
          <a:p>
            <a:pPr>
              <a:defRPr/>
            </a:pPr>
            <a:r>
              <a:rPr lang="en-US" sz="1800" dirty="0">
                <a:solidFill>
                  <a:srgbClr val="FF0000"/>
                </a:solidFill>
                <a:latin typeface="Calibri" panose="020F0502020204030204" pitchFamily="34" charset="0"/>
                <a:ea typeface="+mn-ea"/>
              </a:rPr>
              <a:t>Can recover 50% of the current value of the property</a:t>
            </a:r>
          </a:p>
        </p:txBody>
      </p:sp>
      <p:cxnSp>
        <p:nvCxnSpPr>
          <p:cNvPr id="38" name="Straight Arrow Connector 37"/>
          <p:cNvCxnSpPr/>
          <p:nvPr/>
        </p:nvCxnSpPr>
        <p:spPr bwMode="auto">
          <a:xfrm flipH="1">
            <a:off x="3499500" y="2670928"/>
            <a:ext cx="2630836" cy="21887"/>
          </a:xfrm>
          <a:prstGeom prst="straightConnector1">
            <a:avLst/>
          </a:prstGeom>
          <a:solidFill>
            <a:schemeClr val="accent1"/>
          </a:solidFill>
          <a:ln w="19050" cap="flat" cmpd="sng" algn="ctr">
            <a:solidFill>
              <a:schemeClr val="tx1"/>
            </a:solidFill>
            <a:prstDash val="solid"/>
            <a:round/>
            <a:headEnd type="triangle" w="med" len="med"/>
            <a:tailEnd type="none"/>
          </a:ln>
          <a:effectLst/>
        </p:spPr>
      </p:cxnSp>
      <p:sp>
        <p:nvSpPr>
          <p:cNvPr id="29" name="Rectangle 28"/>
          <p:cNvSpPr/>
          <p:nvPr/>
        </p:nvSpPr>
        <p:spPr bwMode="auto">
          <a:xfrm>
            <a:off x="5436096" y="3596616"/>
            <a:ext cx="1981200" cy="1371600"/>
          </a:xfrm>
          <a:prstGeom prst="rect">
            <a:avLst/>
          </a:prstGeom>
          <a:solidFill>
            <a:schemeClr val="accent2"/>
          </a:solidFill>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anchor="ctr"/>
          <a:lstStyle>
            <a:lvl1pPr>
              <a:defRPr sz="2400">
                <a:solidFill>
                  <a:schemeClr val="tx1"/>
                </a:solidFill>
                <a:latin typeface="Times" pitchFamily="4" charset="0"/>
                <a:ea typeface="ＭＳ Ｐゴシック" pitchFamily="4" charset="-128"/>
              </a:defRPr>
            </a:lvl1pPr>
            <a:lvl2pPr marL="37931725" indent="-37474525">
              <a:defRPr sz="2400">
                <a:solidFill>
                  <a:schemeClr val="tx1"/>
                </a:solidFill>
                <a:latin typeface="Times" pitchFamily="4" charset="0"/>
                <a:ea typeface="ＭＳ Ｐゴシック" pitchFamily="4" charset="-128"/>
              </a:defRPr>
            </a:lvl2pPr>
            <a:lvl3pPr>
              <a:defRPr sz="2400">
                <a:solidFill>
                  <a:schemeClr val="tx1"/>
                </a:solidFill>
                <a:latin typeface="Times" pitchFamily="4" charset="0"/>
                <a:ea typeface="ＭＳ Ｐゴシック" pitchFamily="4" charset="-128"/>
              </a:defRPr>
            </a:lvl3pPr>
            <a:lvl4pPr>
              <a:defRPr sz="2400">
                <a:solidFill>
                  <a:schemeClr val="tx1"/>
                </a:solidFill>
                <a:latin typeface="Times" pitchFamily="4" charset="0"/>
                <a:ea typeface="ＭＳ Ｐゴシック" pitchFamily="4" charset="-128"/>
              </a:defRPr>
            </a:lvl4pPr>
            <a:lvl5pPr>
              <a:defRPr sz="2400">
                <a:solidFill>
                  <a:schemeClr val="tx1"/>
                </a:solidFill>
                <a:latin typeface="Times" pitchFamily="4" charset="0"/>
                <a:ea typeface="ＭＳ Ｐゴシック" pitchFamily="4" charset="-128"/>
              </a:defRPr>
            </a:lvl5pPr>
            <a:lvl6pPr marL="457200" eaLnBrk="0" fontAlgn="base" hangingPunct="0">
              <a:spcBef>
                <a:spcPct val="0"/>
              </a:spcBef>
              <a:spcAft>
                <a:spcPct val="0"/>
              </a:spcAft>
              <a:defRPr sz="2400">
                <a:solidFill>
                  <a:schemeClr val="tx1"/>
                </a:solidFill>
                <a:latin typeface="Times" pitchFamily="4" charset="0"/>
                <a:ea typeface="ＭＳ Ｐゴシック" pitchFamily="4" charset="-128"/>
              </a:defRPr>
            </a:lvl6pPr>
            <a:lvl7pPr marL="914400" eaLnBrk="0" fontAlgn="base" hangingPunct="0">
              <a:spcBef>
                <a:spcPct val="0"/>
              </a:spcBef>
              <a:spcAft>
                <a:spcPct val="0"/>
              </a:spcAft>
              <a:defRPr sz="2400">
                <a:solidFill>
                  <a:schemeClr val="tx1"/>
                </a:solidFill>
                <a:latin typeface="Times" pitchFamily="4" charset="0"/>
                <a:ea typeface="ＭＳ Ｐゴシック" pitchFamily="4" charset="-128"/>
              </a:defRPr>
            </a:lvl7pPr>
            <a:lvl8pPr marL="1371600" eaLnBrk="0" fontAlgn="base" hangingPunct="0">
              <a:spcBef>
                <a:spcPct val="0"/>
              </a:spcBef>
              <a:spcAft>
                <a:spcPct val="0"/>
              </a:spcAft>
              <a:defRPr sz="2400">
                <a:solidFill>
                  <a:schemeClr val="tx1"/>
                </a:solidFill>
                <a:latin typeface="Times" pitchFamily="4" charset="0"/>
                <a:ea typeface="ＭＳ Ｐゴシック" pitchFamily="4" charset="-128"/>
              </a:defRPr>
            </a:lvl8pPr>
            <a:lvl9pPr marL="1828800" eaLnBrk="0" fontAlgn="base" hangingPunct="0">
              <a:spcBef>
                <a:spcPct val="0"/>
              </a:spcBef>
              <a:spcAft>
                <a:spcPct val="0"/>
              </a:spcAft>
              <a:defRPr sz="2400">
                <a:solidFill>
                  <a:schemeClr val="tx1"/>
                </a:solidFill>
                <a:latin typeface="Times" pitchFamily="4" charset="0"/>
                <a:ea typeface="ＭＳ Ｐゴシック" pitchFamily="4" charset="-128"/>
              </a:defRPr>
            </a:lvl9pPr>
          </a:lstStyle>
          <a:p>
            <a:pPr algn="ctr">
              <a:defRPr/>
            </a:pPr>
            <a:r>
              <a:rPr lang="en-US" altLang="en-US" dirty="0">
                <a:solidFill>
                  <a:schemeClr val="bg1"/>
                </a:solidFill>
                <a:latin typeface="Arial" charset="0"/>
              </a:rPr>
              <a:t>Property </a:t>
            </a:r>
          </a:p>
        </p:txBody>
      </p:sp>
      <p:cxnSp>
        <p:nvCxnSpPr>
          <p:cNvPr id="31" name="Straight Arrow Connector 30"/>
          <p:cNvCxnSpPr/>
          <p:nvPr/>
        </p:nvCxnSpPr>
        <p:spPr bwMode="auto">
          <a:xfrm flipV="1">
            <a:off x="6310585" y="2886172"/>
            <a:ext cx="0" cy="614836"/>
          </a:xfrm>
          <a:prstGeom prst="straightConnector1">
            <a:avLst/>
          </a:prstGeom>
          <a:solidFill>
            <a:schemeClr val="accent1"/>
          </a:solidFill>
          <a:ln w="19050" cap="flat" cmpd="sng" algn="ctr">
            <a:solidFill>
              <a:schemeClr val="tx1"/>
            </a:solidFill>
            <a:prstDash val="solid"/>
            <a:round/>
            <a:headEnd type="triangle" w="med" len="med"/>
            <a:tailEnd type="none"/>
          </a:ln>
          <a:effectLst/>
        </p:spPr>
      </p:cxnSp>
      <p:sp>
        <p:nvSpPr>
          <p:cNvPr id="34" name="TextBox 33"/>
          <p:cNvSpPr txBox="1"/>
          <p:nvPr/>
        </p:nvSpPr>
        <p:spPr>
          <a:xfrm>
            <a:off x="6426696" y="3008924"/>
            <a:ext cx="2903795" cy="369332"/>
          </a:xfrm>
          <a:prstGeom prst="rect">
            <a:avLst/>
          </a:prstGeom>
          <a:noFill/>
        </p:spPr>
        <p:txBody>
          <a:bodyPr wrap="square">
            <a:spAutoFit/>
          </a:bodyPr>
          <a:lstStyle/>
          <a:p>
            <a:pPr>
              <a:defRPr/>
            </a:pPr>
            <a:r>
              <a:rPr lang="en-US" sz="1800" dirty="0">
                <a:solidFill>
                  <a:schemeClr val="accent4"/>
                </a:solidFill>
                <a:latin typeface="Calibri" panose="020F0502020204030204" pitchFamily="34" charset="0"/>
                <a:ea typeface="+mn-ea"/>
              </a:rPr>
              <a:t>Purchases for £200</a:t>
            </a:r>
          </a:p>
        </p:txBody>
      </p:sp>
      <p:sp>
        <p:nvSpPr>
          <p:cNvPr id="19" name="TextBox 18"/>
          <p:cNvSpPr txBox="1"/>
          <p:nvPr/>
        </p:nvSpPr>
        <p:spPr>
          <a:xfrm>
            <a:off x="1951983" y="5060328"/>
            <a:ext cx="2131427" cy="461665"/>
          </a:xfrm>
          <a:prstGeom prst="rect">
            <a:avLst/>
          </a:prstGeom>
          <a:noFill/>
        </p:spPr>
        <p:txBody>
          <a:bodyPr wrap="square">
            <a:spAutoFit/>
          </a:bodyPr>
          <a:lstStyle/>
          <a:p>
            <a:pPr algn="ctr">
              <a:defRPr/>
            </a:pPr>
            <a:r>
              <a:rPr lang="en-US" dirty="0">
                <a:solidFill>
                  <a:schemeClr val="accent4"/>
                </a:solidFill>
                <a:latin typeface="Calibri" panose="020F0502020204030204" pitchFamily="34" charset="0"/>
                <a:ea typeface="+mn-ea"/>
              </a:rPr>
              <a:t>B</a:t>
            </a:r>
            <a:r>
              <a:rPr lang="en-US" sz="1100" dirty="0">
                <a:solidFill>
                  <a:schemeClr val="accent4"/>
                </a:solidFill>
                <a:latin typeface="Calibri" panose="020F0502020204030204" pitchFamily="34" charset="0"/>
                <a:ea typeface="+mn-ea"/>
              </a:rPr>
              <a:t>eneficiary</a:t>
            </a:r>
          </a:p>
        </p:txBody>
      </p:sp>
      <p:sp>
        <p:nvSpPr>
          <p:cNvPr id="21" name="TextBox 20"/>
          <p:cNvSpPr txBox="1"/>
          <p:nvPr/>
        </p:nvSpPr>
        <p:spPr>
          <a:xfrm>
            <a:off x="1856966" y="3887369"/>
            <a:ext cx="2131427" cy="461665"/>
          </a:xfrm>
          <a:prstGeom prst="rect">
            <a:avLst/>
          </a:prstGeom>
          <a:noFill/>
        </p:spPr>
        <p:txBody>
          <a:bodyPr wrap="square">
            <a:spAutoFit/>
          </a:bodyPr>
          <a:lstStyle/>
          <a:p>
            <a:pPr algn="ctr">
              <a:defRPr/>
            </a:pPr>
            <a:r>
              <a:rPr lang="en-US" dirty="0">
                <a:solidFill>
                  <a:schemeClr val="accent4"/>
                </a:solidFill>
                <a:latin typeface="Calibri" panose="020F0502020204030204" pitchFamily="34" charset="0"/>
                <a:ea typeface="+mn-ea"/>
              </a:rPr>
              <a:t>P</a:t>
            </a:r>
            <a:r>
              <a:rPr lang="en-US" sz="1100" dirty="0">
                <a:solidFill>
                  <a:schemeClr val="accent4"/>
                </a:solidFill>
                <a:latin typeface="Calibri" panose="020F0502020204030204" pitchFamily="34" charset="0"/>
                <a:ea typeface="+mn-ea"/>
              </a:rPr>
              <a:t>roperty</a:t>
            </a:r>
          </a:p>
        </p:txBody>
      </p:sp>
      <p:sp>
        <p:nvSpPr>
          <p:cNvPr id="22" name="TextBox 21"/>
          <p:cNvSpPr txBox="1"/>
          <p:nvPr/>
        </p:nvSpPr>
        <p:spPr>
          <a:xfrm>
            <a:off x="1839615" y="2512952"/>
            <a:ext cx="2131427" cy="461665"/>
          </a:xfrm>
          <a:prstGeom prst="rect">
            <a:avLst/>
          </a:prstGeom>
          <a:noFill/>
        </p:spPr>
        <p:txBody>
          <a:bodyPr wrap="square">
            <a:spAutoFit/>
          </a:bodyPr>
          <a:lstStyle/>
          <a:p>
            <a:pPr algn="ctr">
              <a:defRPr/>
            </a:pPr>
            <a:r>
              <a:rPr lang="en-US" dirty="0">
                <a:solidFill>
                  <a:schemeClr val="accent4"/>
                </a:solidFill>
                <a:latin typeface="Calibri" panose="020F0502020204030204" pitchFamily="34" charset="0"/>
                <a:ea typeface="+mn-ea"/>
              </a:rPr>
              <a:t>T</a:t>
            </a:r>
            <a:r>
              <a:rPr lang="en-US" sz="1100" dirty="0">
                <a:solidFill>
                  <a:schemeClr val="accent4"/>
                </a:solidFill>
                <a:latin typeface="Calibri" panose="020F0502020204030204" pitchFamily="34" charset="0"/>
                <a:ea typeface="+mn-ea"/>
              </a:rPr>
              <a:t>rustee</a:t>
            </a:r>
          </a:p>
        </p:txBody>
      </p:sp>
    </p:spTree>
    <p:extLst>
      <p:ext uri="{BB962C8B-B14F-4D97-AF65-F5344CB8AC3E}">
        <p14:creationId xmlns:p14="http://schemas.microsoft.com/office/powerpoint/2010/main" val="1501844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wipe(left)">
                                      <p:cBhvr>
                                        <p:cTn id="13" dur="500"/>
                                        <p:tgtEl>
                                          <p:spTgt spid="38"/>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wipe(up)">
                                      <p:cBhvr>
                                        <p:cTn id="26" dur="500"/>
                                        <p:tgtEl>
                                          <p:spTgt spid="31"/>
                                        </p:tgtEl>
                                      </p:cBhvr>
                                    </p:animEffec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down)">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p:bldP spid="32" grpId="0"/>
      <p:bldP spid="33" grpId="0"/>
      <p:bldP spid="36" grpId="0"/>
      <p:bldP spid="29" grpId="0" animBg="1"/>
      <p:bldP spid="3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685800" y="609600"/>
            <a:ext cx="7772400" cy="990600"/>
          </a:xfrm>
        </p:spPr>
        <p:txBody>
          <a:bodyPr/>
          <a:lstStyle/>
          <a:p>
            <a:r>
              <a:rPr lang="en-US" altLang="en-US" dirty="0">
                <a:latin typeface="+mn-lt"/>
                <a:ea typeface="ＭＳ Ｐゴシック" pitchFamily="34" charset="-128"/>
              </a:rPr>
              <a:t>Lien</a:t>
            </a:r>
          </a:p>
        </p:txBody>
      </p:sp>
      <p:sp>
        <p:nvSpPr>
          <p:cNvPr id="26" name="Right Brace 25"/>
          <p:cNvSpPr/>
          <p:nvPr/>
        </p:nvSpPr>
        <p:spPr bwMode="auto">
          <a:xfrm rot="10800000">
            <a:off x="1659036" y="2670928"/>
            <a:ext cx="587300" cy="2963388"/>
          </a:xfrm>
          <a:prstGeom prst="rightBrace">
            <a:avLst/>
          </a:prstGeom>
          <a:solidFill>
            <a:schemeClr val="bg1"/>
          </a:solid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400" b="0" i="0" u="none" strike="noStrike" cap="none" normalizeH="0" baseline="0">
              <a:ln>
                <a:noFill/>
              </a:ln>
              <a:solidFill>
                <a:srgbClr val="FF0000"/>
              </a:solidFill>
              <a:effectLst/>
              <a:latin typeface="Times" pitchFamily="18" charset="0"/>
            </a:endParaRPr>
          </a:p>
        </p:txBody>
      </p:sp>
      <p:sp>
        <p:nvSpPr>
          <p:cNvPr id="27" name="TextBox 26"/>
          <p:cNvSpPr txBox="1"/>
          <p:nvPr/>
        </p:nvSpPr>
        <p:spPr>
          <a:xfrm>
            <a:off x="621134" y="3940155"/>
            <a:ext cx="798119" cy="461665"/>
          </a:xfrm>
          <a:prstGeom prst="rect">
            <a:avLst/>
          </a:prstGeom>
          <a:noFill/>
        </p:spPr>
        <p:txBody>
          <a:bodyPr wrap="square">
            <a:spAutoFit/>
          </a:bodyPr>
          <a:lstStyle/>
          <a:p>
            <a:pPr>
              <a:defRPr/>
            </a:pPr>
            <a:r>
              <a:rPr lang="en-US" dirty="0">
                <a:solidFill>
                  <a:srgbClr val="FF0000"/>
                </a:solidFill>
                <a:latin typeface="Calibri" panose="020F0502020204030204" pitchFamily="34" charset="0"/>
                <a:ea typeface="+mn-ea"/>
              </a:rPr>
              <a:t>Trust</a:t>
            </a:r>
          </a:p>
        </p:txBody>
      </p:sp>
      <p:sp>
        <p:nvSpPr>
          <p:cNvPr id="32" name="TextBox 31"/>
          <p:cNvSpPr txBox="1"/>
          <p:nvPr/>
        </p:nvSpPr>
        <p:spPr>
          <a:xfrm>
            <a:off x="6153011" y="2429837"/>
            <a:ext cx="2131427" cy="461665"/>
          </a:xfrm>
          <a:prstGeom prst="rect">
            <a:avLst/>
          </a:prstGeom>
          <a:noFill/>
        </p:spPr>
        <p:txBody>
          <a:bodyPr wrap="square">
            <a:spAutoFit/>
          </a:bodyPr>
          <a:lstStyle/>
          <a:p>
            <a:pPr>
              <a:defRPr/>
            </a:pPr>
            <a:r>
              <a:rPr lang="en-US" dirty="0">
                <a:solidFill>
                  <a:schemeClr val="accent4"/>
                </a:solidFill>
                <a:latin typeface="Calibri" panose="020F0502020204030204" pitchFamily="34" charset="0"/>
                <a:ea typeface="+mn-ea"/>
              </a:rPr>
              <a:t>C</a:t>
            </a:r>
          </a:p>
        </p:txBody>
      </p:sp>
      <p:cxnSp>
        <p:nvCxnSpPr>
          <p:cNvPr id="4" name="Straight Arrow Connector 3"/>
          <p:cNvCxnSpPr/>
          <p:nvPr/>
        </p:nvCxnSpPr>
        <p:spPr bwMode="auto">
          <a:xfrm flipV="1">
            <a:off x="3599022" y="4869160"/>
            <a:ext cx="1693058" cy="422000"/>
          </a:xfrm>
          <a:prstGeom prst="straightConnector1">
            <a:avLst/>
          </a:prstGeom>
          <a:solidFill>
            <a:schemeClr val="accent1"/>
          </a:solidFill>
          <a:ln w="19050" cap="flat" cmpd="sng" algn="ctr">
            <a:solidFill>
              <a:srgbClr val="FF0000"/>
            </a:solidFill>
            <a:prstDash val="sysDot"/>
            <a:round/>
            <a:headEnd type="none" w="med" len="med"/>
            <a:tailEnd type="arrow"/>
          </a:ln>
          <a:effectLst/>
        </p:spPr>
      </p:cxnSp>
      <p:sp>
        <p:nvSpPr>
          <p:cNvPr id="33" name="TextBox 32"/>
          <p:cNvSpPr txBox="1"/>
          <p:nvPr/>
        </p:nvSpPr>
        <p:spPr>
          <a:xfrm>
            <a:off x="3324389" y="2255429"/>
            <a:ext cx="2903795" cy="369332"/>
          </a:xfrm>
          <a:prstGeom prst="rect">
            <a:avLst/>
          </a:prstGeom>
          <a:noFill/>
        </p:spPr>
        <p:txBody>
          <a:bodyPr wrap="square">
            <a:spAutoFit/>
          </a:bodyPr>
          <a:lstStyle/>
          <a:p>
            <a:pPr algn="ctr">
              <a:defRPr/>
            </a:pPr>
            <a:r>
              <a:rPr lang="en-US" sz="1800" dirty="0">
                <a:solidFill>
                  <a:schemeClr val="accent4"/>
                </a:solidFill>
                <a:latin typeface="Calibri" panose="020F0502020204030204" pitchFamily="34" charset="0"/>
                <a:ea typeface="+mn-ea"/>
              </a:rPr>
              <a:t>Transfers £100 in breach to</a:t>
            </a:r>
          </a:p>
        </p:txBody>
      </p:sp>
      <p:sp>
        <p:nvSpPr>
          <p:cNvPr id="36" name="TextBox 35"/>
          <p:cNvSpPr txBox="1"/>
          <p:nvPr/>
        </p:nvSpPr>
        <p:spPr>
          <a:xfrm>
            <a:off x="4592372" y="5153639"/>
            <a:ext cx="2520280" cy="646331"/>
          </a:xfrm>
          <a:prstGeom prst="rect">
            <a:avLst/>
          </a:prstGeom>
          <a:noFill/>
        </p:spPr>
        <p:txBody>
          <a:bodyPr wrap="square">
            <a:spAutoFit/>
          </a:bodyPr>
          <a:lstStyle/>
          <a:p>
            <a:pPr>
              <a:defRPr/>
            </a:pPr>
            <a:r>
              <a:rPr lang="en-US" sz="1800" dirty="0">
                <a:solidFill>
                  <a:srgbClr val="FF0000"/>
                </a:solidFill>
                <a:latin typeface="Calibri" panose="020F0502020204030204" pitchFamily="34" charset="0"/>
                <a:ea typeface="+mn-ea"/>
              </a:rPr>
              <a:t>Can recover £100 from the sale of the property</a:t>
            </a:r>
          </a:p>
        </p:txBody>
      </p:sp>
      <p:cxnSp>
        <p:nvCxnSpPr>
          <p:cNvPr id="38" name="Straight Arrow Connector 37"/>
          <p:cNvCxnSpPr/>
          <p:nvPr/>
        </p:nvCxnSpPr>
        <p:spPr bwMode="auto">
          <a:xfrm flipH="1">
            <a:off x="3499500" y="2670928"/>
            <a:ext cx="2630836" cy="21887"/>
          </a:xfrm>
          <a:prstGeom prst="straightConnector1">
            <a:avLst/>
          </a:prstGeom>
          <a:solidFill>
            <a:schemeClr val="accent1"/>
          </a:solidFill>
          <a:ln w="19050" cap="flat" cmpd="sng" algn="ctr">
            <a:solidFill>
              <a:schemeClr val="tx1"/>
            </a:solidFill>
            <a:prstDash val="solid"/>
            <a:round/>
            <a:headEnd type="triangle" w="med" len="med"/>
            <a:tailEnd type="none"/>
          </a:ln>
          <a:effectLst/>
        </p:spPr>
      </p:cxnSp>
      <p:sp>
        <p:nvSpPr>
          <p:cNvPr id="29" name="Rectangle 28"/>
          <p:cNvSpPr/>
          <p:nvPr/>
        </p:nvSpPr>
        <p:spPr bwMode="auto">
          <a:xfrm>
            <a:off x="5436096" y="3596616"/>
            <a:ext cx="1981200" cy="1371600"/>
          </a:xfrm>
          <a:prstGeom prst="rect">
            <a:avLst/>
          </a:prstGeom>
          <a:solidFill>
            <a:srgbClr val="00B050"/>
          </a:solidFill>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anchor="ctr"/>
          <a:lstStyle>
            <a:lvl1pPr>
              <a:defRPr sz="2400">
                <a:solidFill>
                  <a:schemeClr val="tx1"/>
                </a:solidFill>
                <a:latin typeface="Times" pitchFamily="4" charset="0"/>
                <a:ea typeface="ＭＳ Ｐゴシック" pitchFamily="4" charset="-128"/>
              </a:defRPr>
            </a:lvl1pPr>
            <a:lvl2pPr marL="37931725" indent="-37474525">
              <a:defRPr sz="2400">
                <a:solidFill>
                  <a:schemeClr val="tx1"/>
                </a:solidFill>
                <a:latin typeface="Times" pitchFamily="4" charset="0"/>
                <a:ea typeface="ＭＳ Ｐゴシック" pitchFamily="4" charset="-128"/>
              </a:defRPr>
            </a:lvl2pPr>
            <a:lvl3pPr>
              <a:defRPr sz="2400">
                <a:solidFill>
                  <a:schemeClr val="tx1"/>
                </a:solidFill>
                <a:latin typeface="Times" pitchFamily="4" charset="0"/>
                <a:ea typeface="ＭＳ Ｐゴシック" pitchFamily="4" charset="-128"/>
              </a:defRPr>
            </a:lvl3pPr>
            <a:lvl4pPr>
              <a:defRPr sz="2400">
                <a:solidFill>
                  <a:schemeClr val="tx1"/>
                </a:solidFill>
                <a:latin typeface="Times" pitchFamily="4" charset="0"/>
                <a:ea typeface="ＭＳ Ｐゴシック" pitchFamily="4" charset="-128"/>
              </a:defRPr>
            </a:lvl4pPr>
            <a:lvl5pPr>
              <a:defRPr sz="2400">
                <a:solidFill>
                  <a:schemeClr val="tx1"/>
                </a:solidFill>
                <a:latin typeface="Times" pitchFamily="4" charset="0"/>
                <a:ea typeface="ＭＳ Ｐゴシック" pitchFamily="4" charset="-128"/>
              </a:defRPr>
            </a:lvl5pPr>
            <a:lvl6pPr marL="457200" eaLnBrk="0" fontAlgn="base" hangingPunct="0">
              <a:spcBef>
                <a:spcPct val="0"/>
              </a:spcBef>
              <a:spcAft>
                <a:spcPct val="0"/>
              </a:spcAft>
              <a:defRPr sz="2400">
                <a:solidFill>
                  <a:schemeClr val="tx1"/>
                </a:solidFill>
                <a:latin typeface="Times" pitchFamily="4" charset="0"/>
                <a:ea typeface="ＭＳ Ｐゴシック" pitchFamily="4" charset="-128"/>
              </a:defRPr>
            </a:lvl6pPr>
            <a:lvl7pPr marL="914400" eaLnBrk="0" fontAlgn="base" hangingPunct="0">
              <a:spcBef>
                <a:spcPct val="0"/>
              </a:spcBef>
              <a:spcAft>
                <a:spcPct val="0"/>
              </a:spcAft>
              <a:defRPr sz="2400">
                <a:solidFill>
                  <a:schemeClr val="tx1"/>
                </a:solidFill>
                <a:latin typeface="Times" pitchFamily="4" charset="0"/>
                <a:ea typeface="ＭＳ Ｐゴシック" pitchFamily="4" charset="-128"/>
              </a:defRPr>
            </a:lvl7pPr>
            <a:lvl8pPr marL="1371600" eaLnBrk="0" fontAlgn="base" hangingPunct="0">
              <a:spcBef>
                <a:spcPct val="0"/>
              </a:spcBef>
              <a:spcAft>
                <a:spcPct val="0"/>
              </a:spcAft>
              <a:defRPr sz="2400">
                <a:solidFill>
                  <a:schemeClr val="tx1"/>
                </a:solidFill>
                <a:latin typeface="Times" pitchFamily="4" charset="0"/>
                <a:ea typeface="ＭＳ Ｐゴシック" pitchFamily="4" charset="-128"/>
              </a:defRPr>
            </a:lvl8pPr>
            <a:lvl9pPr marL="1828800" eaLnBrk="0" fontAlgn="base" hangingPunct="0">
              <a:spcBef>
                <a:spcPct val="0"/>
              </a:spcBef>
              <a:spcAft>
                <a:spcPct val="0"/>
              </a:spcAft>
              <a:defRPr sz="2400">
                <a:solidFill>
                  <a:schemeClr val="tx1"/>
                </a:solidFill>
                <a:latin typeface="Times" pitchFamily="4" charset="0"/>
                <a:ea typeface="ＭＳ Ｐゴシック" pitchFamily="4" charset="-128"/>
              </a:defRPr>
            </a:lvl9pPr>
          </a:lstStyle>
          <a:p>
            <a:pPr algn="ctr">
              <a:defRPr/>
            </a:pPr>
            <a:r>
              <a:rPr lang="en-US" altLang="en-US" dirty="0">
                <a:solidFill>
                  <a:schemeClr val="bg1"/>
                </a:solidFill>
                <a:latin typeface="Arial" charset="0"/>
              </a:rPr>
              <a:t>Property </a:t>
            </a:r>
          </a:p>
        </p:txBody>
      </p:sp>
      <p:cxnSp>
        <p:nvCxnSpPr>
          <p:cNvPr id="31" name="Straight Arrow Connector 30"/>
          <p:cNvCxnSpPr/>
          <p:nvPr/>
        </p:nvCxnSpPr>
        <p:spPr bwMode="auto">
          <a:xfrm flipV="1">
            <a:off x="6310585" y="2886172"/>
            <a:ext cx="0" cy="614836"/>
          </a:xfrm>
          <a:prstGeom prst="straightConnector1">
            <a:avLst/>
          </a:prstGeom>
          <a:solidFill>
            <a:schemeClr val="accent1"/>
          </a:solidFill>
          <a:ln w="19050" cap="flat" cmpd="sng" algn="ctr">
            <a:solidFill>
              <a:schemeClr val="tx1"/>
            </a:solidFill>
            <a:prstDash val="solid"/>
            <a:round/>
            <a:headEnd type="triangle" w="med" len="med"/>
            <a:tailEnd type="none"/>
          </a:ln>
          <a:effectLst/>
        </p:spPr>
      </p:cxnSp>
      <p:sp>
        <p:nvSpPr>
          <p:cNvPr id="34" name="TextBox 33"/>
          <p:cNvSpPr txBox="1"/>
          <p:nvPr/>
        </p:nvSpPr>
        <p:spPr>
          <a:xfrm>
            <a:off x="6426696" y="3008924"/>
            <a:ext cx="2903795" cy="369332"/>
          </a:xfrm>
          <a:prstGeom prst="rect">
            <a:avLst/>
          </a:prstGeom>
          <a:noFill/>
        </p:spPr>
        <p:txBody>
          <a:bodyPr wrap="square">
            <a:spAutoFit/>
          </a:bodyPr>
          <a:lstStyle/>
          <a:p>
            <a:pPr>
              <a:defRPr/>
            </a:pPr>
            <a:r>
              <a:rPr lang="en-US" sz="1800" dirty="0">
                <a:solidFill>
                  <a:schemeClr val="accent4"/>
                </a:solidFill>
                <a:latin typeface="Calibri" panose="020F0502020204030204" pitchFamily="34" charset="0"/>
                <a:ea typeface="+mn-ea"/>
              </a:rPr>
              <a:t>Purchases for £200</a:t>
            </a:r>
          </a:p>
        </p:txBody>
      </p:sp>
      <p:sp>
        <p:nvSpPr>
          <p:cNvPr id="19" name="TextBox 18"/>
          <p:cNvSpPr txBox="1"/>
          <p:nvPr/>
        </p:nvSpPr>
        <p:spPr>
          <a:xfrm>
            <a:off x="1839615" y="2512952"/>
            <a:ext cx="2131427" cy="461665"/>
          </a:xfrm>
          <a:prstGeom prst="rect">
            <a:avLst/>
          </a:prstGeom>
          <a:noFill/>
        </p:spPr>
        <p:txBody>
          <a:bodyPr wrap="square">
            <a:spAutoFit/>
          </a:bodyPr>
          <a:lstStyle/>
          <a:p>
            <a:pPr algn="ctr">
              <a:defRPr/>
            </a:pPr>
            <a:r>
              <a:rPr lang="en-US" dirty="0">
                <a:solidFill>
                  <a:schemeClr val="accent4"/>
                </a:solidFill>
                <a:latin typeface="Calibri" panose="020F0502020204030204" pitchFamily="34" charset="0"/>
                <a:ea typeface="+mn-ea"/>
              </a:rPr>
              <a:t>T</a:t>
            </a:r>
            <a:r>
              <a:rPr lang="en-US" sz="1100" dirty="0">
                <a:solidFill>
                  <a:schemeClr val="accent4"/>
                </a:solidFill>
                <a:latin typeface="Calibri" panose="020F0502020204030204" pitchFamily="34" charset="0"/>
                <a:ea typeface="+mn-ea"/>
              </a:rPr>
              <a:t>rustee</a:t>
            </a:r>
          </a:p>
        </p:txBody>
      </p:sp>
      <p:sp>
        <p:nvSpPr>
          <p:cNvPr id="21" name="TextBox 20"/>
          <p:cNvSpPr txBox="1"/>
          <p:nvPr/>
        </p:nvSpPr>
        <p:spPr>
          <a:xfrm>
            <a:off x="1856966" y="3887369"/>
            <a:ext cx="2131427" cy="461665"/>
          </a:xfrm>
          <a:prstGeom prst="rect">
            <a:avLst/>
          </a:prstGeom>
          <a:noFill/>
        </p:spPr>
        <p:txBody>
          <a:bodyPr wrap="square">
            <a:spAutoFit/>
          </a:bodyPr>
          <a:lstStyle/>
          <a:p>
            <a:pPr algn="ctr">
              <a:defRPr/>
            </a:pPr>
            <a:r>
              <a:rPr lang="en-US" dirty="0">
                <a:solidFill>
                  <a:schemeClr val="accent4"/>
                </a:solidFill>
                <a:latin typeface="Calibri" panose="020F0502020204030204" pitchFamily="34" charset="0"/>
                <a:ea typeface="+mn-ea"/>
              </a:rPr>
              <a:t>P</a:t>
            </a:r>
            <a:r>
              <a:rPr lang="en-US" sz="1100" dirty="0">
                <a:solidFill>
                  <a:schemeClr val="accent4"/>
                </a:solidFill>
                <a:latin typeface="Calibri" panose="020F0502020204030204" pitchFamily="34" charset="0"/>
                <a:ea typeface="+mn-ea"/>
              </a:rPr>
              <a:t>roperty</a:t>
            </a:r>
          </a:p>
        </p:txBody>
      </p:sp>
      <p:sp>
        <p:nvSpPr>
          <p:cNvPr id="22" name="TextBox 21"/>
          <p:cNvSpPr txBox="1"/>
          <p:nvPr/>
        </p:nvSpPr>
        <p:spPr>
          <a:xfrm>
            <a:off x="1951983" y="5060328"/>
            <a:ext cx="2131427" cy="461665"/>
          </a:xfrm>
          <a:prstGeom prst="rect">
            <a:avLst/>
          </a:prstGeom>
          <a:noFill/>
        </p:spPr>
        <p:txBody>
          <a:bodyPr wrap="square">
            <a:spAutoFit/>
          </a:bodyPr>
          <a:lstStyle/>
          <a:p>
            <a:pPr algn="ctr">
              <a:defRPr/>
            </a:pPr>
            <a:r>
              <a:rPr lang="en-US" dirty="0">
                <a:solidFill>
                  <a:schemeClr val="accent4"/>
                </a:solidFill>
                <a:latin typeface="Calibri" panose="020F0502020204030204" pitchFamily="34" charset="0"/>
                <a:ea typeface="+mn-ea"/>
              </a:rPr>
              <a:t>B</a:t>
            </a:r>
            <a:r>
              <a:rPr lang="en-US" sz="1100" dirty="0">
                <a:solidFill>
                  <a:schemeClr val="accent4"/>
                </a:solidFill>
                <a:latin typeface="Calibri" panose="020F0502020204030204" pitchFamily="34" charset="0"/>
                <a:ea typeface="+mn-ea"/>
              </a:rPr>
              <a:t>eneficiary</a:t>
            </a:r>
          </a:p>
        </p:txBody>
      </p:sp>
    </p:spTree>
    <p:extLst>
      <p:ext uri="{BB962C8B-B14F-4D97-AF65-F5344CB8AC3E}">
        <p14:creationId xmlns:p14="http://schemas.microsoft.com/office/powerpoint/2010/main" val="4166551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wipe(left)">
                                      <p:cBhvr>
                                        <p:cTn id="13" dur="500"/>
                                        <p:tgtEl>
                                          <p:spTgt spid="38"/>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wipe(up)">
                                      <p:cBhvr>
                                        <p:cTn id="26" dur="500"/>
                                        <p:tgtEl>
                                          <p:spTgt spid="31"/>
                                        </p:tgtEl>
                                      </p:cBhvr>
                                    </p:animEffec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down)">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p:bldP spid="32" grpId="0"/>
      <p:bldP spid="33" grpId="0"/>
      <p:bldP spid="36" grpId="0"/>
      <p:bldP spid="29" grpId="0" animBg="1"/>
      <p:bldP spid="3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GB" altLang="en-US" dirty="0">
                <a:latin typeface="+mn-lt"/>
              </a:rPr>
              <a:t>Subrogation: </a:t>
            </a:r>
            <a:r>
              <a:rPr lang="en-GB" altLang="en-US" i="1" u="sng" dirty="0">
                <a:latin typeface="+mn-lt"/>
              </a:rPr>
              <a:t>Boscawen v </a:t>
            </a:r>
            <a:r>
              <a:rPr lang="en-GB" altLang="en-US" i="1" u="sng" dirty="0" err="1">
                <a:latin typeface="+mn-lt"/>
              </a:rPr>
              <a:t>Bajwa</a:t>
            </a:r>
            <a:r>
              <a:rPr lang="en-GB" altLang="en-US" i="1" u="sng" dirty="0">
                <a:latin typeface="+mn-lt"/>
              </a:rPr>
              <a:t> [1996] 1 WLR 328</a:t>
            </a:r>
          </a:p>
        </p:txBody>
      </p:sp>
      <p:sp>
        <p:nvSpPr>
          <p:cNvPr id="7171" name="TextBox 4"/>
          <p:cNvSpPr txBox="1">
            <a:spLocks noChangeArrowheads="1"/>
          </p:cNvSpPr>
          <p:nvPr/>
        </p:nvSpPr>
        <p:spPr bwMode="auto">
          <a:xfrm>
            <a:off x="468660" y="2540505"/>
            <a:ext cx="237626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itchFamily="4" charset="0"/>
                <a:ea typeface="ＭＳ Ｐゴシック" pitchFamily="4" charset="-128"/>
              </a:defRPr>
            </a:lvl1pPr>
            <a:lvl2pPr marL="37931725" indent="-37474525">
              <a:defRPr sz="2400">
                <a:solidFill>
                  <a:schemeClr val="tx1"/>
                </a:solidFill>
                <a:latin typeface="Times" pitchFamily="4" charset="0"/>
                <a:ea typeface="ＭＳ Ｐゴシック" pitchFamily="4" charset="-128"/>
              </a:defRPr>
            </a:lvl2pPr>
            <a:lvl3pPr marL="1143000" indent="-228600">
              <a:defRPr sz="2400">
                <a:solidFill>
                  <a:schemeClr val="tx1"/>
                </a:solidFill>
                <a:latin typeface="Times" pitchFamily="4" charset="0"/>
                <a:ea typeface="ＭＳ Ｐゴシック" pitchFamily="4" charset="-128"/>
              </a:defRPr>
            </a:lvl3pPr>
            <a:lvl4pPr marL="1600200" indent="-228600">
              <a:defRPr sz="2400">
                <a:solidFill>
                  <a:schemeClr val="tx1"/>
                </a:solidFill>
                <a:latin typeface="Times" pitchFamily="4" charset="0"/>
                <a:ea typeface="ＭＳ Ｐゴシック" pitchFamily="4" charset="-128"/>
              </a:defRPr>
            </a:lvl4pPr>
            <a:lvl5pPr marL="2057400" indent="-228600">
              <a:defRPr sz="2400">
                <a:solidFill>
                  <a:schemeClr val="tx1"/>
                </a:solidFill>
                <a:latin typeface="Times" pitchFamily="4" charset="0"/>
                <a:ea typeface="ＭＳ Ｐゴシック" pitchFamily="4" charset="-128"/>
              </a:defRPr>
            </a:lvl5pPr>
            <a:lvl6pPr marL="2514600" indent="-228600" eaLnBrk="0" fontAlgn="base" hangingPunct="0">
              <a:spcBef>
                <a:spcPct val="0"/>
              </a:spcBef>
              <a:spcAft>
                <a:spcPct val="0"/>
              </a:spcAft>
              <a:defRPr sz="2400">
                <a:solidFill>
                  <a:schemeClr val="tx1"/>
                </a:solidFill>
                <a:latin typeface="Times" pitchFamily="4" charset="0"/>
                <a:ea typeface="ＭＳ Ｐゴシック" pitchFamily="4" charset="-128"/>
              </a:defRPr>
            </a:lvl6pPr>
            <a:lvl7pPr marL="2971800" indent="-228600" eaLnBrk="0" fontAlgn="base" hangingPunct="0">
              <a:spcBef>
                <a:spcPct val="0"/>
              </a:spcBef>
              <a:spcAft>
                <a:spcPct val="0"/>
              </a:spcAft>
              <a:defRPr sz="2400">
                <a:solidFill>
                  <a:schemeClr val="tx1"/>
                </a:solidFill>
                <a:latin typeface="Times" pitchFamily="4" charset="0"/>
                <a:ea typeface="ＭＳ Ｐゴシック" pitchFamily="4" charset="-128"/>
              </a:defRPr>
            </a:lvl7pPr>
            <a:lvl8pPr marL="3429000" indent="-228600" eaLnBrk="0" fontAlgn="base" hangingPunct="0">
              <a:spcBef>
                <a:spcPct val="0"/>
              </a:spcBef>
              <a:spcAft>
                <a:spcPct val="0"/>
              </a:spcAft>
              <a:defRPr sz="2400">
                <a:solidFill>
                  <a:schemeClr val="tx1"/>
                </a:solidFill>
                <a:latin typeface="Times" pitchFamily="4" charset="0"/>
                <a:ea typeface="ＭＳ Ｐゴシック" pitchFamily="4" charset="-128"/>
              </a:defRPr>
            </a:lvl8pPr>
            <a:lvl9pPr marL="3886200" indent="-228600" eaLnBrk="0" fontAlgn="base" hangingPunct="0">
              <a:spcBef>
                <a:spcPct val="0"/>
              </a:spcBef>
              <a:spcAft>
                <a:spcPct val="0"/>
              </a:spcAft>
              <a:defRPr sz="2400">
                <a:solidFill>
                  <a:schemeClr val="tx1"/>
                </a:solidFill>
                <a:latin typeface="Times" pitchFamily="4" charset="0"/>
                <a:ea typeface="ＭＳ Ｐゴシック" pitchFamily="4" charset="-128"/>
              </a:defRPr>
            </a:lvl9pPr>
          </a:lstStyle>
          <a:p>
            <a:r>
              <a:rPr lang="en-US" altLang="en-US" sz="1800" dirty="0">
                <a:latin typeface="Arial" charset="0"/>
              </a:rPr>
              <a:t>Solicitors acting for AN and purchasers</a:t>
            </a:r>
          </a:p>
        </p:txBody>
      </p:sp>
      <p:sp>
        <p:nvSpPr>
          <p:cNvPr id="7173" name="TextBox 9"/>
          <p:cNvSpPr txBox="1">
            <a:spLocks noChangeArrowheads="1"/>
          </p:cNvSpPr>
          <p:nvPr/>
        </p:nvSpPr>
        <p:spPr bwMode="auto">
          <a:xfrm>
            <a:off x="4865316" y="2531792"/>
            <a:ext cx="2743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4" charset="0"/>
                <a:ea typeface="ＭＳ Ｐゴシック" pitchFamily="4" charset="-128"/>
              </a:defRPr>
            </a:lvl1pPr>
            <a:lvl2pPr marL="37931725" indent="-37474525">
              <a:defRPr sz="2400">
                <a:solidFill>
                  <a:schemeClr val="tx1"/>
                </a:solidFill>
                <a:latin typeface="Times" pitchFamily="4" charset="0"/>
                <a:ea typeface="ＭＳ Ｐゴシック" pitchFamily="4" charset="-128"/>
              </a:defRPr>
            </a:lvl2pPr>
            <a:lvl3pPr marL="1143000" indent="-228600">
              <a:defRPr sz="2400">
                <a:solidFill>
                  <a:schemeClr val="tx1"/>
                </a:solidFill>
                <a:latin typeface="Times" pitchFamily="4" charset="0"/>
                <a:ea typeface="ＭＳ Ｐゴシック" pitchFamily="4" charset="-128"/>
              </a:defRPr>
            </a:lvl3pPr>
            <a:lvl4pPr marL="1600200" indent="-228600">
              <a:defRPr sz="2400">
                <a:solidFill>
                  <a:schemeClr val="tx1"/>
                </a:solidFill>
                <a:latin typeface="Times" pitchFamily="4" charset="0"/>
                <a:ea typeface="ＭＳ Ｐゴシック" pitchFamily="4" charset="-128"/>
              </a:defRPr>
            </a:lvl4pPr>
            <a:lvl5pPr marL="2057400" indent="-228600">
              <a:defRPr sz="2400">
                <a:solidFill>
                  <a:schemeClr val="tx1"/>
                </a:solidFill>
                <a:latin typeface="Times" pitchFamily="4" charset="0"/>
                <a:ea typeface="ＭＳ Ｐゴシック" pitchFamily="4" charset="-128"/>
              </a:defRPr>
            </a:lvl5pPr>
            <a:lvl6pPr marL="2514600" indent="-228600" eaLnBrk="0" fontAlgn="base" hangingPunct="0">
              <a:spcBef>
                <a:spcPct val="0"/>
              </a:spcBef>
              <a:spcAft>
                <a:spcPct val="0"/>
              </a:spcAft>
              <a:defRPr sz="2400">
                <a:solidFill>
                  <a:schemeClr val="tx1"/>
                </a:solidFill>
                <a:latin typeface="Times" pitchFamily="4" charset="0"/>
                <a:ea typeface="ＭＳ Ｐゴシック" pitchFamily="4" charset="-128"/>
              </a:defRPr>
            </a:lvl6pPr>
            <a:lvl7pPr marL="2971800" indent="-228600" eaLnBrk="0" fontAlgn="base" hangingPunct="0">
              <a:spcBef>
                <a:spcPct val="0"/>
              </a:spcBef>
              <a:spcAft>
                <a:spcPct val="0"/>
              </a:spcAft>
              <a:defRPr sz="2400">
                <a:solidFill>
                  <a:schemeClr val="tx1"/>
                </a:solidFill>
                <a:latin typeface="Times" pitchFamily="4" charset="0"/>
                <a:ea typeface="ＭＳ Ｐゴシック" pitchFamily="4" charset="-128"/>
              </a:defRPr>
            </a:lvl7pPr>
            <a:lvl8pPr marL="3429000" indent="-228600" eaLnBrk="0" fontAlgn="base" hangingPunct="0">
              <a:spcBef>
                <a:spcPct val="0"/>
              </a:spcBef>
              <a:spcAft>
                <a:spcPct val="0"/>
              </a:spcAft>
              <a:defRPr sz="2400">
                <a:solidFill>
                  <a:schemeClr val="tx1"/>
                </a:solidFill>
                <a:latin typeface="Times" pitchFamily="4" charset="0"/>
                <a:ea typeface="ＭＳ Ｐゴシック" pitchFamily="4" charset="-128"/>
              </a:defRPr>
            </a:lvl8pPr>
            <a:lvl9pPr marL="3886200" indent="-228600" eaLnBrk="0" fontAlgn="base" hangingPunct="0">
              <a:spcBef>
                <a:spcPct val="0"/>
              </a:spcBef>
              <a:spcAft>
                <a:spcPct val="0"/>
              </a:spcAft>
              <a:defRPr sz="2400">
                <a:solidFill>
                  <a:schemeClr val="tx1"/>
                </a:solidFill>
                <a:latin typeface="Times" pitchFamily="4" charset="0"/>
                <a:ea typeface="ＭＳ Ｐゴシック" pitchFamily="4" charset="-128"/>
              </a:defRPr>
            </a:lvl9pPr>
          </a:lstStyle>
          <a:p>
            <a:r>
              <a:rPr lang="en-US" altLang="en-US" sz="1800" dirty="0">
                <a:latin typeface="Arial" charset="0"/>
              </a:rPr>
              <a:t>Solicitors acting for vendor</a:t>
            </a:r>
          </a:p>
        </p:txBody>
      </p:sp>
      <p:sp>
        <p:nvSpPr>
          <p:cNvPr id="7174" name="TextBox 11"/>
          <p:cNvSpPr txBox="1">
            <a:spLocks noChangeArrowheads="1"/>
          </p:cNvSpPr>
          <p:nvPr/>
        </p:nvSpPr>
        <p:spPr bwMode="auto">
          <a:xfrm>
            <a:off x="4572000" y="5334000"/>
            <a:ext cx="1905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4" charset="0"/>
                <a:ea typeface="ＭＳ Ｐゴシック" pitchFamily="4" charset="-128"/>
              </a:defRPr>
            </a:lvl1pPr>
            <a:lvl2pPr marL="37931725" indent="-37474525">
              <a:defRPr sz="2400">
                <a:solidFill>
                  <a:schemeClr val="tx1"/>
                </a:solidFill>
                <a:latin typeface="Times" pitchFamily="4" charset="0"/>
                <a:ea typeface="ＭＳ Ｐゴシック" pitchFamily="4" charset="-128"/>
              </a:defRPr>
            </a:lvl2pPr>
            <a:lvl3pPr marL="1143000" indent="-228600">
              <a:defRPr sz="2400">
                <a:solidFill>
                  <a:schemeClr val="tx1"/>
                </a:solidFill>
                <a:latin typeface="Times" pitchFamily="4" charset="0"/>
                <a:ea typeface="ＭＳ Ｐゴシック" pitchFamily="4" charset="-128"/>
              </a:defRPr>
            </a:lvl3pPr>
            <a:lvl4pPr marL="1600200" indent="-228600">
              <a:defRPr sz="2400">
                <a:solidFill>
                  <a:schemeClr val="tx1"/>
                </a:solidFill>
                <a:latin typeface="Times" pitchFamily="4" charset="0"/>
                <a:ea typeface="ＭＳ Ｐゴシック" pitchFamily="4" charset="-128"/>
              </a:defRPr>
            </a:lvl4pPr>
            <a:lvl5pPr marL="2057400" indent="-228600">
              <a:defRPr sz="2400">
                <a:solidFill>
                  <a:schemeClr val="tx1"/>
                </a:solidFill>
                <a:latin typeface="Times" pitchFamily="4" charset="0"/>
                <a:ea typeface="ＭＳ Ｐゴシック" pitchFamily="4" charset="-128"/>
              </a:defRPr>
            </a:lvl5pPr>
            <a:lvl6pPr marL="2514600" indent="-228600" eaLnBrk="0" fontAlgn="base" hangingPunct="0">
              <a:spcBef>
                <a:spcPct val="0"/>
              </a:spcBef>
              <a:spcAft>
                <a:spcPct val="0"/>
              </a:spcAft>
              <a:defRPr sz="2400">
                <a:solidFill>
                  <a:schemeClr val="tx1"/>
                </a:solidFill>
                <a:latin typeface="Times" pitchFamily="4" charset="0"/>
                <a:ea typeface="ＭＳ Ｐゴシック" pitchFamily="4" charset="-128"/>
              </a:defRPr>
            </a:lvl6pPr>
            <a:lvl7pPr marL="2971800" indent="-228600" eaLnBrk="0" fontAlgn="base" hangingPunct="0">
              <a:spcBef>
                <a:spcPct val="0"/>
              </a:spcBef>
              <a:spcAft>
                <a:spcPct val="0"/>
              </a:spcAft>
              <a:defRPr sz="2400">
                <a:solidFill>
                  <a:schemeClr val="tx1"/>
                </a:solidFill>
                <a:latin typeface="Times" pitchFamily="4" charset="0"/>
                <a:ea typeface="ＭＳ Ｐゴシック" pitchFamily="4" charset="-128"/>
              </a:defRPr>
            </a:lvl7pPr>
            <a:lvl8pPr marL="3429000" indent="-228600" eaLnBrk="0" fontAlgn="base" hangingPunct="0">
              <a:spcBef>
                <a:spcPct val="0"/>
              </a:spcBef>
              <a:spcAft>
                <a:spcPct val="0"/>
              </a:spcAft>
              <a:defRPr sz="2400">
                <a:solidFill>
                  <a:schemeClr val="tx1"/>
                </a:solidFill>
                <a:latin typeface="Times" pitchFamily="4" charset="0"/>
                <a:ea typeface="ＭＳ Ｐゴシック" pitchFamily="4" charset="-128"/>
              </a:defRPr>
            </a:lvl8pPr>
            <a:lvl9pPr marL="3886200" indent="-228600" eaLnBrk="0" fontAlgn="base" hangingPunct="0">
              <a:spcBef>
                <a:spcPct val="0"/>
              </a:spcBef>
              <a:spcAft>
                <a:spcPct val="0"/>
              </a:spcAft>
              <a:defRPr sz="2400">
                <a:solidFill>
                  <a:schemeClr val="tx1"/>
                </a:solidFill>
                <a:latin typeface="Times" pitchFamily="4" charset="0"/>
                <a:ea typeface="ＭＳ Ｐゴシック" pitchFamily="4" charset="-128"/>
              </a:defRPr>
            </a:lvl9pPr>
          </a:lstStyle>
          <a:p>
            <a:r>
              <a:rPr lang="en-US" altLang="en-US" sz="1600" dirty="0">
                <a:latin typeface="Arial" charset="0"/>
              </a:rPr>
              <a:t>Loan to be secured by mortgage</a:t>
            </a:r>
          </a:p>
        </p:txBody>
      </p:sp>
      <p:sp>
        <p:nvSpPr>
          <p:cNvPr id="7175" name="TextBox 13"/>
          <p:cNvSpPr txBox="1">
            <a:spLocks noChangeArrowheads="1"/>
          </p:cNvSpPr>
          <p:nvPr/>
        </p:nvSpPr>
        <p:spPr bwMode="auto">
          <a:xfrm>
            <a:off x="2811211" y="2200359"/>
            <a:ext cx="2286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4" charset="0"/>
                <a:ea typeface="ＭＳ Ｐゴシック" pitchFamily="4" charset="-128"/>
              </a:defRPr>
            </a:lvl1pPr>
            <a:lvl2pPr marL="37931725" indent="-37474525">
              <a:defRPr sz="2400">
                <a:solidFill>
                  <a:schemeClr val="tx1"/>
                </a:solidFill>
                <a:latin typeface="Times" pitchFamily="4" charset="0"/>
                <a:ea typeface="ＭＳ Ｐゴシック" pitchFamily="4" charset="-128"/>
              </a:defRPr>
            </a:lvl2pPr>
            <a:lvl3pPr marL="1143000" indent="-228600">
              <a:defRPr sz="2400">
                <a:solidFill>
                  <a:schemeClr val="tx1"/>
                </a:solidFill>
                <a:latin typeface="Times" pitchFamily="4" charset="0"/>
                <a:ea typeface="ＭＳ Ｐゴシック" pitchFamily="4" charset="-128"/>
              </a:defRPr>
            </a:lvl3pPr>
            <a:lvl4pPr marL="1600200" indent="-228600">
              <a:defRPr sz="2400">
                <a:solidFill>
                  <a:schemeClr val="tx1"/>
                </a:solidFill>
                <a:latin typeface="Times" pitchFamily="4" charset="0"/>
                <a:ea typeface="ＭＳ Ｐゴシック" pitchFamily="4" charset="-128"/>
              </a:defRPr>
            </a:lvl4pPr>
            <a:lvl5pPr marL="2057400" indent="-228600">
              <a:defRPr sz="2400">
                <a:solidFill>
                  <a:schemeClr val="tx1"/>
                </a:solidFill>
                <a:latin typeface="Times" pitchFamily="4" charset="0"/>
                <a:ea typeface="ＭＳ Ｐゴシック" pitchFamily="4" charset="-128"/>
              </a:defRPr>
            </a:lvl5pPr>
            <a:lvl6pPr marL="2514600" indent="-228600" eaLnBrk="0" fontAlgn="base" hangingPunct="0">
              <a:spcBef>
                <a:spcPct val="0"/>
              </a:spcBef>
              <a:spcAft>
                <a:spcPct val="0"/>
              </a:spcAft>
              <a:defRPr sz="2400">
                <a:solidFill>
                  <a:schemeClr val="tx1"/>
                </a:solidFill>
                <a:latin typeface="Times" pitchFamily="4" charset="0"/>
                <a:ea typeface="ＭＳ Ｐゴシック" pitchFamily="4" charset="-128"/>
              </a:defRPr>
            </a:lvl6pPr>
            <a:lvl7pPr marL="2971800" indent="-228600" eaLnBrk="0" fontAlgn="base" hangingPunct="0">
              <a:spcBef>
                <a:spcPct val="0"/>
              </a:spcBef>
              <a:spcAft>
                <a:spcPct val="0"/>
              </a:spcAft>
              <a:defRPr sz="2400">
                <a:solidFill>
                  <a:schemeClr val="tx1"/>
                </a:solidFill>
                <a:latin typeface="Times" pitchFamily="4" charset="0"/>
                <a:ea typeface="ＭＳ Ｐゴシック" pitchFamily="4" charset="-128"/>
              </a:defRPr>
            </a:lvl7pPr>
            <a:lvl8pPr marL="3429000" indent="-228600" eaLnBrk="0" fontAlgn="base" hangingPunct="0">
              <a:spcBef>
                <a:spcPct val="0"/>
              </a:spcBef>
              <a:spcAft>
                <a:spcPct val="0"/>
              </a:spcAft>
              <a:defRPr sz="2400">
                <a:solidFill>
                  <a:schemeClr val="tx1"/>
                </a:solidFill>
                <a:latin typeface="Times" pitchFamily="4" charset="0"/>
                <a:ea typeface="ＭＳ Ｐゴシック" pitchFamily="4" charset="-128"/>
              </a:defRPr>
            </a:lvl8pPr>
            <a:lvl9pPr marL="3886200" indent="-228600" eaLnBrk="0" fontAlgn="base" hangingPunct="0">
              <a:spcBef>
                <a:spcPct val="0"/>
              </a:spcBef>
              <a:spcAft>
                <a:spcPct val="0"/>
              </a:spcAft>
              <a:defRPr sz="2400">
                <a:solidFill>
                  <a:schemeClr val="tx1"/>
                </a:solidFill>
                <a:latin typeface="Times" pitchFamily="4" charset="0"/>
                <a:ea typeface="ＭＳ Ｐゴシック" pitchFamily="4" charset="-128"/>
              </a:defRPr>
            </a:lvl9pPr>
          </a:lstStyle>
          <a:p>
            <a:r>
              <a:rPr lang="en-US" altLang="en-US" sz="1600" dirty="0">
                <a:latin typeface="Arial" charset="0"/>
              </a:rPr>
              <a:t>Transfer money to</a:t>
            </a:r>
            <a:endParaRPr lang="en-US" altLang="en-US" sz="1600" dirty="0">
              <a:solidFill>
                <a:srgbClr val="FF0000"/>
              </a:solidFill>
              <a:latin typeface="Arial" charset="0"/>
            </a:endParaRPr>
          </a:p>
        </p:txBody>
      </p:sp>
      <p:sp>
        <p:nvSpPr>
          <p:cNvPr id="16" name="Rectangle 15"/>
          <p:cNvSpPr/>
          <p:nvPr/>
        </p:nvSpPr>
        <p:spPr bwMode="auto">
          <a:xfrm>
            <a:off x="4419600" y="3429000"/>
            <a:ext cx="1981200" cy="1371600"/>
          </a:xfrm>
          <a:prstGeom prst="rect">
            <a:avLst/>
          </a:prstGeom>
          <a:solidFill>
            <a:schemeClr val="accent2"/>
          </a:solidFill>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anchor="ctr"/>
          <a:lstStyle>
            <a:lvl1pPr>
              <a:defRPr sz="2400">
                <a:solidFill>
                  <a:schemeClr val="tx1"/>
                </a:solidFill>
                <a:latin typeface="Times" pitchFamily="4" charset="0"/>
                <a:ea typeface="ＭＳ Ｐゴシック" pitchFamily="4" charset="-128"/>
              </a:defRPr>
            </a:lvl1pPr>
            <a:lvl2pPr marL="37931725" indent="-37474525">
              <a:defRPr sz="2400">
                <a:solidFill>
                  <a:schemeClr val="tx1"/>
                </a:solidFill>
                <a:latin typeface="Times" pitchFamily="4" charset="0"/>
                <a:ea typeface="ＭＳ Ｐゴシック" pitchFamily="4" charset="-128"/>
              </a:defRPr>
            </a:lvl2pPr>
            <a:lvl3pPr>
              <a:defRPr sz="2400">
                <a:solidFill>
                  <a:schemeClr val="tx1"/>
                </a:solidFill>
                <a:latin typeface="Times" pitchFamily="4" charset="0"/>
                <a:ea typeface="ＭＳ Ｐゴシック" pitchFamily="4" charset="-128"/>
              </a:defRPr>
            </a:lvl3pPr>
            <a:lvl4pPr>
              <a:defRPr sz="2400">
                <a:solidFill>
                  <a:schemeClr val="tx1"/>
                </a:solidFill>
                <a:latin typeface="Times" pitchFamily="4" charset="0"/>
                <a:ea typeface="ＭＳ Ｐゴシック" pitchFamily="4" charset="-128"/>
              </a:defRPr>
            </a:lvl4pPr>
            <a:lvl5pPr>
              <a:defRPr sz="2400">
                <a:solidFill>
                  <a:schemeClr val="tx1"/>
                </a:solidFill>
                <a:latin typeface="Times" pitchFamily="4" charset="0"/>
                <a:ea typeface="ＭＳ Ｐゴシック" pitchFamily="4" charset="-128"/>
              </a:defRPr>
            </a:lvl5pPr>
            <a:lvl6pPr marL="457200" eaLnBrk="0" fontAlgn="base" hangingPunct="0">
              <a:spcBef>
                <a:spcPct val="0"/>
              </a:spcBef>
              <a:spcAft>
                <a:spcPct val="0"/>
              </a:spcAft>
              <a:defRPr sz="2400">
                <a:solidFill>
                  <a:schemeClr val="tx1"/>
                </a:solidFill>
                <a:latin typeface="Times" pitchFamily="4" charset="0"/>
                <a:ea typeface="ＭＳ Ｐゴシック" pitchFamily="4" charset="-128"/>
              </a:defRPr>
            </a:lvl6pPr>
            <a:lvl7pPr marL="914400" eaLnBrk="0" fontAlgn="base" hangingPunct="0">
              <a:spcBef>
                <a:spcPct val="0"/>
              </a:spcBef>
              <a:spcAft>
                <a:spcPct val="0"/>
              </a:spcAft>
              <a:defRPr sz="2400">
                <a:solidFill>
                  <a:schemeClr val="tx1"/>
                </a:solidFill>
                <a:latin typeface="Times" pitchFamily="4" charset="0"/>
                <a:ea typeface="ＭＳ Ｐゴシック" pitchFamily="4" charset="-128"/>
              </a:defRPr>
            </a:lvl7pPr>
            <a:lvl8pPr marL="1371600" eaLnBrk="0" fontAlgn="base" hangingPunct="0">
              <a:spcBef>
                <a:spcPct val="0"/>
              </a:spcBef>
              <a:spcAft>
                <a:spcPct val="0"/>
              </a:spcAft>
              <a:defRPr sz="2400">
                <a:solidFill>
                  <a:schemeClr val="tx1"/>
                </a:solidFill>
                <a:latin typeface="Times" pitchFamily="4" charset="0"/>
                <a:ea typeface="ＭＳ Ｐゴシック" pitchFamily="4" charset="-128"/>
              </a:defRPr>
            </a:lvl8pPr>
            <a:lvl9pPr marL="1828800" eaLnBrk="0" fontAlgn="base" hangingPunct="0">
              <a:spcBef>
                <a:spcPct val="0"/>
              </a:spcBef>
              <a:spcAft>
                <a:spcPct val="0"/>
              </a:spcAft>
              <a:defRPr sz="2400">
                <a:solidFill>
                  <a:schemeClr val="tx1"/>
                </a:solidFill>
                <a:latin typeface="Times" pitchFamily="4" charset="0"/>
                <a:ea typeface="ＭＳ Ｐゴシック" pitchFamily="4" charset="-128"/>
              </a:defRPr>
            </a:lvl9pPr>
          </a:lstStyle>
          <a:p>
            <a:pPr algn="ctr">
              <a:defRPr/>
            </a:pPr>
            <a:r>
              <a:rPr lang="en-US" altLang="en-US" dirty="0">
                <a:solidFill>
                  <a:schemeClr val="bg1"/>
                </a:solidFill>
                <a:latin typeface="Arial" charset="0"/>
              </a:rPr>
              <a:t>PROPERTY </a:t>
            </a:r>
          </a:p>
        </p:txBody>
      </p:sp>
      <p:cxnSp>
        <p:nvCxnSpPr>
          <p:cNvPr id="7178" name="Straight Arrow Connector 22"/>
          <p:cNvCxnSpPr>
            <a:cxnSpLocks noChangeShapeType="1"/>
            <a:stCxn id="7171" idx="3"/>
            <a:endCxn id="7173" idx="1"/>
          </p:cNvCxnSpPr>
          <p:nvPr/>
        </p:nvCxnSpPr>
        <p:spPr bwMode="auto">
          <a:xfrm flipV="1">
            <a:off x="2844924" y="2854958"/>
            <a:ext cx="2020392" cy="8713"/>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7179" name="Straight Arrow Connector 24"/>
          <p:cNvCxnSpPr>
            <a:cxnSpLocks noChangeShapeType="1"/>
            <a:endCxn id="7171" idx="2"/>
          </p:cNvCxnSpPr>
          <p:nvPr/>
        </p:nvCxnSpPr>
        <p:spPr bwMode="auto">
          <a:xfrm flipH="1" flipV="1">
            <a:off x="1656792" y="3186836"/>
            <a:ext cx="3407" cy="1672339"/>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7180" name="TextBox 25"/>
          <p:cNvSpPr txBox="1">
            <a:spLocks noChangeArrowheads="1"/>
          </p:cNvSpPr>
          <p:nvPr/>
        </p:nvSpPr>
        <p:spPr bwMode="auto">
          <a:xfrm>
            <a:off x="503238" y="3743154"/>
            <a:ext cx="1828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4" charset="0"/>
                <a:ea typeface="ＭＳ Ｐゴシック" pitchFamily="4" charset="-128"/>
              </a:defRPr>
            </a:lvl1pPr>
            <a:lvl2pPr marL="37931725" indent="-37474525">
              <a:defRPr sz="2400">
                <a:solidFill>
                  <a:schemeClr val="tx1"/>
                </a:solidFill>
                <a:latin typeface="Times" pitchFamily="4" charset="0"/>
                <a:ea typeface="ＭＳ Ｐゴシック" pitchFamily="4" charset="-128"/>
              </a:defRPr>
            </a:lvl2pPr>
            <a:lvl3pPr marL="1143000" indent="-228600">
              <a:defRPr sz="2400">
                <a:solidFill>
                  <a:schemeClr val="tx1"/>
                </a:solidFill>
                <a:latin typeface="Times" pitchFamily="4" charset="0"/>
                <a:ea typeface="ＭＳ Ｐゴシック" pitchFamily="4" charset="-128"/>
              </a:defRPr>
            </a:lvl3pPr>
            <a:lvl4pPr marL="1600200" indent="-228600">
              <a:defRPr sz="2400">
                <a:solidFill>
                  <a:schemeClr val="tx1"/>
                </a:solidFill>
                <a:latin typeface="Times" pitchFamily="4" charset="0"/>
                <a:ea typeface="ＭＳ Ｐゴシック" pitchFamily="4" charset="-128"/>
              </a:defRPr>
            </a:lvl4pPr>
            <a:lvl5pPr marL="2057400" indent="-228600">
              <a:defRPr sz="2400">
                <a:solidFill>
                  <a:schemeClr val="tx1"/>
                </a:solidFill>
                <a:latin typeface="Times" pitchFamily="4" charset="0"/>
                <a:ea typeface="ＭＳ Ｐゴシック" pitchFamily="4" charset="-128"/>
              </a:defRPr>
            </a:lvl5pPr>
            <a:lvl6pPr marL="2514600" indent="-228600" eaLnBrk="0" fontAlgn="base" hangingPunct="0">
              <a:spcBef>
                <a:spcPct val="0"/>
              </a:spcBef>
              <a:spcAft>
                <a:spcPct val="0"/>
              </a:spcAft>
              <a:defRPr sz="2400">
                <a:solidFill>
                  <a:schemeClr val="tx1"/>
                </a:solidFill>
                <a:latin typeface="Times" pitchFamily="4" charset="0"/>
                <a:ea typeface="ＭＳ Ｐゴシック" pitchFamily="4" charset="-128"/>
              </a:defRPr>
            </a:lvl6pPr>
            <a:lvl7pPr marL="2971800" indent="-228600" eaLnBrk="0" fontAlgn="base" hangingPunct="0">
              <a:spcBef>
                <a:spcPct val="0"/>
              </a:spcBef>
              <a:spcAft>
                <a:spcPct val="0"/>
              </a:spcAft>
              <a:defRPr sz="2400">
                <a:solidFill>
                  <a:schemeClr val="tx1"/>
                </a:solidFill>
                <a:latin typeface="Times" pitchFamily="4" charset="0"/>
                <a:ea typeface="ＭＳ Ｐゴシック" pitchFamily="4" charset="-128"/>
              </a:defRPr>
            </a:lvl7pPr>
            <a:lvl8pPr marL="3429000" indent="-228600" eaLnBrk="0" fontAlgn="base" hangingPunct="0">
              <a:spcBef>
                <a:spcPct val="0"/>
              </a:spcBef>
              <a:spcAft>
                <a:spcPct val="0"/>
              </a:spcAft>
              <a:defRPr sz="2400">
                <a:solidFill>
                  <a:schemeClr val="tx1"/>
                </a:solidFill>
                <a:latin typeface="Times" pitchFamily="4" charset="0"/>
                <a:ea typeface="ＭＳ Ｐゴシック" pitchFamily="4" charset="-128"/>
              </a:defRPr>
            </a:lvl8pPr>
            <a:lvl9pPr marL="3886200" indent="-228600" eaLnBrk="0" fontAlgn="base" hangingPunct="0">
              <a:spcBef>
                <a:spcPct val="0"/>
              </a:spcBef>
              <a:spcAft>
                <a:spcPct val="0"/>
              </a:spcAft>
              <a:defRPr sz="2400">
                <a:solidFill>
                  <a:schemeClr val="tx1"/>
                </a:solidFill>
                <a:latin typeface="Times" pitchFamily="4" charset="0"/>
                <a:ea typeface="ＭＳ Ｐゴシック" pitchFamily="4" charset="-128"/>
              </a:defRPr>
            </a:lvl9pPr>
          </a:lstStyle>
          <a:p>
            <a:r>
              <a:rPr lang="en-US" altLang="en-US" sz="1600" dirty="0">
                <a:latin typeface="Arial" charset="0"/>
              </a:rPr>
              <a:t>Transfers </a:t>
            </a:r>
          </a:p>
          <a:p>
            <a:r>
              <a:rPr lang="en-US" altLang="en-US" sz="1600" dirty="0">
                <a:latin typeface="Arial" charset="0"/>
              </a:rPr>
              <a:t>£140k to</a:t>
            </a:r>
          </a:p>
        </p:txBody>
      </p:sp>
      <p:cxnSp>
        <p:nvCxnSpPr>
          <p:cNvPr id="7181" name="Elbow Connector 27"/>
          <p:cNvCxnSpPr>
            <a:cxnSpLocks noChangeShapeType="1"/>
            <a:endCxn id="16" idx="2"/>
          </p:cNvCxnSpPr>
          <p:nvPr/>
        </p:nvCxnSpPr>
        <p:spPr bwMode="auto">
          <a:xfrm flipV="1">
            <a:off x="2915816" y="4800600"/>
            <a:ext cx="2494384" cy="419100"/>
          </a:xfrm>
          <a:prstGeom prst="bentConnector2">
            <a:avLst/>
          </a:prstGeom>
          <a:noFill/>
          <a:ln w="28575">
            <a:solidFill>
              <a:srgbClr val="FF0000"/>
            </a:solidFill>
            <a:prstDash val="lgDash"/>
            <a:round/>
            <a:headEnd/>
            <a:tailEnd type="arrow"/>
          </a:ln>
          <a:extLst>
            <a:ext uri="{909E8E84-426E-40DD-AFC4-6F175D3DCCD1}">
              <a14:hiddenFill xmlns:a14="http://schemas.microsoft.com/office/drawing/2010/main">
                <a:noFill/>
              </a14:hiddenFill>
            </a:ext>
          </a:extLst>
        </p:spPr>
      </p:cxnSp>
      <p:sp>
        <p:nvSpPr>
          <p:cNvPr id="42" name="Rectangle 41"/>
          <p:cNvSpPr>
            <a:spLocks noChangeArrowheads="1"/>
          </p:cNvSpPr>
          <p:nvPr/>
        </p:nvSpPr>
        <p:spPr bwMode="auto">
          <a:xfrm>
            <a:off x="6858000" y="2057400"/>
            <a:ext cx="1981200" cy="381000"/>
          </a:xfrm>
          <a:prstGeom prst="rect">
            <a:avLst/>
          </a:prstGeom>
          <a:solidFill>
            <a:srgbClr val="3C8C93"/>
          </a:solidFill>
          <a:ln w="9525">
            <a:solidFill>
              <a:srgbClr val="2F2F98"/>
            </a:solidFill>
            <a:miter lim="800000"/>
            <a:headEnd/>
            <a:tailEnd/>
          </a:ln>
          <a:effectLst>
            <a:outerShdw blurRad="40000" dist="20000" dir="5400000" rotWithShape="0">
              <a:srgbClr val="808080">
                <a:alpha val="37999"/>
              </a:srgbClr>
            </a:outerShdw>
          </a:effectLst>
        </p:spPr>
        <p:txBody>
          <a:bodyPr/>
          <a:lstStyle/>
          <a:p>
            <a:pPr>
              <a:defRPr/>
            </a:pPr>
            <a:r>
              <a:rPr lang="en-US" sz="1800" dirty="0">
                <a:solidFill>
                  <a:schemeClr val="bg1"/>
                </a:solidFill>
                <a:latin typeface="+mn-lt"/>
                <a:ea typeface="+mn-ea"/>
              </a:rPr>
              <a:t>H (Halifax)</a:t>
            </a:r>
          </a:p>
        </p:txBody>
      </p:sp>
      <p:cxnSp>
        <p:nvCxnSpPr>
          <p:cNvPr id="7185" name="Elbow Connector 57"/>
          <p:cNvCxnSpPr>
            <a:cxnSpLocks noChangeShapeType="1"/>
            <a:stCxn id="42" idx="2"/>
            <a:endCxn id="16" idx="3"/>
          </p:cNvCxnSpPr>
          <p:nvPr/>
        </p:nvCxnSpPr>
        <p:spPr bwMode="auto">
          <a:xfrm rot="5400000">
            <a:off x="6286500" y="2552700"/>
            <a:ext cx="1676400" cy="1447800"/>
          </a:xfrm>
          <a:prstGeom prst="bentConnector2">
            <a:avLst/>
          </a:prstGeom>
          <a:noFill/>
          <a:ln w="9525">
            <a:solidFill>
              <a:schemeClr val="tx1"/>
            </a:solidFill>
            <a:round/>
            <a:headEnd/>
            <a:tailEnd type="none" w="med" len="med"/>
          </a:ln>
          <a:extLst>
            <a:ext uri="{909E8E84-426E-40DD-AFC4-6F175D3DCCD1}">
              <a14:hiddenFill xmlns:a14="http://schemas.microsoft.com/office/drawing/2010/main">
                <a:noFill/>
              </a14:hiddenFill>
            </a:ext>
          </a:extLst>
        </p:spPr>
      </p:cxnSp>
      <p:sp>
        <p:nvSpPr>
          <p:cNvPr id="49" name="Rectangle 48"/>
          <p:cNvSpPr>
            <a:spLocks noChangeArrowheads="1"/>
          </p:cNvSpPr>
          <p:nvPr/>
        </p:nvSpPr>
        <p:spPr bwMode="auto">
          <a:xfrm>
            <a:off x="503238" y="5029200"/>
            <a:ext cx="2307108" cy="381000"/>
          </a:xfrm>
          <a:prstGeom prst="rect">
            <a:avLst/>
          </a:prstGeom>
          <a:solidFill>
            <a:srgbClr val="FFC000"/>
          </a:solidFill>
          <a:ln w="9525">
            <a:solidFill>
              <a:srgbClr val="2F2F98"/>
            </a:solidFill>
            <a:miter lim="800000"/>
            <a:headEnd/>
            <a:tailEnd/>
          </a:ln>
          <a:effectLst>
            <a:outerShdw blurRad="40000" dist="20000" dir="5400000" rotWithShape="0">
              <a:srgbClr val="808080">
                <a:alpha val="37999"/>
              </a:srgbClr>
            </a:outerShdw>
          </a:effectLst>
        </p:spPr>
        <p:txBody>
          <a:bodyPr/>
          <a:lstStyle/>
          <a:p>
            <a:pPr>
              <a:defRPr/>
            </a:pPr>
            <a:r>
              <a:rPr lang="en-US" sz="1800" dirty="0">
                <a:solidFill>
                  <a:schemeClr val="bg1"/>
                </a:solidFill>
                <a:latin typeface="+mn-lt"/>
                <a:ea typeface="+mn-ea"/>
              </a:rPr>
              <a:t>AN (Abbey National)</a:t>
            </a:r>
          </a:p>
        </p:txBody>
      </p:sp>
      <p:sp>
        <p:nvSpPr>
          <p:cNvPr id="50" name="TextBox 11"/>
          <p:cNvSpPr txBox="1">
            <a:spLocks noChangeArrowheads="1"/>
          </p:cNvSpPr>
          <p:nvPr/>
        </p:nvSpPr>
        <p:spPr bwMode="auto">
          <a:xfrm>
            <a:off x="6629400" y="3178123"/>
            <a:ext cx="19050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4" charset="0"/>
                <a:ea typeface="ＭＳ Ｐゴシック" pitchFamily="4" charset="-128"/>
              </a:defRPr>
            </a:lvl1pPr>
            <a:lvl2pPr marL="37931725" indent="-37474525">
              <a:defRPr sz="2400">
                <a:solidFill>
                  <a:schemeClr val="tx1"/>
                </a:solidFill>
                <a:latin typeface="Times" pitchFamily="4" charset="0"/>
                <a:ea typeface="ＭＳ Ｐゴシック" pitchFamily="4" charset="-128"/>
              </a:defRPr>
            </a:lvl2pPr>
            <a:lvl3pPr marL="1143000" indent="-228600">
              <a:defRPr sz="2400">
                <a:solidFill>
                  <a:schemeClr val="tx1"/>
                </a:solidFill>
                <a:latin typeface="Times" pitchFamily="4" charset="0"/>
                <a:ea typeface="ＭＳ Ｐゴシック" pitchFamily="4" charset="-128"/>
              </a:defRPr>
            </a:lvl3pPr>
            <a:lvl4pPr marL="1600200" indent="-228600">
              <a:defRPr sz="2400">
                <a:solidFill>
                  <a:schemeClr val="tx1"/>
                </a:solidFill>
                <a:latin typeface="Times" pitchFamily="4" charset="0"/>
                <a:ea typeface="ＭＳ Ｐゴシック" pitchFamily="4" charset="-128"/>
              </a:defRPr>
            </a:lvl4pPr>
            <a:lvl5pPr marL="2057400" indent="-228600">
              <a:defRPr sz="2400">
                <a:solidFill>
                  <a:schemeClr val="tx1"/>
                </a:solidFill>
                <a:latin typeface="Times" pitchFamily="4" charset="0"/>
                <a:ea typeface="ＭＳ Ｐゴシック" pitchFamily="4" charset="-128"/>
              </a:defRPr>
            </a:lvl5pPr>
            <a:lvl6pPr marL="2514600" indent="-228600" eaLnBrk="0" fontAlgn="base" hangingPunct="0">
              <a:spcBef>
                <a:spcPct val="0"/>
              </a:spcBef>
              <a:spcAft>
                <a:spcPct val="0"/>
              </a:spcAft>
              <a:defRPr sz="2400">
                <a:solidFill>
                  <a:schemeClr val="tx1"/>
                </a:solidFill>
                <a:latin typeface="Times" pitchFamily="4" charset="0"/>
                <a:ea typeface="ＭＳ Ｐゴシック" pitchFamily="4" charset="-128"/>
              </a:defRPr>
            </a:lvl6pPr>
            <a:lvl7pPr marL="2971800" indent="-228600" eaLnBrk="0" fontAlgn="base" hangingPunct="0">
              <a:spcBef>
                <a:spcPct val="0"/>
              </a:spcBef>
              <a:spcAft>
                <a:spcPct val="0"/>
              </a:spcAft>
              <a:defRPr sz="2400">
                <a:solidFill>
                  <a:schemeClr val="tx1"/>
                </a:solidFill>
                <a:latin typeface="Times" pitchFamily="4" charset="0"/>
                <a:ea typeface="ＭＳ Ｐゴシック" pitchFamily="4" charset="-128"/>
              </a:defRPr>
            </a:lvl7pPr>
            <a:lvl8pPr marL="3429000" indent="-228600" eaLnBrk="0" fontAlgn="base" hangingPunct="0">
              <a:spcBef>
                <a:spcPct val="0"/>
              </a:spcBef>
              <a:spcAft>
                <a:spcPct val="0"/>
              </a:spcAft>
              <a:defRPr sz="2400">
                <a:solidFill>
                  <a:schemeClr val="tx1"/>
                </a:solidFill>
                <a:latin typeface="Times" pitchFamily="4" charset="0"/>
                <a:ea typeface="ＭＳ Ｐゴシック" pitchFamily="4" charset="-128"/>
              </a:defRPr>
            </a:lvl8pPr>
            <a:lvl9pPr marL="3886200" indent="-228600" eaLnBrk="0" fontAlgn="base" hangingPunct="0">
              <a:spcBef>
                <a:spcPct val="0"/>
              </a:spcBef>
              <a:spcAft>
                <a:spcPct val="0"/>
              </a:spcAft>
              <a:defRPr sz="2400">
                <a:solidFill>
                  <a:schemeClr val="tx1"/>
                </a:solidFill>
                <a:latin typeface="Times" pitchFamily="4" charset="0"/>
                <a:ea typeface="ＭＳ Ｐゴシック" pitchFamily="4" charset="-128"/>
              </a:defRPr>
            </a:lvl9pPr>
          </a:lstStyle>
          <a:p>
            <a:r>
              <a:rPr lang="en-US" altLang="en-US" sz="1600" dirty="0">
                <a:latin typeface="Arial" charset="0"/>
              </a:rPr>
              <a:t>Existing </a:t>
            </a:r>
          </a:p>
          <a:p>
            <a:r>
              <a:rPr lang="en-US" altLang="en-US" sz="1600" dirty="0">
                <a:latin typeface="Arial" charset="0"/>
              </a:rPr>
              <a:t>mortgage</a:t>
            </a:r>
          </a:p>
        </p:txBody>
      </p:sp>
      <p:cxnSp>
        <p:nvCxnSpPr>
          <p:cNvPr id="51" name="Straight Arrow Connector 22"/>
          <p:cNvCxnSpPr>
            <a:cxnSpLocks noChangeShapeType="1"/>
          </p:cNvCxnSpPr>
          <p:nvPr/>
        </p:nvCxnSpPr>
        <p:spPr bwMode="auto">
          <a:xfrm flipV="1">
            <a:off x="5724128" y="2200359"/>
            <a:ext cx="1080120" cy="33855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56" name="TextBox 13"/>
          <p:cNvSpPr txBox="1">
            <a:spLocks noChangeArrowheads="1"/>
          </p:cNvSpPr>
          <p:nvPr/>
        </p:nvSpPr>
        <p:spPr bwMode="auto">
          <a:xfrm>
            <a:off x="5233959" y="1784861"/>
            <a:ext cx="157028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itchFamily="4" charset="0"/>
                <a:ea typeface="ＭＳ Ｐゴシック" pitchFamily="4" charset="-128"/>
              </a:defRPr>
            </a:lvl1pPr>
            <a:lvl2pPr marL="37931725" indent="-37474525">
              <a:defRPr sz="2400">
                <a:solidFill>
                  <a:schemeClr val="tx1"/>
                </a:solidFill>
                <a:latin typeface="Times" pitchFamily="4" charset="0"/>
                <a:ea typeface="ＭＳ Ｐゴシック" pitchFamily="4" charset="-128"/>
              </a:defRPr>
            </a:lvl2pPr>
            <a:lvl3pPr marL="1143000" indent="-228600">
              <a:defRPr sz="2400">
                <a:solidFill>
                  <a:schemeClr val="tx1"/>
                </a:solidFill>
                <a:latin typeface="Times" pitchFamily="4" charset="0"/>
                <a:ea typeface="ＭＳ Ｐゴシック" pitchFamily="4" charset="-128"/>
              </a:defRPr>
            </a:lvl3pPr>
            <a:lvl4pPr marL="1600200" indent="-228600">
              <a:defRPr sz="2400">
                <a:solidFill>
                  <a:schemeClr val="tx1"/>
                </a:solidFill>
                <a:latin typeface="Times" pitchFamily="4" charset="0"/>
                <a:ea typeface="ＭＳ Ｐゴシック" pitchFamily="4" charset="-128"/>
              </a:defRPr>
            </a:lvl4pPr>
            <a:lvl5pPr marL="2057400" indent="-228600">
              <a:defRPr sz="2400">
                <a:solidFill>
                  <a:schemeClr val="tx1"/>
                </a:solidFill>
                <a:latin typeface="Times" pitchFamily="4" charset="0"/>
                <a:ea typeface="ＭＳ Ｐゴシック" pitchFamily="4" charset="-128"/>
              </a:defRPr>
            </a:lvl5pPr>
            <a:lvl6pPr marL="2514600" indent="-228600" eaLnBrk="0" fontAlgn="base" hangingPunct="0">
              <a:spcBef>
                <a:spcPct val="0"/>
              </a:spcBef>
              <a:spcAft>
                <a:spcPct val="0"/>
              </a:spcAft>
              <a:defRPr sz="2400">
                <a:solidFill>
                  <a:schemeClr val="tx1"/>
                </a:solidFill>
                <a:latin typeface="Times" pitchFamily="4" charset="0"/>
                <a:ea typeface="ＭＳ Ｐゴシック" pitchFamily="4" charset="-128"/>
              </a:defRPr>
            </a:lvl6pPr>
            <a:lvl7pPr marL="2971800" indent="-228600" eaLnBrk="0" fontAlgn="base" hangingPunct="0">
              <a:spcBef>
                <a:spcPct val="0"/>
              </a:spcBef>
              <a:spcAft>
                <a:spcPct val="0"/>
              </a:spcAft>
              <a:defRPr sz="2400">
                <a:solidFill>
                  <a:schemeClr val="tx1"/>
                </a:solidFill>
                <a:latin typeface="Times" pitchFamily="4" charset="0"/>
                <a:ea typeface="ＭＳ Ｐゴシック" pitchFamily="4" charset="-128"/>
              </a:defRPr>
            </a:lvl7pPr>
            <a:lvl8pPr marL="3429000" indent="-228600" eaLnBrk="0" fontAlgn="base" hangingPunct="0">
              <a:spcBef>
                <a:spcPct val="0"/>
              </a:spcBef>
              <a:spcAft>
                <a:spcPct val="0"/>
              </a:spcAft>
              <a:defRPr sz="2400">
                <a:solidFill>
                  <a:schemeClr val="tx1"/>
                </a:solidFill>
                <a:latin typeface="Times" pitchFamily="4" charset="0"/>
                <a:ea typeface="ＭＳ Ｐゴシック" pitchFamily="4" charset="-128"/>
              </a:defRPr>
            </a:lvl8pPr>
            <a:lvl9pPr marL="3886200" indent="-228600" eaLnBrk="0" fontAlgn="base" hangingPunct="0">
              <a:spcBef>
                <a:spcPct val="0"/>
              </a:spcBef>
              <a:spcAft>
                <a:spcPct val="0"/>
              </a:spcAft>
              <a:defRPr sz="2400">
                <a:solidFill>
                  <a:schemeClr val="tx1"/>
                </a:solidFill>
                <a:latin typeface="Times" pitchFamily="4" charset="0"/>
                <a:ea typeface="ＭＳ Ｐゴシック" pitchFamily="4" charset="-128"/>
              </a:defRPr>
            </a:lvl9pPr>
          </a:lstStyle>
          <a:p>
            <a:r>
              <a:rPr lang="en-US" altLang="en-US" sz="1600" dirty="0">
                <a:latin typeface="Arial" charset="0"/>
              </a:rPr>
              <a:t>Transfer money to</a:t>
            </a:r>
            <a:endParaRPr lang="en-US" altLang="en-US" sz="1600" dirty="0">
              <a:solidFill>
                <a:srgbClr val="FF0000"/>
              </a:solidFill>
              <a:latin typeface="Arial" charset="0"/>
            </a:endParaRPr>
          </a:p>
        </p:txBody>
      </p:sp>
      <p:sp>
        <p:nvSpPr>
          <p:cNvPr id="57" name="Rectangle 56"/>
          <p:cNvSpPr>
            <a:spLocks noChangeArrowheads="1"/>
          </p:cNvSpPr>
          <p:nvPr/>
        </p:nvSpPr>
        <p:spPr bwMode="auto">
          <a:xfrm>
            <a:off x="7414900" y="4610100"/>
            <a:ext cx="1066800" cy="838200"/>
          </a:xfrm>
          <a:prstGeom prst="rect">
            <a:avLst/>
          </a:prstGeom>
          <a:solidFill>
            <a:srgbClr val="606060"/>
          </a:solidFill>
          <a:ln w="9525">
            <a:solidFill>
              <a:srgbClr val="2F2F98"/>
            </a:solidFill>
            <a:miter lim="800000"/>
            <a:headEnd/>
            <a:tailEnd/>
          </a:ln>
          <a:effectLst>
            <a:outerShdw blurRad="40000" dist="20000" dir="5400000" rotWithShape="0">
              <a:srgbClr val="808080">
                <a:alpha val="37999"/>
              </a:srgbClr>
            </a:outerShdw>
          </a:effectLst>
        </p:spPr>
        <p:txBody>
          <a:bodyPr/>
          <a:lstStyle/>
          <a:p>
            <a:pPr>
              <a:defRPr/>
            </a:pPr>
            <a:r>
              <a:rPr lang="en-US" sz="1800" dirty="0" err="1">
                <a:solidFill>
                  <a:srgbClr val="FFFFFF"/>
                </a:solidFill>
                <a:latin typeface="+mn-lt"/>
                <a:ea typeface="+mn-ea"/>
              </a:rPr>
              <a:t>Bajwa</a:t>
            </a:r>
            <a:r>
              <a:rPr lang="en-US" sz="1800" dirty="0">
                <a:solidFill>
                  <a:srgbClr val="FFFFFF"/>
                </a:solidFill>
                <a:latin typeface="+mn-lt"/>
                <a:ea typeface="+mn-ea"/>
              </a:rPr>
              <a:t> (Vendor)</a:t>
            </a:r>
          </a:p>
        </p:txBody>
      </p:sp>
      <p:cxnSp>
        <p:nvCxnSpPr>
          <p:cNvPr id="59" name="Straight Arrow Connector 22"/>
          <p:cNvCxnSpPr>
            <a:cxnSpLocks noChangeShapeType="1"/>
            <a:stCxn id="57" idx="1"/>
          </p:cNvCxnSpPr>
          <p:nvPr/>
        </p:nvCxnSpPr>
        <p:spPr bwMode="auto">
          <a:xfrm flipH="1" flipV="1">
            <a:off x="6409945" y="4520619"/>
            <a:ext cx="1004955" cy="508581"/>
          </a:xfrm>
          <a:prstGeom prst="straightConnector1">
            <a:avLst/>
          </a:prstGeom>
          <a:noFill/>
          <a:ln w="9525">
            <a:solidFill>
              <a:schemeClr val="tx1"/>
            </a:solidFill>
            <a:round/>
            <a:headEnd/>
            <a:tailEnd type="none" w="med" len="med"/>
          </a:ln>
          <a:extLst>
            <a:ext uri="{909E8E84-426E-40DD-AFC4-6F175D3DCCD1}">
              <a14:hiddenFill xmlns:a14="http://schemas.microsoft.com/office/drawing/2010/main">
                <a:noFill/>
              </a14:hiddenFill>
            </a:ext>
          </a:extLst>
        </p:spPr>
      </p:cxnSp>
      <p:sp>
        <p:nvSpPr>
          <p:cNvPr id="61" name="TextBox 13"/>
          <p:cNvSpPr txBox="1">
            <a:spLocks noChangeArrowheads="1"/>
          </p:cNvSpPr>
          <p:nvPr/>
        </p:nvSpPr>
        <p:spPr bwMode="auto">
          <a:xfrm>
            <a:off x="6465428" y="4837956"/>
            <a:ext cx="78514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itchFamily="4" charset="0"/>
                <a:ea typeface="ＭＳ Ｐゴシック" pitchFamily="4" charset="-128"/>
              </a:defRPr>
            </a:lvl1pPr>
            <a:lvl2pPr marL="37931725" indent="-37474525">
              <a:defRPr sz="2400">
                <a:solidFill>
                  <a:schemeClr val="tx1"/>
                </a:solidFill>
                <a:latin typeface="Times" pitchFamily="4" charset="0"/>
                <a:ea typeface="ＭＳ Ｐゴシック" pitchFamily="4" charset="-128"/>
              </a:defRPr>
            </a:lvl2pPr>
            <a:lvl3pPr marL="1143000" indent="-228600">
              <a:defRPr sz="2400">
                <a:solidFill>
                  <a:schemeClr val="tx1"/>
                </a:solidFill>
                <a:latin typeface="Times" pitchFamily="4" charset="0"/>
                <a:ea typeface="ＭＳ Ｐゴシック" pitchFamily="4" charset="-128"/>
              </a:defRPr>
            </a:lvl3pPr>
            <a:lvl4pPr marL="1600200" indent="-228600">
              <a:defRPr sz="2400">
                <a:solidFill>
                  <a:schemeClr val="tx1"/>
                </a:solidFill>
                <a:latin typeface="Times" pitchFamily="4" charset="0"/>
                <a:ea typeface="ＭＳ Ｐゴシック" pitchFamily="4" charset="-128"/>
              </a:defRPr>
            </a:lvl4pPr>
            <a:lvl5pPr marL="2057400" indent="-228600">
              <a:defRPr sz="2400">
                <a:solidFill>
                  <a:schemeClr val="tx1"/>
                </a:solidFill>
                <a:latin typeface="Times" pitchFamily="4" charset="0"/>
                <a:ea typeface="ＭＳ Ｐゴシック" pitchFamily="4" charset="-128"/>
              </a:defRPr>
            </a:lvl5pPr>
            <a:lvl6pPr marL="2514600" indent="-228600" eaLnBrk="0" fontAlgn="base" hangingPunct="0">
              <a:spcBef>
                <a:spcPct val="0"/>
              </a:spcBef>
              <a:spcAft>
                <a:spcPct val="0"/>
              </a:spcAft>
              <a:defRPr sz="2400">
                <a:solidFill>
                  <a:schemeClr val="tx1"/>
                </a:solidFill>
                <a:latin typeface="Times" pitchFamily="4" charset="0"/>
                <a:ea typeface="ＭＳ Ｐゴシック" pitchFamily="4" charset="-128"/>
              </a:defRPr>
            </a:lvl6pPr>
            <a:lvl7pPr marL="2971800" indent="-228600" eaLnBrk="0" fontAlgn="base" hangingPunct="0">
              <a:spcBef>
                <a:spcPct val="0"/>
              </a:spcBef>
              <a:spcAft>
                <a:spcPct val="0"/>
              </a:spcAft>
              <a:defRPr sz="2400">
                <a:solidFill>
                  <a:schemeClr val="tx1"/>
                </a:solidFill>
                <a:latin typeface="Times" pitchFamily="4" charset="0"/>
                <a:ea typeface="ＭＳ Ｐゴシック" pitchFamily="4" charset="-128"/>
              </a:defRPr>
            </a:lvl7pPr>
            <a:lvl8pPr marL="3429000" indent="-228600" eaLnBrk="0" fontAlgn="base" hangingPunct="0">
              <a:spcBef>
                <a:spcPct val="0"/>
              </a:spcBef>
              <a:spcAft>
                <a:spcPct val="0"/>
              </a:spcAft>
              <a:defRPr sz="2400">
                <a:solidFill>
                  <a:schemeClr val="tx1"/>
                </a:solidFill>
                <a:latin typeface="Times" pitchFamily="4" charset="0"/>
                <a:ea typeface="ＭＳ Ｐゴシック" pitchFamily="4" charset="-128"/>
              </a:defRPr>
            </a:lvl8pPr>
            <a:lvl9pPr marL="3886200" indent="-228600" eaLnBrk="0" fontAlgn="base" hangingPunct="0">
              <a:spcBef>
                <a:spcPct val="0"/>
              </a:spcBef>
              <a:spcAft>
                <a:spcPct val="0"/>
              </a:spcAft>
              <a:defRPr sz="2400">
                <a:solidFill>
                  <a:schemeClr val="tx1"/>
                </a:solidFill>
                <a:latin typeface="Times" pitchFamily="4" charset="0"/>
                <a:ea typeface="ＭＳ Ｐゴシック" pitchFamily="4" charset="-128"/>
              </a:defRPr>
            </a:lvl9pPr>
          </a:lstStyle>
          <a:p>
            <a:r>
              <a:rPr lang="en-US" altLang="en-US" sz="1600" dirty="0">
                <a:latin typeface="Arial" charset="0"/>
              </a:rPr>
              <a:t>Owns</a:t>
            </a:r>
            <a:endParaRPr lang="en-US" altLang="en-US" sz="1600" dirty="0">
              <a:solidFill>
                <a:srgbClr val="FF0000"/>
              </a:solidFill>
              <a:latin typeface="Arial" charset="0"/>
            </a:endParaRPr>
          </a:p>
        </p:txBody>
      </p:sp>
      <p:sp>
        <p:nvSpPr>
          <p:cNvPr id="69" name="Rectangle 68"/>
          <p:cNvSpPr>
            <a:spLocks noChangeArrowheads="1"/>
          </p:cNvSpPr>
          <p:nvPr/>
        </p:nvSpPr>
        <p:spPr bwMode="auto">
          <a:xfrm>
            <a:off x="7414900" y="4610390"/>
            <a:ext cx="1424300" cy="838200"/>
          </a:xfrm>
          <a:prstGeom prst="rect">
            <a:avLst/>
          </a:prstGeom>
          <a:solidFill>
            <a:srgbClr val="606060"/>
          </a:solidFill>
          <a:ln w="9525">
            <a:solidFill>
              <a:srgbClr val="2F2F98"/>
            </a:solidFill>
            <a:miter lim="800000"/>
            <a:headEnd/>
            <a:tailEnd/>
          </a:ln>
          <a:effectLst>
            <a:outerShdw blurRad="40000" dist="20000" dir="5400000" rotWithShape="0">
              <a:srgbClr val="808080">
                <a:alpha val="37999"/>
              </a:srgbClr>
            </a:outerShdw>
          </a:effectLst>
        </p:spPr>
        <p:txBody>
          <a:bodyPr/>
          <a:lstStyle/>
          <a:p>
            <a:pPr>
              <a:defRPr/>
            </a:pPr>
            <a:r>
              <a:rPr lang="en-US" sz="1800" dirty="0">
                <a:solidFill>
                  <a:srgbClr val="FFFFFF"/>
                </a:solidFill>
                <a:latin typeface="+mn-lt"/>
                <a:ea typeface="+mn-ea"/>
              </a:rPr>
              <a:t>Creditor (Boscawen)</a:t>
            </a:r>
          </a:p>
        </p:txBody>
      </p:sp>
      <p:sp>
        <p:nvSpPr>
          <p:cNvPr id="70" name="Rectangle 69"/>
          <p:cNvSpPr/>
          <p:nvPr/>
        </p:nvSpPr>
        <p:spPr bwMode="auto">
          <a:xfrm>
            <a:off x="4419600" y="3429000"/>
            <a:ext cx="1981200" cy="1371600"/>
          </a:xfrm>
          <a:prstGeom prst="rect">
            <a:avLst/>
          </a:prstGeom>
          <a:solidFill>
            <a:schemeClr val="accent2"/>
          </a:solidFill>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anchor="ctr"/>
          <a:lstStyle>
            <a:lvl1pPr>
              <a:defRPr sz="2400">
                <a:solidFill>
                  <a:schemeClr val="tx1"/>
                </a:solidFill>
                <a:latin typeface="Times" pitchFamily="4" charset="0"/>
                <a:ea typeface="ＭＳ Ｐゴシック" pitchFamily="4" charset="-128"/>
              </a:defRPr>
            </a:lvl1pPr>
            <a:lvl2pPr marL="37931725" indent="-37474525">
              <a:defRPr sz="2400">
                <a:solidFill>
                  <a:schemeClr val="tx1"/>
                </a:solidFill>
                <a:latin typeface="Times" pitchFamily="4" charset="0"/>
                <a:ea typeface="ＭＳ Ｐゴシック" pitchFamily="4" charset="-128"/>
              </a:defRPr>
            </a:lvl2pPr>
            <a:lvl3pPr>
              <a:defRPr sz="2400">
                <a:solidFill>
                  <a:schemeClr val="tx1"/>
                </a:solidFill>
                <a:latin typeface="Times" pitchFamily="4" charset="0"/>
                <a:ea typeface="ＭＳ Ｐゴシック" pitchFamily="4" charset="-128"/>
              </a:defRPr>
            </a:lvl3pPr>
            <a:lvl4pPr>
              <a:defRPr sz="2400">
                <a:solidFill>
                  <a:schemeClr val="tx1"/>
                </a:solidFill>
                <a:latin typeface="Times" pitchFamily="4" charset="0"/>
                <a:ea typeface="ＭＳ Ｐゴシック" pitchFamily="4" charset="-128"/>
              </a:defRPr>
            </a:lvl4pPr>
            <a:lvl5pPr>
              <a:defRPr sz="2400">
                <a:solidFill>
                  <a:schemeClr val="tx1"/>
                </a:solidFill>
                <a:latin typeface="Times" pitchFamily="4" charset="0"/>
                <a:ea typeface="ＭＳ Ｐゴシック" pitchFamily="4" charset="-128"/>
              </a:defRPr>
            </a:lvl5pPr>
            <a:lvl6pPr marL="457200" eaLnBrk="0" fontAlgn="base" hangingPunct="0">
              <a:spcBef>
                <a:spcPct val="0"/>
              </a:spcBef>
              <a:spcAft>
                <a:spcPct val="0"/>
              </a:spcAft>
              <a:defRPr sz="2400">
                <a:solidFill>
                  <a:schemeClr val="tx1"/>
                </a:solidFill>
                <a:latin typeface="Times" pitchFamily="4" charset="0"/>
                <a:ea typeface="ＭＳ Ｐゴシック" pitchFamily="4" charset="-128"/>
              </a:defRPr>
            </a:lvl6pPr>
            <a:lvl7pPr marL="914400" eaLnBrk="0" fontAlgn="base" hangingPunct="0">
              <a:spcBef>
                <a:spcPct val="0"/>
              </a:spcBef>
              <a:spcAft>
                <a:spcPct val="0"/>
              </a:spcAft>
              <a:defRPr sz="2400">
                <a:solidFill>
                  <a:schemeClr val="tx1"/>
                </a:solidFill>
                <a:latin typeface="Times" pitchFamily="4" charset="0"/>
                <a:ea typeface="ＭＳ Ｐゴシック" pitchFamily="4" charset="-128"/>
              </a:defRPr>
            </a:lvl7pPr>
            <a:lvl8pPr marL="1371600" eaLnBrk="0" fontAlgn="base" hangingPunct="0">
              <a:spcBef>
                <a:spcPct val="0"/>
              </a:spcBef>
              <a:spcAft>
                <a:spcPct val="0"/>
              </a:spcAft>
              <a:defRPr sz="2400">
                <a:solidFill>
                  <a:schemeClr val="tx1"/>
                </a:solidFill>
                <a:latin typeface="Times" pitchFamily="4" charset="0"/>
                <a:ea typeface="ＭＳ Ｐゴシック" pitchFamily="4" charset="-128"/>
              </a:defRPr>
            </a:lvl8pPr>
            <a:lvl9pPr marL="1828800" eaLnBrk="0" fontAlgn="base" hangingPunct="0">
              <a:spcBef>
                <a:spcPct val="0"/>
              </a:spcBef>
              <a:spcAft>
                <a:spcPct val="0"/>
              </a:spcAft>
              <a:defRPr sz="2400">
                <a:solidFill>
                  <a:schemeClr val="tx1"/>
                </a:solidFill>
                <a:latin typeface="Times" pitchFamily="4" charset="0"/>
                <a:ea typeface="ＭＳ Ｐゴシック" pitchFamily="4" charset="-128"/>
              </a:defRPr>
            </a:lvl9pPr>
          </a:lstStyle>
          <a:p>
            <a:pPr algn="ctr">
              <a:defRPr/>
            </a:pPr>
            <a:r>
              <a:rPr lang="en-US" altLang="en-US" dirty="0">
                <a:solidFill>
                  <a:schemeClr val="bg1"/>
                </a:solidFill>
                <a:latin typeface="Arial" charset="0"/>
              </a:rPr>
              <a:t>£105k </a:t>
            </a:r>
          </a:p>
        </p:txBody>
      </p:sp>
      <p:cxnSp>
        <p:nvCxnSpPr>
          <p:cNvPr id="71" name="Elbow Connector 27"/>
          <p:cNvCxnSpPr>
            <a:cxnSpLocks noChangeShapeType="1"/>
          </p:cNvCxnSpPr>
          <p:nvPr/>
        </p:nvCxnSpPr>
        <p:spPr bwMode="auto">
          <a:xfrm flipV="1">
            <a:off x="2997300" y="2200359"/>
            <a:ext cx="3736032" cy="3019341"/>
          </a:xfrm>
          <a:prstGeom prst="bentConnector3">
            <a:avLst>
              <a:gd name="adj1" fmla="val 30328"/>
            </a:avLst>
          </a:prstGeom>
          <a:noFill/>
          <a:ln w="28575">
            <a:solidFill>
              <a:srgbClr val="FF0000"/>
            </a:solidFill>
            <a:prstDash val="lgDash"/>
            <a:round/>
            <a:headEnd/>
            <a:tailEnd type="arrow"/>
          </a:ln>
          <a:extLst>
            <a:ext uri="{909E8E84-426E-40DD-AFC4-6F175D3DCCD1}">
              <a14:hiddenFill xmlns:a14="http://schemas.microsoft.com/office/drawing/2010/main">
                <a:noFill/>
              </a14:hiddenFill>
            </a:ext>
          </a:extLst>
        </p:spPr>
      </p:cxnSp>
      <p:sp>
        <p:nvSpPr>
          <p:cNvPr id="76" name="TextBox 13"/>
          <p:cNvSpPr txBox="1">
            <a:spLocks noChangeArrowheads="1"/>
          </p:cNvSpPr>
          <p:nvPr/>
        </p:nvSpPr>
        <p:spPr bwMode="auto">
          <a:xfrm>
            <a:off x="2627784" y="3758935"/>
            <a:ext cx="161953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itchFamily="4" charset="0"/>
                <a:ea typeface="ＭＳ Ｐゴシック" pitchFamily="4" charset="-128"/>
              </a:defRPr>
            </a:lvl1pPr>
            <a:lvl2pPr marL="37931725" indent="-37474525">
              <a:defRPr sz="2400">
                <a:solidFill>
                  <a:schemeClr val="tx1"/>
                </a:solidFill>
                <a:latin typeface="Times" pitchFamily="4" charset="0"/>
                <a:ea typeface="ＭＳ Ｐゴシック" pitchFamily="4" charset="-128"/>
              </a:defRPr>
            </a:lvl2pPr>
            <a:lvl3pPr marL="1143000" indent="-228600">
              <a:defRPr sz="2400">
                <a:solidFill>
                  <a:schemeClr val="tx1"/>
                </a:solidFill>
                <a:latin typeface="Times" pitchFamily="4" charset="0"/>
                <a:ea typeface="ＭＳ Ｐゴシック" pitchFamily="4" charset="-128"/>
              </a:defRPr>
            </a:lvl3pPr>
            <a:lvl4pPr marL="1600200" indent="-228600">
              <a:defRPr sz="2400">
                <a:solidFill>
                  <a:schemeClr val="tx1"/>
                </a:solidFill>
                <a:latin typeface="Times" pitchFamily="4" charset="0"/>
                <a:ea typeface="ＭＳ Ｐゴシック" pitchFamily="4" charset="-128"/>
              </a:defRPr>
            </a:lvl4pPr>
            <a:lvl5pPr marL="2057400" indent="-228600">
              <a:defRPr sz="2400">
                <a:solidFill>
                  <a:schemeClr val="tx1"/>
                </a:solidFill>
                <a:latin typeface="Times" pitchFamily="4" charset="0"/>
                <a:ea typeface="ＭＳ Ｐゴシック" pitchFamily="4" charset="-128"/>
              </a:defRPr>
            </a:lvl5pPr>
            <a:lvl6pPr marL="2514600" indent="-228600" eaLnBrk="0" fontAlgn="base" hangingPunct="0">
              <a:spcBef>
                <a:spcPct val="0"/>
              </a:spcBef>
              <a:spcAft>
                <a:spcPct val="0"/>
              </a:spcAft>
              <a:defRPr sz="2400">
                <a:solidFill>
                  <a:schemeClr val="tx1"/>
                </a:solidFill>
                <a:latin typeface="Times" pitchFamily="4" charset="0"/>
                <a:ea typeface="ＭＳ Ｐゴシック" pitchFamily="4" charset="-128"/>
              </a:defRPr>
            </a:lvl6pPr>
            <a:lvl7pPr marL="2971800" indent="-228600" eaLnBrk="0" fontAlgn="base" hangingPunct="0">
              <a:spcBef>
                <a:spcPct val="0"/>
              </a:spcBef>
              <a:spcAft>
                <a:spcPct val="0"/>
              </a:spcAft>
              <a:defRPr sz="2400">
                <a:solidFill>
                  <a:schemeClr val="tx1"/>
                </a:solidFill>
                <a:latin typeface="Times" pitchFamily="4" charset="0"/>
                <a:ea typeface="ＭＳ Ｐゴシック" pitchFamily="4" charset="-128"/>
              </a:defRPr>
            </a:lvl7pPr>
            <a:lvl8pPr marL="3429000" indent="-228600" eaLnBrk="0" fontAlgn="base" hangingPunct="0">
              <a:spcBef>
                <a:spcPct val="0"/>
              </a:spcBef>
              <a:spcAft>
                <a:spcPct val="0"/>
              </a:spcAft>
              <a:defRPr sz="2400">
                <a:solidFill>
                  <a:schemeClr val="tx1"/>
                </a:solidFill>
                <a:latin typeface="Times" pitchFamily="4" charset="0"/>
                <a:ea typeface="ＭＳ Ｐゴシック" pitchFamily="4" charset="-128"/>
              </a:defRPr>
            </a:lvl8pPr>
            <a:lvl9pPr marL="3886200" indent="-228600" eaLnBrk="0" fontAlgn="base" hangingPunct="0">
              <a:spcBef>
                <a:spcPct val="0"/>
              </a:spcBef>
              <a:spcAft>
                <a:spcPct val="0"/>
              </a:spcAft>
              <a:defRPr sz="2400">
                <a:solidFill>
                  <a:schemeClr val="tx1"/>
                </a:solidFill>
                <a:latin typeface="Times" pitchFamily="4" charset="0"/>
                <a:ea typeface="ＭＳ Ｐゴシック" pitchFamily="4" charset="-128"/>
              </a:defRPr>
            </a:lvl9pPr>
          </a:lstStyle>
          <a:p>
            <a:r>
              <a:rPr lang="en-US" altLang="en-US" sz="1600" b="1" dirty="0">
                <a:solidFill>
                  <a:srgbClr val="FF0000"/>
                </a:solidFill>
                <a:latin typeface="Arial" charset="0"/>
              </a:rPr>
              <a:t>Subrogation</a:t>
            </a:r>
          </a:p>
        </p:txBody>
      </p:sp>
      <p:sp>
        <p:nvSpPr>
          <p:cNvPr id="2" name="Rectangle 1">
            <a:extLst>
              <a:ext uri="{FF2B5EF4-FFF2-40B4-BE49-F238E27FC236}">
                <a16:creationId xmlns:a16="http://schemas.microsoft.com/office/drawing/2014/main" id="{94675447-C4E9-963E-9D45-9929A5218956}"/>
              </a:ext>
            </a:extLst>
          </p:cNvPr>
          <p:cNvSpPr>
            <a:spLocks noChangeArrowheads="1"/>
          </p:cNvSpPr>
          <p:nvPr/>
        </p:nvSpPr>
        <p:spPr bwMode="auto">
          <a:xfrm>
            <a:off x="2438400" y="5663770"/>
            <a:ext cx="1981200" cy="381000"/>
          </a:xfrm>
          <a:prstGeom prst="rect">
            <a:avLst/>
          </a:prstGeom>
          <a:solidFill>
            <a:srgbClr val="FF0000"/>
          </a:solidFill>
          <a:ln w="3175">
            <a:solidFill>
              <a:srgbClr val="2F2F98"/>
            </a:solidFill>
            <a:miter lim="800000"/>
            <a:headEnd/>
            <a:tailEnd/>
          </a:ln>
          <a:effectLst>
            <a:outerShdw blurRad="40000" dist="20000" dir="5400000" rotWithShape="0">
              <a:srgbClr val="808080">
                <a:alpha val="37999"/>
              </a:srgbClr>
            </a:outerShdw>
          </a:effectLst>
        </p:spPr>
        <p:txBody>
          <a:bodyPr/>
          <a:lstStyle>
            <a:defPPr>
              <a:defRPr lang="en-GB"/>
            </a:defPPr>
            <a:lvl1pPr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anose="02020603050405020304" pitchFamily="18" charset="0"/>
                <a:ea typeface="ＭＳ Ｐゴシック" panose="020B0600070205080204" pitchFamily="34" charset="-128"/>
                <a:cs typeface="+mn-cs"/>
              </a:defRPr>
            </a:lvl9pPr>
          </a:lstStyle>
          <a:p>
            <a:pPr>
              <a:defRPr/>
            </a:pPr>
            <a:r>
              <a:rPr lang="en-US" sz="1800" dirty="0">
                <a:solidFill>
                  <a:schemeClr val="bg1"/>
                </a:solidFill>
                <a:highlight>
                  <a:srgbClr val="FF0000"/>
                </a:highlight>
                <a:latin typeface="+mn-lt"/>
                <a:ea typeface="+mn-ea"/>
              </a:rPr>
              <a:t>Sale falls through</a:t>
            </a:r>
          </a:p>
        </p:txBody>
      </p:sp>
    </p:spTree>
    <p:extLst>
      <p:ext uri="{BB962C8B-B14F-4D97-AF65-F5344CB8AC3E}">
        <p14:creationId xmlns:p14="http://schemas.microsoft.com/office/powerpoint/2010/main" val="1190157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18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8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17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17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18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17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17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17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717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42"/>
                                        </p:tgtEl>
                                        <p:attrNameLst>
                                          <p:attrName>style.visibility</p:attrName>
                                        </p:attrNameLst>
                                      </p:cBhvr>
                                      <p:to>
                                        <p:strVal val="hidden"/>
                                      </p:to>
                                    </p:set>
                                  </p:childTnLst>
                                </p:cTn>
                              </p:par>
                              <p:par>
                                <p:cTn id="63" presetID="1" presetClass="exit" presetSubtype="0" fill="hold" nodeType="withEffect">
                                  <p:stCondLst>
                                    <p:cond delay="0"/>
                                  </p:stCondLst>
                                  <p:childTnLst>
                                    <p:set>
                                      <p:cBhvr>
                                        <p:cTn id="64" dur="1" fill="hold">
                                          <p:stCondLst>
                                            <p:cond delay="0"/>
                                          </p:stCondLst>
                                        </p:cTn>
                                        <p:tgtEl>
                                          <p:spTgt spid="7185"/>
                                        </p:tgtEl>
                                        <p:attrNameLst>
                                          <p:attrName>style.visibility</p:attrName>
                                        </p:attrNameLst>
                                      </p:cBhvr>
                                      <p:to>
                                        <p:strVal val="hidden"/>
                                      </p:to>
                                    </p:set>
                                  </p:childTnLst>
                                </p:cTn>
                              </p:par>
                              <p:par>
                                <p:cTn id="65" presetID="1" presetClass="exit" presetSubtype="0" fill="hold" grpId="1" nodeType="withEffect">
                                  <p:stCondLst>
                                    <p:cond delay="0"/>
                                  </p:stCondLst>
                                  <p:childTnLst>
                                    <p:set>
                                      <p:cBhvr>
                                        <p:cTn id="66" dur="1" fill="hold">
                                          <p:stCondLst>
                                            <p:cond delay="0"/>
                                          </p:stCondLst>
                                        </p:cTn>
                                        <p:tgtEl>
                                          <p:spTgt spid="50"/>
                                        </p:tgtEl>
                                        <p:attrNameLst>
                                          <p:attrName>style.visibility</p:attrName>
                                        </p:attrNameLst>
                                      </p:cBhvr>
                                      <p:to>
                                        <p:strVal val="hidden"/>
                                      </p:to>
                                    </p:set>
                                  </p:childTnLst>
                                </p:cTn>
                              </p:par>
                              <p:par>
                                <p:cTn id="67" presetID="1" presetClass="exit" presetSubtype="0" fill="hold" grpId="1" nodeType="withEffect">
                                  <p:stCondLst>
                                    <p:cond delay="0"/>
                                  </p:stCondLst>
                                  <p:childTnLst>
                                    <p:set>
                                      <p:cBhvr>
                                        <p:cTn id="68" dur="1" fill="hold">
                                          <p:stCondLst>
                                            <p:cond delay="0"/>
                                          </p:stCondLst>
                                        </p:cTn>
                                        <p:tgtEl>
                                          <p:spTgt spid="56"/>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51"/>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26" presetClass="entr" presetSubtype="0" fill="hold" grpId="0" nodeType="clickEffect">
                                  <p:stCondLst>
                                    <p:cond delay="0"/>
                                  </p:stCondLst>
                                  <p:childTnLst>
                                    <p:set>
                                      <p:cBhvr>
                                        <p:cTn id="74" dur="1" fill="hold">
                                          <p:stCondLst>
                                            <p:cond delay="0"/>
                                          </p:stCondLst>
                                        </p:cTn>
                                        <p:tgtEl>
                                          <p:spTgt spid="2"/>
                                        </p:tgtEl>
                                        <p:attrNameLst>
                                          <p:attrName>style.visibility</p:attrName>
                                        </p:attrNameLst>
                                      </p:cBhvr>
                                      <p:to>
                                        <p:strVal val="visible"/>
                                      </p:to>
                                    </p:set>
                                    <p:animEffect transition="in" filter="wipe(down)">
                                      <p:cBhvr>
                                        <p:cTn id="75" dur="580">
                                          <p:stCondLst>
                                            <p:cond delay="0"/>
                                          </p:stCondLst>
                                        </p:cTn>
                                        <p:tgtEl>
                                          <p:spTgt spid="2"/>
                                        </p:tgtEl>
                                      </p:cBhvr>
                                    </p:animEffect>
                                    <p:anim calcmode="lin" valueType="num">
                                      <p:cBhvr>
                                        <p:cTn id="76"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77"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78"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79"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80"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81" dur="26">
                                          <p:stCondLst>
                                            <p:cond delay="650"/>
                                          </p:stCondLst>
                                        </p:cTn>
                                        <p:tgtEl>
                                          <p:spTgt spid="2"/>
                                        </p:tgtEl>
                                      </p:cBhvr>
                                      <p:to x="100000" y="60000"/>
                                    </p:animScale>
                                    <p:animScale>
                                      <p:cBhvr>
                                        <p:cTn id="82" dur="166" decel="50000">
                                          <p:stCondLst>
                                            <p:cond delay="676"/>
                                          </p:stCondLst>
                                        </p:cTn>
                                        <p:tgtEl>
                                          <p:spTgt spid="2"/>
                                        </p:tgtEl>
                                      </p:cBhvr>
                                      <p:to x="100000" y="100000"/>
                                    </p:animScale>
                                    <p:animScale>
                                      <p:cBhvr>
                                        <p:cTn id="83" dur="26">
                                          <p:stCondLst>
                                            <p:cond delay="1312"/>
                                          </p:stCondLst>
                                        </p:cTn>
                                        <p:tgtEl>
                                          <p:spTgt spid="2"/>
                                        </p:tgtEl>
                                      </p:cBhvr>
                                      <p:to x="100000" y="80000"/>
                                    </p:animScale>
                                    <p:animScale>
                                      <p:cBhvr>
                                        <p:cTn id="84" dur="166" decel="50000">
                                          <p:stCondLst>
                                            <p:cond delay="1338"/>
                                          </p:stCondLst>
                                        </p:cTn>
                                        <p:tgtEl>
                                          <p:spTgt spid="2"/>
                                        </p:tgtEl>
                                      </p:cBhvr>
                                      <p:to x="100000" y="100000"/>
                                    </p:animScale>
                                    <p:animScale>
                                      <p:cBhvr>
                                        <p:cTn id="85" dur="26">
                                          <p:stCondLst>
                                            <p:cond delay="1642"/>
                                          </p:stCondLst>
                                        </p:cTn>
                                        <p:tgtEl>
                                          <p:spTgt spid="2"/>
                                        </p:tgtEl>
                                      </p:cBhvr>
                                      <p:to x="100000" y="90000"/>
                                    </p:animScale>
                                    <p:animScale>
                                      <p:cBhvr>
                                        <p:cTn id="86" dur="166" decel="50000">
                                          <p:stCondLst>
                                            <p:cond delay="1668"/>
                                          </p:stCondLst>
                                        </p:cTn>
                                        <p:tgtEl>
                                          <p:spTgt spid="2"/>
                                        </p:tgtEl>
                                      </p:cBhvr>
                                      <p:to x="100000" y="100000"/>
                                    </p:animScale>
                                    <p:animScale>
                                      <p:cBhvr>
                                        <p:cTn id="87" dur="26">
                                          <p:stCondLst>
                                            <p:cond delay="1808"/>
                                          </p:stCondLst>
                                        </p:cTn>
                                        <p:tgtEl>
                                          <p:spTgt spid="2"/>
                                        </p:tgtEl>
                                      </p:cBhvr>
                                      <p:to x="100000" y="95000"/>
                                    </p:animScale>
                                    <p:animScale>
                                      <p:cBhvr>
                                        <p:cTn id="88" dur="166" decel="50000">
                                          <p:stCondLst>
                                            <p:cond delay="1834"/>
                                          </p:stCondLst>
                                        </p:cTn>
                                        <p:tgtEl>
                                          <p:spTgt spid="2"/>
                                        </p:tgtEl>
                                      </p:cBhvr>
                                      <p:to x="100000" y="100000"/>
                                    </p:animScale>
                                  </p:childTnLst>
                                </p:cTn>
                              </p:par>
                            </p:childTnLst>
                          </p:cTn>
                        </p:par>
                      </p:childTnLst>
                    </p:cTn>
                  </p:par>
                  <p:par>
                    <p:cTn id="89" fill="hold">
                      <p:stCondLst>
                        <p:cond delay="indefinite"/>
                      </p:stCondLst>
                      <p:childTnLst>
                        <p:par>
                          <p:cTn id="90" fill="hold">
                            <p:stCondLst>
                              <p:cond delay="0"/>
                            </p:stCondLst>
                            <p:childTnLst>
                              <p:par>
                                <p:cTn id="91" presetID="1" presetClass="exit" presetSubtype="0" fill="hold" nodeType="clickEffect">
                                  <p:stCondLst>
                                    <p:cond delay="0"/>
                                  </p:stCondLst>
                                  <p:childTnLst>
                                    <p:set>
                                      <p:cBhvr>
                                        <p:cTn id="92" dur="1" fill="hold">
                                          <p:stCondLst>
                                            <p:cond delay="0"/>
                                          </p:stCondLst>
                                        </p:cTn>
                                        <p:tgtEl>
                                          <p:spTgt spid="7181"/>
                                        </p:tgtEl>
                                        <p:attrNameLst>
                                          <p:attrName>style.visibility</p:attrName>
                                        </p:attrNameLst>
                                      </p:cBhvr>
                                      <p:to>
                                        <p:strVal val="hidden"/>
                                      </p:to>
                                    </p:set>
                                  </p:childTnLst>
                                </p:cTn>
                              </p:par>
                              <p:par>
                                <p:cTn id="93" presetID="1" presetClass="exit" presetSubtype="0" fill="hold" grpId="1" nodeType="withEffect">
                                  <p:stCondLst>
                                    <p:cond delay="0"/>
                                  </p:stCondLst>
                                  <p:childTnLst>
                                    <p:set>
                                      <p:cBhvr>
                                        <p:cTn id="94" dur="1" fill="hold">
                                          <p:stCondLst>
                                            <p:cond delay="0"/>
                                          </p:stCondLst>
                                        </p:cTn>
                                        <p:tgtEl>
                                          <p:spTgt spid="7174"/>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6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grpId="1" nodeType="clickEffect">
                                  <p:stCondLst>
                                    <p:cond delay="0"/>
                                  </p:stCondLst>
                                  <p:childTnLst>
                                    <p:set>
                                      <p:cBhvr>
                                        <p:cTn id="102" dur="1" fill="hold">
                                          <p:stCondLst>
                                            <p:cond delay="0"/>
                                          </p:stCondLst>
                                        </p:cTn>
                                        <p:tgtEl>
                                          <p:spTgt spid="57"/>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grpId="0" nodeType="clickEffect">
                                  <p:stCondLst>
                                    <p:cond delay="0"/>
                                  </p:stCondLst>
                                  <p:childTnLst>
                                    <p:set>
                                      <p:cBhvr>
                                        <p:cTn id="106" dur="1" fill="hold">
                                          <p:stCondLst>
                                            <p:cond delay="0"/>
                                          </p:stCondLst>
                                        </p:cTn>
                                        <p:tgtEl>
                                          <p:spTgt spid="16"/>
                                        </p:tgtEl>
                                        <p:attrNameLst>
                                          <p:attrName>style.visibility</p:attrName>
                                        </p:attrNameLst>
                                      </p:cBhvr>
                                      <p:to>
                                        <p:strVal val="hidden"/>
                                      </p:to>
                                    </p:set>
                                  </p:childTnLst>
                                </p:cTn>
                              </p:par>
                              <p:par>
                                <p:cTn id="107" presetID="1" presetClass="entr" presetSubtype="0" fill="hold" grpId="0" nodeType="withEffect">
                                  <p:stCondLst>
                                    <p:cond delay="0"/>
                                  </p:stCondLst>
                                  <p:childTnLst>
                                    <p:set>
                                      <p:cBhvr>
                                        <p:cTn id="108" dur="1" fill="hold">
                                          <p:stCondLst>
                                            <p:cond delay="0"/>
                                          </p:stCondLst>
                                        </p:cTn>
                                        <p:tgtEl>
                                          <p:spTgt spid="70"/>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2" nodeType="clickEffect">
                                  <p:stCondLst>
                                    <p:cond delay="0"/>
                                  </p:stCondLst>
                                  <p:childTnLst>
                                    <p:set>
                                      <p:cBhvr>
                                        <p:cTn id="112" dur="1" fill="hold">
                                          <p:stCondLst>
                                            <p:cond delay="0"/>
                                          </p:stCondLst>
                                        </p:cTn>
                                        <p:tgtEl>
                                          <p:spTgt spid="42"/>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7185"/>
                                        </p:tgtEl>
                                        <p:attrNameLst>
                                          <p:attrName>style.visibility</p:attrName>
                                        </p:attrNameLst>
                                      </p:cBhvr>
                                      <p:to>
                                        <p:strVal val="visible"/>
                                      </p:to>
                                    </p:set>
                                  </p:childTnLst>
                                </p:cTn>
                              </p:par>
                              <p:par>
                                <p:cTn id="115" presetID="1" presetClass="entr" presetSubtype="0" fill="hold" grpId="2" nodeType="withEffect">
                                  <p:stCondLst>
                                    <p:cond delay="0"/>
                                  </p:stCondLst>
                                  <p:childTnLst>
                                    <p:set>
                                      <p:cBhvr>
                                        <p:cTn id="116" dur="1" fill="hold">
                                          <p:stCondLst>
                                            <p:cond delay="0"/>
                                          </p:stCondLst>
                                        </p:cTn>
                                        <p:tgtEl>
                                          <p:spTgt spid="50"/>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nodeType="clickEffect">
                                  <p:stCondLst>
                                    <p:cond delay="0"/>
                                  </p:stCondLst>
                                  <p:childTnLst>
                                    <p:set>
                                      <p:cBhvr>
                                        <p:cTn id="120" dur="1" fill="hold">
                                          <p:stCondLst>
                                            <p:cond delay="0"/>
                                          </p:stCondLst>
                                        </p:cTn>
                                        <p:tgtEl>
                                          <p:spTgt spid="71"/>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P spid="7173" grpId="0"/>
      <p:bldP spid="7174" grpId="0"/>
      <p:bldP spid="7174" grpId="1"/>
      <p:bldP spid="7175" grpId="0"/>
      <p:bldP spid="16" grpId="0" animBg="1"/>
      <p:bldP spid="7180" grpId="0"/>
      <p:bldP spid="42" grpId="0" animBg="1"/>
      <p:bldP spid="42" grpId="1" animBg="1"/>
      <p:bldP spid="42" grpId="2" animBg="1"/>
      <p:bldP spid="49" grpId="0" animBg="1"/>
      <p:bldP spid="50" grpId="0"/>
      <p:bldP spid="50" grpId="1"/>
      <p:bldP spid="50" grpId="2"/>
      <p:bldP spid="56" grpId="0"/>
      <p:bldP spid="56" grpId="1"/>
      <p:bldP spid="57" grpId="0" animBg="1"/>
      <p:bldP spid="57" grpId="1" animBg="1"/>
      <p:bldP spid="61" grpId="0"/>
      <p:bldP spid="69" grpId="0" animBg="1"/>
      <p:bldP spid="70" grpId="0" animBg="1"/>
      <p:bldP spid="76" grpId="0"/>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BE8F733C-9B93-7D45-A33C-9CAA280AB5FA}"/>
              </a:ext>
            </a:extLst>
          </p:cNvPr>
          <p:cNvSpPr txBox="1">
            <a:spLocks/>
          </p:cNvSpPr>
          <p:nvPr/>
        </p:nvSpPr>
        <p:spPr>
          <a:xfrm>
            <a:off x="684213" y="1989138"/>
            <a:ext cx="7772400" cy="3816350"/>
          </a:xfrm>
          <a:prstGeom prst="rect">
            <a:avLst/>
          </a:prstGeom>
        </p:spPr>
        <p:txBody>
          <a:bodyPr lIns="91440" tIns="45720" rIns="91440" bIns="45720" anchor="t"/>
          <a:lstStyle>
            <a:lvl1pPr marL="342900" indent="-342900" algn="l" rtl="0" eaLnBrk="0" fontAlgn="base" hangingPunct="0">
              <a:spcBef>
                <a:spcPct val="20000"/>
              </a:spcBef>
              <a:spcAft>
                <a:spcPct val="0"/>
              </a:spcAft>
              <a:defRPr>
                <a:solidFill>
                  <a:schemeClr val="tx1"/>
                </a:solidFill>
                <a:latin typeface="+mn-lt"/>
                <a:ea typeface="ＭＳ Ｐゴシック" pitchFamily="4" charset="-128"/>
                <a:cs typeface="ＭＳ Ｐゴシック" pitchFamily="4" charset="-128"/>
              </a:defRPr>
            </a:lvl1pPr>
            <a:lvl2pPr marL="742950" indent="-285750" algn="l" rtl="0" eaLnBrk="0" fontAlgn="base" hangingPunct="0">
              <a:spcBef>
                <a:spcPct val="20000"/>
              </a:spcBef>
              <a:spcAft>
                <a:spcPct val="0"/>
              </a:spcAft>
              <a:buChar char="–"/>
              <a:defRPr sz="1600">
                <a:solidFill>
                  <a:schemeClr val="tx1"/>
                </a:solidFill>
                <a:latin typeface="+mn-lt"/>
                <a:ea typeface="ＭＳ Ｐゴシック" pitchFamily="4" charset="-128"/>
              </a:defRPr>
            </a:lvl2pPr>
            <a:lvl3pPr marL="1143000" indent="-228600" algn="l" rtl="0" eaLnBrk="0" fontAlgn="base" hangingPunct="0">
              <a:spcBef>
                <a:spcPct val="20000"/>
              </a:spcBef>
              <a:spcAft>
                <a:spcPct val="0"/>
              </a:spcAft>
              <a:buChar char="•"/>
              <a:defRPr sz="1400">
                <a:solidFill>
                  <a:schemeClr val="tx1"/>
                </a:solidFill>
                <a:latin typeface="+mn-lt"/>
                <a:ea typeface="ＭＳ Ｐゴシック" pitchFamily="4" charset="-128"/>
              </a:defRPr>
            </a:lvl3pPr>
            <a:lvl4pPr marL="16002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4pPr>
            <a:lvl5pPr marL="20574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a:lstStyle>
          <a:p>
            <a:pPr marL="457200" indent="-457200">
              <a:buFont typeface="Arial" panose="020B0604020202020204" pitchFamily="34" charset="0"/>
              <a:buChar char="•"/>
            </a:pPr>
            <a:r>
              <a:rPr lang="en-US" altLang="en-US" sz="2800" b="1" kern="0" dirty="0">
                <a:ea typeface="ＭＳ Ｐゴシック"/>
              </a:rPr>
              <a:t>Dissipation or destruction</a:t>
            </a:r>
          </a:p>
          <a:p>
            <a:pPr marL="857250" lvl="1" indent="-457200">
              <a:buFont typeface="Arial" panose="020B0604020202020204" pitchFamily="34" charset="0"/>
              <a:buChar char="•"/>
            </a:pPr>
            <a:r>
              <a:rPr lang="en-US" altLang="en-US" sz="2400" kern="0" dirty="0">
                <a:ea typeface="ＭＳ Ｐゴシック"/>
              </a:rPr>
              <a:t>Different consequences at common law and in equity</a:t>
            </a:r>
            <a:endParaRPr lang="en-US" altLang="en-US" sz="2400" kern="0" dirty="0">
              <a:ea typeface="ＭＳ Ｐゴシック"/>
              <a:cs typeface="Arial"/>
            </a:endParaRPr>
          </a:p>
          <a:p>
            <a:pPr marL="857250" lvl="1" indent="-457200">
              <a:buFont typeface="Arial" panose="020B0604020202020204" pitchFamily="34" charset="0"/>
              <a:buChar char="•"/>
            </a:pPr>
            <a:r>
              <a:rPr lang="en-US" altLang="en-US" sz="2400" kern="0" dirty="0">
                <a:ea typeface="ＭＳ Ｐゴシック"/>
              </a:rPr>
              <a:t>Debts and unsecured loans in equity</a:t>
            </a:r>
            <a:endParaRPr lang="en-US" altLang="en-US" sz="2400" kern="0" dirty="0">
              <a:ea typeface="ＭＳ Ｐゴシック"/>
              <a:cs typeface="Arial"/>
            </a:endParaRPr>
          </a:p>
          <a:p>
            <a:pPr marL="857250" lvl="1" indent="-457200">
              <a:buFont typeface="Arial" panose="020B0604020202020204" pitchFamily="34" charset="0"/>
              <a:buChar char="•"/>
            </a:pPr>
            <a:r>
              <a:rPr lang="en-US" altLang="en-US" sz="2400" kern="0" dirty="0">
                <a:ea typeface="ＭＳ Ｐゴシック"/>
              </a:rPr>
              <a:t>Overdrawn accounts and backwards tracing in equity</a:t>
            </a:r>
            <a:endParaRPr lang="en-US" altLang="en-US" sz="2400" kern="0" dirty="0">
              <a:ea typeface="ＭＳ Ｐゴシック"/>
              <a:cs typeface="Arial"/>
            </a:endParaRPr>
          </a:p>
          <a:p>
            <a:pPr marL="457200" lvl="1" indent="-457200">
              <a:buFont typeface="Arial" panose="020B0604020202020204" pitchFamily="34" charset="0"/>
              <a:buChar char="•"/>
            </a:pPr>
            <a:endParaRPr lang="en-US" altLang="en-US" sz="2800" kern="0" dirty="0"/>
          </a:p>
          <a:p>
            <a:pPr marL="0" indent="0"/>
            <a:endParaRPr lang="en-US" altLang="en-US" sz="2800" kern="0" dirty="0"/>
          </a:p>
        </p:txBody>
      </p:sp>
      <p:sp>
        <p:nvSpPr>
          <p:cNvPr id="15" name="Title 14">
            <a:extLst>
              <a:ext uri="{FF2B5EF4-FFF2-40B4-BE49-F238E27FC236}">
                <a16:creationId xmlns:a16="http://schemas.microsoft.com/office/drawing/2014/main" id="{AD635190-C1F9-4A4C-AD39-C868845B6C55}"/>
              </a:ext>
            </a:extLst>
          </p:cNvPr>
          <p:cNvSpPr>
            <a:spLocks noGrp="1"/>
          </p:cNvSpPr>
          <p:nvPr>
            <p:ph type="title"/>
          </p:nvPr>
        </p:nvSpPr>
        <p:spPr>
          <a:prstGeom prst="roundRect">
            <a:avLst/>
          </a:prstGeom>
          <a:solidFill>
            <a:schemeClr val="accent6">
              <a:lumMod val="50000"/>
            </a:schemeClr>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b="1" dirty="0" err="1">
                <a:solidFill>
                  <a:schemeClr val="bg1"/>
                </a:solidFill>
                <a:cs typeface="Calibri"/>
              </a:rPr>
              <a:t>Defences</a:t>
            </a:r>
            <a:r>
              <a:rPr lang="en-US" b="1" dirty="0">
                <a:solidFill>
                  <a:schemeClr val="bg1"/>
                </a:solidFill>
                <a:cs typeface="Calibri"/>
              </a:rPr>
              <a:t> (I)</a:t>
            </a:r>
            <a:endParaRPr lang="en-GB" dirty="0"/>
          </a:p>
        </p:txBody>
      </p:sp>
      <p:sp>
        <p:nvSpPr>
          <p:cNvPr id="3" name="AutoShape 2" descr="Tree that grows 7 types of fruit! | Geek it out | Pinterest | Fruit salad  tree, Multi fruit tree, Fruit cocktail tre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2" name="Picture 3" descr="A person wearing a suit and tie&#10;&#10;Description automatically generated">
            <a:extLst>
              <a:ext uri="{FF2B5EF4-FFF2-40B4-BE49-F238E27FC236}">
                <a16:creationId xmlns:a16="http://schemas.microsoft.com/office/drawing/2014/main" id="{A6312198-5950-431C-ACC2-6CF419BD1047}"/>
              </a:ext>
            </a:extLst>
          </p:cNvPr>
          <p:cNvPicPr>
            <a:picLocks noChangeAspect="1"/>
          </p:cNvPicPr>
          <p:nvPr/>
        </p:nvPicPr>
        <p:blipFill>
          <a:blip r:embed="rId2"/>
          <a:stretch>
            <a:fillRect/>
          </a:stretch>
        </p:blipFill>
        <p:spPr>
          <a:xfrm>
            <a:off x="2845496" y="4559060"/>
            <a:ext cx="2743200" cy="1748209"/>
          </a:xfrm>
          <a:prstGeom prst="rect">
            <a:avLst/>
          </a:prstGeom>
        </p:spPr>
      </p:pic>
      <p:sp>
        <p:nvSpPr>
          <p:cNvPr id="4" name="TextBox 3">
            <a:extLst>
              <a:ext uri="{FF2B5EF4-FFF2-40B4-BE49-F238E27FC236}">
                <a16:creationId xmlns:a16="http://schemas.microsoft.com/office/drawing/2014/main" id="{CE5BEB16-5238-42D6-A689-696E9E3EC2AB}"/>
              </a:ext>
            </a:extLst>
          </p:cNvPr>
          <p:cNvSpPr txBox="1"/>
          <p:nvPr/>
        </p:nvSpPr>
        <p:spPr>
          <a:xfrm>
            <a:off x="5789112" y="4818345"/>
            <a:ext cx="27432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800" i="1" u="sng" dirty="0">
                <a:latin typeface="Arial"/>
                <a:ea typeface="ＭＳ Ｐゴシック"/>
              </a:rPr>
              <a:t>Federal Republic of Brazil v Durant International Corp</a:t>
            </a:r>
            <a:r>
              <a:rPr lang="en-GB" sz="1800" u="sng" dirty="0">
                <a:latin typeface="Arial"/>
                <a:ea typeface="ＭＳ Ｐゴシック"/>
              </a:rPr>
              <a:t> [2015] UKPC 35</a:t>
            </a:r>
            <a:endParaRPr lang="en-GB" sz="1800" u="sng" dirty="0">
              <a:ea typeface="ＭＳ Ｐゴシック"/>
            </a:endParaRPr>
          </a:p>
        </p:txBody>
      </p:sp>
    </p:spTree>
    <p:extLst>
      <p:ext uri="{BB962C8B-B14F-4D97-AF65-F5344CB8AC3E}">
        <p14:creationId xmlns:p14="http://schemas.microsoft.com/office/powerpoint/2010/main" val="10001128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Roman Shiel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1393" y="3529142"/>
            <a:ext cx="2832249" cy="2832249"/>
          </a:xfrm>
          <a:prstGeom prst="rect">
            <a:avLst/>
          </a:prstGeom>
          <a:noFill/>
          <a:extLst>
            <a:ext uri="{909E8E84-426E-40DD-AFC4-6F175D3DCCD1}">
              <a14:hiddenFill xmlns:a14="http://schemas.microsoft.com/office/drawing/2010/main">
                <a:solidFill>
                  <a:srgbClr val="FFFFFF"/>
                </a:solidFill>
              </a14:hiddenFill>
            </a:ext>
          </a:extLst>
        </p:spPr>
      </p:pic>
      <p:sp>
        <p:nvSpPr>
          <p:cNvPr id="12" name="Content Placeholder 2">
            <a:extLst>
              <a:ext uri="{FF2B5EF4-FFF2-40B4-BE49-F238E27FC236}">
                <a16:creationId xmlns:a16="http://schemas.microsoft.com/office/drawing/2014/main" id="{BE8F733C-9B93-7D45-A33C-9CAA280AB5FA}"/>
              </a:ext>
            </a:extLst>
          </p:cNvPr>
          <p:cNvSpPr txBox="1">
            <a:spLocks/>
          </p:cNvSpPr>
          <p:nvPr/>
        </p:nvSpPr>
        <p:spPr>
          <a:xfrm>
            <a:off x="684213" y="1989138"/>
            <a:ext cx="7772400" cy="3816350"/>
          </a:xfrm>
          <a:prstGeom prst="rect">
            <a:avLst/>
          </a:prstGeom>
        </p:spPr>
        <p:txBody>
          <a:bodyPr lIns="91440" tIns="45720" rIns="91440" bIns="45720" anchor="t"/>
          <a:lstStyle>
            <a:lvl1pPr marL="342900" indent="-342900" algn="l" rtl="0" eaLnBrk="0" fontAlgn="base" hangingPunct="0">
              <a:spcBef>
                <a:spcPct val="20000"/>
              </a:spcBef>
              <a:spcAft>
                <a:spcPct val="0"/>
              </a:spcAft>
              <a:defRPr>
                <a:solidFill>
                  <a:schemeClr val="tx1"/>
                </a:solidFill>
                <a:latin typeface="+mn-lt"/>
                <a:ea typeface="ＭＳ Ｐゴシック" pitchFamily="4" charset="-128"/>
                <a:cs typeface="ＭＳ Ｐゴシック" pitchFamily="4" charset="-128"/>
              </a:defRPr>
            </a:lvl1pPr>
            <a:lvl2pPr marL="742950" indent="-285750" algn="l" rtl="0" eaLnBrk="0" fontAlgn="base" hangingPunct="0">
              <a:spcBef>
                <a:spcPct val="20000"/>
              </a:spcBef>
              <a:spcAft>
                <a:spcPct val="0"/>
              </a:spcAft>
              <a:buChar char="–"/>
              <a:defRPr sz="1600">
                <a:solidFill>
                  <a:schemeClr val="tx1"/>
                </a:solidFill>
                <a:latin typeface="+mn-lt"/>
                <a:ea typeface="ＭＳ Ｐゴシック" pitchFamily="4" charset="-128"/>
              </a:defRPr>
            </a:lvl2pPr>
            <a:lvl3pPr marL="1143000" indent="-228600" algn="l" rtl="0" eaLnBrk="0" fontAlgn="base" hangingPunct="0">
              <a:spcBef>
                <a:spcPct val="20000"/>
              </a:spcBef>
              <a:spcAft>
                <a:spcPct val="0"/>
              </a:spcAft>
              <a:buChar char="•"/>
              <a:defRPr sz="1400">
                <a:solidFill>
                  <a:schemeClr val="tx1"/>
                </a:solidFill>
                <a:latin typeface="+mn-lt"/>
                <a:ea typeface="ＭＳ Ｐゴシック" pitchFamily="4" charset="-128"/>
              </a:defRPr>
            </a:lvl3pPr>
            <a:lvl4pPr marL="16002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4pPr>
            <a:lvl5pPr marL="2057400" indent="-228600" algn="l" rtl="0" eaLnBrk="0" fontAlgn="base" hangingPunct="0">
              <a:spcBef>
                <a:spcPct val="20000"/>
              </a:spcBef>
              <a:spcAft>
                <a:spcPct val="0"/>
              </a:spcAft>
              <a:buChar char="»"/>
              <a:defRPr sz="1200">
                <a:solidFill>
                  <a:schemeClr val="tx1"/>
                </a:solidFill>
                <a:latin typeface="+mn-lt"/>
                <a:ea typeface="ＭＳ Ｐゴシック" pitchFamily="4" charset="-128"/>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a:lstStyle>
          <a:p>
            <a:pPr marL="457200" lvl="1" indent="-457200">
              <a:buFont typeface="Arial" panose="020B0604020202020204" pitchFamily="34" charset="0"/>
              <a:buChar char="•"/>
            </a:pPr>
            <a:r>
              <a:rPr lang="en-US" altLang="en-US" sz="2800" b="1" kern="0" dirty="0">
                <a:ea typeface="ＭＳ Ｐゴシック"/>
                <a:cs typeface="ＭＳ Ｐゴシック" pitchFamily="4" charset="-128"/>
              </a:rPr>
              <a:t>Equity’s darling</a:t>
            </a:r>
            <a:endParaRPr lang="en-US" b="1" dirty="0">
              <a:ea typeface="ＭＳ Ｐゴシック"/>
            </a:endParaRPr>
          </a:p>
          <a:p>
            <a:pPr marL="857250" lvl="1" indent="-457200">
              <a:buFont typeface="Arial" panose="020B0604020202020204" pitchFamily="34" charset="0"/>
              <a:buChar char="•"/>
            </a:pPr>
            <a:r>
              <a:rPr lang="en-US" altLang="en-US" sz="2400" kern="0" dirty="0">
                <a:ea typeface="ＭＳ Ｐゴシック"/>
              </a:rPr>
              <a:t>Extinguishes title in equity</a:t>
            </a:r>
            <a:endParaRPr lang="en-US" altLang="en-US" sz="2400" kern="0" dirty="0">
              <a:ea typeface="ＭＳ Ｐゴシック"/>
              <a:cs typeface="Arial"/>
            </a:endParaRPr>
          </a:p>
          <a:p>
            <a:pPr marL="857250" lvl="1" indent="-457200">
              <a:buFont typeface="Arial" panose="020B0604020202020204" pitchFamily="34" charset="0"/>
              <a:buChar char="•"/>
            </a:pPr>
            <a:r>
              <a:rPr lang="en-US" altLang="en-US" sz="2400" kern="0" dirty="0">
                <a:ea typeface="ＭＳ Ｐゴシック"/>
              </a:rPr>
              <a:t>Extinguishes title at common law only in relation to negotiable instruments</a:t>
            </a:r>
            <a:endParaRPr lang="en-US" altLang="en-US" sz="2400" kern="0" dirty="0">
              <a:ea typeface="ＭＳ Ｐゴシック"/>
              <a:cs typeface="Arial"/>
            </a:endParaRPr>
          </a:p>
          <a:p>
            <a:pPr marL="857250" lvl="1" indent="-457200">
              <a:buFont typeface="Arial" panose="020B0604020202020204" pitchFamily="34" charset="0"/>
              <a:buChar char="•"/>
            </a:pPr>
            <a:r>
              <a:rPr lang="en-US" altLang="en-US" sz="2400" kern="0" dirty="0">
                <a:ea typeface="ＭＳ Ｐゴシック"/>
              </a:rPr>
              <a:t>Bank deposits</a:t>
            </a:r>
            <a:endParaRPr lang="en-US" altLang="en-US" sz="2400" kern="0" dirty="0">
              <a:ea typeface="ＭＳ Ｐゴシック"/>
              <a:cs typeface="Arial"/>
            </a:endParaRPr>
          </a:p>
          <a:p>
            <a:pPr marL="457200" lvl="1" indent="-457200">
              <a:buFont typeface="Arial" panose="020B0604020202020204" pitchFamily="34" charset="0"/>
              <a:buChar char="•"/>
            </a:pPr>
            <a:r>
              <a:rPr lang="en-US" altLang="en-US" sz="2800" b="1" kern="0" dirty="0">
                <a:ea typeface="ＭＳ Ｐゴシック"/>
                <a:cs typeface="ＭＳ Ｐゴシック" pitchFamily="4" charset="-128"/>
              </a:rPr>
              <a:t>Change of position/</a:t>
            </a:r>
            <a:endParaRPr lang="en-US" dirty="0"/>
          </a:p>
          <a:p>
            <a:pPr marL="0" lvl="1" indent="0">
              <a:buNone/>
            </a:pPr>
            <a:r>
              <a:rPr lang="en-US" altLang="en-US" sz="2800" b="1" kern="0" dirty="0">
                <a:ea typeface="ＭＳ Ｐゴシック"/>
                <a:cs typeface="ＭＳ Ｐゴシック" pitchFamily="4" charset="-128"/>
              </a:rPr>
              <a:t>     inequitability</a:t>
            </a:r>
            <a:endParaRPr lang="en-US" altLang="en-US" sz="2800" b="1" kern="0">
              <a:ea typeface="ＭＳ Ｐゴシック"/>
              <a:cs typeface="ＭＳ Ｐゴシック" pitchFamily="4" charset="-128"/>
            </a:endParaRPr>
          </a:p>
          <a:p>
            <a:pPr marL="457200" indent="-457200">
              <a:buFont typeface="Arial" panose="020B0604020202020204" pitchFamily="34" charset="0"/>
              <a:buChar char="•"/>
            </a:pPr>
            <a:endParaRPr lang="en-US" altLang="en-US" sz="2800" kern="0" dirty="0"/>
          </a:p>
          <a:p>
            <a:pPr marL="0" indent="0"/>
            <a:endParaRPr lang="en-US" altLang="en-US" sz="2800" kern="0" dirty="0"/>
          </a:p>
        </p:txBody>
      </p:sp>
      <p:sp>
        <p:nvSpPr>
          <p:cNvPr id="15" name="Title 14">
            <a:extLst>
              <a:ext uri="{FF2B5EF4-FFF2-40B4-BE49-F238E27FC236}">
                <a16:creationId xmlns:a16="http://schemas.microsoft.com/office/drawing/2014/main" id="{AD635190-C1F9-4A4C-AD39-C868845B6C55}"/>
              </a:ext>
            </a:extLst>
          </p:cNvPr>
          <p:cNvSpPr>
            <a:spLocks noGrp="1"/>
          </p:cNvSpPr>
          <p:nvPr>
            <p:ph type="title"/>
          </p:nvPr>
        </p:nvSpPr>
        <p:spPr>
          <a:prstGeom prst="roundRect">
            <a:avLst/>
          </a:prstGeom>
          <a:solidFill>
            <a:schemeClr val="accent6">
              <a:lumMod val="50000"/>
            </a:schemeClr>
          </a:solidFill>
          <a:ln w="38100">
            <a:solidFill>
              <a:schemeClr val="tx1"/>
            </a:solid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US" b="1" dirty="0" err="1">
                <a:solidFill>
                  <a:schemeClr val="bg1"/>
                </a:solidFill>
                <a:cs typeface="Calibri"/>
              </a:rPr>
              <a:t>Defences</a:t>
            </a:r>
            <a:r>
              <a:rPr lang="en-US" b="1" dirty="0">
                <a:solidFill>
                  <a:schemeClr val="bg1"/>
                </a:solidFill>
                <a:cs typeface="Calibri"/>
              </a:rPr>
              <a:t> (II)</a:t>
            </a:r>
            <a:endParaRPr lang="en-GB" dirty="0"/>
          </a:p>
        </p:txBody>
      </p:sp>
      <p:sp>
        <p:nvSpPr>
          <p:cNvPr id="3" name="AutoShape 2" descr="Tree that grows 7 types of fruit! | Geek it out | Pinterest | Fruit salad  tree, Multi fruit tree, Fruit cocktail tre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9945741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2614B12A-7DC7-4B63-8B9E-1FFB02603537}"/>
              </a:ext>
            </a:extLst>
          </p:cNvPr>
          <p:cNvSpPr>
            <a:spLocks noGrp="1"/>
          </p:cNvSpPr>
          <p:nvPr>
            <p:ph type="title"/>
          </p:nvPr>
        </p:nvSpPr>
        <p:spPr/>
        <p:txBody>
          <a:bodyPr/>
          <a:lstStyle/>
          <a:p>
            <a:pPr>
              <a:defRPr/>
            </a:pPr>
            <a:r>
              <a:rPr lang="en-GB" altLang="en-US" dirty="0">
                <a:latin typeface="+mn-lt"/>
                <a:ea typeface="ＭＳ Ｐゴシック" panose="020B0600070205080204" pitchFamily="34" charset="-128"/>
              </a:rPr>
              <a:t>Recap</a:t>
            </a:r>
          </a:p>
        </p:txBody>
      </p:sp>
      <p:sp>
        <p:nvSpPr>
          <p:cNvPr id="15363" name="Content Placeholder 2">
            <a:extLst>
              <a:ext uri="{FF2B5EF4-FFF2-40B4-BE49-F238E27FC236}">
                <a16:creationId xmlns:a16="http://schemas.microsoft.com/office/drawing/2014/main" id="{A4EBAFA4-843A-4A67-BF5F-930EDA663322}"/>
              </a:ext>
            </a:extLst>
          </p:cNvPr>
          <p:cNvSpPr txBox="1">
            <a:spLocks/>
          </p:cNvSpPr>
          <p:nvPr/>
        </p:nvSpPr>
        <p:spPr bwMode="auto">
          <a:xfrm>
            <a:off x="609600" y="1981200"/>
            <a:ext cx="7923213" cy="3680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a:spcBef>
                <a:spcPct val="20000"/>
              </a:spcBef>
              <a:defRPr>
                <a:solidFill>
                  <a:schemeClr val="tx1"/>
                </a:solidFill>
                <a:latin typeface="Arial" panose="020B0604020202020204" pitchFamily="34" charset="0"/>
                <a:ea typeface="ＭＳ Ｐゴシック" panose="020B0600070205080204" pitchFamily="34" charset="-128"/>
              </a:defRPr>
            </a:lvl1pPr>
            <a:lvl2pPr marL="37931725" indent="-37474525">
              <a:spcBef>
                <a:spcPct val="20000"/>
              </a:spcBef>
              <a:buChar char="–"/>
              <a:defRPr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chemeClr val="tx1"/>
                </a:solidFill>
                <a:latin typeface="Arial" panose="020B0604020202020204" pitchFamily="34" charset="0"/>
                <a:ea typeface="ＭＳ Ｐゴシック" panose="020B0600070205080204" pitchFamily="34" charset="-128"/>
              </a:defRPr>
            </a:lvl9pPr>
          </a:lstStyle>
          <a:p>
            <a:pPr>
              <a:buFont typeface="Wingdings" panose="05000000000000000000" pitchFamily="2" charset="2"/>
              <a:buChar char="q"/>
              <a:defRPr/>
            </a:pPr>
            <a:r>
              <a:rPr lang="en-US" altLang="en-US" dirty="0"/>
              <a:t>Proprietary claims require a proprietary interest in the misappropriated property.</a:t>
            </a:r>
          </a:p>
          <a:p>
            <a:pPr>
              <a:buFont typeface="Wingdings" panose="05000000000000000000" pitchFamily="2" charset="2"/>
              <a:buChar char="q"/>
              <a:defRPr/>
            </a:pPr>
            <a:r>
              <a:rPr lang="en-US" altLang="en-US" dirty="0"/>
              <a:t>Following and tracing are processes that generate evidence for a proprietary claim.</a:t>
            </a:r>
          </a:p>
          <a:p>
            <a:pPr>
              <a:buFont typeface="Wingdings" panose="05000000000000000000" pitchFamily="2" charset="2"/>
              <a:buChar char="q"/>
              <a:defRPr/>
            </a:pPr>
            <a:r>
              <a:rPr lang="en-US" altLang="en-US" dirty="0"/>
              <a:t>Claims and remedies differ at common law and in equity.</a:t>
            </a:r>
          </a:p>
          <a:p>
            <a:pPr>
              <a:buFont typeface="Wingdings" panose="05000000000000000000" pitchFamily="2" charset="2"/>
              <a:buChar char="q"/>
              <a:defRPr/>
            </a:pPr>
            <a:r>
              <a:rPr lang="en-US" altLang="en-US" dirty="0"/>
              <a:t>Respondents have a number of </a:t>
            </a:r>
            <a:r>
              <a:rPr lang="en-US" altLang="en-US" dirty="0" err="1"/>
              <a:t>defences</a:t>
            </a:r>
            <a:r>
              <a:rPr lang="en-US" altLang="en-US" dirty="0"/>
              <a:t> by which they can defend a claim.</a:t>
            </a:r>
          </a:p>
          <a:p>
            <a:pPr marL="0" indent="0">
              <a:defRPr/>
            </a:pPr>
            <a:endParaRPr lang="en-US" altLang="en-US" b="1" dirty="0">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205B5-A143-4C5B-871F-FC7B35A3C4EE}"/>
              </a:ext>
            </a:extLst>
          </p:cNvPr>
          <p:cNvSpPr>
            <a:spLocks noGrp="1"/>
          </p:cNvSpPr>
          <p:nvPr>
            <p:ph type="title"/>
          </p:nvPr>
        </p:nvSpPr>
        <p:spPr/>
        <p:txBody>
          <a:bodyPr/>
          <a:lstStyle/>
          <a:p>
            <a:pPr>
              <a:defRPr/>
            </a:pPr>
            <a:r>
              <a:rPr lang="en-GB">
                <a:latin typeface="+mn-lt"/>
              </a:rPr>
              <a:t>Activity</a:t>
            </a:r>
            <a:endParaRPr lang="en-GB" dirty="0">
              <a:latin typeface="+mn-lt"/>
            </a:endParaRPr>
          </a:p>
        </p:txBody>
      </p:sp>
      <p:sp>
        <p:nvSpPr>
          <p:cNvPr id="4" name="TextBox 3">
            <a:extLst>
              <a:ext uri="{FF2B5EF4-FFF2-40B4-BE49-F238E27FC236}">
                <a16:creationId xmlns:a16="http://schemas.microsoft.com/office/drawing/2014/main" id="{432DD5D6-5FBC-7447-B65B-B4EED09FB3BF}"/>
              </a:ext>
            </a:extLst>
          </p:cNvPr>
          <p:cNvSpPr txBox="1"/>
          <p:nvPr/>
        </p:nvSpPr>
        <p:spPr>
          <a:xfrm>
            <a:off x="375879" y="1413386"/>
            <a:ext cx="7580497" cy="3539430"/>
          </a:xfrm>
          <a:prstGeom prst="rect">
            <a:avLst/>
          </a:prstGeom>
          <a:noFill/>
        </p:spPr>
        <p:txBody>
          <a:bodyPr wrap="square" rtlCol="0">
            <a:spAutoFit/>
          </a:bodyPr>
          <a:lstStyle/>
          <a:p>
            <a:endParaRPr lang="en-GB" sz="2000" dirty="0">
              <a:latin typeface="+mn-lt"/>
            </a:endParaRPr>
          </a:p>
          <a:p>
            <a:r>
              <a:rPr lang="en-GB" sz="2000" dirty="0">
                <a:latin typeface="+mn-lt"/>
              </a:rPr>
              <a:t>A trustee misappropriates £1,000 from a trust fund to which you are the beneficiary. He transfers the money to his wife, who uses it to buy a second-hand car as a birthday gift for their daughter. But the daughter does not pass her driving test and decides to sell the car to her friend for £500 and a sofa she had always liked. The sofa gets damaged during the transport. The daughter pays the £500 into her bank account, which is £200 overdrawn.</a:t>
            </a:r>
          </a:p>
          <a:p>
            <a:endParaRPr lang="en-GB" sz="2000" dirty="0">
              <a:latin typeface="+mn-lt"/>
            </a:endParaRPr>
          </a:p>
          <a:p>
            <a:r>
              <a:rPr lang="en-GB" sz="2000" i="1" dirty="0">
                <a:latin typeface="+mn-lt"/>
              </a:rPr>
              <a:t>Into which property can you trace? (answer on the next page)</a:t>
            </a:r>
          </a:p>
          <a:p>
            <a:endParaRPr lang="en-GB" dirty="0">
              <a:latin typeface="+mn-lt"/>
            </a:endParaRPr>
          </a:p>
        </p:txBody>
      </p:sp>
    </p:spTree>
    <p:extLst>
      <p:ext uri="{BB962C8B-B14F-4D97-AF65-F5344CB8AC3E}">
        <p14:creationId xmlns:p14="http://schemas.microsoft.com/office/powerpoint/2010/main" val="4259331720"/>
      </p:ext>
    </p:extLst>
  </p:cSld>
  <p:clrMapOvr>
    <a:masterClrMapping/>
  </p:clrMapOvr>
  <mc:AlternateContent xmlns:mc="http://schemas.openxmlformats.org/markup-compatibility/2006" xmlns:p14="http://schemas.microsoft.com/office/powerpoint/2010/main">
    <mc:Choice Requires="p14">
      <p:transition spd="slow" p14:dur="2000" advTm="1652"/>
    </mc:Choice>
    <mc:Fallback xmlns="">
      <p:transition spd="slow" advTm="1652"/>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205B5-A143-4C5B-871F-FC7B35A3C4EE}"/>
              </a:ext>
            </a:extLst>
          </p:cNvPr>
          <p:cNvSpPr>
            <a:spLocks noGrp="1"/>
          </p:cNvSpPr>
          <p:nvPr>
            <p:ph type="title"/>
          </p:nvPr>
        </p:nvSpPr>
        <p:spPr/>
        <p:txBody>
          <a:bodyPr/>
          <a:lstStyle/>
          <a:p>
            <a:pPr>
              <a:defRPr/>
            </a:pPr>
            <a:r>
              <a:rPr lang="en-GB" dirty="0">
                <a:latin typeface="+mn-lt"/>
              </a:rPr>
              <a:t>Answer</a:t>
            </a:r>
          </a:p>
        </p:txBody>
      </p:sp>
      <p:sp>
        <p:nvSpPr>
          <p:cNvPr id="4" name="TextBox 3">
            <a:extLst>
              <a:ext uri="{FF2B5EF4-FFF2-40B4-BE49-F238E27FC236}">
                <a16:creationId xmlns:a16="http://schemas.microsoft.com/office/drawing/2014/main" id="{432DD5D6-5FBC-7447-B65B-B4EED09FB3BF}"/>
              </a:ext>
            </a:extLst>
          </p:cNvPr>
          <p:cNvSpPr txBox="1"/>
          <p:nvPr/>
        </p:nvSpPr>
        <p:spPr>
          <a:xfrm>
            <a:off x="375879" y="1413386"/>
            <a:ext cx="7580497" cy="3477875"/>
          </a:xfrm>
          <a:prstGeom prst="rect">
            <a:avLst/>
          </a:prstGeom>
          <a:noFill/>
        </p:spPr>
        <p:txBody>
          <a:bodyPr wrap="square" rtlCol="0">
            <a:spAutoFit/>
          </a:bodyPr>
          <a:lstStyle/>
          <a:p>
            <a:pPr defTabSz="457200" eaLnBrk="1" fontAlgn="auto" hangingPunct="1">
              <a:spcBef>
                <a:spcPts val="0"/>
              </a:spcBef>
              <a:spcAft>
                <a:spcPts val="0"/>
              </a:spcAft>
            </a:pPr>
            <a:endParaRPr lang="en-GB" sz="2000" dirty="0">
              <a:solidFill>
                <a:prstClr val="black"/>
              </a:solidFill>
              <a:latin typeface="Calibri" panose="020F0502020204030204"/>
              <a:ea typeface="+mn-ea"/>
            </a:endParaRPr>
          </a:p>
          <a:p>
            <a:r>
              <a:rPr lang="en-GB" sz="2000" dirty="0">
                <a:latin typeface="+mn-lt"/>
              </a:rPr>
              <a:t>As the beneficiary, you can follow the money from the trustee to his wife. You cannot follow it further to the car dealer, who is equity’s darling. Instead, you can trace the money into its substitute asset, the car in the daughter’s hands, who is a volunteer (she gives no consideration). You cannot trace into the car as it reaches the friend – another bona fide purchaser. You have to trace into the substitute assets, the sofa and the £500. The sofa is destroyed, which leaves only the £500. Payment of a debt constitutes dissipation, so you are left with a bank balance of £300 to trace into.</a:t>
            </a:r>
          </a:p>
        </p:txBody>
      </p:sp>
    </p:spTree>
    <p:extLst>
      <p:ext uri="{BB962C8B-B14F-4D97-AF65-F5344CB8AC3E}">
        <p14:creationId xmlns:p14="http://schemas.microsoft.com/office/powerpoint/2010/main" val="4153240049"/>
      </p:ext>
    </p:extLst>
  </p:cSld>
  <p:clrMapOvr>
    <a:masterClrMapping/>
  </p:clrMapOvr>
  <mc:AlternateContent xmlns:mc="http://schemas.openxmlformats.org/markup-compatibility/2006" xmlns:p14="http://schemas.microsoft.com/office/powerpoint/2010/main">
    <mc:Choice Requires="p14">
      <p:transition spd="slow" p14:dur="2000" advTm="1652"/>
    </mc:Choice>
    <mc:Fallback xmlns="">
      <p:transition spd="slow" advTm="1652"/>
    </mc:Fallback>
  </mc:AlternateContent>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{F17B14DA-12BA-344C-B04B-5147213FF9F4}tf10001071</Template>
  <TotalTime>0</TotalTime>
  <Words>1463</Words>
  <Application>Microsoft Office PowerPoint</Application>
  <PresentationFormat>On-screen Show (4:3)</PresentationFormat>
  <Paragraphs>169</Paragraphs>
  <Slides>24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ＭＳ Ｐゴシック</vt:lpstr>
      <vt:lpstr>arial</vt:lpstr>
      <vt:lpstr>arial</vt:lpstr>
      <vt:lpstr>Calibri</vt:lpstr>
      <vt:lpstr>Times</vt:lpstr>
      <vt:lpstr>Wingdings</vt:lpstr>
      <vt:lpstr>Blank</vt:lpstr>
      <vt:lpstr>   Trusts Law  Week 15: Tracing (I) </vt:lpstr>
      <vt:lpstr>Tutorial 3</vt:lpstr>
      <vt:lpstr> Our progress so far  </vt:lpstr>
      <vt:lpstr> This week, our aim will be:  </vt:lpstr>
      <vt:lpstr>Proprietary claims</vt:lpstr>
      <vt:lpstr>Advantages of proprietary claims</vt:lpstr>
      <vt:lpstr>The structure of a proprietary claim</vt:lpstr>
      <vt:lpstr>Proprietary base</vt:lpstr>
      <vt:lpstr>Following or Tracing</vt:lpstr>
      <vt:lpstr>Following</vt:lpstr>
      <vt:lpstr>Tracing</vt:lpstr>
      <vt:lpstr>The fiction of ‘persistence’</vt:lpstr>
      <vt:lpstr>Foskett v McKeown [2001] 1 AC 102</vt:lpstr>
      <vt:lpstr>Claiming and remedies</vt:lpstr>
      <vt:lpstr>Common law claims and remedies</vt:lpstr>
      <vt:lpstr>Equitable claims and remedies</vt:lpstr>
      <vt:lpstr>Property or proportionate share thereof</vt:lpstr>
      <vt:lpstr>Lien</vt:lpstr>
      <vt:lpstr>Subrogation: Boscawen v Bajwa [1996] 1 WLR 328</vt:lpstr>
      <vt:lpstr>Defences (I)</vt:lpstr>
      <vt:lpstr>Defences (II)</vt:lpstr>
      <vt:lpstr>Recap</vt:lpstr>
      <vt:lpstr>Activity</vt:lpstr>
      <vt:lpstr>Answer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Trusts Law  Week 1: The historical development of the trust within equity</dc:title>
  <dc:creator/>
  <cp:lastModifiedBy/>
  <cp:revision>56</cp:revision>
  <dcterms:created xsi:type="dcterms:W3CDTF">2017-10-15T06:15:13Z</dcterms:created>
  <dcterms:modified xsi:type="dcterms:W3CDTF">2025-02-10T10:38:15Z</dcterms:modified>
</cp:coreProperties>
</file>