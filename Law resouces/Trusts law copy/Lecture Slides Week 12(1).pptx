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saveSubsetFonts="1">
  <p:sldMasterIdLst>
    <p:sldMasterId id="2147483648" r:id="rId1"/>
  </p:sldMasterIdLst>
  <p:notesMasterIdLst>
    <p:notesMasterId r:id="rId23"/>
  </p:notesMasterIdLst>
  <p:sldIdLst>
    <p:sldId id="366" r:id="rId2"/>
    <p:sldId id="345" r:id="rId3"/>
    <p:sldId id="365" r:id="rId4"/>
    <p:sldId id="347" r:id="rId5"/>
    <p:sldId id="354" r:id="rId6"/>
    <p:sldId id="341" r:id="rId7"/>
    <p:sldId id="346" r:id="rId8"/>
    <p:sldId id="356" r:id="rId9"/>
    <p:sldId id="357" r:id="rId10"/>
    <p:sldId id="358" r:id="rId11"/>
    <p:sldId id="368" r:id="rId12"/>
    <p:sldId id="369" r:id="rId13"/>
    <p:sldId id="348" r:id="rId14"/>
    <p:sldId id="350" r:id="rId15"/>
    <p:sldId id="359" r:id="rId16"/>
    <p:sldId id="360" r:id="rId17"/>
    <p:sldId id="370" r:id="rId18"/>
    <p:sldId id="313" r:id="rId19"/>
    <p:sldId id="363" r:id="rId20"/>
    <p:sldId id="361" r:id="rId21"/>
    <p:sldId id="343" r:id="rId22"/>
  </p:sldIdLst>
  <p:sldSz cx="9144000" cy="6858000" type="screen4x3"/>
  <p:notesSz cx="6858000" cy="9144000"/>
  <p:defaultTextStyle>
    <a:defPPr>
      <a:defRPr lang="en-GB"/>
    </a:defPPr>
    <a:lvl1pPr algn="l" rtl="0" eaLnBrk="0" fontAlgn="base" hangingPunct="0">
      <a:spcBef>
        <a:spcPct val="0"/>
      </a:spcBef>
      <a:spcAft>
        <a:spcPct val="0"/>
      </a:spcAft>
      <a:defRPr sz="2400" kern="1200">
        <a:solidFill>
          <a:schemeClr val="tx1"/>
        </a:solidFill>
        <a:latin typeface="Times" pitchFamily="4" charset="0"/>
        <a:ea typeface="ＭＳ Ｐゴシック" pitchFamily="4" charset="-128"/>
        <a:cs typeface="ＭＳ Ｐゴシック" pitchFamily="4" charset="-128"/>
      </a:defRPr>
    </a:lvl1pPr>
    <a:lvl2pPr marL="457200" algn="l" rtl="0" eaLnBrk="0" fontAlgn="base" hangingPunct="0">
      <a:spcBef>
        <a:spcPct val="0"/>
      </a:spcBef>
      <a:spcAft>
        <a:spcPct val="0"/>
      </a:spcAft>
      <a:defRPr sz="2400" kern="1200">
        <a:solidFill>
          <a:schemeClr val="tx1"/>
        </a:solidFill>
        <a:latin typeface="Times" pitchFamily="4" charset="0"/>
        <a:ea typeface="ＭＳ Ｐゴシック" pitchFamily="4" charset="-128"/>
        <a:cs typeface="ＭＳ Ｐゴシック" pitchFamily="4" charset="-128"/>
      </a:defRPr>
    </a:lvl2pPr>
    <a:lvl3pPr marL="914400" algn="l" rtl="0" eaLnBrk="0" fontAlgn="base" hangingPunct="0">
      <a:spcBef>
        <a:spcPct val="0"/>
      </a:spcBef>
      <a:spcAft>
        <a:spcPct val="0"/>
      </a:spcAft>
      <a:defRPr sz="2400" kern="1200">
        <a:solidFill>
          <a:schemeClr val="tx1"/>
        </a:solidFill>
        <a:latin typeface="Times" pitchFamily="4" charset="0"/>
        <a:ea typeface="ＭＳ Ｐゴシック" pitchFamily="4" charset="-128"/>
        <a:cs typeface="ＭＳ Ｐゴシック" pitchFamily="4" charset="-128"/>
      </a:defRPr>
    </a:lvl3pPr>
    <a:lvl4pPr marL="1371600" algn="l" rtl="0" eaLnBrk="0" fontAlgn="base" hangingPunct="0">
      <a:spcBef>
        <a:spcPct val="0"/>
      </a:spcBef>
      <a:spcAft>
        <a:spcPct val="0"/>
      </a:spcAft>
      <a:defRPr sz="2400" kern="1200">
        <a:solidFill>
          <a:schemeClr val="tx1"/>
        </a:solidFill>
        <a:latin typeface="Times" pitchFamily="4" charset="0"/>
        <a:ea typeface="ＭＳ Ｐゴシック" pitchFamily="4" charset="-128"/>
        <a:cs typeface="ＭＳ Ｐゴシック" pitchFamily="4" charset="-128"/>
      </a:defRPr>
    </a:lvl4pPr>
    <a:lvl5pPr marL="1828800" algn="l" rtl="0" eaLnBrk="0" fontAlgn="base" hangingPunct="0">
      <a:spcBef>
        <a:spcPct val="0"/>
      </a:spcBef>
      <a:spcAft>
        <a:spcPct val="0"/>
      </a:spcAft>
      <a:defRPr sz="2400" kern="1200">
        <a:solidFill>
          <a:schemeClr val="tx1"/>
        </a:solidFill>
        <a:latin typeface="Times" pitchFamily="4" charset="0"/>
        <a:ea typeface="ＭＳ Ｐゴシック" pitchFamily="4" charset="-128"/>
        <a:cs typeface="ＭＳ Ｐゴシック" pitchFamily="4" charset="-128"/>
      </a:defRPr>
    </a:lvl5pPr>
    <a:lvl6pPr marL="2286000" algn="l" defTabSz="457200" rtl="0" eaLnBrk="1" latinLnBrk="0" hangingPunct="1">
      <a:defRPr sz="2400" kern="1200">
        <a:solidFill>
          <a:schemeClr val="tx1"/>
        </a:solidFill>
        <a:latin typeface="Times" pitchFamily="4" charset="0"/>
        <a:ea typeface="ＭＳ Ｐゴシック" pitchFamily="4" charset="-128"/>
        <a:cs typeface="ＭＳ Ｐゴシック" pitchFamily="4" charset="-128"/>
      </a:defRPr>
    </a:lvl6pPr>
    <a:lvl7pPr marL="2743200" algn="l" defTabSz="457200" rtl="0" eaLnBrk="1" latinLnBrk="0" hangingPunct="1">
      <a:defRPr sz="2400" kern="1200">
        <a:solidFill>
          <a:schemeClr val="tx1"/>
        </a:solidFill>
        <a:latin typeface="Times" pitchFamily="4" charset="0"/>
        <a:ea typeface="ＭＳ Ｐゴシック" pitchFamily="4" charset="-128"/>
        <a:cs typeface="ＭＳ Ｐゴシック" pitchFamily="4" charset="-128"/>
      </a:defRPr>
    </a:lvl7pPr>
    <a:lvl8pPr marL="3200400" algn="l" defTabSz="457200" rtl="0" eaLnBrk="1" latinLnBrk="0" hangingPunct="1">
      <a:defRPr sz="2400" kern="1200">
        <a:solidFill>
          <a:schemeClr val="tx1"/>
        </a:solidFill>
        <a:latin typeface="Times" pitchFamily="4" charset="0"/>
        <a:ea typeface="ＭＳ Ｐゴシック" pitchFamily="4" charset="-128"/>
        <a:cs typeface="ＭＳ Ｐゴシック" pitchFamily="4" charset="-128"/>
      </a:defRPr>
    </a:lvl8pPr>
    <a:lvl9pPr marL="3657600" algn="l" defTabSz="457200" rtl="0" eaLnBrk="1" latinLnBrk="0" hangingPunct="1">
      <a:defRPr sz="2400" kern="1200">
        <a:solidFill>
          <a:schemeClr val="tx1"/>
        </a:solidFill>
        <a:latin typeface="Times" pitchFamily="4" charset="0"/>
        <a:ea typeface="ＭＳ Ｐゴシック" pitchFamily="4" charset="-128"/>
        <a:cs typeface="ＭＳ Ｐゴシック" pitchFamily="4"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6BF4"/>
    <a:srgbClr val="FF6600"/>
    <a:srgbClr val="A61AA6"/>
    <a:srgbClr val="663366"/>
    <a:srgbClr val="C7C7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D4741B-87D3-433E-A9B8-7C44F5D1AAFC}" v="2" dt="2024-01-25T17:14:50.8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39"/>
    <p:restoredTop sz="93979" autoAdjust="0"/>
  </p:normalViewPr>
  <p:slideViewPr>
    <p:cSldViewPr>
      <p:cViewPr varScale="1">
        <p:scale>
          <a:sx n="67" d="100"/>
          <a:sy n="67" d="100"/>
        </p:scale>
        <p:origin x="372"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4" d="100"/>
          <a:sy n="54" d="100"/>
        </p:scale>
        <p:origin x="-115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8" charset="0"/>
                <a:ea typeface="+mn-ea"/>
                <a:cs typeface="+mn-cs"/>
              </a:defRPr>
            </a:lvl1pPr>
          </a:lstStyle>
          <a:p>
            <a:pPr>
              <a:defRPr/>
            </a:pPr>
            <a:endParaRPr lang="en-GB"/>
          </a:p>
        </p:txBody>
      </p:sp>
      <p:sp>
        <p:nvSpPr>
          <p:cNvPr id="2457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8" charset="0"/>
                <a:ea typeface="+mn-ea"/>
                <a:cs typeface="+mn-cs"/>
              </a:defRPr>
            </a:lvl1pPr>
          </a:lstStyle>
          <a:p>
            <a:pPr>
              <a:defRPr/>
            </a:pPr>
            <a:endParaRPr lang="en-GB"/>
          </a:p>
        </p:txBody>
      </p:sp>
      <p:sp>
        <p:nvSpPr>
          <p:cNvPr id="102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458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8" charset="0"/>
                <a:ea typeface="+mn-ea"/>
                <a:cs typeface="+mn-cs"/>
              </a:defRPr>
            </a:lvl1pPr>
          </a:lstStyle>
          <a:p>
            <a:pPr>
              <a:defRPr/>
            </a:pPr>
            <a:endParaRPr lang="en-GB"/>
          </a:p>
        </p:txBody>
      </p:sp>
      <p:sp>
        <p:nvSpPr>
          <p:cNvPr id="2458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21B4CD3-F344-EF4E-AECC-6003E51DFA17}" type="slidenum">
              <a:rPr lang="en-GB"/>
              <a:pPr/>
              <a:t>‹#›</a:t>
            </a:fld>
            <a:endParaRPr lang="en-GB"/>
          </a:p>
        </p:txBody>
      </p:sp>
    </p:spTree>
    <p:extLst>
      <p:ext uri="{BB962C8B-B14F-4D97-AF65-F5344CB8AC3E}">
        <p14:creationId xmlns:p14="http://schemas.microsoft.com/office/powerpoint/2010/main" val="403793517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ＭＳ Ｐゴシック" pitchFamily="4" charset="-128"/>
      </a:defRPr>
    </a:lvl1pPr>
    <a:lvl2pPr marL="4572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516563"/>
          </a:xfrm>
          <a:prstGeom prst="rect">
            <a:avLst/>
          </a:prstGeom>
          <a:solidFill>
            <a:srgbClr val="663366"/>
          </a:solidFill>
          <a:ln>
            <a:noFill/>
          </a:ln>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a typeface="+mn-ea"/>
              <a:cs typeface="+mn-cs"/>
            </a:endParaRPr>
          </a:p>
        </p:txBody>
      </p:sp>
      <p:pic>
        <p:nvPicPr>
          <p:cNvPr id="5" name="Picture 8"/>
          <p:cNvPicPr>
            <a:picLocks noChangeAspect="1" noChangeArrowheads="1"/>
          </p:cNvPicPr>
          <p:nvPr userDrawn="1"/>
        </p:nvPicPr>
        <p:blipFill>
          <a:blip r:embed="rId2"/>
          <a:srcRect/>
          <a:stretch>
            <a:fillRect/>
          </a:stretch>
        </p:blipFill>
        <p:spPr bwMode="auto">
          <a:xfrm>
            <a:off x="266700" y="5843588"/>
            <a:ext cx="1943100" cy="862012"/>
          </a:xfrm>
          <a:prstGeom prst="rect">
            <a:avLst/>
          </a:prstGeom>
          <a:noFill/>
          <a:ln w="9525">
            <a:noFill/>
            <a:miter lim="800000"/>
            <a:headEnd/>
            <a:tailEnd/>
          </a:ln>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GB"/>
              <a:t>Click to edit Master title style</a:t>
            </a:r>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GB"/>
              <a:t>Click to edit Master subtitle style</a:t>
            </a:r>
          </a:p>
        </p:txBody>
      </p:sp>
      <p:sp>
        <p:nvSpPr>
          <p:cNvPr id="6" name="Rectangle 6"/>
          <p:cNvSpPr>
            <a:spLocks noGrp="1" noChangeArrowheads="1"/>
          </p:cNvSpPr>
          <p:nvPr>
            <p:ph type="sldNum" sz="quarter" idx="10"/>
          </p:nvPr>
        </p:nvSpPr>
        <p:spPr>
          <a:xfrm>
            <a:off x="6553200" y="6245225"/>
            <a:ext cx="2133600" cy="476250"/>
          </a:xfrm>
        </p:spPr>
        <p:txBody>
          <a:bodyPr/>
          <a:lstStyle>
            <a:lvl1pPr>
              <a:defRPr/>
            </a:lvl1pPr>
          </a:lstStyle>
          <a:p>
            <a:fld id="{A5E6EF1E-C022-B041-ABF4-8077A3E5DEDB}" type="slidenum">
              <a:rPr lang="en-GB"/>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8F711B23-FE33-9846-B273-E8522A2CB14F}" type="slidenum">
              <a:rPr lang="en-GB"/>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3B12DE71-8FC4-3F4C-89CB-42B9CF6A9A5F}" type="slidenum">
              <a:rPr lang="en-GB"/>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fld id="{9E6F86F7-BDD2-5348-A178-9BF21F1CDF89}" type="slidenum">
              <a:rPr lang="en-GB"/>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fld id="{2DC557AA-EE3A-9C49-9B16-2A9E68280615}" type="slidenum">
              <a:rPr lang="en-GB"/>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fld id="{CAC88D1E-E65F-E740-B79A-E839F2DAF0C5}" type="slidenum">
              <a:rPr lang="en-GB"/>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fld id="{E8A6B92A-EBA9-9640-9352-1DAD94B3EECF}" type="slidenum">
              <a:rPr lang="en-GB"/>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fld id="{FF5F0F88-15F7-3E46-A69F-8B7166186ADF}" type="slidenum">
              <a:rPr lang="en-GB"/>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fld id="{70B4FE0D-8C4B-854A-8149-90C2FB0CB32A}" type="slidenum">
              <a:rPr lang="en-GB"/>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99D51800-64C8-674B-BBD5-DD344B7488CB}" type="slidenum">
              <a:rPr lang="en-GB"/>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3B7A8918-EB37-CC44-945B-A565ADFBE600}" type="slidenum">
              <a:rPr lang="en-GB"/>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userDrawn="1"/>
        </p:nvSpPr>
        <p:spPr bwMode="auto">
          <a:xfrm>
            <a:off x="0" y="0"/>
            <a:ext cx="9140825" cy="6873875"/>
          </a:xfrm>
          <a:prstGeom prst="rect">
            <a:avLst/>
          </a:prstGeom>
          <a:solidFill>
            <a:srgbClr val="663366"/>
          </a:solidFill>
          <a:ln>
            <a:noFill/>
          </a:ln>
        </p:spPr>
        <p:txBody>
          <a:bodyPr wrap="none" anchor="ctr">
            <a:prstTxWarp prst="textNoShape">
              <a:avLst/>
            </a:prstTxWarp>
          </a:bodyPr>
          <a:lstStyle/>
          <a:p>
            <a:pPr algn="ctr"/>
            <a:r>
              <a:rPr lang="en-GB">
                <a:solidFill>
                  <a:srgbClr val="663366"/>
                </a:solidFill>
              </a:rPr>
              <a:t>∂</a:t>
            </a:r>
          </a:p>
        </p:txBody>
      </p:sp>
      <p:sp>
        <p:nvSpPr>
          <p:cNvPr id="1027" name="Rectangle 8"/>
          <p:cNvSpPr>
            <a:spLocks noChangeArrowheads="1"/>
          </p:cNvSpPr>
          <p:nvPr userDrawn="1"/>
        </p:nvSpPr>
        <p:spPr bwMode="auto">
          <a:xfrm>
            <a:off x="107950" y="107950"/>
            <a:ext cx="8924925" cy="6657975"/>
          </a:xfrm>
          <a:prstGeom prst="rect">
            <a:avLst/>
          </a:prstGeom>
          <a:solidFill>
            <a:schemeClr val="bg1"/>
          </a:solidFill>
          <a:ln>
            <a:noFill/>
          </a:ln>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a typeface="+mn-ea"/>
              <a:cs typeface="+mn-cs"/>
            </a:endParaRPr>
          </a:p>
        </p:txBody>
      </p:sp>
      <p:sp>
        <p:nvSpPr>
          <p:cNvPr id="1028"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Heading style</a:t>
            </a:r>
          </a:p>
        </p:txBody>
      </p:sp>
      <p:sp>
        <p:nvSpPr>
          <p:cNvPr id="1029" name="Rectangle 3"/>
          <p:cNvSpPr>
            <a:spLocks noGrp="1" noChangeArrowheads="1"/>
          </p:cNvSpPr>
          <p:nvPr>
            <p:ph type="body" idx="1"/>
          </p:nvPr>
        </p:nvSpPr>
        <p:spPr bwMode="auto">
          <a:xfrm>
            <a:off x="684213" y="1989138"/>
            <a:ext cx="7772400" cy="38163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pitchFamily="18" charset="0"/>
                <a:ea typeface="+mn-ea"/>
                <a:cs typeface="+mn-cs"/>
              </a:defRPr>
            </a:lvl1pPr>
          </a:lstStyle>
          <a:p>
            <a:pPr>
              <a:defRPr/>
            </a:pPr>
            <a:endParaRPr lang="en-GB"/>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pitchFamily="18" charset="0"/>
                <a:ea typeface="+mn-ea"/>
                <a:cs typeface="+mn-cs"/>
              </a:defRPr>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99C0BFE6-C9EA-5643-A807-9410A4C353AE}" type="slidenum">
              <a:rPr lang="en-GB"/>
              <a:pPr/>
              <a:t>‹#›</a:t>
            </a:fld>
            <a:endParaRPr lang="en-GB"/>
          </a:p>
        </p:txBody>
      </p:sp>
      <p:sp>
        <p:nvSpPr>
          <p:cNvPr id="1033" name="Rectangle 9"/>
          <p:cNvSpPr>
            <a:spLocks noChangeArrowheads="1"/>
          </p:cNvSpPr>
          <p:nvPr userDrawn="1"/>
        </p:nvSpPr>
        <p:spPr bwMode="auto">
          <a:xfrm>
            <a:off x="790575" y="611188"/>
            <a:ext cx="8024813" cy="1143000"/>
          </a:xfrm>
          <a:prstGeom prst="rect">
            <a:avLst/>
          </a:prstGeom>
          <a:noFill/>
          <a:ln>
            <a:noFill/>
          </a:ln>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defRPr/>
            </a:pPr>
            <a:endParaRPr lang="en-US" altLang="en-US" sz="4400">
              <a:solidFill>
                <a:schemeClr val="bg1"/>
              </a:solidFill>
              <a:ea typeface="+mn-ea"/>
              <a:cs typeface="+mn-cs"/>
            </a:endParaRPr>
          </a:p>
        </p:txBody>
      </p:sp>
      <p:sp>
        <p:nvSpPr>
          <p:cNvPr id="1034" name="Rectangle 10"/>
          <p:cNvSpPr>
            <a:spLocks noChangeArrowheads="1"/>
          </p:cNvSpPr>
          <p:nvPr userDrawn="1"/>
        </p:nvSpPr>
        <p:spPr bwMode="auto">
          <a:xfrm>
            <a:off x="790575" y="1798638"/>
            <a:ext cx="8024813" cy="3813175"/>
          </a:xfrm>
          <a:prstGeom prst="rect">
            <a:avLst/>
          </a:prstGeom>
          <a:noFill/>
          <a:ln>
            <a:noFill/>
          </a:ln>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spcBef>
                <a:spcPct val="20000"/>
              </a:spcBef>
              <a:defRPr/>
            </a:pPr>
            <a:endParaRPr lang="en-US" altLang="en-US" sz="1800" b="1">
              <a:solidFill>
                <a:schemeClr val="bg1"/>
              </a:solidFill>
              <a:latin typeface="Arial" charset="0"/>
              <a:ea typeface="+mn-ea"/>
              <a:cs typeface="+mn-cs"/>
            </a:endParaRPr>
          </a:p>
        </p:txBody>
      </p:sp>
      <p:pic>
        <p:nvPicPr>
          <p:cNvPr id="1035" name="Picture 11"/>
          <p:cNvPicPr>
            <a:picLocks noChangeAspect="1" noChangeArrowheads="1"/>
          </p:cNvPicPr>
          <p:nvPr userDrawn="1"/>
        </p:nvPicPr>
        <p:blipFill>
          <a:blip r:embed="rId13"/>
          <a:srcRect/>
          <a:stretch>
            <a:fillRect/>
          </a:stretch>
        </p:blipFill>
        <p:spPr bwMode="auto">
          <a:xfrm>
            <a:off x="266700" y="5843588"/>
            <a:ext cx="1943100" cy="86201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043" r:id="rId1"/>
    <p:sldLayoutId id="2147484033" r:id="rId2"/>
    <p:sldLayoutId id="2147484034" r:id="rId3"/>
    <p:sldLayoutId id="2147484035" r:id="rId4"/>
    <p:sldLayoutId id="2147484036" r:id="rId5"/>
    <p:sldLayoutId id="2147484037" r:id="rId6"/>
    <p:sldLayoutId id="2147484038" r:id="rId7"/>
    <p:sldLayoutId id="2147484039" r:id="rId8"/>
    <p:sldLayoutId id="2147484040" r:id="rId9"/>
    <p:sldLayoutId id="2147484041" r:id="rId10"/>
    <p:sldLayoutId id="2147484042" r:id="rId11"/>
  </p:sldLayoutIdLst>
  <p:txStyles>
    <p:titleStyle>
      <a:lvl1pPr algn="l" rtl="0" eaLnBrk="0" fontAlgn="base" hangingPunct="0">
        <a:spcBef>
          <a:spcPct val="0"/>
        </a:spcBef>
        <a:spcAft>
          <a:spcPct val="0"/>
        </a:spcAft>
        <a:defRPr sz="4400">
          <a:solidFill>
            <a:srgbClr val="663366"/>
          </a:solidFill>
          <a:latin typeface="+mj-lt"/>
          <a:ea typeface="ＭＳ Ｐゴシック" pitchFamily="4" charset="-128"/>
          <a:cs typeface="ＭＳ Ｐゴシック" pitchFamily="4" charset="-128"/>
        </a:defRPr>
      </a:lvl1pPr>
      <a:lvl2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2pPr>
      <a:lvl3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3pPr>
      <a:lvl4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4pPr>
      <a:lvl5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5pPr>
      <a:lvl6pPr marL="457200" algn="l" rtl="0" fontAlgn="base">
        <a:spcBef>
          <a:spcPct val="0"/>
        </a:spcBef>
        <a:spcAft>
          <a:spcPct val="0"/>
        </a:spcAft>
        <a:defRPr sz="4400">
          <a:solidFill>
            <a:srgbClr val="663366"/>
          </a:solidFill>
          <a:latin typeface="Times" pitchFamily="18" charset="0"/>
        </a:defRPr>
      </a:lvl6pPr>
      <a:lvl7pPr marL="914400" algn="l" rtl="0" fontAlgn="base">
        <a:spcBef>
          <a:spcPct val="0"/>
        </a:spcBef>
        <a:spcAft>
          <a:spcPct val="0"/>
        </a:spcAft>
        <a:defRPr sz="4400">
          <a:solidFill>
            <a:srgbClr val="663366"/>
          </a:solidFill>
          <a:latin typeface="Times" pitchFamily="18" charset="0"/>
        </a:defRPr>
      </a:lvl7pPr>
      <a:lvl8pPr marL="1371600" algn="l" rtl="0" fontAlgn="base">
        <a:spcBef>
          <a:spcPct val="0"/>
        </a:spcBef>
        <a:spcAft>
          <a:spcPct val="0"/>
        </a:spcAft>
        <a:defRPr sz="4400">
          <a:solidFill>
            <a:srgbClr val="663366"/>
          </a:solidFill>
          <a:latin typeface="Times" pitchFamily="18" charset="0"/>
        </a:defRPr>
      </a:lvl8pPr>
      <a:lvl9pPr marL="1828800" algn="l" rtl="0" fontAlgn="base">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ＭＳ Ｐゴシック" pitchFamily="4" charset="-128"/>
          <a:cs typeface="ＭＳ Ｐゴシック" pitchFamily="4" charset="-128"/>
        </a:defRPr>
      </a:lvl1pPr>
      <a:lvl2pPr marL="742950" indent="-285750" algn="l" rtl="0" eaLnBrk="0" fontAlgn="base" hangingPunct="0">
        <a:spcBef>
          <a:spcPct val="20000"/>
        </a:spcBef>
        <a:spcAft>
          <a:spcPct val="0"/>
        </a:spcAft>
        <a:buChar char="–"/>
        <a:defRPr sz="1600">
          <a:solidFill>
            <a:schemeClr val="tx1"/>
          </a:solidFill>
          <a:latin typeface="+mn-lt"/>
          <a:ea typeface="ＭＳ Ｐゴシック" pitchFamily="4" charset="-128"/>
        </a:defRPr>
      </a:lvl2pPr>
      <a:lvl3pPr marL="1143000" indent="-228600" algn="l" rtl="0" eaLnBrk="0" fontAlgn="base" hangingPunct="0">
        <a:spcBef>
          <a:spcPct val="20000"/>
        </a:spcBef>
        <a:spcAft>
          <a:spcPct val="0"/>
        </a:spcAft>
        <a:buChar char="•"/>
        <a:defRPr sz="1400">
          <a:solidFill>
            <a:schemeClr val="tx1"/>
          </a:solidFill>
          <a:latin typeface="+mn-lt"/>
          <a:ea typeface="ＭＳ Ｐゴシック" pitchFamily="4" charset="-128"/>
        </a:defRPr>
      </a:lvl3pPr>
      <a:lvl4pPr marL="16002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4pPr>
      <a:lvl5pPr marL="20574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sz="quarter"/>
          </p:nvPr>
        </p:nvSpPr>
        <p:spPr>
          <a:xfrm>
            <a:off x="685800" y="692696"/>
            <a:ext cx="7772400" cy="1470025"/>
          </a:xfrm>
        </p:spPr>
        <p:txBody>
          <a:bodyPr/>
          <a:lstStyle/>
          <a:p>
            <a:br>
              <a:rPr lang="en-US" dirty="0"/>
            </a:br>
            <a:br>
              <a:rPr lang="en-US" dirty="0"/>
            </a:br>
            <a:br>
              <a:rPr lang="en-US" dirty="0"/>
            </a:br>
            <a:r>
              <a:rPr lang="en-US" dirty="0">
                <a:latin typeface="+mn-lt"/>
                <a:ea typeface="Times New Roman" pitchFamily="4" charset="0"/>
                <a:cs typeface="Times New Roman"/>
              </a:rPr>
              <a:t>Trusts Law</a:t>
            </a:r>
            <a:br>
              <a:rPr lang="en-US" dirty="0">
                <a:latin typeface="+mn-lt"/>
                <a:ea typeface="Times New Roman" pitchFamily="4" charset="0"/>
                <a:cs typeface="Times New Roman" pitchFamily="4" charset="0"/>
              </a:rPr>
            </a:br>
            <a:br>
              <a:rPr lang="en-US" dirty="0">
                <a:latin typeface="+mn-lt"/>
                <a:ea typeface="Times New Roman" pitchFamily="4" charset="0"/>
                <a:cs typeface="Times New Roman" pitchFamily="4" charset="0"/>
              </a:rPr>
            </a:br>
            <a:r>
              <a:rPr lang="en-US" dirty="0">
                <a:latin typeface="+mn-lt"/>
                <a:ea typeface="Times New Roman" pitchFamily="4" charset="0"/>
                <a:cs typeface="Times New Roman"/>
              </a:rPr>
              <a:t>Week 12: </a:t>
            </a:r>
            <a:r>
              <a:rPr lang="en-GB" dirty="0">
                <a:latin typeface="+mn-lt"/>
                <a:ea typeface="Times New Roman" pitchFamily="4" charset="0"/>
                <a:cs typeface="Times New Roman"/>
              </a:rPr>
              <a:t>Fiduciary duties and associated remedies</a:t>
            </a:r>
            <a:br>
              <a:rPr lang="en-US" dirty="0">
                <a:latin typeface="Times New Roman" pitchFamily="4" charset="0"/>
                <a:ea typeface="Times New Roman" pitchFamily="4" charset="0"/>
                <a:cs typeface="Times New Roman" pitchFamily="4" charset="0"/>
              </a:rPr>
            </a:br>
            <a:br>
              <a:rPr lang="en-US" sz="3600" dirty="0"/>
            </a:br>
            <a:endParaRPr lang="en-GB" sz="2800" dirty="0"/>
          </a:p>
        </p:txBody>
      </p:sp>
      <p:sp>
        <p:nvSpPr>
          <p:cNvPr id="3075" name="Subtitle 2"/>
          <p:cNvSpPr>
            <a:spLocks noGrp="1"/>
          </p:cNvSpPr>
          <p:nvPr>
            <p:ph type="subTitle" sz="quarter" idx="1"/>
          </p:nvPr>
        </p:nvSpPr>
        <p:spPr>
          <a:xfrm>
            <a:off x="791369" y="2348880"/>
            <a:ext cx="7561262" cy="1223963"/>
          </a:xfrm>
        </p:spPr>
        <p:txBody>
          <a:bodyPr/>
          <a:lstStyle/>
          <a:p>
            <a:pPr eaLnBrk="1" hangingPunct="1">
              <a:lnSpc>
                <a:spcPct val="110000"/>
              </a:lnSpc>
              <a:spcBef>
                <a:spcPct val="0"/>
              </a:spcBef>
            </a:pPr>
            <a:endParaRPr lang="en-GB" b="0" dirty="0">
              <a:latin typeface="Calibri" pitchFamily="4" charset="0"/>
            </a:endParaRPr>
          </a:p>
          <a:p>
            <a:pPr eaLnBrk="1" hangingPunct="1">
              <a:lnSpc>
                <a:spcPct val="110000"/>
              </a:lnSpc>
              <a:spcBef>
                <a:spcPct val="0"/>
              </a:spcBef>
            </a:pPr>
            <a:endParaRPr lang="en-GB" b="0" dirty="0">
              <a:latin typeface="Calibri" pitchFamily="4" charset="0"/>
            </a:endParaRPr>
          </a:p>
          <a:p>
            <a:pPr eaLnBrk="1" hangingPunct="1">
              <a:lnSpc>
                <a:spcPct val="110000"/>
              </a:lnSpc>
              <a:spcBef>
                <a:spcPct val="0"/>
              </a:spcBef>
            </a:pPr>
            <a:endParaRPr lang="en-GB" b="0" dirty="0">
              <a:latin typeface="Calibri" pitchFamily="4" charset="0"/>
            </a:endParaRPr>
          </a:p>
          <a:p>
            <a:pPr eaLnBrk="1" hangingPunct="1">
              <a:lnSpc>
                <a:spcPct val="110000"/>
              </a:lnSpc>
              <a:spcBef>
                <a:spcPct val="0"/>
              </a:spcBef>
            </a:pPr>
            <a:endParaRPr lang="en-GB" b="0" dirty="0">
              <a:latin typeface="Calibri" pitchFamily="4" charset="0"/>
            </a:endParaRPr>
          </a:p>
          <a:p>
            <a:pPr eaLnBrk="1" hangingPunct="1">
              <a:lnSpc>
                <a:spcPct val="110000"/>
              </a:lnSpc>
              <a:spcBef>
                <a:spcPct val="0"/>
              </a:spcBef>
            </a:pPr>
            <a:r>
              <a:rPr lang="en-GB" b="0" dirty="0">
                <a:latin typeface="Calibri" pitchFamily="4" charset="0"/>
              </a:rPr>
              <a:t>Dr Johanna Jacques</a:t>
            </a:r>
          </a:p>
          <a:p>
            <a:pPr eaLnBrk="1" hangingPunct="1">
              <a:lnSpc>
                <a:spcPct val="110000"/>
              </a:lnSpc>
              <a:spcBef>
                <a:spcPct val="0"/>
              </a:spcBef>
            </a:pPr>
            <a:endParaRPr lang="en-GB" b="0" dirty="0"/>
          </a:p>
          <a:p>
            <a:pPr eaLnBrk="1" hangingPunct="1"/>
            <a:endParaRPr lang="en-GB" dirty="0"/>
          </a:p>
        </p:txBody>
      </p:sp>
    </p:spTree>
    <p:extLst>
      <p:ext uri="{BB962C8B-B14F-4D97-AF65-F5344CB8AC3E}">
        <p14:creationId xmlns:p14="http://schemas.microsoft.com/office/powerpoint/2010/main" val="1386117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7495FF6B-35F3-D841-B8AC-0BB4457B964A}"/>
              </a:ext>
            </a:extLst>
          </p:cNvPr>
          <p:cNvSpPr>
            <a:spLocks noGrp="1"/>
          </p:cNvSpPr>
          <p:nvPr>
            <p:ph type="title"/>
          </p:nvPr>
        </p:nvSpPr>
        <p:spPr/>
        <p:txBody>
          <a:bodyPr/>
          <a:lstStyle/>
          <a:p>
            <a:pPr>
              <a:defRPr/>
            </a:pPr>
            <a:r>
              <a:rPr lang="en-GB" altLang="en-US" dirty="0">
                <a:latin typeface="+mn-lt"/>
                <a:ea typeface="ＭＳ Ｐゴシック" panose="020B0600070205080204" pitchFamily="34" charset="-128"/>
              </a:rPr>
              <a:t>Looking ahead…</a:t>
            </a:r>
          </a:p>
        </p:txBody>
      </p:sp>
      <p:sp>
        <p:nvSpPr>
          <p:cNvPr id="15363" name="Content Placeholder 2">
            <a:extLst>
              <a:ext uri="{FF2B5EF4-FFF2-40B4-BE49-F238E27FC236}">
                <a16:creationId xmlns:a16="http://schemas.microsoft.com/office/drawing/2014/main" id="{B1362EB2-44AF-9D42-A8F5-01DD21AF6C8D}"/>
              </a:ext>
            </a:extLst>
          </p:cNvPr>
          <p:cNvSpPr txBox="1">
            <a:spLocks/>
          </p:cNvSpPr>
          <p:nvPr/>
        </p:nvSpPr>
        <p:spPr bwMode="auto">
          <a:xfrm>
            <a:off x="685800" y="2060848"/>
            <a:ext cx="7772400" cy="1931715"/>
          </a:xfrm>
          <a:prstGeom prst="rect">
            <a:avLst/>
          </a:prstGeom>
          <a:noFill/>
          <a:ln>
            <a:noFill/>
          </a:ln>
        </p:spPr>
        <p:txBody>
          <a:bodyPr lIns="91440" tIns="45720" rIns="91440" bIns="45720" anchor="t"/>
          <a:lstStyle>
            <a:lvl1pPr marL="571500" indent="-571500">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indent="0">
              <a:defRPr/>
            </a:pPr>
            <a:endParaRPr lang="en-US" altLang="en-US" sz="2000" dirty="0">
              <a:solidFill>
                <a:srgbClr val="000000"/>
              </a:solidFill>
            </a:endParaRPr>
          </a:p>
          <a:p>
            <a:pPr marL="0" indent="0">
              <a:defRPr/>
            </a:pPr>
            <a:endParaRPr lang="en-US" altLang="en-US" sz="2000" dirty="0">
              <a:solidFill>
                <a:srgbClr val="000000"/>
              </a:solidFill>
            </a:endParaRPr>
          </a:p>
        </p:txBody>
      </p:sp>
      <p:graphicFrame>
        <p:nvGraphicFramePr>
          <p:cNvPr id="2" name="Table 1">
            <a:extLst>
              <a:ext uri="{FF2B5EF4-FFF2-40B4-BE49-F238E27FC236}">
                <a16:creationId xmlns:a16="http://schemas.microsoft.com/office/drawing/2014/main" id="{82B55028-E6F3-2782-E492-C8AA54C99971}"/>
              </a:ext>
            </a:extLst>
          </p:cNvPr>
          <p:cNvGraphicFramePr>
            <a:graphicFrameLocks noGrp="1"/>
          </p:cNvGraphicFramePr>
          <p:nvPr>
            <p:extLst>
              <p:ext uri="{D42A27DB-BD31-4B8C-83A1-F6EECF244321}">
                <p14:modId xmlns:p14="http://schemas.microsoft.com/office/powerpoint/2010/main" val="1264012084"/>
              </p:ext>
            </p:extLst>
          </p:nvPr>
        </p:nvGraphicFramePr>
        <p:xfrm>
          <a:off x="1799692" y="1752600"/>
          <a:ext cx="5940659" cy="4085389"/>
        </p:xfrm>
        <a:graphic>
          <a:graphicData uri="http://schemas.openxmlformats.org/drawingml/2006/table">
            <a:tbl>
              <a:tblPr/>
              <a:tblGrid>
                <a:gridCol w="1110825">
                  <a:extLst>
                    <a:ext uri="{9D8B030D-6E8A-4147-A177-3AD203B41FA5}">
                      <a16:colId xmlns:a16="http://schemas.microsoft.com/office/drawing/2014/main" val="2457568859"/>
                    </a:ext>
                  </a:extLst>
                </a:gridCol>
                <a:gridCol w="1384265">
                  <a:extLst>
                    <a:ext uri="{9D8B030D-6E8A-4147-A177-3AD203B41FA5}">
                      <a16:colId xmlns:a16="http://schemas.microsoft.com/office/drawing/2014/main" val="113472633"/>
                    </a:ext>
                  </a:extLst>
                </a:gridCol>
                <a:gridCol w="2417136">
                  <a:extLst>
                    <a:ext uri="{9D8B030D-6E8A-4147-A177-3AD203B41FA5}">
                      <a16:colId xmlns:a16="http://schemas.microsoft.com/office/drawing/2014/main" val="1202002579"/>
                    </a:ext>
                  </a:extLst>
                </a:gridCol>
                <a:gridCol w="1028433">
                  <a:extLst>
                    <a:ext uri="{9D8B030D-6E8A-4147-A177-3AD203B41FA5}">
                      <a16:colId xmlns:a16="http://schemas.microsoft.com/office/drawing/2014/main" val="2642216089"/>
                    </a:ext>
                  </a:extLst>
                </a:gridCol>
              </a:tblGrid>
              <a:tr h="371399">
                <a:tc>
                  <a:txBody>
                    <a:bodyPr/>
                    <a:lstStyle/>
                    <a:p>
                      <a:pPr algn="l" fontAlgn="t">
                        <a:lnSpc>
                          <a:spcPct val="200000"/>
                        </a:lnSpc>
                        <a:spcBef>
                          <a:spcPts val="0"/>
                        </a:spcBef>
                        <a:spcAft>
                          <a:spcPts val="600"/>
                        </a:spcAft>
                      </a:pPr>
                      <a:r>
                        <a:rPr lang="en-GB" sz="800" b="0" i="0" u="none" strike="noStrike">
                          <a:solidFill>
                            <a:srgbClr val="000000"/>
                          </a:solidFill>
                          <a:effectLst/>
                          <a:latin typeface="Arial" panose="020B0604020202020204" pitchFamily="34" charset="0"/>
                          <a:ea typeface="MS Mincho" panose="02020609040205080304" pitchFamily="49" charset="-128"/>
                          <a:cs typeface="Times New Roman" panose="02020603050405020304" pitchFamily="18" charset="0"/>
                        </a:rPr>
                        <a:t>Teaching week*</a:t>
                      </a:r>
                      <a:endParaRPr lang="en-GB" sz="1300" b="0" i="0" u="none" strike="noStrike">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l" fontAlgn="t">
                        <a:lnSpc>
                          <a:spcPct val="200000"/>
                        </a:lnSpc>
                        <a:spcBef>
                          <a:spcPts val="0"/>
                        </a:spcBef>
                        <a:spcAft>
                          <a:spcPts val="600"/>
                        </a:spcAft>
                      </a:pPr>
                      <a:r>
                        <a:rPr lang="en-GB" sz="800" b="0" i="0" u="none" strike="noStrike">
                          <a:solidFill>
                            <a:srgbClr val="000000"/>
                          </a:solidFill>
                          <a:effectLst/>
                          <a:latin typeface="Arial" panose="020B0604020202020204" pitchFamily="34" charset="0"/>
                          <a:ea typeface="MS Mincho" panose="02020609040205080304" pitchFamily="49" charset="-128"/>
                          <a:cs typeface="Times New Roman" panose="02020603050405020304" pitchFamily="18" charset="0"/>
                        </a:rPr>
                        <a:t>Date</a:t>
                      </a:r>
                      <a:endParaRPr lang="en-GB" sz="1300" b="0" i="0" u="none" strike="noStrike">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l" fontAlgn="t">
                        <a:lnSpc>
                          <a:spcPct val="200000"/>
                        </a:lnSpc>
                        <a:spcBef>
                          <a:spcPts val="0"/>
                        </a:spcBef>
                        <a:spcAft>
                          <a:spcPts val="600"/>
                        </a:spcAft>
                      </a:pPr>
                      <a:r>
                        <a:rPr lang="en-GB" sz="800" b="0" i="0" u="none" strike="noStrike">
                          <a:solidFill>
                            <a:srgbClr val="000000"/>
                          </a:solidFill>
                          <a:effectLst/>
                          <a:latin typeface="Arial" panose="020B0604020202020204" pitchFamily="34" charset="0"/>
                          <a:ea typeface="MS Mincho" panose="02020609040205080304" pitchFamily="49" charset="-128"/>
                          <a:cs typeface="Times New Roman" panose="02020603050405020304" pitchFamily="18" charset="0"/>
                        </a:rPr>
                        <a:t>Topic</a:t>
                      </a:r>
                      <a:endParaRPr lang="en-GB" sz="1300" b="0" i="0" u="none" strike="noStrike">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l" fontAlgn="t">
                        <a:lnSpc>
                          <a:spcPct val="200000"/>
                        </a:lnSpc>
                        <a:spcBef>
                          <a:spcPts val="0"/>
                        </a:spcBef>
                        <a:spcAft>
                          <a:spcPts val="600"/>
                        </a:spcAft>
                      </a:pPr>
                      <a:r>
                        <a:rPr lang="en-GB" sz="800" b="0" i="0" u="none" strike="noStrike">
                          <a:solidFill>
                            <a:srgbClr val="000000"/>
                          </a:solidFill>
                          <a:effectLst/>
                          <a:latin typeface="Arial" panose="020B0604020202020204" pitchFamily="34" charset="0"/>
                          <a:ea typeface="MS Mincho" panose="02020609040205080304" pitchFamily="49" charset="-128"/>
                          <a:cs typeface="Times New Roman" panose="02020603050405020304" pitchFamily="18" charset="0"/>
                        </a:rPr>
                        <a:t>Lecturer</a:t>
                      </a:r>
                      <a:endParaRPr lang="en-GB" sz="1300" b="0" i="0" u="none" strike="noStrike">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extLst>
                  <a:ext uri="{0D108BD9-81ED-4DB2-BD59-A6C34878D82A}">
                    <a16:rowId xmlns:a16="http://schemas.microsoft.com/office/drawing/2014/main" val="800925440"/>
                  </a:ext>
                </a:extLst>
              </a:tr>
              <a:tr h="371399">
                <a:tc>
                  <a:txBody>
                    <a:bodyPr/>
                    <a:lstStyle/>
                    <a:p>
                      <a:pPr algn="l" fontAlgn="t">
                        <a:lnSpc>
                          <a:spcPct val="200000"/>
                        </a:lnSpc>
                        <a:spcBef>
                          <a:spcPts val="0"/>
                        </a:spcBef>
                        <a:spcAft>
                          <a:spcPts val="600"/>
                        </a:spcAft>
                      </a:pPr>
                      <a:r>
                        <a:rPr lang="en-GB" sz="800" b="0" i="0" u="none" strike="noStrike">
                          <a:effectLst/>
                          <a:latin typeface="Arial" panose="020B0604020202020204" pitchFamily="34" charset="0"/>
                          <a:ea typeface="MS Mincho" panose="02020609040205080304" pitchFamily="49" charset="-128"/>
                          <a:cs typeface="Times New Roman" panose="02020603050405020304" pitchFamily="18" charset="0"/>
                        </a:rPr>
                        <a:t>Week 11 (26)</a:t>
                      </a:r>
                      <a:endParaRPr lang="en-GB" sz="1300" b="0" i="0" u="none" strike="noStrike">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600"/>
                        </a:spcAft>
                      </a:pPr>
                      <a:r>
                        <a:rPr lang="en-GB" sz="800" b="0" i="0" u="none" strike="noStrike" dirty="0">
                          <a:effectLst/>
                          <a:latin typeface="Arial" panose="020B0604020202020204" pitchFamily="34" charset="0"/>
                          <a:ea typeface="MS Mincho" panose="02020609040205080304" pitchFamily="49" charset="-128"/>
                          <a:cs typeface="Times New Roman" panose="02020603050405020304" pitchFamily="18" charset="0"/>
                        </a:rPr>
                        <a:t>13 January</a:t>
                      </a:r>
                      <a:endParaRPr lang="en-GB" sz="1300" b="0" i="0" u="none" strike="noStrike" dirty="0">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800"/>
                        </a:spcAft>
                      </a:pPr>
                      <a:r>
                        <a:rPr lang="en-GB" sz="800" b="0" i="0" u="none" strike="noStrike" dirty="0">
                          <a:effectLst/>
                          <a:latin typeface="Arial" panose="020B0604020202020204" pitchFamily="34" charset="0"/>
                          <a:ea typeface="Calibri" panose="020F0502020204030204" pitchFamily="34" charset="0"/>
                          <a:cs typeface="Times New Roman" panose="02020603050405020304" pitchFamily="18" charset="0"/>
                        </a:rPr>
                        <a:t>Charitable trusts</a:t>
                      </a:r>
                      <a:endParaRPr lang="en-GB" sz="1300" b="0" i="0" u="none" strike="noStrike" dirty="0">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800"/>
                        </a:spcAft>
                      </a:pPr>
                      <a:r>
                        <a:rPr lang="en-GB" sz="800" b="0" i="0" u="none" strike="noStrike" dirty="0">
                          <a:effectLst/>
                          <a:latin typeface="Arial" panose="020B0604020202020204" pitchFamily="34" charset="0"/>
                          <a:ea typeface="MS Mincho" panose="02020609040205080304" pitchFamily="49" charset="-128"/>
                          <a:cs typeface="Times New Roman" panose="02020603050405020304" pitchFamily="18" charset="0"/>
                        </a:rPr>
                        <a:t>MP</a:t>
                      </a:r>
                      <a:endParaRPr lang="en-GB" sz="1300" b="0" i="0" u="none" strike="noStrike" dirty="0">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60971931"/>
                  </a:ext>
                </a:extLst>
              </a:tr>
              <a:tr h="371399">
                <a:tc>
                  <a:txBody>
                    <a:bodyPr/>
                    <a:lstStyle/>
                    <a:p>
                      <a:pPr algn="l" fontAlgn="t">
                        <a:lnSpc>
                          <a:spcPct val="200000"/>
                        </a:lnSpc>
                        <a:spcBef>
                          <a:spcPts val="0"/>
                        </a:spcBef>
                        <a:spcAft>
                          <a:spcPts val="600"/>
                        </a:spcAft>
                      </a:pPr>
                      <a:r>
                        <a:rPr lang="en-GB" sz="800" b="0" i="0" u="none" strike="noStrike">
                          <a:effectLst/>
                          <a:latin typeface="Arial" panose="020B0604020202020204" pitchFamily="34" charset="0"/>
                          <a:ea typeface="MS Mincho" panose="02020609040205080304" pitchFamily="49" charset="-128"/>
                          <a:cs typeface="Times New Roman" panose="02020603050405020304" pitchFamily="18" charset="0"/>
                        </a:rPr>
                        <a:t>Week 12 (27)</a:t>
                      </a:r>
                      <a:endParaRPr lang="en-GB" sz="1300" b="0" i="0" u="none" strike="noStrike">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600"/>
                        </a:spcAft>
                      </a:pPr>
                      <a:r>
                        <a:rPr lang="en-GB" sz="800" b="0" i="0" u="none" strike="noStrike" dirty="0">
                          <a:effectLst/>
                          <a:latin typeface="Arial" panose="020B0604020202020204" pitchFamily="34" charset="0"/>
                          <a:ea typeface="MS Mincho" panose="02020609040205080304" pitchFamily="49" charset="-128"/>
                          <a:cs typeface="Times New Roman" panose="02020603050405020304" pitchFamily="18" charset="0"/>
                        </a:rPr>
                        <a:t>20 January</a:t>
                      </a:r>
                      <a:endParaRPr lang="en-GB" sz="1300" b="0" i="0" u="none" strike="noStrike" dirty="0">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800"/>
                        </a:spcAft>
                      </a:pPr>
                      <a:r>
                        <a:rPr lang="en-GB" sz="800" b="1" i="0" u="none" strike="noStrike"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Fiduciary duties and associated remedies</a:t>
                      </a:r>
                      <a:endParaRPr lang="en-GB" sz="1300" b="1" i="0" u="none" strike="noStrike" dirty="0">
                        <a:solidFill>
                          <a:srgbClr val="0070C0"/>
                        </a:solidFill>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800"/>
                        </a:spcAft>
                      </a:pPr>
                      <a:r>
                        <a:rPr lang="en-GB" sz="800" b="0" i="0" u="none" strike="noStrike">
                          <a:effectLst/>
                          <a:latin typeface="Arial" panose="020B0604020202020204" pitchFamily="34" charset="0"/>
                          <a:ea typeface="MS Mincho" panose="02020609040205080304" pitchFamily="49" charset="-128"/>
                          <a:cs typeface="Times New Roman" panose="02020603050405020304" pitchFamily="18" charset="0"/>
                        </a:rPr>
                        <a:t>JJ</a:t>
                      </a:r>
                      <a:endParaRPr lang="en-GB" sz="1300" b="0" i="0" u="none" strike="noStrike">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2444798"/>
                  </a:ext>
                </a:extLst>
              </a:tr>
              <a:tr h="371399">
                <a:tc>
                  <a:txBody>
                    <a:bodyPr/>
                    <a:lstStyle/>
                    <a:p>
                      <a:pPr algn="l" fontAlgn="t">
                        <a:lnSpc>
                          <a:spcPct val="200000"/>
                        </a:lnSpc>
                        <a:spcBef>
                          <a:spcPts val="0"/>
                        </a:spcBef>
                        <a:spcAft>
                          <a:spcPts val="600"/>
                        </a:spcAft>
                      </a:pPr>
                      <a:r>
                        <a:rPr lang="en-GB" sz="800" b="0" i="0" u="none" strike="noStrike">
                          <a:effectLst/>
                          <a:latin typeface="Arial" panose="020B0604020202020204" pitchFamily="34" charset="0"/>
                          <a:ea typeface="MS Mincho" panose="02020609040205080304" pitchFamily="49" charset="-128"/>
                          <a:cs typeface="Times New Roman" panose="02020603050405020304" pitchFamily="18" charset="0"/>
                        </a:rPr>
                        <a:t>Week 13 (28)</a:t>
                      </a:r>
                      <a:endParaRPr lang="en-GB" sz="1300" b="0" i="0" u="none" strike="noStrike">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600"/>
                        </a:spcAft>
                      </a:pPr>
                      <a:r>
                        <a:rPr lang="en-GB" sz="800" b="0" i="0" u="none" strike="noStrike" dirty="0">
                          <a:effectLst/>
                          <a:latin typeface="Arial" panose="020B0604020202020204" pitchFamily="34" charset="0"/>
                          <a:ea typeface="MS Mincho" panose="02020609040205080304" pitchFamily="49" charset="-128"/>
                          <a:cs typeface="Times New Roman" panose="02020603050405020304" pitchFamily="18" charset="0"/>
                        </a:rPr>
                        <a:t>27 January</a:t>
                      </a:r>
                      <a:endParaRPr lang="en-GB" sz="1300" b="0" i="0" u="none" strike="noStrike" dirty="0">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600"/>
                        </a:spcAft>
                      </a:pPr>
                      <a:r>
                        <a:rPr lang="en-GB" sz="800" b="1" i="0" u="none" strike="noStrike">
                          <a:solidFill>
                            <a:srgbClr val="0070C0"/>
                          </a:solidFill>
                          <a:effectLst/>
                          <a:latin typeface="Arial" panose="020B0604020202020204" pitchFamily="34" charset="0"/>
                          <a:ea typeface="Calibri" panose="020F0502020204030204" pitchFamily="34" charset="0"/>
                          <a:cs typeface="Times New Roman" panose="02020603050405020304" pitchFamily="18" charset="0"/>
                        </a:rPr>
                        <a:t>Non-fiduciary duties</a:t>
                      </a:r>
                      <a:endParaRPr lang="en-GB" sz="1300" b="1" i="0" u="none" strike="noStrike">
                        <a:solidFill>
                          <a:srgbClr val="0070C0"/>
                        </a:solidFill>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800"/>
                        </a:spcAft>
                      </a:pPr>
                      <a:r>
                        <a:rPr lang="en-GB" sz="800" b="0" i="0" u="none" strike="noStrike">
                          <a:effectLst/>
                          <a:latin typeface="Arial" panose="020B0604020202020204" pitchFamily="34" charset="0"/>
                          <a:ea typeface="MS Mincho" panose="02020609040205080304" pitchFamily="49" charset="-128"/>
                          <a:cs typeface="Times New Roman" panose="02020603050405020304" pitchFamily="18" charset="0"/>
                        </a:rPr>
                        <a:t>JJ</a:t>
                      </a:r>
                      <a:endParaRPr lang="en-GB" sz="1300" b="0" i="0" u="none" strike="noStrike">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74529110"/>
                  </a:ext>
                </a:extLst>
              </a:tr>
              <a:tr h="371399">
                <a:tc>
                  <a:txBody>
                    <a:bodyPr/>
                    <a:lstStyle/>
                    <a:p>
                      <a:pPr algn="l" fontAlgn="t">
                        <a:lnSpc>
                          <a:spcPct val="200000"/>
                        </a:lnSpc>
                        <a:spcBef>
                          <a:spcPts val="0"/>
                        </a:spcBef>
                        <a:spcAft>
                          <a:spcPts val="600"/>
                        </a:spcAft>
                      </a:pPr>
                      <a:r>
                        <a:rPr lang="en-GB" sz="800" b="0" i="0" u="none" strike="noStrike">
                          <a:effectLst/>
                          <a:latin typeface="Arial" panose="020B0604020202020204" pitchFamily="34" charset="0"/>
                          <a:ea typeface="MS Mincho" panose="02020609040205080304" pitchFamily="49" charset="-128"/>
                          <a:cs typeface="Times New Roman" panose="02020603050405020304" pitchFamily="18" charset="0"/>
                        </a:rPr>
                        <a:t>Week 14 (29)</a:t>
                      </a:r>
                      <a:endParaRPr lang="en-GB" sz="1300" b="0" i="0" u="none" strike="noStrike">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600"/>
                        </a:spcAft>
                      </a:pPr>
                      <a:r>
                        <a:rPr lang="en-GB" sz="800" b="0" i="0" u="none" strike="noStrike" dirty="0">
                          <a:effectLst/>
                          <a:latin typeface="Arial" panose="020B0604020202020204" pitchFamily="34" charset="0"/>
                          <a:ea typeface="MS Mincho" panose="02020609040205080304" pitchFamily="49" charset="-128"/>
                          <a:cs typeface="Times New Roman" panose="02020603050405020304" pitchFamily="18" charset="0"/>
                        </a:rPr>
                        <a:t>3 February</a:t>
                      </a:r>
                      <a:endParaRPr lang="en-GB" sz="1300" b="0" i="0" u="none" strike="noStrike" dirty="0">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600"/>
                        </a:spcAft>
                      </a:pPr>
                      <a:r>
                        <a:rPr lang="en-GB" sz="800" b="1" i="0" u="none" strike="noStrike"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Remedies for breach of non-fiduciary duties</a:t>
                      </a:r>
                      <a:endParaRPr lang="en-GB" sz="1300" b="1" i="0" u="none" strike="noStrike" dirty="0">
                        <a:solidFill>
                          <a:srgbClr val="0070C0"/>
                        </a:solidFill>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800"/>
                        </a:spcAft>
                      </a:pPr>
                      <a:r>
                        <a:rPr lang="en-GB" sz="800" b="0" i="0" u="none" strike="noStrike">
                          <a:effectLst/>
                          <a:latin typeface="Arial" panose="020B0604020202020204" pitchFamily="34" charset="0"/>
                          <a:ea typeface="MS Mincho" panose="02020609040205080304" pitchFamily="49" charset="-128"/>
                          <a:cs typeface="Times New Roman" panose="02020603050405020304" pitchFamily="18" charset="0"/>
                        </a:rPr>
                        <a:t>JJ</a:t>
                      </a:r>
                      <a:endParaRPr lang="en-GB" sz="1300" b="0" i="0" u="none" strike="noStrike">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2565266"/>
                  </a:ext>
                </a:extLst>
              </a:tr>
              <a:tr h="371399">
                <a:tc>
                  <a:txBody>
                    <a:bodyPr/>
                    <a:lstStyle/>
                    <a:p>
                      <a:pPr algn="l" fontAlgn="t">
                        <a:lnSpc>
                          <a:spcPct val="200000"/>
                        </a:lnSpc>
                        <a:spcBef>
                          <a:spcPts val="0"/>
                        </a:spcBef>
                        <a:spcAft>
                          <a:spcPts val="600"/>
                        </a:spcAft>
                      </a:pPr>
                      <a:r>
                        <a:rPr lang="en-GB" sz="800" b="0" i="0" u="none" strike="noStrike">
                          <a:effectLst/>
                          <a:latin typeface="Arial" panose="020B0604020202020204" pitchFamily="34" charset="0"/>
                          <a:ea typeface="MS Mincho" panose="02020609040205080304" pitchFamily="49" charset="-128"/>
                          <a:cs typeface="Times New Roman" panose="02020603050405020304" pitchFamily="18" charset="0"/>
                        </a:rPr>
                        <a:t>Week 15 (30)</a:t>
                      </a:r>
                      <a:endParaRPr lang="en-GB" sz="1300" b="0" i="0" u="none" strike="noStrike">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600"/>
                        </a:spcAft>
                      </a:pPr>
                      <a:r>
                        <a:rPr lang="en-GB" sz="800" b="0" i="0" u="none" strike="noStrike" dirty="0">
                          <a:effectLst/>
                          <a:latin typeface="Arial" panose="020B0604020202020204" pitchFamily="34" charset="0"/>
                          <a:ea typeface="MS Mincho" panose="02020609040205080304" pitchFamily="49" charset="-128"/>
                          <a:cs typeface="Times New Roman" panose="02020603050405020304" pitchFamily="18" charset="0"/>
                        </a:rPr>
                        <a:t>10 February</a:t>
                      </a:r>
                      <a:endParaRPr lang="en-GB" sz="1300" b="0" i="0" u="none" strike="noStrike" dirty="0">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600"/>
                        </a:spcAft>
                      </a:pPr>
                      <a:r>
                        <a:rPr lang="en-GB" sz="800" b="1" i="0" u="none" strike="noStrike">
                          <a:solidFill>
                            <a:srgbClr val="0070C0"/>
                          </a:solidFill>
                          <a:effectLst/>
                          <a:latin typeface="Arial" panose="020B0604020202020204" pitchFamily="34" charset="0"/>
                          <a:ea typeface="Calibri" panose="020F0502020204030204" pitchFamily="34" charset="0"/>
                          <a:cs typeface="Times New Roman" panose="02020603050405020304" pitchFamily="18" charset="0"/>
                        </a:rPr>
                        <a:t>Tracing (I)</a:t>
                      </a:r>
                      <a:endParaRPr lang="en-GB" sz="1300" b="1" i="0" u="none" strike="noStrike">
                        <a:solidFill>
                          <a:srgbClr val="0070C0"/>
                        </a:solidFill>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800"/>
                        </a:spcAft>
                      </a:pPr>
                      <a:r>
                        <a:rPr lang="en-GB" sz="800" b="0" i="0" u="none" strike="noStrike">
                          <a:effectLst/>
                          <a:latin typeface="Arial" panose="020B0604020202020204" pitchFamily="34" charset="0"/>
                          <a:ea typeface="MS Mincho" panose="02020609040205080304" pitchFamily="49" charset="-128"/>
                          <a:cs typeface="Times New Roman" panose="02020603050405020304" pitchFamily="18" charset="0"/>
                        </a:rPr>
                        <a:t>JJ</a:t>
                      </a:r>
                      <a:endParaRPr lang="en-GB" sz="1300" b="0" i="0" u="none" strike="noStrike">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98938225"/>
                  </a:ext>
                </a:extLst>
              </a:tr>
              <a:tr h="371399">
                <a:tc>
                  <a:txBody>
                    <a:bodyPr/>
                    <a:lstStyle/>
                    <a:p>
                      <a:pPr algn="l" fontAlgn="t">
                        <a:lnSpc>
                          <a:spcPct val="200000"/>
                        </a:lnSpc>
                        <a:spcBef>
                          <a:spcPts val="0"/>
                        </a:spcBef>
                        <a:spcAft>
                          <a:spcPts val="600"/>
                        </a:spcAft>
                      </a:pPr>
                      <a:r>
                        <a:rPr lang="en-GB" sz="800" b="0" i="0" u="none" strike="noStrike">
                          <a:effectLst/>
                          <a:latin typeface="Arial" panose="020B0604020202020204" pitchFamily="34" charset="0"/>
                          <a:ea typeface="MS Mincho" panose="02020609040205080304" pitchFamily="49" charset="-128"/>
                          <a:cs typeface="Times New Roman" panose="02020603050405020304" pitchFamily="18" charset="0"/>
                        </a:rPr>
                        <a:t>Week 16 (31)</a:t>
                      </a:r>
                      <a:endParaRPr lang="en-GB" sz="1300" b="0" i="0" u="none" strike="noStrike">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600"/>
                        </a:spcAft>
                      </a:pPr>
                      <a:r>
                        <a:rPr lang="en-GB" sz="800" b="0" i="0" u="none" strike="noStrike" dirty="0">
                          <a:effectLst/>
                          <a:latin typeface="Arial" panose="020B0604020202020204" pitchFamily="34" charset="0"/>
                          <a:ea typeface="MS Mincho" panose="02020609040205080304" pitchFamily="49" charset="-128"/>
                          <a:cs typeface="Times New Roman" panose="02020603050405020304" pitchFamily="18" charset="0"/>
                        </a:rPr>
                        <a:t>17 February</a:t>
                      </a:r>
                      <a:endParaRPr lang="en-GB" sz="1300" b="0" i="0" u="none" strike="noStrike" dirty="0">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600"/>
                        </a:spcAft>
                      </a:pPr>
                      <a:r>
                        <a:rPr lang="en-GB" sz="800" b="1" i="0" u="none" strike="noStrike">
                          <a:solidFill>
                            <a:srgbClr val="0070C0"/>
                          </a:solidFill>
                          <a:effectLst/>
                          <a:latin typeface="Arial" panose="020B0604020202020204" pitchFamily="34" charset="0"/>
                          <a:ea typeface="Calibri" panose="020F0502020204030204" pitchFamily="34" charset="0"/>
                          <a:cs typeface="Times New Roman" panose="02020603050405020304" pitchFamily="18" charset="0"/>
                        </a:rPr>
                        <a:t>Tracing (II)</a:t>
                      </a:r>
                      <a:endParaRPr lang="en-GB" sz="1300" b="1" i="0" u="none" strike="noStrike">
                        <a:solidFill>
                          <a:srgbClr val="0070C0"/>
                        </a:solidFill>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800"/>
                        </a:spcAft>
                      </a:pPr>
                      <a:r>
                        <a:rPr lang="en-GB" sz="800" b="0" i="0" u="none" strike="noStrike">
                          <a:effectLst/>
                          <a:latin typeface="Arial" panose="020B0604020202020204" pitchFamily="34" charset="0"/>
                          <a:ea typeface="MS Mincho" panose="02020609040205080304" pitchFamily="49" charset="-128"/>
                          <a:cs typeface="Times New Roman" panose="02020603050405020304" pitchFamily="18" charset="0"/>
                        </a:rPr>
                        <a:t>JJ</a:t>
                      </a:r>
                      <a:endParaRPr lang="en-GB" sz="1300" b="0" i="0" u="none" strike="noStrike">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42216571"/>
                  </a:ext>
                </a:extLst>
              </a:tr>
              <a:tr h="371399">
                <a:tc>
                  <a:txBody>
                    <a:bodyPr/>
                    <a:lstStyle/>
                    <a:p>
                      <a:pPr algn="l" fontAlgn="t">
                        <a:lnSpc>
                          <a:spcPct val="200000"/>
                        </a:lnSpc>
                        <a:spcBef>
                          <a:spcPts val="0"/>
                        </a:spcBef>
                        <a:spcAft>
                          <a:spcPts val="600"/>
                        </a:spcAft>
                      </a:pPr>
                      <a:r>
                        <a:rPr lang="en-GB" sz="800" b="0" i="0" u="none" strike="noStrike">
                          <a:effectLst/>
                          <a:latin typeface="Arial" panose="020B0604020202020204" pitchFamily="34" charset="0"/>
                          <a:ea typeface="MS Mincho" panose="02020609040205080304" pitchFamily="49" charset="-128"/>
                          <a:cs typeface="Times New Roman" panose="02020603050405020304" pitchFamily="18" charset="0"/>
                        </a:rPr>
                        <a:t>Week 17 (32)</a:t>
                      </a:r>
                      <a:endParaRPr lang="en-GB" sz="1300" b="0" i="0" u="none" strike="noStrike">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600"/>
                        </a:spcAft>
                      </a:pPr>
                      <a:r>
                        <a:rPr lang="en-GB" sz="800" b="0" i="0" u="none" strike="noStrike" dirty="0">
                          <a:effectLst/>
                          <a:latin typeface="Arial" panose="020B0604020202020204" pitchFamily="34" charset="0"/>
                          <a:ea typeface="MS Mincho" panose="02020609040205080304" pitchFamily="49" charset="-128"/>
                          <a:cs typeface="Times New Roman" panose="02020603050405020304" pitchFamily="18" charset="0"/>
                        </a:rPr>
                        <a:t>24 February</a:t>
                      </a:r>
                      <a:endParaRPr lang="en-GB" sz="1300" b="0" i="0" u="none" strike="noStrike" dirty="0">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600"/>
                        </a:spcAft>
                      </a:pPr>
                      <a:r>
                        <a:rPr lang="en-GB" sz="800" b="1" i="0" u="none" strike="noStrike">
                          <a:solidFill>
                            <a:srgbClr val="0070C0"/>
                          </a:solidFill>
                          <a:effectLst/>
                          <a:latin typeface="Arial" panose="020B0604020202020204" pitchFamily="34" charset="0"/>
                          <a:ea typeface="Calibri" panose="020F0502020204030204" pitchFamily="34" charset="0"/>
                          <a:cs typeface="Times New Roman" panose="02020603050405020304" pitchFamily="18" charset="0"/>
                        </a:rPr>
                        <a:t>Dishonest assistance</a:t>
                      </a:r>
                      <a:endParaRPr lang="en-GB" sz="1300" b="1" i="0" u="none" strike="noStrike">
                        <a:solidFill>
                          <a:srgbClr val="0070C0"/>
                        </a:solidFill>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800"/>
                        </a:spcAft>
                      </a:pPr>
                      <a:r>
                        <a:rPr lang="en-GB" sz="800" b="0" i="0" u="none" strike="noStrike">
                          <a:effectLst/>
                          <a:latin typeface="Arial" panose="020B0604020202020204" pitchFamily="34" charset="0"/>
                          <a:ea typeface="MS Mincho" panose="02020609040205080304" pitchFamily="49" charset="-128"/>
                          <a:cs typeface="Times New Roman" panose="02020603050405020304" pitchFamily="18" charset="0"/>
                        </a:rPr>
                        <a:t>JJ</a:t>
                      </a:r>
                      <a:endParaRPr lang="en-GB" sz="1300" b="0" i="0" u="none" strike="noStrike">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8235135"/>
                  </a:ext>
                </a:extLst>
              </a:tr>
              <a:tr h="371399">
                <a:tc>
                  <a:txBody>
                    <a:bodyPr/>
                    <a:lstStyle/>
                    <a:p>
                      <a:pPr algn="l" fontAlgn="t">
                        <a:lnSpc>
                          <a:spcPct val="200000"/>
                        </a:lnSpc>
                        <a:spcBef>
                          <a:spcPts val="0"/>
                        </a:spcBef>
                        <a:spcAft>
                          <a:spcPts val="600"/>
                        </a:spcAft>
                      </a:pPr>
                      <a:r>
                        <a:rPr lang="en-GB" sz="800" b="0" i="0" u="none" strike="noStrike">
                          <a:effectLst/>
                          <a:latin typeface="Arial" panose="020B0604020202020204" pitchFamily="34" charset="0"/>
                          <a:ea typeface="MS Mincho" panose="02020609040205080304" pitchFamily="49" charset="-128"/>
                          <a:cs typeface="Times New Roman" panose="02020603050405020304" pitchFamily="18" charset="0"/>
                        </a:rPr>
                        <a:t>Week 18 (33)</a:t>
                      </a:r>
                      <a:endParaRPr lang="en-GB" sz="1300" b="0" i="0" u="none" strike="noStrike">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600"/>
                        </a:spcAft>
                      </a:pPr>
                      <a:r>
                        <a:rPr lang="en-GB" sz="800" b="0" i="0" u="none" strike="noStrike" dirty="0">
                          <a:effectLst/>
                          <a:latin typeface="Arial" panose="020B0604020202020204" pitchFamily="34" charset="0"/>
                          <a:ea typeface="MS Mincho" panose="02020609040205080304" pitchFamily="49" charset="-128"/>
                          <a:cs typeface="Times New Roman" panose="02020603050405020304" pitchFamily="18" charset="0"/>
                        </a:rPr>
                        <a:t>3 March</a:t>
                      </a:r>
                      <a:endParaRPr lang="en-GB" sz="1300" b="0" i="0" u="none" strike="noStrike" dirty="0">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600"/>
                        </a:spcAft>
                      </a:pPr>
                      <a:r>
                        <a:rPr lang="en-GB" sz="800" b="1" i="0" u="none" strike="noStrike" dirty="0">
                          <a:solidFill>
                            <a:srgbClr val="0070C0"/>
                          </a:solidFill>
                          <a:effectLst/>
                          <a:latin typeface="Arial" panose="020B0604020202020204" pitchFamily="34" charset="0"/>
                          <a:ea typeface="Calibri" panose="020F0502020204030204" pitchFamily="34" charset="0"/>
                          <a:cs typeface="Times New Roman" panose="02020603050405020304" pitchFamily="18" charset="0"/>
                        </a:rPr>
                        <a:t>Knowing receipt</a:t>
                      </a:r>
                      <a:endParaRPr lang="en-GB" sz="1300" b="1" i="0" u="none" strike="noStrike" dirty="0">
                        <a:solidFill>
                          <a:srgbClr val="0070C0"/>
                        </a:solidFill>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800"/>
                        </a:spcAft>
                      </a:pPr>
                      <a:r>
                        <a:rPr lang="en-GB" sz="800" b="0" i="0" u="none" strike="noStrike">
                          <a:effectLst/>
                          <a:latin typeface="Arial" panose="020B0604020202020204" pitchFamily="34" charset="0"/>
                          <a:ea typeface="MS Mincho" panose="02020609040205080304" pitchFamily="49" charset="-128"/>
                          <a:cs typeface="Times New Roman" panose="02020603050405020304" pitchFamily="18" charset="0"/>
                        </a:rPr>
                        <a:t>JJ</a:t>
                      </a:r>
                      <a:endParaRPr lang="en-GB" sz="1300" b="0" i="0" u="none" strike="noStrike">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37296196"/>
                  </a:ext>
                </a:extLst>
              </a:tr>
              <a:tr h="371399">
                <a:tc>
                  <a:txBody>
                    <a:bodyPr/>
                    <a:lstStyle/>
                    <a:p>
                      <a:pPr algn="l" fontAlgn="t">
                        <a:lnSpc>
                          <a:spcPct val="200000"/>
                        </a:lnSpc>
                        <a:spcBef>
                          <a:spcPts val="0"/>
                        </a:spcBef>
                        <a:spcAft>
                          <a:spcPts val="600"/>
                        </a:spcAft>
                      </a:pPr>
                      <a:r>
                        <a:rPr lang="en-GB" sz="800" b="0" i="0" u="none" strike="noStrike">
                          <a:effectLst/>
                          <a:latin typeface="Arial" panose="020B0604020202020204" pitchFamily="34" charset="0"/>
                          <a:ea typeface="MS Mincho" panose="02020609040205080304" pitchFamily="49" charset="-128"/>
                          <a:cs typeface="Times New Roman" panose="02020603050405020304" pitchFamily="18" charset="0"/>
                        </a:rPr>
                        <a:t>Week 19 (34)</a:t>
                      </a:r>
                      <a:endParaRPr lang="en-GB" sz="1300" b="0" i="0" u="none" strike="noStrike">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600"/>
                        </a:spcAft>
                      </a:pPr>
                      <a:r>
                        <a:rPr lang="en-GB" sz="800" b="0" i="0" u="none" strike="noStrike" dirty="0">
                          <a:effectLst/>
                          <a:latin typeface="Arial" panose="020B0604020202020204" pitchFamily="34" charset="0"/>
                          <a:ea typeface="MS Mincho" panose="02020609040205080304" pitchFamily="49" charset="-128"/>
                          <a:cs typeface="Times New Roman" panose="02020603050405020304" pitchFamily="18" charset="0"/>
                        </a:rPr>
                        <a:t>10 March</a:t>
                      </a:r>
                      <a:endParaRPr lang="en-GB" sz="1300" b="0" i="0" u="none" strike="noStrike" dirty="0">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600"/>
                        </a:spcAft>
                      </a:pPr>
                      <a:r>
                        <a:rPr lang="en-GB" sz="800" b="0" i="0" u="none" strike="noStrike">
                          <a:effectLst/>
                          <a:latin typeface="Arial" panose="020B0604020202020204" pitchFamily="34" charset="0"/>
                          <a:ea typeface="Calibri" panose="020F0502020204030204" pitchFamily="34" charset="0"/>
                          <a:cs typeface="Times New Roman" panose="02020603050405020304" pitchFamily="18" charset="0"/>
                        </a:rPr>
                        <a:t>The variation of trusts</a:t>
                      </a:r>
                      <a:endParaRPr lang="en-GB" sz="1300" b="0" i="0" u="none" strike="noStrike">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800"/>
                        </a:spcAft>
                      </a:pPr>
                      <a:r>
                        <a:rPr lang="en-GB" sz="800" b="0" i="0" u="none" strike="noStrike">
                          <a:effectLst/>
                          <a:latin typeface="Arial" panose="020B0604020202020204" pitchFamily="34" charset="0"/>
                          <a:ea typeface="MS Mincho" panose="02020609040205080304" pitchFamily="49" charset="-128"/>
                          <a:cs typeface="Times New Roman" panose="02020603050405020304" pitchFamily="18" charset="0"/>
                        </a:rPr>
                        <a:t>JJ</a:t>
                      </a:r>
                      <a:endParaRPr lang="en-GB" sz="1300" b="0" i="0" u="none" strike="noStrike">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76361249"/>
                  </a:ext>
                </a:extLst>
              </a:tr>
              <a:tr h="371399">
                <a:tc>
                  <a:txBody>
                    <a:bodyPr/>
                    <a:lstStyle/>
                    <a:p>
                      <a:pPr algn="l" fontAlgn="t">
                        <a:lnSpc>
                          <a:spcPct val="200000"/>
                        </a:lnSpc>
                        <a:spcBef>
                          <a:spcPts val="0"/>
                        </a:spcBef>
                        <a:spcAft>
                          <a:spcPts val="600"/>
                        </a:spcAft>
                      </a:pPr>
                      <a:r>
                        <a:rPr lang="en-GB" sz="800" b="0" i="0" u="none" strike="noStrike">
                          <a:effectLst/>
                          <a:latin typeface="Arial" panose="020B0604020202020204" pitchFamily="34" charset="0"/>
                          <a:ea typeface="MS Mincho" panose="02020609040205080304" pitchFamily="49" charset="-128"/>
                          <a:cs typeface="Times New Roman" panose="02020603050405020304" pitchFamily="18" charset="0"/>
                        </a:rPr>
                        <a:t>Week 20 (35)</a:t>
                      </a:r>
                      <a:endParaRPr lang="en-GB" sz="1300" b="0" i="0" u="none" strike="noStrike">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600"/>
                        </a:spcAft>
                      </a:pPr>
                      <a:r>
                        <a:rPr lang="en-GB" sz="800" b="0" i="0" u="none" strike="noStrike" dirty="0">
                          <a:effectLst/>
                          <a:latin typeface="Arial" panose="020B0604020202020204" pitchFamily="34" charset="0"/>
                          <a:ea typeface="MS Mincho" panose="02020609040205080304" pitchFamily="49" charset="-128"/>
                          <a:cs typeface="Times New Roman" panose="02020603050405020304" pitchFamily="18" charset="0"/>
                        </a:rPr>
                        <a:t>17 March</a:t>
                      </a:r>
                      <a:endParaRPr lang="en-GB" sz="1300" b="0" i="0" u="none" strike="noStrike" dirty="0">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600"/>
                        </a:spcAft>
                      </a:pPr>
                      <a:r>
                        <a:rPr lang="en-GB" sz="800" b="0" i="0" u="none" strike="noStrike" dirty="0">
                          <a:effectLst/>
                          <a:latin typeface="Arial" panose="020B0604020202020204" pitchFamily="34" charset="0"/>
                          <a:ea typeface="MS Mincho" panose="02020609040205080304" pitchFamily="49" charset="-128"/>
                          <a:cs typeface="Times New Roman" panose="02020603050405020304" pitchFamily="18" charset="0"/>
                        </a:rPr>
                        <a:t>The trust in an international context</a:t>
                      </a:r>
                      <a:endParaRPr lang="en-GB" sz="1300" b="0" i="0" u="none" strike="noStrike" dirty="0">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200000"/>
                        </a:lnSpc>
                        <a:spcBef>
                          <a:spcPts val="0"/>
                        </a:spcBef>
                        <a:spcAft>
                          <a:spcPts val="800"/>
                        </a:spcAft>
                      </a:pPr>
                      <a:r>
                        <a:rPr lang="en-GB" sz="800" b="0" i="0" u="none" strike="noStrike" dirty="0">
                          <a:effectLst/>
                          <a:latin typeface="Arial" panose="020B0604020202020204" pitchFamily="34" charset="0"/>
                          <a:ea typeface="MS Mincho" panose="02020609040205080304" pitchFamily="49" charset="-128"/>
                          <a:cs typeface="Times New Roman" panose="02020603050405020304" pitchFamily="18" charset="0"/>
                        </a:rPr>
                        <a:t>MP</a:t>
                      </a:r>
                      <a:endParaRPr lang="en-GB" sz="1300" b="0" i="0" u="none" strike="noStrike" dirty="0">
                        <a:effectLst/>
                        <a:latin typeface="Arial" panose="020B0604020202020204" pitchFamily="34" charset="0"/>
                      </a:endParaRPr>
                    </a:p>
                  </a:txBody>
                  <a:tcPr marL="49464" marR="49464" marT="68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594327"/>
                  </a:ext>
                </a:extLst>
              </a:tr>
            </a:tbl>
          </a:graphicData>
        </a:graphic>
      </p:graphicFrame>
    </p:spTree>
    <p:extLst>
      <p:ext uri="{BB962C8B-B14F-4D97-AF65-F5344CB8AC3E}">
        <p14:creationId xmlns:p14="http://schemas.microsoft.com/office/powerpoint/2010/main" val="48876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730650" y="4895741"/>
            <a:ext cx="5211370" cy="1728192"/>
          </a:xfrm>
          <a:prstGeom prst="rect">
            <a:avLst/>
          </a:prstGeom>
        </p:spPr>
      </p:pic>
      <p:sp>
        <p:nvSpPr>
          <p:cNvPr id="11266" name="Title 1">
            <a:extLst>
              <a:ext uri="{FF2B5EF4-FFF2-40B4-BE49-F238E27FC236}">
                <a16:creationId xmlns:a16="http://schemas.microsoft.com/office/drawing/2014/main" id="{7495FF6B-35F3-D841-B8AC-0BB4457B964A}"/>
              </a:ext>
            </a:extLst>
          </p:cNvPr>
          <p:cNvSpPr>
            <a:spLocks noGrp="1"/>
          </p:cNvSpPr>
          <p:nvPr>
            <p:ph type="title"/>
          </p:nvPr>
        </p:nvSpPr>
        <p:spPr/>
        <p:txBody>
          <a:bodyPr/>
          <a:lstStyle/>
          <a:p>
            <a:pPr>
              <a:defRPr/>
            </a:pPr>
            <a:r>
              <a:rPr lang="en-GB" altLang="en-US" dirty="0">
                <a:latin typeface="+mn-lt"/>
                <a:ea typeface="ＭＳ Ｐゴシック" panose="020B0600070205080204" pitchFamily="34" charset="-128"/>
              </a:rPr>
              <a:t>So, why are breaches and remedies important?</a:t>
            </a:r>
            <a:br>
              <a:rPr lang="en-US" altLang="en-US" sz="4400" b="1" dirty="0">
                <a:solidFill>
                  <a:srgbClr val="000000"/>
                </a:solidFill>
              </a:rPr>
            </a:br>
            <a:endParaRPr lang="en-GB" altLang="en-US" dirty="0">
              <a:latin typeface="+mn-lt"/>
              <a:ea typeface="ＭＳ Ｐゴシック" panose="020B0600070205080204" pitchFamily="34" charset="-128"/>
            </a:endParaRPr>
          </a:p>
        </p:txBody>
      </p:sp>
      <p:sp>
        <p:nvSpPr>
          <p:cNvPr id="15363" name="Content Placeholder 2">
            <a:extLst>
              <a:ext uri="{FF2B5EF4-FFF2-40B4-BE49-F238E27FC236}">
                <a16:creationId xmlns:a16="http://schemas.microsoft.com/office/drawing/2014/main" id="{B1362EB2-44AF-9D42-A8F5-01DD21AF6C8D}"/>
              </a:ext>
            </a:extLst>
          </p:cNvPr>
          <p:cNvSpPr txBox="1">
            <a:spLocks/>
          </p:cNvSpPr>
          <p:nvPr/>
        </p:nvSpPr>
        <p:spPr bwMode="auto">
          <a:xfrm>
            <a:off x="685800" y="1825162"/>
            <a:ext cx="7772400" cy="1931715"/>
          </a:xfrm>
          <a:prstGeom prst="rect">
            <a:avLst/>
          </a:prstGeom>
          <a:noFill/>
          <a:ln>
            <a:noFill/>
          </a:ln>
        </p:spPr>
        <p:txBody>
          <a:bodyPr lIns="91440" tIns="45720" rIns="91440" bIns="45720" anchor="t"/>
          <a:lstStyle>
            <a:lvl1pPr marL="571500" indent="-571500">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buFont typeface="+mj-lt"/>
              <a:buAutoNum type="arabicPeriod"/>
              <a:defRPr/>
            </a:pPr>
            <a:r>
              <a:rPr lang="en-US" altLang="en-US" sz="2000" dirty="0">
                <a:solidFill>
                  <a:srgbClr val="000000"/>
                </a:solidFill>
              </a:rPr>
              <a:t>Trusts involve the separation of substantive ownership from control.</a:t>
            </a:r>
          </a:p>
          <a:p>
            <a:pPr>
              <a:buFont typeface="+mj-lt"/>
              <a:buAutoNum type="arabicPeriod"/>
              <a:defRPr/>
            </a:pPr>
            <a:r>
              <a:rPr lang="en-US" altLang="en-US" sz="2000" dirty="0">
                <a:solidFill>
                  <a:srgbClr val="000000"/>
                </a:solidFill>
                <a:latin typeface="Arial"/>
                <a:ea typeface="ＭＳ Ｐゴシック"/>
              </a:rPr>
              <a:t>Trustees often have powers to determine who gets what and when (e.g., in discretionary trust arrangements).</a:t>
            </a:r>
          </a:p>
          <a:p>
            <a:pPr>
              <a:buFont typeface="+mj-lt"/>
              <a:buAutoNum type="arabicPeriod"/>
              <a:defRPr/>
            </a:pPr>
            <a:r>
              <a:rPr lang="en-US" altLang="en-US" sz="2000" dirty="0">
                <a:solidFill>
                  <a:srgbClr val="000000"/>
                </a:solidFill>
              </a:rPr>
              <a:t>There is little ability for beneficiaries or settlors to determine the actions of trustees.</a:t>
            </a:r>
          </a:p>
          <a:p>
            <a:pPr>
              <a:buFont typeface="+mj-lt"/>
              <a:buAutoNum type="arabicPeriod"/>
              <a:defRPr/>
            </a:pPr>
            <a:r>
              <a:rPr lang="en-US" altLang="en-US" sz="2000" dirty="0">
                <a:solidFill>
                  <a:srgbClr val="000000"/>
                </a:solidFill>
              </a:rPr>
              <a:t>There is little visibility for beneficiaries as to what happens to the trust property during the duration of a trust.</a:t>
            </a:r>
          </a:p>
          <a:p>
            <a:pPr>
              <a:buFont typeface="+mj-lt"/>
              <a:buAutoNum type="arabicPeriod"/>
              <a:defRPr/>
            </a:pPr>
            <a:r>
              <a:rPr lang="en-US" altLang="en-US" sz="2000" dirty="0">
                <a:solidFill>
                  <a:srgbClr val="000000"/>
                </a:solidFill>
              </a:rPr>
              <a:t>Means and opportunity can sometimes create motivation.</a:t>
            </a:r>
          </a:p>
          <a:p>
            <a:pPr>
              <a:buFont typeface="+mj-lt"/>
              <a:buAutoNum type="arabicPeriod"/>
              <a:defRPr/>
            </a:pPr>
            <a:r>
              <a:rPr lang="en-US" altLang="en-US" sz="2000" dirty="0">
                <a:solidFill>
                  <a:srgbClr val="000000"/>
                </a:solidFill>
              </a:rPr>
              <a:t>Trusts often involve power differentials </a:t>
            </a:r>
          </a:p>
          <a:p>
            <a:pPr marL="0" indent="0">
              <a:defRPr/>
            </a:pPr>
            <a:r>
              <a:rPr lang="en-US" altLang="en-US" sz="2000" dirty="0">
                <a:solidFill>
                  <a:srgbClr val="000000"/>
                </a:solidFill>
              </a:rPr>
              <a:t>         that necessitate the legal protection </a:t>
            </a:r>
          </a:p>
          <a:p>
            <a:pPr marL="0" indent="0">
              <a:defRPr/>
            </a:pPr>
            <a:r>
              <a:rPr lang="en-US" altLang="en-US" sz="2000" dirty="0">
                <a:solidFill>
                  <a:srgbClr val="000000"/>
                </a:solidFill>
              </a:rPr>
              <a:t>         of the beneficiaries’ rights.</a:t>
            </a:r>
          </a:p>
          <a:p>
            <a:pPr>
              <a:buFont typeface="+mj-lt"/>
              <a:buAutoNum type="arabicPeriod"/>
              <a:defRPr/>
            </a:pPr>
            <a:endParaRPr lang="en-US" altLang="en-US" sz="2000" dirty="0">
              <a:solidFill>
                <a:srgbClr val="000000"/>
              </a:solidFill>
            </a:endParaRPr>
          </a:p>
          <a:p>
            <a:pPr marL="0" indent="0">
              <a:defRPr/>
            </a:pPr>
            <a:endParaRPr lang="en-US" altLang="en-US" sz="2000" dirty="0">
              <a:solidFill>
                <a:srgbClr val="000000"/>
              </a:solidFill>
            </a:endParaRPr>
          </a:p>
        </p:txBody>
      </p:sp>
    </p:spTree>
    <p:extLst>
      <p:ext uri="{BB962C8B-B14F-4D97-AF65-F5344CB8AC3E}">
        <p14:creationId xmlns:p14="http://schemas.microsoft.com/office/powerpoint/2010/main" val="3870177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fade">
                                      <p:cBhvr>
                                        <p:cTn id="7" dur="1000"/>
                                        <p:tgtEl>
                                          <p:spTgt spid="15363">
                                            <p:txEl>
                                              <p:pRg st="0" end="0"/>
                                            </p:txEl>
                                          </p:spTgt>
                                        </p:tgtEl>
                                      </p:cBhvr>
                                    </p:animEffect>
                                    <p:anim calcmode="lin" valueType="num">
                                      <p:cBhvr>
                                        <p:cTn id="8" dur="1000" fill="hold"/>
                                        <p:tgtEl>
                                          <p:spTgt spid="1536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36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363">
                                            <p:txEl>
                                              <p:pRg st="1" end="1"/>
                                            </p:txEl>
                                          </p:spTgt>
                                        </p:tgtEl>
                                        <p:attrNameLst>
                                          <p:attrName>style.visibility</p:attrName>
                                        </p:attrNameLst>
                                      </p:cBhvr>
                                      <p:to>
                                        <p:strVal val="visible"/>
                                      </p:to>
                                    </p:set>
                                    <p:animEffect transition="in" filter="fade">
                                      <p:cBhvr>
                                        <p:cTn id="14" dur="1000"/>
                                        <p:tgtEl>
                                          <p:spTgt spid="15363">
                                            <p:txEl>
                                              <p:pRg st="1" end="1"/>
                                            </p:txEl>
                                          </p:spTgt>
                                        </p:tgtEl>
                                      </p:cBhvr>
                                    </p:animEffect>
                                    <p:anim calcmode="lin" valueType="num">
                                      <p:cBhvr>
                                        <p:cTn id="15" dur="1000" fill="hold"/>
                                        <p:tgtEl>
                                          <p:spTgt spid="1536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536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5363">
                                            <p:txEl>
                                              <p:pRg st="2" end="2"/>
                                            </p:txEl>
                                          </p:spTgt>
                                        </p:tgtEl>
                                        <p:attrNameLst>
                                          <p:attrName>style.visibility</p:attrName>
                                        </p:attrNameLst>
                                      </p:cBhvr>
                                      <p:to>
                                        <p:strVal val="visible"/>
                                      </p:to>
                                    </p:set>
                                    <p:animEffect transition="in" filter="fade">
                                      <p:cBhvr>
                                        <p:cTn id="21" dur="1000"/>
                                        <p:tgtEl>
                                          <p:spTgt spid="15363">
                                            <p:txEl>
                                              <p:pRg st="2" end="2"/>
                                            </p:txEl>
                                          </p:spTgt>
                                        </p:tgtEl>
                                      </p:cBhvr>
                                    </p:animEffect>
                                    <p:anim calcmode="lin" valueType="num">
                                      <p:cBhvr>
                                        <p:cTn id="22" dur="1000" fill="hold"/>
                                        <p:tgtEl>
                                          <p:spTgt spid="1536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536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5363">
                                            <p:txEl>
                                              <p:pRg st="3" end="3"/>
                                            </p:txEl>
                                          </p:spTgt>
                                        </p:tgtEl>
                                        <p:attrNameLst>
                                          <p:attrName>style.visibility</p:attrName>
                                        </p:attrNameLst>
                                      </p:cBhvr>
                                      <p:to>
                                        <p:strVal val="visible"/>
                                      </p:to>
                                    </p:set>
                                    <p:animEffect transition="in" filter="fade">
                                      <p:cBhvr>
                                        <p:cTn id="28" dur="1000"/>
                                        <p:tgtEl>
                                          <p:spTgt spid="15363">
                                            <p:txEl>
                                              <p:pRg st="3" end="3"/>
                                            </p:txEl>
                                          </p:spTgt>
                                        </p:tgtEl>
                                      </p:cBhvr>
                                    </p:animEffect>
                                    <p:anim calcmode="lin" valueType="num">
                                      <p:cBhvr>
                                        <p:cTn id="29" dur="1000" fill="hold"/>
                                        <p:tgtEl>
                                          <p:spTgt spid="1536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536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5363">
                                            <p:txEl>
                                              <p:pRg st="4" end="4"/>
                                            </p:txEl>
                                          </p:spTgt>
                                        </p:tgtEl>
                                        <p:attrNameLst>
                                          <p:attrName>style.visibility</p:attrName>
                                        </p:attrNameLst>
                                      </p:cBhvr>
                                      <p:to>
                                        <p:strVal val="visible"/>
                                      </p:to>
                                    </p:set>
                                    <p:animEffect transition="in" filter="fade">
                                      <p:cBhvr>
                                        <p:cTn id="35" dur="1000"/>
                                        <p:tgtEl>
                                          <p:spTgt spid="15363">
                                            <p:txEl>
                                              <p:pRg st="4" end="4"/>
                                            </p:txEl>
                                          </p:spTgt>
                                        </p:tgtEl>
                                      </p:cBhvr>
                                    </p:animEffect>
                                    <p:anim calcmode="lin" valueType="num">
                                      <p:cBhvr>
                                        <p:cTn id="36" dur="1000" fill="hold"/>
                                        <p:tgtEl>
                                          <p:spTgt spid="1536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536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5363">
                                            <p:txEl>
                                              <p:pRg st="5" end="5"/>
                                            </p:txEl>
                                          </p:spTgt>
                                        </p:tgtEl>
                                        <p:attrNameLst>
                                          <p:attrName>style.visibility</p:attrName>
                                        </p:attrNameLst>
                                      </p:cBhvr>
                                      <p:to>
                                        <p:strVal val="visible"/>
                                      </p:to>
                                    </p:set>
                                    <p:animEffect transition="in" filter="fade">
                                      <p:cBhvr>
                                        <p:cTn id="42" dur="1000"/>
                                        <p:tgtEl>
                                          <p:spTgt spid="15363">
                                            <p:txEl>
                                              <p:pRg st="5" end="5"/>
                                            </p:txEl>
                                          </p:spTgt>
                                        </p:tgtEl>
                                      </p:cBhvr>
                                    </p:animEffect>
                                    <p:anim calcmode="lin" valueType="num">
                                      <p:cBhvr>
                                        <p:cTn id="43" dur="1000" fill="hold"/>
                                        <p:tgtEl>
                                          <p:spTgt spid="1536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5363">
                                            <p:txEl>
                                              <p:pRg st="5" end="5"/>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5363">
                                            <p:txEl>
                                              <p:pRg st="6" end="6"/>
                                            </p:txEl>
                                          </p:spTgt>
                                        </p:tgtEl>
                                        <p:attrNameLst>
                                          <p:attrName>style.visibility</p:attrName>
                                        </p:attrNameLst>
                                      </p:cBhvr>
                                      <p:to>
                                        <p:strVal val="visible"/>
                                      </p:to>
                                    </p:set>
                                    <p:animEffect transition="in" filter="fade">
                                      <p:cBhvr>
                                        <p:cTn id="47" dur="1000"/>
                                        <p:tgtEl>
                                          <p:spTgt spid="15363">
                                            <p:txEl>
                                              <p:pRg st="6" end="6"/>
                                            </p:txEl>
                                          </p:spTgt>
                                        </p:tgtEl>
                                      </p:cBhvr>
                                    </p:animEffect>
                                    <p:anim calcmode="lin" valueType="num">
                                      <p:cBhvr>
                                        <p:cTn id="48" dur="1000" fill="hold"/>
                                        <p:tgtEl>
                                          <p:spTgt spid="15363">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15363">
                                            <p:txEl>
                                              <p:pRg st="6" end="6"/>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5363">
                                            <p:txEl>
                                              <p:pRg st="7" end="7"/>
                                            </p:txEl>
                                          </p:spTgt>
                                        </p:tgtEl>
                                        <p:attrNameLst>
                                          <p:attrName>style.visibility</p:attrName>
                                        </p:attrNameLst>
                                      </p:cBhvr>
                                      <p:to>
                                        <p:strVal val="visible"/>
                                      </p:to>
                                    </p:set>
                                    <p:animEffect transition="in" filter="fade">
                                      <p:cBhvr>
                                        <p:cTn id="52" dur="1000"/>
                                        <p:tgtEl>
                                          <p:spTgt spid="15363">
                                            <p:txEl>
                                              <p:pRg st="7" end="7"/>
                                            </p:txEl>
                                          </p:spTgt>
                                        </p:tgtEl>
                                      </p:cBhvr>
                                    </p:animEffect>
                                    <p:anim calcmode="lin" valueType="num">
                                      <p:cBhvr>
                                        <p:cTn id="53" dur="1000" fill="hold"/>
                                        <p:tgtEl>
                                          <p:spTgt spid="15363">
                                            <p:txEl>
                                              <p:pRg st="7" end="7"/>
                                            </p:txEl>
                                          </p:spTgt>
                                        </p:tgtEl>
                                        <p:attrNameLst>
                                          <p:attrName>ppt_x</p:attrName>
                                        </p:attrNameLst>
                                      </p:cBhvr>
                                      <p:tavLst>
                                        <p:tav tm="0">
                                          <p:val>
                                            <p:strVal val="#ppt_x"/>
                                          </p:val>
                                        </p:tav>
                                        <p:tav tm="100000">
                                          <p:val>
                                            <p:strVal val="#ppt_x"/>
                                          </p:val>
                                        </p:tav>
                                      </p:tavLst>
                                    </p:anim>
                                    <p:anim calcmode="lin" valueType="num">
                                      <p:cBhvr>
                                        <p:cTn id="54" dur="1000" fill="hold"/>
                                        <p:tgtEl>
                                          <p:spTgt spid="1536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7495FF6B-35F3-D841-B8AC-0BB4457B964A}"/>
              </a:ext>
            </a:extLst>
          </p:cNvPr>
          <p:cNvSpPr>
            <a:spLocks noGrp="1"/>
          </p:cNvSpPr>
          <p:nvPr>
            <p:ph type="title"/>
          </p:nvPr>
        </p:nvSpPr>
        <p:spPr/>
        <p:txBody>
          <a:bodyPr/>
          <a:lstStyle/>
          <a:p>
            <a:pPr>
              <a:defRPr/>
            </a:pPr>
            <a:r>
              <a:rPr lang="en-GB" altLang="en-US" dirty="0">
                <a:latin typeface="+mn-lt"/>
                <a:ea typeface="ＭＳ Ｐゴシック" panose="020B0600070205080204" pitchFamily="34" charset="-128"/>
              </a:rPr>
              <a:t>When things with a trust go wrong</a:t>
            </a:r>
          </a:p>
        </p:txBody>
      </p:sp>
      <p:sp>
        <p:nvSpPr>
          <p:cNvPr id="15363" name="Content Placeholder 2">
            <a:extLst>
              <a:ext uri="{FF2B5EF4-FFF2-40B4-BE49-F238E27FC236}">
                <a16:creationId xmlns:a16="http://schemas.microsoft.com/office/drawing/2014/main" id="{B1362EB2-44AF-9D42-A8F5-01DD21AF6C8D}"/>
              </a:ext>
            </a:extLst>
          </p:cNvPr>
          <p:cNvSpPr txBox="1">
            <a:spLocks/>
          </p:cNvSpPr>
          <p:nvPr/>
        </p:nvSpPr>
        <p:spPr bwMode="auto">
          <a:xfrm>
            <a:off x="673899" y="1484552"/>
            <a:ext cx="7990656" cy="4286229"/>
          </a:xfrm>
          <a:prstGeom prst="rect">
            <a:avLst/>
          </a:prstGeom>
          <a:noFill/>
          <a:ln>
            <a:noFill/>
          </a:ln>
        </p:spPr>
        <p:txBody>
          <a:bodyPr lIns="91440" tIns="45720" rIns="91440" bIns="45720" anchor="t"/>
          <a:lstStyle>
            <a:lvl1pPr marL="571500" indent="-571500">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defRPr/>
            </a:pPr>
            <a:endParaRPr lang="en-US" altLang="en-US" sz="2000" dirty="0">
              <a:solidFill>
                <a:srgbClr val="000000"/>
              </a:solidFill>
            </a:endParaRPr>
          </a:p>
          <a:p>
            <a:pPr marL="0" indent="0">
              <a:defRPr/>
            </a:pPr>
            <a:r>
              <a:rPr lang="en-US" altLang="en-US" sz="2000" dirty="0">
                <a:solidFill>
                  <a:srgbClr val="000000"/>
                </a:solidFill>
              </a:rPr>
              <a:t>Once a beneficiary </a:t>
            </a:r>
            <a:r>
              <a:rPr lang="en-US" altLang="en-US" sz="2000" dirty="0" err="1">
                <a:solidFill>
                  <a:srgbClr val="000000"/>
                </a:solidFill>
              </a:rPr>
              <a:t>realises</a:t>
            </a:r>
            <a:r>
              <a:rPr lang="en-US" altLang="en-US" sz="2000" dirty="0">
                <a:solidFill>
                  <a:srgbClr val="000000"/>
                </a:solidFill>
              </a:rPr>
              <a:t> that something has gone wrong with the trust, they need to determine:</a:t>
            </a:r>
          </a:p>
          <a:p>
            <a:pPr>
              <a:defRPr/>
            </a:pPr>
            <a:endParaRPr lang="en-US" altLang="en-US" sz="2000" dirty="0">
              <a:solidFill>
                <a:srgbClr val="000000"/>
              </a:solidFill>
            </a:endParaRPr>
          </a:p>
          <a:p>
            <a:pPr marL="0" indent="0">
              <a:defRPr/>
            </a:pPr>
            <a:r>
              <a:rPr lang="en-US" altLang="en-US" sz="2000" b="1" dirty="0">
                <a:solidFill>
                  <a:srgbClr val="FFC000"/>
                </a:solidFill>
              </a:rPr>
              <a:t>STEP 1 </a:t>
            </a:r>
            <a:r>
              <a:rPr lang="en-US" altLang="en-US" sz="2000" dirty="0"/>
              <a:t>- What </a:t>
            </a:r>
            <a:r>
              <a:rPr lang="en-US" altLang="en-US" sz="2000" b="1" dirty="0"/>
              <a:t>duty</a:t>
            </a:r>
            <a:r>
              <a:rPr lang="en-US" altLang="en-US" sz="2000" dirty="0"/>
              <a:t> has been breached?</a:t>
            </a:r>
          </a:p>
          <a:p>
            <a:pPr marL="0" indent="0">
              <a:defRPr/>
            </a:pPr>
            <a:endParaRPr lang="en-US" altLang="en-US" sz="2000" dirty="0"/>
          </a:p>
          <a:p>
            <a:pPr marL="0" indent="0">
              <a:defRPr/>
            </a:pPr>
            <a:r>
              <a:rPr lang="en-US" altLang="en-US" sz="2000" b="1" dirty="0">
                <a:solidFill>
                  <a:srgbClr val="FF6600"/>
                </a:solidFill>
              </a:rPr>
              <a:t>STEP 2 </a:t>
            </a:r>
            <a:r>
              <a:rPr lang="en-US" altLang="en-US" sz="2000" dirty="0"/>
              <a:t>- </a:t>
            </a:r>
            <a:r>
              <a:rPr lang="en-US" altLang="en-US" sz="2000" b="1" dirty="0"/>
              <a:t>Who</a:t>
            </a:r>
            <a:r>
              <a:rPr lang="en-US" altLang="en-US" sz="2000" dirty="0"/>
              <a:t> may be liable?</a:t>
            </a:r>
          </a:p>
          <a:p>
            <a:pPr marL="0" indent="0">
              <a:defRPr/>
            </a:pPr>
            <a:endParaRPr lang="en-US" altLang="en-US" sz="2000" dirty="0">
              <a:solidFill>
                <a:srgbClr val="000000"/>
              </a:solidFill>
              <a:effectLst>
                <a:outerShdw blurRad="38100" dist="38100" dir="2700000" algn="tl">
                  <a:srgbClr val="000000">
                    <a:alpha val="43137"/>
                  </a:srgbClr>
                </a:outerShdw>
              </a:effectLst>
            </a:endParaRPr>
          </a:p>
          <a:p>
            <a:pPr marL="0" indent="0">
              <a:defRPr/>
            </a:pPr>
            <a:r>
              <a:rPr lang="en-US" altLang="en-US" sz="2000" b="1" dirty="0">
                <a:solidFill>
                  <a:srgbClr val="92D050"/>
                </a:solidFill>
              </a:rPr>
              <a:t>STEP 3 </a:t>
            </a:r>
            <a:r>
              <a:rPr lang="en-US" altLang="en-US" sz="2000" dirty="0"/>
              <a:t>- What </a:t>
            </a:r>
            <a:r>
              <a:rPr lang="en-US" altLang="en-US" sz="2000" b="1" dirty="0"/>
              <a:t>remedies</a:t>
            </a:r>
            <a:r>
              <a:rPr lang="en-US" altLang="en-US" sz="2000" dirty="0"/>
              <a:t> are available?</a:t>
            </a:r>
          </a:p>
          <a:p>
            <a:pPr marL="0" indent="0">
              <a:defRPr/>
            </a:pPr>
            <a:endParaRPr lang="en-US" altLang="en-US" sz="2000" dirty="0">
              <a:solidFill>
                <a:srgbClr val="000000"/>
              </a:solidFill>
              <a:effectLst>
                <a:outerShdw blurRad="38100" dist="38100" dir="2700000" algn="tl">
                  <a:srgbClr val="000000">
                    <a:alpha val="43137"/>
                  </a:srgbClr>
                </a:outerShdw>
              </a:effectLst>
            </a:endParaRPr>
          </a:p>
          <a:p>
            <a:pPr marL="0" indent="0">
              <a:defRPr/>
            </a:pPr>
            <a:r>
              <a:rPr lang="en-US" altLang="en-US" sz="2000" b="1" dirty="0">
                <a:solidFill>
                  <a:srgbClr val="00B050"/>
                </a:solidFill>
              </a:rPr>
              <a:t>STEP 4 </a:t>
            </a:r>
            <a:r>
              <a:rPr lang="en-US" altLang="en-US" sz="2000" dirty="0"/>
              <a:t>- What </a:t>
            </a:r>
            <a:r>
              <a:rPr lang="en-US" altLang="en-US" sz="2000" b="1" dirty="0"/>
              <a:t>property</a:t>
            </a:r>
            <a:r>
              <a:rPr lang="en-US" altLang="en-US" sz="2000" dirty="0"/>
              <a:t> or part thereof may be recovered?</a:t>
            </a:r>
          </a:p>
        </p:txBody>
      </p:sp>
    </p:spTree>
    <p:extLst>
      <p:ext uri="{BB962C8B-B14F-4D97-AF65-F5344CB8AC3E}">
        <p14:creationId xmlns:p14="http://schemas.microsoft.com/office/powerpoint/2010/main" val="2549453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36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7495FF6B-35F3-D841-B8AC-0BB4457B964A}"/>
              </a:ext>
            </a:extLst>
          </p:cNvPr>
          <p:cNvSpPr>
            <a:spLocks noGrp="1"/>
          </p:cNvSpPr>
          <p:nvPr>
            <p:ph type="title"/>
          </p:nvPr>
        </p:nvSpPr>
        <p:spPr/>
        <p:txBody>
          <a:bodyPr/>
          <a:lstStyle/>
          <a:p>
            <a:pPr>
              <a:defRPr/>
            </a:pPr>
            <a:r>
              <a:rPr lang="en-GB" altLang="en-US" dirty="0">
                <a:latin typeface="+mn-lt"/>
                <a:ea typeface="ＭＳ Ｐゴシック" panose="020B0600070205080204" pitchFamily="34" charset="-128"/>
              </a:rPr>
              <a:t>Components of the law</a:t>
            </a:r>
          </a:p>
        </p:txBody>
      </p:sp>
      <p:sp>
        <p:nvSpPr>
          <p:cNvPr id="15363" name="Content Placeholder 2">
            <a:extLst>
              <a:ext uri="{FF2B5EF4-FFF2-40B4-BE49-F238E27FC236}">
                <a16:creationId xmlns:a16="http://schemas.microsoft.com/office/drawing/2014/main" id="{B1362EB2-44AF-9D42-A8F5-01DD21AF6C8D}"/>
              </a:ext>
            </a:extLst>
          </p:cNvPr>
          <p:cNvSpPr txBox="1">
            <a:spLocks/>
          </p:cNvSpPr>
          <p:nvPr/>
        </p:nvSpPr>
        <p:spPr bwMode="auto">
          <a:xfrm>
            <a:off x="685800" y="1752601"/>
            <a:ext cx="7990656" cy="884312"/>
          </a:xfrm>
          <a:prstGeom prst="rect">
            <a:avLst/>
          </a:prstGeom>
          <a:noFill/>
          <a:ln>
            <a:noFill/>
          </a:ln>
        </p:spPr>
        <p:txBody>
          <a:bodyPr lIns="91440" tIns="45720" rIns="91440" bIns="45720" anchor="t"/>
          <a:lstStyle>
            <a:lvl1pPr marL="571500" indent="-571500">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defRPr/>
            </a:pPr>
            <a:endParaRPr lang="en-US" altLang="en-US" sz="2000" dirty="0">
              <a:solidFill>
                <a:srgbClr val="000000"/>
              </a:solidFill>
            </a:endParaRPr>
          </a:p>
          <a:p>
            <a:pPr>
              <a:defRPr/>
            </a:pPr>
            <a:endParaRPr lang="en-US" altLang="en-US" sz="2000" dirty="0">
              <a:solidFill>
                <a:srgbClr val="00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3097048381"/>
              </p:ext>
            </p:extLst>
          </p:nvPr>
        </p:nvGraphicFramePr>
        <p:xfrm>
          <a:off x="827584" y="1988840"/>
          <a:ext cx="7630616" cy="2941320"/>
        </p:xfrm>
        <a:graphic>
          <a:graphicData uri="http://schemas.openxmlformats.org/drawingml/2006/table">
            <a:tbl>
              <a:tblPr firstRow="1" bandRow="1">
                <a:tableStyleId>{91EBBBCC-DAD2-459C-BE2E-F6DE35CF9A28}</a:tableStyleId>
              </a:tblPr>
              <a:tblGrid>
                <a:gridCol w="1944216">
                  <a:extLst>
                    <a:ext uri="{9D8B030D-6E8A-4147-A177-3AD203B41FA5}">
                      <a16:colId xmlns:a16="http://schemas.microsoft.com/office/drawing/2014/main" val="1153850250"/>
                    </a:ext>
                  </a:extLst>
                </a:gridCol>
                <a:gridCol w="1562784">
                  <a:extLst>
                    <a:ext uri="{9D8B030D-6E8A-4147-A177-3AD203B41FA5}">
                      <a16:colId xmlns:a16="http://schemas.microsoft.com/office/drawing/2014/main" val="2688746294"/>
                    </a:ext>
                  </a:extLst>
                </a:gridCol>
                <a:gridCol w="1753500">
                  <a:extLst>
                    <a:ext uri="{9D8B030D-6E8A-4147-A177-3AD203B41FA5}">
                      <a16:colId xmlns:a16="http://schemas.microsoft.com/office/drawing/2014/main" val="533842135"/>
                    </a:ext>
                  </a:extLst>
                </a:gridCol>
                <a:gridCol w="2370116">
                  <a:extLst>
                    <a:ext uri="{9D8B030D-6E8A-4147-A177-3AD203B41FA5}">
                      <a16:colId xmlns:a16="http://schemas.microsoft.com/office/drawing/2014/main" val="3166887707"/>
                    </a:ext>
                  </a:extLst>
                </a:gridCol>
              </a:tblGrid>
              <a:tr h="4200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en-US" sz="900" b="1" dirty="0">
                        <a:solidFill>
                          <a:srgbClr val="FFC00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2000" b="1" dirty="0">
                          <a:solidFill>
                            <a:srgbClr val="FFC000"/>
                          </a:solidFill>
                        </a:rPr>
                        <a:t>DUTY</a:t>
                      </a:r>
                      <a:endParaRPr lang="en-GB" sz="2000" dirty="0"/>
                    </a:p>
                  </a:txBody>
                  <a:tcPr/>
                </a:tc>
                <a:tc>
                  <a:txBody>
                    <a:bodyPr/>
                    <a:lstStyle/>
                    <a:p>
                      <a:pPr algn="ctr"/>
                      <a:endParaRPr lang="en-US" altLang="en-US" sz="900" b="1" dirty="0">
                        <a:solidFill>
                          <a:srgbClr val="FF6600"/>
                        </a:solidFill>
                      </a:endParaRPr>
                    </a:p>
                    <a:p>
                      <a:pPr algn="ctr"/>
                      <a:r>
                        <a:rPr lang="en-US" altLang="en-US" sz="2000" b="1" dirty="0">
                          <a:solidFill>
                            <a:srgbClr val="FF6600"/>
                          </a:solidFill>
                        </a:rPr>
                        <a:t>WHO</a:t>
                      </a:r>
                      <a:endParaRPr lang="en-GB"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en-US" sz="900" b="1" dirty="0">
                        <a:solidFill>
                          <a:srgbClr val="92D05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2000" b="1" dirty="0">
                          <a:solidFill>
                            <a:srgbClr val="92D050"/>
                          </a:solidFill>
                        </a:rPr>
                        <a:t>REMEDIES</a:t>
                      </a:r>
                      <a:endParaRPr lang="en-GB" sz="2000" dirty="0"/>
                    </a:p>
                    <a:p>
                      <a:pPr algn="ctr"/>
                      <a:endParaRPr lang="en-GB"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en-US" sz="900" b="1" dirty="0">
                        <a:solidFill>
                          <a:srgbClr val="00B05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2000" b="1" dirty="0">
                          <a:solidFill>
                            <a:srgbClr val="00B050"/>
                          </a:solidFill>
                        </a:rPr>
                        <a:t>PROPERTY</a:t>
                      </a:r>
                    </a:p>
                    <a:p>
                      <a:pPr algn="ctr"/>
                      <a:endParaRPr lang="en-GB" sz="2000" dirty="0"/>
                    </a:p>
                  </a:txBody>
                  <a:tcPr/>
                </a:tc>
                <a:extLst>
                  <a:ext uri="{0D108BD9-81ED-4DB2-BD59-A6C34878D82A}">
                    <a16:rowId xmlns:a16="http://schemas.microsoft.com/office/drawing/2014/main" val="1457939971"/>
                  </a:ext>
                </a:extLst>
              </a:tr>
              <a:tr h="3587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Fiduciary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Common law</a:t>
                      </a:r>
                    </a:p>
                  </a:txBody>
                  <a:tcPr/>
                </a:tc>
                <a:tc>
                  <a:txBody>
                    <a:bodyPr/>
                    <a:lstStyle/>
                    <a:p>
                      <a:r>
                        <a:rPr lang="en-GB" b="1" dirty="0"/>
                        <a:t>Trustee</a:t>
                      </a:r>
                    </a:p>
                  </a:txBody>
                  <a:tcPr/>
                </a:tc>
                <a:tc>
                  <a:txBody>
                    <a:bodyPr/>
                    <a:lstStyle/>
                    <a:p>
                      <a:r>
                        <a:rPr lang="en-GB" b="1" dirty="0"/>
                        <a:t>Personal</a:t>
                      </a:r>
                    </a:p>
                    <a:p>
                      <a:pPr marL="285750" indent="-285750">
                        <a:buFont typeface="Arial" panose="020B0604020202020204" pitchFamily="34" charset="0"/>
                        <a:buChar char="•"/>
                      </a:pPr>
                      <a:r>
                        <a:rPr lang="en-GB" dirty="0"/>
                        <a:t>Various</a:t>
                      </a:r>
                    </a:p>
                  </a:txBody>
                  <a:tcPr/>
                </a:tc>
                <a:tc>
                  <a:txBody>
                    <a:bodyPr/>
                    <a:lstStyle/>
                    <a:p>
                      <a:r>
                        <a:rPr lang="en-GB" b="1" dirty="0"/>
                        <a:t>Tracing</a:t>
                      </a:r>
                    </a:p>
                    <a:p>
                      <a:pPr marL="285750" indent="-285750">
                        <a:buFont typeface="Arial" panose="020B0604020202020204" pitchFamily="34" charset="0"/>
                        <a:buChar char="•"/>
                      </a:pPr>
                      <a:r>
                        <a:rPr lang="en-GB" b="0" dirty="0"/>
                        <a:t>Common law</a:t>
                      </a:r>
                    </a:p>
                    <a:p>
                      <a:pPr marL="285750" indent="-285750">
                        <a:buFont typeface="Arial" panose="020B0604020202020204" pitchFamily="34" charset="0"/>
                        <a:buChar char="•"/>
                      </a:pPr>
                      <a:r>
                        <a:rPr lang="en-GB" b="0" dirty="0"/>
                        <a:t>Equity</a:t>
                      </a:r>
                    </a:p>
                  </a:txBody>
                  <a:tcPr/>
                </a:tc>
                <a:extLst>
                  <a:ext uri="{0D108BD9-81ED-4DB2-BD59-A6C34878D82A}">
                    <a16:rowId xmlns:a16="http://schemas.microsoft.com/office/drawing/2014/main" val="869018179"/>
                  </a:ext>
                </a:extLst>
              </a:tr>
              <a:tr h="4339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Non-fiduciary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Trust</a:t>
                      </a:r>
                      <a:r>
                        <a:rPr lang="en-GB" baseline="0" dirty="0"/>
                        <a:t> deed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a:t>Common law</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a:t>Statute</a:t>
                      </a:r>
                      <a:endParaRPr lang="en-GB" dirty="0"/>
                    </a:p>
                  </a:txBody>
                  <a:tcPr/>
                </a:tc>
                <a:tc>
                  <a:txBody>
                    <a:bodyPr/>
                    <a:lstStyle/>
                    <a:p>
                      <a:r>
                        <a:rPr lang="en-GB" b="1" dirty="0"/>
                        <a:t>3</a:t>
                      </a:r>
                      <a:r>
                        <a:rPr lang="en-GB" b="1" baseline="30000" dirty="0"/>
                        <a:t>rd</a:t>
                      </a:r>
                      <a:r>
                        <a:rPr lang="en-GB" b="1" dirty="0"/>
                        <a:t> Party</a:t>
                      </a:r>
                    </a:p>
                    <a:p>
                      <a:pPr marL="285750" indent="-285750">
                        <a:buFont typeface="Arial" panose="020B0604020202020204" pitchFamily="34" charset="0"/>
                        <a:buChar char="•"/>
                      </a:pPr>
                      <a:r>
                        <a:rPr lang="en-GB" b="0" dirty="0"/>
                        <a:t>Assistant</a:t>
                      </a:r>
                    </a:p>
                    <a:p>
                      <a:pPr marL="285750" indent="-285750">
                        <a:buFont typeface="Arial" panose="020B0604020202020204" pitchFamily="34" charset="0"/>
                        <a:buChar char="•"/>
                      </a:pPr>
                      <a:r>
                        <a:rPr lang="en-GB" b="0" dirty="0"/>
                        <a:t>Recipient</a:t>
                      </a:r>
                    </a:p>
                  </a:txBody>
                  <a:tcPr/>
                </a:tc>
                <a:tc>
                  <a:txBody>
                    <a:bodyPr/>
                    <a:lstStyle/>
                    <a:p>
                      <a:r>
                        <a:rPr lang="en-GB" b="1" dirty="0"/>
                        <a:t>Proprietary</a:t>
                      </a:r>
                    </a:p>
                    <a:p>
                      <a:pPr marL="285750" indent="-285750">
                        <a:buFont typeface="Arial" panose="020B0604020202020204" pitchFamily="34" charset="0"/>
                        <a:buChar char="•"/>
                      </a:pPr>
                      <a:r>
                        <a:rPr lang="en-GB" dirty="0"/>
                        <a:t>Various</a:t>
                      </a:r>
                    </a:p>
                  </a:txBody>
                  <a:tcPr/>
                </a:tc>
                <a:tc>
                  <a:txBody>
                    <a:bodyPr/>
                    <a:lstStyle/>
                    <a:p>
                      <a:endParaRPr lang="en-GB" b="1" dirty="0"/>
                    </a:p>
                  </a:txBody>
                  <a:tcPr/>
                </a:tc>
                <a:extLst>
                  <a:ext uri="{0D108BD9-81ED-4DB2-BD59-A6C34878D82A}">
                    <a16:rowId xmlns:a16="http://schemas.microsoft.com/office/drawing/2014/main" val="948240762"/>
                  </a:ext>
                </a:extLst>
              </a:tr>
            </a:tbl>
          </a:graphicData>
        </a:graphic>
      </p:graphicFrame>
      <p:sp>
        <p:nvSpPr>
          <p:cNvPr id="6" name="TextBox 5"/>
          <p:cNvSpPr txBox="1"/>
          <p:nvPr/>
        </p:nvSpPr>
        <p:spPr>
          <a:xfrm>
            <a:off x="1691680" y="5157192"/>
            <a:ext cx="6406480" cy="707886"/>
          </a:xfrm>
          <a:prstGeom prst="rect">
            <a:avLst/>
          </a:prstGeom>
          <a:noFill/>
        </p:spPr>
        <p:txBody>
          <a:bodyPr wrap="square" rtlCol="0">
            <a:spAutoFit/>
          </a:bodyPr>
          <a:lstStyle/>
          <a:p>
            <a:r>
              <a:rPr lang="en-GB" sz="2000" i="1" dirty="0">
                <a:latin typeface="+mn-lt"/>
              </a:rPr>
              <a:t>Unfortunately, there is much judicial and academic disagreement on terms, analyses, effects…</a:t>
            </a:r>
          </a:p>
        </p:txBody>
      </p:sp>
    </p:spTree>
    <p:extLst>
      <p:ext uri="{BB962C8B-B14F-4D97-AF65-F5344CB8AC3E}">
        <p14:creationId xmlns:p14="http://schemas.microsoft.com/office/powerpoint/2010/main" val="829862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0B006F52-43B9-4AE3-A31F-ECEDD3516E68}"/>
              </a:ext>
            </a:extLst>
          </p:cNvPr>
          <p:cNvSpPr>
            <a:spLocks noGrp="1"/>
          </p:cNvSpPr>
          <p:nvPr>
            <p:ph type="title"/>
          </p:nvPr>
        </p:nvSpPr>
        <p:spPr>
          <a:xfrm>
            <a:off x="684213" y="620713"/>
            <a:ext cx="7772400" cy="1143000"/>
          </a:xfrm>
        </p:spPr>
        <p:txBody>
          <a:bodyPr/>
          <a:lstStyle/>
          <a:p>
            <a:br>
              <a:rPr lang="en-US" altLang="en-US" dirty="0">
                <a:latin typeface="Calibri" panose="020F0502020204030204" pitchFamily="34" charset="0"/>
                <a:ea typeface="ＭＳ Ｐゴシック" panose="020B0600070205080204" pitchFamily="34" charset="-128"/>
              </a:rPr>
            </a:br>
            <a:r>
              <a:rPr lang="en-US" altLang="en-US" dirty="0">
                <a:latin typeface="+mn-lt"/>
                <a:ea typeface="ＭＳ Ｐゴシック" panose="020B0600070205080204" pitchFamily="34" charset="-128"/>
              </a:rPr>
              <a:t>This week</a:t>
            </a:r>
            <a:br>
              <a:rPr lang="en-US" altLang="en-US" dirty="0">
                <a:latin typeface="Calibri" panose="020F0502020204030204" pitchFamily="34" charset="0"/>
                <a:ea typeface="ＭＳ Ｐゴシック" panose="020B0600070205080204" pitchFamily="34" charset="-128"/>
              </a:rPr>
            </a:br>
            <a:br>
              <a:rPr lang="en-US" altLang="en-US" i="1" dirty="0">
                <a:latin typeface="Calibri" panose="020F0502020204030204" pitchFamily="34" charset="0"/>
                <a:ea typeface="ＭＳ Ｐゴシック" panose="020B0600070205080204" pitchFamily="34" charset="-128"/>
              </a:rPr>
            </a:br>
            <a:endParaRPr lang="en-US" altLang="en-US" dirty="0">
              <a:latin typeface="Calibri" panose="020F0502020204030204" pitchFamily="34" charset="0"/>
              <a:ea typeface="ＭＳ Ｐゴシック" panose="020B0600070205080204" pitchFamily="34" charset="-128"/>
            </a:endParaRPr>
          </a:p>
        </p:txBody>
      </p:sp>
      <p:sp>
        <p:nvSpPr>
          <p:cNvPr id="15363" name="Content Placeholder 2">
            <a:extLst>
              <a:ext uri="{FF2B5EF4-FFF2-40B4-BE49-F238E27FC236}">
                <a16:creationId xmlns:a16="http://schemas.microsoft.com/office/drawing/2014/main" id="{21C6C85C-10A4-4B3E-8F3C-5DD8A3E9BF94}"/>
              </a:ext>
            </a:extLst>
          </p:cNvPr>
          <p:cNvSpPr>
            <a:spLocks noGrp="1"/>
          </p:cNvSpPr>
          <p:nvPr>
            <p:ph idx="1"/>
          </p:nvPr>
        </p:nvSpPr>
        <p:spPr>
          <a:xfrm>
            <a:off x="651780" y="1763713"/>
            <a:ext cx="7772400" cy="3895725"/>
          </a:xfrm>
        </p:spPr>
        <p:txBody>
          <a:bodyPr/>
          <a:lstStyle/>
          <a:p>
            <a:pPr marL="0" indent="0">
              <a:defRPr/>
            </a:pPr>
            <a:r>
              <a:rPr lang="en-US" altLang="en-US" sz="2400" b="1" kern="1200" dirty="0">
                <a:cs typeface="+mn-cs"/>
              </a:rPr>
              <a:t>This week:</a:t>
            </a:r>
          </a:p>
          <a:p>
            <a:pPr>
              <a:buFontTx/>
              <a:buChar char="•"/>
              <a:defRPr/>
            </a:pPr>
            <a:r>
              <a:rPr lang="en-GB" altLang="en-US" sz="2400" kern="1200" dirty="0">
                <a:cs typeface="+mn-cs"/>
              </a:rPr>
              <a:t>We will begin our exploration of trustee duties by looking at their duties as fiduciaries. </a:t>
            </a:r>
          </a:p>
          <a:p>
            <a:pPr>
              <a:buFontTx/>
              <a:buChar char="•"/>
              <a:defRPr/>
            </a:pPr>
            <a:r>
              <a:rPr lang="en-GB" altLang="en-US" sz="2400" kern="1200" dirty="0">
                <a:cs typeface="+mn-cs"/>
              </a:rPr>
              <a:t>We will also consider the remedies available to beneficiaries for breach of fiduciary duties.</a:t>
            </a:r>
          </a:p>
        </p:txBody>
      </p:sp>
      <p:pic>
        <p:nvPicPr>
          <p:cNvPr id="2" name="Picture 1"/>
          <p:cNvPicPr>
            <a:picLocks noChangeAspect="1"/>
          </p:cNvPicPr>
          <p:nvPr/>
        </p:nvPicPr>
        <p:blipFill>
          <a:blip r:embed="rId2"/>
          <a:stretch>
            <a:fillRect/>
          </a:stretch>
        </p:blipFill>
        <p:spPr>
          <a:xfrm>
            <a:off x="3228292" y="4149080"/>
            <a:ext cx="2619375" cy="1743075"/>
          </a:xfrm>
          <a:prstGeom prst="rect">
            <a:avLst/>
          </a:prstGeom>
        </p:spPr>
      </p:pic>
    </p:spTree>
    <p:extLst>
      <p:ext uri="{BB962C8B-B14F-4D97-AF65-F5344CB8AC3E}">
        <p14:creationId xmlns:p14="http://schemas.microsoft.com/office/powerpoint/2010/main" val="2859687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23728" y="332656"/>
            <a:ext cx="6264696" cy="6264696"/>
          </a:xfrm>
          <a:prstGeom prst="rect">
            <a:avLst/>
          </a:prstGeom>
        </p:spPr>
      </p:pic>
      <p:sp>
        <p:nvSpPr>
          <p:cNvPr id="3" name="Oval 2">
            <a:extLst>
              <a:ext uri="{FF2B5EF4-FFF2-40B4-BE49-F238E27FC236}">
                <a16:creationId xmlns:a16="http://schemas.microsoft.com/office/drawing/2014/main" id="{1E49BB60-346E-086B-9405-20B1C74F4347}"/>
              </a:ext>
            </a:extLst>
          </p:cNvPr>
          <p:cNvSpPr/>
          <p:nvPr/>
        </p:nvSpPr>
        <p:spPr bwMode="auto">
          <a:xfrm>
            <a:off x="3563888" y="2708920"/>
            <a:ext cx="3240360" cy="1728192"/>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imes" pitchFamily="18" charset="0"/>
            </a:endParaRPr>
          </a:p>
        </p:txBody>
      </p:sp>
    </p:spTree>
    <p:extLst>
      <p:ext uri="{BB962C8B-B14F-4D97-AF65-F5344CB8AC3E}">
        <p14:creationId xmlns:p14="http://schemas.microsoft.com/office/powerpoint/2010/main" val="450517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0B006F52-43B9-4AE3-A31F-ECEDD3516E68}"/>
              </a:ext>
            </a:extLst>
          </p:cNvPr>
          <p:cNvSpPr>
            <a:spLocks noGrp="1"/>
          </p:cNvSpPr>
          <p:nvPr>
            <p:ph type="title"/>
          </p:nvPr>
        </p:nvSpPr>
        <p:spPr>
          <a:xfrm>
            <a:off x="684213" y="620713"/>
            <a:ext cx="7772400" cy="1143000"/>
          </a:xfrm>
        </p:spPr>
        <p:txBody>
          <a:bodyPr/>
          <a:lstStyle/>
          <a:p>
            <a:br>
              <a:rPr lang="en-US" altLang="en-US" dirty="0">
                <a:latin typeface="Calibri" panose="020F0502020204030204" pitchFamily="34" charset="0"/>
                <a:ea typeface="ＭＳ Ｐゴシック" panose="020B0600070205080204" pitchFamily="34" charset="-128"/>
              </a:rPr>
            </a:br>
            <a:r>
              <a:rPr lang="en-US" altLang="en-US" dirty="0">
                <a:latin typeface="+mn-lt"/>
                <a:ea typeface="ＭＳ Ｐゴシック" panose="020B0600070205080204" pitchFamily="34" charset="-128"/>
              </a:rPr>
              <a:t>The essence of fiduciary duty</a:t>
            </a:r>
            <a:br>
              <a:rPr lang="en-US" altLang="en-US" dirty="0">
                <a:latin typeface="Calibri" panose="020F0502020204030204" pitchFamily="34" charset="0"/>
                <a:ea typeface="ＭＳ Ｐゴシック" panose="020B0600070205080204" pitchFamily="34" charset="-128"/>
              </a:rPr>
            </a:br>
            <a:br>
              <a:rPr lang="en-US" altLang="en-US" i="1" dirty="0">
                <a:latin typeface="Calibri" panose="020F0502020204030204" pitchFamily="34" charset="0"/>
                <a:ea typeface="ＭＳ Ｐゴシック" panose="020B0600070205080204" pitchFamily="34" charset="-128"/>
              </a:rPr>
            </a:br>
            <a:endParaRPr lang="en-US" altLang="en-US" dirty="0">
              <a:latin typeface="Calibri" panose="020F0502020204030204" pitchFamily="34" charset="0"/>
              <a:ea typeface="ＭＳ Ｐゴシック" panose="020B0600070205080204" pitchFamily="34" charset="-128"/>
            </a:endParaRPr>
          </a:p>
        </p:txBody>
      </p:sp>
      <p:sp>
        <p:nvSpPr>
          <p:cNvPr id="15363" name="Content Placeholder 2">
            <a:extLst>
              <a:ext uri="{FF2B5EF4-FFF2-40B4-BE49-F238E27FC236}">
                <a16:creationId xmlns:a16="http://schemas.microsoft.com/office/drawing/2014/main" id="{21C6C85C-10A4-4B3E-8F3C-5DD8A3E9BF94}"/>
              </a:ext>
            </a:extLst>
          </p:cNvPr>
          <p:cNvSpPr>
            <a:spLocks noGrp="1"/>
          </p:cNvSpPr>
          <p:nvPr>
            <p:ph idx="1"/>
          </p:nvPr>
        </p:nvSpPr>
        <p:spPr>
          <a:xfrm>
            <a:off x="693738" y="1516236"/>
            <a:ext cx="6408439" cy="3825527"/>
          </a:xfrm>
        </p:spPr>
        <p:txBody>
          <a:bodyPr/>
          <a:lstStyle/>
          <a:p>
            <a:pPr>
              <a:buFont typeface="Arial" panose="020B0604020202020204" pitchFamily="34" charset="0"/>
              <a:buChar char="•"/>
              <a:defRPr/>
            </a:pPr>
            <a:r>
              <a:rPr lang="en-GB" altLang="en-US" sz="2400" kern="1200" dirty="0">
                <a:cs typeface="+mn-cs"/>
              </a:rPr>
              <a:t>“The distinguishing obligation of a fiduciary is the obligation of loyalty. The principal is entitled to the single-minded loyalty of his fiduciary” (</a:t>
            </a:r>
            <a:r>
              <a:rPr lang="en-GB" sz="2400" kern="1200" dirty="0">
                <a:cs typeface="+mn-cs"/>
              </a:rPr>
              <a:t>Lord Millet in </a:t>
            </a:r>
            <a:r>
              <a:rPr lang="en-GB" sz="2400" i="1" u="sng" kern="1200" dirty="0">
                <a:cs typeface="+mn-cs"/>
              </a:rPr>
              <a:t>Bristol and West Building Society v. </a:t>
            </a:r>
            <a:r>
              <a:rPr lang="en-GB" sz="2400" i="1" u="sng" kern="1200" dirty="0" err="1">
                <a:cs typeface="+mn-cs"/>
              </a:rPr>
              <a:t>Mothew</a:t>
            </a:r>
            <a:r>
              <a:rPr lang="en-GB" sz="2400" i="1" u="sng" kern="1200" dirty="0">
                <a:cs typeface="+mn-cs"/>
              </a:rPr>
              <a:t> </a:t>
            </a:r>
            <a:r>
              <a:rPr lang="en-GB" sz="2400" u="sng" kern="1200" dirty="0">
                <a:cs typeface="+mn-cs"/>
              </a:rPr>
              <a:t>[1998] 1 Ch 1</a:t>
            </a:r>
            <a:r>
              <a:rPr lang="en-GB" sz="2400" kern="1200" dirty="0">
                <a:cs typeface="+mn-cs"/>
              </a:rPr>
              <a:t>).</a:t>
            </a:r>
          </a:p>
          <a:p>
            <a:pPr>
              <a:buFont typeface="Arial" panose="020B0604020202020204" pitchFamily="34" charset="0"/>
              <a:buChar char="•"/>
              <a:defRPr/>
            </a:pPr>
            <a:r>
              <a:rPr lang="en-GB" altLang="en-US" sz="2400" kern="1200" dirty="0">
                <a:cs typeface="+mn-cs"/>
              </a:rPr>
              <a:t>But is loyalty really required?</a:t>
            </a:r>
          </a:p>
          <a:p>
            <a:pPr>
              <a:buFont typeface="Arial" panose="020B0604020202020204" pitchFamily="34" charset="0"/>
              <a:buChar char="•"/>
              <a:defRPr/>
            </a:pPr>
            <a:r>
              <a:rPr lang="en-GB" altLang="en-US" sz="2400" kern="1200" dirty="0">
                <a:cs typeface="+mn-cs"/>
              </a:rPr>
              <a:t>The focus should be on the exercising judgment and the ‘orientation’ of that judgment (Penner).</a:t>
            </a:r>
          </a:p>
          <a:p>
            <a:pPr>
              <a:buFont typeface="Arial" panose="020B0604020202020204" pitchFamily="34" charset="0"/>
              <a:buChar char="•"/>
              <a:defRPr/>
            </a:pPr>
            <a:r>
              <a:rPr lang="en-GB" altLang="en-US" sz="2400" kern="1200" dirty="0">
                <a:cs typeface="+mn-cs"/>
              </a:rPr>
              <a:t>Fiduciary duty is protective/prophylactic (</a:t>
            </a:r>
            <a:r>
              <a:rPr lang="en-GB" altLang="en-US" sz="2400" kern="1200" dirty="0" err="1">
                <a:cs typeface="+mn-cs"/>
              </a:rPr>
              <a:t>Conaglen</a:t>
            </a:r>
            <a:r>
              <a:rPr lang="en-GB" altLang="en-US" sz="2400" kern="1200" dirty="0">
                <a:cs typeface="+mn-cs"/>
              </a:rPr>
              <a:t>).</a:t>
            </a:r>
          </a:p>
        </p:txBody>
      </p:sp>
      <p:pic>
        <p:nvPicPr>
          <p:cNvPr id="2" name="Picture 1"/>
          <p:cNvPicPr>
            <a:picLocks noChangeAspect="1"/>
          </p:cNvPicPr>
          <p:nvPr/>
        </p:nvPicPr>
        <p:blipFill>
          <a:blip r:embed="rId2"/>
          <a:stretch>
            <a:fillRect/>
          </a:stretch>
        </p:blipFill>
        <p:spPr>
          <a:xfrm rot="5400000">
            <a:off x="6665829" y="2793095"/>
            <a:ext cx="2122327" cy="1271807"/>
          </a:xfrm>
          <a:prstGeom prst="rect">
            <a:avLst/>
          </a:prstGeom>
        </p:spPr>
      </p:pic>
    </p:spTree>
    <p:extLst>
      <p:ext uri="{BB962C8B-B14F-4D97-AF65-F5344CB8AC3E}">
        <p14:creationId xmlns:p14="http://schemas.microsoft.com/office/powerpoint/2010/main" val="2230281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0B006F52-43B9-4AE3-A31F-ECEDD3516E68}"/>
              </a:ext>
            </a:extLst>
          </p:cNvPr>
          <p:cNvSpPr>
            <a:spLocks noGrp="1"/>
          </p:cNvSpPr>
          <p:nvPr>
            <p:ph type="title"/>
          </p:nvPr>
        </p:nvSpPr>
        <p:spPr>
          <a:xfrm>
            <a:off x="684213" y="620713"/>
            <a:ext cx="7772400" cy="1143000"/>
          </a:xfrm>
        </p:spPr>
        <p:txBody>
          <a:bodyPr/>
          <a:lstStyle/>
          <a:p>
            <a:br>
              <a:rPr lang="en-US" altLang="en-US" dirty="0">
                <a:latin typeface="Calibri" panose="020F0502020204030204" pitchFamily="34" charset="0"/>
                <a:ea typeface="ＭＳ Ｐゴシック" panose="020B0600070205080204" pitchFamily="34" charset="-128"/>
              </a:rPr>
            </a:br>
            <a:r>
              <a:rPr lang="en-US" altLang="en-US" dirty="0">
                <a:latin typeface="+mn-lt"/>
                <a:ea typeface="ＭＳ Ｐゴシック" panose="020B0600070205080204" pitchFamily="34" charset="-128"/>
              </a:rPr>
              <a:t>The rules</a:t>
            </a:r>
            <a:br>
              <a:rPr lang="en-US" altLang="en-US" dirty="0">
                <a:latin typeface="Calibri" panose="020F0502020204030204" pitchFamily="34" charset="0"/>
                <a:ea typeface="ＭＳ Ｐゴシック" panose="020B0600070205080204" pitchFamily="34" charset="-128"/>
              </a:rPr>
            </a:br>
            <a:br>
              <a:rPr lang="en-US" altLang="en-US" i="1" dirty="0">
                <a:latin typeface="Calibri" panose="020F0502020204030204" pitchFamily="34" charset="0"/>
                <a:ea typeface="ＭＳ Ｐゴシック" panose="020B0600070205080204" pitchFamily="34" charset="-128"/>
              </a:rPr>
            </a:br>
            <a:endParaRPr lang="en-US" altLang="en-US" dirty="0">
              <a:latin typeface="Calibri" panose="020F0502020204030204" pitchFamily="34" charset="0"/>
              <a:ea typeface="ＭＳ Ｐゴシック" panose="020B0600070205080204" pitchFamily="34" charset="-128"/>
            </a:endParaRPr>
          </a:p>
        </p:txBody>
      </p:sp>
      <p:sp>
        <p:nvSpPr>
          <p:cNvPr id="15363" name="Content Placeholder 2">
            <a:extLst>
              <a:ext uri="{FF2B5EF4-FFF2-40B4-BE49-F238E27FC236}">
                <a16:creationId xmlns:a16="http://schemas.microsoft.com/office/drawing/2014/main" id="{21C6C85C-10A4-4B3E-8F3C-5DD8A3E9BF94}"/>
              </a:ext>
            </a:extLst>
          </p:cNvPr>
          <p:cNvSpPr>
            <a:spLocks noGrp="1"/>
          </p:cNvSpPr>
          <p:nvPr>
            <p:ph idx="1"/>
          </p:nvPr>
        </p:nvSpPr>
        <p:spPr>
          <a:xfrm>
            <a:off x="651780" y="1763713"/>
            <a:ext cx="7772400" cy="4473599"/>
          </a:xfrm>
        </p:spPr>
        <p:txBody>
          <a:bodyPr/>
          <a:lstStyle/>
          <a:p>
            <a:pPr marL="457200" indent="-457200">
              <a:buAutoNum type="arabicParenR"/>
              <a:defRPr/>
            </a:pPr>
            <a:r>
              <a:rPr lang="en-GB" altLang="en-US" sz="2400" kern="1200" dirty="0">
                <a:cs typeface="+mn-cs"/>
              </a:rPr>
              <a:t>The ‘no conflict of interests’ rule</a:t>
            </a:r>
          </a:p>
          <a:p>
            <a:pPr marL="457200" indent="-457200">
              <a:buAutoNum type="arabicParenR"/>
              <a:defRPr/>
            </a:pPr>
            <a:r>
              <a:rPr lang="en-GB" altLang="en-US" sz="2400" kern="1200" dirty="0">
                <a:cs typeface="+mn-cs"/>
              </a:rPr>
              <a:t>The ‘no unauthorised profits’ rule</a:t>
            </a:r>
          </a:p>
          <a:p>
            <a:pPr marL="0" indent="0">
              <a:defRPr/>
            </a:pPr>
            <a:endParaRPr lang="en-GB" altLang="en-US" sz="2400" kern="1200" dirty="0">
              <a:cs typeface="+mn-cs"/>
            </a:endParaRPr>
          </a:p>
          <a:p>
            <a:pPr marL="0" indent="0">
              <a:defRPr/>
            </a:pPr>
            <a:endParaRPr lang="en-GB" altLang="en-US" sz="2400" kern="1200" dirty="0">
              <a:cs typeface="+mn-cs"/>
            </a:endParaRPr>
          </a:p>
          <a:p>
            <a:pPr marL="0" indent="0">
              <a:defRPr/>
            </a:pPr>
            <a:endParaRPr lang="en-GB" altLang="en-US" sz="2400" kern="1200" dirty="0">
              <a:cs typeface="+mn-cs"/>
            </a:endParaRPr>
          </a:p>
          <a:p>
            <a:pPr marL="0" indent="0">
              <a:defRPr/>
            </a:pPr>
            <a:endParaRPr lang="en-GB" altLang="en-US" sz="2400" kern="1200" dirty="0">
              <a:cs typeface="+mn-cs"/>
            </a:endParaRPr>
          </a:p>
          <a:p>
            <a:pPr marL="0" indent="0">
              <a:defRPr/>
            </a:pPr>
            <a:endParaRPr lang="en-GB" altLang="en-US" sz="2400" kern="1200" dirty="0">
              <a:cs typeface="+mn-cs"/>
            </a:endParaRPr>
          </a:p>
          <a:p>
            <a:pPr marL="0" indent="0">
              <a:defRPr/>
            </a:pPr>
            <a:endParaRPr lang="en-GB" altLang="en-US" sz="2400" kern="1200" dirty="0">
              <a:cs typeface="+mn-cs"/>
            </a:endParaRPr>
          </a:p>
          <a:p>
            <a:pPr marL="0" indent="0">
              <a:defRPr/>
            </a:pPr>
            <a:r>
              <a:rPr lang="en-GB" altLang="en-US" sz="2400" kern="1200" dirty="0">
                <a:cs typeface="+mn-cs"/>
              </a:rPr>
              <a:t>Are these really two distinct rules?</a:t>
            </a:r>
            <a:endParaRPr lang="en-GB" altLang="en-US" sz="1600" kern="1200" dirty="0">
              <a:cs typeface="+mn-cs"/>
            </a:endParaRPr>
          </a:p>
        </p:txBody>
      </p:sp>
      <p:pic>
        <p:nvPicPr>
          <p:cNvPr id="3" name="Picture 2"/>
          <p:cNvPicPr>
            <a:picLocks noChangeAspect="1"/>
          </p:cNvPicPr>
          <p:nvPr/>
        </p:nvPicPr>
        <p:blipFill>
          <a:blip r:embed="rId2"/>
          <a:stretch>
            <a:fillRect/>
          </a:stretch>
        </p:blipFill>
        <p:spPr>
          <a:xfrm>
            <a:off x="755576" y="2780928"/>
            <a:ext cx="2143125" cy="2143125"/>
          </a:xfrm>
          <a:prstGeom prst="rect">
            <a:avLst/>
          </a:prstGeom>
        </p:spPr>
      </p:pic>
      <p:pic>
        <p:nvPicPr>
          <p:cNvPr id="4" name="Picture 3"/>
          <p:cNvPicPr>
            <a:picLocks noChangeAspect="1"/>
          </p:cNvPicPr>
          <p:nvPr/>
        </p:nvPicPr>
        <p:blipFill>
          <a:blip r:embed="rId3"/>
          <a:stretch>
            <a:fillRect/>
          </a:stretch>
        </p:blipFill>
        <p:spPr>
          <a:xfrm>
            <a:off x="3275856" y="2780928"/>
            <a:ext cx="2891259" cy="2165653"/>
          </a:xfrm>
          <a:prstGeom prst="rect">
            <a:avLst/>
          </a:prstGeom>
        </p:spPr>
      </p:pic>
    </p:spTree>
    <p:extLst>
      <p:ext uri="{BB962C8B-B14F-4D97-AF65-F5344CB8AC3E}">
        <p14:creationId xmlns:p14="http://schemas.microsoft.com/office/powerpoint/2010/main" val="1561035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0B006F52-43B9-4AE3-A31F-ECEDD3516E68}"/>
              </a:ext>
            </a:extLst>
          </p:cNvPr>
          <p:cNvSpPr>
            <a:spLocks noGrp="1"/>
          </p:cNvSpPr>
          <p:nvPr>
            <p:ph type="title"/>
          </p:nvPr>
        </p:nvSpPr>
        <p:spPr>
          <a:xfrm>
            <a:off x="684213" y="620713"/>
            <a:ext cx="7772400" cy="1143000"/>
          </a:xfrm>
        </p:spPr>
        <p:txBody>
          <a:bodyPr/>
          <a:lstStyle/>
          <a:p>
            <a:br>
              <a:rPr lang="en-US" altLang="en-US" dirty="0">
                <a:latin typeface="Calibri" panose="020F0502020204030204" pitchFamily="34" charset="0"/>
                <a:ea typeface="ＭＳ Ｐゴシック" panose="020B0600070205080204" pitchFamily="34" charset="-128"/>
              </a:rPr>
            </a:br>
            <a:r>
              <a:rPr lang="en-US" altLang="en-US" sz="4000" dirty="0">
                <a:latin typeface="+mn-lt"/>
                <a:ea typeface="ＭＳ Ｐゴシック" panose="020B0600070205080204" pitchFamily="34" charset="-128"/>
              </a:rPr>
              <a:t>The ‘no conflict of interests’ rule</a:t>
            </a:r>
            <a:br>
              <a:rPr lang="en-US" altLang="en-US" dirty="0">
                <a:latin typeface="Calibri" panose="020F0502020204030204" pitchFamily="34" charset="0"/>
                <a:ea typeface="ＭＳ Ｐゴシック" panose="020B0600070205080204" pitchFamily="34" charset="-128"/>
              </a:rPr>
            </a:br>
            <a:br>
              <a:rPr lang="en-US" altLang="en-US" i="1" dirty="0">
                <a:latin typeface="Calibri" panose="020F0502020204030204" pitchFamily="34" charset="0"/>
                <a:ea typeface="ＭＳ Ｐゴシック" panose="020B0600070205080204" pitchFamily="34" charset="-128"/>
              </a:rPr>
            </a:br>
            <a:endParaRPr lang="en-US" altLang="en-US" dirty="0">
              <a:latin typeface="Calibri" panose="020F0502020204030204" pitchFamily="34" charset="0"/>
              <a:ea typeface="ＭＳ Ｐゴシック" panose="020B0600070205080204" pitchFamily="34" charset="-128"/>
            </a:endParaRPr>
          </a:p>
        </p:txBody>
      </p:sp>
      <p:sp>
        <p:nvSpPr>
          <p:cNvPr id="15363" name="Content Placeholder 2">
            <a:extLst>
              <a:ext uri="{FF2B5EF4-FFF2-40B4-BE49-F238E27FC236}">
                <a16:creationId xmlns:a16="http://schemas.microsoft.com/office/drawing/2014/main" id="{21C6C85C-10A4-4B3E-8F3C-5DD8A3E9BF94}"/>
              </a:ext>
            </a:extLst>
          </p:cNvPr>
          <p:cNvSpPr>
            <a:spLocks noGrp="1"/>
          </p:cNvSpPr>
          <p:nvPr>
            <p:ph idx="1"/>
          </p:nvPr>
        </p:nvSpPr>
        <p:spPr>
          <a:xfrm>
            <a:off x="611560" y="1484435"/>
            <a:ext cx="7772400" cy="4473599"/>
          </a:xfrm>
        </p:spPr>
        <p:txBody>
          <a:bodyPr/>
          <a:lstStyle/>
          <a:p>
            <a:pPr marL="0" indent="0" algn="ctr">
              <a:defRPr/>
            </a:pPr>
            <a:r>
              <a:rPr lang="en-GB" sz="2000" kern="1200" dirty="0">
                <a:cs typeface="+mn-cs"/>
              </a:rPr>
              <a:t>“It is an inflexible rule of a Court of Equity that a person in a fiduciary position ... is not, unless otherwise expressly provided ... allowed to </a:t>
            </a:r>
            <a:r>
              <a:rPr lang="en-GB" sz="2000" kern="1200" dirty="0">
                <a:highlight>
                  <a:srgbClr val="00FFFF"/>
                </a:highlight>
                <a:cs typeface="+mn-cs"/>
              </a:rPr>
              <a:t>put himself in a position </a:t>
            </a:r>
            <a:r>
              <a:rPr lang="en-GB" sz="2000" kern="1200" dirty="0">
                <a:cs typeface="+mn-cs"/>
              </a:rPr>
              <a:t>where his interest and duty conflict.” </a:t>
            </a:r>
          </a:p>
          <a:p>
            <a:pPr marL="0" indent="0" algn="ctr">
              <a:defRPr/>
            </a:pPr>
            <a:r>
              <a:rPr lang="en-GB" altLang="en-US" sz="1600" dirty="0"/>
              <a:t>Lord </a:t>
            </a:r>
            <a:r>
              <a:rPr lang="en-GB" altLang="en-US" sz="1600" dirty="0" err="1"/>
              <a:t>Herschell</a:t>
            </a:r>
            <a:r>
              <a:rPr lang="en-GB" altLang="en-US" sz="1600" dirty="0"/>
              <a:t> in </a:t>
            </a:r>
            <a:r>
              <a:rPr lang="en-GB" sz="1600" i="1" u="sng" dirty="0"/>
              <a:t>Bray v Ford </a:t>
            </a:r>
            <a:r>
              <a:rPr lang="en-GB" sz="1600" u="sng" dirty="0"/>
              <a:t>[1896] AC 44</a:t>
            </a:r>
          </a:p>
          <a:p>
            <a:pPr marL="0" indent="0">
              <a:defRPr/>
            </a:pPr>
            <a:endParaRPr lang="en-GB" altLang="en-US" sz="1600" u="sng" dirty="0"/>
          </a:p>
          <a:p>
            <a:pPr marL="285750" indent="-285750">
              <a:buFont typeface="Arial" panose="020B0604020202020204" pitchFamily="34" charset="0"/>
              <a:buChar char="•"/>
              <a:defRPr/>
            </a:pPr>
            <a:r>
              <a:rPr lang="en-GB" altLang="en-US" sz="2400" dirty="0"/>
              <a:t>The rule is said to be inflexible, and is associated with strict liability</a:t>
            </a:r>
          </a:p>
          <a:p>
            <a:pPr marL="285750" indent="-285750">
              <a:buFont typeface="Arial" panose="020B0604020202020204" pitchFamily="34" charset="0"/>
              <a:buChar char="•"/>
              <a:defRPr/>
            </a:pPr>
            <a:r>
              <a:rPr lang="en-GB" altLang="en-US" sz="2400" dirty="0"/>
              <a:t>It serves to guarantee the fiduciary’s ‘undivided loyalty’ and to deter wrongdoing on their part</a:t>
            </a:r>
          </a:p>
          <a:p>
            <a:pPr marL="285750" indent="-285750">
              <a:buFont typeface="Arial" panose="020B0604020202020204" pitchFamily="34" charset="0"/>
              <a:buChar char="•"/>
              <a:defRPr/>
            </a:pPr>
            <a:r>
              <a:rPr lang="en-GB" altLang="en-US" sz="2400" dirty="0"/>
              <a:t>Two sub-rules, the rules on self-dealing and fair-dealing</a:t>
            </a:r>
          </a:p>
          <a:p>
            <a:pPr marL="285750" indent="-285750">
              <a:buFont typeface="Arial" panose="020B0604020202020204" pitchFamily="34" charset="0"/>
              <a:buChar char="•"/>
              <a:defRPr/>
            </a:pPr>
            <a:endParaRPr lang="en-GB" altLang="en-US" sz="2400" dirty="0"/>
          </a:p>
        </p:txBody>
      </p:sp>
    </p:spTree>
    <p:extLst>
      <p:ext uri="{BB962C8B-B14F-4D97-AF65-F5344CB8AC3E}">
        <p14:creationId xmlns:p14="http://schemas.microsoft.com/office/powerpoint/2010/main" val="2701130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0B006F52-43B9-4AE3-A31F-ECEDD3516E68}"/>
              </a:ext>
            </a:extLst>
          </p:cNvPr>
          <p:cNvSpPr>
            <a:spLocks noGrp="1"/>
          </p:cNvSpPr>
          <p:nvPr>
            <p:ph type="title"/>
          </p:nvPr>
        </p:nvSpPr>
        <p:spPr>
          <a:xfrm>
            <a:off x="755576" y="902371"/>
            <a:ext cx="7772400" cy="1143000"/>
          </a:xfrm>
        </p:spPr>
        <p:txBody>
          <a:bodyPr/>
          <a:lstStyle/>
          <a:p>
            <a:br>
              <a:rPr lang="en-US" altLang="en-US" dirty="0">
                <a:latin typeface="Calibri" panose="020F0502020204030204" pitchFamily="34" charset="0"/>
                <a:ea typeface="ＭＳ Ｐゴシック" panose="020B0600070205080204" pitchFamily="34" charset="-128"/>
              </a:rPr>
            </a:br>
            <a:r>
              <a:rPr lang="en-US" altLang="en-US" dirty="0">
                <a:latin typeface="+mn-lt"/>
                <a:ea typeface="ＭＳ Ｐゴシック" panose="020B0600070205080204" pitchFamily="34" charset="-128"/>
              </a:rPr>
              <a:t>The prohibition of self-dealing (with some exceptions)</a:t>
            </a:r>
            <a:br>
              <a:rPr lang="en-US" altLang="en-US" dirty="0">
                <a:latin typeface="Calibri" panose="020F0502020204030204" pitchFamily="34" charset="0"/>
                <a:ea typeface="ＭＳ Ｐゴシック" panose="020B0600070205080204" pitchFamily="34" charset="-128"/>
              </a:rPr>
            </a:br>
            <a:br>
              <a:rPr lang="en-US" altLang="en-US" i="1" dirty="0">
                <a:latin typeface="Calibri" panose="020F0502020204030204" pitchFamily="34" charset="0"/>
                <a:ea typeface="ＭＳ Ｐゴシック" panose="020B0600070205080204" pitchFamily="34" charset="-128"/>
              </a:rPr>
            </a:br>
            <a:endParaRPr lang="en-US" altLang="en-US" dirty="0">
              <a:latin typeface="Calibri" panose="020F0502020204030204" pitchFamily="34" charset="0"/>
              <a:ea typeface="ＭＳ Ｐゴシック" panose="020B0600070205080204" pitchFamily="34" charset="-128"/>
            </a:endParaRPr>
          </a:p>
        </p:txBody>
      </p:sp>
      <p:sp>
        <p:nvSpPr>
          <p:cNvPr id="23" name="Rectángulo 22">
            <a:extLst>
              <a:ext uri="{FF2B5EF4-FFF2-40B4-BE49-F238E27FC236}">
                <a16:creationId xmlns:a16="http://schemas.microsoft.com/office/drawing/2014/main" id="{298F3972-9F2A-44C2-85E3-90901EC3B065}"/>
              </a:ext>
            </a:extLst>
          </p:cNvPr>
          <p:cNvSpPr/>
          <p:nvPr/>
        </p:nvSpPr>
        <p:spPr>
          <a:xfrm>
            <a:off x="5809225" y="2006531"/>
            <a:ext cx="2011678" cy="1471661"/>
          </a:xfrm>
          <a:prstGeom prst="rect">
            <a:avLst/>
          </a:prstGeom>
          <a:noFill/>
          <a:ln w="18000">
            <a:solidFill>
              <a:srgbClr val="000000"/>
            </a:solidFill>
          </a:ln>
        </p:spPr>
        <p:txBody>
          <a:bodyPr wrap="none" rtlCol="0" anchor="ctr" anchorCtr="1"/>
          <a:lstStyle/>
          <a:p>
            <a:pPr algn="ctr"/>
            <a:r>
              <a:rPr lang="it-IT" dirty="0">
                <a:solidFill>
                  <a:srgbClr val="000000"/>
                </a:solidFill>
                <a:latin typeface="Arial" panose="020B0604020202020204" pitchFamily="34" charset="0"/>
                <a:cs typeface="Arial" panose="020B0604020202020204" pitchFamily="34" charset="0"/>
              </a:rPr>
              <a:t>3rd party</a:t>
            </a:r>
          </a:p>
        </p:txBody>
      </p:sp>
      <p:sp>
        <p:nvSpPr>
          <p:cNvPr id="22" name="Rechthoek 21">
            <a:extLst>
              <a:ext uri="{FF2B5EF4-FFF2-40B4-BE49-F238E27FC236}">
                <a16:creationId xmlns:a16="http://schemas.microsoft.com/office/drawing/2014/main" id="{A494059B-B62D-4C08-A1F6-0ECC044BDFAC}"/>
              </a:ext>
            </a:extLst>
          </p:cNvPr>
          <p:cNvSpPr/>
          <p:nvPr/>
        </p:nvSpPr>
        <p:spPr>
          <a:xfrm>
            <a:off x="1121760" y="3329640"/>
            <a:ext cx="2011680" cy="1463040"/>
          </a:xfrm>
          <a:prstGeom prst="rect">
            <a:avLst/>
          </a:prstGeom>
          <a:noFill/>
          <a:ln w="18000">
            <a:solidFill>
              <a:srgbClr val="000000"/>
            </a:solidFill>
          </a:ln>
        </p:spPr>
        <p:txBody>
          <a:bodyPr wrap="none" rtlCol="0" anchor="ctr" anchorCtr="1"/>
          <a:lstStyle/>
          <a:p>
            <a:pPr algn="ctr"/>
            <a:r>
              <a:rPr lang="en-US" dirty="0">
                <a:solidFill>
                  <a:srgbClr val="000000"/>
                </a:solidFill>
                <a:latin typeface="Arial" panose="020B0604020202020204" pitchFamily="34" charset="0"/>
                <a:cs typeface="Arial" panose="020B0604020202020204" pitchFamily="34" charset="0"/>
              </a:rPr>
              <a:t>Trust property </a:t>
            </a:r>
          </a:p>
        </p:txBody>
      </p:sp>
      <p:cxnSp>
        <p:nvCxnSpPr>
          <p:cNvPr id="17" name="Straight Arrow Connector 16">
            <a:extLst>
              <a:ext uri="{FF2B5EF4-FFF2-40B4-BE49-F238E27FC236}">
                <a16:creationId xmlns:a16="http://schemas.microsoft.com/office/drawing/2014/main" id="{EB70F2D2-41E1-49BD-EA8E-774CE66CC538}"/>
              </a:ext>
            </a:extLst>
          </p:cNvPr>
          <p:cNvCxnSpPr>
            <a:cxnSpLocks/>
          </p:cNvCxnSpPr>
          <p:nvPr/>
        </p:nvCxnSpPr>
        <p:spPr bwMode="auto">
          <a:xfrm flipV="1">
            <a:off x="3491880" y="2996952"/>
            <a:ext cx="2056099" cy="1080120"/>
          </a:xfrm>
          <a:prstGeom prst="straightConnector1">
            <a:avLst/>
          </a:prstGeom>
          <a:solidFill>
            <a:schemeClr val="accent1"/>
          </a:solidFill>
          <a:ln w="28575" cap="flat" cmpd="sng" algn="ctr">
            <a:solidFill>
              <a:srgbClr val="00B050"/>
            </a:solidFill>
            <a:prstDash val="solid"/>
            <a:round/>
            <a:headEnd type="none" w="med" len="med"/>
            <a:tailEnd type="stealth" w="lg" len="lg"/>
          </a:ln>
          <a:effectLst/>
        </p:spPr>
      </p:cxnSp>
      <p:sp>
        <p:nvSpPr>
          <p:cNvPr id="18" name="TextBox 17">
            <a:extLst>
              <a:ext uri="{FF2B5EF4-FFF2-40B4-BE49-F238E27FC236}">
                <a16:creationId xmlns:a16="http://schemas.microsoft.com/office/drawing/2014/main" id="{2A3D4057-30F9-7CE0-4132-BA862D1EA30A}"/>
              </a:ext>
            </a:extLst>
          </p:cNvPr>
          <p:cNvSpPr txBox="1"/>
          <p:nvPr/>
        </p:nvSpPr>
        <p:spPr>
          <a:xfrm>
            <a:off x="1297278" y="2683599"/>
            <a:ext cx="1656184" cy="461665"/>
          </a:xfrm>
          <a:prstGeom prst="rect">
            <a:avLst/>
          </a:prstGeom>
          <a:noFill/>
        </p:spPr>
        <p:txBody>
          <a:bodyPr wrap="square" rtlCol="0">
            <a:spAutoFit/>
          </a:bodyPr>
          <a:lstStyle/>
          <a:p>
            <a:r>
              <a:rPr lang="en-US" dirty="0">
                <a:latin typeface="+mn-lt"/>
              </a:rPr>
              <a:t>Trustee</a:t>
            </a:r>
          </a:p>
        </p:txBody>
      </p:sp>
      <p:sp>
        <p:nvSpPr>
          <p:cNvPr id="19" name="TextBox 18">
            <a:extLst>
              <a:ext uri="{FF2B5EF4-FFF2-40B4-BE49-F238E27FC236}">
                <a16:creationId xmlns:a16="http://schemas.microsoft.com/office/drawing/2014/main" id="{1D511F85-0DFB-FA85-85E3-E99CA40B400A}"/>
              </a:ext>
            </a:extLst>
          </p:cNvPr>
          <p:cNvSpPr txBox="1"/>
          <p:nvPr/>
        </p:nvSpPr>
        <p:spPr>
          <a:xfrm>
            <a:off x="1207289" y="4977056"/>
            <a:ext cx="1836162" cy="461665"/>
          </a:xfrm>
          <a:prstGeom prst="rect">
            <a:avLst/>
          </a:prstGeom>
          <a:noFill/>
        </p:spPr>
        <p:txBody>
          <a:bodyPr wrap="square" rtlCol="0">
            <a:spAutoFit/>
          </a:bodyPr>
          <a:lstStyle/>
          <a:p>
            <a:r>
              <a:rPr lang="en-US" dirty="0">
                <a:latin typeface="+mn-lt"/>
              </a:rPr>
              <a:t>Beneficiary</a:t>
            </a:r>
          </a:p>
        </p:txBody>
      </p:sp>
      <p:cxnSp>
        <p:nvCxnSpPr>
          <p:cNvPr id="8" name="Curved Connector 7">
            <a:extLst>
              <a:ext uri="{FF2B5EF4-FFF2-40B4-BE49-F238E27FC236}">
                <a16:creationId xmlns:a16="http://schemas.microsoft.com/office/drawing/2014/main" id="{3DED69DA-9F29-18B2-6FDE-55D90593DAD2}"/>
              </a:ext>
            </a:extLst>
          </p:cNvPr>
          <p:cNvCxnSpPr>
            <a:cxnSpLocks/>
          </p:cNvCxnSpPr>
          <p:nvPr/>
        </p:nvCxnSpPr>
        <p:spPr bwMode="auto">
          <a:xfrm rot="10800000">
            <a:off x="2503391" y="2902933"/>
            <a:ext cx="1080120" cy="853413"/>
          </a:xfrm>
          <a:prstGeom prst="curvedConnector3">
            <a:avLst>
              <a:gd name="adj1" fmla="val -47517"/>
            </a:avLst>
          </a:prstGeom>
          <a:solidFill>
            <a:schemeClr val="accent1"/>
          </a:solidFill>
          <a:ln w="28575" cap="flat" cmpd="sng" algn="ctr">
            <a:solidFill>
              <a:srgbClr val="FF0000"/>
            </a:solidFill>
            <a:prstDash val="solid"/>
            <a:round/>
            <a:headEnd type="none" w="med" len="med"/>
            <a:tailEnd type="triangle"/>
          </a:ln>
          <a:effectLst/>
        </p:spPr>
      </p:cxnSp>
      <p:sp>
        <p:nvSpPr>
          <p:cNvPr id="11" name="TextBox 10">
            <a:extLst>
              <a:ext uri="{FF2B5EF4-FFF2-40B4-BE49-F238E27FC236}">
                <a16:creationId xmlns:a16="http://schemas.microsoft.com/office/drawing/2014/main" id="{AF752A09-2EC2-37A5-144B-4E33C021E20A}"/>
              </a:ext>
            </a:extLst>
          </p:cNvPr>
          <p:cNvSpPr txBox="1"/>
          <p:nvPr/>
        </p:nvSpPr>
        <p:spPr>
          <a:xfrm>
            <a:off x="4174400" y="3731195"/>
            <a:ext cx="790741" cy="461665"/>
          </a:xfrm>
          <a:prstGeom prst="rect">
            <a:avLst/>
          </a:prstGeom>
          <a:noFill/>
        </p:spPr>
        <p:txBody>
          <a:bodyPr wrap="square" rtlCol="0">
            <a:spAutoFit/>
          </a:bodyPr>
          <a:lstStyle/>
          <a:p>
            <a:r>
              <a:rPr lang="en-US" dirty="0">
                <a:solidFill>
                  <a:srgbClr val="00B050"/>
                </a:solidFill>
                <a:latin typeface="+mn-lt"/>
              </a:rPr>
              <a:t>Yes</a:t>
            </a:r>
          </a:p>
        </p:txBody>
      </p:sp>
      <p:sp>
        <p:nvSpPr>
          <p:cNvPr id="12" name="TextBox 11">
            <a:extLst>
              <a:ext uri="{FF2B5EF4-FFF2-40B4-BE49-F238E27FC236}">
                <a16:creationId xmlns:a16="http://schemas.microsoft.com/office/drawing/2014/main" id="{0077248C-9BA0-B245-3DAF-42F456DABBC2}"/>
              </a:ext>
            </a:extLst>
          </p:cNvPr>
          <p:cNvSpPr txBox="1"/>
          <p:nvPr/>
        </p:nvSpPr>
        <p:spPr>
          <a:xfrm>
            <a:off x="3368435" y="2447267"/>
            <a:ext cx="790741" cy="461665"/>
          </a:xfrm>
          <a:prstGeom prst="rect">
            <a:avLst/>
          </a:prstGeom>
          <a:noFill/>
        </p:spPr>
        <p:txBody>
          <a:bodyPr wrap="square" rtlCol="0">
            <a:spAutoFit/>
          </a:bodyPr>
          <a:lstStyle/>
          <a:p>
            <a:r>
              <a:rPr lang="en-US" dirty="0">
                <a:solidFill>
                  <a:srgbClr val="FF0000"/>
                </a:solidFill>
                <a:latin typeface="+mn-lt"/>
              </a:rPr>
              <a:t>No*</a:t>
            </a:r>
          </a:p>
        </p:txBody>
      </p:sp>
      <p:sp>
        <p:nvSpPr>
          <p:cNvPr id="20" name="TextBox 19">
            <a:extLst>
              <a:ext uri="{FF2B5EF4-FFF2-40B4-BE49-F238E27FC236}">
                <a16:creationId xmlns:a16="http://schemas.microsoft.com/office/drawing/2014/main" id="{B1A8761D-8252-A669-FB4E-10109B1E0DBB}"/>
              </a:ext>
            </a:extLst>
          </p:cNvPr>
          <p:cNvSpPr txBox="1"/>
          <p:nvPr/>
        </p:nvSpPr>
        <p:spPr>
          <a:xfrm>
            <a:off x="4765567" y="4927741"/>
            <a:ext cx="4054905" cy="1077218"/>
          </a:xfrm>
          <a:prstGeom prst="rect">
            <a:avLst/>
          </a:prstGeom>
          <a:noFill/>
        </p:spPr>
        <p:txBody>
          <a:bodyPr wrap="square" rtlCol="0">
            <a:spAutoFit/>
          </a:bodyPr>
          <a:lstStyle/>
          <a:p>
            <a:r>
              <a:rPr lang="en-US" sz="1600" dirty="0">
                <a:solidFill>
                  <a:srgbClr val="FF0000"/>
                </a:solidFill>
                <a:latin typeface="+mn-lt"/>
              </a:rPr>
              <a:t>* Unless the sale is </a:t>
            </a:r>
            <a:r>
              <a:rPr lang="en-US" sz="1600" dirty="0" err="1">
                <a:solidFill>
                  <a:srgbClr val="FF0000"/>
                </a:solidFill>
                <a:latin typeface="+mn-lt"/>
              </a:rPr>
              <a:t>authorised</a:t>
            </a:r>
            <a:r>
              <a:rPr lang="en-US" sz="1600" dirty="0">
                <a:solidFill>
                  <a:srgbClr val="FF0000"/>
                </a:solidFill>
                <a:latin typeface="+mn-lt"/>
              </a:rPr>
              <a:t> by the trust instrument, all beneficiaries have approved it under full disclosure or the court has approved it.</a:t>
            </a:r>
          </a:p>
        </p:txBody>
      </p:sp>
    </p:spTree>
    <p:extLst>
      <p:ext uri="{BB962C8B-B14F-4D97-AF65-F5344CB8AC3E}">
        <p14:creationId xmlns:p14="http://schemas.microsoft.com/office/powerpoint/2010/main" val="31374458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0B006F52-43B9-4AE3-A31F-ECEDD3516E68}"/>
              </a:ext>
            </a:extLst>
          </p:cNvPr>
          <p:cNvSpPr>
            <a:spLocks noGrp="1"/>
          </p:cNvSpPr>
          <p:nvPr>
            <p:ph type="title"/>
          </p:nvPr>
        </p:nvSpPr>
        <p:spPr>
          <a:xfrm>
            <a:off x="755576" y="902371"/>
            <a:ext cx="7772400" cy="1143000"/>
          </a:xfrm>
        </p:spPr>
        <p:txBody>
          <a:bodyPr/>
          <a:lstStyle/>
          <a:p>
            <a:br>
              <a:rPr lang="en-US" altLang="en-US" dirty="0">
                <a:latin typeface="Calibri" panose="020F0502020204030204" pitchFamily="34" charset="0"/>
                <a:ea typeface="ＭＳ Ｐゴシック" panose="020B0600070205080204" pitchFamily="34" charset="-128"/>
              </a:rPr>
            </a:br>
            <a:r>
              <a:rPr lang="en-US" altLang="en-US" dirty="0">
                <a:latin typeface="+mn-lt"/>
                <a:ea typeface="ＭＳ Ｐゴシック" panose="020B0600070205080204" pitchFamily="34" charset="-128"/>
              </a:rPr>
              <a:t>The fair-dealing rule</a:t>
            </a:r>
            <a:br>
              <a:rPr lang="en-US" altLang="en-US" dirty="0">
                <a:latin typeface="Calibri" panose="020F0502020204030204" pitchFamily="34" charset="0"/>
                <a:ea typeface="ＭＳ Ｐゴシック" panose="020B0600070205080204" pitchFamily="34" charset="-128"/>
              </a:rPr>
            </a:br>
            <a:br>
              <a:rPr lang="en-US" altLang="en-US" i="1" dirty="0">
                <a:latin typeface="Calibri" panose="020F0502020204030204" pitchFamily="34" charset="0"/>
                <a:ea typeface="ＭＳ Ｐゴシック" panose="020B0600070205080204" pitchFamily="34" charset="-128"/>
              </a:rPr>
            </a:br>
            <a:endParaRPr lang="en-US" altLang="en-US" dirty="0">
              <a:latin typeface="Calibri" panose="020F0502020204030204" pitchFamily="34" charset="0"/>
              <a:ea typeface="ＭＳ Ｐゴシック" panose="020B0600070205080204" pitchFamily="34" charset="-128"/>
            </a:endParaRPr>
          </a:p>
        </p:txBody>
      </p:sp>
      <p:sp>
        <p:nvSpPr>
          <p:cNvPr id="23" name="Rectángulo 22">
            <a:extLst>
              <a:ext uri="{FF2B5EF4-FFF2-40B4-BE49-F238E27FC236}">
                <a16:creationId xmlns:a16="http://schemas.microsoft.com/office/drawing/2014/main" id="{298F3972-9F2A-44C2-85E3-90901EC3B065}"/>
              </a:ext>
            </a:extLst>
          </p:cNvPr>
          <p:cNvSpPr/>
          <p:nvPr/>
        </p:nvSpPr>
        <p:spPr>
          <a:xfrm>
            <a:off x="5809225" y="2006531"/>
            <a:ext cx="2011678" cy="1471661"/>
          </a:xfrm>
          <a:prstGeom prst="rect">
            <a:avLst/>
          </a:prstGeom>
          <a:noFill/>
          <a:ln w="18000">
            <a:solidFill>
              <a:srgbClr val="000000"/>
            </a:solidFill>
          </a:ln>
        </p:spPr>
        <p:txBody>
          <a:bodyPr wrap="none" rtlCol="0" anchor="ctr" anchorCtr="1"/>
          <a:lstStyle/>
          <a:p>
            <a:pPr algn="ctr"/>
            <a:r>
              <a:rPr lang="it-IT" dirty="0">
                <a:solidFill>
                  <a:srgbClr val="000000"/>
                </a:solidFill>
                <a:latin typeface="Arial" panose="020B0604020202020204" pitchFamily="34" charset="0"/>
                <a:cs typeface="Arial" panose="020B0604020202020204" pitchFamily="34" charset="0"/>
              </a:rPr>
              <a:t>3rd party</a:t>
            </a:r>
          </a:p>
        </p:txBody>
      </p:sp>
      <p:sp>
        <p:nvSpPr>
          <p:cNvPr id="22" name="Rechthoek 21">
            <a:extLst>
              <a:ext uri="{FF2B5EF4-FFF2-40B4-BE49-F238E27FC236}">
                <a16:creationId xmlns:a16="http://schemas.microsoft.com/office/drawing/2014/main" id="{A494059B-B62D-4C08-A1F6-0ECC044BDFAC}"/>
              </a:ext>
            </a:extLst>
          </p:cNvPr>
          <p:cNvSpPr/>
          <p:nvPr/>
        </p:nvSpPr>
        <p:spPr>
          <a:xfrm>
            <a:off x="1121760" y="3329640"/>
            <a:ext cx="2011680" cy="1463040"/>
          </a:xfrm>
          <a:prstGeom prst="rect">
            <a:avLst/>
          </a:prstGeom>
          <a:noFill/>
          <a:ln w="18000">
            <a:solidFill>
              <a:srgbClr val="000000"/>
            </a:solidFill>
          </a:ln>
        </p:spPr>
        <p:txBody>
          <a:bodyPr wrap="none" rtlCol="0" anchor="ctr" anchorCtr="1"/>
          <a:lstStyle/>
          <a:p>
            <a:pPr algn="ctr"/>
            <a:r>
              <a:rPr lang="en-US" dirty="0">
                <a:solidFill>
                  <a:srgbClr val="000000"/>
                </a:solidFill>
                <a:latin typeface="Arial" panose="020B0604020202020204" pitchFamily="34" charset="0"/>
                <a:cs typeface="Arial" panose="020B0604020202020204" pitchFamily="34" charset="0"/>
              </a:rPr>
              <a:t>Trust property </a:t>
            </a:r>
          </a:p>
        </p:txBody>
      </p:sp>
      <p:cxnSp>
        <p:nvCxnSpPr>
          <p:cNvPr id="17" name="Straight Arrow Connector 16">
            <a:extLst>
              <a:ext uri="{FF2B5EF4-FFF2-40B4-BE49-F238E27FC236}">
                <a16:creationId xmlns:a16="http://schemas.microsoft.com/office/drawing/2014/main" id="{EB70F2D2-41E1-49BD-EA8E-774CE66CC538}"/>
              </a:ext>
            </a:extLst>
          </p:cNvPr>
          <p:cNvCxnSpPr>
            <a:cxnSpLocks/>
          </p:cNvCxnSpPr>
          <p:nvPr/>
        </p:nvCxnSpPr>
        <p:spPr bwMode="auto">
          <a:xfrm flipV="1">
            <a:off x="3133440" y="3662907"/>
            <a:ext cx="3382776" cy="1638301"/>
          </a:xfrm>
          <a:prstGeom prst="straightConnector1">
            <a:avLst/>
          </a:prstGeom>
          <a:solidFill>
            <a:schemeClr val="accent1"/>
          </a:solidFill>
          <a:ln w="28575" cap="flat" cmpd="sng" algn="ctr">
            <a:solidFill>
              <a:srgbClr val="00B050"/>
            </a:solidFill>
            <a:prstDash val="solid"/>
            <a:round/>
            <a:headEnd type="none" w="med" len="med"/>
            <a:tailEnd type="stealth" w="lg" len="lg"/>
          </a:ln>
          <a:effectLst/>
        </p:spPr>
      </p:cxnSp>
      <p:sp>
        <p:nvSpPr>
          <p:cNvPr id="18" name="TextBox 17">
            <a:extLst>
              <a:ext uri="{FF2B5EF4-FFF2-40B4-BE49-F238E27FC236}">
                <a16:creationId xmlns:a16="http://schemas.microsoft.com/office/drawing/2014/main" id="{2A3D4057-30F9-7CE0-4132-BA862D1EA30A}"/>
              </a:ext>
            </a:extLst>
          </p:cNvPr>
          <p:cNvSpPr txBox="1"/>
          <p:nvPr/>
        </p:nvSpPr>
        <p:spPr>
          <a:xfrm>
            <a:off x="1297278" y="2683599"/>
            <a:ext cx="1656184" cy="461665"/>
          </a:xfrm>
          <a:prstGeom prst="rect">
            <a:avLst/>
          </a:prstGeom>
          <a:noFill/>
        </p:spPr>
        <p:txBody>
          <a:bodyPr wrap="square" rtlCol="0">
            <a:spAutoFit/>
          </a:bodyPr>
          <a:lstStyle/>
          <a:p>
            <a:r>
              <a:rPr lang="en-US" dirty="0">
                <a:latin typeface="+mn-lt"/>
              </a:rPr>
              <a:t>Trustee</a:t>
            </a:r>
          </a:p>
        </p:txBody>
      </p:sp>
      <p:sp>
        <p:nvSpPr>
          <p:cNvPr id="19" name="TextBox 18">
            <a:extLst>
              <a:ext uri="{FF2B5EF4-FFF2-40B4-BE49-F238E27FC236}">
                <a16:creationId xmlns:a16="http://schemas.microsoft.com/office/drawing/2014/main" id="{1D511F85-0DFB-FA85-85E3-E99CA40B400A}"/>
              </a:ext>
            </a:extLst>
          </p:cNvPr>
          <p:cNvSpPr txBox="1"/>
          <p:nvPr/>
        </p:nvSpPr>
        <p:spPr>
          <a:xfrm>
            <a:off x="1207289" y="4977056"/>
            <a:ext cx="1836162" cy="461665"/>
          </a:xfrm>
          <a:prstGeom prst="rect">
            <a:avLst/>
          </a:prstGeom>
          <a:noFill/>
        </p:spPr>
        <p:txBody>
          <a:bodyPr wrap="square" rtlCol="0">
            <a:spAutoFit/>
          </a:bodyPr>
          <a:lstStyle/>
          <a:p>
            <a:r>
              <a:rPr lang="en-US" dirty="0">
                <a:latin typeface="+mn-lt"/>
              </a:rPr>
              <a:t>Beneficiary</a:t>
            </a:r>
          </a:p>
        </p:txBody>
      </p:sp>
      <p:cxnSp>
        <p:nvCxnSpPr>
          <p:cNvPr id="8" name="Curved Connector 7">
            <a:extLst>
              <a:ext uri="{FF2B5EF4-FFF2-40B4-BE49-F238E27FC236}">
                <a16:creationId xmlns:a16="http://schemas.microsoft.com/office/drawing/2014/main" id="{3DED69DA-9F29-18B2-6FDE-55D90593DAD2}"/>
              </a:ext>
            </a:extLst>
          </p:cNvPr>
          <p:cNvCxnSpPr>
            <a:cxnSpLocks/>
            <a:stCxn id="19" idx="3"/>
            <a:endCxn id="18" idx="3"/>
          </p:cNvCxnSpPr>
          <p:nvPr/>
        </p:nvCxnSpPr>
        <p:spPr bwMode="auto">
          <a:xfrm flipH="1" flipV="1">
            <a:off x="2953462" y="2914432"/>
            <a:ext cx="89989" cy="2293457"/>
          </a:xfrm>
          <a:prstGeom prst="curvedConnector3">
            <a:avLst>
              <a:gd name="adj1" fmla="val -729937"/>
            </a:avLst>
          </a:prstGeom>
          <a:solidFill>
            <a:schemeClr val="accent1"/>
          </a:solidFill>
          <a:ln w="28575" cap="flat" cmpd="sng" algn="ctr">
            <a:solidFill>
              <a:srgbClr val="FF6600"/>
            </a:solidFill>
            <a:prstDash val="solid"/>
            <a:round/>
            <a:headEnd type="none" w="med" len="med"/>
            <a:tailEnd type="triangle"/>
          </a:ln>
          <a:effectLst/>
        </p:spPr>
      </p:cxnSp>
      <p:sp>
        <p:nvSpPr>
          <p:cNvPr id="11" name="TextBox 10">
            <a:extLst>
              <a:ext uri="{FF2B5EF4-FFF2-40B4-BE49-F238E27FC236}">
                <a16:creationId xmlns:a16="http://schemas.microsoft.com/office/drawing/2014/main" id="{AF752A09-2EC2-37A5-144B-4E33C021E20A}"/>
              </a:ext>
            </a:extLst>
          </p:cNvPr>
          <p:cNvSpPr txBox="1"/>
          <p:nvPr/>
        </p:nvSpPr>
        <p:spPr>
          <a:xfrm>
            <a:off x="4034086" y="3942933"/>
            <a:ext cx="790741" cy="461665"/>
          </a:xfrm>
          <a:prstGeom prst="rect">
            <a:avLst/>
          </a:prstGeom>
          <a:noFill/>
        </p:spPr>
        <p:txBody>
          <a:bodyPr wrap="square" rtlCol="0">
            <a:spAutoFit/>
          </a:bodyPr>
          <a:lstStyle/>
          <a:p>
            <a:r>
              <a:rPr lang="en-US" dirty="0">
                <a:solidFill>
                  <a:srgbClr val="00B050"/>
                </a:solidFill>
                <a:latin typeface="+mn-lt"/>
              </a:rPr>
              <a:t>Yes</a:t>
            </a:r>
          </a:p>
        </p:txBody>
      </p:sp>
      <p:sp>
        <p:nvSpPr>
          <p:cNvPr id="12" name="TextBox 11">
            <a:extLst>
              <a:ext uri="{FF2B5EF4-FFF2-40B4-BE49-F238E27FC236}">
                <a16:creationId xmlns:a16="http://schemas.microsoft.com/office/drawing/2014/main" id="{0077248C-9BA0-B245-3DAF-42F456DABBC2}"/>
              </a:ext>
            </a:extLst>
          </p:cNvPr>
          <p:cNvSpPr txBox="1"/>
          <p:nvPr/>
        </p:nvSpPr>
        <p:spPr>
          <a:xfrm>
            <a:off x="3334776" y="2670621"/>
            <a:ext cx="1506718" cy="461665"/>
          </a:xfrm>
          <a:prstGeom prst="rect">
            <a:avLst/>
          </a:prstGeom>
          <a:noFill/>
        </p:spPr>
        <p:txBody>
          <a:bodyPr wrap="square" rtlCol="0">
            <a:spAutoFit/>
          </a:bodyPr>
          <a:lstStyle/>
          <a:p>
            <a:r>
              <a:rPr lang="en-US" dirty="0">
                <a:solidFill>
                  <a:srgbClr val="FF6600"/>
                </a:solidFill>
                <a:latin typeface="+mn-lt"/>
              </a:rPr>
              <a:t>Possible*</a:t>
            </a:r>
          </a:p>
        </p:txBody>
      </p:sp>
      <p:sp>
        <p:nvSpPr>
          <p:cNvPr id="20" name="TextBox 19">
            <a:extLst>
              <a:ext uri="{FF2B5EF4-FFF2-40B4-BE49-F238E27FC236}">
                <a16:creationId xmlns:a16="http://schemas.microsoft.com/office/drawing/2014/main" id="{B1A8761D-8252-A669-FB4E-10109B1E0DBB}"/>
              </a:ext>
            </a:extLst>
          </p:cNvPr>
          <p:cNvSpPr txBox="1"/>
          <p:nvPr/>
        </p:nvSpPr>
        <p:spPr>
          <a:xfrm>
            <a:off x="4765567" y="4927741"/>
            <a:ext cx="4054905" cy="584775"/>
          </a:xfrm>
          <a:prstGeom prst="rect">
            <a:avLst/>
          </a:prstGeom>
          <a:noFill/>
        </p:spPr>
        <p:txBody>
          <a:bodyPr wrap="square" rtlCol="0">
            <a:spAutoFit/>
          </a:bodyPr>
          <a:lstStyle/>
          <a:p>
            <a:r>
              <a:rPr lang="en-US" sz="1600" dirty="0">
                <a:solidFill>
                  <a:srgbClr val="FF6600"/>
                </a:solidFill>
                <a:latin typeface="+mn-lt"/>
              </a:rPr>
              <a:t>* Trustee needs to be able to show that the transaction was fair and honest.</a:t>
            </a:r>
          </a:p>
        </p:txBody>
      </p:sp>
    </p:spTree>
    <p:extLst>
      <p:ext uri="{BB962C8B-B14F-4D97-AF65-F5344CB8AC3E}">
        <p14:creationId xmlns:p14="http://schemas.microsoft.com/office/powerpoint/2010/main" val="852541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DFC30B5D-061D-413C-BD9C-93280AAB82D4}"/>
              </a:ext>
            </a:extLst>
          </p:cNvPr>
          <p:cNvSpPr>
            <a:spLocks noGrp="1"/>
          </p:cNvSpPr>
          <p:nvPr>
            <p:ph type="title"/>
          </p:nvPr>
        </p:nvSpPr>
        <p:spPr>
          <a:xfrm>
            <a:off x="611560" y="260648"/>
            <a:ext cx="8136904" cy="1143000"/>
          </a:xfrm>
        </p:spPr>
        <p:txBody>
          <a:bodyPr/>
          <a:lstStyle/>
          <a:p>
            <a:r>
              <a:rPr lang="en-US" altLang="en-US" sz="4000" dirty="0">
                <a:latin typeface="+mn-lt"/>
                <a:ea typeface="ＭＳ Ｐゴシック" panose="020B0600070205080204" pitchFamily="34" charset="-128"/>
              </a:rPr>
              <a:t>The ‘no </a:t>
            </a:r>
            <a:r>
              <a:rPr lang="en-US" altLang="en-US" sz="4000" dirty="0" err="1">
                <a:latin typeface="+mn-lt"/>
                <a:ea typeface="ＭＳ Ｐゴシック" panose="020B0600070205080204" pitchFamily="34" charset="-128"/>
              </a:rPr>
              <a:t>unauthorised</a:t>
            </a:r>
            <a:r>
              <a:rPr lang="en-US" altLang="en-US" sz="4000" dirty="0">
                <a:latin typeface="+mn-lt"/>
                <a:ea typeface="ＭＳ Ｐゴシック" panose="020B0600070205080204" pitchFamily="34" charset="-128"/>
              </a:rPr>
              <a:t> profit’ rule (I)</a:t>
            </a:r>
          </a:p>
        </p:txBody>
      </p:sp>
      <p:sp>
        <p:nvSpPr>
          <p:cNvPr id="3" name="Content Placeholder 2">
            <a:extLst>
              <a:ext uri="{FF2B5EF4-FFF2-40B4-BE49-F238E27FC236}">
                <a16:creationId xmlns:a16="http://schemas.microsoft.com/office/drawing/2014/main" id="{698753B1-FF5F-4E5A-9A6A-3FCD47EB0CD5}"/>
              </a:ext>
            </a:extLst>
          </p:cNvPr>
          <p:cNvSpPr>
            <a:spLocks noGrp="1"/>
          </p:cNvSpPr>
          <p:nvPr>
            <p:ph idx="1"/>
          </p:nvPr>
        </p:nvSpPr>
        <p:spPr>
          <a:xfrm>
            <a:off x="697672" y="1549859"/>
            <a:ext cx="7772400" cy="3816350"/>
          </a:xfrm>
        </p:spPr>
        <p:txBody>
          <a:bodyPr/>
          <a:lstStyle/>
          <a:p>
            <a:pPr marL="0" indent="0">
              <a:defRPr/>
            </a:pPr>
            <a:r>
              <a:rPr lang="en-US" altLang="en-US" sz="2400" kern="1200" dirty="0">
                <a:cs typeface="+mn-cs"/>
              </a:rPr>
              <a:t>“This may seem harsh that the trustee is the only person of all mankind who might not have the lease; but it is very proper that the rule should be strictly pursued and not in the least relaxed.”</a:t>
            </a:r>
          </a:p>
          <a:p>
            <a:pPr marL="0" indent="0">
              <a:defRPr/>
            </a:pPr>
            <a:r>
              <a:rPr lang="en-US" altLang="en-US" sz="1600" dirty="0"/>
              <a:t>Lord King in </a:t>
            </a:r>
            <a:r>
              <a:rPr lang="en-GB" altLang="en-US" sz="1600" i="1" u="sng" dirty="0" err="1"/>
              <a:t>Keech</a:t>
            </a:r>
            <a:r>
              <a:rPr lang="en-GB" altLang="en-US" sz="1600" i="1" u="sng" dirty="0"/>
              <a:t> v </a:t>
            </a:r>
            <a:r>
              <a:rPr lang="en-GB" altLang="en-US" sz="1600" i="1" u="sng" dirty="0" err="1"/>
              <a:t>Sandford</a:t>
            </a:r>
            <a:r>
              <a:rPr lang="en-GB" altLang="en-US" sz="1600" i="1" u="sng" dirty="0"/>
              <a:t> </a:t>
            </a:r>
            <a:r>
              <a:rPr lang="en-GB" altLang="en-US" sz="1600" u="sng" dirty="0"/>
              <a:t>(1726) </a:t>
            </a:r>
            <a:r>
              <a:rPr lang="en-GB" altLang="en-US" sz="1600" u="sng" dirty="0" err="1"/>
              <a:t>Sel</a:t>
            </a:r>
            <a:r>
              <a:rPr lang="en-GB" altLang="en-US" sz="1600" u="sng" dirty="0"/>
              <a:t> </a:t>
            </a:r>
            <a:r>
              <a:rPr lang="en-GB" altLang="en-US" sz="1600" u="sng" dirty="0" err="1"/>
              <a:t>Cas</a:t>
            </a:r>
            <a:r>
              <a:rPr lang="en-GB" altLang="en-US" sz="1600" u="sng" dirty="0"/>
              <a:t> </a:t>
            </a:r>
            <a:r>
              <a:rPr lang="en-GB" altLang="en-US" sz="1600" u="sng" dirty="0" err="1"/>
              <a:t>Ch</a:t>
            </a:r>
            <a:r>
              <a:rPr lang="en-GB" altLang="en-US" sz="1600" u="sng" dirty="0"/>
              <a:t> 61</a:t>
            </a:r>
          </a:p>
          <a:p>
            <a:pPr marL="0" indent="0">
              <a:defRPr/>
            </a:pPr>
            <a:endParaRPr lang="en-GB" altLang="en-US" sz="1600" dirty="0"/>
          </a:p>
          <a:p>
            <a:pPr marL="0" indent="0">
              <a:defRPr/>
            </a:pPr>
            <a:r>
              <a:rPr lang="en-GB" altLang="en-US" sz="2400" dirty="0"/>
              <a:t>“If a person in a fiduciary relationship makes a secret profit out of the relationship, the court will not inquire whether the other person . . . has lost a profit which otherwise he would have got. The fact is in itself a fundamental breach of the fiduciary relationship.” </a:t>
            </a:r>
          </a:p>
          <a:p>
            <a:pPr marL="0" indent="0">
              <a:defRPr/>
            </a:pPr>
            <a:r>
              <a:rPr lang="en-GB" sz="1600" dirty="0"/>
              <a:t>Lord Wright in </a:t>
            </a:r>
            <a:r>
              <a:rPr lang="en-GB" sz="1600" i="1" u="sng" dirty="0"/>
              <a:t>Regal (Hastings) Ltd v Gulliver</a:t>
            </a:r>
            <a:r>
              <a:rPr lang="en-GB" sz="1600" u="sng" dirty="0"/>
              <a:t> [1967] 2 AC 134</a:t>
            </a:r>
            <a:endParaRPr lang="en-US" altLang="en-US" sz="1600" dirty="0"/>
          </a:p>
        </p:txBody>
      </p:sp>
      <p:pic>
        <p:nvPicPr>
          <p:cNvPr id="9220" name="Picture 3" descr="9b63f88e990c7904a2abaa68cef2408c.jpg">
            <a:extLst>
              <a:ext uri="{FF2B5EF4-FFF2-40B4-BE49-F238E27FC236}">
                <a16:creationId xmlns:a16="http://schemas.microsoft.com/office/drawing/2014/main" id="{D7DDFDDA-E1FC-41DC-88A7-6C3086AF1AC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300192" y="2708920"/>
            <a:ext cx="1502624"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2130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28513A72-C5BA-45DB-9DEF-F02E5C875575}"/>
              </a:ext>
            </a:extLst>
          </p:cNvPr>
          <p:cNvSpPr>
            <a:spLocks noGrp="1"/>
          </p:cNvSpPr>
          <p:nvPr>
            <p:ph type="title"/>
          </p:nvPr>
        </p:nvSpPr>
        <p:spPr>
          <a:xfrm>
            <a:off x="611560" y="404664"/>
            <a:ext cx="8153400" cy="1143000"/>
          </a:xfrm>
        </p:spPr>
        <p:txBody>
          <a:bodyPr/>
          <a:lstStyle/>
          <a:p>
            <a:r>
              <a:rPr lang="en-GB" altLang="en-US" sz="4000" dirty="0">
                <a:latin typeface="+mn-lt"/>
                <a:ea typeface="ＭＳ Ｐゴシック" panose="020B0600070205080204" pitchFamily="34" charset="-128"/>
              </a:rPr>
              <a:t>The ‘no unauthorised profit’ rule (II)</a:t>
            </a:r>
          </a:p>
        </p:txBody>
      </p:sp>
      <p:sp>
        <p:nvSpPr>
          <p:cNvPr id="11267" name="Content Placeholder 2">
            <a:extLst>
              <a:ext uri="{FF2B5EF4-FFF2-40B4-BE49-F238E27FC236}">
                <a16:creationId xmlns:a16="http://schemas.microsoft.com/office/drawing/2014/main" id="{28358C9E-D438-44AC-98D3-350180B14E8B}"/>
              </a:ext>
            </a:extLst>
          </p:cNvPr>
          <p:cNvSpPr>
            <a:spLocks noGrp="1"/>
          </p:cNvSpPr>
          <p:nvPr>
            <p:ph idx="1"/>
          </p:nvPr>
        </p:nvSpPr>
        <p:spPr>
          <a:xfrm>
            <a:off x="611560" y="1776264"/>
            <a:ext cx="7772400" cy="3816350"/>
          </a:xfrm>
        </p:spPr>
        <p:txBody>
          <a:bodyPr/>
          <a:lstStyle/>
          <a:p>
            <a:r>
              <a:rPr lang="en-GB" sz="2000" i="1" u="sng" dirty="0">
                <a:ea typeface="ＭＳ Ｐゴシック"/>
              </a:rPr>
              <a:t>Boardman v Phipps</a:t>
            </a:r>
            <a:r>
              <a:rPr lang="en-GB" sz="2000" u="sng" dirty="0">
                <a:ea typeface="ＭＳ Ｐゴシック"/>
              </a:rPr>
              <a:t> [1967] 2 AC 46</a:t>
            </a:r>
            <a:endParaRPr lang="en-GB" altLang="en-US" sz="2000" b="1" dirty="0">
              <a:ea typeface="ＭＳ Ｐゴシック"/>
            </a:endParaRPr>
          </a:p>
        </p:txBody>
      </p:sp>
      <p:sp>
        <p:nvSpPr>
          <p:cNvPr id="11268" name="TextBox 4">
            <a:extLst>
              <a:ext uri="{FF2B5EF4-FFF2-40B4-BE49-F238E27FC236}">
                <a16:creationId xmlns:a16="http://schemas.microsoft.com/office/drawing/2014/main" id="{5C7B4279-7AA0-4B1B-992B-132BC1FCBE3C}"/>
              </a:ext>
            </a:extLst>
          </p:cNvPr>
          <p:cNvSpPr txBox="1">
            <a:spLocks noChangeArrowheads="1"/>
          </p:cNvSpPr>
          <p:nvPr/>
        </p:nvSpPr>
        <p:spPr bwMode="auto">
          <a:xfrm>
            <a:off x="1906960" y="2538264"/>
            <a:ext cx="914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ea typeface="ＭＳ Ｐゴシック" panose="020B0600070205080204" pitchFamily="34" charset="-128"/>
              </a:defRPr>
            </a:lvl1pPr>
            <a:lvl2pPr marL="37931725" indent="-37474525">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r>
              <a:rPr lang="en-US" altLang="en-US">
                <a:latin typeface="Arial" panose="020B0604020202020204" pitchFamily="34" charset="0"/>
              </a:rPr>
              <a:t> T’s</a:t>
            </a:r>
          </a:p>
        </p:txBody>
      </p:sp>
      <p:sp>
        <p:nvSpPr>
          <p:cNvPr id="11269" name="TextBox 5">
            <a:extLst>
              <a:ext uri="{FF2B5EF4-FFF2-40B4-BE49-F238E27FC236}">
                <a16:creationId xmlns:a16="http://schemas.microsoft.com/office/drawing/2014/main" id="{5F541F1B-EAFA-4C94-8A8D-82CE2AF81ABB}"/>
              </a:ext>
            </a:extLst>
          </p:cNvPr>
          <p:cNvSpPr txBox="1">
            <a:spLocks noChangeArrowheads="1"/>
          </p:cNvSpPr>
          <p:nvPr/>
        </p:nvSpPr>
        <p:spPr bwMode="auto">
          <a:xfrm>
            <a:off x="1906960" y="4748064"/>
            <a:ext cx="3352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ea typeface="ＭＳ Ｐゴシック" panose="020B0600070205080204" pitchFamily="34" charset="-128"/>
              </a:defRPr>
            </a:lvl1pPr>
            <a:lvl2pPr marL="37931725" indent="-37474525">
              <a:defRPr sz="2400">
                <a:solidFill>
                  <a:schemeClr val="tx1"/>
                </a:solidFill>
                <a:latin typeface="Times" panose="02020603050405020304" pitchFamily="18" charset="0"/>
                <a:ea typeface="ＭＳ Ｐゴシック" panose="020B0600070205080204" pitchFamily="34" charset="-128"/>
              </a:defRPr>
            </a:lvl2pPr>
            <a:lvl3pPr marL="1143000" indent="-228600">
              <a:defRPr sz="2400">
                <a:solidFill>
                  <a:schemeClr val="tx1"/>
                </a:solidFill>
                <a:latin typeface="Times" panose="02020603050405020304" pitchFamily="18" charset="0"/>
                <a:ea typeface="ＭＳ Ｐゴシック" panose="020B0600070205080204" pitchFamily="34" charset="-128"/>
              </a:defRPr>
            </a:lvl3pPr>
            <a:lvl4pPr marL="1600200" indent="-228600">
              <a:defRPr sz="2400">
                <a:solidFill>
                  <a:schemeClr val="tx1"/>
                </a:solidFill>
                <a:latin typeface="Times" panose="02020603050405020304" pitchFamily="18" charset="0"/>
                <a:ea typeface="ＭＳ Ｐゴシック" panose="020B0600070205080204" pitchFamily="34" charset="-128"/>
              </a:defRPr>
            </a:lvl4pPr>
            <a:lvl5pPr marL="2057400" indent="-228600">
              <a:defRPr sz="2400">
                <a:solidFill>
                  <a:schemeClr val="tx1"/>
                </a:solidFill>
                <a:latin typeface="Times"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ＭＳ Ｐゴシック" panose="020B0600070205080204" pitchFamily="34" charset="-128"/>
              </a:defRPr>
            </a:lvl9pPr>
          </a:lstStyle>
          <a:p>
            <a:r>
              <a:rPr lang="en-US" altLang="en-US">
                <a:latin typeface="Arial" panose="020B0604020202020204" pitchFamily="34" charset="0"/>
              </a:rPr>
              <a:t>B’s; including John Phipps (respondent) and Tom Phipps</a:t>
            </a:r>
          </a:p>
        </p:txBody>
      </p:sp>
      <p:cxnSp>
        <p:nvCxnSpPr>
          <p:cNvPr id="11270" name="Straight Arrow Connector 25">
            <a:extLst>
              <a:ext uri="{FF2B5EF4-FFF2-40B4-BE49-F238E27FC236}">
                <a16:creationId xmlns:a16="http://schemas.microsoft.com/office/drawing/2014/main" id="{0D3DC29F-2864-46CD-8953-7928B548C1CB}"/>
              </a:ext>
            </a:extLst>
          </p:cNvPr>
          <p:cNvCxnSpPr>
            <a:cxnSpLocks noChangeShapeType="1"/>
          </p:cNvCxnSpPr>
          <p:nvPr/>
        </p:nvCxnSpPr>
        <p:spPr bwMode="auto">
          <a:xfrm rot="5400000">
            <a:off x="1373561" y="3909864"/>
            <a:ext cx="1676400" cy="3175"/>
          </a:xfrm>
          <a:prstGeom prst="straightConnector1">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cxnSp>
      <p:sp>
        <p:nvSpPr>
          <p:cNvPr id="11" name="TextBox 10">
            <a:extLst>
              <a:ext uri="{FF2B5EF4-FFF2-40B4-BE49-F238E27FC236}">
                <a16:creationId xmlns:a16="http://schemas.microsoft.com/office/drawing/2014/main" id="{0E43CB5C-29FD-49CD-BE66-2739C7B40A26}"/>
              </a:ext>
            </a:extLst>
          </p:cNvPr>
          <p:cNvSpPr txBox="1"/>
          <p:nvPr/>
        </p:nvSpPr>
        <p:spPr>
          <a:xfrm>
            <a:off x="4345360" y="2538264"/>
            <a:ext cx="4419600" cy="461963"/>
          </a:xfrm>
          <a:prstGeom prst="rect">
            <a:avLst/>
          </a:prstGeom>
          <a:noFill/>
        </p:spPr>
        <p:txBody>
          <a:bodyPr>
            <a:spAutoFit/>
          </a:bodyPr>
          <a:lstStyle/>
          <a:p>
            <a:pPr>
              <a:defRPr/>
            </a:pPr>
            <a:r>
              <a:rPr lang="en-US" dirty="0">
                <a:latin typeface="+mn-lt"/>
                <a:ea typeface="+mn-ea"/>
              </a:rPr>
              <a:t>Boardman, solicitor (claimant)</a:t>
            </a:r>
          </a:p>
        </p:txBody>
      </p:sp>
      <p:cxnSp>
        <p:nvCxnSpPr>
          <p:cNvPr id="11272" name="Straight Connector 12">
            <a:extLst>
              <a:ext uri="{FF2B5EF4-FFF2-40B4-BE49-F238E27FC236}">
                <a16:creationId xmlns:a16="http://schemas.microsoft.com/office/drawing/2014/main" id="{77FD1FE1-3B66-4679-8B17-AD631CA0ADEF}"/>
              </a:ext>
            </a:extLst>
          </p:cNvPr>
          <p:cNvCxnSpPr>
            <a:cxnSpLocks noChangeShapeType="1"/>
          </p:cNvCxnSpPr>
          <p:nvPr/>
        </p:nvCxnSpPr>
        <p:spPr bwMode="auto">
          <a:xfrm>
            <a:off x="2440360" y="4062264"/>
            <a:ext cx="32004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4" name="TextBox 13">
            <a:extLst>
              <a:ext uri="{FF2B5EF4-FFF2-40B4-BE49-F238E27FC236}">
                <a16:creationId xmlns:a16="http://schemas.microsoft.com/office/drawing/2014/main" id="{0B4C6AC2-476D-4433-A74B-07AE7C888453}"/>
              </a:ext>
            </a:extLst>
          </p:cNvPr>
          <p:cNvSpPr txBox="1"/>
          <p:nvPr/>
        </p:nvSpPr>
        <p:spPr>
          <a:xfrm>
            <a:off x="3430960" y="3681264"/>
            <a:ext cx="1905000" cy="338138"/>
          </a:xfrm>
          <a:prstGeom prst="rect">
            <a:avLst/>
          </a:prstGeom>
          <a:noFill/>
        </p:spPr>
        <p:txBody>
          <a:bodyPr>
            <a:spAutoFit/>
          </a:bodyPr>
          <a:lstStyle/>
          <a:p>
            <a:pPr>
              <a:defRPr/>
            </a:pPr>
            <a:r>
              <a:rPr lang="en-US" sz="1600" dirty="0">
                <a:latin typeface="+mn-lt"/>
                <a:ea typeface="ＭＳ Ｐゴシック" pitchFamily="4" charset="-128"/>
                <a:cs typeface="ＭＳ Ｐゴシック" pitchFamily="4" charset="-128"/>
              </a:rPr>
              <a:t>Trust owns 27% of</a:t>
            </a:r>
          </a:p>
        </p:txBody>
      </p:sp>
      <p:cxnSp>
        <p:nvCxnSpPr>
          <p:cNvPr id="11274" name="Straight Connector 15">
            <a:extLst>
              <a:ext uri="{FF2B5EF4-FFF2-40B4-BE49-F238E27FC236}">
                <a16:creationId xmlns:a16="http://schemas.microsoft.com/office/drawing/2014/main" id="{C79E0BA7-B693-4A2B-9934-2F2092D86789}"/>
              </a:ext>
            </a:extLst>
          </p:cNvPr>
          <p:cNvCxnSpPr>
            <a:cxnSpLocks noChangeShapeType="1"/>
          </p:cNvCxnSpPr>
          <p:nvPr/>
        </p:nvCxnSpPr>
        <p:spPr bwMode="auto">
          <a:xfrm>
            <a:off x="2668960" y="2766864"/>
            <a:ext cx="16764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8" name="TextBox 17">
            <a:extLst>
              <a:ext uri="{FF2B5EF4-FFF2-40B4-BE49-F238E27FC236}">
                <a16:creationId xmlns:a16="http://schemas.microsoft.com/office/drawing/2014/main" id="{283CA988-ED06-4ED0-B383-29B6B82E7D1A}"/>
              </a:ext>
            </a:extLst>
          </p:cNvPr>
          <p:cNvSpPr txBox="1"/>
          <p:nvPr/>
        </p:nvSpPr>
        <p:spPr>
          <a:xfrm>
            <a:off x="2592760" y="2843064"/>
            <a:ext cx="2286000" cy="338138"/>
          </a:xfrm>
          <a:prstGeom prst="rect">
            <a:avLst/>
          </a:prstGeom>
          <a:noFill/>
        </p:spPr>
        <p:txBody>
          <a:bodyPr>
            <a:spAutoFit/>
          </a:bodyPr>
          <a:lstStyle/>
          <a:p>
            <a:pPr>
              <a:defRPr/>
            </a:pPr>
            <a:r>
              <a:rPr lang="en-US" sz="1600" dirty="0">
                <a:latin typeface="+mn-lt"/>
                <a:ea typeface="ＭＳ Ｐゴシック" pitchFamily="4" charset="-128"/>
                <a:cs typeface="ＭＳ Ｐゴシック" pitchFamily="4" charset="-128"/>
              </a:rPr>
              <a:t>Agency, advice</a:t>
            </a:r>
          </a:p>
        </p:txBody>
      </p:sp>
      <p:cxnSp>
        <p:nvCxnSpPr>
          <p:cNvPr id="11276" name="Elbow Connector 23">
            <a:extLst>
              <a:ext uri="{FF2B5EF4-FFF2-40B4-BE49-F238E27FC236}">
                <a16:creationId xmlns:a16="http://schemas.microsoft.com/office/drawing/2014/main" id="{EF170D83-2A9A-434E-A061-C2414C43FFF1}"/>
              </a:ext>
            </a:extLst>
          </p:cNvPr>
          <p:cNvCxnSpPr>
            <a:cxnSpLocks noChangeShapeType="1"/>
          </p:cNvCxnSpPr>
          <p:nvPr/>
        </p:nvCxnSpPr>
        <p:spPr bwMode="auto">
          <a:xfrm rot="5400000">
            <a:off x="4154860" y="3338364"/>
            <a:ext cx="2895600" cy="2209800"/>
          </a:xfrm>
          <a:prstGeom prst="bentConnector3">
            <a:avLst>
              <a:gd name="adj1" fmla="val 100236"/>
            </a:avLst>
          </a:prstGeom>
          <a:noFill/>
          <a:ln w="25400">
            <a:solidFill>
              <a:srgbClr val="FF0000"/>
            </a:solidFill>
            <a:round/>
            <a:headEnd/>
            <a:tailEnd/>
          </a:ln>
          <a:extLst>
            <a:ext uri="{909E8E84-426E-40DD-AFC4-6F175D3DCCD1}">
              <a14:hiddenFill xmlns:a14="http://schemas.microsoft.com/office/drawing/2010/main">
                <a:noFill/>
              </a14:hiddenFill>
            </a:ext>
          </a:extLst>
        </p:spPr>
      </p:cxnSp>
      <p:sp>
        <p:nvSpPr>
          <p:cNvPr id="4" name="Rectangle 3">
            <a:extLst>
              <a:ext uri="{FF2B5EF4-FFF2-40B4-BE49-F238E27FC236}">
                <a16:creationId xmlns:a16="http://schemas.microsoft.com/office/drawing/2014/main" id="{87CB4A7D-2676-4CE9-9F56-B86AF90BA4C5}"/>
              </a:ext>
            </a:extLst>
          </p:cNvPr>
          <p:cNvSpPr/>
          <p:nvPr/>
        </p:nvSpPr>
        <p:spPr bwMode="auto">
          <a:xfrm>
            <a:off x="5793160" y="3376464"/>
            <a:ext cx="1981200" cy="1371600"/>
          </a:xfrm>
          <a:prstGeom prst="rect">
            <a:avLst/>
          </a:prstGeom>
          <a:solidFill>
            <a:schemeClr val="accent2"/>
          </a:solidFill>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dirty="0">
                <a:solidFill>
                  <a:schemeClr val="bg1"/>
                </a:solidFill>
              </a:rPr>
              <a:t>COMPANY</a:t>
            </a:r>
          </a:p>
        </p:txBody>
      </p:sp>
      <p:sp>
        <p:nvSpPr>
          <p:cNvPr id="37" name="TextBox 36">
            <a:extLst>
              <a:ext uri="{FF2B5EF4-FFF2-40B4-BE49-F238E27FC236}">
                <a16:creationId xmlns:a16="http://schemas.microsoft.com/office/drawing/2014/main" id="{D4BF6B20-9F29-43F4-AA11-C5ABCD19B414}"/>
              </a:ext>
            </a:extLst>
          </p:cNvPr>
          <p:cNvSpPr txBox="1"/>
          <p:nvPr/>
        </p:nvSpPr>
        <p:spPr>
          <a:xfrm>
            <a:off x="6858000" y="5334000"/>
            <a:ext cx="2133600" cy="830263"/>
          </a:xfrm>
          <a:prstGeom prst="rect">
            <a:avLst/>
          </a:prstGeom>
          <a:noFill/>
        </p:spPr>
        <p:txBody>
          <a:bodyPr>
            <a:spAutoFit/>
          </a:bodyPr>
          <a:lstStyle/>
          <a:p>
            <a:pPr>
              <a:defRPr/>
            </a:pPr>
            <a:r>
              <a:rPr lang="en-US" sz="1600" b="1" dirty="0">
                <a:solidFill>
                  <a:srgbClr val="FF0000"/>
                </a:solidFill>
                <a:latin typeface="+mn-lt"/>
                <a:ea typeface="ＭＳ Ｐゴシック" pitchFamily="4" charset="-128"/>
                <a:cs typeface="ＭＳ Ｐゴシック" pitchFamily="4" charset="-128"/>
              </a:rPr>
              <a:t>Boardman and Tom Phipps purchase remaining shares</a:t>
            </a:r>
          </a:p>
        </p:txBody>
      </p:sp>
    </p:spTree>
    <p:extLst>
      <p:ext uri="{BB962C8B-B14F-4D97-AF65-F5344CB8AC3E}">
        <p14:creationId xmlns:p14="http://schemas.microsoft.com/office/powerpoint/2010/main" val="22348350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DFC30B5D-061D-413C-BD9C-93280AAB82D4}"/>
              </a:ext>
            </a:extLst>
          </p:cNvPr>
          <p:cNvSpPr>
            <a:spLocks noGrp="1"/>
          </p:cNvSpPr>
          <p:nvPr>
            <p:ph type="title"/>
          </p:nvPr>
        </p:nvSpPr>
        <p:spPr>
          <a:xfrm>
            <a:off x="707087" y="404664"/>
            <a:ext cx="7772400" cy="1143000"/>
          </a:xfrm>
        </p:spPr>
        <p:txBody>
          <a:bodyPr/>
          <a:lstStyle/>
          <a:p>
            <a:r>
              <a:rPr lang="en-US" altLang="en-US" dirty="0">
                <a:latin typeface="+mn-lt"/>
                <a:ea typeface="ＭＳ Ｐゴシック" panose="020B0600070205080204" pitchFamily="34" charset="-128"/>
              </a:rPr>
              <a:t>Defences</a:t>
            </a:r>
          </a:p>
        </p:txBody>
      </p:sp>
      <p:sp>
        <p:nvSpPr>
          <p:cNvPr id="3" name="Content Placeholder 2">
            <a:extLst>
              <a:ext uri="{FF2B5EF4-FFF2-40B4-BE49-F238E27FC236}">
                <a16:creationId xmlns:a16="http://schemas.microsoft.com/office/drawing/2014/main" id="{698753B1-FF5F-4E5A-9A6A-3FCD47EB0CD5}"/>
              </a:ext>
            </a:extLst>
          </p:cNvPr>
          <p:cNvSpPr>
            <a:spLocks noGrp="1"/>
          </p:cNvSpPr>
          <p:nvPr>
            <p:ph idx="1"/>
          </p:nvPr>
        </p:nvSpPr>
        <p:spPr>
          <a:xfrm>
            <a:off x="707087" y="1628800"/>
            <a:ext cx="7772400" cy="3816350"/>
          </a:xfrm>
        </p:spPr>
        <p:txBody>
          <a:bodyPr/>
          <a:lstStyle/>
          <a:p>
            <a:pPr>
              <a:buFont typeface="Arial" panose="020B0604020202020204" pitchFamily="34" charset="0"/>
              <a:buChar char="•"/>
              <a:defRPr/>
            </a:pPr>
            <a:r>
              <a:rPr lang="en-GB" altLang="en-US" sz="2400" kern="1200" dirty="0">
                <a:cs typeface="+mn-cs"/>
              </a:rPr>
              <a:t>Fully informed consent of the principal</a:t>
            </a:r>
          </a:p>
          <a:p>
            <a:pPr>
              <a:buFont typeface="Arial" panose="020B0604020202020204" pitchFamily="34" charset="0"/>
              <a:buChar char="•"/>
              <a:defRPr/>
            </a:pPr>
            <a:r>
              <a:rPr lang="en-GB" altLang="en-US" sz="2400" kern="1200" dirty="0">
                <a:cs typeface="+mn-cs"/>
              </a:rPr>
              <a:t>Authorisation in the trust instrument</a:t>
            </a:r>
          </a:p>
          <a:p>
            <a:pPr>
              <a:buFont typeface="Arial" panose="020B0604020202020204" pitchFamily="34" charset="0"/>
              <a:buChar char="•"/>
              <a:defRPr/>
            </a:pPr>
            <a:r>
              <a:rPr lang="en-GB" altLang="en-US" sz="2400" kern="1200" dirty="0">
                <a:cs typeface="+mn-cs"/>
              </a:rPr>
              <a:t>Authorisation in statute</a:t>
            </a:r>
          </a:p>
          <a:p>
            <a:pPr>
              <a:buFont typeface="Arial" panose="020B0604020202020204" pitchFamily="34" charset="0"/>
              <a:buChar char="•"/>
              <a:defRPr/>
            </a:pPr>
            <a:r>
              <a:rPr lang="en-GB" altLang="en-US" sz="2400" kern="1200" dirty="0">
                <a:cs typeface="+mn-cs"/>
              </a:rPr>
              <a:t>Conflict inherent in trust</a:t>
            </a:r>
          </a:p>
        </p:txBody>
      </p:sp>
      <p:pic>
        <p:nvPicPr>
          <p:cNvPr id="2" name="Picture 1"/>
          <p:cNvPicPr>
            <a:picLocks noChangeAspect="1"/>
          </p:cNvPicPr>
          <p:nvPr/>
        </p:nvPicPr>
        <p:blipFill>
          <a:blip r:embed="rId2"/>
          <a:stretch>
            <a:fillRect/>
          </a:stretch>
        </p:blipFill>
        <p:spPr>
          <a:xfrm>
            <a:off x="2339752" y="3573016"/>
            <a:ext cx="5029018" cy="2816250"/>
          </a:xfrm>
          <a:prstGeom prst="rect">
            <a:avLst/>
          </a:prstGeom>
        </p:spPr>
      </p:pic>
    </p:spTree>
    <p:extLst>
      <p:ext uri="{BB962C8B-B14F-4D97-AF65-F5344CB8AC3E}">
        <p14:creationId xmlns:p14="http://schemas.microsoft.com/office/powerpoint/2010/main" val="6326571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DFC30B5D-061D-413C-BD9C-93280AAB82D4}"/>
              </a:ext>
            </a:extLst>
          </p:cNvPr>
          <p:cNvSpPr>
            <a:spLocks noGrp="1"/>
          </p:cNvSpPr>
          <p:nvPr>
            <p:ph type="title"/>
          </p:nvPr>
        </p:nvSpPr>
        <p:spPr>
          <a:xfrm>
            <a:off x="707087" y="404664"/>
            <a:ext cx="7772400" cy="1143000"/>
          </a:xfrm>
        </p:spPr>
        <p:txBody>
          <a:bodyPr/>
          <a:lstStyle/>
          <a:p>
            <a:r>
              <a:rPr lang="en-US" altLang="en-US" dirty="0">
                <a:latin typeface="+mn-lt"/>
                <a:ea typeface="ＭＳ Ｐゴシック" panose="020B0600070205080204" pitchFamily="34" charset="-128"/>
              </a:rPr>
              <a:t>Remedies (I)</a:t>
            </a:r>
          </a:p>
        </p:txBody>
      </p:sp>
      <p:sp>
        <p:nvSpPr>
          <p:cNvPr id="3" name="Content Placeholder 2">
            <a:extLst>
              <a:ext uri="{FF2B5EF4-FFF2-40B4-BE49-F238E27FC236}">
                <a16:creationId xmlns:a16="http://schemas.microsoft.com/office/drawing/2014/main" id="{698753B1-FF5F-4E5A-9A6A-3FCD47EB0CD5}"/>
              </a:ext>
            </a:extLst>
          </p:cNvPr>
          <p:cNvSpPr>
            <a:spLocks noGrp="1"/>
          </p:cNvSpPr>
          <p:nvPr>
            <p:ph idx="1"/>
          </p:nvPr>
        </p:nvSpPr>
        <p:spPr>
          <a:xfrm>
            <a:off x="707087" y="1628800"/>
            <a:ext cx="7772400" cy="3816350"/>
          </a:xfrm>
        </p:spPr>
        <p:txBody>
          <a:bodyPr/>
          <a:lstStyle/>
          <a:p>
            <a:pPr>
              <a:buFont typeface="Arial" panose="020B0604020202020204" pitchFamily="34" charset="0"/>
              <a:buChar char="•"/>
              <a:defRPr/>
            </a:pPr>
            <a:r>
              <a:rPr lang="en-GB" altLang="en-US" sz="2000" b="1" kern="1200" dirty="0">
                <a:cs typeface="+mn-cs"/>
              </a:rPr>
              <a:t>Self-dealing</a:t>
            </a:r>
            <a:r>
              <a:rPr lang="en-GB" altLang="en-US" sz="2000" kern="1200" dirty="0">
                <a:cs typeface="+mn-cs"/>
              </a:rPr>
              <a:t>: Transaction voidable at the option of the beneficiary.</a:t>
            </a:r>
          </a:p>
          <a:p>
            <a:pPr>
              <a:buFont typeface="Arial" panose="020B0604020202020204" pitchFamily="34" charset="0"/>
              <a:buChar char="•"/>
              <a:defRPr/>
            </a:pPr>
            <a:r>
              <a:rPr lang="en-GB" altLang="en-US" sz="2000" b="1" kern="1200" dirty="0">
                <a:cs typeface="+mn-cs"/>
              </a:rPr>
              <a:t>Fair-dealing</a:t>
            </a:r>
            <a:r>
              <a:rPr lang="en-GB" altLang="en-US" sz="2000" kern="1200" dirty="0">
                <a:cs typeface="+mn-cs"/>
              </a:rPr>
              <a:t>: Transaction voidable if the trustee cannot show fairness.</a:t>
            </a:r>
          </a:p>
          <a:p>
            <a:pPr>
              <a:buFont typeface="Arial" panose="020B0604020202020204" pitchFamily="34" charset="0"/>
              <a:buChar char="•"/>
              <a:defRPr/>
            </a:pPr>
            <a:r>
              <a:rPr lang="en-GB" altLang="en-US" sz="2000" b="1" kern="1200" dirty="0">
                <a:cs typeface="+mn-cs"/>
              </a:rPr>
              <a:t>Unauthorised profits</a:t>
            </a:r>
            <a:r>
              <a:rPr lang="en-GB" altLang="en-US" sz="2000" kern="1200" dirty="0">
                <a:cs typeface="+mn-cs"/>
              </a:rPr>
              <a:t>: Fiduciary has to account for profits (personal or proprietary), but note special treatment of bribes and secret commissions: </a:t>
            </a:r>
          </a:p>
          <a:p>
            <a:pPr lvl="1">
              <a:buFont typeface="Arial" panose="020B0604020202020204" pitchFamily="34" charset="0"/>
              <a:buChar char="•"/>
              <a:defRPr/>
            </a:pPr>
            <a:r>
              <a:rPr lang="en-GB" sz="2000" i="1" u="sng" dirty="0"/>
              <a:t>Attorney General for Hong Kong v Reid</a:t>
            </a:r>
            <a:r>
              <a:rPr lang="en-GB" sz="2000" u="sng" dirty="0"/>
              <a:t> [1994] 1 AC 324</a:t>
            </a:r>
          </a:p>
          <a:p>
            <a:pPr lvl="1">
              <a:buFont typeface="Arial" panose="020B0604020202020204" pitchFamily="34" charset="0"/>
              <a:buChar char="•"/>
              <a:defRPr/>
            </a:pPr>
            <a:r>
              <a:rPr lang="en-GB" sz="2000" i="1" u="sng" dirty="0"/>
              <a:t>FHR European Ventures LLP v Cedar Capital Partners LLC</a:t>
            </a:r>
            <a:r>
              <a:rPr lang="en-GB" sz="2000" u="sng" dirty="0"/>
              <a:t> [2015] AC 250</a:t>
            </a:r>
            <a:endParaRPr lang="en-GB" altLang="en-US" sz="2000" kern="1200" dirty="0">
              <a:cs typeface="+mn-cs"/>
            </a:endParaRPr>
          </a:p>
        </p:txBody>
      </p:sp>
      <p:pic>
        <p:nvPicPr>
          <p:cNvPr id="6" name="Picture 3" descr="download.jpeg">
            <a:extLst>
              <a:ext uri="{FF2B5EF4-FFF2-40B4-BE49-F238E27FC236}">
                <a16:creationId xmlns:a16="http://schemas.microsoft.com/office/drawing/2014/main" id="{E169AC38-C00D-4DFB-8B5C-A57A50DA966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07904" y="4932978"/>
            <a:ext cx="3528392" cy="1531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873281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DFC30B5D-061D-413C-BD9C-93280AAB82D4}"/>
              </a:ext>
            </a:extLst>
          </p:cNvPr>
          <p:cNvSpPr>
            <a:spLocks noGrp="1"/>
          </p:cNvSpPr>
          <p:nvPr>
            <p:ph type="title"/>
          </p:nvPr>
        </p:nvSpPr>
        <p:spPr>
          <a:xfrm>
            <a:off x="707087" y="404664"/>
            <a:ext cx="7772400" cy="1143000"/>
          </a:xfrm>
        </p:spPr>
        <p:txBody>
          <a:bodyPr/>
          <a:lstStyle/>
          <a:p>
            <a:r>
              <a:rPr lang="en-US" altLang="en-US" dirty="0">
                <a:latin typeface="+mn-lt"/>
                <a:ea typeface="ＭＳ Ｐゴシック" panose="020B0600070205080204" pitchFamily="34" charset="-128"/>
              </a:rPr>
              <a:t>Remedies (II)</a:t>
            </a:r>
          </a:p>
        </p:txBody>
      </p:sp>
      <p:sp>
        <p:nvSpPr>
          <p:cNvPr id="3" name="Content Placeholder 2">
            <a:extLst>
              <a:ext uri="{FF2B5EF4-FFF2-40B4-BE49-F238E27FC236}">
                <a16:creationId xmlns:a16="http://schemas.microsoft.com/office/drawing/2014/main" id="{698753B1-FF5F-4E5A-9A6A-3FCD47EB0CD5}"/>
              </a:ext>
            </a:extLst>
          </p:cNvPr>
          <p:cNvSpPr>
            <a:spLocks noGrp="1"/>
          </p:cNvSpPr>
          <p:nvPr>
            <p:ph idx="1"/>
          </p:nvPr>
        </p:nvSpPr>
        <p:spPr>
          <a:xfrm>
            <a:off x="707087" y="1628800"/>
            <a:ext cx="7772400" cy="3816350"/>
          </a:xfrm>
        </p:spPr>
        <p:txBody>
          <a:bodyPr/>
          <a:lstStyle/>
          <a:p>
            <a:pPr>
              <a:buFont typeface="Arial" panose="020B0604020202020204" pitchFamily="34" charset="0"/>
              <a:buChar char="•"/>
              <a:defRPr/>
            </a:pPr>
            <a:r>
              <a:rPr lang="en-GB" altLang="en-US" sz="2000" b="1" kern="1200" dirty="0">
                <a:cs typeface="+mn-cs"/>
              </a:rPr>
              <a:t>Unauthorised profits - Fiduciaries who are Directors of companies: </a:t>
            </a:r>
            <a:r>
              <a:rPr lang="en-GB" altLang="en-US" sz="2000" kern="1200" dirty="0">
                <a:cs typeface="+mn-cs"/>
              </a:rPr>
              <a:t>Can companies recover unauthorised profits from their Directors if the Directors’ criminal acts would usually be attributed to the company? See </a:t>
            </a:r>
            <a:r>
              <a:rPr lang="en-GB" sz="2000" i="1" u="sng" dirty="0"/>
              <a:t>Crown Prosecution Service v Aquila Advisory Ltd </a:t>
            </a:r>
            <a:r>
              <a:rPr lang="en-GB" sz="2000" u="sng" dirty="0"/>
              <a:t>[2021] UKSC 49. </a:t>
            </a:r>
            <a:endParaRPr lang="en-GB" altLang="en-US" sz="2000" u="sng" dirty="0"/>
          </a:p>
        </p:txBody>
      </p:sp>
      <p:pic>
        <p:nvPicPr>
          <p:cNvPr id="7170" name="Picture 2">
            <a:extLst>
              <a:ext uri="{FF2B5EF4-FFF2-40B4-BE49-F238E27FC236}">
                <a16:creationId xmlns:a16="http://schemas.microsoft.com/office/drawing/2014/main" id="{2B14E379-4809-6DEA-35A8-49BC00961B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5587" y="3912096"/>
            <a:ext cx="1295400" cy="162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6552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7495FF6B-35F3-D841-B8AC-0BB4457B964A}"/>
              </a:ext>
            </a:extLst>
          </p:cNvPr>
          <p:cNvSpPr>
            <a:spLocks noGrp="1"/>
          </p:cNvSpPr>
          <p:nvPr>
            <p:ph type="title"/>
          </p:nvPr>
        </p:nvSpPr>
        <p:spPr>
          <a:xfrm>
            <a:off x="685800" y="404664"/>
            <a:ext cx="7772400" cy="1143000"/>
          </a:xfrm>
        </p:spPr>
        <p:txBody>
          <a:bodyPr/>
          <a:lstStyle/>
          <a:p>
            <a:pPr>
              <a:defRPr/>
            </a:pPr>
            <a:r>
              <a:rPr lang="en-GB" altLang="en-US" dirty="0">
                <a:latin typeface="+mn-lt"/>
                <a:ea typeface="ＭＳ Ｐゴシック" panose="020B0600070205080204" pitchFamily="34" charset="-128"/>
              </a:rPr>
              <a:t>Recap</a:t>
            </a:r>
          </a:p>
        </p:txBody>
      </p:sp>
      <p:sp>
        <p:nvSpPr>
          <p:cNvPr id="15363" name="Content Placeholder 2">
            <a:extLst>
              <a:ext uri="{FF2B5EF4-FFF2-40B4-BE49-F238E27FC236}">
                <a16:creationId xmlns:a16="http://schemas.microsoft.com/office/drawing/2014/main" id="{B1362EB2-44AF-9D42-A8F5-01DD21AF6C8D}"/>
              </a:ext>
            </a:extLst>
          </p:cNvPr>
          <p:cNvSpPr txBox="1">
            <a:spLocks/>
          </p:cNvSpPr>
          <p:nvPr/>
        </p:nvSpPr>
        <p:spPr bwMode="auto">
          <a:xfrm>
            <a:off x="531565" y="1700808"/>
            <a:ext cx="7923212" cy="3836640"/>
          </a:xfrm>
          <a:prstGeom prst="rect">
            <a:avLst/>
          </a:prstGeom>
          <a:noFill/>
          <a:ln>
            <a:noFill/>
          </a:ln>
        </p:spPr>
        <p:txBody>
          <a:bodyPr lIns="91440" tIns="45720" rIns="91440" bIns="45720" anchor="t"/>
          <a:lstStyle>
            <a:lvl1pPr marL="571500" indent="-571500">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buFont typeface="Wingdings" panose="05000000000000000000" pitchFamily="2" charset="2"/>
              <a:buChar char="q"/>
              <a:defRPr/>
            </a:pPr>
            <a:r>
              <a:rPr lang="en-US" altLang="en-US" sz="2000" dirty="0">
                <a:cs typeface="+mn-cs"/>
              </a:rPr>
              <a:t>Most trustees are fiduciaries, and in this capacity are subject to fiduciary duties.</a:t>
            </a:r>
          </a:p>
          <a:p>
            <a:pPr>
              <a:buFont typeface="Wingdings" panose="05000000000000000000" pitchFamily="2" charset="2"/>
              <a:buChar char="q"/>
              <a:defRPr/>
            </a:pPr>
            <a:r>
              <a:rPr lang="en-US" altLang="en-US" sz="2000" dirty="0">
                <a:cs typeface="+mn-cs"/>
              </a:rPr>
              <a:t>Fiduciary duties can be divided into two main rules: The rule to avoid </a:t>
            </a:r>
            <a:r>
              <a:rPr lang="en-US" altLang="en-US" sz="2000" b="1" dirty="0">
                <a:cs typeface="+mn-cs"/>
              </a:rPr>
              <a:t>conflicts of interests </a:t>
            </a:r>
            <a:r>
              <a:rPr lang="en-US" altLang="en-US" sz="2000" dirty="0">
                <a:cs typeface="+mn-cs"/>
              </a:rPr>
              <a:t>and the rule not to make </a:t>
            </a:r>
            <a:r>
              <a:rPr lang="en-US" altLang="en-US" sz="2000" b="1" dirty="0">
                <a:cs typeface="+mn-cs"/>
              </a:rPr>
              <a:t>unauthorised profits</a:t>
            </a:r>
            <a:r>
              <a:rPr lang="en-US" altLang="en-US" sz="2000" dirty="0">
                <a:cs typeface="+mn-cs"/>
              </a:rPr>
              <a:t>. </a:t>
            </a:r>
          </a:p>
          <a:p>
            <a:pPr>
              <a:buFont typeface="Wingdings" panose="05000000000000000000" pitchFamily="2" charset="2"/>
              <a:buChar char="q"/>
              <a:defRPr/>
            </a:pPr>
            <a:r>
              <a:rPr lang="en-US" altLang="en-US" sz="2000" dirty="0">
                <a:cs typeface="+mn-cs"/>
              </a:rPr>
              <a:t>The liability of fiduciaries is usually personal, but where trust property is concerned, it is proprietary.</a:t>
            </a:r>
          </a:p>
          <a:p>
            <a:pPr>
              <a:buFont typeface="Wingdings" panose="05000000000000000000" pitchFamily="2" charset="2"/>
              <a:buChar char="q"/>
              <a:defRPr/>
            </a:pPr>
            <a:r>
              <a:rPr lang="en-US" altLang="en-US" sz="2000" dirty="0">
                <a:cs typeface="+mn-cs"/>
              </a:rPr>
              <a:t>There is considerable debate as to how to treat bribes and secret commissions, and how the fiduciary-principal relation should be construed in the case of Directors and companies.</a:t>
            </a:r>
          </a:p>
          <a:p>
            <a:pPr>
              <a:buFont typeface="Wingdings" panose="05000000000000000000" pitchFamily="2" charset="2"/>
              <a:buChar char="q"/>
              <a:defRPr/>
            </a:pPr>
            <a:endParaRPr lang="en-US" altLang="en-US" dirty="0">
              <a:cs typeface="+mn-cs"/>
            </a:endParaRPr>
          </a:p>
          <a:p>
            <a:pPr marL="0" indent="0">
              <a:defRPr/>
            </a:pPr>
            <a:endParaRPr lang="en-US" altLang="en-US" sz="1000" b="1" dirty="0">
              <a:solidFill>
                <a:srgbClr val="000000"/>
              </a:solidFill>
              <a:highlight>
                <a:srgbClr val="FFFF00"/>
              </a:highlight>
            </a:endParaRPr>
          </a:p>
          <a:p>
            <a:pPr>
              <a:defRPr/>
            </a:pPr>
            <a:endParaRPr lang="en-US" altLang="en-US" dirty="0">
              <a:solidFill>
                <a:srgbClr val="000000"/>
              </a:solidFill>
            </a:endParaRPr>
          </a:p>
        </p:txBody>
      </p:sp>
    </p:spTree>
    <p:extLst>
      <p:ext uri="{BB962C8B-B14F-4D97-AF65-F5344CB8AC3E}">
        <p14:creationId xmlns:p14="http://schemas.microsoft.com/office/powerpoint/2010/main" val="42264174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7495FF6B-35F3-D841-B8AC-0BB4457B964A}"/>
              </a:ext>
            </a:extLst>
          </p:cNvPr>
          <p:cNvSpPr>
            <a:spLocks noGrp="1"/>
          </p:cNvSpPr>
          <p:nvPr>
            <p:ph type="title"/>
          </p:nvPr>
        </p:nvSpPr>
        <p:spPr/>
        <p:txBody>
          <a:bodyPr/>
          <a:lstStyle/>
          <a:p>
            <a:pPr>
              <a:defRPr/>
            </a:pPr>
            <a:r>
              <a:rPr lang="en-GB" altLang="en-US" sz="4000" dirty="0">
                <a:latin typeface="+mn-lt"/>
                <a:ea typeface="ＭＳ Ｐゴシック"/>
              </a:rPr>
              <a:t>Revision 1: Certainty of subject matter: Distributional certainty</a:t>
            </a:r>
            <a:endParaRPr lang="en-GB" altLang="en-US" sz="4000" dirty="0">
              <a:latin typeface="+mn-lt"/>
              <a:ea typeface="ＭＳ Ｐゴシック" panose="020B0600070205080204" pitchFamily="34" charset="-128"/>
            </a:endParaRPr>
          </a:p>
        </p:txBody>
      </p:sp>
      <p:sp>
        <p:nvSpPr>
          <p:cNvPr id="15363" name="Content Placeholder 2">
            <a:extLst>
              <a:ext uri="{FF2B5EF4-FFF2-40B4-BE49-F238E27FC236}">
                <a16:creationId xmlns:a16="http://schemas.microsoft.com/office/drawing/2014/main" id="{B1362EB2-44AF-9D42-A8F5-01DD21AF6C8D}"/>
              </a:ext>
            </a:extLst>
          </p:cNvPr>
          <p:cNvSpPr txBox="1">
            <a:spLocks/>
          </p:cNvSpPr>
          <p:nvPr/>
        </p:nvSpPr>
        <p:spPr bwMode="auto">
          <a:xfrm>
            <a:off x="611560" y="1916832"/>
            <a:ext cx="7772400" cy="1931715"/>
          </a:xfrm>
          <a:prstGeom prst="rect">
            <a:avLst/>
          </a:prstGeom>
          <a:noFill/>
          <a:ln>
            <a:noFill/>
          </a:ln>
        </p:spPr>
        <p:txBody>
          <a:bodyPr lIns="91440" tIns="45720" rIns="91440" bIns="45720" anchor="t"/>
          <a:lstStyle>
            <a:lvl1pPr marL="571500" indent="-571500">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indent="0">
              <a:defRPr/>
            </a:pPr>
            <a:r>
              <a:rPr lang="en-US" altLang="en-US" sz="1800" dirty="0">
                <a:solidFill>
                  <a:srgbClr val="000000"/>
                </a:solidFill>
                <a:latin typeface="Arial"/>
                <a:ea typeface="ＭＳ Ｐゴシック"/>
              </a:rPr>
              <a:t>'My houses to be held on trust, with my trustee to distribute them amongst my children when all have reached majority.’</a:t>
            </a:r>
          </a:p>
          <a:p>
            <a:pPr marL="0" indent="0">
              <a:defRPr/>
            </a:pPr>
            <a:r>
              <a:rPr lang="en-US" altLang="en-US" sz="1800" dirty="0">
                <a:solidFill>
                  <a:srgbClr val="00B050"/>
                </a:solidFill>
                <a:latin typeface="Arial"/>
                <a:ea typeface="ＭＳ Ｐゴシック"/>
              </a:rPr>
              <a:t>Fine, as discretionary trust.</a:t>
            </a:r>
            <a:endParaRPr lang="en-US" altLang="en-US" sz="1800" dirty="0">
              <a:solidFill>
                <a:srgbClr val="00B050"/>
              </a:solidFill>
            </a:endParaRPr>
          </a:p>
          <a:p>
            <a:pPr marL="0" indent="0">
              <a:defRPr/>
            </a:pPr>
            <a:r>
              <a:rPr lang="en-US" altLang="en-US" sz="1800" dirty="0">
                <a:solidFill>
                  <a:srgbClr val="000000"/>
                </a:solidFill>
                <a:latin typeface="Arial"/>
                <a:ea typeface="ＭＳ Ｐゴシック"/>
              </a:rPr>
              <a:t>'Daughter A to choose one house, the other house on trust for daughter B' (</a:t>
            </a:r>
            <a:r>
              <a:rPr lang="en-US" altLang="en-US" sz="1800" i="1" dirty="0">
                <a:solidFill>
                  <a:srgbClr val="000000"/>
                </a:solidFill>
                <a:latin typeface="Arial"/>
                <a:ea typeface="ＭＳ Ｐゴシック"/>
              </a:rPr>
              <a:t>Boyce v Boyce</a:t>
            </a:r>
            <a:r>
              <a:rPr lang="en-US" altLang="en-US" sz="1800" dirty="0">
                <a:solidFill>
                  <a:srgbClr val="000000"/>
                </a:solidFill>
                <a:latin typeface="Arial"/>
                <a:ea typeface="ＭＳ Ｐゴシック"/>
              </a:rPr>
              <a:t>). </a:t>
            </a:r>
          </a:p>
          <a:p>
            <a:pPr marL="0" indent="0">
              <a:defRPr/>
            </a:pPr>
            <a:r>
              <a:rPr lang="en-US" altLang="en-US" sz="1800" dirty="0">
                <a:solidFill>
                  <a:srgbClr val="FF0000"/>
                </a:solidFill>
                <a:latin typeface="Arial"/>
                <a:ea typeface="ＭＳ Ｐゴシック"/>
              </a:rPr>
              <a:t>Trust for daughter B is fixed trust, but not clear which house is to be held for her and the specified resolution mechanism is no longer available. Fails.</a:t>
            </a:r>
          </a:p>
          <a:p>
            <a:pPr marL="0" indent="0">
              <a:defRPr/>
            </a:pPr>
            <a:r>
              <a:rPr lang="en-US" altLang="en-US" sz="1800" dirty="0">
                <a:solidFill>
                  <a:srgbClr val="000000"/>
                </a:solidFill>
                <a:latin typeface="Arial"/>
                <a:ea typeface="ＭＳ Ｐゴシック"/>
              </a:rPr>
              <a:t>‘One house to each of my nephews and nieces and one to N. H. One to F. K. One to my sister. One to my brother' (</a:t>
            </a:r>
            <a:r>
              <a:rPr lang="en-US" altLang="en-US" sz="1800" i="1" dirty="0">
                <a:solidFill>
                  <a:srgbClr val="000000"/>
                </a:solidFill>
                <a:latin typeface="Arial"/>
                <a:ea typeface="ＭＳ Ｐゴシック"/>
              </a:rPr>
              <a:t>Re Knapton</a:t>
            </a:r>
            <a:r>
              <a:rPr lang="en-US" altLang="en-US" sz="1800" dirty="0">
                <a:solidFill>
                  <a:srgbClr val="000000"/>
                </a:solidFill>
                <a:latin typeface="Arial"/>
                <a:ea typeface="ＭＳ Ｐゴシック"/>
              </a:rPr>
              <a:t>). </a:t>
            </a:r>
          </a:p>
          <a:p>
            <a:pPr marL="0" indent="0">
              <a:defRPr/>
            </a:pPr>
            <a:r>
              <a:rPr lang="en-US" altLang="en-US" sz="1800" dirty="0">
                <a:solidFill>
                  <a:srgbClr val="FFC000"/>
                </a:solidFill>
                <a:latin typeface="Arial"/>
                <a:ea typeface="ＭＳ Ｐゴシック"/>
              </a:rPr>
              <a:t>If a trust, this would be fixed. Ostensibly fails for uncertainty, but this can be cured by letting the beneficiaries chose in a certain order + resolution mechanism for disagreement.</a:t>
            </a:r>
            <a:endParaRPr lang="en-US" altLang="en-US" sz="1800" dirty="0">
              <a:solidFill>
                <a:srgbClr val="FFC000"/>
              </a:solidFill>
            </a:endParaRPr>
          </a:p>
          <a:p>
            <a:pPr lvl="1">
              <a:buAutoNum type="arabicPeriod"/>
              <a:defRPr/>
            </a:pPr>
            <a:endParaRPr lang="en-US" altLang="en-US" sz="1200" dirty="0">
              <a:solidFill>
                <a:srgbClr val="000000"/>
              </a:solidFill>
            </a:endParaRPr>
          </a:p>
          <a:p>
            <a:pPr lvl="1">
              <a:buFontTx/>
              <a:buAutoNum type="arabicPeriod"/>
              <a:defRPr/>
            </a:pPr>
            <a:endParaRPr lang="en-US" altLang="en-US" sz="1200" dirty="0">
              <a:solidFill>
                <a:srgbClr val="000000"/>
              </a:solidFill>
            </a:endParaRPr>
          </a:p>
          <a:p>
            <a:pPr>
              <a:buFont typeface="Times"/>
              <a:buAutoNum type="arabicPeriod"/>
              <a:defRPr/>
            </a:pPr>
            <a:endParaRPr lang="en-US" altLang="en-US" sz="2000" dirty="0">
              <a:solidFill>
                <a:srgbClr val="000000"/>
              </a:solidFill>
            </a:endParaRPr>
          </a:p>
          <a:p>
            <a:pPr marL="0" indent="0">
              <a:defRPr/>
            </a:pPr>
            <a:endParaRPr lang="en-US" altLang="en-US" sz="2000" dirty="0">
              <a:solidFill>
                <a:srgbClr val="000000"/>
              </a:solidFill>
            </a:endParaRPr>
          </a:p>
        </p:txBody>
      </p:sp>
    </p:spTree>
    <p:extLst>
      <p:ext uri="{BB962C8B-B14F-4D97-AF65-F5344CB8AC3E}">
        <p14:creationId xmlns:p14="http://schemas.microsoft.com/office/powerpoint/2010/main" val="2420855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36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36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3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7495FF6B-35F3-D841-B8AC-0BB4457B964A}"/>
              </a:ext>
            </a:extLst>
          </p:cNvPr>
          <p:cNvSpPr>
            <a:spLocks noGrp="1"/>
          </p:cNvSpPr>
          <p:nvPr>
            <p:ph type="title"/>
          </p:nvPr>
        </p:nvSpPr>
        <p:spPr/>
        <p:txBody>
          <a:bodyPr/>
          <a:lstStyle/>
          <a:p>
            <a:pPr>
              <a:defRPr/>
            </a:pPr>
            <a:r>
              <a:rPr lang="en-GB" altLang="en-US" sz="4000" dirty="0">
                <a:latin typeface="+mn-lt"/>
                <a:ea typeface="ＭＳ Ｐゴシック"/>
              </a:rPr>
              <a:t>Revision 2: Certainty of objects: Administrative unworkability</a:t>
            </a:r>
            <a:endParaRPr lang="en-GB" altLang="en-US" sz="4000" dirty="0">
              <a:latin typeface="+mn-lt"/>
              <a:ea typeface="ＭＳ Ｐゴシック" panose="020B0600070205080204" pitchFamily="34" charset="-128"/>
            </a:endParaRPr>
          </a:p>
        </p:txBody>
      </p:sp>
      <p:sp>
        <p:nvSpPr>
          <p:cNvPr id="15363" name="Content Placeholder 2">
            <a:extLst>
              <a:ext uri="{FF2B5EF4-FFF2-40B4-BE49-F238E27FC236}">
                <a16:creationId xmlns:a16="http://schemas.microsoft.com/office/drawing/2014/main" id="{B1362EB2-44AF-9D42-A8F5-01DD21AF6C8D}"/>
              </a:ext>
            </a:extLst>
          </p:cNvPr>
          <p:cNvSpPr txBox="1">
            <a:spLocks/>
          </p:cNvSpPr>
          <p:nvPr/>
        </p:nvSpPr>
        <p:spPr bwMode="auto">
          <a:xfrm>
            <a:off x="685800" y="2060848"/>
            <a:ext cx="7772400" cy="3167686"/>
          </a:xfrm>
          <a:prstGeom prst="rect">
            <a:avLst/>
          </a:prstGeom>
          <a:noFill/>
          <a:ln>
            <a:noFill/>
          </a:ln>
        </p:spPr>
        <p:txBody>
          <a:bodyPr lIns="91440" tIns="45720" rIns="91440" bIns="45720" anchor="t"/>
          <a:lstStyle>
            <a:lvl1pPr marL="571500" indent="-571500">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indent="0">
              <a:defRPr/>
            </a:pPr>
            <a:r>
              <a:rPr lang="en-US" altLang="en-US" sz="2000" b="1" dirty="0">
                <a:solidFill>
                  <a:srgbClr val="000000"/>
                </a:solidFill>
                <a:latin typeface="Arial"/>
                <a:ea typeface="ＭＳ Ｐゴシック"/>
              </a:rPr>
              <a:t>What you need to know:</a:t>
            </a:r>
          </a:p>
          <a:p>
            <a:pPr>
              <a:buFont typeface="+mj-lt"/>
              <a:buAutoNum type="arabicPeriod"/>
              <a:defRPr/>
            </a:pPr>
            <a:r>
              <a:rPr lang="en-US" altLang="en-US" sz="2000" dirty="0">
                <a:solidFill>
                  <a:srgbClr val="000000"/>
                </a:solidFill>
                <a:latin typeface="Arial"/>
                <a:ea typeface="ＭＳ Ｐゴシック"/>
              </a:rPr>
              <a:t>Applies only to discretionary trusts, not fixed trusts or powers of appointment.</a:t>
            </a:r>
            <a:endParaRPr lang="en-US" altLang="en-US" sz="2000" dirty="0">
              <a:solidFill>
                <a:srgbClr val="000000"/>
              </a:solidFill>
            </a:endParaRPr>
          </a:p>
          <a:p>
            <a:pPr>
              <a:buAutoNum type="arabicPeriod"/>
              <a:defRPr/>
            </a:pPr>
            <a:r>
              <a:rPr lang="en-US" altLang="en-US" sz="2000" dirty="0">
                <a:solidFill>
                  <a:srgbClr val="000000"/>
                </a:solidFill>
                <a:latin typeface="Arial"/>
                <a:ea typeface="ＭＳ Ｐゴシック"/>
              </a:rPr>
              <a:t>Wilberforce LJ in </a:t>
            </a:r>
            <a:r>
              <a:rPr lang="en-US" altLang="en-US" sz="2000" i="1" dirty="0">
                <a:solidFill>
                  <a:srgbClr val="000000"/>
                </a:solidFill>
                <a:latin typeface="Arial"/>
                <a:ea typeface="ＭＳ Ｐゴシック"/>
              </a:rPr>
              <a:t>McPhail v Doulton</a:t>
            </a:r>
            <a:r>
              <a:rPr lang="en-US" altLang="en-US" sz="2000" dirty="0">
                <a:solidFill>
                  <a:srgbClr val="000000"/>
                </a:solidFill>
                <a:latin typeface="Arial"/>
                <a:ea typeface="ＭＳ Ｐゴシック"/>
              </a:rPr>
              <a:t>: Class conceptually certain, but "'so hopelessly wide as not to form 'anything like a class.'"</a:t>
            </a:r>
            <a:endParaRPr lang="en-US" altLang="en-US" sz="2000" dirty="0">
              <a:solidFill>
                <a:srgbClr val="000000"/>
              </a:solidFill>
            </a:endParaRPr>
          </a:p>
          <a:p>
            <a:pPr>
              <a:buFont typeface="+mj-lt"/>
              <a:buAutoNum type="arabicPeriod"/>
              <a:defRPr/>
            </a:pPr>
            <a:r>
              <a:rPr lang="en-US" altLang="en-US" sz="2000" dirty="0">
                <a:solidFill>
                  <a:srgbClr val="000000"/>
                </a:solidFill>
                <a:latin typeface="Arial"/>
                <a:ea typeface="ＭＳ Ｐゴシック"/>
              </a:rPr>
              <a:t>Uncertain basis: sheer number of people, practical difficulty, connection between settlor and class, size of fund compared to class, execution of trust by court?</a:t>
            </a:r>
            <a:endParaRPr lang="en-US" altLang="en-US" sz="2000" dirty="0">
              <a:solidFill>
                <a:srgbClr val="000000"/>
              </a:solidFill>
            </a:endParaRPr>
          </a:p>
          <a:p>
            <a:pPr>
              <a:buAutoNum type="arabicPeriod"/>
              <a:defRPr/>
            </a:pPr>
            <a:r>
              <a:rPr lang="en-US" altLang="en-US" sz="2000" dirty="0">
                <a:solidFill>
                  <a:srgbClr val="000000"/>
                </a:solidFill>
                <a:latin typeface="Arial"/>
                <a:ea typeface="ＭＳ Ｐゴシック"/>
              </a:rPr>
              <a:t>Applied in </a:t>
            </a:r>
            <a:r>
              <a:rPr lang="en-US" altLang="en-US" sz="2000" i="1" dirty="0">
                <a:solidFill>
                  <a:srgbClr val="000000"/>
                </a:solidFill>
                <a:latin typeface="Arial"/>
                <a:ea typeface="ＭＳ Ｐゴシック"/>
              </a:rPr>
              <a:t>R v District Auditor ex p West Yorkshire Metropolitan County Council</a:t>
            </a:r>
            <a:r>
              <a:rPr lang="en-US" altLang="en-US" sz="2000" dirty="0">
                <a:solidFill>
                  <a:srgbClr val="000000"/>
                </a:solidFill>
                <a:latin typeface="Arial"/>
                <a:ea typeface="ＭＳ Ｐゴシック"/>
              </a:rPr>
              <a:t>.</a:t>
            </a:r>
            <a:br>
              <a:rPr lang="en-US" altLang="en-US" sz="2000" dirty="0">
                <a:latin typeface="Arial"/>
                <a:ea typeface="ＭＳ Ｐゴシック"/>
              </a:rPr>
            </a:br>
            <a:endParaRPr lang="en-US" altLang="en-US" sz="2000" dirty="0">
              <a:solidFill>
                <a:srgbClr val="000000"/>
              </a:solidFill>
            </a:endParaRPr>
          </a:p>
          <a:p>
            <a:pPr lvl="1">
              <a:buAutoNum type="arabicPeriod"/>
              <a:defRPr/>
            </a:pPr>
            <a:endParaRPr lang="en-US" altLang="en-US" sz="1200" dirty="0">
              <a:solidFill>
                <a:srgbClr val="000000"/>
              </a:solidFill>
            </a:endParaRPr>
          </a:p>
          <a:p>
            <a:pPr lvl="1">
              <a:buFontTx/>
              <a:buAutoNum type="arabicPeriod"/>
              <a:defRPr/>
            </a:pPr>
            <a:endParaRPr lang="en-US" altLang="en-US" sz="1200" dirty="0">
              <a:solidFill>
                <a:srgbClr val="000000"/>
              </a:solidFill>
            </a:endParaRPr>
          </a:p>
          <a:p>
            <a:pPr>
              <a:buFont typeface="Times"/>
              <a:buAutoNum type="arabicPeriod"/>
              <a:defRPr/>
            </a:pPr>
            <a:endParaRPr lang="en-US" altLang="en-US" sz="2000" dirty="0">
              <a:solidFill>
                <a:srgbClr val="000000"/>
              </a:solidFill>
            </a:endParaRPr>
          </a:p>
          <a:p>
            <a:pPr marL="0" indent="0">
              <a:defRPr/>
            </a:pPr>
            <a:endParaRPr lang="en-US" altLang="en-US" sz="2000" dirty="0">
              <a:solidFill>
                <a:srgbClr val="000000"/>
              </a:solidFill>
            </a:endParaRPr>
          </a:p>
        </p:txBody>
      </p:sp>
      <p:pic>
        <p:nvPicPr>
          <p:cNvPr id="3074" name="Picture 2" descr="Shop Sign Makers In London">
            <a:extLst>
              <a:ext uri="{FF2B5EF4-FFF2-40B4-BE49-F238E27FC236}">
                <a16:creationId xmlns:a16="http://schemas.microsoft.com/office/drawing/2014/main" id="{831F8117-662D-2F79-8B2C-19B383FF5A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9928" y="5445224"/>
            <a:ext cx="2448272" cy="11530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1240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205B5-A143-4C5B-871F-FC7B35A3C4EE}"/>
              </a:ext>
            </a:extLst>
          </p:cNvPr>
          <p:cNvSpPr>
            <a:spLocks noGrp="1"/>
          </p:cNvSpPr>
          <p:nvPr>
            <p:ph type="title"/>
          </p:nvPr>
        </p:nvSpPr>
        <p:spPr>
          <a:xfrm>
            <a:off x="685800" y="609600"/>
            <a:ext cx="7772400" cy="1143000"/>
          </a:xfrm>
        </p:spPr>
        <p:txBody>
          <a:bodyPr vert="horz" wrap="square" lIns="91440" tIns="45720" rIns="91440" bIns="45720" numCol="1" anchor="ctr" anchorCtr="0" compatLnSpc="1">
            <a:prstTxWarp prst="textNoShape">
              <a:avLst/>
            </a:prstTxWarp>
            <a:normAutofit/>
          </a:bodyPr>
          <a:lstStyle/>
          <a:p>
            <a:pPr>
              <a:defRPr/>
            </a:pPr>
            <a:r>
              <a:rPr lang="en-GB" dirty="0">
                <a:latin typeface="+mn-lt"/>
              </a:rPr>
              <a:t>Activity</a:t>
            </a:r>
          </a:p>
        </p:txBody>
      </p:sp>
      <p:sp>
        <p:nvSpPr>
          <p:cNvPr id="4" name="TextBox 3">
            <a:extLst>
              <a:ext uri="{FF2B5EF4-FFF2-40B4-BE49-F238E27FC236}">
                <a16:creationId xmlns:a16="http://schemas.microsoft.com/office/drawing/2014/main" id="{432DD5D6-5FBC-7447-B65B-B4EED09FB3BF}"/>
              </a:ext>
            </a:extLst>
          </p:cNvPr>
          <p:cNvSpPr txBox="1"/>
          <p:nvPr/>
        </p:nvSpPr>
        <p:spPr bwMode="auto">
          <a:xfrm>
            <a:off x="323528" y="1520825"/>
            <a:ext cx="3888432" cy="3132311"/>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342900">
              <a:lnSpc>
                <a:spcPct val="90000"/>
              </a:lnSpc>
              <a:spcBef>
                <a:spcPct val="20000"/>
              </a:spcBef>
            </a:pPr>
            <a:endParaRPr lang="en-US" sz="1600" dirty="0">
              <a:latin typeface="+mn-lt"/>
            </a:endParaRPr>
          </a:p>
          <a:p>
            <a:pPr marL="342900">
              <a:lnSpc>
                <a:spcPct val="90000"/>
              </a:lnSpc>
              <a:spcBef>
                <a:spcPct val="20000"/>
              </a:spcBef>
            </a:pPr>
            <a:r>
              <a:rPr lang="en-US" sz="1600" dirty="0">
                <a:latin typeface="+mn-lt"/>
              </a:rPr>
              <a:t>You have learned about charitable trusts, and as a student, you will be aware of the issues related to university administration, such as high executive remuneration and excessive focus on financial aspects of university ‘business.’ Today, you have also started to learn about the fiduciary duties of trustees. Why not put all these together? The following article provides some interesting insights on universities’ obligations as charities:</a:t>
            </a:r>
          </a:p>
          <a:p>
            <a:pPr marL="342900">
              <a:lnSpc>
                <a:spcPct val="90000"/>
              </a:lnSpc>
              <a:spcBef>
                <a:spcPct val="20000"/>
              </a:spcBef>
            </a:pPr>
            <a:endParaRPr lang="en-US" sz="1600" dirty="0">
              <a:latin typeface="+mn-lt"/>
            </a:endParaRPr>
          </a:p>
        </p:txBody>
      </p:sp>
      <p:pic>
        <p:nvPicPr>
          <p:cNvPr id="3" name="Picture 2">
            <a:extLst>
              <a:ext uri="{FF2B5EF4-FFF2-40B4-BE49-F238E27FC236}">
                <a16:creationId xmlns:a16="http://schemas.microsoft.com/office/drawing/2014/main" id="{2C68E70C-ABE3-5993-B0E0-3350A2298574}"/>
              </a:ext>
            </a:extLst>
          </p:cNvPr>
          <p:cNvPicPr>
            <a:picLocks noChangeAspect="1"/>
          </p:cNvPicPr>
          <p:nvPr/>
        </p:nvPicPr>
        <p:blipFill>
          <a:blip r:embed="rId2"/>
          <a:stretch>
            <a:fillRect/>
          </a:stretch>
        </p:blipFill>
        <p:spPr>
          <a:xfrm>
            <a:off x="4430080" y="1809750"/>
            <a:ext cx="3810000" cy="2286000"/>
          </a:xfrm>
          <a:prstGeom prst="rect">
            <a:avLst/>
          </a:prstGeom>
          <a:noFill/>
        </p:spPr>
      </p:pic>
      <p:sp>
        <p:nvSpPr>
          <p:cNvPr id="6" name="TextBox 5">
            <a:extLst>
              <a:ext uri="{FF2B5EF4-FFF2-40B4-BE49-F238E27FC236}">
                <a16:creationId xmlns:a16="http://schemas.microsoft.com/office/drawing/2014/main" id="{5C3C9033-B9A2-EB75-DD06-39A515785DA9}"/>
              </a:ext>
            </a:extLst>
          </p:cNvPr>
          <p:cNvSpPr txBox="1"/>
          <p:nvPr/>
        </p:nvSpPr>
        <p:spPr>
          <a:xfrm>
            <a:off x="323528" y="4710286"/>
            <a:ext cx="7554280" cy="757130"/>
          </a:xfrm>
          <a:prstGeom prst="rect">
            <a:avLst/>
          </a:prstGeom>
          <a:noFill/>
        </p:spPr>
        <p:txBody>
          <a:bodyPr wrap="square">
            <a:spAutoFit/>
          </a:bodyPr>
          <a:lstStyle/>
          <a:p>
            <a:pPr marL="342900">
              <a:lnSpc>
                <a:spcPct val="90000"/>
              </a:lnSpc>
              <a:spcBef>
                <a:spcPct val="20000"/>
              </a:spcBef>
            </a:pPr>
            <a:r>
              <a:rPr lang="en-US" sz="1600" dirty="0">
                <a:latin typeface="+mn-lt"/>
              </a:rPr>
              <a:t>Synge M (2021) ‘Regulation of Universities as Charities: One Step Forward, Two Steps Back’ 41 </a:t>
            </a:r>
            <a:r>
              <a:rPr lang="en-US" sz="1600" i="1" dirty="0">
                <a:latin typeface="+mn-lt"/>
              </a:rPr>
              <a:t>Legal Studies </a:t>
            </a:r>
            <a:r>
              <a:rPr lang="en-US" sz="1600" dirty="0">
                <a:latin typeface="+mn-lt"/>
              </a:rPr>
              <a:t>214 (available via the library’s Discover portal).</a:t>
            </a:r>
          </a:p>
        </p:txBody>
      </p:sp>
    </p:spTree>
    <p:extLst>
      <p:ext uri="{BB962C8B-B14F-4D97-AF65-F5344CB8AC3E}">
        <p14:creationId xmlns:p14="http://schemas.microsoft.com/office/powerpoint/2010/main" val="574123432"/>
      </p:ext>
    </p:extLst>
  </p:cSld>
  <p:clrMapOvr>
    <a:masterClrMapping/>
  </p:clrMapOvr>
  <mc:AlternateContent xmlns:mc="http://schemas.openxmlformats.org/markup-compatibility/2006" xmlns:p14="http://schemas.microsoft.com/office/powerpoint/2010/main">
    <mc:Choice Requires="p14">
      <p:transition spd="slow" p14:dur="2000" advTm="1652"/>
    </mc:Choice>
    <mc:Fallback xmlns="">
      <p:transition spd="slow" advTm="1652"/>
    </mc:Fallback>
  </mc:AlternateContent>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1484</Words>
  <Application>Microsoft Office PowerPoint</Application>
  <PresentationFormat>On-screen Show (4:3)</PresentationFormat>
  <Paragraphs>195</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ＭＳ Ｐゴシック</vt:lpstr>
      <vt:lpstr>Arial</vt:lpstr>
      <vt:lpstr>Calibri</vt:lpstr>
      <vt:lpstr>Times</vt:lpstr>
      <vt:lpstr>Times New Roman</vt:lpstr>
      <vt:lpstr>Wingdings</vt:lpstr>
      <vt:lpstr>Blank</vt:lpstr>
      <vt:lpstr>   Trusts Law  Week 12: Fiduciary duties and associated remedies  </vt:lpstr>
      <vt:lpstr>Looking ahead…</vt:lpstr>
      <vt:lpstr>So, why are breaches and remedies important? </vt:lpstr>
      <vt:lpstr>When things with a trust go wrong</vt:lpstr>
      <vt:lpstr>Components of the law</vt:lpstr>
      <vt:lpstr> This week  </vt:lpstr>
      <vt:lpstr>PowerPoint Presentation</vt:lpstr>
      <vt:lpstr> The essence of fiduciary duty  </vt:lpstr>
      <vt:lpstr> The rules  </vt:lpstr>
      <vt:lpstr> The ‘no conflict of interests’ rule  </vt:lpstr>
      <vt:lpstr> The prohibition of self-dealing (with some exceptions)  </vt:lpstr>
      <vt:lpstr> The fair-dealing rule  </vt:lpstr>
      <vt:lpstr>The ‘no unauthorised profit’ rule (I)</vt:lpstr>
      <vt:lpstr>The ‘no unauthorised profit’ rule (II)</vt:lpstr>
      <vt:lpstr>Defences</vt:lpstr>
      <vt:lpstr>Remedies (I)</vt:lpstr>
      <vt:lpstr>Remedies (II)</vt:lpstr>
      <vt:lpstr>Recap</vt:lpstr>
      <vt:lpstr>Revision 1: Certainty of subject matter: Distributional certainty</vt:lpstr>
      <vt:lpstr>Revision 2: Certainty of objects: Administrative unworkability</vt:lpstr>
      <vt:lpstr>Activity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Trusts Law  Week 15: The constitution of trusts  </dc:title>
  <dc:subject/>
  <dc:creator/>
  <cp:keywords/>
  <dc:description/>
  <cp:lastModifiedBy/>
  <cp:revision>120</cp:revision>
  <dcterms:created xsi:type="dcterms:W3CDTF">2017-11-16T21:34:01Z</dcterms:created>
  <dcterms:modified xsi:type="dcterms:W3CDTF">2025-01-20T10:34:49Z</dcterms:modified>
  <cp:category/>
</cp:coreProperties>
</file>