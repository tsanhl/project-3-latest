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Lst>
  <p:notesMasterIdLst>
    <p:notesMasterId r:id="rId22"/>
  </p:notesMasterIdLst>
  <p:sldIdLst>
    <p:sldId id="274" r:id="rId2"/>
    <p:sldId id="332" r:id="rId3"/>
    <p:sldId id="335" r:id="rId4"/>
    <p:sldId id="333" r:id="rId5"/>
    <p:sldId id="299" r:id="rId6"/>
    <p:sldId id="317" r:id="rId7"/>
    <p:sldId id="306" r:id="rId8"/>
    <p:sldId id="307" r:id="rId9"/>
    <p:sldId id="308" r:id="rId10"/>
    <p:sldId id="338" r:id="rId11"/>
    <p:sldId id="309" r:id="rId12"/>
    <p:sldId id="336" r:id="rId13"/>
    <p:sldId id="312" r:id="rId14"/>
    <p:sldId id="314" r:id="rId15"/>
    <p:sldId id="315" r:id="rId16"/>
    <p:sldId id="337" r:id="rId17"/>
    <p:sldId id="316" r:id="rId18"/>
    <p:sldId id="339" r:id="rId19"/>
    <p:sldId id="321" r:id="rId20"/>
    <p:sldId id="313" r:id="rId21"/>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A0EE"/>
    <a:srgbClr val="0003AC"/>
    <a:srgbClr val="FF6303"/>
    <a:srgbClr val="FD45DE"/>
    <a:srgbClr val="FD2BDA"/>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7AC424-CB4B-4CEB-A0A1-76892C66FD4C}" v="1" dt="2024-10-14T15:43:31.3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0"/>
    <p:restoredTop sz="94648"/>
  </p:normalViewPr>
  <p:slideViewPr>
    <p:cSldViewPr>
      <p:cViewPr varScale="1">
        <p:scale>
          <a:sx n="62" d="100"/>
          <a:sy n="62" d="100"/>
        </p:scale>
        <p:origin x="1396"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CDED190-C85A-4EEB-A1EB-1901C56A4C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79" name="Rectangle 3">
            <a:extLst>
              <a:ext uri="{FF2B5EF4-FFF2-40B4-BE49-F238E27FC236}">
                <a16:creationId xmlns:a16="http://schemas.microsoft.com/office/drawing/2014/main" id="{0655F1E0-74A6-4ABE-A74F-C5A8380BFA9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8" charset="0"/>
                <a:ea typeface="+mn-ea"/>
                <a:cs typeface="+mn-cs"/>
              </a:defRPr>
            </a:lvl1pPr>
          </a:lstStyle>
          <a:p>
            <a:pPr>
              <a:defRPr/>
            </a:pPr>
            <a:endParaRPr lang="en-GB"/>
          </a:p>
        </p:txBody>
      </p:sp>
      <p:sp>
        <p:nvSpPr>
          <p:cNvPr id="17412" name="Rectangle 4">
            <a:extLst>
              <a:ext uri="{FF2B5EF4-FFF2-40B4-BE49-F238E27FC236}">
                <a16:creationId xmlns:a16="http://schemas.microsoft.com/office/drawing/2014/main" id="{239D27DB-871C-48E4-B1B8-EB53F7C55BF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a:extLst>
              <a:ext uri="{FF2B5EF4-FFF2-40B4-BE49-F238E27FC236}">
                <a16:creationId xmlns:a16="http://schemas.microsoft.com/office/drawing/2014/main" id="{E7A024B9-B67B-458A-8471-B44168829B2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a:extLst>
              <a:ext uri="{FF2B5EF4-FFF2-40B4-BE49-F238E27FC236}">
                <a16:creationId xmlns:a16="http://schemas.microsoft.com/office/drawing/2014/main" id="{F7524B1E-34EB-45B9-96BD-91AF1A2198C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83" name="Rectangle 7">
            <a:extLst>
              <a:ext uri="{FF2B5EF4-FFF2-40B4-BE49-F238E27FC236}">
                <a16:creationId xmlns:a16="http://schemas.microsoft.com/office/drawing/2014/main" id="{47600296-FB72-4539-B5EE-9B1A8B64E15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6BE7A43-217B-4633-9421-66A68FB7DE85}"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ＭＳ Ｐゴシック" pitchFamily="4"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7D98A70-487B-4728-A9D7-1B803D1B494D}"/>
              </a:ext>
            </a:extLst>
          </p:cNvPr>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pic>
        <p:nvPicPr>
          <p:cNvPr id="5" name="Picture 8">
            <a:extLst>
              <a:ext uri="{FF2B5EF4-FFF2-40B4-BE49-F238E27FC236}">
                <a16:creationId xmlns:a16="http://schemas.microsoft.com/office/drawing/2014/main" id="{98EA87B0-079E-48D1-9973-2B539049372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a:extLst>
              <a:ext uri="{FF2B5EF4-FFF2-40B4-BE49-F238E27FC236}">
                <a16:creationId xmlns:a16="http://schemas.microsoft.com/office/drawing/2014/main" id="{E3B923CC-9860-484D-92F7-4512ABCE3FCC}"/>
              </a:ext>
            </a:extLst>
          </p:cNvPr>
          <p:cNvSpPr>
            <a:spLocks noGrp="1" noChangeArrowheads="1"/>
          </p:cNvSpPr>
          <p:nvPr>
            <p:ph type="sldNum" sz="quarter" idx="10"/>
          </p:nvPr>
        </p:nvSpPr>
        <p:spPr>
          <a:xfrm>
            <a:off x="6553200" y="6245225"/>
            <a:ext cx="2133600" cy="476250"/>
          </a:xfrm>
        </p:spPr>
        <p:txBody>
          <a:bodyPr/>
          <a:lstStyle>
            <a:lvl1pPr>
              <a:defRPr/>
            </a:lvl1pPr>
          </a:lstStyle>
          <a:p>
            <a:fld id="{F2C9F87C-62B5-4E19-8D0E-4A9347E57DAE}" type="slidenum">
              <a:rPr lang="en-GB" altLang="en-US"/>
              <a:pPr/>
              <a:t>‹#›</a:t>
            </a:fld>
            <a:endParaRPr lang="en-GB" altLang="en-US"/>
          </a:p>
        </p:txBody>
      </p:sp>
    </p:spTree>
    <p:extLst>
      <p:ext uri="{BB962C8B-B14F-4D97-AF65-F5344CB8AC3E}">
        <p14:creationId xmlns:p14="http://schemas.microsoft.com/office/powerpoint/2010/main" val="2975712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DB7065B3-DB2A-4897-9CA5-7EF36075B0E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3B703E5-57BF-4F63-89C6-70152B1BF9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CFDEBD90-266A-4F75-88B6-97EA2688182A}"/>
              </a:ext>
            </a:extLst>
          </p:cNvPr>
          <p:cNvSpPr>
            <a:spLocks noGrp="1" noChangeArrowheads="1"/>
          </p:cNvSpPr>
          <p:nvPr>
            <p:ph type="sldNum" sz="quarter" idx="12"/>
          </p:nvPr>
        </p:nvSpPr>
        <p:spPr>
          <a:ln/>
        </p:spPr>
        <p:txBody>
          <a:bodyPr/>
          <a:lstStyle>
            <a:lvl1pPr>
              <a:defRPr/>
            </a:lvl1pPr>
          </a:lstStyle>
          <a:p>
            <a:fld id="{BB7E9F46-5A80-41CD-A534-A8E65DD9D47A}" type="slidenum">
              <a:rPr lang="en-GB" altLang="en-US"/>
              <a:pPr/>
              <a:t>‹#›</a:t>
            </a:fld>
            <a:endParaRPr lang="en-GB" altLang="en-US"/>
          </a:p>
        </p:txBody>
      </p:sp>
    </p:spTree>
    <p:extLst>
      <p:ext uri="{BB962C8B-B14F-4D97-AF65-F5344CB8AC3E}">
        <p14:creationId xmlns:p14="http://schemas.microsoft.com/office/powerpoint/2010/main" val="21367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293B0A0-55A2-4174-8C16-5705870DA32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5EDA575-2CB5-4706-8804-0B9765F17D8A}"/>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6A56BCA-7C9A-401E-9031-1A199137D06A}"/>
              </a:ext>
            </a:extLst>
          </p:cNvPr>
          <p:cNvSpPr>
            <a:spLocks noGrp="1" noChangeArrowheads="1"/>
          </p:cNvSpPr>
          <p:nvPr>
            <p:ph type="sldNum" sz="quarter" idx="12"/>
          </p:nvPr>
        </p:nvSpPr>
        <p:spPr>
          <a:ln/>
        </p:spPr>
        <p:txBody>
          <a:bodyPr/>
          <a:lstStyle>
            <a:lvl1pPr>
              <a:defRPr/>
            </a:lvl1pPr>
          </a:lstStyle>
          <a:p>
            <a:fld id="{0FD05565-90A1-44FD-83CB-0555DC339D65}" type="slidenum">
              <a:rPr lang="en-GB" altLang="en-US"/>
              <a:pPr/>
              <a:t>‹#›</a:t>
            </a:fld>
            <a:endParaRPr lang="en-GB" altLang="en-US"/>
          </a:p>
        </p:txBody>
      </p:sp>
    </p:spTree>
    <p:extLst>
      <p:ext uri="{BB962C8B-B14F-4D97-AF65-F5344CB8AC3E}">
        <p14:creationId xmlns:p14="http://schemas.microsoft.com/office/powerpoint/2010/main" val="101408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3D54FF9E-AC47-44F2-BA73-14ECFE4624E7}"/>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77F90EE-DF76-44D8-8AB3-4FF725DFA25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C49ADFEE-F40A-4A0E-A2CF-1FC66A1F7A42}"/>
              </a:ext>
            </a:extLst>
          </p:cNvPr>
          <p:cNvSpPr>
            <a:spLocks noGrp="1" noChangeArrowheads="1"/>
          </p:cNvSpPr>
          <p:nvPr>
            <p:ph type="sldNum" sz="quarter" idx="12"/>
          </p:nvPr>
        </p:nvSpPr>
        <p:spPr>
          <a:ln/>
        </p:spPr>
        <p:txBody>
          <a:bodyPr/>
          <a:lstStyle>
            <a:lvl1pPr>
              <a:defRPr/>
            </a:lvl1pPr>
          </a:lstStyle>
          <a:p>
            <a:fld id="{70B508F2-CAD7-4FBC-AEA0-C08F5D72C042}" type="slidenum">
              <a:rPr lang="en-GB" altLang="en-US"/>
              <a:pPr/>
              <a:t>‹#›</a:t>
            </a:fld>
            <a:endParaRPr lang="en-GB" altLang="en-US"/>
          </a:p>
        </p:txBody>
      </p:sp>
    </p:spTree>
    <p:extLst>
      <p:ext uri="{BB962C8B-B14F-4D97-AF65-F5344CB8AC3E}">
        <p14:creationId xmlns:p14="http://schemas.microsoft.com/office/powerpoint/2010/main" val="376497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67F481EC-1D4E-4EF3-A091-A25E4A4B8C73}"/>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8138317B-28D9-49D8-A123-A8590135EEE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ACFB1E13-816C-4886-B6B6-5774D9119571}"/>
              </a:ext>
            </a:extLst>
          </p:cNvPr>
          <p:cNvSpPr>
            <a:spLocks noGrp="1" noChangeArrowheads="1"/>
          </p:cNvSpPr>
          <p:nvPr>
            <p:ph type="sldNum" sz="quarter" idx="12"/>
          </p:nvPr>
        </p:nvSpPr>
        <p:spPr>
          <a:ln/>
        </p:spPr>
        <p:txBody>
          <a:bodyPr/>
          <a:lstStyle>
            <a:lvl1pPr>
              <a:defRPr/>
            </a:lvl1pPr>
          </a:lstStyle>
          <a:p>
            <a:fld id="{1C46294A-479E-43D1-A0FB-37ED22F26209}" type="slidenum">
              <a:rPr lang="en-GB" altLang="en-US"/>
              <a:pPr/>
              <a:t>‹#›</a:t>
            </a:fld>
            <a:endParaRPr lang="en-GB" altLang="en-US"/>
          </a:p>
        </p:txBody>
      </p:sp>
    </p:spTree>
    <p:extLst>
      <p:ext uri="{BB962C8B-B14F-4D97-AF65-F5344CB8AC3E}">
        <p14:creationId xmlns:p14="http://schemas.microsoft.com/office/powerpoint/2010/main" val="2741507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368FE45D-97F6-4F23-953B-02AC20E845A8}"/>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1A535A86-3295-47B6-9B35-2EFC223058D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1B1113C9-C330-47A7-9380-221F281D98C5}"/>
              </a:ext>
            </a:extLst>
          </p:cNvPr>
          <p:cNvSpPr>
            <a:spLocks noGrp="1" noChangeArrowheads="1"/>
          </p:cNvSpPr>
          <p:nvPr>
            <p:ph type="sldNum" sz="quarter" idx="12"/>
          </p:nvPr>
        </p:nvSpPr>
        <p:spPr>
          <a:ln/>
        </p:spPr>
        <p:txBody>
          <a:bodyPr/>
          <a:lstStyle>
            <a:lvl1pPr>
              <a:defRPr/>
            </a:lvl1pPr>
          </a:lstStyle>
          <a:p>
            <a:fld id="{A2DCC676-EC22-4CE5-8053-A7C760DF36F0}" type="slidenum">
              <a:rPr lang="en-GB" altLang="en-US"/>
              <a:pPr/>
              <a:t>‹#›</a:t>
            </a:fld>
            <a:endParaRPr lang="en-GB" altLang="en-US"/>
          </a:p>
        </p:txBody>
      </p:sp>
    </p:spTree>
    <p:extLst>
      <p:ext uri="{BB962C8B-B14F-4D97-AF65-F5344CB8AC3E}">
        <p14:creationId xmlns:p14="http://schemas.microsoft.com/office/powerpoint/2010/main" val="182843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103FBB2-013D-451C-8DA1-2B707BC35896}"/>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A3B04C32-17CA-4CD8-8CF6-DC7156B56BE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EBC29EB4-15F1-41B0-AA7B-2C90EC28F550}"/>
              </a:ext>
            </a:extLst>
          </p:cNvPr>
          <p:cNvSpPr>
            <a:spLocks noGrp="1" noChangeArrowheads="1"/>
          </p:cNvSpPr>
          <p:nvPr>
            <p:ph type="sldNum" sz="quarter" idx="12"/>
          </p:nvPr>
        </p:nvSpPr>
        <p:spPr>
          <a:ln/>
        </p:spPr>
        <p:txBody>
          <a:bodyPr/>
          <a:lstStyle>
            <a:lvl1pPr>
              <a:defRPr/>
            </a:lvl1pPr>
          </a:lstStyle>
          <a:p>
            <a:fld id="{45CD5162-D492-4199-BD40-3F82F11DB62D}" type="slidenum">
              <a:rPr lang="en-GB" altLang="en-US"/>
              <a:pPr/>
              <a:t>‹#›</a:t>
            </a:fld>
            <a:endParaRPr lang="en-GB" altLang="en-US"/>
          </a:p>
        </p:txBody>
      </p:sp>
    </p:spTree>
    <p:extLst>
      <p:ext uri="{BB962C8B-B14F-4D97-AF65-F5344CB8AC3E}">
        <p14:creationId xmlns:p14="http://schemas.microsoft.com/office/powerpoint/2010/main" val="347461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80CA933-82E9-4E80-9B91-D0A0079541CD}"/>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E8E16F67-DF47-4F8F-ACE2-03E7F6C22D0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3DD91086-B541-4741-B7F9-48C3BC9D2A72}"/>
              </a:ext>
            </a:extLst>
          </p:cNvPr>
          <p:cNvSpPr>
            <a:spLocks noGrp="1" noChangeArrowheads="1"/>
          </p:cNvSpPr>
          <p:nvPr>
            <p:ph type="sldNum" sz="quarter" idx="12"/>
          </p:nvPr>
        </p:nvSpPr>
        <p:spPr>
          <a:ln/>
        </p:spPr>
        <p:txBody>
          <a:bodyPr/>
          <a:lstStyle>
            <a:lvl1pPr>
              <a:defRPr/>
            </a:lvl1pPr>
          </a:lstStyle>
          <a:p>
            <a:fld id="{49339264-43A1-4303-AE05-A7BCA957273F}" type="slidenum">
              <a:rPr lang="en-GB" altLang="en-US"/>
              <a:pPr/>
              <a:t>‹#›</a:t>
            </a:fld>
            <a:endParaRPr lang="en-GB" altLang="en-US"/>
          </a:p>
        </p:txBody>
      </p:sp>
    </p:spTree>
    <p:extLst>
      <p:ext uri="{BB962C8B-B14F-4D97-AF65-F5344CB8AC3E}">
        <p14:creationId xmlns:p14="http://schemas.microsoft.com/office/powerpoint/2010/main" val="424954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D230F2C-5ED7-48B7-93DF-F98825A2B61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943E55C6-95B7-4F82-8B6E-8FD6F3E5CA7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4B8282B5-5F3F-4E55-AD2D-558D221400D9}"/>
              </a:ext>
            </a:extLst>
          </p:cNvPr>
          <p:cNvSpPr>
            <a:spLocks noGrp="1" noChangeArrowheads="1"/>
          </p:cNvSpPr>
          <p:nvPr>
            <p:ph type="sldNum" sz="quarter" idx="12"/>
          </p:nvPr>
        </p:nvSpPr>
        <p:spPr>
          <a:ln/>
        </p:spPr>
        <p:txBody>
          <a:bodyPr/>
          <a:lstStyle>
            <a:lvl1pPr>
              <a:defRPr/>
            </a:lvl1pPr>
          </a:lstStyle>
          <a:p>
            <a:fld id="{F4BDEBBC-E5CE-4EE4-8A5B-709748107BDA}" type="slidenum">
              <a:rPr lang="en-GB" altLang="en-US"/>
              <a:pPr/>
              <a:t>‹#›</a:t>
            </a:fld>
            <a:endParaRPr lang="en-GB" altLang="en-US"/>
          </a:p>
        </p:txBody>
      </p:sp>
    </p:spTree>
    <p:extLst>
      <p:ext uri="{BB962C8B-B14F-4D97-AF65-F5344CB8AC3E}">
        <p14:creationId xmlns:p14="http://schemas.microsoft.com/office/powerpoint/2010/main" val="1757265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B105543-3961-4D67-865A-BEC847251F4F}"/>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EB2903D0-14E9-44FE-A9B7-39D5B7D48D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3863D1D-A353-4A2F-831D-5B10EAB528AD}"/>
              </a:ext>
            </a:extLst>
          </p:cNvPr>
          <p:cNvSpPr>
            <a:spLocks noGrp="1" noChangeArrowheads="1"/>
          </p:cNvSpPr>
          <p:nvPr>
            <p:ph type="sldNum" sz="quarter" idx="12"/>
          </p:nvPr>
        </p:nvSpPr>
        <p:spPr>
          <a:ln/>
        </p:spPr>
        <p:txBody>
          <a:bodyPr/>
          <a:lstStyle>
            <a:lvl1pPr>
              <a:defRPr/>
            </a:lvl1pPr>
          </a:lstStyle>
          <a:p>
            <a:fld id="{51572E90-9466-4840-B487-A38D40F4D41D}" type="slidenum">
              <a:rPr lang="en-GB" altLang="en-US"/>
              <a:pPr/>
              <a:t>‹#›</a:t>
            </a:fld>
            <a:endParaRPr lang="en-GB" altLang="en-US"/>
          </a:p>
        </p:txBody>
      </p:sp>
    </p:spTree>
    <p:extLst>
      <p:ext uri="{BB962C8B-B14F-4D97-AF65-F5344CB8AC3E}">
        <p14:creationId xmlns:p14="http://schemas.microsoft.com/office/powerpoint/2010/main" val="278462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F58AE52A-C305-4FAD-A6C4-F4EBFF1D2BC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627E335-0FD1-418C-BBD2-50D6A051C34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AA2C1394-F8C2-4BBE-BBFF-77F6BDBD4111}"/>
              </a:ext>
            </a:extLst>
          </p:cNvPr>
          <p:cNvSpPr>
            <a:spLocks noGrp="1" noChangeArrowheads="1"/>
          </p:cNvSpPr>
          <p:nvPr>
            <p:ph type="sldNum" sz="quarter" idx="12"/>
          </p:nvPr>
        </p:nvSpPr>
        <p:spPr>
          <a:ln/>
        </p:spPr>
        <p:txBody>
          <a:bodyPr/>
          <a:lstStyle>
            <a:lvl1pPr>
              <a:defRPr/>
            </a:lvl1pPr>
          </a:lstStyle>
          <a:p>
            <a:fld id="{00805F74-FF9C-49FF-84AE-1D2CF40AF0E9}" type="slidenum">
              <a:rPr lang="en-GB" altLang="en-US"/>
              <a:pPr/>
              <a:t>‹#›</a:t>
            </a:fld>
            <a:endParaRPr lang="en-GB" altLang="en-US"/>
          </a:p>
        </p:txBody>
      </p:sp>
    </p:spTree>
    <p:extLst>
      <p:ext uri="{BB962C8B-B14F-4D97-AF65-F5344CB8AC3E}">
        <p14:creationId xmlns:p14="http://schemas.microsoft.com/office/powerpoint/2010/main" val="258273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840D1B3C-F303-41A2-85A7-69D02950E4BA}"/>
              </a:ext>
            </a:extLst>
          </p:cNvPr>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17064862-FEF8-44F4-A591-A054D05CC556}"/>
              </a:ext>
            </a:extLst>
          </p:cNvPr>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sp>
        <p:nvSpPr>
          <p:cNvPr id="1028" name="Rectangle 2">
            <a:extLst>
              <a:ext uri="{FF2B5EF4-FFF2-40B4-BE49-F238E27FC236}">
                <a16:creationId xmlns:a16="http://schemas.microsoft.com/office/drawing/2014/main" id="{FED3A094-A454-4CEB-A5D7-6CD73EA7F40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25C014C2-F577-4B6F-8960-3E7F9657EBB9}"/>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14101EC0-BD92-47B6-9006-BF1573C4C3CE}"/>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8" charset="0"/>
                <a:ea typeface="+mn-ea"/>
                <a:cs typeface="+mn-cs"/>
              </a:defRPr>
            </a:lvl1pPr>
          </a:lstStyle>
          <a:p>
            <a:pPr>
              <a:defRPr/>
            </a:pPr>
            <a:endParaRPr lang="en-GB"/>
          </a:p>
        </p:txBody>
      </p:sp>
      <p:sp>
        <p:nvSpPr>
          <p:cNvPr id="3" name="Rectangle 5">
            <a:extLst>
              <a:ext uri="{FF2B5EF4-FFF2-40B4-BE49-F238E27FC236}">
                <a16:creationId xmlns:a16="http://schemas.microsoft.com/office/drawing/2014/main" id="{2A729635-DE0C-4E7B-90F9-EA97496CA15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8" charset="0"/>
                <a:ea typeface="+mn-ea"/>
                <a:cs typeface="+mn-cs"/>
              </a:defRPr>
            </a:lvl1pPr>
          </a:lstStyle>
          <a:p>
            <a:pPr>
              <a:defRPr/>
            </a:pPr>
            <a:endParaRPr lang="en-GB"/>
          </a:p>
        </p:txBody>
      </p:sp>
      <p:sp>
        <p:nvSpPr>
          <p:cNvPr id="1030" name="Rectangle 6">
            <a:extLst>
              <a:ext uri="{FF2B5EF4-FFF2-40B4-BE49-F238E27FC236}">
                <a16:creationId xmlns:a16="http://schemas.microsoft.com/office/drawing/2014/main" id="{226281E7-5E9B-435D-9803-C8B033C9796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052F1E3-6BBD-4277-A501-54C6E3B8ED24}" type="slidenum">
              <a:rPr lang="en-GB" altLang="en-US"/>
              <a:pPr/>
              <a:t>‹#›</a:t>
            </a:fld>
            <a:endParaRPr lang="en-GB" altLang="en-US"/>
          </a:p>
        </p:txBody>
      </p:sp>
      <p:sp>
        <p:nvSpPr>
          <p:cNvPr id="1033" name="Rectangle 9">
            <a:extLst>
              <a:ext uri="{FF2B5EF4-FFF2-40B4-BE49-F238E27FC236}">
                <a16:creationId xmlns:a16="http://schemas.microsoft.com/office/drawing/2014/main" id="{0D3AD312-8DA0-4889-BC50-484AA5D556C0}"/>
              </a:ext>
            </a:extLst>
          </p:cNvPr>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a typeface="+mn-ea"/>
            </a:endParaRPr>
          </a:p>
        </p:txBody>
      </p:sp>
      <p:sp>
        <p:nvSpPr>
          <p:cNvPr id="1034" name="Rectangle 10">
            <a:extLst>
              <a:ext uri="{FF2B5EF4-FFF2-40B4-BE49-F238E27FC236}">
                <a16:creationId xmlns:a16="http://schemas.microsoft.com/office/drawing/2014/main" id="{A77EF1F3-FDE3-4C56-8605-EF36FE6477FB}"/>
              </a:ext>
            </a:extLst>
          </p:cNvPr>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a typeface="+mn-ea"/>
            </a:endParaRPr>
          </a:p>
        </p:txBody>
      </p:sp>
      <p:pic>
        <p:nvPicPr>
          <p:cNvPr id="1035" name="Picture 11">
            <a:extLst>
              <a:ext uri="{FF2B5EF4-FFF2-40B4-BE49-F238E27FC236}">
                <a16:creationId xmlns:a16="http://schemas.microsoft.com/office/drawing/2014/main" id="{DF4DC3FC-C296-4567-B7A8-8554D76000F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5"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rtl="0" eaLnBrk="0" fontAlgn="base" hangingPunct="0">
        <a:spcBef>
          <a:spcPct val="0"/>
        </a:spcBef>
        <a:spcAft>
          <a:spcPct val="0"/>
        </a:spcAft>
        <a:defRPr sz="4400">
          <a:solidFill>
            <a:srgbClr val="663366"/>
          </a:solidFill>
          <a:latin typeface="+mj-lt"/>
          <a:ea typeface="ＭＳ Ｐゴシック" pitchFamily="4" charset="-128"/>
          <a:cs typeface="ＭＳ Ｐゴシック" pitchFamily="4" charset="-128"/>
        </a:defRPr>
      </a:lvl1pPr>
      <a:lvl2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2pPr>
      <a:lvl3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3pPr>
      <a:lvl4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4pPr>
      <a:lvl5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hyperlink" Target="https://www.dailymail.co.uk/news/article-10316169/Durham-student-loses-court-battle-aunt-late-mothers-600-000-Kent-home.html"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truetrust.com/Famous_Wills_and_Trusts/Janis_Joplin_Will.pdf" TargetMode="External"/><Relationship Id="rId2" Type="http://schemas.openxmlformats.org/officeDocument/2006/relationships/hyperlink" Target="http://www.janisjoplin.net/life/autopsy/"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6460FE0C-EB8B-4990-BE5E-D40B39613C8E}"/>
              </a:ext>
            </a:extLst>
          </p:cNvPr>
          <p:cNvSpPr>
            <a:spLocks noGrp="1"/>
          </p:cNvSpPr>
          <p:nvPr>
            <p:ph type="ctrTitle" sz="quarter"/>
          </p:nvPr>
        </p:nvSpPr>
        <p:spPr>
          <a:xfrm>
            <a:off x="721519" y="620688"/>
            <a:ext cx="7772400" cy="1470025"/>
          </a:xfrm>
        </p:spPr>
        <p:txBody>
          <a:bodyPr/>
          <a:lstStyle/>
          <a:p>
            <a:br>
              <a:rPr lang="en-US" altLang="en-US" dirty="0">
                <a:ea typeface="ＭＳ Ｐゴシック" panose="020B0600070205080204" pitchFamily="34" charset="-128"/>
              </a:rPr>
            </a:br>
            <a:br>
              <a:rPr lang="en-US" altLang="en-US" dirty="0">
                <a:ea typeface="ＭＳ Ｐゴシック" panose="020B0600070205080204" pitchFamily="34" charset="-128"/>
              </a:rPr>
            </a:br>
            <a:br>
              <a:rPr lang="en-US" altLang="en-US" dirty="0">
                <a:ea typeface="ＭＳ Ｐゴシック" panose="020B0600070205080204" pitchFamily="34" charset="-128"/>
              </a:rPr>
            </a:br>
            <a:r>
              <a:rPr lang="en-US" altLang="en-US" dirty="0">
                <a:latin typeface="+mn-lt"/>
                <a:ea typeface="ＭＳ Ｐゴシック" panose="020B0600070205080204" pitchFamily="34" charset="-128"/>
                <a:cs typeface="Times New Roman" panose="02020603050405020304" pitchFamily="18" charset="0"/>
              </a:rPr>
              <a:t>Trusts Law</a:t>
            </a:r>
            <a:br>
              <a:rPr lang="en-US" altLang="en-US" dirty="0">
                <a:latin typeface="+mn-lt"/>
                <a:ea typeface="ＭＳ Ｐゴシック" panose="020B0600070205080204" pitchFamily="34" charset="-128"/>
                <a:cs typeface="Times New Roman" panose="02020603050405020304" pitchFamily="18" charset="0"/>
              </a:rPr>
            </a:br>
            <a:br>
              <a:rPr lang="en-US" altLang="en-US" dirty="0">
                <a:latin typeface="+mn-lt"/>
                <a:ea typeface="ＭＳ Ｐゴシック" panose="020B0600070205080204" pitchFamily="34" charset="-128"/>
                <a:cs typeface="Times New Roman" panose="02020603050405020304" pitchFamily="18" charset="0"/>
              </a:rPr>
            </a:br>
            <a:r>
              <a:rPr lang="en-US" altLang="en-US" dirty="0">
                <a:latin typeface="+mn-lt"/>
                <a:ea typeface="ＭＳ Ｐゴシック" panose="020B0600070205080204" pitchFamily="34" charset="-128"/>
                <a:cs typeface="Times New Roman" panose="02020603050405020304" pitchFamily="18" charset="0"/>
              </a:rPr>
              <a:t>Week 3: Formalities (I)</a:t>
            </a:r>
            <a:br>
              <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rPr>
            </a:br>
            <a:br>
              <a:rPr lang="en-US" altLang="en-US" sz="3600" dirty="0">
                <a:ea typeface="ＭＳ Ｐゴシック" panose="020B0600070205080204" pitchFamily="34" charset="-128"/>
              </a:rPr>
            </a:br>
            <a:endParaRPr lang="en-GB" altLang="en-US" sz="2800" dirty="0">
              <a:ea typeface="ＭＳ Ｐゴシック" panose="020B0600070205080204" pitchFamily="34" charset="-128"/>
            </a:endParaRPr>
          </a:p>
        </p:txBody>
      </p:sp>
      <p:sp>
        <p:nvSpPr>
          <p:cNvPr id="3075" name="Subtitle 2">
            <a:extLst>
              <a:ext uri="{FF2B5EF4-FFF2-40B4-BE49-F238E27FC236}">
                <a16:creationId xmlns:a16="http://schemas.microsoft.com/office/drawing/2014/main" id="{7FFE0D80-7360-4E4C-99B0-DA887E96E9AA}"/>
              </a:ext>
            </a:extLst>
          </p:cNvPr>
          <p:cNvSpPr>
            <a:spLocks noGrp="1"/>
          </p:cNvSpPr>
          <p:nvPr>
            <p:ph type="subTitle" sz="quarter" idx="1"/>
          </p:nvPr>
        </p:nvSpPr>
        <p:spPr>
          <a:xfrm>
            <a:off x="751547" y="3284984"/>
            <a:ext cx="7561262" cy="1223963"/>
          </a:xfrm>
        </p:spPr>
        <p:txBody>
          <a:bodyPr/>
          <a:lstStyle/>
          <a:p>
            <a:pPr eaLnBrk="1" hangingPunct="1">
              <a:lnSpc>
                <a:spcPct val="110000"/>
              </a:lnSpc>
              <a:spcBef>
                <a:spcPct val="0"/>
              </a:spcBef>
            </a:pPr>
            <a:endParaRPr lang="en-GB" altLang="en-US" b="0" dirty="0">
              <a:latin typeface="Calibri" panose="020F0502020204030204" pitchFamily="34" charset="0"/>
              <a:ea typeface="ＭＳ Ｐゴシック" panose="020B0600070205080204" pitchFamily="34" charset="-128"/>
            </a:endParaRPr>
          </a:p>
          <a:p>
            <a:pPr eaLnBrk="1" hangingPunct="1">
              <a:lnSpc>
                <a:spcPct val="110000"/>
              </a:lnSpc>
              <a:spcBef>
                <a:spcPct val="0"/>
              </a:spcBef>
            </a:pPr>
            <a:r>
              <a:rPr lang="en-GB" altLang="en-US" b="0" dirty="0">
                <a:ea typeface="ＭＳ Ｐゴシック" panose="020B0600070205080204" pitchFamily="34" charset="-128"/>
              </a:rPr>
              <a:t>Dr Johanna Jacques</a:t>
            </a:r>
          </a:p>
          <a:p>
            <a:pPr eaLnBrk="1" hangingPunct="1">
              <a:lnSpc>
                <a:spcPct val="110000"/>
              </a:lnSpc>
              <a:spcBef>
                <a:spcPct val="0"/>
              </a:spcBef>
            </a:pPr>
            <a:endParaRPr lang="en-GB" altLang="en-US" b="0" dirty="0">
              <a:ea typeface="ＭＳ Ｐゴシック" panose="020B0600070205080204" pitchFamily="34" charset="-128"/>
            </a:endParaRPr>
          </a:p>
          <a:p>
            <a:pPr eaLnBrk="1" hangingPunct="1"/>
            <a:endParaRPr lang="en-GB"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685800" y="609600"/>
            <a:ext cx="7772400" cy="1143000"/>
          </a:xfrm>
        </p:spPr>
        <p:txBody>
          <a:bodyPr wrap="square" anchor="ctr">
            <a:normAutofit/>
          </a:bodyPr>
          <a:lstStyle/>
          <a:p>
            <a:pPr>
              <a:lnSpc>
                <a:spcPct val="90000"/>
              </a:lnSpc>
            </a:pPr>
            <a:br>
              <a:rPr lang="en-US" altLang="en-US" sz="1800" dirty="0"/>
            </a:br>
            <a:r>
              <a:rPr lang="en-US" altLang="en-US" dirty="0">
                <a:latin typeface="+mn-lt"/>
              </a:rPr>
              <a:t>Settlors as trustees and beneficiaries</a:t>
            </a:r>
            <a:br>
              <a:rPr lang="en-US" altLang="en-US" sz="1800" dirty="0"/>
            </a:br>
            <a:br>
              <a:rPr lang="en-US" altLang="en-US" sz="1800" i="1" dirty="0"/>
            </a:br>
            <a:endParaRPr lang="en-US" altLang="en-US" sz="1800" dirty="0"/>
          </a:p>
        </p:txBody>
      </p:sp>
      <p:sp>
        <p:nvSpPr>
          <p:cNvPr id="4103" name="Content Placeholder 2">
            <a:extLst>
              <a:ext uri="{FF2B5EF4-FFF2-40B4-BE49-F238E27FC236}">
                <a16:creationId xmlns:a16="http://schemas.microsoft.com/office/drawing/2014/main" id="{C70D2D21-60F2-6AD3-F937-DADED19B4B34}"/>
              </a:ext>
            </a:extLst>
          </p:cNvPr>
          <p:cNvSpPr>
            <a:spLocks noGrp="1"/>
          </p:cNvSpPr>
          <p:nvPr>
            <p:ph sz="half" idx="1"/>
          </p:nvPr>
        </p:nvSpPr>
        <p:spPr>
          <a:xfrm>
            <a:off x="684212" y="1989138"/>
            <a:ext cx="4247827" cy="3816350"/>
          </a:xfrm>
          <a:ln w="28575">
            <a:solidFill>
              <a:srgbClr val="00B050"/>
            </a:solidFill>
          </a:ln>
        </p:spPr>
        <p:txBody>
          <a:bodyPr/>
          <a:lstStyle/>
          <a:p>
            <a:r>
              <a:rPr lang="en-US" dirty="0"/>
              <a:t>Yes</a:t>
            </a:r>
          </a:p>
          <a:p>
            <a:pPr marL="457200" indent="-457200">
              <a:buFont typeface="Arial" panose="020B0604020202020204" pitchFamily="34" charset="0"/>
              <a:buChar char="•"/>
            </a:pPr>
            <a:r>
              <a:rPr lang="en-US" sz="1800" dirty="0"/>
              <a:t>Settlor X transfers property to trustee Y, to hold on trust for Y and Z.</a:t>
            </a:r>
          </a:p>
          <a:p>
            <a:pPr marL="457200" indent="-457200">
              <a:buFont typeface="Arial" panose="020B0604020202020204" pitchFamily="34" charset="0"/>
              <a:buChar char="•"/>
            </a:pPr>
            <a:r>
              <a:rPr lang="en-US" sz="1800" dirty="0"/>
              <a:t>Settlor X transfers property to trustee Y, to hold on on trust for X.</a:t>
            </a:r>
          </a:p>
          <a:p>
            <a:pPr marL="457200" indent="-457200">
              <a:buFont typeface="Arial" panose="020B0604020202020204" pitchFamily="34" charset="0"/>
              <a:buChar char="•"/>
            </a:pPr>
            <a:r>
              <a:rPr lang="en-US" sz="1800" dirty="0"/>
              <a:t>Settlor X declares herself trustee of property, to hold on trust for Z.</a:t>
            </a:r>
          </a:p>
          <a:p>
            <a:pPr marL="457200" indent="-457200">
              <a:buFont typeface="Arial" panose="020B0604020202020204" pitchFamily="34" charset="0"/>
              <a:buChar char="•"/>
            </a:pPr>
            <a:r>
              <a:rPr lang="en-US" sz="1800" dirty="0"/>
              <a:t>Settlor X declares herself trustee of property, to hold on trust for X and Z.</a:t>
            </a:r>
          </a:p>
        </p:txBody>
      </p:sp>
      <p:sp>
        <p:nvSpPr>
          <p:cNvPr id="4105" name="Content Placeholder 3">
            <a:extLst>
              <a:ext uri="{FF2B5EF4-FFF2-40B4-BE49-F238E27FC236}">
                <a16:creationId xmlns:a16="http://schemas.microsoft.com/office/drawing/2014/main" id="{DDC3F3D6-FFF8-4721-519E-BE7F24BD9183}"/>
              </a:ext>
            </a:extLst>
          </p:cNvPr>
          <p:cNvSpPr>
            <a:spLocks noGrp="1"/>
          </p:cNvSpPr>
          <p:nvPr>
            <p:ph sz="half" idx="2"/>
          </p:nvPr>
        </p:nvSpPr>
        <p:spPr>
          <a:xfrm>
            <a:off x="5148064" y="2007962"/>
            <a:ext cx="3096344" cy="3816350"/>
          </a:xfrm>
          <a:noFill/>
          <a:ln w="28575">
            <a:solidFill>
              <a:srgbClr val="FF6303"/>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No</a:t>
            </a:r>
          </a:p>
          <a:p>
            <a:pPr marL="457200" indent="-457200">
              <a:buFont typeface="Arial" panose="020B0604020202020204" pitchFamily="34" charset="0"/>
              <a:buChar char="•"/>
            </a:pPr>
            <a:r>
              <a:rPr lang="en-US" sz="1800" dirty="0"/>
              <a:t>Settlor X declares herself trustee of property, to hold on trust for X. </a:t>
            </a:r>
          </a:p>
        </p:txBody>
      </p:sp>
    </p:spTree>
    <p:extLst>
      <p:ext uri="{BB962C8B-B14F-4D97-AF65-F5344CB8AC3E}">
        <p14:creationId xmlns:p14="http://schemas.microsoft.com/office/powerpoint/2010/main" val="95730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C0F77-12EA-997C-11B2-59E180C02BA9}"/>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F6A14B16-07FD-7F11-4DC7-D3A07BD1B36D}"/>
              </a:ext>
            </a:extLst>
          </p:cNvPr>
          <p:cNvSpPr>
            <a:spLocks noGrp="1"/>
          </p:cNvSpPr>
          <p:nvPr>
            <p:ph type="title"/>
          </p:nvPr>
        </p:nvSpPr>
        <p:spPr>
          <a:xfrm>
            <a:off x="685800" y="609600"/>
            <a:ext cx="7772400" cy="1143000"/>
          </a:xfrm>
        </p:spPr>
        <p:txBody>
          <a:bodyPr wrap="square" anchor="ctr">
            <a:normAutofit/>
          </a:bodyPr>
          <a:lstStyle/>
          <a:p>
            <a:pPr>
              <a:lnSpc>
                <a:spcPct val="90000"/>
              </a:lnSpc>
            </a:pPr>
            <a:br>
              <a:rPr lang="en-US" altLang="en-US" sz="1800" dirty="0"/>
            </a:br>
            <a:r>
              <a:rPr lang="en-US" altLang="en-US" dirty="0">
                <a:latin typeface="+mn-lt"/>
              </a:rPr>
              <a:t>Terminology: Equitable and beneficial interests</a:t>
            </a:r>
            <a:br>
              <a:rPr lang="en-US" altLang="en-US" sz="1800" dirty="0"/>
            </a:br>
            <a:br>
              <a:rPr lang="en-US" altLang="en-US" sz="1800" i="1" dirty="0"/>
            </a:br>
            <a:endParaRPr lang="en-US" altLang="en-US" sz="1800" dirty="0"/>
          </a:p>
        </p:txBody>
      </p:sp>
      <p:sp>
        <p:nvSpPr>
          <p:cNvPr id="4103" name="Content Placeholder 2">
            <a:extLst>
              <a:ext uri="{FF2B5EF4-FFF2-40B4-BE49-F238E27FC236}">
                <a16:creationId xmlns:a16="http://schemas.microsoft.com/office/drawing/2014/main" id="{F1E52202-307C-88D2-0386-FF7CAF0F6DB6}"/>
              </a:ext>
            </a:extLst>
          </p:cNvPr>
          <p:cNvSpPr>
            <a:spLocks noGrp="1"/>
          </p:cNvSpPr>
          <p:nvPr>
            <p:ph sz="half" idx="1"/>
          </p:nvPr>
        </p:nvSpPr>
        <p:spPr>
          <a:xfrm>
            <a:off x="685800" y="1916832"/>
            <a:ext cx="7344172" cy="2087934"/>
          </a:xfrm>
        </p:spPr>
        <p:txBody>
          <a:bodyPr wrap="square" anchor="t">
            <a:noAutofit/>
          </a:bodyPr>
          <a:lstStyle/>
          <a:p>
            <a:pPr marL="457200" indent="-457200">
              <a:lnSpc>
                <a:spcPct val="90000"/>
              </a:lnSpc>
              <a:buFont typeface="Arial" panose="020B0604020202020204" pitchFamily="34" charset="0"/>
              <a:buChar char="•"/>
            </a:pPr>
            <a:r>
              <a:rPr lang="en-US" sz="1800" dirty="0"/>
              <a:t>In this course, we often use the terms ‘equitable interest’ and ‘beneficial interest’ interchangeably.</a:t>
            </a:r>
          </a:p>
          <a:p>
            <a:pPr marL="457200" indent="-457200">
              <a:lnSpc>
                <a:spcPct val="90000"/>
              </a:lnSpc>
              <a:buFont typeface="Arial" panose="020B0604020202020204" pitchFamily="34" charset="0"/>
              <a:buChar char="•"/>
            </a:pPr>
            <a:r>
              <a:rPr lang="en-US" sz="1800" dirty="0"/>
              <a:t>This is because when we are concerned with equitable interests, we are chiefly concerned with equitable </a:t>
            </a:r>
            <a:r>
              <a:rPr lang="en-US" sz="1800" b="1" dirty="0"/>
              <a:t>beneficial</a:t>
            </a:r>
            <a:r>
              <a:rPr lang="en-US" sz="1800" dirty="0"/>
              <a:t> interests under a trust (there are other equitable interests).</a:t>
            </a:r>
          </a:p>
          <a:p>
            <a:pPr marL="457200" indent="-457200">
              <a:lnSpc>
                <a:spcPct val="90000"/>
              </a:lnSpc>
              <a:buFont typeface="Arial" panose="020B0604020202020204" pitchFamily="34" charset="0"/>
              <a:buChar char="•"/>
            </a:pPr>
            <a:r>
              <a:rPr lang="en-US" sz="1800" dirty="0"/>
              <a:t>And when we are concerned with beneficial interests, we are chiefly concerned with </a:t>
            </a:r>
            <a:r>
              <a:rPr lang="en-US" sz="1800" b="1" dirty="0"/>
              <a:t>equitable</a:t>
            </a:r>
            <a:r>
              <a:rPr lang="en-US" sz="1800" dirty="0"/>
              <a:t> beneficial interests (strictly speaking, an absolute owner also holds a beneficial interest – the </a:t>
            </a:r>
            <a:r>
              <a:rPr lang="en-US" sz="1800" b="1" dirty="0"/>
              <a:t>legal</a:t>
            </a:r>
            <a:r>
              <a:rPr lang="en-US" sz="1800" dirty="0"/>
              <a:t> beneficial interest).</a:t>
            </a:r>
          </a:p>
        </p:txBody>
      </p:sp>
      <p:pic>
        <p:nvPicPr>
          <p:cNvPr id="1026" name="Picture 2" descr="Lumoonosity Lightning Bolt Neon Signs ...">
            <a:extLst>
              <a:ext uri="{FF2B5EF4-FFF2-40B4-BE49-F238E27FC236}">
                <a16:creationId xmlns:a16="http://schemas.microsoft.com/office/drawing/2014/main" id="{98B86EE7-997D-4D14-41FB-ADB9DDD1900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73966" y="4446240"/>
            <a:ext cx="1244650" cy="1244650"/>
          </a:xfrm>
          <a:prstGeom prst="rect">
            <a:avLst/>
          </a:prstGeom>
          <a:solidFill>
            <a:srgbClr val="FFFFFF"/>
          </a:solidFill>
        </p:spPr>
      </p:pic>
      <p:sp>
        <p:nvSpPr>
          <p:cNvPr id="3" name="Content Placeholder 2">
            <a:extLst>
              <a:ext uri="{FF2B5EF4-FFF2-40B4-BE49-F238E27FC236}">
                <a16:creationId xmlns:a16="http://schemas.microsoft.com/office/drawing/2014/main" id="{8999498B-F5FC-19B0-F2A3-D2511465F657}"/>
              </a:ext>
            </a:extLst>
          </p:cNvPr>
          <p:cNvSpPr txBox="1">
            <a:spLocks/>
          </p:cNvSpPr>
          <p:nvPr/>
        </p:nvSpPr>
        <p:spPr bwMode="auto">
          <a:xfrm>
            <a:off x="2518616" y="4365104"/>
            <a:ext cx="5184576" cy="12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20000"/>
              </a:spcBef>
              <a:spcAft>
                <a:spcPct val="0"/>
              </a:spcAft>
              <a:defRPr sz="2800">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8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8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800">
                <a:solidFill>
                  <a:schemeClr val="tx1"/>
                </a:solidFill>
                <a:latin typeface="+mn-lt"/>
              </a:defRPr>
            </a:lvl6pPr>
            <a:lvl7pPr marL="2971800" indent="-228600" algn="l" rtl="0" fontAlgn="base">
              <a:spcBef>
                <a:spcPct val="20000"/>
              </a:spcBef>
              <a:spcAft>
                <a:spcPct val="0"/>
              </a:spcAft>
              <a:buChar char="»"/>
              <a:defRPr sz="1800">
                <a:solidFill>
                  <a:schemeClr val="tx1"/>
                </a:solidFill>
                <a:latin typeface="+mn-lt"/>
              </a:defRPr>
            </a:lvl7pPr>
            <a:lvl8pPr marL="3429000" indent="-228600" algn="l" rtl="0" fontAlgn="base">
              <a:spcBef>
                <a:spcPct val="20000"/>
              </a:spcBef>
              <a:spcAft>
                <a:spcPct val="0"/>
              </a:spcAft>
              <a:buChar char="»"/>
              <a:defRPr sz="1800">
                <a:solidFill>
                  <a:schemeClr val="tx1"/>
                </a:solidFill>
                <a:latin typeface="+mn-lt"/>
              </a:defRPr>
            </a:lvl8pPr>
            <a:lvl9pPr marL="3886200" indent="-228600" algn="l" rtl="0" fontAlgn="base">
              <a:spcBef>
                <a:spcPct val="20000"/>
              </a:spcBef>
              <a:spcAft>
                <a:spcPct val="0"/>
              </a:spcAft>
              <a:buChar char="»"/>
              <a:defRPr sz="1800">
                <a:solidFill>
                  <a:schemeClr val="tx1"/>
                </a:solidFill>
                <a:latin typeface="+mn-lt"/>
              </a:defRPr>
            </a:lvl9pPr>
          </a:lstStyle>
          <a:p>
            <a:pPr marL="0" indent="0">
              <a:lnSpc>
                <a:spcPct val="90000"/>
              </a:lnSpc>
            </a:pPr>
            <a:r>
              <a:rPr lang="en-US" sz="1800" b="1" kern="0" dirty="0">
                <a:solidFill>
                  <a:srgbClr val="0003AC"/>
                </a:solidFill>
              </a:rPr>
              <a:t>This is all very confusing. Here is what you need to know: </a:t>
            </a:r>
            <a:r>
              <a:rPr lang="en-US" sz="1800" kern="0" dirty="0"/>
              <a:t>Absolute owners do not hold an equitable beneficial interest for themselves, in addition to the legal interest. They simply hold no equitable beneficial interest at all. As soon as the equitable interest is split off and attaches to someone else, the absolute owner becomes a trustee.</a:t>
            </a:r>
          </a:p>
        </p:txBody>
      </p:sp>
    </p:spTree>
    <p:extLst>
      <p:ext uri="{BB962C8B-B14F-4D97-AF65-F5344CB8AC3E}">
        <p14:creationId xmlns:p14="http://schemas.microsoft.com/office/powerpoint/2010/main" val="2878021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C7C18-099A-A30A-298F-971D01145FF6}"/>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4D095DFE-72E4-FF50-EC86-44C6E1BA9F72}"/>
              </a:ext>
            </a:extLst>
          </p:cNvPr>
          <p:cNvSpPr>
            <a:spLocks noGrp="1"/>
          </p:cNvSpPr>
          <p:nvPr>
            <p:ph type="title"/>
          </p:nvPr>
        </p:nvSpPr>
        <p:spPr>
          <a:xfrm>
            <a:off x="683568" y="760165"/>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Perhaps the most important feature of the trust</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2" name="Rectangle 1">
            <a:extLst>
              <a:ext uri="{FF2B5EF4-FFF2-40B4-BE49-F238E27FC236}">
                <a16:creationId xmlns:a16="http://schemas.microsoft.com/office/drawing/2014/main" id="{DA3718E7-3A4B-624D-F2D7-D26CB7715F80}"/>
              </a:ext>
            </a:extLst>
          </p:cNvPr>
          <p:cNvSpPr/>
          <p:nvPr/>
        </p:nvSpPr>
        <p:spPr bwMode="auto">
          <a:xfrm>
            <a:off x="2026730" y="2297301"/>
            <a:ext cx="2880320" cy="115212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GB" sz="1800" b="1" dirty="0">
                <a:solidFill>
                  <a:schemeClr val="bg1"/>
                </a:solidFill>
                <a:latin typeface="+mn-lt"/>
              </a:rPr>
              <a:t>£30: </a:t>
            </a:r>
          </a:p>
          <a:p>
            <a:pPr marL="342900" marR="0" indent="-34290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GB" sz="1800" b="1" dirty="0">
                <a:solidFill>
                  <a:schemeClr val="bg1"/>
                </a:solidFill>
                <a:latin typeface="+mn-lt"/>
              </a:rPr>
              <a:t>Owns £20 outright</a:t>
            </a:r>
          </a:p>
          <a:p>
            <a:pPr marL="342900" marR="0" indent="-34290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GB" sz="1800" b="1" dirty="0">
                <a:solidFill>
                  <a:schemeClr val="bg1"/>
                </a:solidFill>
                <a:latin typeface="+mn-lt"/>
              </a:rPr>
              <a:t> </a:t>
            </a:r>
            <a:r>
              <a:rPr lang="en-GB" sz="1800" b="1" dirty="0">
                <a:solidFill>
                  <a:srgbClr val="FF0000"/>
                </a:solidFill>
                <a:latin typeface="+mn-lt"/>
              </a:rPr>
              <a:t>T</a:t>
            </a:r>
            <a:r>
              <a:rPr kumimoji="0" lang="en-GB" sz="1800" b="1" i="0" u="none" strike="noStrike" cap="none" normalizeH="0" baseline="0" dirty="0">
                <a:ln>
                  <a:noFill/>
                </a:ln>
                <a:solidFill>
                  <a:srgbClr val="FF0000"/>
                </a:solidFill>
                <a:effectLst/>
                <a:latin typeface="+mn-lt"/>
              </a:rPr>
              <a:t>rustee of £10</a:t>
            </a:r>
          </a:p>
        </p:txBody>
      </p:sp>
      <p:sp>
        <p:nvSpPr>
          <p:cNvPr id="3" name="Smiley Face 2">
            <a:extLst>
              <a:ext uri="{FF2B5EF4-FFF2-40B4-BE49-F238E27FC236}">
                <a16:creationId xmlns:a16="http://schemas.microsoft.com/office/drawing/2014/main" id="{38BBAD4E-6EBB-5B47-F72E-BAFA24EFD489}"/>
              </a:ext>
            </a:extLst>
          </p:cNvPr>
          <p:cNvSpPr/>
          <p:nvPr/>
        </p:nvSpPr>
        <p:spPr bwMode="auto">
          <a:xfrm>
            <a:off x="2014002" y="4538652"/>
            <a:ext cx="576064" cy="576064"/>
          </a:xfrm>
          <a:prstGeom prst="smileyFace">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
        <p:nvSpPr>
          <p:cNvPr id="6" name="Smiley Face 5">
            <a:extLst>
              <a:ext uri="{FF2B5EF4-FFF2-40B4-BE49-F238E27FC236}">
                <a16:creationId xmlns:a16="http://schemas.microsoft.com/office/drawing/2014/main" id="{0CD6746E-24D4-D1C7-BF52-15D274987C75}"/>
              </a:ext>
            </a:extLst>
          </p:cNvPr>
          <p:cNvSpPr/>
          <p:nvPr/>
        </p:nvSpPr>
        <p:spPr bwMode="auto">
          <a:xfrm>
            <a:off x="3172494" y="4538652"/>
            <a:ext cx="576064" cy="576064"/>
          </a:xfrm>
          <a:prstGeom prst="smileyFace">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
        <p:nvSpPr>
          <p:cNvPr id="7" name="Smiley Face 6">
            <a:extLst>
              <a:ext uri="{FF2B5EF4-FFF2-40B4-BE49-F238E27FC236}">
                <a16:creationId xmlns:a16="http://schemas.microsoft.com/office/drawing/2014/main" id="{3770C693-FE7B-3786-7719-C076565518BF}"/>
              </a:ext>
            </a:extLst>
          </p:cNvPr>
          <p:cNvSpPr/>
          <p:nvPr/>
        </p:nvSpPr>
        <p:spPr bwMode="auto">
          <a:xfrm>
            <a:off x="4330986" y="4538652"/>
            <a:ext cx="576064" cy="576064"/>
          </a:xfrm>
          <a:prstGeom prst="smileyFace">
            <a:avLst/>
          </a:prstGeom>
          <a:solidFill>
            <a:srgbClr val="FEA0EE"/>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cxnSp>
        <p:nvCxnSpPr>
          <p:cNvPr id="5" name="Straight Arrow Connector 4">
            <a:extLst>
              <a:ext uri="{FF2B5EF4-FFF2-40B4-BE49-F238E27FC236}">
                <a16:creationId xmlns:a16="http://schemas.microsoft.com/office/drawing/2014/main" id="{5F924FA9-2E03-9E90-B98B-A2806BA08005}"/>
              </a:ext>
            </a:extLst>
          </p:cNvPr>
          <p:cNvCxnSpPr/>
          <p:nvPr/>
        </p:nvCxnSpPr>
        <p:spPr bwMode="auto">
          <a:xfrm flipV="1">
            <a:off x="2302034" y="3593445"/>
            <a:ext cx="0" cy="7200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C15DEFB7-BE89-742A-52C1-CE8A121DD348}"/>
              </a:ext>
            </a:extLst>
          </p:cNvPr>
          <p:cNvCxnSpPr/>
          <p:nvPr/>
        </p:nvCxnSpPr>
        <p:spPr bwMode="auto">
          <a:xfrm flipV="1">
            <a:off x="3429069" y="3576101"/>
            <a:ext cx="0" cy="7200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79860716-89D8-59C6-7F70-B9A08B8A74EA}"/>
              </a:ext>
            </a:extLst>
          </p:cNvPr>
          <p:cNvCxnSpPr/>
          <p:nvPr/>
        </p:nvCxnSpPr>
        <p:spPr bwMode="auto">
          <a:xfrm flipV="1">
            <a:off x="4608004" y="3593445"/>
            <a:ext cx="0" cy="7200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 name="Rectangle 7">
            <a:extLst>
              <a:ext uri="{FF2B5EF4-FFF2-40B4-BE49-F238E27FC236}">
                <a16:creationId xmlns:a16="http://schemas.microsoft.com/office/drawing/2014/main" id="{8A216D81-C402-DF4F-FCC2-2CBDB8027A8E}"/>
              </a:ext>
            </a:extLst>
          </p:cNvPr>
          <p:cNvSpPr/>
          <p:nvPr/>
        </p:nvSpPr>
        <p:spPr bwMode="auto">
          <a:xfrm>
            <a:off x="4619018" y="3864133"/>
            <a:ext cx="914076"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mn-lt"/>
              </a:rPr>
              <a:t>£10</a:t>
            </a:r>
          </a:p>
        </p:txBody>
      </p:sp>
      <p:sp>
        <p:nvSpPr>
          <p:cNvPr id="13" name="Rectangle 12">
            <a:extLst>
              <a:ext uri="{FF2B5EF4-FFF2-40B4-BE49-F238E27FC236}">
                <a16:creationId xmlns:a16="http://schemas.microsoft.com/office/drawing/2014/main" id="{EFC4A363-E538-0E99-4B25-6D9096D9FE4D}"/>
              </a:ext>
            </a:extLst>
          </p:cNvPr>
          <p:cNvSpPr/>
          <p:nvPr/>
        </p:nvSpPr>
        <p:spPr bwMode="auto">
          <a:xfrm>
            <a:off x="3492505" y="3847803"/>
            <a:ext cx="914076"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mn-lt"/>
              </a:rPr>
              <a:t>£10</a:t>
            </a:r>
          </a:p>
        </p:txBody>
      </p:sp>
      <p:sp>
        <p:nvSpPr>
          <p:cNvPr id="14" name="Rectangle 13">
            <a:extLst>
              <a:ext uri="{FF2B5EF4-FFF2-40B4-BE49-F238E27FC236}">
                <a16:creationId xmlns:a16="http://schemas.microsoft.com/office/drawing/2014/main" id="{2D07B8EC-2B70-0E2C-6B72-01AF62F3256F}"/>
              </a:ext>
            </a:extLst>
          </p:cNvPr>
          <p:cNvSpPr/>
          <p:nvPr/>
        </p:nvSpPr>
        <p:spPr bwMode="auto">
          <a:xfrm>
            <a:off x="2365471" y="3864133"/>
            <a:ext cx="914076"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mn-lt"/>
              </a:rPr>
              <a:t>£10 of goods</a:t>
            </a:r>
          </a:p>
        </p:txBody>
      </p:sp>
      <p:sp>
        <p:nvSpPr>
          <p:cNvPr id="15" name="Rectangle 14">
            <a:extLst>
              <a:ext uri="{FF2B5EF4-FFF2-40B4-BE49-F238E27FC236}">
                <a16:creationId xmlns:a16="http://schemas.microsoft.com/office/drawing/2014/main" id="{8BB0E0F1-6E5A-D299-E85F-2A2D65FCD860}"/>
              </a:ext>
            </a:extLst>
          </p:cNvPr>
          <p:cNvSpPr/>
          <p:nvPr/>
        </p:nvSpPr>
        <p:spPr bwMode="auto">
          <a:xfrm>
            <a:off x="1844996" y="5384276"/>
            <a:ext cx="914076"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GB" sz="1400" dirty="0">
                <a:latin typeface="+mn-lt"/>
              </a:rPr>
              <a:t>Supplier (Credit)</a:t>
            </a:r>
            <a:endParaRPr kumimoji="0" lang="en-GB" sz="1400" b="0" i="0" u="none" strike="noStrike" cap="none" normalizeH="0" baseline="0" dirty="0">
              <a:ln>
                <a:noFill/>
              </a:ln>
              <a:solidFill>
                <a:schemeClr val="tx1"/>
              </a:solidFill>
              <a:effectLst/>
              <a:latin typeface="+mn-lt"/>
            </a:endParaRPr>
          </a:p>
        </p:txBody>
      </p:sp>
      <p:sp>
        <p:nvSpPr>
          <p:cNvPr id="16" name="Rectangle 15">
            <a:extLst>
              <a:ext uri="{FF2B5EF4-FFF2-40B4-BE49-F238E27FC236}">
                <a16:creationId xmlns:a16="http://schemas.microsoft.com/office/drawing/2014/main" id="{5CF18997-5EF3-29FA-FE70-FE07A60DD397}"/>
              </a:ext>
            </a:extLst>
          </p:cNvPr>
          <p:cNvSpPr/>
          <p:nvPr/>
        </p:nvSpPr>
        <p:spPr bwMode="auto">
          <a:xfrm>
            <a:off x="2876157" y="5384276"/>
            <a:ext cx="1232696"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GB" sz="1400" dirty="0">
                <a:latin typeface="+mn-lt"/>
              </a:rPr>
              <a:t>Lender</a:t>
            </a:r>
          </a:p>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mn-lt"/>
              </a:rPr>
              <a:t>(Unsecured</a:t>
            </a:r>
            <a:r>
              <a:rPr kumimoji="0" lang="en-GB" sz="1400" b="0" i="0" u="none" strike="noStrike" cap="none" normalizeH="0" dirty="0">
                <a:ln>
                  <a:noFill/>
                </a:ln>
                <a:solidFill>
                  <a:schemeClr val="tx1"/>
                </a:solidFill>
                <a:effectLst/>
                <a:latin typeface="+mn-lt"/>
              </a:rPr>
              <a:t> loan)</a:t>
            </a:r>
            <a:endParaRPr kumimoji="0" lang="en-GB" sz="1400" b="0" i="0" u="none" strike="noStrike" cap="none" normalizeH="0" baseline="0" dirty="0">
              <a:ln>
                <a:noFill/>
              </a:ln>
              <a:solidFill>
                <a:schemeClr val="tx1"/>
              </a:solidFill>
              <a:effectLst/>
              <a:latin typeface="+mn-lt"/>
            </a:endParaRPr>
          </a:p>
        </p:txBody>
      </p:sp>
      <p:sp>
        <p:nvSpPr>
          <p:cNvPr id="17" name="Rectangle 16">
            <a:extLst>
              <a:ext uri="{FF2B5EF4-FFF2-40B4-BE49-F238E27FC236}">
                <a16:creationId xmlns:a16="http://schemas.microsoft.com/office/drawing/2014/main" id="{795D1181-852E-9814-B0C6-E04C6B7EEF8D}"/>
              </a:ext>
            </a:extLst>
          </p:cNvPr>
          <p:cNvSpPr/>
          <p:nvPr/>
        </p:nvSpPr>
        <p:spPr bwMode="auto">
          <a:xfrm>
            <a:off x="4163448" y="5376242"/>
            <a:ext cx="1008112"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a:ln>
                  <a:noFill/>
                </a:ln>
                <a:solidFill>
                  <a:schemeClr val="tx1"/>
                </a:solidFill>
                <a:effectLst/>
                <a:latin typeface="+mn-lt"/>
              </a:rPr>
              <a:t>Customer</a:t>
            </a:r>
          </a:p>
          <a:p>
            <a:pPr marL="0" marR="0" indent="0" algn="ctr" defTabSz="914400" rtl="0" eaLnBrk="0" fontAlgn="base" latinLnBrk="0" hangingPunct="0">
              <a:lnSpc>
                <a:spcPct val="100000"/>
              </a:lnSpc>
              <a:spcBef>
                <a:spcPct val="0"/>
              </a:spcBef>
              <a:spcAft>
                <a:spcPct val="0"/>
              </a:spcAft>
              <a:buClrTx/>
              <a:buSzTx/>
              <a:buFontTx/>
              <a:buNone/>
              <a:tabLst/>
            </a:pPr>
            <a:r>
              <a:rPr lang="en-GB" sz="1400" dirty="0">
                <a:solidFill>
                  <a:srgbClr val="FF0000"/>
                </a:solidFill>
                <a:latin typeface="+mn-lt"/>
              </a:rPr>
              <a:t>(Trust)</a:t>
            </a:r>
            <a:endParaRPr kumimoji="0" lang="en-GB" sz="1400" b="0" i="0" u="none" strike="noStrike" cap="none" normalizeH="0" baseline="0" dirty="0">
              <a:ln>
                <a:noFill/>
              </a:ln>
              <a:solidFill>
                <a:srgbClr val="FF0000"/>
              </a:solidFill>
              <a:effectLst/>
              <a:latin typeface="+mn-lt"/>
            </a:endParaRPr>
          </a:p>
        </p:txBody>
      </p:sp>
      <p:sp>
        <p:nvSpPr>
          <p:cNvPr id="19" name="Rectangle 18">
            <a:extLst>
              <a:ext uri="{FF2B5EF4-FFF2-40B4-BE49-F238E27FC236}">
                <a16:creationId xmlns:a16="http://schemas.microsoft.com/office/drawing/2014/main" id="{EDED1680-20D3-BB37-9D52-6DD1D17BD600}"/>
              </a:ext>
            </a:extLst>
          </p:cNvPr>
          <p:cNvSpPr/>
          <p:nvPr/>
        </p:nvSpPr>
        <p:spPr bwMode="auto">
          <a:xfrm>
            <a:off x="5364088" y="2297301"/>
            <a:ext cx="2880320" cy="115212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GB" sz="1800" b="1" dirty="0">
                <a:solidFill>
                  <a:schemeClr val="bg1"/>
                </a:solidFill>
                <a:latin typeface="+mn-lt"/>
              </a:rPr>
              <a:t>Insolvent:</a:t>
            </a:r>
          </a:p>
          <a:p>
            <a:pPr algn="ctr"/>
            <a:r>
              <a:rPr lang="en-GB" sz="1800" b="1" dirty="0">
                <a:solidFill>
                  <a:schemeClr val="bg1"/>
                </a:solidFill>
                <a:latin typeface="+mn-lt"/>
              </a:rPr>
              <a:t> Only £10 left</a:t>
            </a:r>
          </a:p>
        </p:txBody>
      </p:sp>
      <p:cxnSp>
        <p:nvCxnSpPr>
          <p:cNvPr id="22" name="Straight Connector 21">
            <a:extLst>
              <a:ext uri="{FF2B5EF4-FFF2-40B4-BE49-F238E27FC236}">
                <a16:creationId xmlns:a16="http://schemas.microsoft.com/office/drawing/2014/main" id="{ABFD3AEF-FB52-CA4C-6EFB-4C5E2BFD8B8F}"/>
              </a:ext>
            </a:extLst>
          </p:cNvPr>
          <p:cNvCxnSpPr>
            <a:cxnSpLocks/>
          </p:cNvCxnSpPr>
          <p:nvPr/>
        </p:nvCxnSpPr>
        <p:spPr bwMode="auto">
          <a:xfrm flipV="1">
            <a:off x="5171560" y="3593445"/>
            <a:ext cx="862524" cy="1049109"/>
          </a:xfrm>
          <a:prstGeom prst="line">
            <a:avLst/>
          </a:prstGeom>
          <a:solidFill>
            <a:schemeClr val="accent1"/>
          </a:solidFill>
          <a:ln w="28575" cap="flat" cmpd="sng" algn="ctr">
            <a:solidFill>
              <a:srgbClr val="FF0000"/>
            </a:solidFill>
            <a:prstDash val="solid"/>
            <a:round/>
            <a:headEnd type="none" w="med" len="med"/>
            <a:tailEnd type="triangle" w="med" len="med"/>
          </a:ln>
          <a:effectLst/>
        </p:spPr>
      </p:cxnSp>
      <p:sp>
        <p:nvSpPr>
          <p:cNvPr id="26" name="Rectangle 25">
            <a:extLst>
              <a:ext uri="{FF2B5EF4-FFF2-40B4-BE49-F238E27FC236}">
                <a16:creationId xmlns:a16="http://schemas.microsoft.com/office/drawing/2014/main" id="{A192DB9A-2291-7294-A9D4-A66E0C71FBA7}"/>
              </a:ext>
            </a:extLst>
          </p:cNvPr>
          <p:cNvSpPr/>
          <p:nvPr/>
        </p:nvSpPr>
        <p:spPr bwMode="auto">
          <a:xfrm>
            <a:off x="5771402" y="4080157"/>
            <a:ext cx="1178936" cy="562397"/>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GB" sz="1400" b="1" dirty="0">
                <a:solidFill>
                  <a:srgbClr val="FF0000"/>
                </a:solidFill>
                <a:latin typeface="+mn-lt"/>
              </a:rPr>
              <a:t>Proprietary right</a:t>
            </a:r>
            <a:endParaRPr kumimoji="0" lang="en-GB" sz="1400" b="1" i="0" u="none" strike="noStrike" cap="none" normalizeH="0" baseline="0" dirty="0">
              <a:ln>
                <a:noFill/>
              </a:ln>
              <a:solidFill>
                <a:srgbClr val="FF0000"/>
              </a:solidFill>
              <a:effectLst/>
              <a:latin typeface="+mn-lt"/>
            </a:endParaRPr>
          </a:p>
        </p:txBody>
      </p:sp>
      <p:cxnSp>
        <p:nvCxnSpPr>
          <p:cNvPr id="4" name="Straight Arrow Connector 3">
            <a:extLst>
              <a:ext uri="{FF2B5EF4-FFF2-40B4-BE49-F238E27FC236}">
                <a16:creationId xmlns:a16="http://schemas.microsoft.com/office/drawing/2014/main" id="{9437D9CA-D5F1-3C17-E862-78727E34176C}"/>
              </a:ext>
            </a:extLst>
          </p:cNvPr>
          <p:cNvCxnSpPr/>
          <p:nvPr/>
        </p:nvCxnSpPr>
        <p:spPr bwMode="auto">
          <a:xfrm>
            <a:off x="4907050" y="2873365"/>
            <a:ext cx="4570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Rectangle 8">
            <a:extLst>
              <a:ext uri="{FF2B5EF4-FFF2-40B4-BE49-F238E27FC236}">
                <a16:creationId xmlns:a16="http://schemas.microsoft.com/office/drawing/2014/main" id="{31414081-0CA8-E487-4A58-BFFBDAF50A73}"/>
              </a:ext>
            </a:extLst>
          </p:cNvPr>
          <p:cNvSpPr/>
          <p:nvPr/>
        </p:nvSpPr>
        <p:spPr bwMode="auto">
          <a:xfrm>
            <a:off x="2745699" y="1855376"/>
            <a:ext cx="1429654" cy="3690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mn-lt"/>
              </a:rPr>
              <a:t>Company</a:t>
            </a:r>
            <a:endParaRPr kumimoji="0" lang="en-GB" sz="1600" i="0" u="none" strike="noStrike" cap="none" normalizeH="0" baseline="0" dirty="0">
              <a:ln>
                <a:noFill/>
              </a:ln>
              <a:solidFill>
                <a:srgbClr val="FF0000"/>
              </a:solidFill>
              <a:effectLst/>
              <a:latin typeface="+mn-lt"/>
            </a:endParaRPr>
          </a:p>
        </p:txBody>
      </p:sp>
      <p:sp>
        <p:nvSpPr>
          <p:cNvPr id="12" name="Rectangle 11">
            <a:extLst>
              <a:ext uri="{FF2B5EF4-FFF2-40B4-BE49-F238E27FC236}">
                <a16:creationId xmlns:a16="http://schemas.microsoft.com/office/drawing/2014/main" id="{DA73A1E3-A974-9628-24F6-01582BF023B9}"/>
              </a:ext>
            </a:extLst>
          </p:cNvPr>
          <p:cNvSpPr/>
          <p:nvPr/>
        </p:nvSpPr>
        <p:spPr bwMode="auto">
          <a:xfrm>
            <a:off x="6089421" y="1869435"/>
            <a:ext cx="1429654" cy="3690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mn-lt"/>
              </a:rPr>
              <a:t>Company</a:t>
            </a:r>
            <a:endParaRPr kumimoji="0" lang="en-GB" sz="1600" i="0" u="none" strike="noStrike" cap="none" normalizeH="0" baseline="0" dirty="0">
              <a:ln>
                <a:noFill/>
              </a:ln>
              <a:solidFill>
                <a:srgbClr val="FF0000"/>
              </a:solidFill>
              <a:effectLst/>
              <a:latin typeface="+mn-lt"/>
            </a:endParaRPr>
          </a:p>
        </p:txBody>
      </p:sp>
    </p:spTree>
    <p:extLst>
      <p:ext uri="{BB962C8B-B14F-4D97-AF65-F5344CB8AC3E}">
        <p14:creationId xmlns:p14="http://schemas.microsoft.com/office/powerpoint/2010/main" val="361945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6"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FA42874-E943-4685-8EB4-D6ACA20462EE}"/>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78BCE45D-2AE0-4FA7-94FF-64451A2F8CB5}"/>
              </a:ext>
            </a:extLst>
          </p:cNvPr>
          <p:cNvSpPr>
            <a:spLocks noGrp="1"/>
          </p:cNvSpPr>
          <p:nvPr>
            <p:ph idx="1"/>
          </p:nvPr>
        </p:nvSpPr>
        <p:spPr>
          <a:xfrm>
            <a:off x="609600" y="1981200"/>
            <a:ext cx="7772400" cy="3895725"/>
          </a:xfrm>
        </p:spPr>
        <p:txBody>
          <a:bodyPr/>
          <a:lstStyle/>
          <a:p>
            <a:pPr marL="0" indent="0">
              <a:defRPr/>
            </a:pPr>
            <a:r>
              <a:rPr lang="en-US" altLang="en-US" sz="2400" b="1" kern="1200" dirty="0">
                <a:latin typeface="Arial" panose="020B0604020202020204" pitchFamily="34" charset="0"/>
                <a:cs typeface="Arial" panose="020B0604020202020204" pitchFamily="34" charset="0"/>
              </a:rPr>
              <a:t>This week:</a:t>
            </a:r>
          </a:p>
          <a:p>
            <a:pPr>
              <a:buFontTx/>
              <a:buChar char="•"/>
              <a:defRPr/>
            </a:pPr>
            <a:r>
              <a:rPr lang="en-US" altLang="en-US" sz="2400" kern="1200" dirty="0">
                <a:cs typeface="+mn-cs"/>
              </a:rPr>
              <a:t>The formalities that are necessary to create express </a:t>
            </a:r>
            <a:r>
              <a:rPr lang="en-US" altLang="en-US" sz="2400" i="1" kern="1200" dirty="0">
                <a:cs typeface="+mn-cs"/>
              </a:rPr>
              <a:t>inter </a:t>
            </a:r>
            <a:r>
              <a:rPr lang="en-US" altLang="en-US" sz="2400" i="1" kern="1200" dirty="0" err="1">
                <a:cs typeface="+mn-cs"/>
              </a:rPr>
              <a:t>vivos</a:t>
            </a:r>
            <a:r>
              <a:rPr lang="en-US" altLang="en-US" sz="2400" i="1" kern="1200" dirty="0">
                <a:cs typeface="+mn-cs"/>
              </a:rPr>
              <a:t> </a:t>
            </a:r>
            <a:r>
              <a:rPr lang="en-US" altLang="en-US" sz="2400" kern="1200" dirty="0">
                <a:cs typeface="+mn-cs"/>
              </a:rPr>
              <a:t>and testamentary trusts </a:t>
            </a:r>
          </a:p>
          <a:p>
            <a:pPr>
              <a:buFontTx/>
              <a:buChar char="•"/>
              <a:defRPr/>
            </a:pPr>
            <a:r>
              <a:rPr lang="en-US" altLang="en-US" sz="2400" kern="1200" dirty="0">
                <a:cs typeface="+mn-cs"/>
              </a:rPr>
              <a:t>Some examples of the operation of equitable maxims</a:t>
            </a:r>
            <a:endParaRPr lang="en-US" altLang="en-US" sz="2200" kern="1200" dirty="0">
              <a:cs typeface="+mn-cs"/>
            </a:endParaRPr>
          </a:p>
          <a:p>
            <a:pPr>
              <a:buFontTx/>
              <a:buChar char="•"/>
              <a:defRPr/>
            </a:pPr>
            <a:r>
              <a:rPr lang="en-US" altLang="en-US" sz="2400" kern="1200" dirty="0">
                <a:cs typeface="+mn-cs"/>
              </a:rPr>
              <a:t>Secret trusts as an exception to the formality requirements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5DDF-2080-94AF-A905-F79D1B9244A3}"/>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560D5D8E-42C2-AE43-FAB5-B76A2EB2B644}"/>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Learning objectives 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2" name="Content Placeholder 3">
            <a:extLst>
              <a:ext uri="{FF2B5EF4-FFF2-40B4-BE49-F238E27FC236}">
                <a16:creationId xmlns:a16="http://schemas.microsoft.com/office/drawing/2014/main" id="{2B0CF119-7040-B999-D319-E7E1E2892D10}"/>
              </a:ext>
            </a:extLst>
          </p:cNvPr>
          <p:cNvSpPr txBox="1">
            <a:spLocks/>
          </p:cNvSpPr>
          <p:nvPr/>
        </p:nvSpPr>
        <p:spPr bwMode="auto">
          <a:xfrm>
            <a:off x="1493658" y="2240868"/>
            <a:ext cx="2862318" cy="1512168"/>
          </a:xfrm>
          <a:prstGeom prst="roundRect">
            <a:avLst/>
          </a:prstGeom>
          <a:solidFill>
            <a:srgbClr val="FFC000"/>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lvl1pPr marL="342900" indent="-342900" algn="l" rtl="0" eaLnBrk="0" fontAlgn="base" hangingPunct="0">
              <a:spcBef>
                <a:spcPct val="20000"/>
              </a:spcBef>
              <a:spcAft>
                <a:spcPct val="0"/>
              </a:spcAft>
              <a:defRPr>
                <a:solidFill>
                  <a:schemeClr val="lt1"/>
                </a:solidFill>
                <a:latin typeface="+mn-lt"/>
                <a:ea typeface="+mn-ea"/>
                <a:cs typeface="+mn-cs"/>
              </a:defRPr>
            </a:lvl1pPr>
            <a:lvl2pPr marL="742950" indent="-285750" algn="l" rtl="0" eaLnBrk="0" fontAlgn="base" hangingPunct="0">
              <a:spcBef>
                <a:spcPct val="20000"/>
              </a:spcBef>
              <a:spcAft>
                <a:spcPct val="0"/>
              </a:spcAft>
              <a:buChar char="–"/>
              <a:defRPr sz="1600">
                <a:solidFill>
                  <a:schemeClr val="lt1"/>
                </a:solidFill>
                <a:latin typeface="+mn-lt"/>
                <a:ea typeface="+mn-ea"/>
                <a:cs typeface="+mn-cs"/>
              </a:defRPr>
            </a:lvl2pPr>
            <a:lvl3pPr marL="1143000" indent="-228600" algn="l" rtl="0" eaLnBrk="0" fontAlgn="base" hangingPunct="0">
              <a:spcBef>
                <a:spcPct val="20000"/>
              </a:spcBef>
              <a:spcAft>
                <a:spcPct val="0"/>
              </a:spcAft>
              <a:buChar char="•"/>
              <a:defRPr sz="1400">
                <a:solidFill>
                  <a:schemeClr val="lt1"/>
                </a:solidFill>
                <a:latin typeface="+mn-lt"/>
                <a:ea typeface="+mn-ea"/>
                <a:cs typeface="+mn-cs"/>
              </a:defRPr>
            </a:lvl3pPr>
            <a:lvl4pPr marL="1600200" indent="-228600" algn="l" rtl="0" eaLnBrk="0" fontAlgn="base" hangingPunct="0">
              <a:spcBef>
                <a:spcPct val="20000"/>
              </a:spcBef>
              <a:spcAft>
                <a:spcPct val="0"/>
              </a:spcAft>
              <a:buChar char="–"/>
              <a:defRPr sz="1200">
                <a:solidFill>
                  <a:schemeClr val="lt1"/>
                </a:solidFill>
                <a:latin typeface="+mn-lt"/>
                <a:ea typeface="+mn-ea"/>
                <a:cs typeface="+mn-cs"/>
              </a:defRPr>
            </a:lvl4pPr>
            <a:lvl5pPr marL="2057400" indent="-228600" algn="l" rtl="0" eaLnBrk="0" fontAlgn="base" hangingPunct="0">
              <a:spcBef>
                <a:spcPct val="20000"/>
              </a:spcBef>
              <a:spcAft>
                <a:spcPct val="0"/>
              </a:spcAft>
              <a:buChar char="»"/>
              <a:defRPr sz="1200">
                <a:solidFill>
                  <a:schemeClr val="lt1"/>
                </a:solidFill>
                <a:latin typeface="+mn-lt"/>
                <a:ea typeface="+mn-ea"/>
                <a:cs typeface="+mn-cs"/>
              </a:defRPr>
            </a:lvl5pPr>
            <a:lvl6pPr marL="2514600" indent="-228600" algn="l" rtl="0" fontAlgn="base">
              <a:spcBef>
                <a:spcPct val="20000"/>
              </a:spcBef>
              <a:spcAft>
                <a:spcPct val="0"/>
              </a:spcAft>
              <a:buChar char="»"/>
              <a:defRPr sz="1200">
                <a:solidFill>
                  <a:schemeClr val="lt1"/>
                </a:solidFill>
                <a:latin typeface="+mn-lt"/>
                <a:ea typeface="+mn-ea"/>
                <a:cs typeface="+mn-cs"/>
              </a:defRPr>
            </a:lvl6pPr>
            <a:lvl7pPr marL="2971800" indent="-228600" algn="l" rtl="0" fontAlgn="base">
              <a:spcBef>
                <a:spcPct val="20000"/>
              </a:spcBef>
              <a:spcAft>
                <a:spcPct val="0"/>
              </a:spcAft>
              <a:buChar char="»"/>
              <a:defRPr sz="1200">
                <a:solidFill>
                  <a:schemeClr val="lt1"/>
                </a:solidFill>
                <a:latin typeface="+mn-lt"/>
                <a:ea typeface="+mn-ea"/>
                <a:cs typeface="+mn-cs"/>
              </a:defRPr>
            </a:lvl7pPr>
            <a:lvl8pPr marL="3429000" indent="-228600" algn="l" rtl="0" fontAlgn="base">
              <a:spcBef>
                <a:spcPct val="20000"/>
              </a:spcBef>
              <a:spcAft>
                <a:spcPct val="0"/>
              </a:spcAft>
              <a:buChar char="»"/>
              <a:defRPr sz="1200">
                <a:solidFill>
                  <a:schemeClr val="lt1"/>
                </a:solidFill>
                <a:latin typeface="+mn-lt"/>
                <a:ea typeface="+mn-ea"/>
                <a:cs typeface="+mn-cs"/>
              </a:defRPr>
            </a:lvl8pPr>
            <a:lvl9pPr marL="3886200" indent="-228600" algn="l" rtl="0" fontAlgn="base">
              <a:spcBef>
                <a:spcPct val="20000"/>
              </a:spcBef>
              <a:spcAft>
                <a:spcPct val="0"/>
              </a:spcAft>
              <a:buChar char="»"/>
              <a:defRPr sz="1200">
                <a:solidFill>
                  <a:schemeClr val="lt1"/>
                </a:solidFill>
                <a:latin typeface="+mn-lt"/>
                <a:ea typeface="+mn-ea"/>
                <a:cs typeface="+mn-cs"/>
              </a:defRPr>
            </a:lvl9pPr>
          </a:lstStyle>
          <a:p>
            <a:pPr algn="ctr"/>
            <a:r>
              <a:rPr lang="en-GB" sz="1800" b="1" kern="0" dirty="0">
                <a:ea typeface="+mn-lt"/>
                <a:cs typeface="+mn-lt"/>
              </a:rPr>
              <a:t>To confidently know how to create a trust</a:t>
            </a:r>
            <a:r>
              <a:rPr lang="en-GB" sz="1800" b="1" kern="0" dirty="0">
                <a:solidFill>
                  <a:srgbClr val="FF0000"/>
                </a:solidFill>
                <a:ea typeface="+mn-lt"/>
                <a:cs typeface="+mn-lt"/>
              </a:rPr>
              <a:t>*</a:t>
            </a:r>
          </a:p>
        </p:txBody>
      </p:sp>
      <p:sp>
        <p:nvSpPr>
          <p:cNvPr id="3" name="Rounded Rectangle 2">
            <a:extLst>
              <a:ext uri="{FF2B5EF4-FFF2-40B4-BE49-F238E27FC236}">
                <a16:creationId xmlns:a16="http://schemas.microsoft.com/office/drawing/2014/main" id="{0698507E-85BF-B6C4-0581-759A37D7DB16}"/>
              </a:ext>
            </a:extLst>
          </p:cNvPr>
          <p:cNvSpPr/>
          <p:nvPr/>
        </p:nvSpPr>
        <p:spPr>
          <a:xfrm>
            <a:off x="4516767" y="2240869"/>
            <a:ext cx="2968694" cy="1501991"/>
          </a:xfrm>
          <a:prstGeom prst="roundRect">
            <a:avLst/>
          </a:prstGeom>
          <a:solidFill>
            <a:srgbClr val="0070C0"/>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lIns="68580" tIns="34290" rIns="68580" bIns="34290" rtlCol="0" anchor="ctr"/>
          <a:lstStyle/>
          <a:p>
            <a:pPr algn="ctr"/>
            <a:r>
              <a:rPr lang="en-GB" sz="1800" b="1" dirty="0">
                <a:ea typeface="+mn-lt"/>
                <a:cs typeface="+mn-lt"/>
              </a:rPr>
              <a:t>To understand that there is some flexibility around the requirements</a:t>
            </a:r>
          </a:p>
        </p:txBody>
      </p:sp>
      <p:sp>
        <p:nvSpPr>
          <p:cNvPr id="4" name="Rounded Rectangle 3">
            <a:extLst>
              <a:ext uri="{FF2B5EF4-FFF2-40B4-BE49-F238E27FC236}">
                <a16:creationId xmlns:a16="http://schemas.microsoft.com/office/drawing/2014/main" id="{7ACD18CB-E0F5-8535-65C7-C261966942D2}"/>
              </a:ext>
            </a:extLst>
          </p:cNvPr>
          <p:cNvSpPr/>
          <p:nvPr/>
        </p:nvSpPr>
        <p:spPr>
          <a:xfrm>
            <a:off x="2943253" y="4023067"/>
            <a:ext cx="2968694" cy="1501175"/>
          </a:xfrm>
          <a:prstGeom prst="roundRect">
            <a:avLst/>
          </a:prstGeom>
          <a:solidFill>
            <a:srgbClr val="A2A945"/>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lIns="68580" tIns="34290" rIns="68580" bIns="34290" rtlCol="0" anchor="ctr"/>
          <a:lstStyle/>
          <a:p>
            <a:pPr algn="ctr"/>
            <a:r>
              <a:rPr lang="en-GB" sz="1800" b="1" dirty="0"/>
              <a:t>To know the difference between secret and half-secret trusts</a:t>
            </a:r>
          </a:p>
        </p:txBody>
      </p:sp>
      <p:sp>
        <p:nvSpPr>
          <p:cNvPr id="6" name="TextBox 5">
            <a:extLst>
              <a:ext uri="{FF2B5EF4-FFF2-40B4-BE49-F238E27FC236}">
                <a16:creationId xmlns:a16="http://schemas.microsoft.com/office/drawing/2014/main" id="{8883F17B-1895-D3D6-1EF0-1A50A57EADF9}"/>
              </a:ext>
            </a:extLst>
          </p:cNvPr>
          <p:cNvSpPr txBox="1"/>
          <p:nvPr/>
        </p:nvSpPr>
        <p:spPr>
          <a:xfrm>
            <a:off x="693844" y="3905353"/>
            <a:ext cx="2005948" cy="1815882"/>
          </a:xfrm>
          <a:prstGeom prst="rect">
            <a:avLst/>
          </a:prstGeom>
          <a:noFill/>
        </p:spPr>
        <p:txBody>
          <a:bodyPr wrap="square" rtlCol="0">
            <a:spAutoFit/>
          </a:bodyPr>
          <a:lstStyle/>
          <a:p>
            <a:r>
              <a:rPr lang="en-US" sz="1600" dirty="0">
                <a:solidFill>
                  <a:srgbClr val="FF0000"/>
                </a:solidFill>
                <a:latin typeface="Arial" panose="020B0604020202020204" pitchFamily="34" charset="0"/>
                <a:cs typeface="Arial" panose="020B0604020202020204" pitchFamily="34" charset="0"/>
              </a:rPr>
              <a:t>*in the most general sense – most trusts need a trust instrument, which should not be drawn up without legal advice</a:t>
            </a:r>
          </a:p>
        </p:txBody>
      </p:sp>
    </p:spTree>
    <p:extLst>
      <p:ext uri="{BB962C8B-B14F-4D97-AF65-F5344CB8AC3E}">
        <p14:creationId xmlns:p14="http://schemas.microsoft.com/office/powerpoint/2010/main" val="425629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7BAB3FDC-9F6B-4C2C-9741-01E200F9AA05}"/>
              </a:ext>
            </a:extLst>
          </p:cNvPr>
          <p:cNvSpPr>
            <a:spLocks noGrp="1"/>
          </p:cNvSpPr>
          <p:nvPr>
            <p:ph type="title"/>
          </p:nvPr>
        </p:nvSpPr>
        <p:spPr>
          <a:xfrm>
            <a:off x="685800" y="609599"/>
            <a:ext cx="7772400" cy="1248697"/>
          </a:xfrm>
        </p:spPr>
        <p:txBody>
          <a:bodyPr/>
          <a:lstStyle/>
          <a:p>
            <a:r>
              <a:rPr lang="en-GB" altLang="en-US" dirty="0">
                <a:latin typeface="+mn-lt"/>
                <a:ea typeface="ＭＳ Ｐゴシック" panose="020B0600070205080204" pitchFamily="34" charset="-128"/>
              </a:rPr>
              <a:t>Requirements for an express trust</a:t>
            </a:r>
          </a:p>
        </p:txBody>
      </p:sp>
      <p:sp>
        <p:nvSpPr>
          <p:cNvPr id="16387" name="Content Placeholder 2">
            <a:extLst>
              <a:ext uri="{FF2B5EF4-FFF2-40B4-BE49-F238E27FC236}">
                <a16:creationId xmlns:a16="http://schemas.microsoft.com/office/drawing/2014/main" id="{FE2CB8D0-C036-4C21-AECA-9ED188088B3E}"/>
              </a:ext>
            </a:extLst>
          </p:cNvPr>
          <p:cNvSpPr txBox="1">
            <a:spLocks/>
          </p:cNvSpPr>
          <p:nvPr/>
        </p:nvSpPr>
        <p:spPr bwMode="auto">
          <a:xfrm>
            <a:off x="609600" y="2204864"/>
            <a:ext cx="7491413" cy="3168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marL="0" indent="0">
              <a:spcBef>
                <a:spcPct val="20000"/>
              </a:spcBef>
              <a:defRPr/>
            </a:pPr>
            <a:r>
              <a:rPr lang="en-US" altLang="en-US" b="1" dirty="0">
                <a:latin typeface="+mn-lt"/>
              </a:rPr>
              <a:t>The types of trust:</a:t>
            </a:r>
          </a:p>
          <a:p>
            <a:pPr marL="457200" indent="-457200">
              <a:spcBef>
                <a:spcPct val="20000"/>
              </a:spcBef>
              <a:buFont typeface="+mj-lt"/>
              <a:buAutoNum type="arabicParenR"/>
              <a:defRPr/>
            </a:pPr>
            <a:r>
              <a:rPr lang="en-US" altLang="en-US" dirty="0">
                <a:latin typeface="+mn-lt"/>
              </a:rPr>
              <a:t>Express trusts</a:t>
            </a:r>
          </a:p>
          <a:p>
            <a:pPr marL="457200" indent="-457200">
              <a:spcBef>
                <a:spcPct val="20000"/>
              </a:spcBef>
              <a:buFont typeface="+mj-lt"/>
              <a:buAutoNum type="arabicParenR"/>
              <a:defRPr/>
            </a:pPr>
            <a:r>
              <a:rPr lang="en-US" altLang="en-US" dirty="0">
                <a:latin typeface="+mn-lt"/>
              </a:rPr>
              <a:t>Implied trusts</a:t>
            </a:r>
          </a:p>
          <a:p>
            <a:pPr marL="0" indent="0">
              <a:spcBef>
                <a:spcPct val="20000"/>
              </a:spcBef>
              <a:defRPr/>
            </a:pPr>
            <a:r>
              <a:rPr lang="en-US" altLang="en-US" sz="2000" dirty="0">
                <a:latin typeface="+mn-lt"/>
              </a:rPr>
              <a:t>    - Resulting trusts</a:t>
            </a:r>
          </a:p>
          <a:p>
            <a:pPr marL="0" indent="0">
              <a:spcBef>
                <a:spcPct val="20000"/>
              </a:spcBef>
              <a:defRPr/>
            </a:pPr>
            <a:r>
              <a:rPr lang="en-US" altLang="en-US" sz="2000" dirty="0">
                <a:latin typeface="+mn-lt"/>
              </a:rPr>
              <a:t>    - Constructive trusts</a:t>
            </a:r>
          </a:p>
          <a:p>
            <a:pPr>
              <a:spcBef>
                <a:spcPct val="20000"/>
              </a:spcBef>
              <a:defRPr/>
            </a:pPr>
            <a:endParaRPr lang="en-US" altLang="en-US" dirty="0">
              <a:latin typeface="Calibri" pitchFamily="4" charset="0"/>
            </a:endParaRPr>
          </a:p>
          <a:p>
            <a:pPr>
              <a:spcBef>
                <a:spcPct val="20000"/>
              </a:spcBef>
              <a:defRPr/>
            </a:pPr>
            <a:endParaRPr lang="en-US" altLang="en-US" dirty="0">
              <a:latin typeface="Arial" charset="0"/>
            </a:endParaRPr>
          </a:p>
        </p:txBody>
      </p:sp>
      <p:sp>
        <p:nvSpPr>
          <p:cNvPr id="2" name="Rectangle 1">
            <a:extLst>
              <a:ext uri="{FF2B5EF4-FFF2-40B4-BE49-F238E27FC236}">
                <a16:creationId xmlns:a16="http://schemas.microsoft.com/office/drawing/2014/main" id="{EC2500C0-56DD-4CC6-BFB5-930E716F5DAF}"/>
              </a:ext>
            </a:extLst>
          </p:cNvPr>
          <p:cNvSpPr/>
          <p:nvPr/>
        </p:nvSpPr>
        <p:spPr bwMode="auto">
          <a:xfrm>
            <a:off x="3784105" y="2204864"/>
            <a:ext cx="4750295" cy="4043537"/>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a:lstStyle/>
          <a:p>
            <a:pPr>
              <a:spcBef>
                <a:spcPct val="20000"/>
              </a:spcBef>
              <a:defRPr/>
            </a:pPr>
            <a:r>
              <a:rPr lang="en-US" altLang="en-US" b="1" dirty="0">
                <a:solidFill>
                  <a:schemeClr val="bg1"/>
                </a:solidFill>
                <a:latin typeface="+mn-lt"/>
                <a:ea typeface="ＭＳ Ｐゴシック" pitchFamily="4" charset="-128"/>
              </a:rPr>
              <a:t>Requirements:</a:t>
            </a:r>
          </a:p>
          <a:p>
            <a:pPr marL="342900" indent="-342900">
              <a:spcBef>
                <a:spcPct val="20000"/>
              </a:spcBef>
              <a:buFont typeface="Arial" panose="020B0604020202020204" pitchFamily="34" charset="0"/>
              <a:buChar char="•"/>
              <a:defRPr/>
            </a:pPr>
            <a:r>
              <a:rPr lang="en-US" altLang="en-US" dirty="0">
                <a:solidFill>
                  <a:schemeClr val="bg1"/>
                </a:solidFill>
                <a:latin typeface="+mn-lt"/>
                <a:ea typeface="ＭＳ Ｐゴシック" pitchFamily="4" charset="-128"/>
              </a:rPr>
              <a:t>Capacity</a:t>
            </a:r>
          </a:p>
          <a:p>
            <a:pPr marL="342900" indent="-342900">
              <a:spcBef>
                <a:spcPct val="20000"/>
              </a:spcBef>
              <a:buFont typeface="Arial" panose="020B0604020202020204" pitchFamily="34" charset="0"/>
              <a:buChar char="•"/>
              <a:defRPr/>
            </a:pPr>
            <a:r>
              <a:rPr lang="en-US" altLang="en-US" dirty="0">
                <a:solidFill>
                  <a:srgbClr val="FF0000"/>
                </a:solidFill>
                <a:latin typeface="+mn-lt"/>
                <a:ea typeface="ＭＳ Ｐゴシック" pitchFamily="4" charset="-128"/>
              </a:rPr>
              <a:t>Formalities for creation</a:t>
            </a:r>
          </a:p>
          <a:p>
            <a:pPr marL="342900" indent="-342900">
              <a:spcBef>
                <a:spcPct val="20000"/>
              </a:spcBef>
              <a:buFont typeface="Arial" panose="020B0604020202020204" pitchFamily="34" charset="0"/>
              <a:buChar char="•"/>
              <a:defRPr/>
            </a:pPr>
            <a:r>
              <a:rPr lang="en-US" altLang="en-US" dirty="0">
                <a:solidFill>
                  <a:schemeClr val="bg1"/>
                </a:solidFill>
                <a:latin typeface="+mn-lt"/>
                <a:ea typeface="ＭＳ Ｐゴシック" pitchFamily="4" charset="-128"/>
              </a:rPr>
              <a:t>Public policy</a:t>
            </a:r>
          </a:p>
          <a:p>
            <a:pPr marL="342900" indent="-342900">
              <a:spcBef>
                <a:spcPct val="20000"/>
              </a:spcBef>
              <a:buFont typeface="Arial" panose="020B0604020202020204" pitchFamily="34" charset="0"/>
              <a:buChar char="•"/>
              <a:defRPr/>
            </a:pPr>
            <a:r>
              <a:rPr lang="en-US" altLang="en-US" dirty="0">
                <a:solidFill>
                  <a:schemeClr val="bg1"/>
                </a:solidFill>
                <a:latin typeface="+mn-lt"/>
                <a:ea typeface="ＭＳ Ｐゴシック" pitchFamily="4" charset="-128"/>
              </a:rPr>
              <a:t>Formalities for the disposition of equitable interests</a:t>
            </a:r>
          </a:p>
          <a:p>
            <a:pPr marL="342900" indent="-342900">
              <a:spcBef>
                <a:spcPct val="20000"/>
              </a:spcBef>
              <a:buFont typeface="Arial" panose="020B0604020202020204" pitchFamily="34" charset="0"/>
              <a:buChar char="•"/>
              <a:defRPr/>
            </a:pPr>
            <a:r>
              <a:rPr lang="en-US" altLang="en-US" dirty="0">
                <a:solidFill>
                  <a:schemeClr val="bg1"/>
                </a:solidFill>
                <a:latin typeface="+mn-lt"/>
                <a:ea typeface="ＭＳ Ｐゴシック" pitchFamily="4" charset="-128"/>
              </a:rPr>
              <a:t>Certainties</a:t>
            </a:r>
          </a:p>
          <a:p>
            <a:pPr marL="342900" indent="-342900">
              <a:spcBef>
                <a:spcPct val="20000"/>
              </a:spcBef>
              <a:buFont typeface="Arial" panose="020B0604020202020204" pitchFamily="34" charset="0"/>
              <a:buChar char="•"/>
              <a:defRPr/>
            </a:pPr>
            <a:r>
              <a:rPr lang="en-US" altLang="en-US" dirty="0">
                <a:solidFill>
                  <a:schemeClr val="bg1"/>
                </a:solidFill>
                <a:latin typeface="+mn-lt"/>
                <a:ea typeface="ＭＳ Ｐゴシック" pitchFamily="4" charset="-128"/>
              </a:rPr>
              <a:t>Constitution</a:t>
            </a:r>
          </a:p>
          <a:p>
            <a:pPr marL="342900" indent="-342900">
              <a:spcBef>
                <a:spcPct val="20000"/>
              </a:spcBef>
              <a:buFont typeface="Arial" panose="020B0604020202020204" pitchFamily="34" charset="0"/>
              <a:buChar char="•"/>
              <a:defRPr/>
            </a:pPr>
            <a:r>
              <a:rPr lang="en-US" altLang="en-US" dirty="0">
                <a:solidFill>
                  <a:schemeClr val="bg1"/>
                </a:solidFill>
                <a:latin typeface="+mn-lt"/>
                <a:ea typeface="ＭＳ Ｐゴシック" pitchFamily="4" charset="-128"/>
              </a:rPr>
              <a:t>Perpetuity rules</a:t>
            </a:r>
          </a:p>
          <a:p>
            <a:pPr>
              <a:spcBef>
                <a:spcPct val="20000"/>
              </a:spcBef>
              <a:buFontTx/>
              <a:buChar char="•"/>
              <a:defRPr/>
            </a:pPr>
            <a:endParaRPr lang="en-US" altLang="en-US" dirty="0">
              <a:latin typeface="+mn-lt"/>
              <a:ea typeface="ＭＳ Ｐゴシック" pitchFamily="4" charset="-128"/>
            </a:endParaRPr>
          </a:p>
          <a:p>
            <a:pPr>
              <a:spcBef>
                <a:spcPct val="20000"/>
              </a:spcBef>
              <a:buFontTx/>
              <a:buChar char="•"/>
              <a:defRPr/>
            </a:pPr>
            <a:endParaRPr lang="en-US" altLang="en-US" sz="1200" dirty="0">
              <a:latin typeface="+mn-lt"/>
              <a:ea typeface="ＭＳ Ｐゴシック" pitchFamily="4" charset="-128"/>
            </a:endParaRPr>
          </a:p>
        </p:txBody>
      </p:sp>
      <p:cxnSp>
        <p:nvCxnSpPr>
          <p:cNvPr id="5125" name="Straight Connector 3">
            <a:extLst>
              <a:ext uri="{FF2B5EF4-FFF2-40B4-BE49-F238E27FC236}">
                <a16:creationId xmlns:a16="http://schemas.microsoft.com/office/drawing/2014/main" id="{0F929C16-B1B1-436F-A95E-52C12CED70D1}"/>
              </a:ext>
            </a:extLst>
          </p:cNvPr>
          <p:cNvCxnSpPr>
            <a:cxnSpLocks noChangeShapeType="1"/>
          </p:cNvCxnSpPr>
          <p:nvPr/>
        </p:nvCxnSpPr>
        <p:spPr bwMode="auto">
          <a:xfrm>
            <a:off x="3203848" y="2924944"/>
            <a:ext cx="504056" cy="36004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1337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B9DE4E8-12ED-4E2D-B712-B403D9230E52}"/>
              </a:ext>
            </a:extLst>
          </p:cNvPr>
          <p:cNvSpPr>
            <a:spLocks noGrp="1"/>
          </p:cNvSpPr>
          <p:nvPr>
            <p:ph type="title"/>
          </p:nvPr>
        </p:nvSpPr>
        <p:spPr/>
        <p:txBody>
          <a:bodyPr/>
          <a:lstStyle/>
          <a:p>
            <a:r>
              <a:rPr lang="en-GB" altLang="en-US" dirty="0">
                <a:latin typeface="+mn-lt"/>
                <a:ea typeface="ＭＳ Ｐゴシック" panose="020B0600070205080204" pitchFamily="34" charset="-128"/>
              </a:rPr>
              <a:t>Formalities for trusts created </a:t>
            </a:r>
            <a:r>
              <a:rPr lang="en-GB" altLang="en-US" i="1" dirty="0">
                <a:latin typeface="+mn-lt"/>
                <a:ea typeface="ＭＳ Ｐゴシック" panose="020B0600070205080204" pitchFamily="34" charset="-128"/>
              </a:rPr>
              <a:t>inter </a:t>
            </a:r>
            <a:r>
              <a:rPr lang="en-GB" altLang="en-US" i="1" dirty="0" err="1">
                <a:latin typeface="+mn-lt"/>
                <a:ea typeface="ＭＳ Ｐゴシック" panose="020B0600070205080204" pitchFamily="34" charset="-128"/>
              </a:rPr>
              <a:t>vivos</a:t>
            </a:r>
            <a:r>
              <a:rPr lang="en-GB" altLang="en-US" i="1" dirty="0">
                <a:latin typeface="+mn-lt"/>
                <a:ea typeface="ＭＳ Ｐゴシック" panose="020B0600070205080204" pitchFamily="34" charset="-128"/>
              </a:rPr>
              <a:t> </a:t>
            </a:r>
            <a:r>
              <a:rPr lang="en-GB" altLang="en-US" dirty="0">
                <a:latin typeface="+mn-lt"/>
                <a:ea typeface="ＭＳ Ｐゴシック" panose="020B0600070205080204" pitchFamily="34" charset="-128"/>
              </a:rPr>
              <a:t>(I)</a:t>
            </a:r>
          </a:p>
        </p:txBody>
      </p:sp>
      <p:sp>
        <p:nvSpPr>
          <p:cNvPr id="6147" name="Content Placeholder 2">
            <a:extLst>
              <a:ext uri="{FF2B5EF4-FFF2-40B4-BE49-F238E27FC236}">
                <a16:creationId xmlns:a16="http://schemas.microsoft.com/office/drawing/2014/main" id="{BC419110-BD46-4B29-8A4D-4C4ABF1A1018}"/>
              </a:ext>
            </a:extLst>
          </p:cNvPr>
          <p:cNvSpPr txBox="1">
            <a:spLocks/>
          </p:cNvSpPr>
          <p:nvPr/>
        </p:nvSpPr>
        <p:spPr bwMode="auto">
          <a:xfrm>
            <a:off x="685800" y="1988840"/>
            <a:ext cx="7929701"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b="1" dirty="0">
                <a:latin typeface="+mn-lt"/>
              </a:rPr>
              <a:t>Personal property:</a:t>
            </a:r>
          </a:p>
          <a:p>
            <a:pPr lvl="1">
              <a:buFontTx/>
              <a:buChar char="•"/>
            </a:pPr>
            <a:r>
              <a:rPr lang="en-US" altLang="en-US" sz="2400" dirty="0">
                <a:latin typeface="+mn-lt"/>
              </a:rPr>
              <a:t>None; may be created by </a:t>
            </a:r>
            <a:r>
              <a:rPr lang="en-US" altLang="en-US" sz="2400" dirty="0" err="1">
                <a:latin typeface="+mn-lt"/>
              </a:rPr>
              <a:t>parol</a:t>
            </a:r>
            <a:endParaRPr lang="en-US" altLang="en-US" sz="2400" dirty="0">
              <a:latin typeface="+mn-lt"/>
            </a:endParaRPr>
          </a:p>
          <a:p>
            <a:pPr lvl="1">
              <a:buFontTx/>
              <a:buNone/>
            </a:pPr>
            <a:endParaRPr lang="en-US" altLang="en-US" dirty="0">
              <a:latin typeface="Calibri" panose="020F0502020204030204" pitchFamily="34" charset="0"/>
            </a:endParaRPr>
          </a:p>
        </p:txBody>
      </p:sp>
      <p:pic>
        <p:nvPicPr>
          <p:cNvPr id="6148" name="Picture 6" descr="Image result for parole">
            <a:extLst>
              <a:ext uri="{FF2B5EF4-FFF2-40B4-BE49-F238E27FC236}">
                <a16:creationId xmlns:a16="http://schemas.microsoft.com/office/drawing/2014/main" id="{F93CAADE-54EB-4B6A-A617-9E0345356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3860800"/>
            <a:ext cx="52514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6977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knwf93\AppData\Local\Microsoft\Windows\Temporary Internet Files\Content.IE5\6WLNP7NL\quill-pen[1].jpg">
            <a:extLst>
              <a:ext uri="{FF2B5EF4-FFF2-40B4-BE49-F238E27FC236}">
                <a16:creationId xmlns:a16="http://schemas.microsoft.com/office/drawing/2014/main" id="{8F86F9FA-1B6F-4B14-8B07-38D84720A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5733" y="3789040"/>
            <a:ext cx="3464355" cy="2597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itle 1">
            <a:extLst>
              <a:ext uri="{FF2B5EF4-FFF2-40B4-BE49-F238E27FC236}">
                <a16:creationId xmlns:a16="http://schemas.microsoft.com/office/drawing/2014/main" id="{74B63A1A-0BB2-461A-9703-78FD86A181D3}"/>
              </a:ext>
            </a:extLst>
          </p:cNvPr>
          <p:cNvSpPr>
            <a:spLocks noGrp="1"/>
          </p:cNvSpPr>
          <p:nvPr>
            <p:ph type="title"/>
          </p:nvPr>
        </p:nvSpPr>
        <p:spPr/>
        <p:txBody>
          <a:bodyPr/>
          <a:lstStyle/>
          <a:p>
            <a:r>
              <a:rPr lang="en-GB" altLang="en-US" dirty="0">
                <a:latin typeface="+mn-lt"/>
                <a:ea typeface="ＭＳ Ｐゴシック" panose="020B0600070205080204" pitchFamily="34" charset="-128"/>
              </a:rPr>
              <a:t>Formalities for trusts created </a:t>
            </a:r>
            <a:r>
              <a:rPr lang="en-GB" altLang="en-US" i="1" dirty="0">
                <a:latin typeface="+mn-lt"/>
                <a:ea typeface="ＭＳ Ｐゴシック" panose="020B0600070205080204" pitchFamily="34" charset="-128"/>
              </a:rPr>
              <a:t>inter </a:t>
            </a:r>
            <a:r>
              <a:rPr lang="en-GB" altLang="en-US" i="1" dirty="0" err="1">
                <a:latin typeface="+mn-lt"/>
                <a:ea typeface="ＭＳ Ｐゴシック" panose="020B0600070205080204" pitchFamily="34" charset="-128"/>
              </a:rPr>
              <a:t>vivos</a:t>
            </a:r>
            <a:r>
              <a:rPr lang="en-GB" altLang="en-US" i="1" dirty="0">
                <a:latin typeface="+mn-lt"/>
                <a:ea typeface="ＭＳ Ｐゴシック" panose="020B0600070205080204" pitchFamily="34" charset="-128"/>
              </a:rPr>
              <a:t> </a:t>
            </a:r>
            <a:r>
              <a:rPr lang="en-GB" altLang="en-US" dirty="0">
                <a:latin typeface="+mn-lt"/>
                <a:ea typeface="ＭＳ Ｐゴシック" panose="020B0600070205080204" pitchFamily="34" charset="-128"/>
              </a:rPr>
              <a:t>(II)</a:t>
            </a:r>
          </a:p>
        </p:txBody>
      </p:sp>
      <p:sp>
        <p:nvSpPr>
          <p:cNvPr id="7172" name="Content Placeholder 2">
            <a:extLst>
              <a:ext uri="{FF2B5EF4-FFF2-40B4-BE49-F238E27FC236}">
                <a16:creationId xmlns:a16="http://schemas.microsoft.com/office/drawing/2014/main" id="{D47DD79C-81FB-445E-B1DC-74307065CBCA}"/>
              </a:ext>
            </a:extLst>
          </p:cNvPr>
          <p:cNvSpPr txBox="1">
            <a:spLocks/>
          </p:cNvSpPr>
          <p:nvPr/>
        </p:nvSpPr>
        <p:spPr bwMode="auto">
          <a:xfrm>
            <a:off x="685800" y="1981200"/>
            <a:ext cx="7415213"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b="1" dirty="0">
                <a:cs typeface="Arial" panose="020B0604020202020204" pitchFamily="34" charset="0"/>
              </a:rPr>
              <a:t>Real property (land):</a:t>
            </a:r>
          </a:p>
          <a:p>
            <a:pPr lvl="1">
              <a:buFontTx/>
              <a:buChar char="•"/>
            </a:pPr>
            <a:r>
              <a:rPr lang="en-US" altLang="en-US" sz="2400" dirty="0">
                <a:cs typeface="Arial" panose="020B0604020202020204" pitchFamily="34" charset="0"/>
              </a:rPr>
              <a:t>Law of Property Act 1925: ‘manifested and proved by some writing signed [by the settlor]’ (s. 53(1)(b)).</a:t>
            </a:r>
          </a:p>
          <a:p>
            <a:pPr lvl="1">
              <a:buFontTx/>
              <a:buChar char="•"/>
            </a:pPr>
            <a:r>
              <a:rPr lang="en-US" altLang="en-US" sz="2400" dirty="0">
                <a:cs typeface="Arial" panose="020B0604020202020204" pitchFamily="34" charset="0"/>
              </a:rPr>
              <a:t>But note: This does not apply to constructive and resulting trusts.</a:t>
            </a:r>
          </a:p>
          <a:p>
            <a:pPr lvl="1">
              <a:buFontTx/>
              <a:buChar char="•"/>
            </a:pPr>
            <a:r>
              <a:rPr lang="en-GB" altLang="en-US" sz="2400" i="1" u="sng" dirty="0">
                <a:cs typeface="Arial" panose="020B0604020202020204" pitchFamily="34" charset="0"/>
              </a:rPr>
              <a:t>Rochefoucauld v Boustead </a:t>
            </a:r>
            <a:r>
              <a:rPr lang="en-GB" altLang="en-US" sz="2400" u="sng" dirty="0">
                <a:cs typeface="Arial" panose="020B0604020202020204" pitchFamily="34" charset="0"/>
              </a:rPr>
              <a:t>[1897]</a:t>
            </a:r>
            <a:endParaRPr lang="en-US" altLang="en-US" sz="2400" u="sng" dirty="0">
              <a:cs typeface="Arial" panose="020B0604020202020204" pitchFamily="34" charset="0"/>
            </a:endParaRPr>
          </a:p>
          <a:p>
            <a:pPr lvl="1">
              <a:buFontTx/>
              <a:buNone/>
            </a:pPr>
            <a:endParaRPr lang="en-US" altLang="en-US" u="sng"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spTree>
    <p:extLst>
      <p:ext uri="{BB962C8B-B14F-4D97-AF65-F5344CB8AC3E}">
        <p14:creationId xmlns:p14="http://schemas.microsoft.com/office/powerpoint/2010/main" val="2653344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B67F-B713-8D87-A180-AD8B7868BB76}"/>
            </a:ext>
          </a:extLst>
        </p:cNvPr>
        <p:cNvGrpSpPr/>
        <p:nvPr/>
      </p:nvGrpSpPr>
      <p:grpSpPr>
        <a:xfrm>
          <a:off x="0" y="0"/>
          <a:ext cx="0" cy="0"/>
          <a:chOff x="0" y="0"/>
          <a:chExt cx="0" cy="0"/>
        </a:xfrm>
      </p:grpSpPr>
      <p:sp>
        <p:nvSpPr>
          <p:cNvPr id="7171" name="Title 1">
            <a:extLst>
              <a:ext uri="{FF2B5EF4-FFF2-40B4-BE49-F238E27FC236}">
                <a16:creationId xmlns:a16="http://schemas.microsoft.com/office/drawing/2014/main" id="{AE815E93-4C63-80B7-0492-9EA350804DB9}"/>
              </a:ext>
            </a:extLst>
          </p:cNvPr>
          <p:cNvSpPr>
            <a:spLocks noGrp="1"/>
          </p:cNvSpPr>
          <p:nvPr>
            <p:ph type="title"/>
          </p:nvPr>
        </p:nvSpPr>
        <p:spPr>
          <a:xfrm>
            <a:off x="683163" y="361978"/>
            <a:ext cx="7772400" cy="1143000"/>
          </a:xfrm>
        </p:spPr>
        <p:txBody>
          <a:bodyPr/>
          <a:lstStyle/>
          <a:p>
            <a:r>
              <a:rPr lang="en-GB" altLang="en-US" dirty="0">
                <a:latin typeface="+mn-lt"/>
                <a:ea typeface="ＭＳ Ｐゴシック" panose="020B0600070205080204" pitchFamily="34" charset="-128"/>
              </a:rPr>
              <a:t>A word on equitable maxims</a:t>
            </a:r>
          </a:p>
        </p:txBody>
      </p:sp>
      <p:sp>
        <p:nvSpPr>
          <p:cNvPr id="7172" name="Content Placeholder 2">
            <a:extLst>
              <a:ext uri="{FF2B5EF4-FFF2-40B4-BE49-F238E27FC236}">
                <a16:creationId xmlns:a16="http://schemas.microsoft.com/office/drawing/2014/main" id="{01375A67-62FD-2699-6035-223054E11472}"/>
              </a:ext>
            </a:extLst>
          </p:cNvPr>
          <p:cNvSpPr txBox="1">
            <a:spLocks/>
          </p:cNvSpPr>
          <p:nvPr/>
        </p:nvSpPr>
        <p:spPr bwMode="auto">
          <a:xfrm>
            <a:off x="683163" y="1504978"/>
            <a:ext cx="7415213"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342900" indent="-342900">
              <a:buFont typeface="Arial" panose="020B0604020202020204" pitchFamily="34" charset="0"/>
              <a:buChar char="•"/>
            </a:pPr>
            <a:r>
              <a:rPr lang="en-GB" altLang="en-US" sz="2000" dirty="0">
                <a:cs typeface="Arial" panose="020B0604020202020204" pitchFamily="34" charset="0"/>
              </a:rPr>
              <a:t>Equitable maxims are principles that equity has developed over time. They summarise the approach equity has taken to legal solutions and serve as organising principles.</a:t>
            </a:r>
          </a:p>
          <a:p>
            <a:pPr marL="342900" indent="-342900">
              <a:buFont typeface="Arial" panose="020B0604020202020204" pitchFamily="34" charset="0"/>
              <a:buChar char="•"/>
            </a:pPr>
            <a:r>
              <a:rPr lang="en-GB" altLang="en-US" sz="2000" dirty="0">
                <a:cs typeface="Arial" panose="020B0604020202020204" pitchFamily="34" charset="0"/>
              </a:rPr>
              <a:t>They are ‘encrusted with judicial interpretation over the centuries’ (Penner).</a:t>
            </a:r>
          </a:p>
          <a:p>
            <a:pPr marL="342900" indent="-342900">
              <a:buFont typeface="Arial" panose="020B0604020202020204" pitchFamily="34" charset="0"/>
              <a:buChar char="•"/>
            </a:pPr>
            <a:r>
              <a:rPr lang="en-GB" altLang="en-US" sz="2000" dirty="0">
                <a:cs typeface="Arial" panose="020B0604020202020204" pitchFamily="34" charset="0"/>
              </a:rPr>
              <a:t>Examples include:</a:t>
            </a:r>
          </a:p>
          <a:p>
            <a:pPr marL="1085850" lvl="1" indent="-342900">
              <a:buFont typeface="Arial" panose="020B0604020202020204" pitchFamily="34" charset="0"/>
              <a:buChar char="•"/>
            </a:pPr>
            <a:r>
              <a:rPr lang="en-GB" altLang="en-US" dirty="0">
                <a:cs typeface="Arial" panose="020B0604020202020204" pitchFamily="34" charset="0"/>
              </a:rPr>
              <a:t>Equity will not permit a statute to be used as an instrument of fraud.</a:t>
            </a:r>
          </a:p>
          <a:p>
            <a:pPr marL="1085850" lvl="1" indent="-342900">
              <a:buFont typeface="Arial" panose="020B0604020202020204" pitchFamily="34" charset="0"/>
              <a:buChar char="•"/>
            </a:pPr>
            <a:r>
              <a:rPr lang="en-GB" dirty="0">
                <a:cs typeface="Arial" panose="020B0604020202020204" pitchFamily="34" charset="0"/>
              </a:rPr>
              <a:t>Equity will not permit a trust to fail for want of a trustee. </a:t>
            </a:r>
            <a:endParaRPr lang="en-GB" altLang="en-US" dirty="0">
              <a:cs typeface="Arial" panose="020B0604020202020204" pitchFamily="34" charset="0"/>
            </a:endParaRPr>
          </a:p>
          <a:p>
            <a:pPr marL="1085850" lvl="1" indent="-342900">
              <a:buFont typeface="Arial" panose="020B0604020202020204" pitchFamily="34" charset="0"/>
              <a:buChar char="•"/>
            </a:pPr>
            <a:r>
              <a:rPr lang="en-GB" altLang="en-US" dirty="0">
                <a:cs typeface="Arial" panose="020B0604020202020204" pitchFamily="34" charset="0"/>
              </a:rPr>
              <a:t>Those who come to equity must come with clean hands.</a:t>
            </a:r>
          </a:p>
          <a:p>
            <a:pPr marL="1085850" lvl="1" indent="-342900">
              <a:buFont typeface="Arial" panose="020B0604020202020204" pitchFamily="34" charset="0"/>
              <a:buChar char="•"/>
            </a:pPr>
            <a:r>
              <a:rPr lang="en-GB" altLang="en-US" dirty="0">
                <a:cs typeface="Arial" panose="020B0604020202020204" pitchFamily="34" charset="0"/>
              </a:rPr>
              <a:t>Equity looks to substance rather than to form.</a:t>
            </a:r>
          </a:p>
          <a:p>
            <a:pPr marL="1085850" lvl="1" indent="-342900">
              <a:buFont typeface="Arial" panose="020B0604020202020204" pitchFamily="34" charset="0"/>
              <a:buChar char="•"/>
            </a:pPr>
            <a:endParaRPr lang="en-US" altLang="en-US" dirty="0">
              <a:cs typeface="Arial" panose="020B0604020202020204" pitchFamily="34" charset="0"/>
            </a:endParaRPr>
          </a:p>
          <a:p>
            <a:pPr>
              <a:buFontTx/>
              <a:buChar char="•"/>
            </a:pPr>
            <a:endParaRPr lang="en-US" altLang="en-US" sz="1200" dirty="0">
              <a:latin typeface="Calibri" panose="020F0502020204030204" pitchFamily="34" charset="0"/>
            </a:endParaRPr>
          </a:p>
          <a:p>
            <a:endParaRPr lang="en-US" altLang="en-US" dirty="0"/>
          </a:p>
        </p:txBody>
      </p:sp>
      <p:pic>
        <p:nvPicPr>
          <p:cNvPr id="2050" name="Picture 2" descr="Maxim's | G. Vincenti &amp; Sons S.A.L.">
            <a:extLst>
              <a:ext uri="{FF2B5EF4-FFF2-40B4-BE49-F238E27FC236}">
                <a16:creationId xmlns:a16="http://schemas.microsoft.com/office/drawing/2014/main" id="{54EB2ED1-2CA5-88B4-246A-6F02AEEB5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4670" y="4897466"/>
            <a:ext cx="5702300" cy="142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144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a:extLst>
              <a:ext uri="{FF2B5EF4-FFF2-40B4-BE49-F238E27FC236}">
                <a16:creationId xmlns:a16="http://schemas.microsoft.com/office/drawing/2014/main" id="{87536292-6F4E-4190-B8B2-7D86615C875C}"/>
              </a:ext>
            </a:extLst>
          </p:cNvPr>
          <p:cNvSpPr>
            <a:spLocks noChangeArrowheads="1"/>
          </p:cNvSpPr>
          <p:nvPr/>
        </p:nvSpPr>
        <p:spPr bwMode="auto">
          <a:xfrm>
            <a:off x="3633849" y="2889698"/>
            <a:ext cx="723776" cy="720278"/>
          </a:xfrm>
          <a:prstGeom prst="ellipse">
            <a:avLst/>
          </a:prstGeom>
          <a:solidFill>
            <a:schemeClr val="bg1"/>
          </a:solidFill>
          <a:ln w="28575" algn="ctr">
            <a:solidFill>
              <a:srgbClr val="0070C0"/>
            </a:solidFill>
            <a:round/>
            <a:headEnd/>
            <a:tailEnd/>
          </a:ln>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endParaRPr lang="en-US" altLang="en-US">
              <a:latin typeface="Times" panose="02020603050405020304" pitchFamily="18" charset="0"/>
            </a:endParaRPr>
          </a:p>
        </p:txBody>
      </p:sp>
      <p:sp>
        <p:nvSpPr>
          <p:cNvPr id="4" name="Oval 3">
            <a:extLst>
              <a:ext uri="{FF2B5EF4-FFF2-40B4-BE49-F238E27FC236}">
                <a16:creationId xmlns:a16="http://schemas.microsoft.com/office/drawing/2014/main" id="{E5664F73-3229-46B4-8E4C-830BF8841983}"/>
              </a:ext>
            </a:extLst>
          </p:cNvPr>
          <p:cNvSpPr>
            <a:spLocks noChangeArrowheads="1"/>
          </p:cNvSpPr>
          <p:nvPr/>
        </p:nvSpPr>
        <p:spPr bwMode="auto">
          <a:xfrm>
            <a:off x="1471613" y="2060575"/>
            <a:ext cx="2152650" cy="3240088"/>
          </a:xfrm>
          <a:prstGeom prst="ellipse">
            <a:avLst/>
          </a:prstGeom>
          <a:solidFill>
            <a:schemeClr val="bg1"/>
          </a:solidFill>
          <a:ln w="28575" algn="ctr">
            <a:solidFill>
              <a:srgbClr val="FF0000"/>
            </a:solidFill>
            <a:round/>
            <a:headEnd/>
            <a:tailEnd/>
          </a:ln>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endParaRPr lang="en-US" altLang="en-US">
              <a:latin typeface="Times" panose="02020603050405020304" pitchFamily="18" charset="0"/>
            </a:endParaRPr>
          </a:p>
        </p:txBody>
      </p:sp>
      <p:sp>
        <p:nvSpPr>
          <p:cNvPr id="8196" name="Title 1">
            <a:extLst>
              <a:ext uri="{FF2B5EF4-FFF2-40B4-BE49-F238E27FC236}">
                <a16:creationId xmlns:a16="http://schemas.microsoft.com/office/drawing/2014/main" id="{CF3000C8-684D-4BCB-B754-DC8C590250F5}"/>
              </a:ext>
            </a:extLst>
          </p:cNvPr>
          <p:cNvSpPr>
            <a:spLocks noGrp="1"/>
          </p:cNvSpPr>
          <p:nvPr>
            <p:ph type="title"/>
          </p:nvPr>
        </p:nvSpPr>
        <p:spPr/>
        <p:txBody>
          <a:bodyPr/>
          <a:lstStyle/>
          <a:p>
            <a:r>
              <a:rPr lang="en-GB" altLang="en-US" i="1" dirty="0">
                <a:latin typeface="+mn-lt"/>
                <a:ea typeface="ＭＳ Ｐゴシック" panose="020B0600070205080204" pitchFamily="34" charset="-128"/>
              </a:rPr>
              <a:t>Rochefoucauld v Boustead </a:t>
            </a:r>
            <a:r>
              <a:rPr lang="en-GB" altLang="en-US" dirty="0">
                <a:latin typeface="+mn-lt"/>
                <a:ea typeface="ＭＳ Ｐゴシック" panose="020B0600070205080204" pitchFamily="34" charset="-128"/>
              </a:rPr>
              <a:t>[1897]</a:t>
            </a:r>
            <a:endParaRPr lang="en-GB" altLang="en-US" i="1" dirty="0">
              <a:latin typeface="+mn-lt"/>
              <a:ea typeface="ＭＳ Ｐゴシック" panose="020B0600070205080204" pitchFamily="34" charset="-128"/>
            </a:endParaRPr>
          </a:p>
        </p:txBody>
      </p:sp>
      <p:pic>
        <p:nvPicPr>
          <p:cNvPr id="8197" name="Picture 2">
            <a:extLst>
              <a:ext uri="{FF2B5EF4-FFF2-40B4-BE49-F238E27FC236}">
                <a16:creationId xmlns:a16="http://schemas.microsoft.com/office/drawing/2014/main" id="{423D52D5-4570-4169-9578-38F728613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7489" y="3707197"/>
            <a:ext cx="4752975" cy="290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201BC8BC-DC2C-47A7-B5ED-23FB00F64960}"/>
              </a:ext>
            </a:extLst>
          </p:cNvPr>
          <p:cNvSpPr txBox="1"/>
          <p:nvPr/>
        </p:nvSpPr>
        <p:spPr>
          <a:xfrm>
            <a:off x="1795463" y="2365375"/>
            <a:ext cx="1522412" cy="400050"/>
          </a:xfrm>
          <a:prstGeom prst="rect">
            <a:avLst/>
          </a:prstGeom>
          <a:noFill/>
        </p:spPr>
        <p:txBody>
          <a:bodyPr>
            <a:spAutoFit/>
          </a:bodyPr>
          <a:lstStyle/>
          <a:p>
            <a:pPr algn="ctr">
              <a:defRPr/>
            </a:pPr>
            <a:r>
              <a:rPr lang="en-GB" sz="2000" dirty="0">
                <a:latin typeface="+mn-lt"/>
                <a:ea typeface="ＭＳ Ｐゴシック" pitchFamily="4" charset="-128"/>
              </a:rPr>
              <a:t>Boustead</a:t>
            </a:r>
          </a:p>
        </p:txBody>
      </p:sp>
      <p:sp>
        <p:nvSpPr>
          <p:cNvPr id="7" name="TextBox 6">
            <a:extLst>
              <a:ext uri="{FF2B5EF4-FFF2-40B4-BE49-F238E27FC236}">
                <a16:creationId xmlns:a16="http://schemas.microsoft.com/office/drawing/2014/main" id="{EDD71B18-FB25-41BC-AD8D-C2BB153E66C7}"/>
              </a:ext>
            </a:extLst>
          </p:cNvPr>
          <p:cNvSpPr txBox="1"/>
          <p:nvPr/>
        </p:nvSpPr>
        <p:spPr>
          <a:xfrm>
            <a:off x="1547812" y="3929004"/>
            <a:ext cx="2016125" cy="707886"/>
          </a:xfrm>
          <a:prstGeom prst="rect">
            <a:avLst/>
          </a:prstGeom>
          <a:noFill/>
        </p:spPr>
        <p:txBody>
          <a:bodyPr>
            <a:spAutoFit/>
          </a:bodyPr>
          <a:lstStyle/>
          <a:p>
            <a:pPr algn="ctr">
              <a:defRPr/>
            </a:pPr>
            <a:r>
              <a:rPr lang="en-GB" sz="2000" dirty="0" err="1">
                <a:latin typeface="+mn-lt"/>
                <a:ea typeface="ＭＳ Ｐゴシック" pitchFamily="4" charset="-128"/>
              </a:rPr>
              <a:t>Comtesse</a:t>
            </a:r>
            <a:r>
              <a:rPr lang="en-GB" sz="2000" dirty="0">
                <a:latin typeface="+mn-lt"/>
                <a:ea typeface="ＭＳ Ｐゴシック" pitchFamily="4" charset="-128"/>
              </a:rPr>
              <a:t> de la Rochefoucauld</a:t>
            </a:r>
          </a:p>
        </p:txBody>
      </p:sp>
      <p:cxnSp>
        <p:nvCxnSpPr>
          <p:cNvPr id="8200" name="Straight Connector 5">
            <a:extLst>
              <a:ext uri="{FF2B5EF4-FFF2-40B4-BE49-F238E27FC236}">
                <a16:creationId xmlns:a16="http://schemas.microsoft.com/office/drawing/2014/main" id="{5EBA4908-8747-4B2B-BA82-6755D82BC5C5}"/>
              </a:ext>
            </a:extLst>
          </p:cNvPr>
          <p:cNvCxnSpPr>
            <a:cxnSpLocks noChangeShapeType="1"/>
          </p:cNvCxnSpPr>
          <p:nvPr/>
        </p:nvCxnSpPr>
        <p:spPr bwMode="auto">
          <a:xfrm>
            <a:off x="2555875" y="2827338"/>
            <a:ext cx="0" cy="10080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 name="TextBox 8">
            <a:extLst>
              <a:ext uri="{FF2B5EF4-FFF2-40B4-BE49-F238E27FC236}">
                <a16:creationId xmlns:a16="http://schemas.microsoft.com/office/drawing/2014/main" id="{09F14293-91F5-4ED6-98C7-E54D6D4E8B07}"/>
              </a:ext>
            </a:extLst>
          </p:cNvPr>
          <p:cNvSpPr txBox="1"/>
          <p:nvPr/>
        </p:nvSpPr>
        <p:spPr>
          <a:xfrm>
            <a:off x="3059113" y="1981200"/>
            <a:ext cx="1873250" cy="338138"/>
          </a:xfrm>
          <a:prstGeom prst="rect">
            <a:avLst/>
          </a:prstGeom>
          <a:noFill/>
        </p:spPr>
        <p:txBody>
          <a:bodyPr>
            <a:spAutoFit/>
          </a:bodyPr>
          <a:lstStyle/>
          <a:p>
            <a:pPr>
              <a:defRPr/>
            </a:pPr>
            <a:r>
              <a:rPr lang="en-GB" sz="1600" dirty="0">
                <a:latin typeface="+mn-lt"/>
                <a:ea typeface="ＭＳ Ｐゴシック" pitchFamily="4" charset="-128"/>
              </a:rPr>
              <a:t>Coffee plantations</a:t>
            </a:r>
          </a:p>
        </p:txBody>
      </p:sp>
      <p:sp>
        <p:nvSpPr>
          <p:cNvPr id="11" name="TextBox 10">
            <a:extLst>
              <a:ext uri="{FF2B5EF4-FFF2-40B4-BE49-F238E27FC236}">
                <a16:creationId xmlns:a16="http://schemas.microsoft.com/office/drawing/2014/main" id="{27713B73-2E30-4F57-9EDC-1DF8C78095C7}"/>
              </a:ext>
            </a:extLst>
          </p:cNvPr>
          <p:cNvSpPr txBox="1"/>
          <p:nvPr/>
        </p:nvSpPr>
        <p:spPr>
          <a:xfrm>
            <a:off x="179388" y="2349500"/>
            <a:ext cx="1304925" cy="706438"/>
          </a:xfrm>
          <a:prstGeom prst="rect">
            <a:avLst/>
          </a:prstGeom>
          <a:noFill/>
        </p:spPr>
        <p:txBody>
          <a:bodyPr>
            <a:spAutoFit/>
          </a:bodyPr>
          <a:lstStyle/>
          <a:p>
            <a:pPr>
              <a:defRPr/>
            </a:pPr>
            <a:r>
              <a:rPr lang="en-GB" sz="2000" dirty="0">
                <a:latin typeface="+mn-lt"/>
                <a:ea typeface="ＭＳ Ｐゴシック" pitchFamily="4" charset="-128"/>
              </a:rPr>
              <a:t>Dutch company</a:t>
            </a:r>
          </a:p>
        </p:txBody>
      </p:sp>
      <p:sp>
        <p:nvSpPr>
          <p:cNvPr id="12" name="TextBox 11">
            <a:extLst>
              <a:ext uri="{FF2B5EF4-FFF2-40B4-BE49-F238E27FC236}">
                <a16:creationId xmlns:a16="http://schemas.microsoft.com/office/drawing/2014/main" id="{58DBC1CD-47B0-4B76-A291-71F050637D96}"/>
              </a:ext>
            </a:extLst>
          </p:cNvPr>
          <p:cNvSpPr txBox="1"/>
          <p:nvPr/>
        </p:nvSpPr>
        <p:spPr>
          <a:xfrm>
            <a:off x="4787900" y="2371725"/>
            <a:ext cx="1873250" cy="400050"/>
          </a:xfrm>
          <a:prstGeom prst="rect">
            <a:avLst/>
          </a:prstGeom>
          <a:noFill/>
        </p:spPr>
        <p:txBody>
          <a:bodyPr>
            <a:spAutoFit/>
          </a:bodyPr>
          <a:lstStyle/>
          <a:p>
            <a:pPr>
              <a:defRPr/>
            </a:pPr>
            <a:r>
              <a:rPr lang="en-GB" sz="2000" dirty="0">
                <a:latin typeface="+mn-lt"/>
                <a:ea typeface="ＭＳ Ｐゴシック" pitchFamily="4" charset="-128"/>
              </a:rPr>
              <a:t>3</a:t>
            </a:r>
            <a:r>
              <a:rPr lang="en-GB" sz="2000" baseline="30000" dirty="0">
                <a:latin typeface="+mn-lt"/>
                <a:ea typeface="ＭＳ Ｐゴシック" pitchFamily="4" charset="-128"/>
              </a:rPr>
              <a:t>rd</a:t>
            </a:r>
            <a:r>
              <a:rPr lang="en-GB" sz="2000" dirty="0">
                <a:latin typeface="+mn-lt"/>
                <a:ea typeface="ＭＳ Ｐゴシック" pitchFamily="4" charset="-128"/>
              </a:rPr>
              <a:t> party</a:t>
            </a:r>
          </a:p>
        </p:txBody>
      </p:sp>
      <p:cxnSp>
        <p:nvCxnSpPr>
          <p:cNvPr id="8204" name="Straight Arrow Connector 8">
            <a:extLst>
              <a:ext uri="{FF2B5EF4-FFF2-40B4-BE49-F238E27FC236}">
                <a16:creationId xmlns:a16="http://schemas.microsoft.com/office/drawing/2014/main" id="{3C71E863-110F-4C1C-A851-5A0B042A3B15}"/>
              </a:ext>
            </a:extLst>
          </p:cNvPr>
          <p:cNvCxnSpPr>
            <a:cxnSpLocks noChangeShapeType="1"/>
          </p:cNvCxnSpPr>
          <p:nvPr/>
        </p:nvCxnSpPr>
        <p:spPr bwMode="auto">
          <a:xfrm>
            <a:off x="1115616" y="2565400"/>
            <a:ext cx="571500" cy="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05" name="Straight Arrow Connector 8">
            <a:extLst>
              <a:ext uri="{FF2B5EF4-FFF2-40B4-BE49-F238E27FC236}">
                <a16:creationId xmlns:a16="http://schemas.microsoft.com/office/drawing/2014/main" id="{8EE632F5-DC8A-406E-A332-A5023E5022B1}"/>
              </a:ext>
            </a:extLst>
          </p:cNvPr>
          <p:cNvCxnSpPr>
            <a:cxnSpLocks noChangeShapeType="1"/>
          </p:cNvCxnSpPr>
          <p:nvPr/>
        </p:nvCxnSpPr>
        <p:spPr bwMode="auto">
          <a:xfrm>
            <a:off x="3563938" y="2565400"/>
            <a:ext cx="1152525" cy="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06" name="Straight Arrow Connector 8">
            <a:extLst>
              <a:ext uri="{FF2B5EF4-FFF2-40B4-BE49-F238E27FC236}">
                <a16:creationId xmlns:a16="http://schemas.microsoft.com/office/drawing/2014/main" id="{EBEF1B8E-22E2-4C74-A31E-EFC87E86B907}"/>
              </a:ext>
            </a:extLst>
          </p:cNvPr>
          <p:cNvCxnSpPr>
            <a:cxnSpLocks noChangeShapeType="1"/>
          </p:cNvCxnSpPr>
          <p:nvPr/>
        </p:nvCxnSpPr>
        <p:spPr bwMode="auto">
          <a:xfrm>
            <a:off x="3563937" y="2828721"/>
            <a:ext cx="1152525" cy="0"/>
          </a:xfrm>
          <a:prstGeom prst="straightConnector1">
            <a:avLst/>
          </a:prstGeom>
          <a:noFill/>
          <a:ln w="19050" algn="ctr">
            <a:solidFill>
              <a:schemeClr val="tx1"/>
            </a:solidFill>
            <a:round/>
            <a:headEnd type="arrow" w="med" len="med"/>
            <a:tailEnd/>
          </a:ln>
          <a:extLst>
            <a:ext uri="{909E8E84-426E-40DD-AFC4-6F175D3DCCD1}">
              <a14:hiddenFill xmlns:a14="http://schemas.microsoft.com/office/drawing/2010/main">
                <a:noFill/>
              </a14:hiddenFill>
            </a:ext>
          </a:extLst>
        </p:spPr>
      </p:cxnSp>
      <p:sp>
        <p:nvSpPr>
          <p:cNvPr id="21" name="TextBox 20">
            <a:extLst>
              <a:ext uri="{FF2B5EF4-FFF2-40B4-BE49-F238E27FC236}">
                <a16:creationId xmlns:a16="http://schemas.microsoft.com/office/drawing/2014/main" id="{F9F3132D-A664-4A92-A72C-A51BCE11F7AF}"/>
              </a:ext>
            </a:extLst>
          </p:cNvPr>
          <p:cNvSpPr txBox="1"/>
          <p:nvPr/>
        </p:nvSpPr>
        <p:spPr>
          <a:xfrm>
            <a:off x="3066656" y="3060701"/>
            <a:ext cx="1873250" cy="339725"/>
          </a:xfrm>
          <a:prstGeom prst="rect">
            <a:avLst/>
          </a:prstGeom>
          <a:noFill/>
        </p:spPr>
        <p:txBody>
          <a:bodyPr>
            <a:spAutoFit/>
          </a:bodyPr>
          <a:lstStyle/>
          <a:p>
            <a:pPr algn="ctr">
              <a:defRPr/>
            </a:pPr>
            <a:r>
              <a:rPr lang="en-GB" sz="1600" dirty="0">
                <a:latin typeface="+mn-lt"/>
                <a:ea typeface="ＭＳ Ｐゴシック" pitchFamily="4" charset="-128"/>
              </a:rPr>
              <a:t>£££</a:t>
            </a:r>
          </a:p>
        </p:txBody>
      </p:sp>
      <p:sp>
        <p:nvSpPr>
          <p:cNvPr id="22" name="TextBox 21">
            <a:extLst>
              <a:ext uri="{FF2B5EF4-FFF2-40B4-BE49-F238E27FC236}">
                <a16:creationId xmlns:a16="http://schemas.microsoft.com/office/drawing/2014/main" id="{17CF6EDE-6628-42ED-A6AD-57071671B2D1}"/>
              </a:ext>
            </a:extLst>
          </p:cNvPr>
          <p:cNvSpPr txBox="1"/>
          <p:nvPr/>
        </p:nvSpPr>
        <p:spPr>
          <a:xfrm>
            <a:off x="238126" y="1971675"/>
            <a:ext cx="1873250" cy="338138"/>
          </a:xfrm>
          <a:prstGeom prst="rect">
            <a:avLst/>
          </a:prstGeom>
          <a:noFill/>
        </p:spPr>
        <p:txBody>
          <a:bodyPr>
            <a:spAutoFit/>
          </a:bodyPr>
          <a:lstStyle/>
          <a:p>
            <a:pPr>
              <a:defRPr/>
            </a:pPr>
            <a:r>
              <a:rPr lang="en-GB" sz="1600" dirty="0">
                <a:latin typeface="+mn-lt"/>
                <a:ea typeface="ＭＳ Ｐゴシック" pitchFamily="4" charset="-128"/>
              </a:rPr>
              <a:t>Coffee plantations</a:t>
            </a:r>
          </a:p>
        </p:txBody>
      </p:sp>
    </p:spTree>
    <p:extLst>
      <p:ext uri="{BB962C8B-B14F-4D97-AF65-F5344CB8AC3E}">
        <p14:creationId xmlns:p14="http://schemas.microsoft.com/office/powerpoint/2010/main" val="3376416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heel(1)">
                                      <p:cBhvr>
                                        <p:cTn id="12"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E2A2E-33E4-DAE6-1877-28A4908CC532}"/>
            </a:ext>
          </a:extLst>
        </p:cNvPr>
        <p:cNvGrpSpPr/>
        <p:nvPr/>
      </p:nvGrpSpPr>
      <p:grpSpPr>
        <a:xfrm>
          <a:off x="0" y="0"/>
          <a:ext cx="0" cy="0"/>
          <a:chOff x="0" y="0"/>
          <a:chExt cx="0" cy="0"/>
        </a:xfrm>
      </p:grpSpPr>
      <p:sp>
        <p:nvSpPr>
          <p:cNvPr id="7171" name="Title 1">
            <a:extLst>
              <a:ext uri="{FF2B5EF4-FFF2-40B4-BE49-F238E27FC236}">
                <a16:creationId xmlns:a16="http://schemas.microsoft.com/office/drawing/2014/main" id="{A7323814-684A-7135-061B-11696E5DD449}"/>
              </a:ext>
            </a:extLst>
          </p:cNvPr>
          <p:cNvSpPr>
            <a:spLocks noGrp="1"/>
          </p:cNvSpPr>
          <p:nvPr>
            <p:ph type="title"/>
          </p:nvPr>
        </p:nvSpPr>
        <p:spPr>
          <a:xfrm>
            <a:off x="685800" y="332656"/>
            <a:ext cx="7772400" cy="1143000"/>
          </a:xfrm>
        </p:spPr>
        <p:txBody>
          <a:bodyPr/>
          <a:lstStyle/>
          <a:p>
            <a:r>
              <a:rPr lang="en-GB" altLang="en-US" dirty="0">
                <a:latin typeface="+mn-lt"/>
                <a:ea typeface="ＭＳ Ｐゴシック" panose="020B0600070205080204" pitchFamily="34" charset="-128"/>
              </a:rPr>
              <a:t>Interesting thought</a:t>
            </a:r>
          </a:p>
        </p:txBody>
      </p:sp>
      <p:sp>
        <p:nvSpPr>
          <p:cNvPr id="7172" name="Content Placeholder 2">
            <a:extLst>
              <a:ext uri="{FF2B5EF4-FFF2-40B4-BE49-F238E27FC236}">
                <a16:creationId xmlns:a16="http://schemas.microsoft.com/office/drawing/2014/main" id="{9A5E2E61-DB2D-5D3E-0BBD-F320061AED4F}"/>
              </a:ext>
            </a:extLst>
          </p:cNvPr>
          <p:cNvSpPr txBox="1">
            <a:spLocks/>
          </p:cNvSpPr>
          <p:nvPr/>
        </p:nvSpPr>
        <p:spPr bwMode="auto">
          <a:xfrm>
            <a:off x="611560" y="1475656"/>
            <a:ext cx="7846640" cy="45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l" fontAlgn="base"/>
            <a:r>
              <a:rPr lang="en-GB" sz="1800" b="0" i="0" dirty="0">
                <a:solidFill>
                  <a:srgbClr val="1F1F1F"/>
                </a:solidFill>
                <a:effectLst/>
                <a:cs typeface="Arial" panose="020B0604020202020204" pitchFamily="34" charset="0"/>
              </a:rPr>
              <a:t>Does the equitable principle applied in </a:t>
            </a:r>
            <a:r>
              <a:rPr lang="en-GB" sz="1800" b="0" i="1" u="sng" dirty="0">
                <a:solidFill>
                  <a:srgbClr val="1F1F1F"/>
                </a:solidFill>
                <a:effectLst/>
                <a:cs typeface="Arial" panose="020B0604020202020204" pitchFamily="34" charset="0"/>
              </a:rPr>
              <a:t>Rochefoucauld </a:t>
            </a:r>
            <a:r>
              <a:rPr lang="en-GB" sz="1800" b="0" i="0" dirty="0">
                <a:solidFill>
                  <a:srgbClr val="1F1F1F"/>
                </a:solidFill>
                <a:effectLst/>
                <a:cs typeface="Arial" panose="020B0604020202020204" pitchFamily="34" charset="0"/>
              </a:rPr>
              <a:t>also apply </a:t>
            </a:r>
            <a:r>
              <a:rPr lang="en-GB" sz="1800" b="1" i="0" dirty="0">
                <a:solidFill>
                  <a:srgbClr val="1F1F1F"/>
                </a:solidFill>
                <a:effectLst/>
                <a:cs typeface="Arial" panose="020B0604020202020204" pitchFamily="34" charset="0"/>
              </a:rPr>
              <a:t>if land is acquired from a third party and then orally declared to be held on trust for a beneficiary? </a:t>
            </a:r>
            <a:r>
              <a:rPr lang="en-GB" sz="1800" dirty="0">
                <a:solidFill>
                  <a:srgbClr val="1F1F1F"/>
                </a:solidFill>
                <a:cs typeface="Arial" panose="020B0604020202020204" pitchFamily="34" charset="0"/>
              </a:rPr>
              <a:t>This was proposed in </a:t>
            </a:r>
            <a:r>
              <a:rPr lang="en-GB" sz="1800" i="1" u="sng" dirty="0">
                <a:solidFill>
                  <a:srgbClr val="1F1F1F"/>
                </a:solidFill>
                <a:cs typeface="Arial" panose="020B0604020202020204" pitchFamily="34" charset="0"/>
              </a:rPr>
              <a:t>Re Smith </a:t>
            </a:r>
            <a:r>
              <a:rPr lang="en-GB" sz="1800" u="sng" dirty="0">
                <a:solidFill>
                  <a:srgbClr val="1F1F1F"/>
                </a:solidFill>
                <a:cs typeface="Arial" panose="020B0604020202020204" pitchFamily="34" charset="0"/>
              </a:rPr>
              <a:t>[2023] EWHC 255 (Comm)</a:t>
            </a:r>
            <a:r>
              <a:rPr lang="en-GB" sz="1800" dirty="0">
                <a:solidFill>
                  <a:srgbClr val="1F1F1F"/>
                </a:solidFill>
                <a:cs typeface="Arial" panose="020B0604020202020204" pitchFamily="34" charset="0"/>
              </a:rPr>
              <a:t>. However, Justice Foxton said the following, at [7-8]:</a:t>
            </a:r>
          </a:p>
          <a:p>
            <a:pPr algn="l" fontAlgn="base"/>
            <a:endParaRPr lang="en-GB" sz="1600" dirty="0">
              <a:solidFill>
                <a:srgbClr val="1F1F1F"/>
              </a:solidFill>
              <a:cs typeface="Arial" panose="020B0604020202020204" pitchFamily="34" charset="0"/>
            </a:endParaRPr>
          </a:p>
          <a:p>
            <a:pPr algn="l" fontAlgn="base"/>
            <a:r>
              <a:rPr lang="en-GB" sz="1600" dirty="0">
                <a:solidFill>
                  <a:srgbClr val="1F1F1F"/>
                </a:solidFill>
                <a:cs typeface="Arial" panose="020B0604020202020204" pitchFamily="34" charset="0"/>
              </a:rPr>
              <a:t>“[. . . ] </a:t>
            </a:r>
            <a:r>
              <a:rPr lang="en-GB" sz="1600" b="0" i="0" dirty="0">
                <a:solidFill>
                  <a:srgbClr val="1F1F1F"/>
                </a:solidFill>
                <a:effectLst/>
                <a:cs typeface="Arial" panose="020B0604020202020204" pitchFamily="34" charset="0"/>
              </a:rPr>
              <a:t>that principle [that equity will not permit a statute to be used as </a:t>
            </a:r>
            <a:r>
              <a:rPr lang="en-GB" sz="1600" dirty="0">
                <a:solidFill>
                  <a:srgbClr val="1F1F1F"/>
                </a:solidFill>
                <a:cs typeface="Arial" panose="020B0604020202020204" pitchFamily="34" charset="0"/>
              </a:rPr>
              <a:t>an instrument of fraud]</a:t>
            </a:r>
            <a:r>
              <a:rPr lang="en-GB" sz="1600" b="0" i="0" dirty="0">
                <a:solidFill>
                  <a:srgbClr val="1F1F1F"/>
                </a:solidFill>
                <a:effectLst/>
                <a:cs typeface="Arial" panose="020B0604020202020204" pitchFamily="34" charset="0"/>
              </a:rPr>
              <a:t> is only engaged when property is transferred by a beneficiary to the putative trustee on the basis of an oral agreement that the property will be held on trust when received, with the trustee then seeking to rely on the absence of written record of the trust to preclude the beneficiary from challenging the absolute nature of the transfer. This is not such a case; rather it is a case in which Dr Smith acquired the property from a third party and is said, either contemporaneously or immediately afterwards, to have made an oral declaration of trust. The distinction between those two types of cases is clear [. . . ]. In the second type of case, the absence of writing cannot so easily be overcome. If it could, if I may permit myself the Chancery luxury, it would be to drive a coach and four through the requirement for writing under </a:t>
            </a:r>
            <a:r>
              <a:rPr lang="en-GB" sz="1600" dirty="0">
                <a:solidFill>
                  <a:srgbClr val="1F1F1F"/>
                </a:solidFill>
                <a:cs typeface="Arial" panose="020B0604020202020204" pitchFamily="34" charset="0"/>
              </a:rPr>
              <a:t>the 1925 Act.”</a:t>
            </a:r>
          </a:p>
          <a:p>
            <a:pPr lvl="1">
              <a:buFontTx/>
              <a:buNone/>
            </a:pPr>
            <a:endParaRPr lang="en-US" altLang="en-US"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spTree>
    <p:extLst>
      <p:ext uri="{BB962C8B-B14F-4D97-AF65-F5344CB8AC3E}">
        <p14:creationId xmlns:p14="http://schemas.microsoft.com/office/powerpoint/2010/main" val="231409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7FB1A22-8400-453E-919A-95DF4A48A176}"/>
              </a:ext>
            </a:extLst>
          </p:cNvPr>
          <p:cNvSpPr>
            <a:spLocks noGrp="1"/>
          </p:cNvSpPr>
          <p:nvPr>
            <p:ph type="title"/>
          </p:nvPr>
        </p:nvSpPr>
        <p:spPr/>
        <p:txBody>
          <a:bodyPr/>
          <a:lstStyle/>
          <a:p>
            <a:r>
              <a:rPr lang="en-GB" altLang="en-US" dirty="0">
                <a:latin typeface="+mn-lt"/>
                <a:ea typeface="ＭＳ Ｐゴシック" panose="020B0600070205080204" pitchFamily="34" charset="-128"/>
              </a:rPr>
              <a:t>Formalities for testamentary trusts</a:t>
            </a:r>
            <a:endParaRPr lang="en-GB" altLang="en-US" i="1" dirty="0">
              <a:latin typeface="+mn-lt"/>
              <a:ea typeface="ＭＳ Ｐゴシック" panose="020B0600070205080204" pitchFamily="34" charset="-128"/>
            </a:endParaRPr>
          </a:p>
        </p:txBody>
      </p:sp>
      <p:sp>
        <p:nvSpPr>
          <p:cNvPr id="11267" name="Content Placeholder 2">
            <a:extLst>
              <a:ext uri="{FF2B5EF4-FFF2-40B4-BE49-F238E27FC236}">
                <a16:creationId xmlns:a16="http://schemas.microsoft.com/office/drawing/2014/main" id="{462AE9B4-C76D-4FCD-A12C-6E9D8942D059}"/>
              </a:ext>
            </a:extLst>
          </p:cNvPr>
          <p:cNvSpPr txBox="1">
            <a:spLocks/>
          </p:cNvSpPr>
          <p:nvPr/>
        </p:nvSpPr>
        <p:spPr bwMode="auto">
          <a:xfrm>
            <a:off x="609600" y="1981200"/>
            <a:ext cx="3530600"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endParaRPr lang="en-US" altLang="en-US" b="1" dirty="0">
              <a:latin typeface="Calibri" panose="020F0502020204030204" pitchFamily="34" charset="0"/>
            </a:endParaRPr>
          </a:p>
          <a:p>
            <a:r>
              <a:rPr lang="en-US" altLang="en-US" b="1" dirty="0">
                <a:latin typeface="+mn-lt"/>
              </a:rPr>
              <a:t>All property:</a:t>
            </a:r>
          </a:p>
          <a:p>
            <a:r>
              <a:rPr lang="en-GB" altLang="en-US" sz="1800" dirty="0">
                <a:latin typeface="+mn-lt"/>
              </a:rPr>
              <a:t>Wills Act 1837: ‘in writing, and signed by the testator […] in the presence of two or more witnesses […] each witness […] attests and signs the will’ (s. 9)</a:t>
            </a:r>
          </a:p>
          <a:p>
            <a:pPr lvl="1">
              <a:buFontTx/>
              <a:buNone/>
            </a:pPr>
            <a:endParaRPr lang="en-GB" altLang="en-US" sz="2400" b="1" dirty="0">
              <a:latin typeface="Calibri" panose="020F0502020204030204" pitchFamily="34" charset="0"/>
            </a:endParaRPr>
          </a:p>
          <a:p>
            <a:pPr lvl="1">
              <a:buFontTx/>
              <a:buNone/>
            </a:pPr>
            <a:endParaRPr lang="en-US" altLang="en-US"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pic>
        <p:nvPicPr>
          <p:cNvPr id="11268" name="Picture 9" descr="C:\Users\knwf93\AppData\Local\Microsoft\Windows\Temporary Internet Files\Content.IE5\A1AOPBTI\9264617047_327578f62d_z[1].jpg">
            <a:extLst>
              <a:ext uri="{FF2B5EF4-FFF2-40B4-BE49-F238E27FC236}">
                <a16:creationId xmlns:a16="http://schemas.microsoft.com/office/drawing/2014/main" id="{109495A8-7AFA-46BC-9953-6FD57D3C9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1844675"/>
            <a:ext cx="3816350"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7249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0C4CB37-9E68-42F2-96C2-173B624CD724}"/>
              </a:ext>
            </a:extLst>
          </p:cNvPr>
          <p:cNvSpPr>
            <a:spLocks noGrp="1"/>
          </p:cNvSpPr>
          <p:nvPr>
            <p:ph type="title"/>
          </p:nvPr>
        </p:nvSpPr>
        <p:spPr/>
        <p:txBody>
          <a:bodyPr/>
          <a:lstStyle/>
          <a:p>
            <a:r>
              <a:rPr lang="en-GB" altLang="en-US" dirty="0">
                <a:latin typeface="+mn-lt"/>
                <a:ea typeface="ＭＳ Ｐゴシック" panose="020B0600070205080204" pitchFamily="34" charset="-128"/>
              </a:rPr>
              <a:t>Exceptions</a:t>
            </a:r>
            <a:endParaRPr lang="en-GB" altLang="en-US" i="1" dirty="0">
              <a:latin typeface="+mn-lt"/>
              <a:ea typeface="ＭＳ Ｐゴシック" panose="020B0600070205080204" pitchFamily="34" charset="-128"/>
            </a:endParaRPr>
          </a:p>
        </p:txBody>
      </p:sp>
      <p:sp>
        <p:nvSpPr>
          <p:cNvPr id="14339" name="Content Placeholder 2">
            <a:extLst>
              <a:ext uri="{FF2B5EF4-FFF2-40B4-BE49-F238E27FC236}">
                <a16:creationId xmlns:a16="http://schemas.microsoft.com/office/drawing/2014/main" id="{403E9F87-BB46-42D9-B268-1A1F45065917}"/>
              </a:ext>
            </a:extLst>
          </p:cNvPr>
          <p:cNvSpPr txBox="1">
            <a:spLocks/>
          </p:cNvSpPr>
          <p:nvPr/>
        </p:nvSpPr>
        <p:spPr bwMode="auto">
          <a:xfrm>
            <a:off x="609600" y="1981200"/>
            <a:ext cx="7491413"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charset="0"/>
                <a:ea typeface="ＭＳ Ｐゴシック" pitchFamily="4" charset="-128"/>
              </a:defRPr>
            </a:lvl1pPr>
            <a:lvl2pPr marL="742950" indent="-285750">
              <a:spcBef>
                <a:spcPct val="20000"/>
              </a:spcBef>
              <a:buChar char="–"/>
              <a:defRPr sz="1600">
                <a:solidFill>
                  <a:schemeClr val="tx1"/>
                </a:solidFill>
                <a:latin typeface="Arial" charset="0"/>
                <a:ea typeface="ＭＳ Ｐゴシック" pitchFamily="4" charset="-128"/>
              </a:defRPr>
            </a:lvl2pPr>
            <a:lvl3pPr marL="1143000" indent="-228600">
              <a:spcBef>
                <a:spcPct val="20000"/>
              </a:spcBef>
              <a:buChar char="•"/>
              <a:defRPr sz="1400">
                <a:solidFill>
                  <a:schemeClr val="tx1"/>
                </a:solidFill>
                <a:latin typeface="Arial" charset="0"/>
                <a:ea typeface="ＭＳ Ｐゴシック" pitchFamily="4" charset="-128"/>
              </a:defRPr>
            </a:lvl3pPr>
            <a:lvl4pPr marL="1600200" indent="-228600">
              <a:spcBef>
                <a:spcPct val="20000"/>
              </a:spcBef>
              <a:buChar char="–"/>
              <a:defRPr sz="1200">
                <a:solidFill>
                  <a:schemeClr val="tx1"/>
                </a:solidFill>
                <a:latin typeface="Arial" charset="0"/>
                <a:ea typeface="ＭＳ Ｐゴシック" pitchFamily="4" charset="-128"/>
              </a:defRPr>
            </a:lvl4pPr>
            <a:lvl5pPr marL="2057400" indent="-228600">
              <a:spcBef>
                <a:spcPct val="20000"/>
              </a:spcBef>
              <a:buChar char="»"/>
              <a:defRPr sz="1200">
                <a:solidFill>
                  <a:schemeClr val="tx1"/>
                </a:solidFill>
                <a:latin typeface="Arial" charset="0"/>
                <a:ea typeface="ＭＳ Ｐゴシック" pitchFamily="4" charset="-128"/>
              </a:defRPr>
            </a:lvl5pPr>
            <a:lvl6pPr marL="25146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6pPr>
            <a:lvl7pPr marL="29718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7pPr>
            <a:lvl8pPr marL="34290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8pPr>
            <a:lvl9pPr marL="38862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9pPr>
          </a:lstStyle>
          <a:p>
            <a:pPr marL="0" lvl="1" indent="0">
              <a:spcBef>
                <a:spcPct val="0"/>
              </a:spcBef>
              <a:buFontTx/>
              <a:buNone/>
              <a:defRPr/>
            </a:pPr>
            <a:r>
              <a:rPr lang="en-GB" altLang="en-US" sz="2400" b="1" dirty="0">
                <a:latin typeface="+mn-lt"/>
              </a:rPr>
              <a:t>Two exceptions to the formality requirements for testamentary trusts:</a:t>
            </a:r>
          </a:p>
          <a:p>
            <a:pPr lvl="1">
              <a:buFontTx/>
              <a:buChar char="•"/>
              <a:defRPr/>
            </a:pPr>
            <a:r>
              <a:rPr lang="en-GB" altLang="en-US" sz="2400" b="1" dirty="0">
                <a:latin typeface="+mn-lt"/>
              </a:rPr>
              <a:t>Fully</a:t>
            </a:r>
            <a:r>
              <a:rPr lang="en-GB" altLang="en-US" sz="2400" dirty="0">
                <a:latin typeface="+mn-lt"/>
              </a:rPr>
              <a:t> secret trusts</a:t>
            </a:r>
          </a:p>
          <a:p>
            <a:pPr lvl="1">
              <a:buFontTx/>
              <a:buChar char="•"/>
              <a:defRPr/>
            </a:pPr>
            <a:r>
              <a:rPr lang="en-GB" altLang="en-US" sz="2400" b="1" dirty="0">
                <a:latin typeface="+mn-lt"/>
              </a:rPr>
              <a:t>Half</a:t>
            </a:r>
            <a:r>
              <a:rPr lang="en-GB" altLang="en-US" sz="2400" dirty="0">
                <a:latin typeface="+mn-lt"/>
              </a:rPr>
              <a:t>-secret trusts</a:t>
            </a:r>
          </a:p>
        </p:txBody>
      </p:sp>
      <p:pic>
        <p:nvPicPr>
          <p:cNvPr id="13316" name="Picture 12">
            <a:extLst>
              <a:ext uri="{FF2B5EF4-FFF2-40B4-BE49-F238E27FC236}">
                <a16:creationId xmlns:a16="http://schemas.microsoft.com/office/drawing/2014/main" id="{3C8C53B6-7808-4220-A195-9F28042078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2589213"/>
            <a:ext cx="2952750" cy="3984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9263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4EBBBABE-C7CD-4919-BB11-1BDF7C2DA294}"/>
              </a:ext>
            </a:extLst>
          </p:cNvPr>
          <p:cNvSpPr>
            <a:spLocks noGrp="1"/>
          </p:cNvSpPr>
          <p:nvPr>
            <p:ph type="title"/>
          </p:nvPr>
        </p:nvSpPr>
        <p:spPr/>
        <p:txBody>
          <a:bodyPr/>
          <a:lstStyle/>
          <a:p>
            <a:r>
              <a:rPr lang="en-GB" altLang="en-US" dirty="0">
                <a:latin typeface="+mn-lt"/>
                <a:ea typeface="ＭＳ Ｐゴシック" panose="020B0600070205080204" pitchFamily="34" charset="-128"/>
              </a:rPr>
              <a:t>The fully secret trust</a:t>
            </a:r>
            <a:endParaRPr lang="en-GB" altLang="en-US" i="1" dirty="0">
              <a:latin typeface="+mn-lt"/>
              <a:ea typeface="ＭＳ Ｐゴシック" panose="020B0600070205080204" pitchFamily="34" charset="-128"/>
            </a:endParaRPr>
          </a:p>
        </p:txBody>
      </p:sp>
      <p:sp>
        <p:nvSpPr>
          <p:cNvPr id="14339" name="Content Placeholder 2">
            <a:extLst>
              <a:ext uri="{FF2B5EF4-FFF2-40B4-BE49-F238E27FC236}">
                <a16:creationId xmlns:a16="http://schemas.microsoft.com/office/drawing/2014/main" id="{383B00FF-CF54-4E5F-A364-AEF1F0AD2A56}"/>
              </a:ext>
            </a:extLst>
          </p:cNvPr>
          <p:cNvSpPr txBox="1">
            <a:spLocks/>
          </p:cNvSpPr>
          <p:nvPr/>
        </p:nvSpPr>
        <p:spPr bwMode="auto">
          <a:xfrm>
            <a:off x="609600" y="1981200"/>
            <a:ext cx="7491413"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b="1" dirty="0">
                <a:latin typeface="+mn-lt"/>
              </a:rPr>
              <a:t>Requirements:</a:t>
            </a:r>
          </a:p>
          <a:p>
            <a:pPr lvl="1">
              <a:buFontTx/>
              <a:buChar char="•"/>
            </a:pPr>
            <a:r>
              <a:rPr lang="en-GB" altLang="en-US" sz="1800" dirty="0">
                <a:latin typeface="+mn-lt"/>
              </a:rPr>
              <a:t>Intention</a:t>
            </a:r>
          </a:p>
          <a:p>
            <a:pPr lvl="1">
              <a:buFontTx/>
              <a:buChar char="•"/>
            </a:pPr>
            <a:r>
              <a:rPr lang="en-GB" altLang="en-US" sz="1800" dirty="0">
                <a:latin typeface="+mn-lt"/>
              </a:rPr>
              <a:t>Communication</a:t>
            </a:r>
          </a:p>
          <a:p>
            <a:pPr lvl="1">
              <a:buFontTx/>
              <a:buChar char="•"/>
            </a:pPr>
            <a:r>
              <a:rPr lang="en-GB" altLang="en-US" sz="1800" dirty="0">
                <a:latin typeface="+mn-lt"/>
              </a:rPr>
              <a:t>Acceptance</a:t>
            </a:r>
          </a:p>
          <a:p>
            <a:pPr lvl="1">
              <a:buFontTx/>
              <a:buNone/>
            </a:pPr>
            <a:endParaRPr lang="en-GB" altLang="en-US" sz="2400" b="1" dirty="0">
              <a:latin typeface="Calibri" panose="020F0502020204030204" pitchFamily="34" charset="0"/>
            </a:endParaRPr>
          </a:p>
          <a:p>
            <a:pPr lvl="1">
              <a:buFontTx/>
              <a:buNone/>
            </a:pPr>
            <a:endParaRPr lang="en-US" altLang="en-US"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pic>
        <p:nvPicPr>
          <p:cNvPr id="14340" name="Picture 1">
            <a:extLst>
              <a:ext uri="{FF2B5EF4-FFF2-40B4-BE49-F238E27FC236}">
                <a16:creationId xmlns:a16="http://schemas.microsoft.com/office/drawing/2014/main" id="{46D30358-7767-4737-B625-E54994F696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81500" y="2659063"/>
            <a:ext cx="3444875"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341" name="Straight Connector 5">
            <a:extLst>
              <a:ext uri="{FF2B5EF4-FFF2-40B4-BE49-F238E27FC236}">
                <a16:creationId xmlns:a16="http://schemas.microsoft.com/office/drawing/2014/main" id="{C5FF3721-8EDA-4C31-9306-CE9CF43383CA}"/>
              </a:ext>
            </a:extLst>
          </p:cNvPr>
          <p:cNvCxnSpPr>
            <a:cxnSpLocks noChangeShapeType="1"/>
          </p:cNvCxnSpPr>
          <p:nvPr/>
        </p:nvCxnSpPr>
        <p:spPr bwMode="auto">
          <a:xfrm>
            <a:off x="323850" y="4548188"/>
            <a:ext cx="33845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CE12837B-69D5-48D5-A01B-EE72CC8B221E}"/>
              </a:ext>
            </a:extLst>
          </p:cNvPr>
          <p:cNvSpPr txBox="1"/>
          <p:nvPr/>
        </p:nvSpPr>
        <p:spPr>
          <a:xfrm>
            <a:off x="2737643" y="4082846"/>
            <a:ext cx="1295400" cy="471487"/>
          </a:xfrm>
          <a:prstGeom prst="rect">
            <a:avLst/>
          </a:prstGeom>
          <a:noFill/>
        </p:spPr>
        <p:txBody>
          <a:bodyPr>
            <a:spAutoFit/>
          </a:bodyPr>
          <a:lstStyle/>
          <a:p>
            <a:pPr>
              <a:defRPr/>
            </a:pPr>
            <a:r>
              <a:rPr lang="en-GB" dirty="0">
                <a:latin typeface="+mn-lt"/>
              </a:rPr>
              <a:t>Death</a:t>
            </a:r>
            <a:r>
              <a:rPr lang="en-GB" dirty="0">
                <a:latin typeface="Times" pitchFamily="4" charset="0"/>
              </a:rPr>
              <a:t> </a:t>
            </a:r>
          </a:p>
        </p:txBody>
      </p:sp>
      <p:sp>
        <p:nvSpPr>
          <p:cNvPr id="10" name="TextBox 9">
            <a:extLst>
              <a:ext uri="{FF2B5EF4-FFF2-40B4-BE49-F238E27FC236}">
                <a16:creationId xmlns:a16="http://schemas.microsoft.com/office/drawing/2014/main" id="{D82869EC-BC6E-4E8B-BEF6-39B24528B273}"/>
              </a:ext>
            </a:extLst>
          </p:cNvPr>
          <p:cNvSpPr txBox="1"/>
          <p:nvPr/>
        </p:nvSpPr>
        <p:spPr>
          <a:xfrm>
            <a:off x="468313" y="4076700"/>
            <a:ext cx="1295400" cy="471488"/>
          </a:xfrm>
          <a:prstGeom prst="rect">
            <a:avLst/>
          </a:prstGeom>
          <a:noFill/>
        </p:spPr>
        <p:txBody>
          <a:bodyPr>
            <a:spAutoFit/>
          </a:bodyPr>
          <a:lstStyle/>
          <a:p>
            <a:pPr>
              <a:defRPr/>
            </a:pPr>
            <a:r>
              <a:rPr lang="en-GB" dirty="0">
                <a:latin typeface="+mn-lt"/>
              </a:rPr>
              <a:t>Will</a:t>
            </a:r>
            <a:r>
              <a:rPr lang="en-GB" dirty="0">
                <a:latin typeface="Times" pitchFamily="4" charset="0"/>
              </a:rPr>
              <a:t> </a:t>
            </a:r>
          </a:p>
        </p:txBody>
      </p:sp>
      <p:cxnSp>
        <p:nvCxnSpPr>
          <p:cNvPr id="14344" name="Straight Arrow Connector 8">
            <a:extLst>
              <a:ext uri="{FF2B5EF4-FFF2-40B4-BE49-F238E27FC236}">
                <a16:creationId xmlns:a16="http://schemas.microsoft.com/office/drawing/2014/main" id="{9F11645D-4BFC-40E2-A3D7-FF96293791B8}"/>
              </a:ext>
            </a:extLst>
          </p:cNvPr>
          <p:cNvCxnSpPr>
            <a:cxnSpLocks noChangeShapeType="1"/>
          </p:cNvCxnSpPr>
          <p:nvPr/>
        </p:nvCxnSpPr>
        <p:spPr bwMode="auto">
          <a:xfrm>
            <a:off x="1979613" y="3500438"/>
            <a:ext cx="0" cy="896937"/>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45" name="Straight Connector 12">
            <a:extLst>
              <a:ext uri="{FF2B5EF4-FFF2-40B4-BE49-F238E27FC236}">
                <a16:creationId xmlns:a16="http://schemas.microsoft.com/office/drawing/2014/main" id="{E25B70AC-84DA-427C-A317-656E039FE414}"/>
              </a:ext>
            </a:extLst>
          </p:cNvPr>
          <p:cNvCxnSpPr>
            <a:cxnSpLocks noChangeShapeType="1"/>
          </p:cNvCxnSpPr>
          <p:nvPr/>
        </p:nvCxnSpPr>
        <p:spPr bwMode="auto">
          <a:xfrm>
            <a:off x="827088" y="4476750"/>
            <a:ext cx="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4346" name="Straight Connector 15">
            <a:extLst>
              <a:ext uri="{FF2B5EF4-FFF2-40B4-BE49-F238E27FC236}">
                <a16:creationId xmlns:a16="http://schemas.microsoft.com/office/drawing/2014/main" id="{7A6ABA7E-C7D0-4C95-B179-D3A25DB006B8}"/>
              </a:ext>
            </a:extLst>
          </p:cNvPr>
          <p:cNvCxnSpPr>
            <a:cxnSpLocks noChangeShapeType="1"/>
          </p:cNvCxnSpPr>
          <p:nvPr/>
        </p:nvCxnSpPr>
        <p:spPr bwMode="auto">
          <a:xfrm>
            <a:off x="3708400" y="4476750"/>
            <a:ext cx="0" cy="1444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90199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ECA21-2CC2-5F0E-EA3E-F18EDE952CAE}"/>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CAFA8710-7814-0DB0-C37F-C27756DF472A}"/>
              </a:ext>
            </a:extLst>
          </p:cNvPr>
          <p:cNvSpPr>
            <a:spLocks noGrp="1"/>
          </p:cNvSpPr>
          <p:nvPr>
            <p:ph type="title"/>
          </p:nvPr>
        </p:nvSpPr>
        <p:spPr/>
        <p:txBody>
          <a:bodyPr/>
          <a:lstStyle/>
          <a:p>
            <a:r>
              <a:rPr lang="en-GB" altLang="en-US" dirty="0">
                <a:latin typeface="+mn-lt"/>
                <a:ea typeface="ＭＳ Ｐゴシック" panose="020B0600070205080204" pitchFamily="34" charset="-128"/>
              </a:rPr>
              <a:t>Fully secret trusts are very hard to prove…</a:t>
            </a:r>
            <a:endParaRPr lang="en-GB" altLang="en-US" i="1" dirty="0">
              <a:latin typeface="+mn-lt"/>
              <a:ea typeface="ＭＳ Ｐゴシック" panose="020B0600070205080204" pitchFamily="34" charset="-128"/>
            </a:endParaRPr>
          </a:p>
        </p:txBody>
      </p:sp>
      <p:sp>
        <p:nvSpPr>
          <p:cNvPr id="11267" name="Content Placeholder 2">
            <a:extLst>
              <a:ext uri="{FF2B5EF4-FFF2-40B4-BE49-F238E27FC236}">
                <a16:creationId xmlns:a16="http://schemas.microsoft.com/office/drawing/2014/main" id="{215DF85C-0F64-528D-E0FB-6857E4F331E6}"/>
              </a:ext>
            </a:extLst>
          </p:cNvPr>
          <p:cNvSpPr txBox="1">
            <a:spLocks/>
          </p:cNvSpPr>
          <p:nvPr/>
        </p:nvSpPr>
        <p:spPr bwMode="auto">
          <a:xfrm>
            <a:off x="609600" y="1981200"/>
            <a:ext cx="8066856"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lvl="1" indent="0">
              <a:buFontTx/>
              <a:buNone/>
            </a:pPr>
            <a:r>
              <a:rPr lang="en-US" altLang="en-US" sz="2400" dirty="0">
                <a:cs typeface="Arial" panose="020B0604020202020204" pitchFamily="34" charset="0"/>
              </a:rPr>
              <a:t>… without evidence. See this case involving a Durham student (</a:t>
            </a:r>
            <a:r>
              <a:rPr lang="en-GB" sz="2400" b="0" i="1" u="sng" strike="noStrike" dirty="0">
                <a:solidFill>
                  <a:srgbClr val="000000"/>
                </a:solidFill>
                <a:effectLst/>
                <a:latin typeface="Arial" panose="020B0604020202020204" pitchFamily="34" charset="0"/>
              </a:rPr>
              <a:t>Re </a:t>
            </a:r>
            <a:r>
              <a:rPr lang="en-GB" sz="2400" b="0" i="1" u="sng" strike="noStrike" dirty="0" err="1">
                <a:solidFill>
                  <a:srgbClr val="000000"/>
                </a:solidFill>
                <a:effectLst/>
                <a:latin typeface="Arial" panose="020B0604020202020204" pitchFamily="34" charset="0"/>
              </a:rPr>
              <a:t>Mattingley</a:t>
            </a:r>
            <a:r>
              <a:rPr lang="en-GB" sz="2400" b="0" i="1" u="sng" strike="noStrike" dirty="0">
                <a:solidFill>
                  <a:srgbClr val="000000"/>
                </a:solidFill>
                <a:effectLst/>
                <a:latin typeface="Arial" panose="020B0604020202020204" pitchFamily="34" charset="0"/>
              </a:rPr>
              <a:t> </a:t>
            </a:r>
            <a:r>
              <a:rPr lang="en-GB" sz="2400" b="0" i="0" u="sng" strike="noStrike" dirty="0">
                <a:solidFill>
                  <a:srgbClr val="000000"/>
                </a:solidFill>
                <a:effectLst/>
                <a:latin typeface="Arial" panose="020B0604020202020204" pitchFamily="34" charset="0"/>
              </a:rPr>
              <a:t>[2021] EWHC 3353 (Ch)</a:t>
            </a:r>
            <a:r>
              <a:rPr lang="en-GB" sz="2400" b="0" i="0" strike="noStrike" dirty="0">
                <a:solidFill>
                  <a:srgbClr val="000000"/>
                </a:solidFill>
                <a:effectLst/>
                <a:latin typeface="Arial" panose="020B0604020202020204" pitchFamily="34" charset="0"/>
              </a:rPr>
              <a:t>):</a:t>
            </a:r>
            <a:endParaRPr lang="en-US" altLang="en-US" sz="2400" dirty="0">
              <a:cs typeface="Arial" panose="020B0604020202020204" pitchFamily="34" charset="0"/>
            </a:endParaRPr>
          </a:p>
          <a:p>
            <a:pPr marL="0" lvl="1" indent="0">
              <a:buFontTx/>
              <a:buNone/>
            </a:pPr>
            <a:r>
              <a:rPr lang="en-GB" altLang="en-US" sz="2400" dirty="0">
                <a:cs typeface="Arial" panose="020B0604020202020204" pitchFamily="34" charset="0"/>
                <a:hlinkClick r:id="rId2"/>
              </a:rPr>
              <a:t>https://www.dailymail.co.uk/news/article-10316169/Durham-student-loses-court-battle-aunt-late-mothers-600-000-Kent-home.html</a:t>
            </a:r>
            <a:endParaRPr lang="en-GB" altLang="en-US" sz="2400" dirty="0">
              <a:cs typeface="Arial" panose="020B0604020202020204" pitchFamily="34" charset="0"/>
            </a:endParaRPr>
          </a:p>
          <a:p>
            <a:pPr marL="0" lvl="1" indent="0">
              <a:buFontTx/>
              <a:buNone/>
            </a:pPr>
            <a:endParaRPr lang="en-GB" altLang="en-US" sz="2400" dirty="0">
              <a:cs typeface="Arial" panose="020B0604020202020204" pitchFamily="34" charset="0"/>
            </a:endParaRPr>
          </a:p>
          <a:p>
            <a:pPr marL="0" lvl="1" indent="0">
              <a:buFontTx/>
              <a:buNone/>
            </a:pPr>
            <a:endParaRPr lang="en-GB" altLang="en-US" sz="2400" dirty="0">
              <a:cs typeface="Arial" panose="020B0604020202020204" pitchFamily="34" charset="0"/>
            </a:endParaRPr>
          </a:p>
          <a:p>
            <a:pPr lvl="1">
              <a:buFontTx/>
              <a:buNone/>
            </a:pPr>
            <a:endParaRPr lang="en-US" altLang="en-US"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spTree>
    <p:extLst>
      <p:ext uri="{BB962C8B-B14F-4D97-AF65-F5344CB8AC3E}">
        <p14:creationId xmlns:p14="http://schemas.microsoft.com/office/powerpoint/2010/main" val="2999311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50EF3C4-5541-4BB8-A7FD-FB94C9AAC9F9}"/>
              </a:ext>
            </a:extLst>
          </p:cNvPr>
          <p:cNvSpPr>
            <a:spLocks noGrp="1"/>
          </p:cNvSpPr>
          <p:nvPr>
            <p:ph type="title"/>
          </p:nvPr>
        </p:nvSpPr>
        <p:spPr/>
        <p:txBody>
          <a:bodyPr/>
          <a:lstStyle/>
          <a:p>
            <a:r>
              <a:rPr lang="en-GB" altLang="en-US" dirty="0">
                <a:latin typeface="+mn-lt"/>
                <a:ea typeface="ＭＳ Ｐゴシック" panose="020B0600070205080204" pitchFamily="34" charset="-128"/>
              </a:rPr>
              <a:t>The half-secret trust</a:t>
            </a:r>
            <a:endParaRPr lang="en-GB" altLang="en-US" i="1" dirty="0">
              <a:latin typeface="+mn-lt"/>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3CE85D77-1D6F-428F-BAAE-98390055FEA2}"/>
              </a:ext>
            </a:extLst>
          </p:cNvPr>
          <p:cNvSpPr txBox="1">
            <a:spLocks/>
          </p:cNvSpPr>
          <p:nvPr/>
        </p:nvSpPr>
        <p:spPr bwMode="auto">
          <a:xfrm>
            <a:off x="609600" y="1981200"/>
            <a:ext cx="7491413"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b="1" dirty="0">
                <a:latin typeface="+mn-lt"/>
              </a:rPr>
              <a:t>Requirements:</a:t>
            </a:r>
          </a:p>
          <a:p>
            <a:pPr lvl="1">
              <a:buFontTx/>
              <a:buChar char="•"/>
            </a:pPr>
            <a:r>
              <a:rPr lang="en-GB" altLang="en-US" sz="1800" dirty="0">
                <a:latin typeface="+mn-lt"/>
              </a:rPr>
              <a:t>Intention</a:t>
            </a:r>
          </a:p>
          <a:p>
            <a:pPr lvl="1">
              <a:buFontTx/>
              <a:buChar char="•"/>
            </a:pPr>
            <a:r>
              <a:rPr lang="en-GB" altLang="en-US" sz="1800" dirty="0">
                <a:latin typeface="+mn-lt"/>
              </a:rPr>
              <a:t>Communication</a:t>
            </a:r>
          </a:p>
          <a:p>
            <a:pPr lvl="1">
              <a:buFontTx/>
              <a:buChar char="•"/>
            </a:pPr>
            <a:r>
              <a:rPr lang="en-GB" altLang="en-US" sz="1800" dirty="0">
                <a:latin typeface="+mn-lt"/>
              </a:rPr>
              <a:t>Acceptance</a:t>
            </a:r>
          </a:p>
          <a:p>
            <a:pPr lvl="1">
              <a:buFontTx/>
              <a:buNone/>
            </a:pPr>
            <a:endParaRPr lang="en-GB" altLang="en-US" sz="2400" b="1" dirty="0">
              <a:latin typeface="Calibri" panose="020F0502020204030204" pitchFamily="34" charset="0"/>
            </a:endParaRPr>
          </a:p>
          <a:p>
            <a:pPr lvl="1">
              <a:buFontTx/>
              <a:buNone/>
            </a:pPr>
            <a:endParaRPr lang="en-US" altLang="en-US"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pic>
        <p:nvPicPr>
          <p:cNvPr id="15364" name="Picture 1">
            <a:extLst>
              <a:ext uri="{FF2B5EF4-FFF2-40B4-BE49-F238E27FC236}">
                <a16:creationId xmlns:a16="http://schemas.microsoft.com/office/drawing/2014/main" id="{B63873F8-507F-40D3-9E02-771B91FC62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81500" y="2659063"/>
            <a:ext cx="3444875"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365" name="Straight Connector 5">
            <a:extLst>
              <a:ext uri="{FF2B5EF4-FFF2-40B4-BE49-F238E27FC236}">
                <a16:creationId xmlns:a16="http://schemas.microsoft.com/office/drawing/2014/main" id="{1F7E98CC-D7C2-4210-9B4B-1AB679645A45}"/>
              </a:ext>
            </a:extLst>
          </p:cNvPr>
          <p:cNvCxnSpPr>
            <a:cxnSpLocks noChangeShapeType="1"/>
          </p:cNvCxnSpPr>
          <p:nvPr/>
        </p:nvCxnSpPr>
        <p:spPr bwMode="auto">
          <a:xfrm>
            <a:off x="323850" y="4548188"/>
            <a:ext cx="33845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A4FB1A7A-E88E-43B0-B37D-71DFCA5C6B43}"/>
              </a:ext>
            </a:extLst>
          </p:cNvPr>
          <p:cNvSpPr txBox="1"/>
          <p:nvPr/>
        </p:nvSpPr>
        <p:spPr>
          <a:xfrm>
            <a:off x="2737643" y="4076700"/>
            <a:ext cx="1295400" cy="471487"/>
          </a:xfrm>
          <a:prstGeom prst="rect">
            <a:avLst/>
          </a:prstGeom>
          <a:noFill/>
        </p:spPr>
        <p:txBody>
          <a:bodyPr>
            <a:spAutoFit/>
          </a:bodyPr>
          <a:lstStyle/>
          <a:p>
            <a:pPr>
              <a:defRPr/>
            </a:pPr>
            <a:r>
              <a:rPr lang="en-GB" dirty="0">
                <a:latin typeface="+mn-lt"/>
              </a:rPr>
              <a:t>Death</a:t>
            </a:r>
            <a:r>
              <a:rPr lang="en-GB" dirty="0">
                <a:latin typeface="Times" pitchFamily="4" charset="0"/>
              </a:rPr>
              <a:t> </a:t>
            </a:r>
          </a:p>
        </p:txBody>
      </p:sp>
      <p:sp>
        <p:nvSpPr>
          <p:cNvPr id="10" name="TextBox 9">
            <a:extLst>
              <a:ext uri="{FF2B5EF4-FFF2-40B4-BE49-F238E27FC236}">
                <a16:creationId xmlns:a16="http://schemas.microsoft.com/office/drawing/2014/main" id="{5286D55B-D892-4D8D-A801-123B296D2392}"/>
              </a:ext>
            </a:extLst>
          </p:cNvPr>
          <p:cNvSpPr txBox="1"/>
          <p:nvPr/>
        </p:nvSpPr>
        <p:spPr>
          <a:xfrm>
            <a:off x="468313" y="4076700"/>
            <a:ext cx="1295400" cy="471488"/>
          </a:xfrm>
          <a:prstGeom prst="rect">
            <a:avLst/>
          </a:prstGeom>
          <a:noFill/>
        </p:spPr>
        <p:txBody>
          <a:bodyPr>
            <a:spAutoFit/>
          </a:bodyPr>
          <a:lstStyle/>
          <a:p>
            <a:pPr>
              <a:defRPr/>
            </a:pPr>
            <a:r>
              <a:rPr lang="en-GB" dirty="0">
                <a:latin typeface="+mn-lt"/>
              </a:rPr>
              <a:t>Will</a:t>
            </a:r>
            <a:r>
              <a:rPr lang="en-GB" dirty="0">
                <a:latin typeface="Times" pitchFamily="4" charset="0"/>
              </a:rPr>
              <a:t> </a:t>
            </a:r>
          </a:p>
        </p:txBody>
      </p:sp>
      <p:cxnSp>
        <p:nvCxnSpPr>
          <p:cNvPr id="15368" name="Straight Arrow Connector 8">
            <a:extLst>
              <a:ext uri="{FF2B5EF4-FFF2-40B4-BE49-F238E27FC236}">
                <a16:creationId xmlns:a16="http://schemas.microsoft.com/office/drawing/2014/main" id="{817ECB1A-CBD2-4D6C-8F46-08C6A8615794}"/>
              </a:ext>
            </a:extLst>
          </p:cNvPr>
          <p:cNvCxnSpPr>
            <a:cxnSpLocks noChangeShapeType="1"/>
          </p:cNvCxnSpPr>
          <p:nvPr/>
        </p:nvCxnSpPr>
        <p:spPr bwMode="auto">
          <a:xfrm flipH="1">
            <a:off x="849312" y="3429000"/>
            <a:ext cx="914401" cy="647699"/>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369" name="Straight Connector 12">
            <a:extLst>
              <a:ext uri="{FF2B5EF4-FFF2-40B4-BE49-F238E27FC236}">
                <a16:creationId xmlns:a16="http://schemas.microsoft.com/office/drawing/2014/main" id="{B1287966-AF9C-4AE8-AA47-CA8C43A58685}"/>
              </a:ext>
            </a:extLst>
          </p:cNvPr>
          <p:cNvCxnSpPr>
            <a:cxnSpLocks noChangeShapeType="1"/>
          </p:cNvCxnSpPr>
          <p:nvPr/>
        </p:nvCxnSpPr>
        <p:spPr bwMode="auto">
          <a:xfrm>
            <a:off x="827088" y="4476750"/>
            <a:ext cx="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5370" name="Straight Connector 15">
            <a:extLst>
              <a:ext uri="{FF2B5EF4-FFF2-40B4-BE49-F238E27FC236}">
                <a16:creationId xmlns:a16="http://schemas.microsoft.com/office/drawing/2014/main" id="{782280D8-36C4-4F9B-B27A-45299CD8A049}"/>
              </a:ext>
            </a:extLst>
          </p:cNvPr>
          <p:cNvCxnSpPr>
            <a:cxnSpLocks noChangeShapeType="1"/>
          </p:cNvCxnSpPr>
          <p:nvPr/>
        </p:nvCxnSpPr>
        <p:spPr bwMode="auto">
          <a:xfrm>
            <a:off x="3708400" y="4476750"/>
            <a:ext cx="0" cy="1444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15371" name="TextBox 2">
            <a:extLst>
              <a:ext uri="{FF2B5EF4-FFF2-40B4-BE49-F238E27FC236}">
                <a16:creationId xmlns:a16="http://schemas.microsoft.com/office/drawing/2014/main" id="{8DABE00E-F092-4FFF-876B-1E5A9435C90D}"/>
              </a:ext>
            </a:extLst>
          </p:cNvPr>
          <p:cNvSpPr txBox="1">
            <a:spLocks noChangeArrowheads="1"/>
          </p:cNvSpPr>
          <p:nvPr/>
        </p:nvSpPr>
        <p:spPr bwMode="auto">
          <a:xfrm>
            <a:off x="6626225" y="3875088"/>
            <a:ext cx="1800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GB" altLang="en-US" sz="2800" b="1">
                <a:solidFill>
                  <a:srgbClr val="FF0000"/>
                </a:solidFill>
                <a:latin typeface="Segoe Script" panose="030B0504020000000003" pitchFamily="66" charset="0"/>
              </a:rPr>
              <a:t>half-</a:t>
            </a:r>
          </a:p>
        </p:txBody>
      </p:sp>
    </p:spTree>
    <p:extLst>
      <p:ext uri="{BB962C8B-B14F-4D97-AF65-F5344CB8AC3E}">
        <p14:creationId xmlns:p14="http://schemas.microsoft.com/office/powerpoint/2010/main" val="1739958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D34D-2879-7F06-B6D7-192BD46135DB}"/>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2DF94D59-4910-E4BE-2B3D-5FDD886BEDA1}"/>
              </a:ext>
            </a:extLst>
          </p:cNvPr>
          <p:cNvSpPr>
            <a:spLocks noGrp="1"/>
          </p:cNvSpPr>
          <p:nvPr>
            <p:ph type="title"/>
          </p:nvPr>
        </p:nvSpPr>
        <p:spPr/>
        <p:txBody>
          <a:bodyPr/>
          <a:lstStyle/>
          <a:p>
            <a:r>
              <a:rPr lang="en-GB" altLang="en-US" dirty="0">
                <a:latin typeface="+mn-lt"/>
                <a:ea typeface="ＭＳ Ｐゴシック" panose="020B0600070205080204" pitchFamily="34" charset="-128"/>
              </a:rPr>
              <a:t>Pay particular attention to…</a:t>
            </a:r>
            <a:endParaRPr lang="en-GB" altLang="en-US" i="1" dirty="0">
              <a:latin typeface="+mn-lt"/>
              <a:ea typeface="ＭＳ Ｐゴシック" panose="020B0600070205080204" pitchFamily="34" charset="-128"/>
            </a:endParaRPr>
          </a:p>
        </p:txBody>
      </p:sp>
      <p:sp>
        <p:nvSpPr>
          <p:cNvPr id="14339" name="Content Placeholder 2">
            <a:extLst>
              <a:ext uri="{FF2B5EF4-FFF2-40B4-BE49-F238E27FC236}">
                <a16:creationId xmlns:a16="http://schemas.microsoft.com/office/drawing/2014/main" id="{6F50111E-67F1-8753-34A0-46EB0C7BF9B8}"/>
              </a:ext>
            </a:extLst>
          </p:cNvPr>
          <p:cNvSpPr txBox="1">
            <a:spLocks/>
          </p:cNvSpPr>
          <p:nvPr/>
        </p:nvSpPr>
        <p:spPr bwMode="auto">
          <a:xfrm>
            <a:off x="539552" y="1768624"/>
            <a:ext cx="7918648" cy="943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sz="2000" dirty="0">
                <a:cs typeface="Arial" panose="020B0604020202020204" pitchFamily="34" charset="0"/>
              </a:rPr>
              <a:t>…intention: For fully secret trusts, there must have been an intention to create a legal rather than moral obligation: </a:t>
            </a:r>
            <a:r>
              <a:rPr lang="en-GB" sz="2000" i="1" u="sng" dirty="0">
                <a:effectLst/>
                <a:ea typeface="Calibri" panose="020F0502020204030204" pitchFamily="34" charset="0"/>
                <a:cs typeface="Arial" panose="020B0604020202020204" pitchFamily="34" charset="0"/>
              </a:rPr>
              <a:t>Re Snowden </a:t>
            </a:r>
            <a:r>
              <a:rPr lang="en-GB" sz="2000" u="sng" dirty="0">
                <a:effectLst/>
                <a:ea typeface="Times New Roman" panose="02020603050405020304" pitchFamily="18" charset="0"/>
                <a:cs typeface="Arial" panose="020B0604020202020204" pitchFamily="34" charset="0"/>
              </a:rPr>
              <a:t>[1979] Ch 528</a:t>
            </a:r>
            <a:r>
              <a:rPr lang="en-GB" sz="2000" dirty="0">
                <a:ea typeface="Times New Roman" panose="02020603050405020304" pitchFamily="18" charset="0"/>
                <a:cs typeface="Arial" panose="020B0604020202020204" pitchFamily="34" charset="0"/>
              </a:rPr>
              <a:t>. This is not an issue for half-secret trusts.</a:t>
            </a:r>
            <a:endParaRPr lang="en-US" altLang="en-US" sz="2000" dirty="0">
              <a:cs typeface="Arial" panose="020B0604020202020204" pitchFamily="34" charset="0"/>
            </a:endParaRPr>
          </a:p>
          <a:p>
            <a:endParaRPr lang="en-US" altLang="en-US" sz="2000" dirty="0"/>
          </a:p>
        </p:txBody>
      </p:sp>
      <p:sp>
        <p:nvSpPr>
          <p:cNvPr id="2" name="Content Placeholder 2">
            <a:extLst>
              <a:ext uri="{FF2B5EF4-FFF2-40B4-BE49-F238E27FC236}">
                <a16:creationId xmlns:a16="http://schemas.microsoft.com/office/drawing/2014/main" id="{B0F3771D-43D5-6F3C-47FA-FFE08CB84E92}"/>
              </a:ext>
            </a:extLst>
          </p:cNvPr>
          <p:cNvSpPr txBox="1">
            <a:spLocks/>
          </p:cNvSpPr>
          <p:nvPr/>
        </p:nvSpPr>
        <p:spPr bwMode="auto">
          <a:xfrm>
            <a:off x="539552" y="3097527"/>
            <a:ext cx="7918648" cy="943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sz="2000" dirty="0">
                <a:cs typeface="Arial" panose="020B0604020202020204" pitchFamily="34" charset="0"/>
              </a:rPr>
              <a:t>…what happens on failure: For fully secret trusts, the legatee takes the property beneficially. For half-secret trusts, the property results back to the residuary estate.</a:t>
            </a:r>
          </a:p>
        </p:txBody>
      </p:sp>
      <p:sp>
        <p:nvSpPr>
          <p:cNvPr id="3" name="Content Placeholder 2">
            <a:extLst>
              <a:ext uri="{FF2B5EF4-FFF2-40B4-BE49-F238E27FC236}">
                <a16:creationId xmlns:a16="http://schemas.microsoft.com/office/drawing/2014/main" id="{D8B608D3-EEDF-8FA9-1450-5ED000D367C0}"/>
              </a:ext>
            </a:extLst>
          </p:cNvPr>
          <p:cNvSpPr txBox="1">
            <a:spLocks/>
          </p:cNvSpPr>
          <p:nvPr/>
        </p:nvSpPr>
        <p:spPr bwMode="auto">
          <a:xfrm>
            <a:off x="539552" y="4293096"/>
            <a:ext cx="7918648" cy="943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sz="2000" dirty="0">
                <a:cs typeface="Arial" panose="020B0604020202020204" pitchFamily="34" charset="0"/>
              </a:rPr>
              <a:t>…what happens if the intended trustee pre-deceases the testator/testatrix: For fully secret trusts, the secret trust fails, and the property goes into the residual estate. For half-secret trusts, the trust is upheld, as equity </a:t>
            </a:r>
            <a:r>
              <a:rPr lang="en-GB" sz="2000" dirty="0">
                <a:cs typeface="Arial" panose="020B0604020202020204" pitchFamily="34" charset="0"/>
              </a:rPr>
              <a:t>will not permit a trust to fail for want of a trustee</a:t>
            </a:r>
            <a:r>
              <a:rPr lang="en-US" altLang="en-US" sz="2000" dirty="0">
                <a:cs typeface="Arial" panose="020B0604020202020204" pitchFamily="34" charset="0"/>
              </a:rPr>
              <a:t>.</a:t>
            </a:r>
          </a:p>
        </p:txBody>
      </p:sp>
    </p:spTree>
    <p:extLst>
      <p:ext uri="{BB962C8B-B14F-4D97-AF65-F5344CB8AC3E}">
        <p14:creationId xmlns:p14="http://schemas.microsoft.com/office/powerpoint/2010/main" val="188373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ppt_x"/>
                                          </p:val>
                                        </p:tav>
                                        <p:tav tm="100000">
                                          <p:val>
                                            <p:strVal val="#ppt_x"/>
                                          </p:val>
                                        </p:tav>
                                      </p:tavLst>
                                    </p:anim>
                                    <p:anim calcmode="lin" valueType="num">
                                      <p:cBhvr additive="base">
                                        <p:cTn id="8" dur="500" fill="hold"/>
                                        <p:tgtEl>
                                          <p:spTgt spid="143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B36BC8A1-3B85-4E02-9117-31821BB49A5C}"/>
              </a:ext>
            </a:extLst>
          </p:cNvPr>
          <p:cNvSpPr>
            <a:spLocks noGrp="1"/>
          </p:cNvSpPr>
          <p:nvPr>
            <p:ph type="title"/>
          </p:nvPr>
        </p:nvSpPr>
        <p:spPr>
          <a:xfrm>
            <a:off x="684213" y="620713"/>
            <a:ext cx="7772400" cy="1143000"/>
          </a:xfrm>
        </p:spPr>
        <p:txBody>
          <a:bodyPr/>
          <a:lstStyle/>
          <a:p>
            <a:br>
              <a:rPr lang="en-US" altLang="en-US" dirty="0">
                <a:latin typeface="Calibri" panose="020F0502020204030204" pitchFamily="34" charset="0"/>
                <a:ea typeface="ＭＳ Ｐゴシック" panose="020B0600070205080204" pitchFamily="34" charset="-128"/>
              </a:rPr>
            </a:br>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Formalities for the creation of an express trust - overview</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graphicFrame>
        <p:nvGraphicFramePr>
          <p:cNvPr id="3" name="Content Placeholder 2">
            <a:extLst>
              <a:ext uri="{FF2B5EF4-FFF2-40B4-BE49-F238E27FC236}">
                <a16:creationId xmlns:a16="http://schemas.microsoft.com/office/drawing/2014/main" id="{19DF82C7-66E2-45F6-9519-BE991012A4DC}"/>
              </a:ext>
            </a:extLst>
          </p:cNvPr>
          <p:cNvGraphicFramePr>
            <a:graphicFrameLocks noGrp="1"/>
          </p:cNvGraphicFramePr>
          <p:nvPr>
            <p:ph idx="1"/>
            <p:extLst>
              <p:ext uri="{D42A27DB-BD31-4B8C-83A1-F6EECF244321}">
                <p14:modId xmlns:p14="http://schemas.microsoft.com/office/powerpoint/2010/main" val="3733712892"/>
              </p:ext>
            </p:extLst>
          </p:nvPr>
        </p:nvGraphicFramePr>
        <p:xfrm>
          <a:off x="609600" y="2348880"/>
          <a:ext cx="7772400" cy="2103437"/>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457269">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400" b="1" i="0" u="none" strike="noStrike" cap="none" normalizeH="0" baseline="0">
                        <a:ln>
                          <a:noFill/>
                        </a:ln>
                        <a:solidFill>
                          <a:srgbClr val="FFFFFF"/>
                        </a:solidFill>
                        <a:effectLst/>
                        <a:latin typeface="+mn-lt"/>
                        <a:ea typeface="ＭＳ Ｐゴシック" pitchFamily="4" charset="-128"/>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1" u="none" strike="noStrike" cap="none" normalizeH="0" baseline="0">
                          <a:ln>
                            <a:noFill/>
                          </a:ln>
                          <a:solidFill>
                            <a:srgbClr val="FFFFFF"/>
                          </a:solidFill>
                          <a:effectLst/>
                          <a:highlight>
                            <a:srgbClr val="00FF00"/>
                          </a:highlight>
                          <a:latin typeface="+mn-lt"/>
                          <a:ea typeface="ＭＳ Ｐゴシック" pitchFamily="4" charset="-128"/>
                        </a:rPr>
                        <a:t>Inter vivos</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0" u="none" strike="noStrike" cap="none" normalizeH="0" baseline="0" dirty="0">
                          <a:ln>
                            <a:noFill/>
                          </a:ln>
                          <a:solidFill>
                            <a:srgbClr val="FFFFFF"/>
                          </a:solidFill>
                          <a:effectLst/>
                          <a:highlight>
                            <a:srgbClr val="00FF00"/>
                          </a:highlight>
                          <a:latin typeface="+mn-lt"/>
                          <a:ea typeface="ＭＳ Ｐゴシック" pitchFamily="4" charset="-128"/>
                        </a:rPr>
                        <a:t>Testamentary</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823084">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0" u="none" strike="noStrike" cap="none" normalizeH="0" baseline="0" dirty="0">
                          <a:ln>
                            <a:noFill/>
                          </a:ln>
                          <a:solidFill>
                            <a:schemeClr val="bg1"/>
                          </a:solidFill>
                          <a:effectLst/>
                          <a:highlight>
                            <a:srgbClr val="FEA0EE"/>
                          </a:highlight>
                          <a:latin typeface="+mn-lt"/>
                          <a:ea typeface="ＭＳ Ｐゴシック" pitchFamily="4" charset="-128"/>
                        </a:rPr>
                        <a:t>Personal property</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bg1"/>
                          </a:solidFill>
                          <a:effectLst/>
                          <a:latin typeface="+mn-lt"/>
                          <a:ea typeface="ＭＳ Ｐゴシック" pitchFamily="4" charset="-128"/>
                        </a:rPr>
                        <a:t>Parol</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bg1"/>
                          </a:solidFill>
                          <a:effectLst/>
                          <a:latin typeface="+mn-lt"/>
                          <a:ea typeface="ＭＳ Ｐゴシック" pitchFamily="4" charset="-128"/>
                        </a:rPr>
                        <a:t>In writing + witnessed (WA)</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823084">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0" u="none" strike="noStrike" cap="none" normalizeH="0" baseline="0" dirty="0">
                          <a:ln>
                            <a:noFill/>
                          </a:ln>
                          <a:solidFill>
                            <a:schemeClr val="bg1"/>
                          </a:solidFill>
                          <a:effectLst/>
                          <a:highlight>
                            <a:srgbClr val="FEA0EE"/>
                          </a:highlight>
                          <a:latin typeface="+mn-lt"/>
                          <a:ea typeface="ＭＳ Ｐゴシック" pitchFamily="4" charset="-128"/>
                        </a:rPr>
                        <a:t>Real property</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mn-lt"/>
                          <a:ea typeface="ＭＳ Ｐゴシック" pitchFamily="4" charset="-128"/>
                        </a:rPr>
                        <a:t>Evidenced by writing (LPA)</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mn-lt"/>
                          <a:ea typeface="ＭＳ Ｐゴシック" pitchFamily="4" charset="-128"/>
                        </a:rPr>
                        <a:t>In writing + witnessed (WA)</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2"/>
                  </a:ext>
                </a:extLst>
              </a:tr>
            </a:tbl>
          </a:graphicData>
        </a:graphic>
      </p:graphicFrame>
      <p:sp>
        <p:nvSpPr>
          <p:cNvPr id="5141" name="Content Placeholder 2">
            <a:extLst>
              <a:ext uri="{FF2B5EF4-FFF2-40B4-BE49-F238E27FC236}">
                <a16:creationId xmlns:a16="http://schemas.microsoft.com/office/drawing/2014/main" id="{75978B61-1F10-4BA1-86F9-65AC5A14B7B1}"/>
              </a:ext>
            </a:extLst>
          </p:cNvPr>
          <p:cNvSpPr txBox="1">
            <a:spLocks/>
          </p:cNvSpPr>
          <p:nvPr/>
        </p:nvSpPr>
        <p:spPr bwMode="auto">
          <a:xfrm>
            <a:off x="609600" y="4581128"/>
            <a:ext cx="777240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en-US" sz="240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But remember, exceptions apply.</a:t>
            </a:r>
          </a:p>
        </p:txBody>
      </p:sp>
    </p:spTree>
    <p:extLst>
      <p:ext uri="{BB962C8B-B14F-4D97-AF65-F5344CB8AC3E}">
        <p14:creationId xmlns:p14="http://schemas.microsoft.com/office/powerpoint/2010/main" val="3353885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3349D588-9AA7-46FB-A15E-88745D9DED15}"/>
              </a:ext>
            </a:extLst>
          </p:cNvPr>
          <p:cNvSpPr>
            <a:spLocks noGrp="1"/>
          </p:cNvSpPr>
          <p:nvPr>
            <p:ph type="title"/>
          </p:nvPr>
        </p:nvSpPr>
        <p:spPr/>
        <p:txBody>
          <a:bodyPr/>
          <a:lstStyle/>
          <a:p>
            <a:r>
              <a:rPr lang="en-GB" altLang="en-US" dirty="0">
                <a:latin typeface="+mn-lt"/>
                <a:ea typeface="ＭＳ Ｐゴシック" panose="020B0600070205080204" pitchFamily="34" charset="-128"/>
              </a:rPr>
              <a:t>Activity</a:t>
            </a:r>
          </a:p>
        </p:txBody>
      </p:sp>
      <p:sp>
        <p:nvSpPr>
          <p:cNvPr id="12291" name="Rectangle 2">
            <a:extLst>
              <a:ext uri="{FF2B5EF4-FFF2-40B4-BE49-F238E27FC236}">
                <a16:creationId xmlns:a16="http://schemas.microsoft.com/office/drawing/2014/main" id="{EE68FE62-928D-44F1-8120-0F4F5C0A7034}"/>
              </a:ext>
            </a:extLst>
          </p:cNvPr>
          <p:cNvSpPr>
            <a:spLocks noChangeArrowheads="1"/>
          </p:cNvSpPr>
          <p:nvPr/>
        </p:nvSpPr>
        <p:spPr bwMode="auto">
          <a:xfrm>
            <a:off x="685800" y="1844824"/>
            <a:ext cx="6985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GB" altLang="en-US" dirty="0">
                <a:latin typeface="+mn-lt"/>
              </a:rPr>
              <a:t>Have a look at Janis Joplin’s will and note the testamentary trust for her brother that she created (see ‘Article Seventh’):</a:t>
            </a:r>
            <a:endParaRPr lang="en-GB" altLang="en-US" dirty="0">
              <a:latin typeface="+mn-lt"/>
              <a:hlinkClick r:id="rId2"/>
            </a:endParaRPr>
          </a:p>
          <a:p>
            <a:pPr>
              <a:spcBef>
                <a:spcPct val="0"/>
              </a:spcBef>
            </a:pPr>
            <a:r>
              <a:rPr lang="en-GB" altLang="en-US" dirty="0">
                <a:latin typeface="+mn-lt"/>
                <a:hlinkClick r:id="rId3"/>
              </a:rPr>
              <a:t>https://www.truetrust.com/Famous_Wills_and_Trusts/Janis_Joplin_Will.pdf</a:t>
            </a:r>
            <a:endParaRPr lang="en-GB" altLang="en-US" dirty="0">
              <a:latin typeface="+mn-lt"/>
            </a:endParaRPr>
          </a:p>
          <a:p>
            <a:pPr>
              <a:spcBef>
                <a:spcPct val="0"/>
              </a:spcBef>
            </a:pPr>
            <a:endParaRPr lang="en-GB" altLang="en-US" dirty="0">
              <a:latin typeface="+mn-lt"/>
            </a:endParaRPr>
          </a:p>
        </p:txBody>
      </p:sp>
    </p:spTree>
    <p:extLst>
      <p:ext uri="{BB962C8B-B14F-4D97-AF65-F5344CB8AC3E}">
        <p14:creationId xmlns:p14="http://schemas.microsoft.com/office/powerpoint/2010/main" val="1659560987"/>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1260</Words>
  <Application>Microsoft Office PowerPoint</Application>
  <PresentationFormat>On-screen Show (4:3)</PresentationFormat>
  <Paragraphs>140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Arial</vt:lpstr>
      <vt:lpstr>Calibri</vt:lpstr>
      <vt:lpstr>Segoe Script</vt:lpstr>
      <vt:lpstr>Times</vt:lpstr>
      <vt:lpstr>Times New Roman</vt:lpstr>
      <vt:lpstr>Blank</vt:lpstr>
      <vt:lpstr>   Trusts Law  Week 3: Formalities (I)  </vt:lpstr>
      <vt:lpstr> Settlors as trustees and beneficiaries  </vt:lpstr>
      <vt:lpstr> Terminology: Equitable and beneficial interests  </vt:lpstr>
      <vt:lpstr> Perhaps the most important feature of the trust  </vt:lpstr>
      <vt:lpstr> This week  </vt:lpstr>
      <vt:lpstr> Learning objectives this week  </vt:lpstr>
      <vt:lpstr>Requirements for an express trust</vt:lpstr>
      <vt:lpstr>Formalities for trusts created inter vivos (I)</vt:lpstr>
      <vt:lpstr>Formalities for trusts created inter vivos (II)</vt:lpstr>
      <vt:lpstr>A word on equitable maxims</vt:lpstr>
      <vt:lpstr>Rochefoucauld v Boustead [1897]</vt:lpstr>
      <vt:lpstr>Interesting thought</vt:lpstr>
      <vt:lpstr>Formalities for testamentary trusts</vt:lpstr>
      <vt:lpstr>Exceptions</vt:lpstr>
      <vt:lpstr>The fully secret trust</vt:lpstr>
      <vt:lpstr>Fully secret trusts are very hard to prove…</vt:lpstr>
      <vt:lpstr>The half-secret trust</vt:lpstr>
      <vt:lpstr>Pay particular attention to…</vt:lpstr>
      <vt:lpstr>  Formalities for the creation of an express trust - overview  </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Trusts Law  Week 2: Formalities  </dc:title>
  <dc:creator/>
  <cp:lastModifiedBy/>
  <cp:revision>6</cp:revision>
  <dcterms:created xsi:type="dcterms:W3CDTF">2019-10-15T09:50:24Z</dcterms:created>
  <dcterms:modified xsi:type="dcterms:W3CDTF">2024-10-21T09:41:13Z</dcterms:modified>
</cp:coreProperties>
</file>