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trictFirstAndLastChars="0" saveSubsetFonts="1">
  <p:sldMasterIdLst>
    <p:sldMasterId id="2147483648" r:id="rId1"/>
  </p:sldMasterIdLst>
  <p:notesMasterIdLst>
    <p:notesMasterId r:id="rId17"/>
  </p:notesMasterIdLst>
  <p:sldIdLst>
    <p:sldId id="274" r:id="rId2"/>
    <p:sldId id="260" r:id="rId3"/>
    <p:sldId id="299" r:id="rId4"/>
    <p:sldId id="302" r:id="rId5"/>
    <p:sldId id="361" r:id="rId6"/>
    <p:sldId id="360" r:id="rId7"/>
    <p:sldId id="300" r:id="rId8"/>
    <p:sldId id="303" r:id="rId9"/>
    <p:sldId id="309" r:id="rId10"/>
    <p:sldId id="310" r:id="rId11"/>
    <p:sldId id="311" r:id="rId12"/>
    <p:sldId id="312" r:id="rId13"/>
    <p:sldId id="546" r:id="rId14"/>
    <p:sldId id="290" r:id="rId15"/>
    <p:sldId id="356" r:id="rId16"/>
  </p:sldIdLst>
  <p:sldSz cx="9144000" cy="6858000" type="screen4x3"/>
  <p:notesSz cx="6858000" cy="9144000"/>
  <p:defaultTextStyle>
    <a:defPPr>
      <a:defRPr lang="en-GB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panose="02020603050405020304" pitchFamily="18" charset="0"/>
        <a:ea typeface="ＭＳ Ｐゴシック" panose="020B0600070205080204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panose="02020603050405020304" pitchFamily="18" charset="0"/>
        <a:ea typeface="ＭＳ Ｐゴシック" panose="020B0600070205080204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panose="02020603050405020304" pitchFamily="18" charset="0"/>
        <a:ea typeface="ＭＳ Ｐゴシック" panose="020B0600070205080204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panose="02020603050405020304" pitchFamily="18" charset="0"/>
        <a:ea typeface="ＭＳ Ｐゴシック" panose="020B0600070205080204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panose="02020603050405020304" pitchFamily="18" charset="0"/>
        <a:ea typeface="ＭＳ Ｐゴシック" panose="020B0600070205080204" pitchFamily="34" charset="-128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" panose="02020603050405020304" pitchFamily="18" charset="0"/>
        <a:ea typeface="ＭＳ Ｐゴシック" panose="020B0600070205080204" pitchFamily="34" charset="-128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" panose="02020603050405020304" pitchFamily="18" charset="0"/>
        <a:ea typeface="ＭＳ Ｐゴシック" panose="020B0600070205080204" pitchFamily="34" charset="-128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" panose="02020603050405020304" pitchFamily="18" charset="0"/>
        <a:ea typeface="ＭＳ Ｐゴシック" panose="020B0600070205080204" pitchFamily="34" charset="-128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" panose="02020603050405020304" pitchFamily="18" charset="0"/>
        <a:ea typeface="ＭＳ Ｐゴシック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2A945"/>
    <a:srgbClr val="C0606B"/>
    <a:srgbClr val="D67CC7"/>
    <a:srgbClr val="663366"/>
    <a:srgbClr val="F9CAFE"/>
    <a:srgbClr val="8093DA"/>
    <a:srgbClr val="C19377"/>
    <a:srgbClr val="DEE1B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5643E12-7CC9-4B3B-B0A9-1DD02B87828F}" v="216" dt="2020-11-26T16:45:08.17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87" autoAdjust="0"/>
    <p:restoredTop sz="94660"/>
  </p:normalViewPr>
  <p:slideViewPr>
    <p:cSldViewPr>
      <p:cViewPr varScale="1">
        <p:scale>
          <a:sx n="64" d="100"/>
          <a:sy n="64" d="100"/>
        </p:scale>
        <p:origin x="1288" y="4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54" d="100"/>
          <a:sy n="54" d="100"/>
        </p:scale>
        <p:origin x="-1152" y="-102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>
            <a:extLst>
              <a:ext uri="{FF2B5EF4-FFF2-40B4-BE49-F238E27FC236}">
                <a16:creationId xmlns:a16="http://schemas.microsoft.com/office/drawing/2014/main" id="{40E3C261-B448-4441-BB46-E5A2BDD13481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Times" pitchFamily="18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24579" name="Rectangle 3">
            <a:extLst>
              <a:ext uri="{FF2B5EF4-FFF2-40B4-BE49-F238E27FC236}">
                <a16:creationId xmlns:a16="http://schemas.microsoft.com/office/drawing/2014/main" id="{5A0C0D56-0608-4264-9B45-F2A206274AAA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imes" pitchFamily="18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076" name="Rectangle 4">
            <a:extLst>
              <a:ext uri="{FF2B5EF4-FFF2-40B4-BE49-F238E27FC236}">
                <a16:creationId xmlns:a16="http://schemas.microsoft.com/office/drawing/2014/main" id="{2D1D2E50-49C5-4533-96AF-A7C7EECDFFE0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4581" name="Rectangle 5">
            <a:extLst>
              <a:ext uri="{FF2B5EF4-FFF2-40B4-BE49-F238E27FC236}">
                <a16:creationId xmlns:a16="http://schemas.microsoft.com/office/drawing/2014/main" id="{93208D0A-AF9A-4C90-943B-AD8303FCB5EE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</a:p>
        </p:txBody>
      </p:sp>
      <p:sp>
        <p:nvSpPr>
          <p:cNvPr id="24582" name="Rectangle 6">
            <a:extLst>
              <a:ext uri="{FF2B5EF4-FFF2-40B4-BE49-F238E27FC236}">
                <a16:creationId xmlns:a16="http://schemas.microsoft.com/office/drawing/2014/main" id="{1912AC1D-966F-4E62-812A-630AC71691CB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Times" pitchFamily="18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24583" name="Rectangle 7">
            <a:extLst>
              <a:ext uri="{FF2B5EF4-FFF2-40B4-BE49-F238E27FC236}">
                <a16:creationId xmlns:a16="http://schemas.microsoft.com/office/drawing/2014/main" id="{B112D953-89D2-4162-AA6E-F5EBB55BCC5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16AE4678-90B4-4C05-A085-EF63AAF3CD64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pitchFamily="18" charset="0"/>
        <a:ea typeface="ＭＳ Ｐゴシック" pitchFamily="4" charset="-128"/>
        <a:cs typeface="ＭＳ Ｐゴシック" pitchFamily="4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pitchFamily="18" charset="0"/>
        <a:ea typeface="ＭＳ Ｐゴシック" pitchFamily="4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pitchFamily="18" charset="0"/>
        <a:ea typeface="ＭＳ Ｐゴシック" pitchFamily="4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pitchFamily="18" charset="0"/>
        <a:ea typeface="ＭＳ Ｐゴシック" pitchFamily="4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pitchFamily="18" charset="0"/>
        <a:ea typeface="ＭＳ Ｐゴシック" pitchFamily="4" charset="-128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" name="Google Shape;118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7">
            <a:extLst>
              <a:ext uri="{FF2B5EF4-FFF2-40B4-BE49-F238E27FC236}">
                <a16:creationId xmlns:a16="http://schemas.microsoft.com/office/drawing/2014/main" id="{29C45B4A-9683-4D90-922F-4E654AE87F69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0" y="0"/>
            <a:ext cx="9144000" cy="5516563"/>
          </a:xfrm>
          <a:prstGeom prst="rect">
            <a:avLst/>
          </a:prstGeom>
          <a:solidFill>
            <a:srgbClr val="663366"/>
          </a:solidFill>
          <a:ln>
            <a:noFill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9pPr>
          </a:lstStyle>
          <a:p>
            <a:pPr algn="ctr">
              <a:defRPr/>
            </a:pPr>
            <a:endParaRPr lang="en-US" altLang="en-US">
              <a:solidFill>
                <a:srgbClr val="663366"/>
              </a:solidFill>
              <a:ea typeface="+mn-ea"/>
            </a:endParaRPr>
          </a:p>
        </p:txBody>
      </p:sp>
      <p:pic>
        <p:nvPicPr>
          <p:cNvPr id="5" name="Picture 8">
            <a:extLst>
              <a:ext uri="{FF2B5EF4-FFF2-40B4-BE49-F238E27FC236}">
                <a16:creationId xmlns:a16="http://schemas.microsoft.com/office/drawing/2014/main" id="{C95370D7-3277-4EC9-A1BF-A9ADB42E60B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700" y="5843588"/>
            <a:ext cx="1943100" cy="862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203" name="Rectangle 11"/>
          <p:cNvSpPr>
            <a:spLocks noGrp="1" noChangeArrowheads="1"/>
          </p:cNvSpPr>
          <p:nvPr>
            <p:ph type="ctrTitle" sz="quarter"/>
          </p:nvPr>
        </p:nvSpPr>
        <p:spPr>
          <a:xfrm>
            <a:off x="755650" y="476250"/>
            <a:ext cx="7772400" cy="14700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8204" name="Rectangle 12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827088" y="2420938"/>
            <a:ext cx="7561262" cy="1752600"/>
          </a:xfrm>
        </p:spPr>
        <p:txBody>
          <a:bodyPr/>
          <a:lstStyle>
            <a:lvl1pPr marL="0" indent="0">
              <a:defRPr b="1"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D3264623-1ED4-4C0D-A04E-89E8770981EA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xfrm>
            <a:off x="6553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9C7692E-AA10-4566-8C32-4FF2F79061E9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9016258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8593661B-2C4A-4938-B4A1-F04DB78BB75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99455869-7788-438B-BAF6-4D3723E9DBE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14C21E5B-32F1-4758-B476-CBE69BA8B65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768E837-C9AF-4723-AB3A-9EB2A919E4FA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1769602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A0E0DA5F-9BDF-4830-82F9-DBE2188DD1A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1CAFFB10-6073-4716-93EA-309E957D0E3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894CE2F2-B33A-47A0-882C-9C6710D7436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000B14A-E303-4B19-BCA7-55F3D872DA11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40430306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4213" y="1989138"/>
            <a:ext cx="3810000" cy="38163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6613" y="1989138"/>
            <a:ext cx="3810000" cy="38163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B802FAA-266B-49BE-BC84-9D954A19556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201F10C-4C85-480A-AB9F-ACA0B4A9247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3B84531-85D4-444B-B4AE-924AED62E4C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B6B5AEB-2AE3-4C36-B080-75DB24B8A01A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0669597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1B46C861-E9C1-4234-9BDE-B93068EFE15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47B9337C-DFB1-44E2-9091-341A33DA0AE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EACE1486-EE8F-4A17-83D5-93299B73C72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10A4DB5-9773-48DF-AA9B-18B51FB9D167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0835950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21D7EF32-6B26-4C33-8556-738C86D391D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7BC65D2D-E19C-4AE2-99B5-E753958ACD1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AE2D4E06-50F6-463A-8430-DA21B6A686C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5237459-80F6-4E48-A1BD-07C9E51F56B1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6370713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7DD2A3B2-779F-4B8C-AC47-2867909F3A3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A6992D9D-086C-4A95-B3B2-76BBD10B949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CBC28E2E-6A26-4BE9-97AF-AA31AE07A30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88E585E-B1CF-4353-866C-E5AC071EAA78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2423807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8D548CD-31FC-4508-8F95-9A1175C8F59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D93392A-604E-4EDA-B362-6DECFD84B6F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5E4BC1B-C89D-45BA-9E6D-7B341F59E2C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6227871-BF62-4505-9A3B-9784D6F3EFAB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1232127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GB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BAB5FFD-C4C5-4A49-9B54-7F5FA73B1F5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C554197-D0AB-4FB7-8A20-B4EF31EE4A5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BA43BC1-E682-48B9-BE85-051F2902E23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1202B1A-979F-40F0-AE61-AC792F2C6225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2330733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A213DA0C-5611-4D7D-9EC4-4764176F570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2A5C6620-9A91-4D2F-9743-A27D1824A5A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B61D0D6A-3B25-4134-BCEB-17BD388930B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951A2F3-F244-4ED3-AEF1-8C1374E43A2A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606190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19588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4213" y="609600"/>
            <a:ext cx="5678487" cy="519588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14A21C74-6CDD-4C41-B7CA-2A9711F04CE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DB8DAE21-94CD-4421-85EA-A37DAAE90ED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AC0FE116-4BC1-41A0-9228-0E19A741701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B8B6FE5-17A4-4A48-BDFB-C6FBE95D7034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7543802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40000"/>
            <a:lumOff val="60000"/>
            <a:alpha val="16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7">
            <a:extLst>
              <a:ext uri="{FF2B5EF4-FFF2-40B4-BE49-F238E27FC236}">
                <a16:creationId xmlns:a16="http://schemas.microsoft.com/office/drawing/2014/main" id="{4CA75121-6ED4-418C-A52F-0EBF728E02A6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0" y="0"/>
            <a:ext cx="9140825" cy="6873875"/>
          </a:xfrm>
          <a:prstGeom prst="rect">
            <a:avLst/>
          </a:prstGeom>
          <a:solidFill>
            <a:srgbClr val="663366"/>
          </a:solidFill>
          <a:ln>
            <a:noFill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" pitchFamily="4" charset="0"/>
                <a:ea typeface="ＭＳ Ｐゴシック" pitchFamily="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Times" pitchFamily="4" charset="0"/>
                <a:ea typeface="ＭＳ Ｐゴシック" pitchFamily="4" charset="-128"/>
              </a:defRPr>
            </a:lvl2pPr>
            <a:lvl3pPr>
              <a:defRPr sz="2400">
                <a:solidFill>
                  <a:schemeClr val="tx1"/>
                </a:solidFill>
                <a:latin typeface="Times" pitchFamily="4" charset="0"/>
                <a:ea typeface="ＭＳ Ｐゴシック" pitchFamily="4" charset="-128"/>
              </a:defRPr>
            </a:lvl3pPr>
            <a:lvl4pPr>
              <a:defRPr sz="2400">
                <a:solidFill>
                  <a:schemeClr val="tx1"/>
                </a:solidFill>
                <a:latin typeface="Times" pitchFamily="4" charset="0"/>
                <a:ea typeface="ＭＳ Ｐゴシック" pitchFamily="4" charset="-128"/>
              </a:defRPr>
            </a:lvl4pPr>
            <a:lvl5pPr>
              <a:defRPr sz="2400">
                <a:solidFill>
                  <a:schemeClr val="tx1"/>
                </a:solidFill>
                <a:latin typeface="Times" pitchFamily="4" charset="0"/>
                <a:ea typeface="ＭＳ Ｐゴシック" pitchFamily="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4" charset="0"/>
                <a:ea typeface="ＭＳ Ｐゴシック" pitchFamily="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4" charset="0"/>
                <a:ea typeface="ＭＳ Ｐゴシック" pitchFamily="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4" charset="0"/>
                <a:ea typeface="ＭＳ Ｐゴシック" pitchFamily="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4" charset="0"/>
                <a:ea typeface="ＭＳ Ｐゴシック" pitchFamily="4" charset="-128"/>
              </a:defRPr>
            </a:lvl9pPr>
          </a:lstStyle>
          <a:p>
            <a:pPr algn="ctr">
              <a:defRPr/>
            </a:pPr>
            <a:r>
              <a:rPr lang="en-GB" altLang="en-US">
                <a:solidFill>
                  <a:srgbClr val="663366"/>
                </a:solidFill>
              </a:rPr>
              <a:t>∂</a:t>
            </a:r>
          </a:p>
        </p:txBody>
      </p:sp>
      <p:sp>
        <p:nvSpPr>
          <p:cNvPr id="1027" name="Rectangle 8">
            <a:extLst>
              <a:ext uri="{FF2B5EF4-FFF2-40B4-BE49-F238E27FC236}">
                <a16:creationId xmlns:a16="http://schemas.microsoft.com/office/drawing/2014/main" id="{AF994EE9-4162-4C57-A06F-234A4C2C1AA9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07950" y="107950"/>
            <a:ext cx="8924925" cy="66579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9pPr>
          </a:lstStyle>
          <a:p>
            <a:pPr algn="ctr">
              <a:defRPr/>
            </a:pPr>
            <a:endParaRPr lang="en-US" altLang="en-US">
              <a:solidFill>
                <a:srgbClr val="663366"/>
              </a:solidFill>
              <a:ea typeface="+mn-ea"/>
            </a:endParaRPr>
          </a:p>
        </p:txBody>
      </p:sp>
      <p:sp>
        <p:nvSpPr>
          <p:cNvPr id="1028" name="Rectangle 2">
            <a:extLst>
              <a:ext uri="{FF2B5EF4-FFF2-40B4-BE49-F238E27FC236}">
                <a16:creationId xmlns:a16="http://schemas.microsoft.com/office/drawing/2014/main" id="{E4EE7BDB-E3E8-4F6D-9D93-38BFAE070D8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/>
              <a:t>Heading style</a:t>
            </a:r>
          </a:p>
        </p:txBody>
      </p:sp>
      <p:sp>
        <p:nvSpPr>
          <p:cNvPr id="1029" name="Rectangle 3">
            <a:extLst>
              <a:ext uri="{FF2B5EF4-FFF2-40B4-BE49-F238E27FC236}">
                <a16:creationId xmlns:a16="http://schemas.microsoft.com/office/drawing/2014/main" id="{7D82C5C5-0204-4531-9809-8E82E0A16D3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4213" y="1989138"/>
            <a:ext cx="7772400" cy="3816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/>
              <a:t>Click to edit Master text styles</a:t>
            </a:r>
          </a:p>
          <a:p>
            <a:pPr lvl="1"/>
            <a:r>
              <a:rPr lang="en-GB" altLang="en-US"/>
              <a:t>Second level</a:t>
            </a:r>
          </a:p>
          <a:p>
            <a:pPr lvl="2"/>
            <a:r>
              <a:rPr lang="en-GB" altLang="en-US"/>
              <a:t>Third level</a:t>
            </a:r>
          </a:p>
          <a:p>
            <a:pPr lvl="3"/>
            <a:r>
              <a:rPr lang="en-GB" altLang="en-US"/>
              <a:t>Fourth level</a:t>
            </a:r>
          </a:p>
          <a:p>
            <a:pPr lvl="4"/>
            <a:r>
              <a:rPr lang="en-GB" altLang="en-US"/>
              <a:t>Fifth level</a:t>
            </a:r>
          </a:p>
        </p:txBody>
      </p:sp>
      <p:sp>
        <p:nvSpPr>
          <p:cNvPr id="2" name="Rectangle 4">
            <a:extLst>
              <a:ext uri="{FF2B5EF4-FFF2-40B4-BE49-F238E27FC236}">
                <a16:creationId xmlns:a16="http://schemas.microsoft.com/office/drawing/2014/main" id="{2245D02C-F2B4-463A-B951-ABE65C3912FC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latin typeface="Times" pitchFamily="18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4551678A-B0D6-4667-B05B-9B7136CEC13D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latin typeface="Times" pitchFamily="18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967C843E-8651-4847-8049-619E5024D053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2AE4C63E-F336-477F-8085-E17D9CEABBAC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  <p:sp>
        <p:nvSpPr>
          <p:cNvPr id="1033" name="Rectangle 9">
            <a:extLst>
              <a:ext uri="{FF2B5EF4-FFF2-40B4-BE49-F238E27FC236}">
                <a16:creationId xmlns:a16="http://schemas.microsoft.com/office/drawing/2014/main" id="{693DC962-D018-4B35-9D25-C755C182A3CF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790575" y="611188"/>
            <a:ext cx="8024813" cy="1143000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9pPr>
          </a:lstStyle>
          <a:p>
            <a:pPr eaLnBrk="1" hangingPunct="1">
              <a:defRPr/>
            </a:pPr>
            <a:endParaRPr lang="en-US" altLang="en-US" sz="4400">
              <a:solidFill>
                <a:schemeClr val="bg1"/>
              </a:solidFill>
              <a:ea typeface="+mn-ea"/>
            </a:endParaRPr>
          </a:p>
        </p:txBody>
      </p:sp>
      <p:sp>
        <p:nvSpPr>
          <p:cNvPr id="1034" name="Rectangle 10">
            <a:extLst>
              <a:ext uri="{FF2B5EF4-FFF2-40B4-BE49-F238E27FC236}">
                <a16:creationId xmlns:a16="http://schemas.microsoft.com/office/drawing/2014/main" id="{5D76511D-C600-49A2-BD0D-F26925B5C6E9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790575" y="1798638"/>
            <a:ext cx="8024813" cy="3813175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9pPr>
          </a:lstStyle>
          <a:p>
            <a:pPr eaLnBrk="1" hangingPunct="1">
              <a:spcBef>
                <a:spcPct val="20000"/>
              </a:spcBef>
              <a:defRPr/>
            </a:pPr>
            <a:endParaRPr lang="en-US" altLang="en-US" sz="1800" b="1">
              <a:solidFill>
                <a:schemeClr val="bg1"/>
              </a:solidFill>
              <a:latin typeface="Arial" charset="0"/>
              <a:ea typeface="+mn-ea"/>
            </a:endParaRPr>
          </a:p>
        </p:txBody>
      </p:sp>
      <p:pic>
        <p:nvPicPr>
          <p:cNvPr id="1035" name="Picture 11">
            <a:extLst>
              <a:ext uri="{FF2B5EF4-FFF2-40B4-BE49-F238E27FC236}">
                <a16:creationId xmlns:a16="http://schemas.microsoft.com/office/drawing/2014/main" id="{DE700224-5394-477F-BBB0-F2164CC0703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700" y="5843588"/>
            <a:ext cx="1943100" cy="862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07" r:id="rId1"/>
    <p:sldLayoutId id="2147483997" r:id="rId2"/>
    <p:sldLayoutId id="2147483998" r:id="rId3"/>
    <p:sldLayoutId id="2147483999" r:id="rId4"/>
    <p:sldLayoutId id="2147484000" r:id="rId5"/>
    <p:sldLayoutId id="2147484001" r:id="rId6"/>
    <p:sldLayoutId id="2147484002" r:id="rId7"/>
    <p:sldLayoutId id="2147484003" r:id="rId8"/>
    <p:sldLayoutId id="2147484004" r:id="rId9"/>
    <p:sldLayoutId id="2147484005" r:id="rId10"/>
    <p:sldLayoutId id="2147484006" r:id="rId1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rgbClr val="663366"/>
          </a:solidFill>
          <a:latin typeface="+mj-lt"/>
          <a:ea typeface="ＭＳ Ｐゴシック" pitchFamily="4" charset="-128"/>
          <a:cs typeface="ＭＳ Ｐゴシック" pitchFamily="4" charset="-128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rgbClr val="663366"/>
          </a:solidFill>
          <a:latin typeface="Times" pitchFamily="18" charset="0"/>
          <a:ea typeface="ＭＳ Ｐゴシック" pitchFamily="4" charset="-128"/>
          <a:cs typeface="ＭＳ Ｐゴシック" pitchFamily="4" charset="-128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rgbClr val="663366"/>
          </a:solidFill>
          <a:latin typeface="Times" pitchFamily="18" charset="0"/>
          <a:ea typeface="ＭＳ Ｐゴシック" pitchFamily="4" charset="-128"/>
          <a:cs typeface="ＭＳ Ｐゴシック" pitchFamily="4" charset="-128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rgbClr val="663366"/>
          </a:solidFill>
          <a:latin typeface="Times" pitchFamily="18" charset="0"/>
          <a:ea typeface="ＭＳ Ｐゴシック" pitchFamily="4" charset="-128"/>
          <a:cs typeface="ＭＳ Ｐゴシック" pitchFamily="4" charset="-128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rgbClr val="663366"/>
          </a:solidFill>
          <a:latin typeface="Times" pitchFamily="18" charset="0"/>
          <a:ea typeface="ＭＳ Ｐゴシック" pitchFamily="4" charset="-128"/>
          <a:cs typeface="ＭＳ Ｐゴシック" pitchFamily="4" charset="-128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rgbClr val="663366"/>
          </a:solidFill>
          <a:latin typeface="Times" pitchFamily="18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rgbClr val="663366"/>
          </a:solidFill>
          <a:latin typeface="Times" pitchFamily="18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rgbClr val="663366"/>
          </a:solidFill>
          <a:latin typeface="Times" pitchFamily="18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rgbClr val="663366"/>
          </a:solidFill>
          <a:latin typeface="Times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defRPr>
          <a:solidFill>
            <a:schemeClr val="tx1"/>
          </a:solidFill>
          <a:latin typeface="+mn-lt"/>
          <a:ea typeface="ＭＳ Ｐゴシック" pitchFamily="4" charset="-128"/>
          <a:cs typeface="ＭＳ Ｐゴシック" pitchFamily="4" charset="-128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1600">
          <a:solidFill>
            <a:schemeClr val="tx1"/>
          </a:solidFill>
          <a:latin typeface="+mn-lt"/>
          <a:ea typeface="ＭＳ Ｐゴシック" pitchFamily="4" charset="-128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1400">
          <a:solidFill>
            <a:schemeClr val="tx1"/>
          </a:solidFill>
          <a:latin typeface="+mn-lt"/>
          <a:ea typeface="ＭＳ Ｐゴシック" pitchFamily="4" charset="-128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1200">
          <a:solidFill>
            <a:schemeClr val="tx1"/>
          </a:solidFill>
          <a:latin typeface="+mn-lt"/>
          <a:ea typeface="ＭＳ Ｐゴシック" pitchFamily="4" charset="-128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1200">
          <a:solidFill>
            <a:schemeClr val="tx1"/>
          </a:solidFill>
          <a:latin typeface="+mn-lt"/>
          <a:ea typeface="ＭＳ Ｐゴシック" pitchFamily="4" charset="-128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12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12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12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1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oxfordlawtrove.com/display/10.1093/he/9780191995699.001.0001/he-9780191995699-chapter-40?rskey=rMApjg&amp;result=7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itle 1">
            <a:extLst>
              <a:ext uri="{FF2B5EF4-FFF2-40B4-BE49-F238E27FC236}">
                <a16:creationId xmlns:a16="http://schemas.microsoft.com/office/drawing/2014/main" id="{457F992B-5DD7-4AA8-81A4-A9170C995E63}"/>
              </a:ext>
            </a:extLst>
          </p:cNvPr>
          <p:cNvSpPr>
            <a:spLocks noGrp="1"/>
          </p:cNvSpPr>
          <p:nvPr>
            <p:ph type="ctrTitle" sz="quarter"/>
          </p:nvPr>
        </p:nvSpPr>
        <p:spPr>
          <a:xfrm>
            <a:off x="755650" y="1268413"/>
            <a:ext cx="7772400" cy="677862"/>
          </a:xfrm>
        </p:spPr>
        <p:txBody>
          <a:bodyPr/>
          <a:lstStyle/>
          <a:p>
            <a:pPr>
              <a:defRPr/>
            </a:pPr>
            <a:br>
              <a:rPr lang="en-US" altLang="en-US" dirty="0">
                <a:ea typeface="ＭＳ Ｐゴシック" panose="020B0600070205080204" pitchFamily="34" charset="-128"/>
              </a:rPr>
            </a:br>
            <a:br>
              <a:rPr lang="en-US" altLang="en-US" dirty="0">
                <a:latin typeface="+mn-lt"/>
                <a:ea typeface="ＭＳ Ｐゴシック" panose="020B0600070205080204" pitchFamily="34" charset="-128"/>
              </a:rPr>
            </a:br>
            <a:br>
              <a:rPr lang="en-US" altLang="en-US" dirty="0">
                <a:latin typeface="+mn-lt"/>
                <a:ea typeface="ＭＳ Ｐゴシック" panose="020B0600070205080204" pitchFamily="34" charset="-128"/>
                <a:cs typeface="Times New Roman" panose="02020603050405020304" pitchFamily="18" charset="0"/>
              </a:rPr>
            </a:br>
            <a:r>
              <a:rPr lang="en-US" altLang="en-US" sz="4000" dirty="0">
                <a:latin typeface="+mn-lt"/>
                <a:ea typeface="ＭＳ Ｐゴシック"/>
                <a:cs typeface="Times New Roman"/>
              </a:rPr>
              <a:t>Trusts Law</a:t>
            </a:r>
            <a:br>
              <a:rPr lang="en-US" altLang="en-US" dirty="0">
                <a:latin typeface="+mn-lt"/>
                <a:ea typeface="ＭＳ Ｐゴシック" panose="020B0600070205080204" pitchFamily="34" charset="-128"/>
                <a:cs typeface="Times New Roman" panose="02020603050405020304" pitchFamily="18" charset="0"/>
              </a:rPr>
            </a:br>
            <a:br>
              <a:rPr lang="en-US" altLang="en-US" dirty="0">
                <a:latin typeface="+mn-lt"/>
                <a:ea typeface="ＭＳ Ｐゴシック" panose="020B0600070205080204" pitchFamily="34" charset="-128"/>
                <a:cs typeface="Times New Roman" panose="02020603050405020304" pitchFamily="18" charset="0"/>
              </a:rPr>
            </a:br>
            <a:r>
              <a:rPr lang="en-US" altLang="en-US" sz="4000" dirty="0">
                <a:latin typeface="+mn-lt"/>
                <a:ea typeface="ＭＳ Ｐゴシック"/>
                <a:cs typeface="Times New Roman"/>
              </a:rPr>
              <a:t>Week 16: Tracing (II)</a:t>
            </a:r>
            <a:br>
              <a:rPr lang="en-US" altLang="en-US" sz="3600" dirty="0">
                <a:ea typeface="ＭＳ Ｐゴシック" panose="020B0600070205080204" pitchFamily="34" charset="-128"/>
              </a:rPr>
            </a:br>
            <a:endParaRPr lang="en-GB" altLang="en-US" sz="2800" dirty="0">
              <a:ea typeface="ＭＳ Ｐゴシック" panose="020B0600070205080204" pitchFamily="34" charset="-128"/>
            </a:endParaRPr>
          </a:p>
        </p:txBody>
      </p:sp>
      <p:sp>
        <p:nvSpPr>
          <p:cNvPr id="4099" name="Subtitle 2">
            <a:extLst>
              <a:ext uri="{FF2B5EF4-FFF2-40B4-BE49-F238E27FC236}">
                <a16:creationId xmlns:a16="http://schemas.microsoft.com/office/drawing/2014/main" id="{4C60B4F6-4F0F-4AAD-9975-28A0C5FC3CF2}"/>
              </a:ext>
            </a:extLst>
          </p:cNvPr>
          <p:cNvSpPr>
            <a:spLocks noGrp="1"/>
          </p:cNvSpPr>
          <p:nvPr>
            <p:ph type="subTitle" sz="quarter" idx="1"/>
          </p:nvPr>
        </p:nvSpPr>
        <p:spPr>
          <a:xfrm>
            <a:off x="827088" y="3717032"/>
            <a:ext cx="7561262" cy="864493"/>
          </a:xfrm>
        </p:spPr>
        <p:txBody>
          <a:bodyPr/>
          <a:lstStyle/>
          <a:p>
            <a:pPr eaLnBrk="1" hangingPunct="1">
              <a:lnSpc>
                <a:spcPct val="110000"/>
              </a:lnSpc>
              <a:spcBef>
                <a:spcPct val="0"/>
              </a:spcBef>
            </a:pPr>
            <a:endParaRPr lang="en-GB" altLang="en-US" b="0" dirty="0">
              <a:latin typeface="Calibri" panose="020F0502020204030204" pitchFamily="34" charset="0"/>
              <a:ea typeface="ＭＳ Ｐゴシック" panose="020B0600070205080204" pitchFamily="34" charset="-128"/>
            </a:endParaRPr>
          </a:p>
          <a:p>
            <a:pPr eaLnBrk="1" hangingPunct="1">
              <a:lnSpc>
                <a:spcPct val="110000"/>
              </a:lnSpc>
              <a:spcBef>
                <a:spcPct val="0"/>
              </a:spcBef>
            </a:pPr>
            <a:r>
              <a:rPr lang="en-GB" altLang="en-US" b="0" dirty="0">
                <a:ea typeface="ＭＳ Ｐゴシック" panose="020B0600070205080204" pitchFamily="34" charset="-128"/>
              </a:rPr>
              <a:t>Dr Johanna Jacques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</a:pPr>
            <a:endParaRPr lang="en-GB" altLang="en-US" b="0" dirty="0">
              <a:ea typeface="ＭＳ Ｐゴシック" panose="020B0600070205080204" pitchFamily="34" charset="-128"/>
            </a:endParaRPr>
          </a:p>
          <a:p>
            <a:pPr eaLnBrk="1" hangingPunct="1"/>
            <a:endParaRPr lang="en-GB" altLang="en-US" dirty="0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7"/>
          <p:cNvSpPr txBox="1">
            <a:spLocks noGrp="1"/>
          </p:cNvSpPr>
          <p:nvPr>
            <p:ph type="title"/>
          </p:nvPr>
        </p:nvSpPr>
        <p:spPr>
          <a:xfrm>
            <a:off x="685800" y="609600"/>
            <a:ext cx="7772400" cy="1143000"/>
          </a:xfrm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lang="en-GB" sz="1800" dirty="0"/>
            </a:br>
            <a:r>
              <a:rPr lang="en-GB" dirty="0">
                <a:latin typeface="+mn-lt"/>
              </a:rPr>
              <a:t>Our two weeks on Tracing</a:t>
            </a:r>
            <a:br>
              <a:rPr lang="en-GB" sz="1800" dirty="0"/>
            </a:br>
            <a:br>
              <a:rPr lang="en-GB" sz="1800" i="1" dirty="0"/>
            </a:br>
            <a:endParaRPr lang="en-GB" sz="1800" dirty="0"/>
          </a:p>
        </p:txBody>
      </p:sp>
      <p:sp>
        <p:nvSpPr>
          <p:cNvPr id="121" name="Google Shape;121;p17"/>
          <p:cNvSpPr txBox="1">
            <a:spLocks noGrp="1"/>
          </p:cNvSpPr>
          <p:nvPr>
            <p:ph sz="half" idx="1"/>
          </p:nvPr>
        </p:nvSpPr>
        <p:spPr>
          <a:xfrm>
            <a:off x="685800" y="1628800"/>
            <a:ext cx="5758408" cy="4176688"/>
          </a:xfr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</a:pPr>
            <a:r>
              <a:rPr lang="en-GB" sz="2000" b="1" dirty="0"/>
              <a:t>Tracing (I):</a:t>
            </a:r>
          </a:p>
          <a:p>
            <a:pPr marL="342900" lvl="0" indent="-342900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GB" sz="2000" dirty="0"/>
              <a:t>The four steps of a proprietary claim</a:t>
            </a:r>
          </a:p>
          <a:p>
            <a:pPr lvl="1" indent="-34290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GB" sz="1600" dirty="0"/>
              <a:t>Proprietary base</a:t>
            </a:r>
          </a:p>
          <a:p>
            <a:pPr lvl="1" indent="-34290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GB" sz="1600" dirty="0"/>
              <a:t>Following/tracing</a:t>
            </a:r>
          </a:p>
          <a:p>
            <a:pPr lvl="1" indent="-34290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GB" sz="1600" dirty="0"/>
              <a:t>Claiming and remedy</a:t>
            </a:r>
          </a:p>
          <a:p>
            <a:pPr lvl="1" indent="-34290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GB" sz="1600" dirty="0"/>
              <a:t>Defences</a:t>
            </a:r>
          </a:p>
          <a:p>
            <a:pPr marL="342900" lvl="0" indent="-342900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GB" sz="2000" dirty="0"/>
              <a:t>Following and tracing as evidential processes</a:t>
            </a:r>
          </a:p>
          <a:p>
            <a:pPr marL="342900" lvl="0" indent="-342900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GB" sz="2000" dirty="0"/>
              <a:t>The persistence of property rights</a:t>
            </a:r>
          </a:p>
          <a:p>
            <a:pPr marL="342900" lvl="0" indent="-342900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GB" sz="2000" dirty="0"/>
              <a:t>Associated remedies and when defendants can raise defences</a:t>
            </a:r>
          </a:p>
          <a:p>
            <a:pPr marL="0" lvl="0" indent="0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lang="en-GB" sz="2000" dirty="0"/>
          </a:p>
          <a:p>
            <a:pPr marL="0" lvl="0" indent="0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n-GB" sz="2000" b="1" dirty="0"/>
              <a:t>Tracing (II):</a:t>
            </a:r>
            <a:endParaRPr lang="en-GB" sz="2000" dirty="0"/>
          </a:p>
          <a:p>
            <a:pPr marL="342900" lvl="0" indent="-342900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GB" sz="2000" dirty="0"/>
              <a:t>The rules associated with the tracing process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6BEA38A-EBB1-D00B-1EAF-BE7C783CDE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4594" y="2276618"/>
            <a:ext cx="2225753" cy="2881052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itle 1">
            <a:extLst>
              <a:ext uri="{FF2B5EF4-FFF2-40B4-BE49-F238E27FC236}">
                <a16:creationId xmlns:a16="http://schemas.microsoft.com/office/drawing/2014/main" id="{47FE913C-4D0E-4628-8A76-5009C9BDD9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213" y="620713"/>
            <a:ext cx="7772400" cy="1143000"/>
          </a:xfrm>
        </p:spPr>
        <p:txBody>
          <a:bodyPr/>
          <a:lstStyle/>
          <a:p>
            <a:pPr>
              <a:defRPr/>
            </a:pPr>
            <a:br>
              <a:rPr lang="en-US" altLang="en-US" dirty="0">
                <a:latin typeface="Calibri" panose="020F0502020204030204" pitchFamily="34" charset="0"/>
                <a:ea typeface="ＭＳ Ｐゴシック" panose="020B0600070205080204" pitchFamily="34" charset="-128"/>
              </a:rPr>
            </a:br>
            <a:r>
              <a:rPr lang="en-US" altLang="en-US" dirty="0">
                <a:latin typeface="+mn-lt"/>
                <a:ea typeface="ＭＳ Ｐゴシック" panose="020B0600070205080204" pitchFamily="34" charset="-128"/>
              </a:rPr>
              <a:t>This week, our aim will be:</a:t>
            </a:r>
            <a:br>
              <a:rPr lang="en-US" altLang="en-US" dirty="0">
                <a:latin typeface="Calibri" panose="020F0502020204030204" pitchFamily="34" charset="0"/>
                <a:ea typeface="ＭＳ Ｐゴシック" panose="020B0600070205080204" pitchFamily="34" charset="-128"/>
              </a:rPr>
            </a:br>
            <a:br>
              <a:rPr lang="en-US" altLang="en-US" i="1" dirty="0">
                <a:latin typeface="Calibri" panose="020F0502020204030204" pitchFamily="34" charset="0"/>
                <a:ea typeface="ＭＳ Ｐゴシック" panose="020B0600070205080204" pitchFamily="34" charset="-128"/>
              </a:rPr>
            </a:br>
            <a:endParaRPr lang="en-US" altLang="en-US" dirty="0">
              <a:latin typeface="Calibri" panose="020F050202020403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B2D1FDD-F32F-DE4F-8DE9-AB4E854A23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7544" y="1844824"/>
            <a:ext cx="3816424" cy="2016224"/>
          </a:xfrm>
          <a:prstGeom prst="roundRect">
            <a:avLst/>
          </a:prstGeom>
          <a:solidFill>
            <a:srgbClr val="8093DA"/>
          </a:solidFill>
          <a:ln w="381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b="1" dirty="0">
                <a:ea typeface="+mn-lt"/>
                <a:cs typeface="+mn-lt"/>
              </a:rPr>
              <a:t>To understand the differences between common law and equitable tracing</a:t>
            </a:r>
            <a:endParaRPr lang="en-GB">
              <a:cs typeface="Arial"/>
            </a:endParaRP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3D6AD389-9B96-6B47-9E6D-98C96B3A3C82}"/>
              </a:ext>
            </a:extLst>
          </p:cNvPr>
          <p:cNvSpPr/>
          <p:nvPr/>
        </p:nvSpPr>
        <p:spPr>
          <a:xfrm>
            <a:off x="4498354" y="1844824"/>
            <a:ext cx="3958259" cy="2002655"/>
          </a:xfrm>
          <a:prstGeom prst="roundRect">
            <a:avLst/>
          </a:prstGeom>
          <a:solidFill>
            <a:srgbClr val="C19377"/>
          </a:solidFill>
          <a:ln w="381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GB" b="1" dirty="0">
                <a:ea typeface="+mn-lt"/>
                <a:cs typeface="+mn-lt"/>
              </a:rPr>
              <a:t>To understand the operation of tracing rules at common law</a:t>
            </a:r>
            <a:endParaRPr lang="en-US" dirty="0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DB83404B-FB48-EE4E-AF25-EFA67EF3C118}"/>
              </a:ext>
            </a:extLst>
          </p:cNvPr>
          <p:cNvSpPr/>
          <p:nvPr/>
        </p:nvSpPr>
        <p:spPr>
          <a:xfrm>
            <a:off x="2400335" y="4221088"/>
            <a:ext cx="3958259" cy="2001567"/>
          </a:xfrm>
          <a:prstGeom prst="roundRect">
            <a:avLst/>
          </a:prstGeom>
          <a:solidFill>
            <a:srgbClr val="A2A945"/>
          </a:solidFill>
          <a:ln w="381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GB" sz="2400" b="1" dirty="0"/>
              <a:t>To understand the operation of tracing rules in equity</a:t>
            </a:r>
            <a:endParaRPr lang="en-GB" sz="2400" b="1" dirty="0">
              <a:cs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 bwMode="auto">
          <a:xfrm>
            <a:off x="6923808" y="4116760"/>
            <a:ext cx="2016224" cy="1897199"/>
          </a:xfrm>
          <a:prstGeom prst="ellipse">
            <a:avLst/>
          </a:prstGeom>
          <a:solidFill>
            <a:schemeClr val="bg1"/>
          </a:solidFill>
          <a:ln w="28575" cap="flat" cmpd="sng" algn="ctr">
            <a:solidFill>
              <a:srgbClr val="0070C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" pitchFamily="18" charset="0"/>
            </a:endParaRPr>
          </a:p>
        </p:txBody>
      </p:sp>
      <p:sp>
        <p:nvSpPr>
          <p:cNvPr id="1024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+mn-lt"/>
                <a:ea typeface="ＭＳ Ｐゴシック" pitchFamily="-109" charset="-128"/>
                <a:cs typeface="ＭＳ Ｐゴシック" pitchFamily="-109" charset="-128"/>
              </a:rPr>
              <a:t>Tracing and mixed funds</a:t>
            </a:r>
          </a:p>
        </p:txBody>
      </p:sp>
      <p:sp>
        <p:nvSpPr>
          <p:cNvPr id="10243" name="Content Placeholder 2"/>
          <p:cNvSpPr>
            <a:spLocks noGrp="1"/>
          </p:cNvSpPr>
          <p:nvPr>
            <p:ph idx="1"/>
          </p:nvPr>
        </p:nvSpPr>
        <p:spPr>
          <a:xfrm>
            <a:off x="467544" y="2060848"/>
            <a:ext cx="7772400" cy="601662"/>
          </a:xfrm>
        </p:spPr>
        <p:txBody>
          <a:bodyPr/>
          <a:lstStyle/>
          <a:p>
            <a:r>
              <a:rPr lang="en-US" b="1" dirty="0">
                <a:ea typeface="ＭＳ Ｐゴシック" pitchFamily="-109" charset="-128"/>
                <a:cs typeface="ＭＳ Ｐゴシック" pitchFamily="-109" charset="-128"/>
              </a:rPr>
              <a:t>At common law:</a:t>
            </a:r>
          </a:p>
          <a:p>
            <a:endParaRPr lang="en-US" dirty="0">
              <a:ea typeface="ＭＳ Ｐゴシック" pitchFamily="-109" charset="-128"/>
              <a:cs typeface="ＭＳ Ｐゴシック" pitchFamily="-109" charset="-128"/>
            </a:endParaRPr>
          </a:p>
          <a:p>
            <a:endParaRPr lang="en-US" dirty="0">
              <a:ea typeface="ＭＳ Ｐゴシック" pitchFamily="-109" charset="-128"/>
              <a:cs typeface="ＭＳ Ｐゴシック" pitchFamily="-109" charset="-128"/>
            </a:endParaRPr>
          </a:p>
          <a:p>
            <a:endParaRPr lang="en-US" dirty="0">
              <a:ea typeface="ＭＳ Ｐゴシック" pitchFamily="-109" charset="-128"/>
              <a:cs typeface="ＭＳ Ｐゴシック" pitchFamily="-109" charset="-128"/>
            </a:endParaRPr>
          </a:p>
        </p:txBody>
      </p:sp>
      <p:sp>
        <p:nvSpPr>
          <p:cNvPr id="4" name="Rectangle 3"/>
          <p:cNvSpPr>
            <a:spLocks noChangeArrowheads="1"/>
          </p:cNvSpPr>
          <p:nvPr/>
        </p:nvSpPr>
        <p:spPr bwMode="auto">
          <a:xfrm>
            <a:off x="2470804" y="4735160"/>
            <a:ext cx="2438400" cy="838200"/>
          </a:xfrm>
          <a:prstGeom prst="rect">
            <a:avLst/>
          </a:prstGeom>
          <a:gradFill rotWithShape="1">
            <a:gsLst>
              <a:gs pos="0">
                <a:srgbClr val="2020A6"/>
              </a:gs>
              <a:gs pos="20000">
                <a:srgbClr val="2222A3"/>
              </a:gs>
              <a:gs pos="100000">
                <a:srgbClr val="18187C"/>
              </a:gs>
            </a:gsLst>
            <a:lin ang="5400000"/>
          </a:gradFill>
          <a:ln w="9525">
            <a:solidFill>
              <a:srgbClr val="2F2F98"/>
            </a:solidFill>
            <a:miter lim="800000"/>
            <a:headEnd/>
            <a:tailEnd/>
          </a:ln>
          <a:effectLst>
            <a:outerShdw blurRad="40000" dist="23000" dir="5400000" rotWithShape="0">
              <a:srgbClr val="000000">
                <a:alpha val="34998"/>
              </a:srgbClr>
            </a:outerShdw>
          </a:effectLst>
        </p:spPr>
        <p:txBody>
          <a:bodyPr anchor="ctr">
            <a:prstTxWarp prst="textNoShape">
              <a:avLst/>
            </a:prstTxWarp>
          </a:bodyPr>
          <a:lstStyle/>
          <a:p>
            <a:pPr algn="ctr">
              <a:defRPr/>
            </a:pPr>
            <a:r>
              <a:rPr lang="en-US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Mixed Fund</a:t>
            </a:r>
          </a:p>
        </p:txBody>
      </p:sp>
      <p:cxnSp>
        <p:nvCxnSpPr>
          <p:cNvPr id="5" name="Straight Arrow Connector 4"/>
          <p:cNvCxnSpPr>
            <a:cxnSpLocks noChangeShapeType="1"/>
          </p:cNvCxnSpPr>
          <p:nvPr/>
        </p:nvCxnSpPr>
        <p:spPr bwMode="auto">
          <a:xfrm>
            <a:off x="489604" y="5116160"/>
            <a:ext cx="1676400" cy="1588"/>
          </a:xfrm>
          <a:prstGeom prst="straightConnector1">
            <a:avLst/>
          </a:prstGeom>
          <a:noFill/>
          <a:ln w="25400">
            <a:solidFill>
              <a:srgbClr val="000000"/>
            </a:solidFill>
            <a:round/>
            <a:headEnd/>
            <a:tailEnd type="arrow" w="med" len="med"/>
          </a:ln>
          <a:effectLst>
            <a:outerShdw blurRad="40000" dist="20000" dir="5400000" rotWithShape="0">
              <a:srgbClr val="000000">
                <a:alpha val="37999"/>
              </a:srgbClr>
            </a:outerShdw>
          </a:effectLst>
        </p:spPr>
      </p:cxnSp>
      <p:cxnSp>
        <p:nvCxnSpPr>
          <p:cNvPr id="6" name="Straight Arrow Connector 5"/>
          <p:cNvCxnSpPr>
            <a:cxnSpLocks noChangeShapeType="1"/>
          </p:cNvCxnSpPr>
          <p:nvPr/>
        </p:nvCxnSpPr>
        <p:spPr bwMode="auto">
          <a:xfrm>
            <a:off x="5001296" y="5114572"/>
            <a:ext cx="1676400" cy="1588"/>
          </a:xfrm>
          <a:prstGeom prst="straightConnector1">
            <a:avLst/>
          </a:prstGeom>
          <a:noFill/>
          <a:ln w="25400">
            <a:solidFill>
              <a:srgbClr val="000000"/>
            </a:solidFill>
            <a:round/>
            <a:headEnd/>
            <a:tailEnd type="arrow" w="med" len="med"/>
          </a:ln>
          <a:effectLst>
            <a:outerShdw blurRad="40000" dist="20000" dir="5400000" rotWithShape="0">
              <a:srgbClr val="000000">
                <a:alpha val="37999"/>
              </a:srgbClr>
            </a:outerShdw>
          </a:effectLst>
        </p:spPr>
      </p:cxnSp>
      <p:sp>
        <p:nvSpPr>
          <p:cNvPr id="7" name="TextBox 6"/>
          <p:cNvSpPr txBox="1"/>
          <p:nvPr/>
        </p:nvSpPr>
        <p:spPr>
          <a:xfrm>
            <a:off x="1023004" y="4658960"/>
            <a:ext cx="8382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dirty="0">
                <a:latin typeface="+mn-lt"/>
                <a:ea typeface="ＭＳ Ｐゴシック" pitchFamily="4" charset="-128"/>
                <a:cs typeface="ＭＳ Ｐゴシック" pitchFamily="4" charset="-128"/>
              </a:rPr>
              <a:t>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295091" y="4720873"/>
            <a:ext cx="789077" cy="400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2000" dirty="0">
                <a:latin typeface="+mn-lt"/>
                <a:ea typeface="ＭＳ Ｐゴシック" pitchFamily="4" charset="-128"/>
                <a:cs typeface="ＭＳ Ｐゴシック" pitchFamily="4" charset="-128"/>
              </a:rPr>
              <a:t>OUT</a:t>
            </a:r>
          </a:p>
        </p:txBody>
      </p:sp>
      <p:sp>
        <p:nvSpPr>
          <p:cNvPr id="11" name="Content Placeholder 2"/>
          <p:cNvSpPr txBox="1">
            <a:spLocks/>
          </p:cNvSpPr>
          <p:nvPr/>
        </p:nvSpPr>
        <p:spPr bwMode="auto">
          <a:xfrm>
            <a:off x="467544" y="4123192"/>
            <a:ext cx="7772400" cy="601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+mn-lt"/>
                <a:ea typeface="ＭＳ Ｐゴシック" pitchFamily="4" charset="-128"/>
                <a:cs typeface="ＭＳ Ｐゴシック" pitchFamily="4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600">
                <a:solidFill>
                  <a:schemeClr val="tx1"/>
                </a:solidFill>
                <a:latin typeface="+mn-lt"/>
                <a:ea typeface="ＭＳ Ｐゴシック" pitchFamily="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400">
                <a:solidFill>
                  <a:schemeClr val="tx1"/>
                </a:solidFill>
                <a:latin typeface="+mn-lt"/>
                <a:ea typeface="ＭＳ Ｐゴシック" pitchFamily="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200">
                <a:solidFill>
                  <a:schemeClr val="tx1"/>
                </a:solidFill>
                <a:latin typeface="+mn-lt"/>
                <a:ea typeface="ＭＳ Ｐゴシック" pitchFamily="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+mn-lt"/>
                <a:ea typeface="ＭＳ Ｐゴシック" pitchFamily="4" charset="-128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en-US" sz="1800" b="1" kern="0" dirty="0">
                <a:ea typeface="ＭＳ Ｐゴシック" pitchFamily="-109" charset="-128"/>
                <a:cs typeface="ＭＳ Ｐゴシック" pitchFamily="-109" charset="-128"/>
              </a:rPr>
              <a:t>In equity:</a:t>
            </a:r>
          </a:p>
          <a:p>
            <a:endParaRPr lang="en-US" sz="1800" kern="0" dirty="0">
              <a:ea typeface="ＭＳ Ｐゴシック" pitchFamily="-109" charset="-128"/>
              <a:cs typeface="ＭＳ Ｐゴシック" pitchFamily="-109" charset="-128"/>
            </a:endParaRPr>
          </a:p>
          <a:p>
            <a:endParaRPr lang="en-US" sz="1800" kern="0" dirty="0">
              <a:ea typeface="ＭＳ Ｐゴシック" pitchFamily="-109" charset="-128"/>
              <a:cs typeface="ＭＳ Ｐゴシック" pitchFamily="-109" charset="-128"/>
            </a:endParaRPr>
          </a:p>
          <a:p>
            <a:endParaRPr lang="en-US" sz="1800" kern="0" dirty="0">
              <a:ea typeface="ＭＳ Ｐゴシック" pitchFamily="-109" charset="-128"/>
              <a:cs typeface="ＭＳ Ｐゴシック" pitchFamily="-109" charset="-128"/>
            </a:endParaRPr>
          </a:p>
        </p:txBody>
      </p:sp>
      <p:cxnSp>
        <p:nvCxnSpPr>
          <p:cNvPr id="13" name="Straight Arrow Connector 12"/>
          <p:cNvCxnSpPr>
            <a:cxnSpLocks noChangeShapeType="1"/>
          </p:cNvCxnSpPr>
          <p:nvPr/>
        </p:nvCxnSpPr>
        <p:spPr bwMode="auto">
          <a:xfrm>
            <a:off x="516957" y="3141918"/>
            <a:ext cx="1676400" cy="1588"/>
          </a:xfrm>
          <a:prstGeom prst="straightConnector1">
            <a:avLst/>
          </a:prstGeom>
          <a:noFill/>
          <a:ln w="25400">
            <a:solidFill>
              <a:srgbClr val="000000"/>
            </a:solidFill>
            <a:round/>
            <a:headEnd/>
            <a:tailEnd type="arrow" w="med" len="med"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4" name="Straight Arrow Connector 13"/>
          <p:cNvCxnSpPr>
            <a:cxnSpLocks noChangeShapeType="1"/>
          </p:cNvCxnSpPr>
          <p:nvPr/>
        </p:nvCxnSpPr>
        <p:spPr bwMode="auto">
          <a:xfrm>
            <a:off x="5006960" y="3166524"/>
            <a:ext cx="1676400" cy="1588"/>
          </a:xfrm>
          <a:prstGeom prst="straightConnector1">
            <a:avLst/>
          </a:prstGeom>
          <a:noFill/>
          <a:ln w="25400">
            <a:solidFill>
              <a:srgbClr val="000000"/>
            </a:solidFill>
            <a:round/>
            <a:headEnd/>
            <a:tailEnd type="arrow" w="med" len="med"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5" name="TextBox 14"/>
          <p:cNvSpPr txBox="1"/>
          <p:nvPr/>
        </p:nvSpPr>
        <p:spPr>
          <a:xfrm>
            <a:off x="955674" y="2696320"/>
            <a:ext cx="8382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dirty="0">
                <a:latin typeface="+mn-lt"/>
                <a:cs typeface="ＭＳ Ｐゴシック" pitchFamily="4" charset="-128"/>
              </a:rPr>
              <a:t>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70529" y="2824169"/>
            <a:ext cx="838200" cy="40005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sz="2000" dirty="0">
                <a:latin typeface="+mn-lt"/>
                <a:cs typeface="ＭＳ Ｐゴシック" pitchFamily="4" charset="-128"/>
              </a:rPr>
              <a:t>OUT</a:t>
            </a:r>
          </a:p>
        </p:txBody>
      </p:sp>
      <p:cxnSp>
        <p:nvCxnSpPr>
          <p:cNvPr id="17" name="Straight Connector 20"/>
          <p:cNvCxnSpPr>
            <a:cxnSpLocks noChangeShapeType="1"/>
          </p:cNvCxnSpPr>
          <p:nvPr/>
        </p:nvCxnSpPr>
        <p:spPr bwMode="auto">
          <a:xfrm>
            <a:off x="5333263" y="2789878"/>
            <a:ext cx="614363" cy="576262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9" name="Oval 18"/>
          <p:cNvSpPr/>
          <p:nvPr/>
        </p:nvSpPr>
        <p:spPr bwMode="auto">
          <a:xfrm>
            <a:off x="2671599" y="2209683"/>
            <a:ext cx="2016224" cy="1897199"/>
          </a:xfrm>
          <a:prstGeom prst="ellipse">
            <a:avLst/>
          </a:prstGeom>
          <a:solidFill>
            <a:schemeClr val="bg1"/>
          </a:solidFill>
          <a:ln w="28575" cap="flat" cmpd="sng" algn="ctr">
            <a:solidFill>
              <a:srgbClr val="0070C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" pitchFamily="18" charset="0"/>
            </a:endParaRPr>
          </a:p>
        </p:txBody>
      </p:sp>
      <p:cxnSp>
        <p:nvCxnSpPr>
          <p:cNvPr id="18" name="Straight Connector 20"/>
          <p:cNvCxnSpPr>
            <a:cxnSpLocks noChangeShapeType="1"/>
          </p:cNvCxnSpPr>
          <p:nvPr/>
        </p:nvCxnSpPr>
        <p:spPr bwMode="auto">
          <a:xfrm flipH="1">
            <a:off x="5370547" y="2806188"/>
            <a:ext cx="576263" cy="576262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2439242" y="2722818"/>
            <a:ext cx="2438400" cy="838200"/>
          </a:xfrm>
          <a:prstGeom prst="rect">
            <a:avLst/>
          </a:prstGeom>
          <a:gradFill rotWithShape="1">
            <a:gsLst>
              <a:gs pos="0">
                <a:srgbClr val="2020A6"/>
              </a:gs>
              <a:gs pos="20000">
                <a:srgbClr val="2222A3"/>
              </a:gs>
              <a:gs pos="100000">
                <a:srgbClr val="18187C"/>
              </a:gs>
            </a:gsLst>
            <a:lin ang="5400000"/>
          </a:gradFill>
          <a:ln w="9525">
            <a:solidFill>
              <a:srgbClr val="2F2F98"/>
            </a:solidFill>
            <a:miter lim="800000"/>
            <a:headEnd/>
            <a:tailEnd/>
          </a:ln>
          <a:effectLst>
            <a:outerShdw blurRad="40000"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r>
              <a:rPr lang="en-US" dirty="0">
                <a:solidFill>
                  <a:srgbClr val="FFFFFF"/>
                </a:solidFill>
                <a:latin typeface="+mn-lt"/>
                <a:ea typeface="+mn-ea"/>
              </a:rPr>
              <a:t>Mixed Fund</a:t>
            </a:r>
          </a:p>
        </p:txBody>
      </p:sp>
      <p:pic>
        <p:nvPicPr>
          <p:cNvPr id="1028" name="Picture 4" descr="Why Are Companies Asking Investors for Money? | Morningstar">
            <a:extLst>
              <a:ext uri="{FF2B5EF4-FFF2-40B4-BE49-F238E27FC236}">
                <a16:creationId xmlns:a16="http://schemas.microsoft.com/office/drawing/2014/main" id="{8E57D748-94FA-774F-95B0-D7630A1D24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43006" y="4623567"/>
            <a:ext cx="1577827" cy="8835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38698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2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19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+mn-lt"/>
              </a:rPr>
              <a:t>What is a mixed fund?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4213" y="1728867"/>
            <a:ext cx="7772400" cy="3816350"/>
          </a:xfrm>
        </p:spPr>
        <p:txBody>
          <a:bodyPr/>
          <a:lstStyle/>
          <a:p>
            <a:pPr marL="285750" lvl="0" indent="-285750">
              <a:spcBef>
                <a:spcPct val="0"/>
              </a:spcBef>
              <a:buClr>
                <a:srgbClr val="951F93"/>
              </a:buClr>
              <a:buFont typeface="Wingdings" pitchFamily="2" charset="2"/>
              <a:buChar char="§"/>
            </a:pPr>
            <a:r>
              <a:rPr lang="en-GB" sz="2400" kern="1200" dirty="0">
                <a:solidFill>
                  <a:srgbClr val="000000"/>
                </a:solidFill>
                <a:ea typeface="ＭＳ Ｐゴシック" panose="020B0600070205080204" pitchFamily="34" charset="-128"/>
                <a:cs typeface="+mn-cs"/>
              </a:rPr>
              <a:t>An example of a mixed fund is where a trustee or fraudster places the property they have misappropriated (or its proceeds) into an account that already contains other funds.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27984" y="3429000"/>
            <a:ext cx="4383459" cy="2922306"/>
          </a:xfrm>
          <a:prstGeom prst="rect">
            <a:avLst/>
          </a:prstGeom>
        </p:spPr>
      </p:pic>
      <p:sp>
        <p:nvSpPr>
          <p:cNvPr id="5" name="Content Placeholder 2"/>
          <p:cNvSpPr txBox="1">
            <a:spLocks/>
          </p:cNvSpPr>
          <p:nvPr/>
        </p:nvSpPr>
        <p:spPr bwMode="auto">
          <a:xfrm>
            <a:off x="682626" y="3284984"/>
            <a:ext cx="3599755" cy="3816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+mn-lt"/>
                <a:ea typeface="ＭＳ Ｐゴシック" pitchFamily="4" charset="-128"/>
                <a:cs typeface="ＭＳ Ｐゴシック" pitchFamily="4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600">
                <a:solidFill>
                  <a:schemeClr val="tx1"/>
                </a:solidFill>
                <a:latin typeface="+mn-lt"/>
                <a:ea typeface="ＭＳ Ｐゴシック" pitchFamily="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400">
                <a:solidFill>
                  <a:schemeClr val="tx1"/>
                </a:solidFill>
                <a:latin typeface="+mn-lt"/>
                <a:ea typeface="ＭＳ Ｐゴシック" pitchFamily="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200">
                <a:solidFill>
                  <a:schemeClr val="tx1"/>
                </a:solidFill>
                <a:latin typeface="+mn-lt"/>
                <a:ea typeface="ＭＳ Ｐゴシック" pitchFamily="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+mn-lt"/>
                <a:ea typeface="ＭＳ Ｐゴシック" pitchFamily="4" charset="-128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+mn-lt"/>
              </a:defRPr>
            </a:lvl9pPr>
          </a:lstStyle>
          <a:p>
            <a:pPr marL="285750" indent="-285750">
              <a:spcBef>
                <a:spcPct val="0"/>
              </a:spcBef>
              <a:buClr>
                <a:srgbClr val="951F93"/>
              </a:buClr>
              <a:buFont typeface="Wingdings" pitchFamily="2" charset="2"/>
              <a:buChar char="§"/>
            </a:pPr>
            <a:r>
              <a:rPr lang="en-GB" sz="2400" kern="1200" dirty="0">
                <a:solidFill>
                  <a:srgbClr val="000000"/>
                </a:solidFill>
                <a:ea typeface="ＭＳ Ｐゴシック" panose="020B0600070205080204" pitchFamily="34" charset="-128"/>
                <a:cs typeface="+mn-cs"/>
              </a:rPr>
              <a:t>Another example is where the trustee or fraudster purchases property partly with money they misappropriated, partly with other funds.</a:t>
            </a:r>
            <a:endParaRPr lang="en-GB" sz="1800" kern="0" dirty="0"/>
          </a:p>
        </p:txBody>
      </p:sp>
    </p:spTree>
    <p:extLst>
      <p:ext uri="{BB962C8B-B14F-4D97-AF65-F5344CB8AC3E}">
        <p14:creationId xmlns:p14="http://schemas.microsoft.com/office/powerpoint/2010/main" val="24301024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+mn-lt"/>
              </a:rPr>
              <a:t>Tracing at common law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09233260"/>
              </p:ext>
            </p:extLst>
          </p:nvPr>
        </p:nvGraphicFramePr>
        <p:xfrm>
          <a:off x="685800" y="1844824"/>
          <a:ext cx="7488238" cy="3892373"/>
        </p:xfrm>
        <a:graphic>
          <a:graphicData uri="http://schemas.openxmlformats.org/drawingml/2006/table">
            <a:tbl>
              <a:tblPr firstRow="1" bandRow="1">
                <a:tableStyleId>{85BE263C-DBD7-4A20-BB59-AAB30ACAA65A}</a:tableStyleId>
              </a:tblPr>
              <a:tblGrid>
                <a:gridCol w="3744119">
                  <a:extLst>
                    <a:ext uri="{9D8B030D-6E8A-4147-A177-3AD203B41FA5}">
                      <a16:colId xmlns:a16="http://schemas.microsoft.com/office/drawing/2014/main" val="3398538584"/>
                    </a:ext>
                  </a:extLst>
                </a:gridCol>
                <a:gridCol w="3744119">
                  <a:extLst>
                    <a:ext uri="{9D8B030D-6E8A-4147-A177-3AD203B41FA5}">
                      <a16:colId xmlns:a16="http://schemas.microsoft.com/office/drawing/2014/main" val="1024622206"/>
                    </a:ext>
                  </a:extLst>
                </a:gridCol>
              </a:tblGrid>
              <a:tr h="860578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GB" sz="2400" dirty="0">
                          <a:solidFill>
                            <a:srgbClr val="00B0F0"/>
                          </a:solidFill>
                        </a:rPr>
                        <a:t>Clean substitutions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606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GB" sz="2400" dirty="0">
                          <a:solidFill>
                            <a:srgbClr val="A2A945"/>
                          </a:solidFill>
                        </a:rPr>
                        <a:t>Mixing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60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10492471"/>
                  </a:ext>
                </a:extLst>
              </a:tr>
              <a:tr h="1083340">
                <a:tc>
                  <a:txBody>
                    <a:bodyPr/>
                    <a:lstStyle/>
                    <a:p>
                      <a:pPr algn="ctr"/>
                      <a:endParaRPr lang="en-GB" sz="2000" u="sng" kern="1200" dirty="0">
                        <a:effectLst/>
                      </a:endParaRPr>
                    </a:p>
                    <a:p>
                      <a:pPr algn="ctr"/>
                      <a:r>
                        <a:rPr lang="en-GB" sz="2000" i="1" u="sng" kern="1200" dirty="0" err="1">
                          <a:effectLst/>
                        </a:rPr>
                        <a:t>Lipkin</a:t>
                      </a:r>
                      <a:r>
                        <a:rPr lang="en-GB" sz="2000" i="1" u="sng" kern="1200" dirty="0">
                          <a:effectLst/>
                        </a:rPr>
                        <a:t> Gorman v </a:t>
                      </a:r>
                      <a:r>
                        <a:rPr lang="en-GB" sz="2000" i="1" u="sng" kern="1200" dirty="0" err="1">
                          <a:effectLst/>
                        </a:rPr>
                        <a:t>Karpnale</a:t>
                      </a:r>
                      <a:r>
                        <a:rPr lang="en-GB" sz="2000" i="1" u="sng" kern="1200" dirty="0">
                          <a:effectLst/>
                        </a:rPr>
                        <a:t> Ltd</a:t>
                      </a:r>
                      <a:r>
                        <a:rPr lang="en-GB" sz="2000" u="sng" kern="1200" dirty="0">
                          <a:effectLst/>
                        </a:rPr>
                        <a:t> [1991] 2 AC 548</a:t>
                      </a:r>
                    </a:p>
                    <a:p>
                      <a:pPr algn="ctr"/>
                      <a:endParaRPr lang="en-GB" sz="2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/>
                      <a:endParaRPr lang="en-GB" sz="2000" u="sng" kern="1200" dirty="0">
                        <a:effectLst/>
                      </a:endParaRPr>
                    </a:p>
                    <a:p>
                      <a:pPr algn="ctr"/>
                      <a:endParaRPr lang="en-GB" sz="2000" u="sng" kern="1200" dirty="0">
                        <a:effectLst/>
                      </a:endParaRPr>
                    </a:p>
                    <a:p>
                      <a:pPr algn="ctr"/>
                      <a:endParaRPr lang="en-GB" sz="2000" u="sng" kern="1200" dirty="0">
                        <a:effectLst/>
                      </a:endParaRPr>
                    </a:p>
                    <a:p>
                      <a:pPr algn="ctr"/>
                      <a:r>
                        <a:rPr lang="en-GB" sz="2000" i="1" u="sng" kern="1200" dirty="0" err="1">
                          <a:effectLst/>
                        </a:rPr>
                        <a:t>Agip</a:t>
                      </a:r>
                      <a:r>
                        <a:rPr lang="en-GB" sz="2000" i="1" u="sng" kern="1200" dirty="0">
                          <a:effectLst/>
                        </a:rPr>
                        <a:t> (Africa) Ltd v Jackson</a:t>
                      </a:r>
                      <a:r>
                        <a:rPr lang="en-GB" sz="2000" u="sng" kern="1200" dirty="0">
                          <a:effectLst/>
                        </a:rPr>
                        <a:t> [1990] 1 </a:t>
                      </a:r>
                      <a:r>
                        <a:rPr lang="en-GB" sz="2000" u="sng" kern="1200" dirty="0" err="1">
                          <a:effectLst/>
                        </a:rPr>
                        <a:t>Ch</a:t>
                      </a:r>
                      <a:r>
                        <a:rPr lang="en-GB" sz="2000" u="sng" kern="1200" dirty="0">
                          <a:effectLst/>
                        </a:rPr>
                        <a:t> 265</a:t>
                      </a:r>
                      <a:endParaRPr lang="en-GB" sz="2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41192739"/>
                  </a:ext>
                </a:extLst>
              </a:tr>
              <a:tr h="1721155">
                <a:tc>
                  <a:txBody>
                    <a:bodyPr/>
                    <a:lstStyle/>
                    <a:p>
                      <a:pPr algn="ctr"/>
                      <a:endParaRPr lang="en-GB" sz="2000" u="sng" kern="1200" dirty="0">
                        <a:effectLst/>
                      </a:endParaRPr>
                    </a:p>
                    <a:p>
                      <a:pPr algn="ctr"/>
                      <a:r>
                        <a:rPr lang="en-GB" sz="2000" i="1" u="sng" kern="1200" dirty="0">
                          <a:effectLst/>
                        </a:rPr>
                        <a:t>FC Jones &amp; Sons (Trustee) v Jones</a:t>
                      </a:r>
                      <a:r>
                        <a:rPr lang="en-GB" sz="2000" u="sng" kern="1200" dirty="0">
                          <a:effectLst/>
                        </a:rPr>
                        <a:t> [1997] </a:t>
                      </a:r>
                      <a:r>
                        <a:rPr lang="en-GB" sz="2000" u="sng" kern="1200" dirty="0" err="1">
                          <a:effectLst/>
                        </a:rPr>
                        <a:t>Ch</a:t>
                      </a:r>
                      <a:r>
                        <a:rPr lang="en-GB" sz="2000" u="sng" kern="1200" dirty="0">
                          <a:effectLst/>
                        </a:rPr>
                        <a:t> 159</a:t>
                      </a:r>
                      <a:endParaRPr lang="en-GB" sz="2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en-GB" sz="1800" u="sng" kern="1200" dirty="0">
                        <a:effectLst/>
                      </a:endParaRPr>
                    </a:p>
                    <a:p>
                      <a:pPr algn="ctr"/>
                      <a:r>
                        <a:rPr lang="en-GB" sz="1800" i="1" u="sng" kern="1200" dirty="0" err="1">
                          <a:effectLst/>
                        </a:rPr>
                        <a:t>Agip</a:t>
                      </a:r>
                      <a:r>
                        <a:rPr lang="en-GB" sz="1800" i="1" u="sng" kern="1200" dirty="0">
                          <a:effectLst/>
                        </a:rPr>
                        <a:t> (Africa) Ltd v Jackson</a:t>
                      </a:r>
                      <a:r>
                        <a:rPr lang="en-GB" sz="1800" u="sng" kern="1200" dirty="0">
                          <a:effectLst/>
                        </a:rPr>
                        <a:t> [1990] 1 </a:t>
                      </a:r>
                      <a:r>
                        <a:rPr lang="en-GB" sz="1800" u="sng" kern="1200" dirty="0" err="1">
                          <a:effectLst/>
                        </a:rPr>
                        <a:t>Ch</a:t>
                      </a:r>
                      <a:r>
                        <a:rPr lang="en-GB" sz="1800" u="sng" kern="1200" dirty="0">
                          <a:effectLst/>
                        </a:rPr>
                        <a:t> 265</a:t>
                      </a:r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9509664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241180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i="1" u="sng" dirty="0" err="1">
                <a:latin typeface="+mn-lt"/>
              </a:rPr>
              <a:t>Agip</a:t>
            </a:r>
            <a:r>
              <a:rPr lang="en-GB" i="1" u="sng" dirty="0">
                <a:latin typeface="+mn-lt"/>
              </a:rPr>
              <a:t> (Africa) Ltd v Jackson [1990] 1 </a:t>
            </a:r>
            <a:r>
              <a:rPr lang="en-GB" i="1" u="sng" dirty="0" err="1">
                <a:latin typeface="+mn-lt"/>
              </a:rPr>
              <a:t>Ch</a:t>
            </a:r>
            <a:r>
              <a:rPr lang="en-GB" i="1" u="sng" dirty="0">
                <a:latin typeface="+mn-lt"/>
              </a:rPr>
              <a:t> 547</a:t>
            </a:r>
            <a:endParaRPr lang="en-GB" dirty="0">
              <a:latin typeface="+mn-lt"/>
            </a:endParaRPr>
          </a:p>
        </p:txBody>
      </p:sp>
      <p:sp>
        <p:nvSpPr>
          <p:cNvPr id="7174" name="TextBox 11"/>
          <p:cNvSpPr txBox="1">
            <a:spLocks noChangeArrowheads="1"/>
          </p:cNvSpPr>
          <p:nvPr/>
        </p:nvSpPr>
        <p:spPr bwMode="auto">
          <a:xfrm>
            <a:off x="4975675" y="5533781"/>
            <a:ext cx="1905000" cy="10772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" pitchFamily="4" charset="0"/>
                <a:ea typeface="ＭＳ Ｐゴシック" pitchFamily="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Times" pitchFamily="4" charset="0"/>
                <a:ea typeface="ＭＳ Ｐゴシック" pitchFamily="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itchFamily="4" charset="0"/>
                <a:ea typeface="ＭＳ Ｐゴシック" pitchFamily="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itchFamily="4" charset="0"/>
                <a:ea typeface="ＭＳ Ｐゴシック" pitchFamily="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itchFamily="4" charset="0"/>
                <a:ea typeface="ＭＳ Ｐゴシック" pitchFamily="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4" charset="0"/>
                <a:ea typeface="ＭＳ Ｐゴシック" pitchFamily="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4" charset="0"/>
                <a:ea typeface="ＭＳ Ｐゴシック" pitchFamily="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4" charset="0"/>
                <a:ea typeface="ＭＳ Ｐゴシック" pitchFamily="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4" charset="0"/>
                <a:ea typeface="ＭＳ Ｐゴシック" pitchFamily="4" charset="-128"/>
              </a:defRPr>
            </a:lvl9pPr>
          </a:lstStyle>
          <a:p>
            <a:r>
              <a:rPr lang="en-US" altLang="en-US" sz="1600" dirty="0">
                <a:latin typeface="Arial" charset="0"/>
              </a:rPr>
              <a:t>Payment order: Debit </a:t>
            </a:r>
            <a:r>
              <a:rPr lang="en-US" altLang="en-US" sz="1600" dirty="0" err="1">
                <a:latin typeface="Arial" charset="0"/>
              </a:rPr>
              <a:t>Agip’s</a:t>
            </a:r>
            <a:r>
              <a:rPr lang="en-US" altLang="en-US" sz="1600" dirty="0">
                <a:latin typeface="Arial" charset="0"/>
              </a:rPr>
              <a:t> account with $500,000  </a:t>
            </a:r>
          </a:p>
        </p:txBody>
      </p:sp>
      <p:sp>
        <p:nvSpPr>
          <p:cNvPr id="16" name="Rectangle 15"/>
          <p:cNvSpPr/>
          <p:nvPr/>
        </p:nvSpPr>
        <p:spPr bwMode="auto">
          <a:xfrm>
            <a:off x="4299995" y="3989366"/>
            <a:ext cx="1771350" cy="1240043"/>
          </a:xfrm>
          <a:prstGeom prst="rect">
            <a:avLst/>
          </a:prstGeom>
          <a:solidFill>
            <a:schemeClr val="accent2"/>
          </a:solidFill>
          <a:ln>
            <a:headEnd type="none" w="med" len="med"/>
            <a:tailEnd type="none" w="med" len="med"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anchor="ctr"/>
          <a:lstStyle>
            <a:lvl1pPr>
              <a:defRPr sz="2400">
                <a:solidFill>
                  <a:schemeClr val="tx1"/>
                </a:solidFill>
                <a:latin typeface="Times" pitchFamily="4" charset="0"/>
                <a:ea typeface="ＭＳ Ｐゴシック" pitchFamily="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Times" pitchFamily="4" charset="0"/>
                <a:ea typeface="ＭＳ Ｐゴシック" pitchFamily="4" charset="-128"/>
              </a:defRPr>
            </a:lvl2pPr>
            <a:lvl3pPr>
              <a:defRPr sz="2400">
                <a:solidFill>
                  <a:schemeClr val="tx1"/>
                </a:solidFill>
                <a:latin typeface="Times" pitchFamily="4" charset="0"/>
                <a:ea typeface="ＭＳ Ｐゴシック" pitchFamily="4" charset="-128"/>
              </a:defRPr>
            </a:lvl3pPr>
            <a:lvl4pPr>
              <a:defRPr sz="2400">
                <a:solidFill>
                  <a:schemeClr val="tx1"/>
                </a:solidFill>
                <a:latin typeface="Times" pitchFamily="4" charset="0"/>
                <a:ea typeface="ＭＳ Ｐゴシック" pitchFamily="4" charset="-128"/>
              </a:defRPr>
            </a:lvl4pPr>
            <a:lvl5pPr>
              <a:defRPr sz="2400">
                <a:solidFill>
                  <a:schemeClr val="tx1"/>
                </a:solidFill>
                <a:latin typeface="Times" pitchFamily="4" charset="0"/>
                <a:ea typeface="ＭＳ Ｐゴシック" pitchFamily="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4" charset="0"/>
                <a:ea typeface="ＭＳ Ｐゴシック" pitchFamily="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4" charset="0"/>
                <a:ea typeface="ＭＳ Ｐゴシック" pitchFamily="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4" charset="0"/>
                <a:ea typeface="ＭＳ Ｐゴシック" pitchFamily="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4" charset="0"/>
                <a:ea typeface="ＭＳ Ｐゴシック" pitchFamily="4" charset="-128"/>
              </a:defRPr>
            </a:lvl9pPr>
          </a:lstStyle>
          <a:p>
            <a:pPr algn="ctr">
              <a:defRPr/>
            </a:pPr>
            <a:r>
              <a:rPr lang="en-US" altLang="en-US" sz="1800" dirty="0">
                <a:solidFill>
                  <a:schemeClr val="bg1"/>
                </a:solidFill>
                <a:latin typeface="Arial" charset="0"/>
              </a:rPr>
              <a:t>Tunisian bank</a:t>
            </a:r>
          </a:p>
        </p:txBody>
      </p:sp>
      <p:cxnSp>
        <p:nvCxnSpPr>
          <p:cNvPr id="7178" name="Straight Arrow Connector 22"/>
          <p:cNvCxnSpPr>
            <a:cxnSpLocks noChangeShapeType="1"/>
          </p:cNvCxnSpPr>
          <p:nvPr/>
        </p:nvCxnSpPr>
        <p:spPr bwMode="auto">
          <a:xfrm flipH="1" flipV="1">
            <a:off x="2843808" y="4190288"/>
            <a:ext cx="1296144" cy="394476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7179" name="Straight Arrow Connector 24"/>
          <p:cNvCxnSpPr>
            <a:cxnSpLocks noChangeShapeType="1"/>
          </p:cNvCxnSpPr>
          <p:nvPr/>
        </p:nvCxnSpPr>
        <p:spPr bwMode="auto">
          <a:xfrm flipV="1">
            <a:off x="4299995" y="5370956"/>
            <a:ext cx="776061" cy="79435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7180" name="TextBox 25"/>
          <p:cNvSpPr txBox="1">
            <a:spLocks noChangeArrowheads="1"/>
          </p:cNvSpPr>
          <p:nvPr/>
        </p:nvSpPr>
        <p:spPr bwMode="auto">
          <a:xfrm>
            <a:off x="2663749" y="3237599"/>
            <a:ext cx="1828800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" pitchFamily="4" charset="0"/>
                <a:ea typeface="ＭＳ Ｐゴシック" pitchFamily="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Times" pitchFamily="4" charset="0"/>
                <a:ea typeface="ＭＳ Ｐゴシック" pitchFamily="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itchFamily="4" charset="0"/>
                <a:ea typeface="ＭＳ Ｐゴシック" pitchFamily="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itchFamily="4" charset="0"/>
                <a:ea typeface="ＭＳ Ｐゴシック" pitchFamily="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itchFamily="4" charset="0"/>
                <a:ea typeface="ＭＳ Ｐゴシック" pitchFamily="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4" charset="0"/>
                <a:ea typeface="ＭＳ Ｐゴシック" pitchFamily="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4" charset="0"/>
                <a:ea typeface="ＭＳ Ｐゴシック" pitchFamily="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4" charset="0"/>
                <a:ea typeface="ＭＳ Ｐゴシック" pitchFamily="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4" charset="0"/>
                <a:ea typeface="ＭＳ Ｐゴシック" pitchFamily="4" charset="-128"/>
              </a:defRPr>
            </a:lvl9pPr>
          </a:lstStyle>
          <a:p>
            <a:r>
              <a:rPr lang="en-US" altLang="en-US" sz="1600" dirty="0">
                <a:latin typeface="Arial" charset="0"/>
              </a:rPr>
              <a:t>Instruction: reimburse Lloyds Bank</a:t>
            </a:r>
          </a:p>
        </p:txBody>
      </p:sp>
      <p:sp>
        <p:nvSpPr>
          <p:cNvPr id="33" name="Rectangle 32"/>
          <p:cNvSpPr/>
          <p:nvPr/>
        </p:nvSpPr>
        <p:spPr bwMode="auto">
          <a:xfrm>
            <a:off x="918045" y="3429000"/>
            <a:ext cx="1745704" cy="1276275"/>
          </a:xfrm>
          <a:prstGeom prst="rect">
            <a:avLst/>
          </a:prstGeom>
          <a:solidFill>
            <a:srgbClr val="00B050"/>
          </a:solidFill>
          <a:ln>
            <a:headEnd type="none" w="med" len="med"/>
            <a:tailEnd type="none" w="med" len="med"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anchor="ctr"/>
          <a:lstStyle>
            <a:lvl1pPr>
              <a:defRPr sz="2400">
                <a:solidFill>
                  <a:schemeClr val="tx1"/>
                </a:solidFill>
                <a:latin typeface="Times" pitchFamily="4" charset="0"/>
                <a:ea typeface="ＭＳ Ｐゴシック" pitchFamily="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Times" pitchFamily="4" charset="0"/>
                <a:ea typeface="ＭＳ Ｐゴシック" pitchFamily="4" charset="-128"/>
              </a:defRPr>
            </a:lvl2pPr>
            <a:lvl3pPr>
              <a:defRPr sz="2400">
                <a:solidFill>
                  <a:schemeClr val="tx1"/>
                </a:solidFill>
                <a:latin typeface="Times" pitchFamily="4" charset="0"/>
                <a:ea typeface="ＭＳ Ｐゴシック" pitchFamily="4" charset="-128"/>
              </a:defRPr>
            </a:lvl3pPr>
            <a:lvl4pPr>
              <a:defRPr sz="2400">
                <a:solidFill>
                  <a:schemeClr val="tx1"/>
                </a:solidFill>
                <a:latin typeface="Times" pitchFamily="4" charset="0"/>
                <a:ea typeface="ＭＳ Ｐゴシック" pitchFamily="4" charset="-128"/>
              </a:defRPr>
            </a:lvl4pPr>
            <a:lvl5pPr>
              <a:defRPr sz="2400">
                <a:solidFill>
                  <a:schemeClr val="tx1"/>
                </a:solidFill>
                <a:latin typeface="Times" pitchFamily="4" charset="0"/>
                <a:ea typeface="ＭＳ Ｐゴシック" pitchFamily="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4" charset="0"/>
                <a:ea typeface="ＭＳ Ｐゴシック" pitchFamily="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4" charset="0"/>
                <a:ea typeface="ＭＳ Ｐゴシック" pitchFamily="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4" charset="0"/>
                <a:ea typeface="ＭＳ Ｐゴシック" pitchFamily="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4" charset="0"/>
                <a:ea typeface="ＭＳ Ｐゴシック" pitchFamily="4" charset="-128"/>
              </a:defRPr>
            </a:lvl9pPr>
          </a:lstStyle>
          <a:p>
            <a:pPr algn="ctr">
              <a:defRPr/>
            </a:pPr>
            <a:r>
              <a:rPr lang="en-US" altLang="en-US" sz="1800" dirty="0">
                <a:solidFill>
                  <a:schemeClr val="bg1"/>
                </a:solidFill>
                <a:latin typeface="Arial" charset="0"/>
              </a:rPr>
              <a:t>Correspondent bank NYC</a:t>
            </a:r>
          </a:p>
        </p:txBody>
      </p:sp>
      <p:sp>
        <p:nvSpPr>
          <p:cNvPr id="37" name="Rectangle 36"/>
          <p:cNvSpPr/>
          <p:nvPr/>
        </p:nvSpPr>
        <p:spPr bwMode="auto">
          <a:xfrm>
            <a:off x="4325641" y="2066962"/>
            <a:ext cx="1745704" cy="1276275"/>
          </a:xfrm>
          <a:prstGeom prst="rect">
            <a:avLst/>
          </a:prstGeom>
          <a:solidFill>
            <a:srgbClr val="FFC000"/>
          </a:solidFill>
          <a:ln>
            <a:headEnd type="none" w="med" len="med"/>
            <a:tailEnd type="none" w="med" len="med"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anchor="ctr"/>
          <a:lstStyle>
            <a:lvl1pPr>
              <a:defRPr sz="2400">
                <a:solidFill>
                  <a:schemeClr val="tx1"/>
                </a:solidFill>
                <a:latin typeface="Times" pitchFamily="4" charset="0"/>
                <a:ea typeface="ＭＳ Ｐゴシック" pitchFamily="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Times" pitchFamily="4" charset="0"/>
                <a:ea typeface="ＭＳ Ｐゴシック" pitchFamily="4" charset="-128"/>
              </a:defRPr>
            </a:lvl2pPr>
            <a:lvl3pPr>
              <a:defRPr sz="2400">
                <a:solidFill>
                  <a:schemeClr val="tx1"/>
                </a:solidFill>
                <a:latin typeface="Times" pitchFamily="4" charset="0"/>
                <a:ea typeface="ＭＳ Ｐゴシック" pitchFamily="4" charset="-128"/>
              </a:defRPr>
            </a:lvl3pPr>
            <a:lvl4pPr>
              <a:defRPr sz="2400">
                <a:solidFill>
                  <a:schemeClr val="tx1"/>
                </a:solidFill>
                <a:latin typeface="Times" pitchFamily="4" charset="0"/>
                <a:ea typeface="ＭＳ Ｐゴシック" pitchFamily="4" charset="-128"/>
              </a:defRPr>
            </a:lvl4pPr>
            <a:lvl5pPr>
              <a:defRPr sz="2400">
                <a:solidFill>
                  <a:schemeClr val="tx1"/>
                </a:solidFill>
                <a:latin typeface="Times" pitchFamily="4" charset="0"/>
                <a:ea typeface="ＭＳ Ｐゴシック" pitchFamily="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4" charset="0"/>
                <a:ea typeface="ＭＳ Ｐゴシック" pitchFamily="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4" charset="0"/>
                <a:ea typeface="ＭＳ Ｐゴシック" pitchFamily="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4" charset="0"/>
                <a:ea typeface="ＭＳ Ｐゴシック" pitchFamily="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4" charset="0"/>
                <a:ea typeface="ＭＳ Ｐゴシック" pitchFamily="4" charset="-128"/>
              </a:defRPr>
            </a:lvl9pPr>
          </a:lstStyle>
          <a:p>
            <a:pPr algn="ctr">
              <a:defRPr/>
            </a:pPr>
            <a:r>
              <a:rPr lang="en-US" altLang="en-US" sz="1800" dirty="0">
                <a:solidFill>
                  <a:schemeClr val="bg1"/>
                </a:solidFill>
                <a:latin typeface="Arial" charset="0"/>
              </a:rPr>
              <a:t>Lloyds Bank</a:t>
            </a:r>
          </a:p>
        </p:txBody>
      </p:sp>
      <p:cxnSp>
        <p:nvCxnSpPr>
          <p:cNvPr id="41" name="Straight Arrow Connector 22"/>
          <p:cNvCxnSpPr>
            <a:cxnSpLocks noChangeShapeType="1"/>
          </p:cNvCxnSpPr>
          <p:nvPr/>
        </p:nvCxnSpPr>
        <p:spPr bwMode="auto">
          <a:xfrm flipV="1">
            <a:off x="1691680" y="2590801"/>
            <a:ext cx="2440164" cy="646798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3" name="TextBox 25"/>
          <p:cNvSpPr txBox="1">
            <a:spLocks noChangeArrowheads="1"/>
          </p:cNvSpPr>
          <p:nvPr/>
        </p:nvSpPr>
        <p:spPr bwMode="auto">
          <a:xfrm>
            <a:off x="1475656" y="2480846"/>
            <a:ext cx="1828800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" pitchFamily="4" charset="0"/>
                <a:ea typeface="ＭＳ Ｐゴシック" pitchFamily="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Times" pitchFamily="4" charset="0"/>
                <a:ea typeface="ＭＳ Ｐゴシック" pitchFamily="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itchFamily="4" charset="0"/>
                <a:ea typeface="ＭＳ Ｐゴシック" pitchFamily="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itchFamily="4" charset="0"/>
                <a:ea typeface="ＭＳ Ｐゴシック" pitchFamily="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itchFamily="4" charset="0"/>
                <a:ea typeface="ＭＳ Ｐゴシック" pitchFamily="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4" charset="0"/>
                <a:ea typeface="ＭＳ Ｐゴシック" pitchFamily="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4" charset="0"/>
                <a:ea typeface="ＭＳ Ｐゴシック" pitchFamily="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4" charset="0"/>
                <a:ea typeface="ＭＳ Ｐゴシック" pitchFamily="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4" charset="0"/>
                <a:ea typeface="ＭＳ Ｐゴシック" pitchFamily="4" charset="-128"/>
              </a:defRPr>
            </a:lvl9pPr>
          </a:lstStyle>
          <a:p>
            <a:r>
              <a:rPr lang="en-US" altLang="en-US" sz="1600" dirty="0">
                <a:latin typeface="Arial" charset="0"/>
              </a:rPr>
              <a:t>Reimburses</a:t>
            </a:r>
          </a:p>
        </p:txBody>
      </p:sp>
      <p:sp>
        <p:nvSpPr>
          <p:cNvPr id="44" name="Rectangle 43"/>
          <p:cNvSpPr/>
          <p:nvPr/>
        </p:nvSpPr>
        <p:spPr bwMode="auto">
          <a:xfrm>
            <a:off x="4399676" y="2928344"/>
            <a:ext cx="676380" cy="349468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BO</a:t>
            </a:r>
          </a:p>
        </p:txBody>
      </p:sp>
      <p:cxnSp>
        <p:nvCxnSpPr>
          <p:cNvPr id="45" name="Straight Arrow Connector 24"/>
          <p:cNvCxnSpPr>
            <a:cxnSpLocks noChangeShapeType="1"/>
          </p:cNvCxnSpPr>
          <p:nvPr/>
        </p:nvCxnSpPr>
        <p:spPr bwMode="auto">
          <a:xfrm flipV="1">
            <a:off x="5203393" y="3429003"/>
            <a:ext cx="0" cy="416138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51" name="TextBox 11"/>
          <p:cNvSpPr txBox="1">
            <a:spLocks noChangeArrowheads="1"/>
          </p:cNvSpPr>
          <p:nvPr/>
        </p:nvSpPr>
        <p:spPr bwMode="auto">
          <a:xfrm>
            <a:off x="6096000" y="3139725"/>
            <a:ext cx="1905000" cy="10772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" pitchFamily="4" charset="0"/>
                <a:ea typeface="ＭＳ Ｐゴシック" pitchFamily="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Times" pitchFamily="4" charset="0"/>
                <a:ea typeface="ＭＳ Ｐゴシック" pitchFamily="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itchFamily="4" charset="0"/>
                <a:ea typeface="ＭＳ Ｐゴシック" pitchFamily="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itchFamily="4" charset="0"/>
                <a:ea typeface="ＭＳ Ｐゴシック" pitchFamily="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itchFamily="4" charset="0"/>
                <a:ea typeface="ＭＳ Ｐゴシック" pitchFamily="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4" charset="0"/>
                <a:ea typeface="ＭＳ Ｐゴシック" pitchFamily="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4" charset="0"/>
                <a:ea typeface="ＭＳ Ｐゴシック" pitchFamily="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4" charset="0"/>
                <a:ea typeface="ＭＳ Ｐゴシック" pitchFamily="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4" charset="0"/>
                <a:ea typeface="ＭＳ Ｐゴシック" pitchFamily="4" charset="-128"/>
              </a:defRPr>
            </a:lvl9pPr>
          </a:lstStyle>
          <a:p>
            <a:r>
              <a:rPr lang="en-US" altLang="en-US" sz="1600" dirty="0">
                <a:latin typeface="Arial" charset="0"/>
              </a:rPr>
              <a:t>Payment order: Credit Baker Oil’s account with $500,000  </a:t>
            </a:r>
          </a:p>
        </p:txBody>
      </p:sp>
      <p:sp>
        <p:nvSpPr>
          <p:cNvPr id="52" name="Rectangle 51"/>
          <p:cNvSpPr/>
          <p:nvPr/>
        </p:nvSpPr>
        <p:spPr bwMode="auto">
          <a:xfrm>
            <a:off x="4375869" y="4853754"/>
            <a:ext cx="700187" cy="349468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GB" sz="1800" dirty="0" err="1">
                <a:latin typeface="+mn-lt"/>
              </a:rPr>
              <a:t>Agip</a:t>
            </a:r>
            <a:endParaRPr kumimoji="0" lang="en-GB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</p:txBody>
      </p:sp>
      <p:cxnSp>
        <p:nvCxnSpPr>
          <p:cNvPr id="27" name="Straight Connector 26"/>
          <p:cNvCxnSpPr/>
          <p:nvPr/>
        </p:nvCxnSpPr>
        <p:spPr bwMode="auto">
          <a:xfrm flipV="1">
            <a:off x="5292080" y="2276872"/>
            <a:ext cx="1756420" cy="826206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56" name="Rectangle 55"/>
          <p:cNvSpPr/>
          <p:nvPr/>
        </p:nvSpPr>
        <p:spPr bwMode="auto">
          <a:xfrm>
            <a:off x="7128148" y="1375305"/>
            <a:ext cx="1745704" cy="1276275"/>
          </a:xfrm>
          <a:prstGeom prst="rect">
            <a:avLst/>
          </a:prstGeom>
          <a:solidFill>
            <a:srgbClr val="FF0000"/>
          </a:solidFill>
          <a:ln>
            <a:headEnd type="none" w="med" len="med"/>
            <a:tailEnd type="none" w="med" len="med"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anchor="ctr"/>
          <a:lstStyle>
            <a:lvl1pPr>
              <a:defRPr sz="2400">
                <a:solidFill>
                  <a:schemeClr val="tx1"/>
                </a:solidFill>
                <a:latin typeface="Times" pitchFamily="4" charset="0"/>
                <a:ea typeface="ＭＳ Ｐゴシック" pitchFamily="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Times" pitchFamily="4" charset="0"/>
                <a:ea typeface="ＭＳ Ｐゴシック" pitchFamily="4" charset="-128"/>
              </a:defRPr>
            </a:lvl2pPr>
            <a:lvl3pPr>
              <a:defRPr sz="2400">
                <a:solidFill>
                  <a:schemeClr val="tx1"/>
                </a:solidFill>
                <a:latin typeface="Times" pitchFamily="4" charset="0"/>
                <a:ea typeface="ＭＳ Ｐゴシック" pitchFamily="4" charset="-128"/>
              </a:defRPr>
            </a:lvl3pPr>
            <a:lvl4pPr>
              <a:defRPr sz="2400">
                <a:solidFill>
                  <a:schemeClr val="tx1"/>
                </a:solidFill>
                <a:latin typeface="Times" pitchFamily="4" charset="0"/>
                <a:ea typeface="ＭＳ Ｐゴシック" pitchFamily="4" charset="-128"/>
              </a:defRPr>
            </a:lvl4pPr>
            <a:lvl5pPr>
              <a:defRPr sz="2400">
                <a:solidFill>
                  <a:schemeClr val="tx1"/>
                </a:solidFill>
                <a:latin typeface="Times" pitchFamily="4" charset="0"/>
                <a:ea typeface="ＭＳ Ｐゴシック" pitchFamily="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4" charset="0"/>
                <a:ea typeface="ＭＳ Ｐゴシック" pitchFamily="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4" charset="0"/>
                <a:ea typeface="ＭＳ Ｐゴシック" pitchFamily="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4" charset="0"/>
                <a:ea typeface="ＭＳ Ｐゴシック" pitchFamily="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4" charset="0"/>
                <a:ea typeface="ＭＳ Ｐゴシック" pitchFamily="4" charset="-128"/>
              </a:defRPr>
            </a:lvl9pPr>
          </a:lstStyle>
          <a:p>
            <a:pPr algn="ctr">
              <a:defRPr/>
            </a:pPr>
            <a:r>
              <a:rPr lang="en-US" altLang="en-US" sz="1800" dirty="0">
                <a:solidFill>
                  <a:schemeClr val="bg1"/>
                </a:solidFill>
                <a:latin typeface="Arial" charset="0"/>
              </a:rPr>
              <a:t>Jackson</a:t>
            </a:r>
          </a:p>
        </p:txBody>
      </p:sp>
      <p:sp>
        <p:nvSpPr>
          <p:cNvPr id="57" name="TextBox 25"/>
          <p:cNvSpPr txBox="1">
            <a:spLocks noChangeArrowheads="1"/>
          </p:cNvSpPr>
          <p:nvPr/>
        </p:nvSpPr>
        <p:spPr bwMode="auto">
          <a:xfrm>
            <a:off x="6073141" y="1692097"/>
            <a:ext cx="1828800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" pitchFamily="4" charset="0"/>
                <a:ea typeface="ＭＳ Ｐゴシック" pitchFamily="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Times" pitchFamily="4" charset="0"/>
                <a:ea typeface="ＭＳ Ｐゴシック" pitchFamily="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itchFamily="4" charset="0"/>
                <a:ea typeface="ＭＳ Ｐゴシック" pitchFamily="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itchFamily="4" charset="0"/>
                <a:ea typeface="ＭＳ Ｐゴシック" pitchFamily="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itchFamily="4" charset="0"/>
                <a:ea typeface="ＭＳ Ｐゴシック" pitchFamily="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4" charset="0"/>
                <a:ea typeface="ＭＳ Ｐゴシック" pitchFamily="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4" charset="0"/>
                <a:ea typeface="ＭＳ Ｐゴシック" pitchFamily="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4" charset="0"/>
                <a:ea typeface="ＭＳ Ｐゴシック" pitchFamily="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4" charset="0"/>
                <a:ea typeface="ＭＳ Ｐゴシック" pitchFamily="4" charset="-128"/>
              </a:defRPr>
            </a:lvl9pPr>
          </a:lstStyle>
          <a:p>
            <a:r>
              <a:rPr lang="en-US" altLang="en-US" sz="1600" dirty="0">
                <a:latin typeface="Arial" charset="0"/>
              </a:rPr>
              <a:t>Controlled </a:t>
            </a:r>
          </a:p>
          <a:p>
            <a:r>
              <a:rPr lang="en-US" altLang="en-US" sz="1600" dirty="0">
                <a:latin typeface="Arial" charset="0"/>
              </a:rPr>
              <a:t>by</a:t>
            </a:r>
          </a:p>
        </p:txBody>
      </p:sp>
      <p:sp>
        <p:nvSpPr>
          <p:cNvPr id="61" name="Rectangle 60"/>
          <p:cNvSpPr/>
          <p:nvPr/>
        </p:nvSpPr>
        <p:spPr bwMode="auto">
          <a:xfrm>
            <a:off x="2392289" y="5370956"/>
            <a:ext cx="1771350" cy="1240043"/>
          </a:xfrm>
          <a:prstGeom prst="rect">
            <a:avLst/>
          </a:prstGeom>
          <a:solidFill>
            <a:srgbClr val="002060"/>
          </a:solidFill>
          <a:ln>
            <a:headEnd type="none" w="med" len="med"/>
            <a:tailEnd type="none" w="med" len="med"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anchor="ctr"/>
          <a:lstStyle>
            <a:lvl1pPr>
              <a:defRPr sz="2400">
                <a:solidFill>
                  <a:schemeClr val="tx1"/>
                </a:solidFill>
                <a:latin typeface="Times" pitchFamily="4" charset="0"/>
                <a:ea typeface="ＭＳ Ｐゴシック" pitchFamily="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Times" pitchFamily="4" charset="0"/>
                <a:ea typeface="ＭＳ Ｐゴシック" pitchFamily="4" charset="-128"/>
              </a:defRPr>
            </a:lvl2pPr>
            <a:lvl3pPr>
              <a:defRPr sz="2400">
                <a:solidFill>
                  <a:schemeClr val="tx1"/>
                </a:solidFill>
                <a:latin typeface="Times" pitchFamily="4" charset="0"/>
                <a:ea typeface="ＭＳ Ｐゴシック" pitchFamily="4" charset="-128"/>
              </a:defRPr>
            </a:lvl3pPr>
            <a:lvl4pPr>
              <a:defRPr sz="2400">
                <a:solidFill>
                  <a:schemeClr val="tx1"/>
                </a:solidFill>
                <a:latin typeface="Times" pitchFamily="4" charset="0"/>
                <a:ea typeface="ＭＳ Ｐゴシック" pitchFamily="4" charset="-128"/>
              </a:defRPr>
            </a:lvl4pPr>
            <a:lvl5pPr>
              <a:defRPr sz="2400">
                <a:solidFill>
                  <a:schemeClr val="tx1"/>
                </a:solidFill>
                <a:latin typeface="Times" pitchFamily="4" charset="0"/>
                <a:ea typeface="ＭＳ Ｐゴシック" pitchFamily="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4" charset="0"/>
                <a:ea typeface="ＭＳ Ｐゴシック" pitchFamily="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4" charset="0"/>
                <a:ea typeface="ＭＳ Ｐゴシック" pitchFamily="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4" charset="0"/>
                <a:ea typeface="ＭＳ Ｐゴシック" pitchFamily="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4" charset="0"/>
                <a:ea typeface="ＭＳ Ｐゴシック" pitchFamily="4" charset="-128"/>
              </a:defRPr>
            </a:lvl9pPr>
          </a:lstStyle>
          <a:p>
            <a:pPr algn="ctr">
              <a:defRPr/>
            </a:pPr>
            <a:r>
              <a:rPr lang="en-US" altLang="en-US" sz="1800" dirty="0" err="1">
                <a:solidFill>
                  <a:schemeClr val="bg1"/>
                </a:solidFill>
                <a:latin typeface="Arial" charset="0"/>
              </a:rPr>
              <a:t>Agip</a:t>
            </a:r>
            <a:endParaRPr lang="en-US" altLang="en-US" sz="1800" dirty="0">
              <a:solidFill>
                <a:schemeClr val="bg1"/>
              </a:solidFill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266084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>
                <a:latin typeface="+mn-lt"/>
              </a:rPr>
              <a:t>Equitable tracing and the fiduciary relationship</a:t>
            </a:r>
          </a:p>
        </p:txBody>
      </p:sp>
      <p:sp>
        <p:nvSpPr>
          <p:cNvPr id="12291" name="Content Placeholder 2"/>
          <p:cNvSpPr>
            <a:spLocks noGrp="1"/>
          </p:cNvSpPr>
          <p:nvPr>
            <p:ph idx="1"/>
          </p:nvPr>
        </p:nvSpPr>
        <p:spPr>
          <a:xfrm>
            <a:off x="684212" y="1989138"/>
            <a:ext cx="8280275" cy="3168054"/>
          </a:xfrm>
        </p:spPr>
        <p:txBody>
          <a:bodyPr/>
          <a:lstStyle/>
          <a:p>
            <a:pPr marL="0" indent="0">
              <a:lnSpc>
                <a:spcPct val="150000"/>
              </a:lnSpc>
            </a:pPr>
            <a:r>
              <a:rPr lang="en-US" altLang="en-US" sz="2000" b="1" dirty="0"/>
              <a:t>Does a fiduciary relationship need to pre-exist the transaction?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altLang="en-US" sz="2000" i="1" u="sng" dirty="0"/>
              <a:t>Re Diplock</a:t>
            </a:r>
            <a:r>
              <a:rPr lang="en-GB" altLang="en-US" sz="2000" u="sng" dirty="0"/>
              <a:t> [1948] Ch 465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altLang="en-US" sz="2000" i="1" u="sng" dirty="0" err="1"/>
              <a:t>Agip</a:t>
            </a:r>
            <a:r>
              <a:rPr lang="en-GB" altLang="en-US" sz="2000" i="1" u="sng" dirty="0"/>
              <a:t> (Africa) Ltd v Jackson</a:t>
            </a:r>
            <a:r>
              <a:rPr lang="en-GB" altLang="en-US" sz="2000" u="sng" dirty="0"/>
              <a:t> [1991] 1 </a:t>
            </a:r>
            <a:r>
              <a:rPr lang="en-GB" altLang="en-US" sz="2000" u="sng" dirty="0" err="1"/>
              <a:t>Ch</a:t>
            </a:r>
            <a:r>
              <a:rPr lang="en-GB" altLang="en-US" sz="2000" u="sng" dirty="0"/>
              <a:t> 547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altLang="en-US" sz="2000" i="1" u="sng" dirty="0"/>
              <a:t>Chase Manhattan Bank NA v Israel-British Bank (London) Ltd.</a:t>
            </a:r>
            <a:r>
              <a:rPr lang="en-GB" altLang="en-US" sz="2000" u="sng" dirty="0"/>
              <a:t> [1981] Ch 105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BFE7882-E40E-269D-9400-CB26DE8411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2966" y="5278571"/>
            <a:ext cx="1822898" cy="122413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88B2D9A-78D0-1693-31BD-E7EC8DA4B538}"/>
              </a:ext>
            </a:extLst>
          </p:cNvPr>
          <p:cNvSpPr txBox="1"/>
          <p:nvPr/>
        </p:nvSpPr>
        <p:spPr>
          <a:xfrm>
            <a:off x="4077880" y="4648591"/>
            <a:ext cx="143307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  <a:latin typeface="+mn-lt"/>
              </a:rPr>
              <a:t>USD 2m</a:t>
            </a:r>
          </a:p>
        </p:txBody>
      </p:sp>
      <p:sp>
        <p:nvSpPr>
          <p:cNvPr id="5" name="Rectángulo 22">
            <a:extLst>
              <a:ext uri="{FF2B5EF4-FFF2-40B4-BE49-F238E27FC236}">
                <a16:creationId xmlns:a16="http://schemas.microsoft.com/office/drawing/2014/main" id="{DC818334-0A00-EAB7-FCAE-F55CF995B4E7}"/>
              </a:ext>
            </a:extLst>
          </p:cNvPr>
          <p:cNvSpPr/>
          <p:nvPr/>
        </p:nvSpPr>
        <p:spPr>
          <a:xfrm>
            <a:off x="6467654" y="4725138"/>
            <a:ext cx="1656184" cy="1111627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18000">
            <a:solidFill>
              <a:srgbClr val="000000"/>
            </a:solidFill>
          </a:ln>
        </p:spPr>
        <p:txBody>
          <a:bodyPr wrap="none" rtlCol="0" anchor="ctr" anchorCtr="1"/>
          <a:lstStyle/>
          <a:p>
            <a:pPr algn="ctr"/>
            <a:r>
              <a:rPr lang="it-IT" sz="1400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Israel-British </a:t>
            </a:r>
          </a:p>
          <a:p>
            <a:pPr algn="ctr"/>
            <a:r>
              <a:rPr lang="it-IT" sz="1400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Bank </a:t>
            </a:r>
            <a:r>
              <a:rPr lang="it-IT" sz="1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(fiduciary)</a:t>
            </a:r>
          </a:p>
        </p:txBody>
      </p:sp>
      <p:sp>
        <p:nvSpPr>
          <p:cNvPr id="6" name="Rechthoek 21">
            <a:extLst>
              <a:ext uri="{FF2B5EF4-FFF2-40B4-BE49-F238E27FC236}">
                <a16:creationId xmlns:a16="http://schemas.microsoft.com/office/drawing/2014/main" id="{95728A7C-149B-DE52-5243-83C2CD7A1886}"/>
              </a:ext>
            </a:extLst>
          </p:cNvPr>
          <p:cNvSpPr/>
          <p:nvPr/>
        </p:nvSpPr>
        <p:spPr>
          <a:xfrm>
            <a:off x="1578852" y="4725143"/>
            <a:ext cx="1433070" cy="1111627"/>
          </a:xfrm>
          <a:prstGeom prst="rect">
            <a:avLst/>
          </a:prstGeom>
          <a:solidFill>
            <a:srgbClr val="FFC000"/>
          </a:solidFill>
          <a:ln w="18000">
            <a:solidFill>
              <a:srgbClr val="000000"/>
            </a:solidFill>
          </a:ln>
        </p:spPr>
        <p:txBody>
          <a:bodyPr wrap="none" rtlCol="0" anchor="ctr" anchorCtr="1"/>
          <a:lstStyle/>
          <a:p>
            <a:pPr algn="ctr"/>
            <a:r>
              <a:rPr lang="en-US" sz="1400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Chase </a:t>
            </a:r>
          </a:p>
          <a:p>
            <a:pPr algn="ctr"/>
            <a:r>
              <a:rPr lang="en-US" sz="1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(principal) 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AA1E4E8C-33CC-90F4-2B57-3A11857C611D}"/>
              </a:ext>
            </a:extLst>
          </p:cNvPr>
          <p:cNvCxnSpPr/>
          <p:nvPr/>
        </p:nvCxnSpPr>
        <p:spPr bwMode="auto">
          <a:xfrm>
            <a:off x="3412783" y="5085184"/>
            <a:ext cx="2592288" cy="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stealth" w="lg" len="lg"/>
          </a:ln>
          <a:effectLst/>
        </p:spPr>
      </p:cxnSp>
    </p:spTree>
    <p:extLst>
      <p:ext uri="{BB962C8B-B14F-4D97-AF65-F5344CB8AC3E}">
        <p14:creationId xmlns:p14="http://schemas.microsoft.com/office/powerpoint/2010/main" val="22141284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+mn-lt"/>
                <a:ea typeface="ＭＳ Ｐゴシック" pitchFamily="-109" charset="-128"/>
                <a:cs typeface="ＭＳ Ｐゴシック" pitchFamily="-109" charset="-128"/>
              </a:rPr>
              <a:t>Equitable tracing and </a:t>
            </a:r>
            <a:br>
              <a:rPr lang="en-US" dirty="0">
                <a:latin typeface="+mn-lt"/>
                <a:ea typeface="ＭＳ Ｐゴシック" pitchFamily="-109" charset="-128"/>
                <a:cs typeface="ＭＳ Ｐゴシック" pitchFamily="-109" charset="-128"/>
              </a:rPr>
            </a:br>
            <a:r>
              <a:rPr lang="en-US" dirty="0">
                <a:latin typeface="+mn-lt"/>
                <a:ea typeface="ＭＳ Ｐゴシック" pitchFamily="-109" charset="-128"/>
                <a:cs typeface="ＭＳ Ｐゴシック" pitchFamily="-109" charset="-128"/>
              </a:rPr>
              <a:t>mixed funds</a:t>
            </a:r>
          </a:p>
        </p:txBody>
      </p:sp>
      <p:sp>
        <p:nvSpPr>
          <p:cNvPr id="8195" name="Content Placeholder 2"/>
          <p:cNvSpPr>
            <a:spLocks noGrp="1"/>
          </p:cNvSpPr>
          <p:nvPr>
            <p:ph idx="1"/>
          </p:nvPr>
        </p:nvSpPr>
        <p:spPr>
          <a:xfrm>
            <a:off x="685800" y="1942770"/>
            <a:ext cx="8047038" cy="3816350"/>
          </a:xfrm>
        </p:spPr>
        <p:txBody>
          <a:bodyPr/>
          <a:lstStyle/>
          <a:p>
            <a:pPr marL="0" indent="0"/>
            <a:r>
              <a:rPr lang="en-GB" sz="2400" b="1" dirty="0">
                <a:ea typeface="ＭＳ Ｐゴシック" pitchFamily="-109" charset="-128"/>
                <a:cs typeface="ＭＳ Ｐゴシック" pitchFamily="-109" charset="-128"/>
              </a:rPr>
              <a:t>As we know since last week:</a:t>
            </a:r>
          </a:p>
          <a:p>
            <a:pPr marL="0" indent="0"/>
            <a:r>
              <a:rPr lang="en-GB" sz="2400" b="1" dirty="0">
                <a:solidFill>
                  <a:srgbClr val="A61AA6"/>
                </a:solidFill>
                <a:ea typeface="ＭＳ Ｐゴシック" pitchFamily="-109" charset="-128"/>
                <a:cs typeface="ＭＳ Ｐゴシック" pitchFamily="-109" charset="-128"/>
              </a:rPr>
              <a:t>IF</a:t>
            </a:r>
            <a:r>
              <a:rPr lang="en-GB" sz="2400" dirty="0">
                <a:ea typeface="ＭＳ Ｐゴシック" pitchFamily="-109" charset="-128"/>
                <a:cs typeface="ＭＳ Ｐゴシック" pitchFamily="-109" charset="-128"/>
              </a:rPr>
              <a:t> the property into which the beneficiary wishes to trace is mixed or purchased with mixed funds, </a:t>
            </a:r>
          </a:p>
          <a:p>
            <a:pPr marL="0" indent="0"/>
            <a:r>
              <a:rPr lang="en-GB" sz="2400" b="1" dirty="0">
                <a:solidFill>
                  <a:srgbClr val="A61AA6"/>
                </a:solidFill>
                <a:ea typeface="ＭＳ Ｐゴシック" pitchFamily="-109" charset="-128"/>
                <a:cs typeface="ＭＳ Ｐゴシック" pitchFamily="-109" charset="-128"/>
              </a:rPr>
              <a:t>AND</a:t>
            </a:r>
            <a:r>
              <a:rPr lang="en-GB" sz="2400" dirty="0">
                <a:ea typeface="ＭＳ Ｐゴシック" pitchFamily="-109" charset="-128"/>
                <a:cs typeface="ＭＳ Ｐゴシック" pitchFamily="-109" charset="-128"/>
              </a:rPr>
              <a:t> the other money comes from an innocent party, </a:t>
            </a:r>
            <a:r>
              <a:rPr lang="en-GB" sz="2400" b="1" dirty="0">
                <a:solidFill>
                  <a:srgbClr val="A61AA6"/>
                </a:solidFill>
                <a:ea typeface="ＭＳ Ｐゴシック" pitchFamily="-109" charset="-128"/>
                <a:cs typeface="ＭＳ Ｐゴシック" pitchFamily="-109" charset="-128"/>
              </a:rPr>
              <a:t>AND</a:t>
            </a:r>
            <a:r>
              <a:rPr lang="en-GB" sz="2400" dirty="0">
                <a:ea typeface="ＭＳ Ｐゴシック" pitchFamily="-109" charset="-128"/>
                <a:cs typeface="ＭＳ Ｐゴシック" pitchFamily="-109" charset="-128"/>
              </a:rPr>
              <a:t> the value of the property has gone down, </a:t>
            </a:r>
          </a:p>
          <a:p>
            <a:pPr marL="0" indent="0"/>
            <a:r>
              <a:rPr lang="en-GB" sz="2400" b="1" dirty="0">
                <a:solidFill>
                  <a:srgbClr val="A61AA6"/>
                </a:solidFill>
                <a:ea typeface="ＭＳ Ｐゴシック" pitchFamily="-109" charset="-128"/>
                <a:cs typeface="ＭＳ Ｐゴシック" pitchFamily="-109" charset="-128"/>
              </a:rPr>
              <a:t>THEN</a:t>
            </a:r>
            <a:r>
              <a:rPr lang="en-GB" sz="2400" dirty="0">
                <a:ea typeface="ＭＳ Ｐゴシック" pitchFamily="-109" charset="-128"/>
                <a:cs typeface="ＭＳ Ｐゴシック" pitchFamily="-109" charset="-128"/>
              </a:rPr>
              <a:t> the beneficiary can only obtain a proportionate share. </a:t>
            </a:r>
            <a:endParaRPr lang="en-US" sz="2400" dirty="0">
              <a:ea typeface="ＭＳ Ｐゴシック" pitchFamily="-109" charset="-128"/>
              <a:cs typeface="ＭＳ Ｐゴシック" pitchFamily="-109" charset="-128"/>
            </a:endParaRPr>
          </a:p>
          <a:p>
            <a:pPr marL="0" indent="0"/>
            <a:r>
              <a:rPr lang="en-US" sz="2400" b="1" dirty="0">
                <a:ea typeface="ＭＳ Ｐゴシック" pitchFamily="-109" charset="-128"/>
                <a:cs typeface="ＭＳ Ｐゴシック" pitchFamily="-109" charset="-128"/>
              </a:rPr>
              <a:t>However, </a:t>
            </a:r>
            <a:r>
              <a:rPr lang="en-US" sz="2400" dirty="0">
                <a:ea typeface="ＭＳ Ｐゴシック" pitchFamily="-109" charset="-128"/>
                <a:cs typeface="ＭＳ Ｐゴシック" pitchFamily="-109" charset="-128"/>
              </a:rPr>
              <a:t>this assumes that mixing occurs only once, in the destination fund/property. If property is bought</a:t>
            </a:r>
            <a:r>
              <a:rPr lang="en-US" sz="2400" b="1" dirty="0">
                <a:ea typeface="ＭＳ Ｐゴシック" pitchFamily="-109" charset="-128"/>
                <a:cs typeface="ＭＳ Ｐゴシック" pitchFamily="-109" charset="-128"/>
              </a:rPr>
              <a:t> </a:t>
            </a:r>
            <a:r>
              <a:rPr lang="en-US" sz="2400" b="1" dirty="0">
                <a:solidFill>
                  <a:srgbClr val="FF0000"/>
                </a:solidFill>
                <a:ea typeface="ＭＳ Ｐゴシック" pitchFamily="-109" charset="-128"/>
                <a:cs typeface="ＭＳ Ｐゴシック" pitchFamily="-109" charset="-128"/>
              </a:rPr>
              <a:t>from</a:t>
            </a:r>
            <a:r>
              <a:rPr lang="en-US" sz="2400" b="1" dirty="0">
                <a:ea typeface="ＭＳ Ｐゴシック" pitchFamily="-109" charset="-128"/>
                <a:cs typeface="ＭＳ Ｐゴシック" pitchFamily="-109" charset="-128"/>
              </a:rPr>
              <a:t> </a:t>
            </a:r>
            <a:r>
              <a:rPr lang="en-US" sz="2400" dirty="0">
                <a:ea typeface="ＭＳ Ｐゴシック" pitchFamily="-109" charset="-128"/>
                <a:cs typeface="ＭＳ Ｐゴシック" pitchFamily="-109" charset="-128"/>
              </a:rPr>
              <a:t>a mixed fund, what are the rules of tracing?</a:t>
            </a:r>
          </a:p>
          <a:p>
            <a:pPr marL="0" indent="0"/>
            <a:endParaRPr lang="en-US" dirty="0">
              <a:ea typeface="ＭＳ Ｐゴシック" pitchFamily="-109" charset="-128"/>
              <a:cs typeface="ＭＳ Ｐゴシック" pitchFamily="-109" charset="-128"/>
            </a:endParaRPr>
          </a:p>
        </p:txBody>
      </p:sp>
      <p:pic>
        <p:nvPicPr>
          <p:cNvPr id="5" name="Picture 4" descr="images (1)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30988" y="273326"/>
            <a:ext cx="2101850" cy="15743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24851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download (1)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17135" y="254000"/>
            <a:ext cx="1426865" cy="1854200"/>
          </a:xfrm>
          <a:prstGeom prst="rect">
            <a:avLst/>
          </a:prstGeom>
        </p:spPr>
      </p:pic>
      <p:sp>
        <p:nvSpPr>
          <p:cNvPr id="1126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+mn-lt"/>
                <a:ea typeface="ＭＳ Ｐゴシック" pitchFamily="-109" charset="-128"/>
                <a:cs typeface="ＭＳ Ｐゴシック" pitchFamily="-109" charset="-128"/>
              </a:rPr>
              <a:t>Rule 1 for bank accounts: </a:t>
            </a:r>
            <a:br>
              <a:rPr lang="en-US" dirty="0">
                <a:latin typeface="+mn-lt"/>
                <a:ea typeface="ＭＳ Ｐゴシック" pitchFamily="-109" charset="-128"/>
                <a:cs typeface="ＭＳ Ｐゴシック" pitchFamily="-109" charset="-128"/>
              </a:rPr>
            </a:br>
            <a:r>
              <a:rPr lang="en-US" dirty="0">
                <a:latin typeface="+mn-lt"/>
                <a:ea typeface="ＭＳ Ｐゴシック" pitchFamily="-109" charset="-128"/>
                <a:cs typeface="ＭＳ Ｐゴシック" pitchFamily="-109" charset="-128"/>
              </a:rPr>
              <a:t>The presumption of honesty</a:t>
            </a:r>
          </a:p>
        </p:txBody>
      </p:sp>
      <p:sp>
        <p:nvSpPr>
          <p:cNvPr id="11267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/>
            <a:r>
              <a:rPr lang="en-GB" sz="2400" dirty="0">
                <a:ea typeface="ＭＳ Ｐゴシック" pitchFamily="-109" charset="-128"/>
                <a:cs typeface="ＭＳ Ｐゴシック" pitchFamily="-109" charset="-128"/>
              </a:rPr>
              <a:t>The assumption is that the trustee spends their own money first (</a:t>
            </a:r>
            <a:r>
              <a:rPr lang="en-GB" sz="2400" i="1" u="sng" dirty="0"/>
              <a:t>Re </a:t>
            </a:r>
            <a:r>
              <a:rPr lang="en-GB" sz="2400" i="1" u="sng" dirty="0" err="1"/>
              <a:t>Hallet’s</a:t>
            </a:r>
            <a:r>
              <a:rPr lang="en-GB" sz="2400" i="1" u="sng" dirty="0"/>
              <a:t> Estate</a:t>
            </a:r>
            <a:r>
              <a:rPr lang="en-GB" sz="2400" u="sng" dirty="0"/>
              <a:t> (1880) 13 Ch D 696)</a:t>
            </a:r>
            <a:r>
              <a:rPr lang="en-GB" sz="2400" dirty="0"/>
              <a:t>. </a:t>
            </a:r>
            <a:endParaRPr lang="en-GB" sz="2400" b="1" dirty="0">
              <a:solidFill>
                <a:srgbClr val="A61AA6"/>
              </a:solidFill>
              <a:ea typeface="ＭＳ Ｐゴシック" pitchFamily="-109" charset="-128"/>
              <a:cs typeface="ＭＳ Ｐゴシック" pitchFamily="-109" charset="-128"/>
            </a:endParaRPr>
          </a:p>
          <a:p>
            <a:pPr marL="0" indent="0"/>
            <a:r>
              <a:rPr lang="en-GB" sz="2400" b="1" dirty="0">
                <a:solidFill>
                  <a:srgbClr val="A61AA6"/>
                </a:solidFill>
                <a:ea typeface="ＭＳ Ｐゴシック" pitchFamily="-109" charset="-128"/>
                <a:cs typeface="ＭＳ Ｐゴシック" pitchFamily="-109" charset="-128"/>
              </a:rPr>
              <a:t>UNLESS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2400" dirty="0">
                <a:ea typeface="ＭＳ Ｐゴシック" pitchFamily="-109" charset="-128"/>
                <a:cs typeface="ＭＳ Ｐゴシック" pitchFamily="-109" charset="-128"/>
              </a:rPr>
              <a:t>S/he first purchases an asset and then dissipates the remainder, in which case the assumption is reversed (</a:t>
            </a:r>
            <a:r>
              <a:rPr lang="en-GB" sz="2400" i="1" u="sng" dirty="0"/>
              <a:t>Re </a:t>
            </a:r>
            <a:r>
              <a:rPr lang="en-GB" sz="2400" i="1" u="sng" dirty="0" err="1"/>
              <a:t>Oatway</a:t>
            </a:r>
            <a:r>
              <a:rPr lang="en-GB" sz="2400" u="sng" dirty="0"/>
              <a:t> [1903] 2 Ch 356)</a:t>
            </a:r>
            <a:r>
              <a:rPr lang="en-GB" sz="2400" dirty="0"/>
              <a:t>; or </a:t>
            </a:r>
            <a:endParaRPr lang="en-GB" sz="2400" dirty="0">
              <a:ea typeface="ＭＳ Ｐゴシック" pitchFamily="-109" charset="-128"/>
              <a:cs typeface="ＭＳ Ｐゴシック" pitchFamily="-109" charset="-128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GB" sz="2400" dirty="0">
                <a:ea typeface="ＭＳ Ｐゴシック" pitchFamily="-109" charset="-128"/>
                <a:cs typeface="ＭＳ Ｐゴシック" pitchFamily="-109" charset="-128"/>
              </a:rPr>
              <a:t>The relevant proportion of the asset s/he purchases is more valuable than the funds remaining in the account, which case the beneficiary can cherry pick (</a:t>
            </a:r>
            <a:r>
              <a:rPr lang="en-GB" sz="2400" i="1" u="sng" dirty="0" err="1"/>
              <a:t>Shalson</a:t>
            </a:r>
            <a:r>
              <a:rPr lang="en-GB" sz="2400" i="1" u="sng" dirty="0"/>
              <a:t> v Russo</a:t>
            </a:r>
            <a:r>
              <a:rPr lang="en-GB" sz="2400" u="sng" dirty="0"/>
              <a:t> [2005] Ch 281)</a:t>
            </a:r>
            <a:r>
              <a:rPr lang="en-GB" sz="2400" dirty="0">
                <a:ea typeface="ＭＳ Ｐゴシック" pitchFamily="-109" charset="-128"/>
                <a:cs typeface="ＭＳ Ｐゴシック" pitchFamily="-109" charset="-128"/>
              </a:rPr>
              <a:t>.</a:t>
            </a:r>
            <a:endParaRPr lang="en-US" sz="2400" dirty="0">
              <a:ea typeface="ＭＳ Ｐゴシック" pitchFamily="-109" charset="-128"/>
              <a:cs typeface="ＭＳ Ｐゴシック" pitchFamily="-109" charset="-128"/>
            </a:endParaRPr>
          </a:p>
          <a:p>
            <a:endParaRPr lang="en-US" sz="2400" dirty="0">
              <a:ea typeface="ＭＳ Ｐゴシック" pitchFamily="-109" charset="-128"/>
              <a:cs typeface="ＭＳ Ｐゴシック" pitchFamily="-109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2031844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itle 1"/>
          <p:cNvSpPr>
            <a:spLocks noGrp="1"/>
          </p:cNvSpPr>
          <p:nvPr>
            <p:ph type="title"/>
          </p:nvPr>
        </p:nvSpPr>
        <p:spPr>
          <a:xfrm>
            <a:off x="685800" y="609600"/>
            <a:ext cx="7772400" cy="1905000"/>
          </a:xfrm>
        </p:spPr>
        <p:txBody>
          <a:bodyPr/>
          <a:lstStyle/>
          <a:p>
            <a:r>
              <a:rPr lang="en-US" dirty="0">
                <a:latin typeface="+mn-lt"/>
                <a:ea typeface="ＭＳ Ｐゴシック" pitchFamily="-109" charset="-128"/>
                <a:cs typeface="ＭＳ Ｐゴシック" pitchFamily="-109" charset="-128"/>
              </a:rPr>
              <a:t>Rule 2 for bank accounts:</a:t>
            </a:r>
            <a:br>
              <a:rPr lang="en-US" dirty="0">
                <a:latin typeface="+mn-lt"/>
                <a:ea typeface="ＭＳ Ｐゴシック" pitchFamily="-109" charset="-128"/>
                <a:cs typeface="ＭＳ Ｐゴシック" pitchFamily="-109" charset="-128"/>
              </a:rPr>
            </a:br>
            <a:r>
              <a:rPr lang="en-US" dirty="0">
                <a:latin typeface="+mn-lt"/>
                <a:ea typeface="ＭＳ Ｐゴシック" pitchFamily="-109" charset="-128"/>
                <a:cs typeface="ＭＳ Ｐゴシック" pitchFamily="-109" charset="-128"/>
              </a:rPr>
              <a:t>The lowest intermediate balance rule</a:t>
            </a:r>
          </a:p>
        </p:txBody>
      </p:sp>
      <p:sp>
        <p:nvSpPr>
          <p:cNvPr id="12291" name="Content Placeholder 2"/>
          <p:cNvSpPr>
            <a:spLocks noGrp="1"/>
          </p:cNvSpPr>
          <p:nvPr>
            <p:ph idx="1"/>
          </p:nvPr>
        </p:nvSpPr>
        <p:spPr>
          <a:xfrm>
            <a:off x="685800" y="2514600"/>
            <a:ext cx="5183187" cy="3816350"/>
          </a:xfrm>
        </p:spPr>
        <p:txBody>
          <a:bodyPr/>
          <a:lstStyle/>
          <a:p>
            <a:endParaRPr lang="en-US" sz="2400" b="1" dirty="0">
              <a:ea typeface="ＭＳ Ｐゴシック" pitchFamily="-109" charset="-128"/>
              <a:cs typeface="ＭＳ Ｐゴシック" pitchFamily="-109" charset="-128"/>
            </a:endParaRPr>
          </a:p>
          <a:p>
            <a:pPr marL="0" indent="0"/>
            <a:r>
              <a:rPr lang="en-GB" sz="2400" dirty="0">
                <a:ea typeface="ＭＳ Ｐゴシック" pitchFamily="-109" charset="-128"/>
                <a:cs typeface="ＭＳ Ｐゴシック" pitchFamily="-109" charset="-128"/>
              </a:rPr>
              <a:t>A beneficiary cannot claim more than the lowest intermediate balance in the account between the time of deposit and the time of claim (</a:t>
            </a:r>
            <a:r>
              <a:rPr lang="en-GB" sz="2400" i="1" u="sng" dirty="0"/>
              <a:t>James Roscoe (Bolton) Ltd v Winder</a:t>
            </a:r>
            <a:r>
              <a:rPr lang="en-GB" sz="2400" u="sng" dirty="0"/>
              <a:t> [1915] 1 Ch 62)</a:t>
            </a:r>
            <a:r>
              <a:rPr lang="en-GB" sz="2400" dirty="0">
                <a:ea typeface="ＭＳ Ｐゴシック" pitchFamily="-109" charset="-128"/>
                <a:cs typeface="ＭＳ Ｐゴシック" pitchFamily="-109" charset="-128"/>
              </a:rPr>
              <a:t>. </a:t>
            </a:r>
          </a:p>
          <a:p>
            <a:endParaRPr lang="en-GB" sz="2400" b="1" dirty="0">
              <a:ea typeface="ＭＳ Ｐゴシック" pitchFamily="-109" charset="-128"/>
              <a:cs typeface="ＭＳ Ｐゴシック" pitchFamily="-109" charset="-128"/>
            </a:endParaRPr>
          </a:p>
          <a:p>
            <a:endParaRPr lang="en-US" sz="2400" b="1" dirty="0">
              <a:ea typeface="ＭＳ Ｐゴシック" pitchFamily="-109" charset="-128"/>
              <a:cs typeface="ＭＳ Ｐゴシック" pitchFamily="-109" charset="-128"/>
            </a:endParaRPr>
          </a:p>
        </p:txBody>
      </p:sp>
      <p:pic>
        <p:nvPicPr>
          <p:cNvPr id="4" name="Picture 3" descr="natwestapp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2514600"/>
            <a:ext cx="2185416" cy="3140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816735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+mn-lt"/>
                <a:ea typeface="ＭＳ Ｐゴシック" pitchFamily="-109" charset="-128"/>
                <a:cs typeface="ＭＳ Ｐゴシック" pitchFamily="-109" charset="-128"/>
              </a:rPr>
              <a:t>Rule 3 for bank accounts: FIFO </a:t>
            </a:r>
          </a:p>
        </p:txBody>
      </p:sp>
      <p:sp>
        <p:nvSpPr>
          <p:cNvPr id="13315" name="Content Placeholder 2"/>
          <p:cNvSpPr>
            <a:spLocks noGrp="1"/>
          </p:cNvSpPr>
          <p:nvPr>
            <p:ph idx="1"/>
          </p:nvPr>
        </p:nvSpPr>
        <p:spPr>
          <a:xfrm>
            <a:off x="684213" y="1760538"/>
            <a:ext cx="7772400" cy="601662"/>
          </a:xfrm>
        </p:spPr>
        <p:txBody>
          <a:bodyPr/>
          <a:lstStyle/>
          <a:p>
            <a:endParaRPr lang="en-US">
              <a:ea typeface="ＭＳ Ｐゴシック" pitchFamily="-109" charset="-128"/>
              <a:cs typeface="ＭＳ Ｐゴシック" pitchFamily="-109" charset="-128"/>
            </a:endParaRPr>
          </a:p>
          <a:p>
            <a:endParaRPr lang="en-US">
              <a:ea typeface="ＭＳ Ｐゴシック" pitchFamily="-109" charset="-128"/>
              <a:cs typeface="ＭＳ Ｐゴシック" pitchFamily="-109" charset="-128"/>
            </a:endParaRPr>
          </a:p>
          <a:p>
            <a:endParaRPr lang="en-US">
              <a:ea typeface="ＭＳ Ｐゴシック" pitchFamily="-109" charset="-128"/>
              <a:cs typeface="ＭＳ Ｐゴシック" pitchFamily="-109" charset="-128"/>
            </a:endParaRPr>
          </a:p>
          <a:p>
            <a:endParaRPr lang="en-US">
              <a:ea typeface="ＭＳ Ｐゴシック" pitchFamily="-109" charset="-128"/>
              <a:cs typeface="ＭＳ Ｐゴシック" pitchFamily="-109" charset="-128"/>
            </a:endParaRPr>
          </a:p>
        </p:txBody>
      </p:sp>
      <p:sp>
        <p:nvSpPr>
          <p:cNvPr id="4" name="Rectangle 3"/>
          <p:cNvSpPr>
            <a:spLocks noChangeArrowheads="1"/>
          </p:cNvSpPr>
          <p:nvPr/>
        </p:nvSpPr>
        <p:spPr bwMode="auto">
          <a:xfrm>
            <a:off x="2667000" y="3200400"/>
            <a:ext cx="2438400" cy="838200"/>
          </a:xfrm>
          <a:prstGeom prst="rect">
            <a:avLst/>
          </a:prstGeom>
          <a:gradFill rotWithShape="1">
            <a:gsLst>
              <a:gs pos="0">
                <a:srgbClr val="2020A6"/>
              </a:gs>
              <a:gs pos="20000">
                <a:srgbClr val="2222A3"/>
              </a:gs>
              <a:gs pos="100000">
                <a:srgbClr val="18187C"/>
              </a:gs>
            </a:gsLst>
            <a:lin ang="5400000"/>
          </a:gradFill>
          <a:ln w="9525">
            <a:solidFill>
              <a:srgbClr val="2F2F98"/>
            </a:solidFill>
            <a:miter lim="800000"/>
            <a:headEnd/>
            <a:tailEnd/>
          </a:ln>
          <a:effectLst>
            <a:outerShdw blurRad="40000" dist="23000" dir="5400000" rotWithShape="0">
              <a:srgbClr val="000000">
                <a:alpha val="34998"/>
              </a:srgbClr>
            </a:outerShdw>
          </a:effectLst>
        </p:spPr>
        <p:txBody>
          <a:bodyPr anchor="ctr">
            <a:prstTxWarp prst="textNoShape">
              <a:avLst/>
            </a:prstTxWarp>
          </a:bodyPr>
          <a:lstStyle/>
          <a:p>
            <a:pPr algn="ctr">
              <a:defRPr/>
            </a:pPr>
            <a:r>
              <a:rPr lang="en-US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Mixed Fund</a:t>
            </a:r>
          </a:p>
        </p:txBody>
      </p:sp>
      <p:cxnSp>
        <p:nvCxnSpPr>
          <p:cNvPr id="5" name="Straight Arrow Connector 4"/>
          <p:cNvCxnSpPr>
            <a:cxnSpLocks noChangeShapeType="1"/>
          </p:cNvCxnSpPr>
          <p:nvPr/>
        </p:nvCxnSpPr>
        <p:spPr bwMode="auto">
          <a:xfrm>
            <a:off x="685800" y="3276600"/>
            <a:ext cx="1676400" cy="1588"/>
          </a:xfrm>
          <a:prstGeom prst="straightConnector1">
            <a:avLst/>
          </a:prstGeom>
          <a:noFill/>
          <a:ln w="25400">
            <a:solidFill>
              <a:srgbClr val="000000"/>
            </a:solidFill>
            <a:round/>
            <a:headEnd/>
            <a:tailEnd type="arrow" w="med" len="med"/>
          </a:ln>
          <a:effectLst>
            <a:outerShdw blurRad="40000" dist="20000" dir="5400000" rotWithShape="0">
              <a:srgbClr val="000000">
                <a:alpha val="37999"/>
              </a:srgbClr>
            </a:outerShdw>
          </a:effectLst>
        </p:spPr>
      </p:cxnSp>
      <p:cxnSp>
        <p:nvCxnSpPr>
          <p:cNvPr id="6" name="Straight Arrow Connector 5"/>
          <p:cNvCxnSpPr>
            <a:cxnSpLocks noChangeShapeType="1"/>
          </p:cNvCxnSpPr>
          <p:nvPr/>
        </p:nvCxnSpPr>
        <p:spPr bwMode="auto">
          <a:xfrm flipV="1">
            <a:off x="5410200" y="2819400"/>
            <a:ext cx="1600200" cy="685800"/>
          </a:xfrm>
          <a:prstGeom prst="straightConnector1">
            <a:avLst/>
          </a:prstGeom>
          <a:noFill/>
          <a:ln w="25400">
            <a:solidFill>
              <a:srgbClr val="000000"/>
            </a:solidFill>
            <a:round/>
            <a:headEnd/>
            <a:tailEnd type="arrow" w="med" len="med"/>
          </a:ln>
          <a:effectLst>
            <a:outerShdw blurRad="40000" dist="20000" dir="5400000" rotWithShape="0">
              <a:srgbClr val="000000">
                <a:alpha val="37999"/>
              </a:srgbClr>
            </a:outerShdw>
          </a:effectLst>
        </p:spPr>
      </p:cxnSp>
      <p:sp>
        <p:nvSpPr>
          <p:cNvPr id="7" name="TextBox 6"/>
          <p:cNvSpPr txBox="1"/>
          <p:nvPr/>
        </p:nvSpPr>
        <p:spPr>
          <a:xfrm>
            <a:off x="1066800" y="3429000"/>
            <a:ext cx="8382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dirty="0">
                <a:latin typeface="+mn-lt"/>
                <a:ea typeface="ＭＳ Ｐゴシック" pitchFamily="4" charset="-128"/>
                <a:cs typeface="ＭＳ Ｐゴシック" pitchFamily="4" charset="-128"/>
              </a:rPr>
              <a:t>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0" y="3429000"/>
            <a:ext cx="838200" cy="40005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sz="2000" dirty="0">
                <a:latin typeface="+mn-lt"/>
                <a:ea typeface="ＭＳ Ｐゴシック" pitchFamily="4" charset="-128"/>
                <a:cs typeface="ＭＳ Ｐゴシック" pitchFamily="4" charset="-128"/>
              </a:rPr>
              <a:t>OUT</a:t>
            </a:r>
          </a:p>
        </p:txBody>
      </p:sp>
      <p:pic>
        <p:nvPicPr>
          <p:cNvPr id="9" name="Picture 8" descr="images (2).jpe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086600" y="1981200"/>
            <a:ext cx="1524000" cy="1016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3323" name="TextBox 10"/>
          <p:cNvSpPr txBox="1">
            <a:spLocks noChangeArrowheads="1"/>
          </p:cNvSpPr>
          <p:nvPr/>
        </p:nvSpPr>
        <p:spPr bwMode="auto">
          <a:xfrm>
            <a:off x="2438400" y="5181600"/>
            <a:ext cx="4114800" cy="15696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prstTxWarp prst="textNoShape">
              <a:avLst/>
            </a:prstTxWarp>
            <a:spAutoFit/>
          </a:bodyPr>
          <a:lstStyle/>
          <a:p>
            <a:pPr algn="ctr"/>
            <a:r>
              <a:rPr lang="en-GB" dirty="0">
                <a:latin typeface="Arial" pitchFamily="-109" charset="0"/>
              </a:rPr>
              <a:t>‘First in first out’ </a:t>
            </a:r>
            <a:r>
              <a:rPr lang="en-GB" b="1" dirty="0">
                <a:solidFill>
                  <a:srgbClr val="A61AA6"/>
                </a:solidFill>
                <a:latin typeface="+mn-lt"/>
                <a:ea typeface="ＭＳ Ｐゴシック" pitchFamily="-109" charset="-128"/>
                <a:cs typeface="ＭＳ Ｐゴシック" pitchFamily="-109" charset="-128"/>
              </a:rPr>
              <a:t>UNLESS</a:t>
            </a:r>
            <a:r>
              <a:rPr lang="en-GB" dirty="0">
                <a:latin typeface="Arial" pitchFamily="-109" charset="0"/>
              </a:rPr>
              <a:t> contrary intention </a:t>
            </a:r>
            <a:r>
              <a:rPr lang="en-GB" b="1" dirty="0">
                <a:solidFill>
                  <a:srgbClr val="A61AA6"/>
                </a:solidFill>
                <a:latin typeface="+mn-lt"/>
                <a:ea typeface="ＭＳ Ｐゴシック" pitchFamily="-109" charset="-128"/>
                <a:cs typeface="ＭＳ Ｐゴシック" pitchFamily="-109" charset="-128"/>
              </a:rPr>
              <a:t>OR </a:t>
            </a:r>
            <a:r>
              <a:rPr lang="en-GB" dirty="0">
                <a:latin typeface="Arial" pitchFamily="-109" charset="0"/>
              </a:rPr>
              <a:t>too costly </a:t>
            </a:r>
            <a:r>
              <a:rPr lang="en-GB" b="1" dirty="0">
                <a:solidFill>
                  <a:srgbClr val="A61AA6"/>
                </a:solidFill>
                <a:latin typeface="+mn-lt"/>
                <a:ea typeface="ＭＳ Ｐゴシック" pitchFamily="-109" charset="-128"/>
                <a:cs typeface="ＭＳ Ｐゴシック" pitchFamily="-109" charset="-128"/>
              </a:rPr>
              <a:t>OR </a:t>
            </a:r>
            <a:r>
              <a:rPr lang="en-GB" dirty="0">
                <a:latin typeface="Arial" pitchFamily="-109" charset="0"/>
              </a:rPr>
              <a:t>unfair/unjust result.</a:t>
            </a:r>
          </a:p>
        </p:txBody>
      </p:sp>
      <p:cxnSp>
        <p:nvCxnSpPr>
          <p:cNvPr id="13" name="Straight Arrow Connector 12"/>
          <p:cNvCxnSpPr>
            <a:cxnSpLocks noChangeShapeType="1"/>
          </p:cNvCxnSpPr>
          <p:nvPr/>
        </p:nvCxnSpPr>
        <p:spPr bwMode="auto">
          <a:xfrm>
            <a:off x="5410200" y="3733800"/>
            <a:ext cx="1752600" cy="685800"/>
          </a:xfrm>
          <a:prstGeom prst="straightConnector1">
            <a:avLst/>
          </a:prstGeom>
          <a:noFill/>
          <a:ln w="25400">
            <a:solidFill>
              <a:srgbClr val="000000"/>
            </a:solidFill>
            <a:round/>
            <a:headEnd/>
            <a:tailEnd type="arrow" w="med" len="med"/>
          </a:ln>
          <a:effectLst>
            <a:outerShdw blurRad="40000" dist="20000" dir="5400000" rotWithShape="0">
              <a:srgbClr val="000000">
                <a:alpha val="37999"/>
              </a:srgbClr>
            </a:outerShdw>
          </a:effectLst>
        </p:spPr>
      </p:cxnSp>
      <p:cxnSp>
        <p:nvCxnSpPr>
          <p:cNvPr id="18" name="Straight Arrow Connector 17"/>
          <p:cNvCxnSpPr>
            <a:cxnSpLocks noChangeShapeType="1"/>
          </p:cNvCxnSpPr>
          <p:nvPr/>
        </p:nvCxnSpPr>
        <p:spPr bwMode="auto">
          <a:xfrm>
            <a:off x="685800" y="4038600"/>
            <a:ext cx="1676400" cy="1588"/>
          </a:xfrm>
          <a:prstGeom prst="straightConnector1">
            <a:avLst/>
          </a:prstGeom>
          <a:noFill/>
          <a:ln w="25400">
            <a:solidFill>
              <a:srgbClr val="000000"/>
            </a:solidFill>
            <a:round/>
            <a:headEnd/>
            <a:tailEnd type="arrow" w="med" len="med"/>
          </a:ln>
          <a:effectLst>
            <a:outerShdw blurRad="40000" dist="20000" dir="5400000" rotWithShape="0">
              <a:srgbClr val="000000">
                <a:alpha val="37999"/>
              </a:srgbClr>
            </a:outerShdw>
          </a:effectLst>
        </p:spPr>
      </p:cxnSp>
      <p:sp>
        <p:nvSpPr>
          <p:cNvPr id="13326" name="TextBox 18"/>
          <p:cNvSpPr txBox="1">
            <a:spLocks noChangeArrowheads="1"/>
          </p:cNvSpPr>
          <p:nvPr/>
        </p:nvSpPr>
        <p:spPr bwMode="auto">
          <a:xfrm>
            <a:off x="381000" y="2743200"/>
            <a:ext cx="22860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prstTxWarp prst="textNoShape">
              <a:avLst/>
            </a:prstTxWarp>
            <a:spAutoFit/>
          </a:bodyPr>
          <a:lstStyle/>
          <a:p>
            <a:r>
              <a:rPr lang="en-US" dirty="0">
                <a:latin typeface="Arial" pitchFamily="-109" charset="0"/>
              </a:rPr>
              <a:t>Trust A 15:30</a:t>
            </a:r>
          </a:p>
        </p:txBody>
      </p:sp>
      <p:sp>
        <p:nvSpPr>
          <p:cNvPr id="13327" name="TextBox 19"/>
          <p:cNvSpPr txBox="1">
            <a:spLocks noChangeArrowheads="1"/>
          </p:cNvSpPr>
          <p:nvPr/>
        </p:nvSpPr>
        <p:spPr bwMode="auto">
          <a:xfrm>
            <a:off x="381000" y="4191000"/>
            <a:ext cx="22098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prstTxWarp prst="textNoShape">
              <a:avLst/>
            </a:prstTxWarp>
            <a:spAutoFit/>
          </a:bodyPr>
          <a:lstStyle/>
          <a:p>
            <a:r>
              <a:rPr lang="en-US" dirty="0">
                <a:latin typeface="Arial" pitchFamily="-109" charset="0"/>
              </a:rPr>
              <a:t>Trust B 15:31</a:t>
            </a:r>
          </a:p>
        </p:txBody>
      </p:sp>
      <p:pic>
        <p:nvPicPr>
          <p:cNvPr id="13328" name="Picture 21" descr="download (2).jpe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391400" y="3657600"/>
            <a:ext cx="1219200" cy="1598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7" name="TextBox 18"/>
          <p:cNvSpPr txBox="1">
            <a:spLocks noChangeArrowheads="1"/>
          </p:cNvSpPr>
          <p:nvPr/>
        </p:nvSpPr>
        <p:spPr bwMode="auto">
          <a:xfrm>
            <a:off x="7086600" y="5410200"/>
            <a:ext cx="12954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prstTxWarp prst="textNoShape">
              <a:avLst/>
            </a:prstTxWarp>
            <a:spAutoFit/>
          </a:bodyPr>
          <a:lstStyle/>
          <a:p>
            <a:r>
              <a:rPr lang="en-US" dirty="0">
                <a:latin typeface="Arial" pitchFamily="-109" charset="0"/>
              </a:rPr>
              <a:t>Trust B</a:t>
            </a:r>
          </a:p>
        </p:txBody>
      </p:sp>
      <p:sp>
        <p:nvSpPr>
          <p:cNvPr id="19" name="TextBox 18"/>
          <p:cNvSpPr txBox="1">
            <a:spLocks noChangeArrowheads="1"/>
          </p:cNvSpPr>
          <p:nvPr/>
        </p:nvSpPr>
        <p:spPr bwMode="auto">
          <a:xfrm>
            <a:off x="7315200" y="1447800"/>
            <a:ext cx="12954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prstTxWarp prst="textNoShape">
              <a:avLst/>
            </a:prstTxWarp>
            <a:spAutoFit/>
          </a:bodyPr>
          <a:lstStyle/>
          <a:p>
            <a:r>
              <a:rPr lang="en-US" dirty="0">
                <a:latin typeface="Arial" pitchFamily="-109" charset="0"/>
              </a:rPr>
              <a:t>Trust A</a:t>
            </a:r>
          </a:p>
        </p:txBody>
      </p:sp>
      <p:sp>
        <p:nvSpPr>
          <p:cNvPr id="20" name="TextBox 18"/>
          <p:cNvSpPr txBox="1">
            <a:spLocks noChangeArrowheads="1"/>
          </p:cNvSpPr>
          <p:nvPr/>
        </p:nvSpPr>
        <p:spPr bwMode="auto">
          <a:xfrm>
            <a:off x="5181600" y="2438400"/>
            <a:ext cx="12954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prstTxWarp prst="textNoShape">
              <a:avLst/>
            </a:prstTxWarp>
            <a:spAutoFit/>
          </a:bodyPr>
          <a:lstStyle/>
          <a:p>
            <a:r>
              <a:rPr lang="en-US" dirty="0">
                <a:latin typeface="Arial" pitchFamily="-109" charset="0"/>
              </a:rPr>
              <a:t>Monday</a:t>
            </a:r>
          </a:p>
        </p:txBody>
      </p:sp>
      <p:sp>
        <p:nvSpPr>
          <p:cNvPr id="21" name="TextBox 18"/>
          <p:cNvSpPr txBox="1">
            <a:spLocks noChangeArrowheads="1"/>
          </p:cNvSpPr>
          <p:nvPr/>
        </p:nvSpPr>
        <p:spPr bwMode="auto">
          <a:xfrm>
            <a:off x="5181600" y="4343400"/>
            <a:ext cx="18288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prstTxWarp prst="textNoShape">
              <a:avLst/>
            </a:prstTxWarp>
            <a:spAutoFit/>
          </a:bodyPr>
          <a:lstStyle/>
          <a:p>
            <a:r>
              <a:rPr lang="en-US" dirty="0">
                <a:latin typeface="Arial" pitchFamily="-109" charset="0"/>
              </a:rPr>
              <a:t>Tuesday</a:t>
            </a:r>
          </a:p>
        </p:txBody>
      </p:sp>
    </p:spTree>
    <p:extLst>
      <p:ext uri="{BB962C8B-B14F-4D97-AF65-F5344CB8AC3E}">
        <p14:creationId xmlns:p14="http://schemas.microsoft.com/office/powerpoint/2010/main" val="25291267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23" grpId="0"/>
      <p:bldP spid="13326" grpId="0"/>
      <p:bldP spid="13327" grpId="0"/>
      <p:bldP spid="17" grpId="0"/>
      <p:bldP spid="19" grpId="0"/>
      <p:bldP spid="20" grpId="0"/>
      <p:bldP spid="21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/>
          <p:cNvSpPr>
            <a:spLocks noGrp="1"/>
          </p:cNvSpPr>
          <p:nvPr>
            <p:ph type="title"/>
          </p:nvPr>
        </p:nvSpPr>
        <p:spPr>
          <a:xfrm>
            <a:off x="684213" y="727079"/>
            <a:ext cx="7918648" cy="1143000"/>
          </a:xfrm>
        </p:spPr>
        <p:txBody>
          <a:bodyPr/>
          <a:lstStyle/>
          <a:p>
            <a:r>
              <a:rPr lang="en-US" dirty="0">
                <a:latin typeface="+mn-lt"/>
                <a:ea typeface="ＭＳ Ｐゴシック" pitchFamily="-109" charset="-128"/>
                <a:cs typeface="ＭＳ Ｐゴシック" pitchFamily="-109" charset="-128"/>
              </a:rPr>
              <a:t>Rule 4 for bank accounts: Rolling charge/North American Approach </a:t>
            </a:r>
          </a:p>
        </p:txBody>
      </p:sp>
      <p:sp>
        <p:nvSpPr>
          <p:cNvPr id="13315" name="Content Placeholder 2"/>
          <p:cNvSpPr>
            <a:spLocks noGrp="1"/>
          </p:cNvSpPr>
          <p:nvPr>
            <p:ph idx="1"/>
          </p:nvPr>
        </p:nvSpPr>
        <p:spPr>
          <a:xfrm>
            <a:off x="684213" y="1760538"/>
            <a:ext cx="7772400" cy="601662"/>
          </a:xfrm>
        </p:spPr>
        <p:txBody>
          <a:bodyPr/>
          <a:lstStyle/>
          <a:p>
            <a:endParaRPr lang="en-US">
              <a:ea typeface="ＭＳ Ｐゴシック" pitchFamily="-109" charset="-128"/>
              <a:cs typeface="ＭＳ Ｐゴシック" pitchFamily="-109" charset="-128"/>
            </a:endParaRPr>
          </a:p>
          <a:p>
            <a:endParaRPr lang="en-US">
              <a:ea typeface="ＭＳ Ｐゴシック" pitchFamily="-109" charset="-128"/>
              <a:cs typeface="ＭＳ Ｐゴシック" pitchFamily="-109" charset="-128"/>
            </a:endParaRPr>
          </a:p>
          <a:p>
            <a:endParaRPr lang="en-US">
              <a:ea typeface="ＭＳ Ｐゴシック" pitchFamily="-109" charset="-128"/>
              <a:cs typeface="ＭＳ Ｐゴシック" pitchFamily="-109" charset="-128"/>
            </a:endParaRPr>
          </a:p>
          <a:p>
            <a:endParaRPr lang="en-US">
              <a:ea typeface="ＭＳ Ｐゴシック" pitchFamily="-109" charset="-128"/>
              <a:cs typeface="ＭＳ Ｐゴシック" pitchFamily="-109" charset="-128"/>
            </a:endParaRPr>
          </a:p>
        </p:txBody>
      </p:sp>
      <p:sp>
        <p:nvSpPr>
          <p:cNvPr id="4" name="Rectangle 3"/>
          <p:cNvSpPr>
            <a:spLocks noChangeArrowheads="1"/>
          </p:cNvSpPr>
          <p:nvPr/>
        </p:nvSpPr>
        <p:spPr bwMode="auto">
          <a:xfrm>
            <a:off x="2667000" y="3200400"/>
            <a:ext cx="2438400" cy="838200"/>
          </a:xfrm>
          <a:prstGeom prst="rect">
            <a:avLst/>
          </a:prstGeom>
          <a:gradFill rotWithShape="1">
            <a:gsLst>
              <a:gs pos="0">
                <a:srgbClr val="2020A6"/>
              </a:gs>
              <a:gs pos="20000">
                <a:srgbClr val="2222A3"/>
              </a:gs>
              <a:gs pos="100000">
                <a:srgbClr val="18187C"/>
              </a:gs>
            </a:gsLst>
            <a:lin ang="5400000"/>
          </a:gradFill>
          <a:ln w="9525">
            <a:solidFill>
              <a:srgbClr val="2F2F98"/>
            </a:solidFill>
            <a:miter lim="800000"/>
            <a:headEnd/>
            <a:tailEnd/>
          </a:ln>
          <a:effectLst>
            <a:outerShdw blurRad="40000" dist="23000" dir="5400000" rotWithShape="0">
              <a:srgbClr val="000000">
                <a:alpha val="34998"/>
              </a:srgbClr>
            </a:outerShdw>
          </a:effectLst>
        </p:spPr>
        <p:txBody>
          <a:bodyPr anchor="ctr">
            <a:prstTxWarp prst="textNoShape">
              <a:avLst/>
            </a:prstTxWarp>
          </a:bodyPr>
          <a:lstStyle/>
          <a:p>
            <a:pPr algn="ctr">
              <a:defRPr/>
            </a:pPr>
            <a:r>
              <a:rPr lang="en-US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Mixed Fund (£100)</a:t>
            </a:r>
          </a:p>
        </p:txBody>
      </p:sp>
      <p:cxnSp>
        <p:nvCxnSpPr>
          <p:cNvPr id="5" name="Straight Arrow Connector 4"/>
          <p:cNvCxnSpPr>
            <a:cxnSpLocks noChangeShapeType="1"/>
          </p:cNvCxnSpPr>
          <p:nvPr/>
        </p:nvCxnSpPr>
        <p:spPr bwMode="auto">
          <a:xfrm>
            <a:off x="685800" y="3276600"/>
            <a:ext cx="1676400" cy="1588"/>
          </a:xfrm>
          <a:prstGeom prst="straightConnector1">
            <a:avLst/>
          </a:prstGeom>
          <a:noFill/>
          <a:ln w="25400">
            <a:solidFill>
              <a:srgbClr val="000000"/>
            </a:solidFill>
            <a:round/>
            <a:headEnd/>
            <a:tailEnd type="arrow" w="med" len="med"/>
          </a:ln>
          <a:effectLst>
            <a:outerShdw blurRad="40000" dist="20000" dir="5400000" rotWithShape="0">
              <a:srgbClr val="000000">
                <a:alpha val="37999"/>
              </a:srgbClr>
            </a:outerShdw>
          </a:effectLst>
        </p:spPr>
      </p:cxnSp>
      <p:cxnSp>
        <p:nvCxnSpPr>
          <p:cNvPr id="6" name="Straight Arrow Connector 5"/>
          <p:cNvCxnSpPr>
            <a:cxnSpLocks noChangeShapeType="1"/>
          </p:cNvCxnSpPr>
          <p:nvPr/>
        </p:nvCxnSpPr>
        <p:spPr bwMode="auto">
          <a:xfrm>
            <a:off x="5346923" y="3587873"/>
            <a:ext cx="1781175" cy="0"/>
          </a:xfrm>
          <a:prstGeom prst="straightConnector1">
            <a:avLst/>
          </a:prstGeom>
          <a:noFill/>
          <a:ln w="25400">
            <a:solidFill>
              <a:srgbClr val="000000"/>
            </a:solidFill>
            <a:round/>
            <a:headEnd/>
            <a:tailEnd type="arrow" w="med" len="med"/>
          </a:ln>
          <a:effectLst>
            <a:outerShdw blurRad="40000" dist="20000" dir="5400000" rotWithShape="0">
              <a:srgbClr val="000000">
                <a:alpha val="37999"/>
              </a:srgbClr>
            </a:outerShdw>
          </a:effectLst>
        </p:spPr>
      </p:cxnSp>
      <p:sp>
        <p:nvSpPr>
          <p:cNvPr id="7" name="TextBox 6"/>
          <p:cNvSpPr txBox="1"/>
          <p:nvPr/>
        </p:nvSpPr>
        <p:spPr>
          <a:xfrm>
            <a:off x="1188765" y="3353356"/>
            <a:ext cx="8382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dirty="0">
                <a:latin typeface="+mn-lt"/>
                <a:ea typeface="ＭＳ Ｐゴシック" pitchFamily="4" charset="-128"/>
                <a:cs typeface="ＭＳ Ｐゴシック" pitchFamily="4" charset="-128"/>
              </a:rPr>
              <a:t>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42223" y="3649786"/>
            <a:ext cx="838200" cy="40005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sz="2000" dirty="0">
                <a:latin typeface="+mn-lt"/>
                <a:ea typeface="ＭＳ Ｐゴシック" pitchFamily="4" charset="-128"/>
                <a:cs typeface="ＭＳ Ｐゴシック" pitchFamily="4" charset="-128"/>
              </a:rPr>
              <a:t>OUT</a:t>
            </a:r>
          </a:p>
        </p:txBody>
      </p:sp>
      <p:sp>
        <p:nvSpPr>
          <p:cNvPr id="13323" name="TextBox 10"/>
          <p:cNvSpPr txBox="1">
            <a:spLocks noChangeArrowheads="1"/>
          </p:cNvSpPr>
          <p:nvPr/>
        </p:nvSpPr>
        <p:spPr bwMode="auto">
          <a:xfrm>
            <a:off x="1825018" y="4228331"/>
            <a:ext cx="4114800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prstTxWarp prst="textNoShape">
              <a:avLst/>
            </a:prstTxWarp>
            <a:spAutoFit/>
          </a:bodyPr>
          <a:lstStyle/>
          <a:p>
            <a:pPr algn="ctr"/>
            <a:r>
              <a:rPr lang="en-GB" dirty="0">
                <a:solidFill>
                  <a:srgbClr val="00B050"/>
                </a:solidFill>
                <a:latin typeface="Arial" pitchFamily="-109" charset="0"/>
              </a:rPr>
              <a:t>A: £33.4</a:t>
            </a:r>
          </a:p>
          <a:p>
            <a:pPr algn="ctr"/>
            <a:r>
              <a:rPr lang="en-GB" dirty="0">
                <a:solidFill>
                  <a:srgbClr val="00B050"/>
                </a:solidFill>
                <a:latin typeface="Arial" pitchFamily="-109" charset="0"/>
              </a:rPr>
              <a:t>B: £66.6 </a:t>
            </a:r>
          </a:p>
        </p:txBody>
      </p:sp>
      <p:cxnSp>
        <p:nvCxnSpPr>
          <p:cNvPr id="18" name="Straight Arrow Connector 17"/>
          <p:cNvCxnSpPr>
            <a:cxnSpLocks noChangeShapeType="1"/>
          </p:cNvCxnSpPr>
          <p:nvPr/>
        </p:nvCxnSpPr>
        <p:spPr bwMode="auto">
          <a:xfrm>
            <a:off x="685800" y="4273981"/>
            <a:ext cx="1676400" cy="1588"/>
          </a:xfrm>
          <a:prstGeom prst="straightConnector1">
            <a:avLst/>
          </a:prstGeom>
          <a:noFill/>
          <a:ln w="25400">
            <a:solidFill>
              <a:srgbClr val="000000"/>
            </a:solidFill>
            <a:round/>
            <a:headEnd/>
            <a:tailEnd type="arrow" w="med" len="med"/>
          </a:ln>
          <a:effectLst>
            <a:outerShdw blurRad="40000" dist="20000" dir="5400000" rotWithShape="0">
              <a:srgbClr val="000000">
                <a:alpha val="37999"/>
              </a:srgbClr>
            </a:outerShdw>
          </a:effectLst>
        </p:spPr>
      </p:cxnSp>
      <p:sp>
        <p:nvSpPr>
          <p:cNvPr id="13326" name="TextBox 18"/>
          <p:cNvSpPr txBox="1">
            <a:spLocks noChangeArrowheads="1"/>
          </p:cNvSpPr>
          <p:nvPr/>
        </p:nvSpPr>
        <p:spPr bwMode="auto">
          <a:xfrm>
            <a:off x="381000" y="2743200"/>
            <a:ext cx="22860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prstTxWarp prst="textNoShape">
              <a:avLst/>
            </a:prstTxWarp>
            <a:spAutoFit/>
          </a:bodyPr>
          <a:lstStyle/>
          <a:p>
            <a:r>
              <a:rPr lang="en-US" sz="1800" dirty="0">
                <a:latin typeface="Arial" pitchFamily="-109" charset="0"/>
              </a:rPr>
              <a:t>Trust A 15:30 £100</a:t>
            </a:r>
          </a:p>
        </p:txBody>
      </p:sp>
      <p:sp>
        <p:nvSpPr>
          <p:cNvPr id="13327" name="TextBox 19"/>
          <p:cNvSpPr txBox="1">
            <a:spLocks noChangeArrowheads="1"/>
          </p:cNvSpPr>
          <p:nvPr/>
        </p:nvSpPr>
        <p:spPr bwMode="auto">
          <a:xfrm>
            <a:off x="381000" y="3815812"/>
            <a:ext cx="22098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prstTxWarp prst="textNoShape">
              <a:avLst/>
            </a:prstTxWarp>
            <a:spAutoFit/>
          </a:bodyPr>
          <a:lstStyle/>
          <a:p>
            <a:r>
              <a:rPr lang="en-US" sz="1800" dirty="0">
                <a:latin typeface="Arial" pitchFamily="-109" charset="0"/>
              </a:rPr>
              <a:t>Trust B 15:40 £100</a:t>
            </a:r>
          </a:p>
        </p:txBody>
      </p:sp>
      <p:sp>
        <p:nvSpPr>
          <p:cNvPr id="3" name="TextBox 18">
            <a:extLst>
              <a:ext uri="{FF2B5EF4-FFF2-40B4-BE49-F238E27FC236}">
                <a16:creationId xmlns:a16="http://schemas.microsoft.com/office/drawing/2014/main" id="{F1532031-57BD-6842-9B97-D0F0E8D4A5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75523" y="3079357"/>
            <a:ext cx="13716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prstTxWarp prst="textNoShape">
              <a:avLst/>
            </a:prstTxWarp>
            <a:spAutoFit/>
          </a:bodyPr>
          <a:lstStyle/>
          <a:p>
            <a:r>
              <a:rPr lang="en-US" sz="1800" dirty="0">
                <a:latin typeface="Arial" pitchFamily="-109" charset="0"/>
              </a:rPr>
              <a:t>15:35 £50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6A158B1-88F0-EBE2-4048-338A9AEA88A8}"/>
              </a:ext>
            </a:extLst>
          </p:cNvPr>
          <p:cNvSpPr txBox="1"/>
          <p:nvPr/>
        </p:nvSpPr>
        <p:spPr>
          <a:xfrm>
            <a:off x="5834062" y="4897461"/>
            <a:ext cx="838200" cy="40005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sz="2000" dirty="0">
                <a:latin typeface="+mn-lt"/>
                <a:ea typeface="ＭＳ Ｐゴシック" pitchFamily="4" charset="-128"/>
                <a:cs typeface="ＭＳ Ｐゴシック" pitchFamily="4" charset="-128"/>
              </a:rPr>
              <a:t>OUT</a:t>
            </a:r>
          </a:p>
        </p:txBody>
      </p:sp>
      <p:sp>
        <p:nvSpPr>
          <p:cNvPr id="11" name="TextBox 18">
            <a:extLst>
              <a:ext uri="{FF2B5EF4-FFF2-40B4-BE49-F238E27FC236}">
                <a16:creationId xmlns:a16="http://schemas.microsoft.com/office/drawing/2014/main" id="{875D306A-993A-25F7-0C6D-6ED68B10B30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72125" y="4344887"/>
            <a:ext cx="13716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prstTxWarp prst="textNoShape">
              <a:avLst/>
            </a:prstTxWarp>
            <a:spAutoFit/>
          </a:bodyPr>
          <a:lstStyle/>
          <a:p>
            <a:r>
              <a:rPr lang="en-US" sz="1800" dirty="0">
                <a:latin typeface="Arial" pitchFamily="-109" charset="0"/>
              </a:rPr>
              <a:t>15:45 £50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A73990AE-42AD-9248-06F9-6ADC9168E8A9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5362575" y="4797152"/>
            <a:ext cx="1781175" cy="0"/>
          </a:xfrm>
          <a:prstGeom prst="straightConnector1">
            <a:avLst/>
          </a:prstGeom>
          <a:noFill/>
          <a:ln w="25400">
            <a:solidFill>
              <a:srgbClr val="000000"/>
            </a:solidFill>
            <a:round/>
            <a:headEnd/>
            <a:tailEnd type="arrow" w="med" len="med"/>
          </a:ln>
          <a:effectLst>
            <a:outerShdw blurRad="40000" dist="20000" dir="5400000" rotWithShape="0">
              <a:srgbClr val="000000">
                <a:alpha val="37999"/>
              </a:srgbClr>
            </a:outerShdw>
          </a:effectLst>
        </p:spPr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81559C08-3FDA-F7C0-BEE7-F445ECF46A86}"/>
              </a:ext>
            </a:extLst>
          </p:cNvPr>
          <p:cNvSpPr txBox="1"/>
          <p:nvPr/>
        </p:nvSpPr>
        <p:spPr>
          <a:xfrm>
            <a:off x="1198290" y="4426461"/>
            <a:ext cx="8382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dirty="0">
                <a:latin typeface="+mn-lt"/>
                <a:ea typeface="ＭＳ Ｐゴシック" pitchFamily="4" charset="-128"/>
                <a:cs typeface="ＭＳ Ｐゴシック" pitchFamily="4" charset="-128"/>
              </a:rPr>
              <a:t>IN</a:t>
            </a:r>
          </a:p>
        </p:txBody>
      </p:sp>
      <p:sp>
        <p:nvSpPr>
          <p:cNvPr id="2" name="TextBox 10">
            <a:extLst>
              <a:ext uri="{FF2B5EF4-FFF2-40B4-BE49-F238E27FC236}">
                <a16:creationId xmlns:a16="http://schemas.microsoft.com/office/drawing/2014/main" id="{56BE6688-F6B9-A8F4-C5C4-9EF074E7634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36490" y="5590932"/>
            <a:ext cx="4114800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prstTxWarp prst="textNoShape">
              <a:avLst/>
            </a:prstTxWarp>
            <a:spAutoFit/>
          </a:bodyPr>
          <a:lstStyle/>
          <a:p>
            <a:pPr algn="ctr"/>
            <a:r>
              <a:rPr lang="en-GB" dirty="0">
                <a:latin typeface="Arial" pitchFamily="-109" charset="0"/>
              </a:rPr>
              <a:t>Rule recognised as fairest </a:t>
            </a:r>
            <a:r>
              <a:rPr lang="en-GB" b="1" dirty="0">
                <a:solidFill>
                  <a:srgbClr val="A61AA6"/>
                </a:solidFill>
                <a:latin typeface="+mn-lt"/>
                <a:ea typeface="ＭＳ Ｐゴシック" pitchFamily="-109" charset="-128"/>
                <a:cs typeface="ＭＳ Ｐゴシック" pitchFamily="-109" charset="-128"/>
              </a:rPr>
              <a:t>BUT </a:t>
            </a:r>
            <a:r>
              <a:rPr lang="en-GB" dirty="0">
                <a:latin typeface="Arial" pitchFamily="-109" charset="0"/>
              </a:rPr>
              <a:t>is costly.</a:t>
            </a:r>
          </a:p>
        </p:txBody>
      </p:sp>
    </p:spTree>
    <p:extLst>
      <p:ext uri="{BB962C8B-B14F-4D97-AF65-F5344CB8AC3E}">
        <p14:creationId xmlns:p14="http://schemas.microsoft.com/office/powerpoint/2010/main" val="173364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23" grpId="0"/>
      <p:bldP spid="13326" grpId="0"/>
      <p:bldP spid="13327" grpId="0"/>
      <p:bldP spid="3" grpId="0"/>
      <p:bldP spid="11" grpId="0"/>
      <p:bldP spid="2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itle 1">
            <a:extLst>
              <a:ext uri="{FF2B5EF4-FFF2-40B4-BE49-F238E27FC236}">
                <a16:creationId xmlns:a16="http://schemas.microsoft.com/office/drawing/2014/main" id="{2614B12A-7DC7-4B63-8B9E-1FFB026035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GB" altLang="en-US" dirty="0">
                <a:latin typeface="+mn-lt"/>
                <a:ea typeface="ＭＳ Ｐゴシック" panose="020B0600070205080204" pitchFamily="34" charset="-128"/>
              </a:rPr>
              <a:t>Recap</a:t>
            </a:r>
          </a:p>
        </p:txBody>
      </p:sp>
      <p:sp>
        <p:nvSpPr>
          <p:cNvPr id="15363" name="Content Placeholder 2">
            <a:extLst>
              <a:ext uri="{FF2B5EF4-FFF2-40B4-BE49-F238E27FC236}">
                <a16:creationId xmlns:a16="http://schemas.microsoft.com/office/drawing/2014/main" id="{A4EBAFA4-843A-4A67-BF5F-930EDA663322}"/>
              </a:ext>
            </a:extLst>
          </p:cNvPr>
          <p:cNvSpPr txBox="1">
            <a:spLocks/>
          </p:cNvSpPr>
          <p:nvPr/>
        </p:nvSpPr>
        <p:spPr bwMode="auto">
          <a:xfrm>
            <a:off x="610393" y="1763553"/>
            <a:ext cx="7923213" cy="36800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571500" indent="-571500">
              <a:spcBef>
                <a:spcPct val="2000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buFont typeface="Wingdings" panose="05000000000000000000" pitchFamily="2" charset="2"/>
              <a:buChar char="q"/>
              <a:defRPr/>
            </a:pPr>
            <a:r>
              <a:rPr lang="en-US" altLang="en-US" dirty="0"/>
              <a:t>The main difference between tracing at common law and tracing is equity concerns the ability to trace through mixed funds.</a:t>
            </a:r>
          </a:p>
          <a:p>
            <a:pPr>
              <a:buFont typeface="Wingdings" panose="05000000000000000000" pitchFamily="2" charset="2"/>
              <a:buChar char="q"/>
              <a:defRPr/>
            </a:pPr>
            <a:r>
              <a:rPr lang="en-US" altLang="en-US" dirty="0"/>
              <a:t>At common law, it is only possible to trace into clean substitutions, although profits may also be recoverable.</a:t>
            </a:r>
          </a:p>
          <a:p>
            <a:pPr>
              <a:buFont typeface="Wingdings" panose="05000000000000000000" pitchFamily="2" charset="2"/>
              <a:buChar char="q"/>
              <a:defRPr/>
            </a:pPr>
            <a:r>
              <a:rPr lang="en-US" altLang="en-US" dirty="0"/>
              <a:t>In equity, it is possible to trace through mixed funds, but a fiduciary relationship is required.</a:t>
            </a:r>
          </a:p>
          <a:p>
            <a:pPr>
              <a:buFont typeface="Wingdings" panose="05000000000000000000" pitchFamily="2" charset="2"/>
              <a:buChar char="q"/>
              <a:defRPr/>
            </a:pPr>
            <a:r>
              <a:rPr lang="en-US" altLang="en-US" dirty="0"/>
              <a:t>There are a number of rules that apply for tracing into and through bank accounts in equity.</a:t>
            </a:r>
          </a:p>
          <a:p>
            <a:pPr marL="0" indent="0">
              <a:defRPr/>
            </a:pPr>
            <a:endParaRPr lang="en-US" altLang="en-US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4205B5-A143-4C5B-871F-FC7B35A3C4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GB" dirty="0">
                <a:latin typeface="+mn-lt"/>
              </a:rPr>
              <a:t>Activity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32DD5D6-5FBC-7447-B65B-B4EED09FB3BF}"/>
              </a:ext>
            </a:extLst>
          </p:cNvPr>
          <p:cNvSpPr txBox="1"/>
          <p:nvPr/>
        </p:nvSpPr>
        <p:spPr>
          <a:xfrm>
            <a:off x="375879" y="1413386"/>
            <a:ext cx="7580497" cy="409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GB" sz="2000" dirty="0">
              <a:latin typeface="+mn-lt"/>
            </a:endParaRPr>
          </a:p>
          <a:p>
            <a:r>
              <a:rPr lang="en-GB" sz="2000" dirty="0">
                <a:latin typeface="+mn-lt"/>
              </a:rPr>
              <a:t>Read this short note on </a:t>
            </a:r>
            <a:r>
              <a:rPr lang="en-GB" sz="2000" i="1" u="sng" dirty="0">
                <a:latin typeface="+mn-lt"/>
              </a:rPr>
              <a:t>Re Hallett’s Estate </a:t>
            </a:r>
            <a:r>
              <a:rPr lang="en-GB" sz="2000" dirty="0">
                <a:latin typeface="+mn-lt"/>
              </a:rPr>
              <a:t>available on </a:t>
            </a:r>
            <a:r>
              <a:rPr lang="en-GB" sz="2000" i="1" dirty="0">
                <a:latin typeface="+mn-lt"/>
              </a:rPr>
              <a:t>Law Trove:</a:t>
            </a:r>
          </a:p>
          <a:p>
            <a:endParaRPr lang="en-GB" sz="2000" i="1" dirty="0">
              <a:latin typeface="+mn-lt"/>
            </a:endParaRPr>
          </a:p>
          <a:p>
            <a:r>
              <a:rPr lang="en-GB" sz="2000" dirty="0">
                <a:latin typeface="+mn-lt"/>
                <a:hlinkClick r:id="rId2"/>
              </a:rPr>
              <a:t>https://www.oxfordlawtrove.com/display/10.1093/he/9780191995699.001.0001/he-9780191995699-chapter-40?rskey=rMApjg&amp;result=7</a:t>
            </a:r>
            <a:endParaRPr lang="en-GB" sz="2000" dirty="0">
              <a:latin typeface="+mn-lt"/>
            </a:endParaRPr>
          </a:p>
          <a:p>
            <a:endParaRPr lang="en-GB" sz="2000" dirty="0">
              <a:latin typeface="+mn-lt"/>
            </a:endParaRPr>
          </a:p>
          <a:p>
            <a:r>
              <a:rPr lang="en-GB" sz="2000" dirty="0">
                <a:latin typeface="+mn-lt"/>
              </a:rPr>
              <a:t>(Derek </a:t>
            </a:r>
            <a:r>
              <a:rPr lang="en-GB" sz="2000" dirty="0" err="1">
                <a:latin typeface="+mn-lt"/>
              </a:rPr>
              <a:t>Whayman</a:t>
            </a:r>
            <a:r>
              <a:rPr lang="en-GB" sz="2000" dirty="0">
                <a:latin typeface="+mn-lt"/>
              </a:rPr>
              <a:t>, Essential Cases: Equity &amp; Trusts (6th </a:t>
            </a:r>
            <a:r>
              <a:rPr lang="en-GB" sz="2000" dirty="0" err="1">
                <a:latin typeface="+mn-lt"/>
              </a:rPr>
              <a:t>edn</a:t>
            </a:r>
            <a:r>
              <a:rPr lang="en-GB" sz="2000" dirty="0">
                <a:latin typeface="+mn-lt"/>
              </a:rPr>
              <a:t>) 2023)</a:t>
            </a:r>
          </a:p>
          <a:p>
            <a:endParaRPr lang="en-GB" sz="2000" dirty="0">
              <a:latin typeface="+mn-lt"/>
            </a:endParaRPr>
          </a:p>
          <a:p>
            <a:r>
              <a:rPr lang="en-GB" sz="2000" b="1" dirty="0">
                <a:latin typeface="+mn-lt"/>
              </a:rPr>
              <a:t>Do you think cherry picking is fair to all parties?</a:t>
            </a:r>
            <a:r>
              <a:rPr lang="en-GB" sz="2000" dirty="0">
                <a:latin typeface="+mn-lt"/>
              </a:rPr>
              <a:t> </a:t>
            </a:r>
          </a:p>
          <a:p>
            <a:endParaRPr lang="en-GB" sz="20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2593317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652"/>
    </mc:Choice>
    <mc:Fallback xmlns="">
      <p:transition spd="slow" advTm="1652"/>
    </mc:Fallback>
  </mc:AlternateContent>
</p:sld>
</file>

<file path=ppt/theme/theme1.xml><?xml version="1.0" encoding="utf-8"?>
<a:theme xmlns:a="http://schemas.openxmlformats.org/drawingml/2006/main" name="Blank">
  <a:themeElements>
    <a:clrScheme name="Blank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Blank">
      <a:majorFont>
        <a:latin typeface="Times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GB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GB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" pitchFamily="18" charset="0"/>
          </a:defRPr>
        </a:defPPr>
      </a:lstStyle>
    </a:lnDef>
  </a:objectDefaults>
  <a:extraClrSchemeLst>
    <a:extraClrScheme>
      <a:clrScheme name="Blank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{F17B14DA-12BA-344C-B04B-5147213FF9F4}tf10001071</Template>
  <TotalTime>0</TotalTime>
  <Words>843</Words>
  <Application>Microsoft Office PowerPoint</Application>
  <PresentationFormat>On-screen Show (4:3)</PresentationFormat>
  <Paragraphs>125</Paragraphs>
  <Slides>15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ＭＳ Ｐゴシック</vt:lpstr>
      <vt:lpstr>Arial</vt:lpstr>
      <vt:lpstr>Calibri</vt:lpstr>
      <vt:lpstr>Times</vt:lpstr>
      <vt:lpstr>Wingdings</vt:lpstr>
      <vt:lpstr>Blank</vt:lpstr>
      <vt:lpstr>   Trusts Law  Week 16: Tracing (II) </vt:lpstr>
      <vt:lpstr> Our two weeks on Tracing  </vt:lpstr>
      <vt:lpstr> This week, our aim will be:  </vt:lpstr>
      <vt:lpstr>Tracing and mixed funds</vt:lpstr>
      <vt:lpstr>What is a mixed fund?</vt:lpstr>
      <vt:lpstr>Tracing at common law</vt:lpstr>
      <vt:lpstr>Agip (Africa) Ltd v Jackson [1990] 1 Ch 547</vt:lpstr>
      <vt:lpstr>Equitable tracing and the fiduciary relationship</vt:lpstr>
      <vt:lpstr>Equitable tracing and  mixed funds</vt:lpstr>
      <vt:lpstr>Rule 1 for bank accounts:  The presumption of honesty</vt:lpstr>
      <vt:lpstr>Rule 2 for bank accounts: The lowest intermediate balance rule</vt:lpstr>
      <vt:lpstr>Rule 3 for bank accounts: FIFO </vt:lpstr>
      <vt:lpstr>Rule 4 for bank accounts: Rolling charge/North American Approach </vt:lpstr>
      <vt:lpstr>Recap</vt:lpstr>
      <vt:lpstr>Activity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Trusts Law  Week 1: The historical development of the trust within equity</dc:title>
  <dc:creator/>
  <cp:lastModifiedBy/>
  <cp:revision>81</cp:revision>
  <dcterms:created xsi:type="dcterms:W3CDTF">2017-10-15T06:15:13Z</dcterms:created>
  <dcterms:modified xsi:type="dcterms:W3CDTF">2025-02-17T10:34:30Z</dcterms:modified>
</cp:coreProperties>
</file>