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p:sldMasterIdLst>
    <p:sldMasterId id="2147483648" r:id="rId1"/>
  </p:sldMasterIdLst>
  <p:notesMasterIdLst>
    <p:notesMasterId r:id="rId22"/>
  </p:notesMasterIdLst>
  <p:sldIdLst>
    <p:sldId id="274" r:id="rId2"/>
    <p:sldId id="320" r:id="rId3"/>
    <p:sldId id="314" r:id="rId4"/>
    <p:sldId id="318" r:id="rId5"/>
    <p:sldId id="361" r:id="rId6"/>
    <p:sldId id="360" r:id="rId7"/>
    <p:sldId id="297" r:id="rId8"/>
    <p:sldId id="363" r:id="rId9"/>
    <p:sldId id="317" r:id="rId10"/>
    <p:sldId id="364" r:id="rId11"/>
    <p:sldId id="351" r:id="rId12"/>
    <p:sldId id="355" r:id="rId13"/>
    <p:sldId id="389" r:id="rId14"/>
    <p:sldId id="299" r:id="rId15"/>
    <p:sldId id="356" r:id="rId16"/>
    <p:sldId id="357" r:id="rId17"/>
    <p:sldId id="358" r:id="rId18"/>
    <p:sldId id="305" r:id="rId19"/>
    <p:sldId id="359" r:id="rId20"/>
    <p:sldId id="313" r:id="rId21"/>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Times" pitchFamily="4" charset="0"/>
        <a:ea typeface="ＭＳ Ｐゴシック" pitchFamily="4" charset="-128"/>
        <a:cs typeface="ＭＳ Ｐゴシック" pitchFamily="4" charset="-128"/>
      </a:defRPr>
    </a:lvl1pPr>
    <a:lvl2pPr marL="457200" algn="l" rtl="0" eaLnBrk="0" fontAlgn="base" hangingPunct="0">
      <a:spcBef>
        <a:spcPct val="0"/>
      </a:spcBef>
      <a:spcAft>
        <a:spcPct val="0"/>
      </a:spcAft>
      <a:defRPr sz="2400" kern="1200">
        <a:solidFill>
          <a:schemeClr val="tx1"/>
        </a:solidFill>
        <a:latin typeface="Times" pitchFamily="4" charset="0"/>
        <a:ea typeface="ＭＳ Ｐゴシック" pitchFamily="4" charset="-128"/>
        <a:cs typeface="ＭＳ Ｐゴシック" pitchFamily="4" charset="-128"/>
      </a:defRPr>
    </a:lvl2pPr>
    <a:lvl3pPr marL="914400" algn="l" rtl="0" eaLnBrk="0" fontAlgn="base" hangingPunct="0">
      <a:spcBef>
        <a:spcPct val="0"/>
      </a:spcBef>
      <a:spcAft>
        <a:spcPct val="0"/>
      </a:spcAft>
      <a:defRPr sz="2400" kern="1200">
        <a:solidFill>
          <a:schemeClr val="tx1"/>
        </a:solidFill>
        <a:latin typeface="Times" pitchFamily="4" charset="0"/>
        <a:ea typeface="ＭＳ Ｐゴシック" pitchFamily="4" charset="-128"/>
        <a:cs typeface="ＭＳ Ｐゴシック" pitchFamily="4" charset="-128"/>
      </a:defRPr>
    </a:lvl3pPr>
    <a:lvl4pPr marL="1371600" algn="l" rtl="0" eaLnBrk="0" fontAlgn="base" hangingPunct="0">
      <a:spcBef>
        <a:spcPct val="0"/>
      </a:spcBef>
      <a:spcAft>
        <a:spcPct val="0"/>
      </a:spcAft>
      <a:defRPr sz="2400" kern="1200">
        <a:solidFill>
          <a:schemeClr val="tx1"/>
        </a:solidFill>
        <a:latin typeface="Times" pitchFamily="4" charset="0"/>
        <a:ea typeface="ＭＳ Ｐゴシック" pitchFamily="4" charset="-128"/>
        <a:cs typeface="ＭＳ Ｐゴシック" pitchFamily="4" charset="-128"/>
      </a:defRPr>
    </a:lvl4pPr>
    <a:lvl5pPr marL="1828800" algn="l" rtl="0" eaLnBrk="0" fontAlgn="base" hangingPunct="0">
      <a:spcBef>
        <a:spcPct val="0"/>
      </a:spcBef>
      <a:spcAft>
        <a:spcPct val="0"/>
      </a:spcAft>
      <a:defRPr sz="2400" kern="1200">
        <a:solidFill>
          <a:schemeClr val="tx1"/>
        </a:solidFill>
        <a:latin typeface="Times" pitchFamily="4" charset="0"/>
        <a:ea typeface="ＭＳ Ｐゴシック" pitchFamily="4" charset="-128"/>
        <a:cs typeface="ＭＳ Ｐゴシック" pitchFamily="4" charset="-128"/>
      </a:defRPr>
    </a:lvl5pPr>
    <a:lvl6pPr marL="2286000" algn="l" defTabSz="457200" rtl="0" eaLnBrk="1" latinLnBrk="0" hangingPunct="1">
      <a:defRPr sz="2400" kern="1200">
        <a:solidFill>
          <a:schemeClr val="tx1"/>
        </a:solidFill>
        <a:latin typeface="Times" pitchFamily="4" charset="0"/>
        <a:ea typeface="ＭＳ Ｐゴシック" pitchFamily="4" charset="-128"/>
        <a:cs typeface="ＭＳ Ｐゴシック" pitchFamily="4" charset="-128"/>
      </a:defRPr>
    </a:lvl6pPr>
    <a:lvl7pPr marL="2743200" algn="l" defTabSz="457200" rtl="0" eaLnBrk="1" latinLnBrk="0" hangingPunct="1">
      <a:defRPr sz="2400" kern="1200">
        <a:solidFill>
          <a:schemeClr val="tx1"/>
        </a:solidFill>
        <a:latin typeface="Times" pitchFamily="4" charset="0"/>
        <a:ea typeface="ＭＳ Ｐゴシック" pitchFamily="4" charset="-128"/>
        <a:cs typeface="ＭＳ Ｐゴシック" pitchFamily="4" charset="-128"/>
      </a:defRPr>
    </a:lvl7pPr>
    <a:lvl8pPr marL="3200400" algn="l" defTabSz="457200" rtl="0" eaLnBrk="1" latinLnBrk="0" hangingPunct="1">
      <a:defRPr sz="2400" kern="1200">
        <a:solidFill>
          <a:schemeClr val="tx1"/>
        </a:solidFill>
        <a:latin typeface="Times" pitchFamily="4" charset="0"/>
        <a:ea typeface="ＭＳ Ｐゴシック" pitchFamily="4" charset="-128"/>
        <a:cs typeface="ＭＳ Ｐゴシック" pitchFamily="4" charset="-128"/>
      </a:defRPr>
    </a:lvl8pPr>
    <a:lvl9pPr marL="3657600" algn="l" defTabSz="457200" rtl="0" eaLnBrk="1" latinLnBrk="0" hangingPunct="1">
      <a:defRPr sz="2400" kern="1200">
        <a:solidFill>
          <a:schemeClr val="tx1"/>
        </a:solidFill>
        <a:latin typeface="Times" pitchFamily="4" charset="0"/>
        <a:ea typeface="ＭＳ Ｐゴシック" pitchFamily="4" charset="-128"/>
        <a:cs typeface="ＭＳ Ｐゴシック" pitchFamily="4"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6BF4"/>
    <a:srgbClr val="A61AA6"/>
    <a:srgbClr val="C7C7D7"/>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26"/>
    <p:restoredTop sz="90196" autoAdjust="0"/>
  </p:normalViewPr>
  <p:slideViewPr>
    <p:cSldViewPr>
      <p:cViewPr>
        <p:scale>
          <a:sx n="111" d="100"/>
          <a:sy n="111" d="100"/>
        </p:scale>
        <p:origin x="1904" y="2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8" charset="0"/>
                <a:ea typeface="+mn-ea"/>
                <a:cs typeface="+mn-cs"/>
              </a:defRPr>
            </a:lvl1pPr>
          </a:lstStyle>
          <a:p>
            <a:pPr>
              <a:defRPr/>
            </a:pPr>
            <a:endParaRPr lang="en-GB"/>
          </a:p>
        </p:txBody>
      </p:sp>
      <p:sp>
        <p:nvSpPr>
          <p:cNvPr id="245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8" charset="0"/>
                <a:ea typeface="+mn-ea"/>
                <a:cs typeface="+mn-cs"/>
              </a:defRPr>
            </a:lvl1pPr>
          </a:lstStyle>
          <a:p>
            <a:pPr>
              <a:defRPr/>
            </a:pPr>
            <a:endParaRPr lang="en-GB"/>
          </a:p>
        </p:txBody>
      </p:sp>
      <p:sp>
        <p:nvSpPr>
          <p:cNvPr id="102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45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8" charset="0"/>
                <a:ea typeface="+mn-ea"/>
                <a:cs typeface="+mn-cs"/>
              </a:defRPr>
            </a:lvl1pPr>
          </a:lstStyle>
          <a:p>
            <a:pPr>
              <a:defRPr/>
            </a:pPr>
            <a:endParaRPr lang="en-GB"/>
          </a:p>
        </p:txBody>
      </p:sp>
      <p:sp>
        <p:nvSpPr>
          <p:cNvPr id="245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21B4CD3-F344-EF4E-AECC-6003E51DFA17}" type="slidenum">
              <a:rPr lang="en-GB"/>
              <a:pPr/>
              <a:t>‹#›</a:t>
            </a:fld>
            <a:endParaRPr lang="en-GB"/>
          </a:p>
        </p:txBody>
      </p:sp>
    </p:spTree>
    <p:extLst>
      <p:ext uri="{BB962C8B-B14F-4D97-AF65-F5344CB8AC3E}">
        <p14:creationId xmlns:p14="http://schemas.microsoft.com/office/powerpoint/2010/main" val="403793517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ＭＳ Ｐゴシック" pitchFamily="4" charset="-128"/>
      </a:defRPr>
    </a:lvl1pPr>
    <a:lvl2pPr marL="4572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0"/>
              </a:spcAft>
            </a:pPr>
            <a:endParaRPr lang="en-GB" sz="1800" dirty="0">
              <a:effectLst/>
              <a:latin typeface="Courier New" panose="02070309020205020404" pitchFamily="49"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321B4CD3-F344-EF4E-AECC-6003E51DFA17}" type="slidenum">
              <a:rPr lang="en-GB"/>
              <a:pPr/>
              <a:t>5</a:t>
            </a:fld>
            <a:endParaRPr lang="en-GB"/>
          </a:p>
        </p:txBody>
      </p:sp>
    </p:spTree>
    <p:extLst>
      <p:ext uri="{BB962C8B-B14F-4D97-AF65-F5344CB8AC3E}">
        <p14:creationId xmlns:p14="http://schemas.microsoft.com/office/powerpoint/2010/main" val="211694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Bef>
                <a:spcPts val="0"/>
              </a:spcBef>
              <a:spcAft>
                <a:spcPts val="0"/>
              </a:spcAft>
            </a:pPr>
            <a:endParaRPr lang="en-US" dirty="0">
              <a:latin typeface="Times"/>
              <a:ea typeface="ＭＳ Ｐゴシック"/>
              <a:cs typeface="Times"/>
            </a:endParaRPr>
          </a:p>
        </p:txBody>
      </p:sp>
      <p:sp>
        <p:nvSpPr>
          <p:cNvPr id="4" name="Slide Number Placeholder 3"/>
          <p:cNvSpPr>
            <a:spLocks noGrp="1"/>
          </p:cNvSpPr>
          <p:nvPr>
            <p:ph type="sldNum" sz="quarter" idx="5"/>
          </p:nvPr>
        </p:nvSpPr>
        <p:spPr/>
        <p:txBody>
          <a:bodyPr/>
          <a:lstStyle/>
          <a:p>
            <a:fld id="{321B4CD3-F344-EF4E-AECC-6003E51DFA17}" type="slidenum">
              <a:rPr lang="en-GB"/>
              <a:pPr/>
              <a:t>6</a:t>
            </a:fld>
            <a:endParaRPr lang="en-GB"/>
          </a:p>
        </p:txBody>
      </p:sp>
    </p:spTree>
    <p:extLst>
      <p:ext uri="{BB962C8B-B14F-4D97-AF65-F5344CB8AC3E}">
        <p14:creationId xmlns:p14="http://schemas.microsoft.com/office/powerpoint/2010/main" val="3121280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a:ln/>
        </p:spPr>
      </p:sp>
      <p:sp>
        <p:nvSpPr>
          <p:cNvPr id="11267" name="Notes Placeholder 2"/>
          <p:cNvSpPr>
            <a:spLocks noGrp="1"/>
          </p:cNvSpPr>
          <p:nvPr>
            <p:ph type="body" idx="1"/>
          </p:nvPr>
        </p:nvSpPr>
        <p:spPr>
          <a:noFill/>
          <a:ln/>
        </p:spPr>
        <p:txBody>
          <a:bodyPr/>
          <a:lstStyle/>
          <a:p>
            <a:endParaRPr lang="en-US">
              <a:latin typeface="Times" pitchFamily="4" charset="0"/>
            </a:endParaRPr>
          </a:p>
        </p:txBody>
      </p:sp>
      <p:sp>
        <p:nvSpPr>
          <p:cNvPr id="11268" name="Slide Number Placeholder 3"/>
          <p:cNvSpPr>
            <a:spLocks noGrp="1"/>
          </p:cNvSpPr>
          <p:nvPr>
            <p:ph type="sldNum" sz="quarter" idx="5"/>
          </p:nvPr>
        </p:nvSpPr>
        <p:spPr>
          <a:noFill/>
        </p:spPr>
        <p:txBody>
          <a:bodyPr/>
          <a:lstStyle/>
          <a:p>
            <a:fld id="{F4376A85-93E2-C74F-B6DB-55D69734F0C9}" type="slidenum">
              <a:rPr lang="en-GB"/>
              <a:pPr/>
              <a:t>7</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0"/>
              </a:spcAft>
            </a:pPr>
            <a:endParaRPr lang="en-GB" sz="1800" dirty="0">
              <a:effectLst/>
              <a:latin typeface="Courier New" panose="02070309020205020404" pitchFamily="49"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321B4CD3-F344-EF4E-AECC-6003E51DFA17}" type="slidenum">
              <a:rPr lang="en-GB"/>
              <a:pPr/>
              <a:t>8</a:t>
            </a:fld>
            <a:endParaRPr lang="en-GB"/>
          </a:p>
        </p:txBody>
      </p:sp>
    </p:spTree>
    <p:extLst>
      <p:ext uri="{BB962C8B-B14F-4D97-AF65-F5344CB8AC3E}">
        <p14:creationId xmlns:p14="http://schemas.microsoft.com/office/powerpoint/2010/main" val="4233475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B4CD3-F344-EF4E-AECC-6003E51DFA17}" type="slidenum">
              <a:rPr lang="en-GB" smtClean="0"/>
              <a:pPr/>
              <a:t>9</a:t>
            </a:fld>
            <a:endParaRPr lang="en-GB"/>
          </a:p>
        </p:txBody>
      </p:sp>
    </p:spTree>
    <p:extLst>
      <p:ext uri="{BB962C8B-B14F-4D97-AF65-F5344CB8AC3E}">
        <p14:creationId xmlns:p14="http://schemas.microsoft.com/office/powerpoint/2010/main" val="2532096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Bef>
                <a:spcPts val="0"/>
              </a:spcBef>
              <a:spcAft>
                <a:spcPts val="0"/>
              </a:spcAft>
            </a:pPr>
            <a:r>
              <a:rPr lang="en-GB" dirty="0">
                <a:latin typeface="Times"/>
                <a:ea typeface="ＭＳ Ｐゴシック"/>
                <a:cs typeface="Times"/>
              </a:rPr>
              <a:t>  </a:t>
            </a:r>
          </a:p>
          <a:p>
            <a:pPr algn="just">
              <a:spcBef>
                <a:spcPts val="0"/>
              </a:spcBef>
              <a:spcAft>
                <a:spcPts val="0"/>
              </a:spcAft>
            </a:pPr>
            <a:endParaRPr lang="en-US" dirty="0">
              <a:latin typeface="Times"/>
              <a:ea typeface="ＭＳ Ｐゴシック"/>
              <a:cs typeface="Times"/>
            </a:endParaRPr>
          </a:p>
          <a:p>
            <a:endParaRPr lang="en-US" dirty="0"/>
          </a:p>
        </p:txBody>
      </p:sp>
      <p:sp>
        <p:nvSpPr>
          <p:cNvPr id="4" name="Slide Number Placeholder 3"/>
          <p:cNvSpPr>
            <a:spLocks noGrp="1"/>
          </p:cNvSpPr>
          <p:nvPr>
            <p:ph type="sldNum" sz="quarter" idx="5"/>
          </p:nvPr>
        </p:nvSpPr>
        <p:spPr/>
        <p:txBody>
          <a:bodyPr/>
          <a:lstStyle/>
          <a:p>
            <a:fld id="{321B4CD3-F344-EF4E-AECC-6003E51DFA17}" type="slidenum">
              <a:rPr lang="en-GB" smtClean="0"/>
              <a:pPr/>
              <a:t>11</a:t>
            </a:fld>
            <a:endParaRPr lang="en-GB"/>
          </a:p>
        </p:txBody>
      </p:sp>
    </p:spTree>
    <p:extLst>
      <p:ext uri="{BB962C8B-B14F-4D97-AF65-F5344CB8AC3E}">
        <p14:creationId xmlns:p14="http://schemas.microsoft.com/office/powerpoint/2010/main" val="2856114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B4CD3-F344-EF4E-AECC-6003E51DFA17}" type="slidenum">
              <a:rPr lang="en-GB" smtClean="0"/>
              <a:pPr/>
              <a:t>12</a:t>
            </a:fld>
            <a:endParaRPr lang="en-GB"/>
          </a:p>
        </p:txBody>
      </p:sp>
    </p:spTree>
    <p:extLst>
      <p:ext uri="{BB962C8B-B14F-4D97-AF65-F5344CB8AC3E}">
        <p14:creationId xmlns:p14="http://schemas.microsoft.com/office/powerpoint/2010/main" val="2914645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200000"/>
              </a:lnSpc>
              <a:spcAft>
                <a:spcPts val="600"/>
              </a:spcAft>
            </a:pPr>
            <a:endParaRPr lang="en-GB" sz="1800" u="sng" dirty="0">
              <a:effectLst/>
              <a:latin typeface="Arial" panose="020B0604020202020204" pitchFamily="34" charset="0"/>
              <a:ea typeface="MS Mincho" panose="02020609040205080304" pitchFamily="49" charset="-128"/>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21B4CD3-F344-EF4E-AECC-6003E51DFA17}" type="slidenum">
              <a:rPr lang="en-GB" smtClean="0"/>
              <a:pPr/>
              <a:t>14</a:t>
            </a:fld>
            <a:endParaRPr lang="en-GB"/>
          </a:p>
        </p:txBody>
      </p:sp>
    </p:spTree>
    <p:extLst>
      <p:ext uri="{BB962C8B-B14F-4D97-AF65-F5344CB8AC3E}">
        <p14:creationId xmlns:p14="http://schemas.microsoft.com/office/powerpoint/2010/main" val="2036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200000"/>
              </a:lnSpc>
              <a:spcAft>
                <a:spcPts val="600"/>
              </a:spcAft>
            </a:pPr>
            <a:endParaRPr lang="en-GB" sz="1800" u="sng" dirty="0">
              <a:effectLst/>
              <a:latin typeface="Arial" panose="020B0604020202020204" pitchFamily="34" charset="0"/>
              <a:ea typeface="MS Mincho" panose="02020609040205080304" pitchFamily="49" charset="-128"/>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21B4CD3-F344-EF4E-AECC-6003E51DFA17}" type="slidenum">
              <a:rPr lang="en-GB" smtClean="0"/>
              <a:pPr/>
              <a:t>15</a:t>
            </a:fld>
            <a:endParaRPr lang="en-GB"/>
          </a:p>
        </p:txBody>
      </p:sp>
    </p:spTree>
    <p:extLst>
      <p:ext uri="{BB962C8B-B14F-4D97-AF65-F5344CB8AC3E}">
        <p14:creationId xmlns:p14="http://schemas.microsoft.com/office/powerpoint/2010/main" val="623170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200000"/>
              </a:lnSpc>
              <a:spcAft>
                <a:spcPts val="600"/>
              </a:spcAft>
            </a:pPr>
            <a:endParaRPr lang="en-GB" sz="1800" u="sng" dirty="0">
              <a:effectLst/>
              <a:latin typeface="Arial" panose="020B0604020202020204" pitchFamily="34" charset="0"/>
              <a:ea typeface="MS Mincho" panose="02020609040205080304" pitchFamily="49" charset="-128"/>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21B4CD3-F344-EF4E-AECC-6003E51DFA17}" type="slidenum">
              <a:rPr lang="en-GB" smtClean="0"/>
              <a:pPr/>
              <a:t>16</a:t>
            </a:fld>
            <a:endParaRPr lang="en-GB"/>
          </a:p>
        </p:txBody>
      </p:sp>
    </p:spTree>
    <p:extLst>
      <p:ext uri="{BB962C8B-B14F-4D97-AF65-F5344CB8AC3E}">
        <p14:creationId xmlns:p14="http://schemas.microsoft.com/office/powerpoint/2010/main" val="2390639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200000"/>
              </a:lnSpc>
              <a:spcAft>
                <a:spcPts val="600"/>
              </a:spcAft>
            </a:pPr>
            <a:endParaRPr lang="en-GB" sz="1800" u="sng" dirty="0">
              <a:effectLst/>
              <a:latin typeface="Arial" panose="020B0604020202020204" pitchFamily="34" charset="0"/>
              <a:ea typeface="MS Mincho" panose="02020609040205080304" pitchFamily="49" charset="-128"/>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21B4CD3-F344-EF4E-AECC-6003E51DFA17}" type="slidenum">
              <a:rPr lang="en-GB" smtClean="0"/>
              <a:pPr/>
              <a:t>17</a:t>
            </a:fld>
            <a:endParaRPr lang="en-GB"/>
          </a:p>
        </p:txBody>
      </p:sp>
    </p:spTree>
    <p:extLst>
      <p:ext uri="{BB962C8B-B14F-4D97-AF65-F5344CB8AC3E}">
        <p14:creationId xmlns:p14="http://schemas.microsoft.com/office/powerpoint/2010/main" val="2862849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200000"/>
              </a:lnSpc>
              <a:spcAft>
                <a:spcPts val="600"/>
              </a:spcAft>
            </a:pPr>
            <a:endParaRPr lang="en-GB" sz="1800" u="sng" dirty="0">
              <a:effectLst/>
              <a:latin typeface="Arial" panose="020B0604020202020204" pitchFamily="34" charset="0"/>
              <a:ea typeface="MS Mincho" panose="02020609040205080304" pitchFamily="49" charset="-128"/>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21B4CD3-F344-EF4E-AECC-6003E51DFA17}" type="slidenum">
              <a:rPr lang="en-GB" smtClean="0"/>
              <a:pPr/>
              <a:t>19</a:t>
            </a:fld>
            <a:endParaRPr lang="en-GB"/>
          </a:p>
        </p:txBody>
      </p:sp>
    </p:spTree>
    <p:extLst>
      <p:ext uri="{BB962C8B-B14F-4D97-AF65-F5344CB8AC3E}">
        <p14:creationId xmlns:p14="http://schemas.microsoft.com/office/powerpoint/2010/main" val="17142274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a typeface="+mn-ea"/>
              <a:cs typeface="+mn-cs"/>
            </a:endParaRPr>
          </a:p>
        </p:txBody>
      </p:sp>
      <p:pic>
        <p:nvPicPr>
          <p:cNvPr id="5" name="Picture 8"/>
          <p:cNvPicPr>
            <a:picLocks noChangeAspect="1" noChangeArrowheads="1"/>
          </p:cNvPicPr>
          <p:nvPr userDrawn="1"/>
        </p:nvPicPr>
        <p:blipFill>
          <a:blip r:embed="rId2"/>
          <a:srcRect/>
          <a:stretch>
            <a:fillRect/>
          </a:stretch>
        </p:blipFill>
        <p:spPr bwMode="auto">
          <a:xfrm>
            <a:off x="266700" y="5843588"/>
            <a:ext cx="1943100" cy="862012"/>
          </a:xfrm>
          <a:prstGeom prst="rect">
            <a:avLst/>
          </a:prstGeom>
          <a:noFill/>
          <a:ln w="9525">
            <a:noFill/>
            <a:miter lim="800000"/>
            <a:headEnd/>
            <a:tailEnd/>
          </a:ln>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fld id="{A5E6EF1E-C022-B041-ABF4-8077A3E5DEDB}" type="slidenum">
              <a:rPr lang="en-GB"/>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8F711B23-FE33-9846-B273-E8522A2CB14F}" type="slidenum">
              <a:rPr lang="en-GB"/>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3B12DE71-8FC4-3F4C-89CB-42B9CF6A9A5F}" type="slidenum">
              <a:rPr lang="en-GB"/>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9E6F86F7-BDD2-5348-A178-9BF21F1CDF89}" type="slidenum">
              <a:rPr lang="en-GB"/>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fld id="{2DC557AA-EE3A-9C49-9B16-2A9E68280615}" type="slidenum">
              <a:rPr lang="en-GB"/>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fld id="{CAC88D1E-E65F-E740-B79A-E839F2DAF0C5}" type="slidenum">
              <a:rPr lang="en-GB"/>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fld id="{E8A6B92A-EBA9-9640-9352-1DAD94B3EECF}" type="slidenum">
              <a:rPr lang="en-GB"/>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FF5F0F88-15F7-3E46-A69F-8B7166186ADF}" type="slidenum">
              <a:rPr lang="en-GB"/>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fld id="{70B4FE0D-8C4B-854A-8149-90C2FB0CB32A}" type="slidenum">
              <a:rPr lang="en-GB"/>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99D51800-64C8-674B-BBD5-DD344B7488CB}" type="slidenum">
              <a:rPr lang="en-GB"/>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fld id="{3B7A8918-EB37-CC44-945B-A565ADFBE600}" type="slidenum">
              <a:rPr lang="en-GB"/>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0"/>
            <a:ext cx="9140825" cy="6873875"/>
          </a:xfrm>
          <a:prstGeom prst="rect">
            <a:avLst/>
          </a:prstGeom>
          <a:solidFill>
            <a:srgbClr val="663366"/>
          </a:solidFill>
          <a:ln>
            <a:noFill/>
          </a:ln>
        </p:spPr>
        <p:txBody>
          <a:bodyPr wrap="none" anchor="ctr">
            <a:prstTxWarp prst="textNoShape">
              <a:avLst/>
            </a:prstTxWarp>
          </a:bodyPr>
          <a:lstStyle/>
          <a:p>
            <a:pPr algn="ctr"/>
            <a:r>
              <a:rPr lang="en-GB">
                <a:solidFill>
                  <a:srgbClr val="663366"/>
                </a:solidFill>
              </a:rPr>
              <a:t>∂</a:t>
            </a:r>
          </a:p>
        </p:txBody>
      </p:sp>
      <p:sp>
        <p:nvSpPr>
          <p:cNvPr id="1027" name="Rectangle 8"/>
          <p:cNvSpPr>
            <a:spLocks noChangeArrowheads="1"/>
          </p:cNvSpPr>
          <p:nvPr userDrawn="1"/>
        </p:nvSpPr>
        <p:spPr bwMode="auto">
          <a:xfrm>
            <a:off x="107950" y="107950"/>
            <a:ext cx="8924925" cy="6657975"/>
          </a:xfrm>
          <a:prstGeom prst="rect">
            <a:avLst/>
          </a:prstGeom>
          <a:solidFill>
            <a:schemeClr val="bg1"/>
          </a:solidFill>
          <a:ln>
            <a:noFill/>
          </a:ln>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a typeface="+mn-ea"/>
              <a:cs typeface="+mn-cs"/>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pitchFamily="18" charset="0"/>
                <a:ea typeface="+mn-ea"/>
                <a:cs typeface="+mn-cs"/>
              </a:defRPr>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pitchFamily="18" charset="0"/>
                <a:ea typeface="+mn-ea"/>
                <a:cs typeface="+mn-cs"/>
              </a:defRPr>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99C0BFE6-C9EA-5643-A807-9410A4C353AE}" type="slidenum">
              <a:rPr lang="en-GB"/>
              <a:pPr/>
              <a:t>‹#›</a:t>
            </a:fld>
            <a:endParaRPr lang="en-GB"/>
          </a:p>
        </p:txBody>
      </p:sp>
      <p:sp>
        <p:nvSpPr>
          <p:cNvPr id="1033" name="Rectangle 9"/>
          <p:cNvSpPr>
            <a:spLocks noChangeArrowheads="1"/>
          </p:cNvSpPr>
          <p:nvPr userDrawn="1"/>
        </p:nvSpPr>
        <p:spPr bwMode="auto">
          <a:xfrm>
            <a:off x="790575" y="611188"/>
            <a:ext cx="8024813" cy="1143000"/>
          </a:xfrm>
          <a:prstGeom prst="rect">
            <a:avLst/>
          </a:prstGeom>
          <a:noFill/>
          <a:ln>
            <a:noFill/>
          </a:ln>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a typeface="+mn-ea"/>
              <a:cs typeface="+mn-cs"/>
            </a:endParaRPr>
          </a:p>
        </p:txBody>
      </p:sp>
      <p:sp>
        <p:nvSpPr>
          <p:cNvPr id="1034" name="Rectangle 10"/>
          <p:cNvSpPr>
            <a:spLocks noChangeArrowheads="1"/>
          </p:cNvSpPr>
          <p:nvPr userDrawn="1"/>
        </p:nvSpPr>
        <p:spPr bwMode="auto">
          <a:xfrm>
            <a:off x="790575" y="1798638"/>
            <a:ext cx="8024813" cy="3813175"/>
          </a:xfrm>
          <a:prstGeom prst="rect">
            <a:avLst/>
          </a:prstGeom>
          <a:noFill/>
          <a:ln>
            <a:noFill/>
          </a:ln>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a typeface="+mn-ea"/>
              <a:cs typeface="+mn-cs"/>
            </a:endParaRPr>
          </a:p>
        </p:txBody>
      </p:sp>
      <p:pic>
        <p:nvPicPr>
          <p:cNvPr id="1035" name="Picture 11"/>
          <p:cNvPicPr>
            <a:picLocks noChangeAspect="1" noChangeArrowheads="1"/>
          </p:cNvPicPr>
          <p:nvPr userDrawn="1"/>
        </p:nvPicPr>
        <p:blipFill>
          <a:blip r:embed="rId13"/>
          <a:srcRect/>
          <a:stretch>
            <a:fillRect/>
          </a:stretch>
        </p:blipFill>
        <p:spPr bwMode="auto">
          <a:xfrm>
            <a:off x="266700" y="5843588"/>
            <a:ext cx="1943100" cy="86201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43" r:id="rId1"/>
    <p:sldLayoutId id="2147484033" r:id="rId2"/>
    <p:sldLayoutId id="2147484034" r:id="rId3"/>
    <p:sldLayoutId id="2147484035" r:id="rId4"/>
    <p:sldLayoutId id="2147484036" r:id="rId5"/>
    <p:sldLayoutId id="2147484037" r:id="rId6"/>
    <p:sldLayoutId id="2147484038" r:id="rId7"/>
    <p:sldLayoutId id="2147484039" r:id="rId8"/>
    <p:sldLayoutId id="2147484040" r:id="rId9"/>
    <p:sldLayoutId id="2147484041" r:id="rId10"/>
    <p:sldLayoutId id="2147484042" r:id="rId11"/>
  </p:sldLayoutIdLst>
  <p:txStyles>
    <p:titleStyle>
      <a:lvl1pPr algn="l" rtl="0" eaLnBrk="0" fontAlgn="base" hangingPunct="0">
        <a:spcBef>
          <a:spcPct val="0"/>
        </a:spcBef>
        <a:spcAft>
          <a:spcPct val="0"/>
        </a:spcAft>
        <a:defRPr sz="4400">
          <a:solidFill>
            <a:srgbClr val="663366"/>
          </a:solidFill>
          <a:latin typeface="+mj-lt"/>
          <a:ea typeface="ＭＳ Ｐゴシック" pitchFamily="4" charset="-128"/>
          <a:cs typeface="ＭＳ Ｐゴシック" pitchFamily="4" charset="-128"/>
        </a:defRPr>
      </a:lvl1pPr>
      <a:lvl2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2pPr>
      <a:lvl3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3pPr>
      <a:lvl4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4pPr>
      <a:lvl5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sz="quarter"/>
          </p:nvPr>
        </p:nvSpPr>
        <p:spPr>
          <a:xfrm>
            <a:off x="685800" y="1268760"/>
            <a:ext cx="7772400" cy="893961"/>
          </a:xfrm>
        </p:spPr>
        <p:txBody>
          <a:bodyPr/>
          <a:lstStyle/>
          <a:p>
            <a:br>
              <a:rPr lang="en-US" dirty="0"/>
            </a:br>
            <a:br>
              <a:rPr lang="en-US" dirty="0"/>
            </a:br>
            <a:br>
              <a:rPr lang="en-US" dirty="0"/>
            </a:br>
            <a:r>
              <a:rPr lang="en-US" dirty="0">
                <a:latin typeface="+mn-lt"/>
                <a:ea typeface="Times New Roman" pitchFamily="4" charset="0"/>
                <a:cs typeface="Times New Roman"/>
              </a:rPr>
              <a:t>Trusts Law</a:t>
            </a:r>
            <a:br>
              <a:rPr lang="en-US" dirty="0">
                <a:latin typeface="+mn-lt"/>
                <a:ea typeface="Times New Roman" pitchFamily="4" charset="0"/>
                <a:cs typeface="Times New Roman" pitchFamily="4" charset="0"/>
              </a:rPr>
            </a:br>
            <a:br>
              <a:rPr lang="en-US" dirty="0">
                <a:latin typeface="+mn-lt"/>
                <a:ea typeface="Times New Roman" pitchFamily="4" charset="0"/>
                <a:cs typeface="Times New Roman" pitchFamily="4" charset="0"/>
              </a:rPr>
            </a:br>
            <a:r>
              <a:rPr lang="en-US" dirty="0">
                <a:latin typeface="+mn-lt"/>
                <a:ea typeface="Times New Roman" pitchFamily="4" charset="0"/>
                <a:cs typeface="Times New Roman"/>
              </a:rPr>
              <a:t>Week 7: Constitution of Trusts, Volunteers, and Imperfect Gifts</a:t>
            </a:r>
            <a:br>
              <a:rPr lang="en-US" dirty="0">
                <a:latin typeface="Times New Roman" pitchFamily="4" charset="0"/>
                <a:ea typeface="Times New Roman" pitchFamily="4" charset="0"/>
                <a:cs typeface="Times New Roman" pitchFamily="4" charset="0"/>
              </a:rPr>
            </a:br>
            <a:br>
              <a:rPr lang="en-US" sz="3600" dirty="0"/>
            </a:br>
            <a:endParaRPr lang="en-GB" sz="2800" dirty="0"/>
          </a:p>
        </p:txBody>
      </p:sp>
      <p:sp>
        <p:nvSpPr>
          <p:cNvPr id="3075" name="Subtitle 2"/>
          <p:cNvSpPr>
            <a:spLocks noGrp="1"/>
          </p:cNvSpPr>
          <p:nvPr>
            <p:ph type="subTitle" sz="quarter" idx="1"/>
          </p:nvPr>
        </p:nvSpPr>
        <p:spPr>
          <a:xfrm>
            <a:off x="755576" y="3068960"/>
            <a:ext cx="7632774" cy="1800200"/>
          </a:xfrm>
        </p:spPr>
        <p:txBody>
          <a:bodyPr/>
          <a:lstStyle/>
          <a:p>
            <a:pPr eaLnBrk="1" hangingPunct="1">
              <a:lnSpc>
                <a:spcPct val="110000"/>
              </a:lnSpc>
              <a:spcBef>
                <a:spcPct val="0"/>
              </a:spcBef>
            </a:pPr>
            <a:endParaRPr lang="en-GB" b="0" dirty="0">
              <a:latin typeface="Calibri" pitchFamily="4" charset="0"/>
            </a:endParaRPr>
          </a:p>
          <a:p>
            <a:pPr eaLnBrk="1" hangingPunct="1">
              <a:lnSpc>
                <a:spcPct val="110000"/>
              </a:lnSpc>
              <a:spcBef>
                <a:spcPct val="0"/>
              </a:spcBef>
            </a:pPr>
            <a:endParaRPr lang="en-GB" b="0" dirty="0">
              <a:latin typeface="Calibri" pitchFamily="4" charset="0"/>
            </a:endParaRPr>
          </a:p>
          <a:p>
            <a:pPr eaLnBrk="1" hangingPunct="1">
              <a:lnSpc>
                <a:spcPct val="110000"/>
              </a:lnSpc>
              <a:spcBef>
                <a:spcPct val="0"/>
              </a:spcBef>
            </a:pPr>
            <a:endParaRPr lang="en-GB" b="0" dirty="0">
              <a:latin typeface="Calibri" pitchFamily="4" charset="0"/>
            </a:endParaRPr>
          </a:p>
          <a:p>
            <a:pPr eaLnBrk="1" hangingPunct="1">
              <a:lnSpc>
                <a:spcPct val="110000"/>
              </a:lnSpc>
              <a:spcBef>
                <a:spcPct val="0"/>
              </a:spcBef>
            </a:pPr>
            <a:endParaRPr lang="en-GB" b="0" dirty="0">
              <a:latin typeface="Calibri" pitchFamily="4" charset="0"/>
            </a:endParaRPr>
          </a:p>
          <a:p>
            <a:pPr eaLnBrk="1" hangingPunct="1">
              <a:lnSpc>
                <a:spcPct val="110000"/>
              </a:lnSpc>
              <a:spcBef>
                <a:spcPct val="0"/>
              </a:spcBef>
            </a:pPr>
            <a:r>
              <a:rPr lang="en-GB" b="0" dirty="0">
                <a:latin typeface="Calibri" pitchFamily="4" charset="0"/>
                <a:ea typeface="ＭＳ Ｐゴシック"/>
              </a:rPr>
              <a:t>Dr </a:t>
            </a:r>
            <a:r>
              <a:rPr lang="en-GB" b="0" dirty="0">
                <a:latin typeface="Calibri"/>
                <a:ea typeface="ＭＳ Ｐゴシック"/>
              </a:rPr>
              <a:t>Lukas Simkus</a:t>
            </a:r>
            <a:endParaRPr lang="en-GB" b="0" dirty="0">
              <a:latin typeface="Calibri" pitchFamily="4" charset="0"/>
            </a:endParaRPr>
          </a:p>
          <a:p>
            <a:pPr eaLnBrk="1" hangingPunct="1">
              <a:lnSpc>
                <a:spcPct val="110000"/>
              </a:lnSpc>
              <a:spcBef>
                <a:spcPct val="0"/>
              </a:spcBef>
            </a:pPr>
            <a:endParaRPr lang="en-GB" b="0" dirty="0"/>
          </a:p>
          <a:p>
            <a:pPr eaLnBrk="1" hangingPunct="1"/>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0B006F52-43B9-4AE3-A31F-ECEDD3516E68}"/>
              </a:ext>
            </a:extLst>
          </p:cNvPr>
          <p:cNvSpPr>
            <a:spLocks noGrp="1"/>
          </p:cNvSpPr>
          <p:nvPr>
            <p:ph type="title"/>
          </p:nvPr>
        </p:nvSpPr>
        <p:spPr>
          <a:xfrm>
            <a:off x="684213" y="620713"/>
            <a:ext cx="7772400" cy="1143000"/>
          </a:xfrm>
        </p:spPr>
        <p:txBody>
          <a:bodyPr/>
          <a:lstStyle/>
          <a:p>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Thematic positioning </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15363" name="Content Placeholder 2">
            <a:extLst>
              <a:ext uri="{FF2B5EF4-FFF2-40B4-BE49-F238E27FC236}">
                <a16:creationId xmlns:a16="http://schemas.microsoft.com/office/drawing/2014/main" id="{21C6C85C-10A4-4B3E-8F3C-5DD8A3E9BF94}"/>
              </a:ext>
            </a:extLst>
          </p:cNvPr>
          <p:cNvSpPr>
            <a:spLocks noGrp="1"/>
          </p:cNvSpPr>
          <p:nvPr>
            <p:ph idx="1"/>
          </p:nvPr>
        </p:nvSpPr>
        <p:spPr>
          <a:xfrm>
            <a:off x="651780" y="1763713"/>
            <a:ext cx="7772400" cy="3895725"/>
          </a:xfrm>
        </p:spPr>
        <p:txBody>
          <a:bodyPr/>
          <a:lstStyle/>
          <a:p>
            <a:pPr marL="0" indent="0">
              <a:defRPr/>
            </a:pPr>
            <a:r>
              <a:rPr lang="en-US" altLang="en-US" sz="2400" b="1" kern="1200" dirty="0">
                <a:cs typeface="+mn-cs"/>
              </a:rPr>
              <a:t>Previously:</a:t>
            </a:r>
          </a:p>
          <a:p>
            <a:pPr>
              <a:buFontTx/>
              <a:buChar char="•"/>
              <a:defRPr/>
            </a:pPr>
            <a:r>
              <a:rPr lang="en-GB" altLang="en-US" sz="2400" kern="1200" dirty="0">
                <a:cs typeface="+mn-cs"/>
              </a:rPr>
              <a:t>Three certainties and formalities</a:t>
            </a:r>
          </a:p>
          <a:p>
            <a:pPr>
              <a:buFontTx/>
              <a:buChar char="•"/>
              <a:defRPr/>
            </a:pPr>
            <a:endParaRPr lang="en-US" altLang="en-US" sz="2400" kern="1200" dirty="0">
              <a:latin typeface="Calibri" pitchFamily="4" charset="0"/>
              <a:cs typeface="+mn-cs"/>
            </a:endParaRPr>
          </a:p>
          <a:p>
            <a:pPr marL="0" indent="0">
              <a:defRPr/>
            </a:pPr>
            <a:r>
              <a:rPr lang="en-US" altLang="en-US" sz="2400" b="1" kern="1200" dirty="0">
                <a:cs typeface="+mn-cs"/>
              </a:rPr>
              <a:t>This week:</a:t>
            </a:r>
          </a:p>
          <a:p>
            <a:pPr>
              <a:buFontTx/>
              <a:buChar char="•"/>
              <a:defRPr/>
            </a:pPr>
            <a:r>
              <a:rPr lang="en-GB" altLang="en-US" sz="2400" kern="1200" dirty="0">
                <a:cs typeface="+mn-cs"/>
              </a:rPr>
              <a:t>Constitution requirement for trusts</a:t>
            </a:r>
          </a:p>
        </p:txBody>
      </p:sp>
      <p:pic>
        <p:nvPicPr>
          <p:cNvPr id="7" name="Picture 6">
            <a:extLst>
              <a:ext uri="{FF2B5EF4-FFF2-40B4-BE49-F238E27FC236}">
                <a16:creationId xmlns:a16="http://schemas.microsoft.com/office/drawing/2014/main" id="{838471DC-517D-5D4C-9591-C86048A3B3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8064" y="4437112"/>
            <a:ext cx="3867693" cy="2221310"/>
          </a:xfrm>
          <a:prstGeom prst="rect">
            <a:avLst/>
          </a:prstGeom>
        </p:spPr>
      </p:pic>
    </p:spTree>
    <p:extLst>
      <p:ext uri="{BB962C8B-B14F-4D97-AF65-F5344CB8AC3E}">
        <p14:creationId xmlns:p14="http://schemas.microsoft.com/office/powerpoint/2010/main" val="1277949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300192" y="249756"/>
            <a:ext cx="2610615" cy="1461945"/>
          </a:xfrm>
          <a:prstGeom prst="rect">
            <a:avLst/>
          </a:prstGeom>
        </p:spPr>
      </p:pic>
      <p:sp>
        <p:nvSpPr>
          <p:cNvPr id="4098" name="Title 1"/>
          <p:cNvSpPr>
            <a:spLocks noGrp="1"/>
          </p:cNvSpPr>
          <p:nvPr>
            <p:ph type="title"/>
          </p:nvPr>
        </p:nvSpPr>
        <p:spPr>
          <a:xfrm>
            <a:off x="684213" y="620713"/>
            <a:ext cx="7772400" cy="1295400"/>
          </a:xfrm>
        </p:spPr>
        <p:txBody>
          <a:bodyPr/>
          <a:lstStyle/>
          <a:p>
            <a:br>
              <a:rPr lang="en-US" dirty="0">
                <a:latin typeface="Calibri" pitchFamily="4" charset="0"/>
              </a:rPr>
            </a:br>
            <a:r>
              <a:rPr lang="en-US" dirty="0">
                <a:latin typeface="+mn-lt"/>
              </a:rPr>
              <a:t>Starting points</a:t>
            </a:r>
            <a:br>
              <a:rPr lang="en-US" dirty="0">
                <a:latin typeface="Calibri" pitchFamily="4" charset="0"/>
              </a:rPr>
            </a:br>
            <a:br>
              <a:rPr lang="en-US" i="1" dirty="0">
                <a:latin typeface="Calibri" pitchFamily="4" charset="0"/>
              </a:rPr>
            </a:br>
            <a:endParaRPr lang="en-US" dirty="0">
              <a:latin typeface="Calibri" pitchFamily="4" charset="0"/>
            </a:endParaRPr>
          </a:p>
        </p:txBody>
      </p:sp>
      <p:sp>
        <p:nvSpPr>
          <p:cNvPr id="15363" name="Content Placeholder 2"/>
          <p:cNvSpPr>
            <a:spLocks noGrp="1"/>
          </p:cNvSpPr>
          <p:nvPr>
            <p:ph idx="1"/>
          </p:nvPr>
        </p:nvSpPr>
        <p:spPr>
          <a:xfrm>
            <a:off x="449217" y="2082658"/>
            <a:ext cx="8245566" cy="3794613"/>
          </a:xfrm>
        </p:spPr>
        <p:txBody>
          <a:bodyPr/>
          <a:lstStyle/>
          <a:p>
            <a:pPr>
              <a:buFont typeface="Arial" panose="020B0604020202020204" pitchFamily="34" charset="0"/>
              <a:buChar char="•"/>
              <a:defRPr/>
            </a:pPr>
            <a:r>
              <a:rPr lang="en-US" altLang="en-US" sz="2400" b="1" dirty="0"/>
              <a:t>Gratuitous promises are unenforceable</a:t>
            </a:r>
          </a:p>
          <a:p>
            <a:pPr>
              <a:buFont typeface="Wingdings" pitchFamily="2" charset="2"/>
              <a:buChar char="ü"/>
              <a:defRPr/>
            </a:pPr>
            <a:r>
              <a:rPr lang="en-US" altLang="en-US" sz="2400" dirty="0"/>
              <a:t>Promised gifts where no property is transferred are incomplete</a:t>
            </a:r>
          </a:p>
          <a:p>
            <a:pPr>
              <a:buFont typeface="Wingdings" pitchFamily="2" charset="2"/>
              <a:buChar char="ü"/>
              <a:defRPr/>
            </a:pPr>
            <a:r>
              <a:rPr lang="en-US" altLang="en-US" sz="2400" dirty="0"/>
              <a:t>Incomplete gifts are unenforceable</a:t>
            </a:r>
          </a:p>
          <a:p>
            <a:pPr>
              <a:buFont typeface="Arial" panose="020B0604020202020204" pitchFamily="34" charset="0"/>
              <a:buChar char="•"/>
              <a:defRPr/>
            </a:pPr>
            <a:r>
              <a:rPr lang="en-US" altLang="en-US" sz="2400" b="1" dirty="0"/>
              <a:t>Trusts are a species of gift (see Milroy v Lord)</a:t>
            </a:r>
          </a:p>
          <a:p>
            <a:pPr>
              <a:buFont typeface="Wingdings" pitchFamily="2" charset="2"/>
              <a:buChar char="ü"/>
              <a:defRPr/>
            </a:pPr>
            <a:r>
              <a:rPr lang="en-US" altLang="en-US" sz="2400" dirty="0"/>
              <a:t>Trusts where the property has not been transferred to the trustee remain incomplete</a:t>
            </a:r>
          </a:p>
          <a:p>
            <a:pPr>
              <a:buFont typeface="Wingdings" pitchFamily="2" charset="2"/>
              <a:buChar char="ü"/>
              <a:defRPr/>
            </a:pPr>
            <a:r>
              <a:rPr lang="en-US" altLang="en-US" sz="2400" dirty="0"/>
              <a:t>Incomplete trusts are unenforceable</a:t>
            </a:r>
          </a:p>
          <a:p>
            <a:pPr marL="857250" lvl="3" indent="0">
              <a:buNone/>
              <a:defRPr/>
            </a:pPr>
            <a:endParaRPr lang="en-US" altLang="en-US" sz="2400" b="1" dirty="0"/>
          </a:p>
          <a:p>
            <a:pPr marL="457200" indent="-457200">
              <a:buAutoNum type="arabicParenR"/>
              <a:defRPr/>
            </a:pPr>
            <a:endParaRPr lang="en-US" altLang="en-US" sz="2200" dirty="0">
              <a:latin typeface="Calibri" pitchFamily="4" charset="0"/>
            </a:endParaRPr>
          </a:p>
          <a:p>
            <a:pPr marL="0" indent="0">
              <a:defRPr/>
            </a:pPr>
            <a:endParaRPr lang="en-US" altLang="en-US" sz="2400" dirty="0">
              <a:latin typeface="Calibri" pitchFamily="4" charset="0"/>
            </a:endParaRPr>
          </a:p>
        </p:txBody>
      </p:sp>
    </p:spTree>
    <p:extLst>
      <p:ext uri="{BB962C8B-B14F-4D97-AF65-F5344CB8AC3E}">
        <p14:creationId xmlns:p14="http://schemas.microsoft.com/office/powerpoint/2010/main" val="4108913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mn-lt"/>
              </a:rPr>
              <a:t>Equitable maxims</a:t>
            </a:r>
          </a:p>
        </p:txBody>
      </p:sp>
      <p:sp>
        <p:nvSpPr>
          <p:cNvPr id="3" name="Content Placeholder 2"/>
          <p:cNvSpPr>
            <a:spLocks noGrp="1"/>
          </p:cNvSpPr>
          <p:nvPr>
            <p:ph idx="1"/>
          </p:nvPr>
        </p:nvSpPr>
        <p:spPr/>
        <p:txBody>
          <a:bodyPr/>
          <a:lstStyle/>
          <a:p>
            <a:pPr marL="0" lvl="0" indent="0" algn="ctr">
              <a:lnSpc>
                <a:spcPct val="200000"/>
              </a:lnSpc>
              <a:spcBef>
                <a:spcPts val="600"/>
              </a:spcBef>
              <a:spcAft>
                <a:spcPts val="600"/>
              </a:spcAft>
            </a:pPr>
            <a:r>
              <a:rPr lang="en-GB" sz="2400" i="1" dirty="0">
                <a:ea typeface="Calibri" panose="020F0502020204030204" pitchFamily="34" charset="0"/>
                <a:cs typeface="Times New Roman" panose="02020603050405020304" pitchFamily="18" charset="0"/>
              </a:rPr>
              <a:t>‘Equity will not assist a volunteer.’ </a:t>
            </a:r>
          </a:p>
          <a:p>
            <a:pPr marL="0" lvl="0" indent="0" algn="ctr">
              <a:lnSpc>
                <a:spcPct val="200000"/>
              </a:lnSpc>
              <a:spcBef>
                <a:spcPts val="600"/>
              </a:spcBef>
              <a:spcAft>
                <a:spcPts val="600"/>
              </a:spcAft>
            </a:pPr>
            <a:r>
              <a:rPr lang="en-GB" sz="2400" i="1" dirty="0">
                <a:ea typeface="Calibri" panose="020F0502020204030204" pitchFamily="34" charset="0"/>
                <a:cs typeface="Times New Roman" panose="02020603050405020304" pitchFamily="18" charset="0"/>
              </a:rPr>
              <a:t>‘Equity will not perfect an imperfect gift.’</a:t>
            </a:r>
          </a:p>
          <a:p>
            <a:endParaRPr lang="en-GB" dirty="0"/>
          </a:p>
          <a:p>
            <a:endParaRPr lang="en-GB" dirty="0"/>
          </a:p>
          <a:p>
            <a:r>
              <a:rPr lang="en-GB" b="1" dirty="0"/>
              <a:t>				</a:t>
            </a:r>
            <a:endParaRPr lang="en-GB" dirty="0"/>
          </a:p>
        </p:txBody>
      </p:sp>
      <p:pic>
        <p:nvPicPr>
          <p:cNvPr id="1026" name="Picture 2" descr="Image result for maxim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62301" y="3789040"/>
            <a:ext cx="2016224" cy="25704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599338" y="5287596"/>
            <a:ext cx="3005110" cy="830997"/>
          </a:xfrm>
          <a:prstGeom prst="rect">
            <a:avLst/>
          </a:prstGeom>
          <a:noFill/>
        </p:spPr>
        <p:txBody>
          <a:bodyPr wrap="square" rtlCol="0">
            <a:spAutoFit/>
          </a:bodyPr>
          <a:lstStyle/>
          <a:p>
            <a:r>
              <a:rPr lang="en-GB" sz="1600" b="1" dirty="0">
                <a:latin typeface="+mn-lt"/>
              </a:rPr>
              <a:t>Note: </a:t>
            </a:r>
            <a:r>
              <a:rPr lang="en-US" altLang="en-US" sz="1600" dirty="0">
                <a:latin typeface="+mn-lt"/>
              </a:rPr>
              <a:t>In stark contrast to gifts, </a:t>
            </a:r>
          </a:p>
          <a:p>
            <a:r>
              <a:rPr lang="en-US" altLang="en-US" sz="1600" i="1" dirty="0">
                <a:latin typeface="+mn-lt"/>
              </a:rPr>
              <a:t>some</a:t>
            </a:r>
            <a:r>
              <a:rPr lang="en-US" altLang="en-US" sz="1600" dirty="0">
                <a:latin typeface="+mn-lt"/>
              </a:rPr>
              <a:t> trusts do not require a transfer of property at all.</a:t>
            </a:r>
          </a:p>
        </p:txBody>
      </p:sp>
    </p:spTree>
    <p:extLst>
      <p:ext uri="{BB962C8B-B14F-4D97-AF65-F5344CB8AC3E}">
        <p14:creationId xmlns:p14="http://schemas.microsoft.com/office/powerpoint/2010/main" val="3240978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656764" y="836712"/>
            <a:ext cx="7772400" cy="324048"/>
          </a:xfrm>
        </p:spPr>
        <p:txBody>
          <a:bodyPr/>
          <a:lstStyle/>
          <a:p>
            <a:pPr algn="ctr"/>
            <a:br>
              <a:rPr lang="en-US" dirty="0">
                <a:latin typeface="Calibri" pitchFamily="4" charset="0"/>
              </a:rPr>
            </a:br>
            <a:r>
              <a:rPr lang="en-US" dirty="0">
                <a:solidFill>
                  <a:srgbClr val="00B050"/>
                </a:solidFill>
                <a:latin typeface="+mn-lt"/>
              </a:rPr>
              <a:t>Enforceability of promises</a:t>
            </a:r>
            <a:br>
              <a:rPr lang="en-US" dirty="0">
                <a:latin typeface="Calibri" pitchFamily="4" charset="0"/>
              </a:rPr>
            </a:br>
            <a:br>
              <a:rPr lang="en-US" i="1" dirty="0">
                <a:latin typeface="Calibri" pitchFamily="4" charset="0"/>
              </a:rPr>
            </a:br>
            <a:endParaRPr lang="en-US" dirty="0">
              <a:latin typeface="Calibri" pitchFamily="4" charset="0"/>
            </a:endParaRPr>
          </a:p>
        </p:txBody>
      </p:sp>
      <p:sp>
        <p:nvSpPr>
          <p:cNvPr id="15363" name="Content Placeholder 2"/>
          <p:cNvSpPr>
            <a:spLocks noGrp="1"/>
          </p:cNvSpPr>
          <p:nvPr>
            <p:ph idx="1"/>
          </p:nvPr>
        </p:nvSpPr>
        <p:spPr>
          <a:xfrm>
            <a:off x="251521" y="1484784"/>
            <a:ext cx="8496944" cy="4536504"/>
          </a:xfrm>
        </p:spPr>
        <p:txBody>
          <a:bodyPr/>
          <a:lstStyle/>
          <a:p>
            <a:pPr marL="457200" indent="-457200" algn="just">
              <a:spcAft>
                <a:spcPts val="0"/>
              </a:spcAft>
              <a:buFont typeface="Arial" panose="020B0604020202020204" pitchFamily="34" charset="0"/>
              <a:buChar char="•"/>
            </a:pPr>
            <a:r>
              <a:rPr lang="en-US" altLang="en-US" sz="2800" dirty="0">
                <a:latin typeface="Calibri" pitchFamily="4" charset="0"/>
              </a:rPr>
              <a:t>General rule in law: a promise is only enforceable when supported by consideration</a:t>
            </a:r>
          </a:p>
          <a:p>
            <a:pPr marL="457200" indent="-457200" algn="just">
              <a:spcAft>
                <a:spcPts val="0"/>
              </a:spcAft>
              <a:buFont typeface="Arial" panose="020B0604020202020204" pitchFamily="34" charset="0"/>
              <a:buChar char="•"/>
            </a:pPr>
            <a:r>
              <a:rPr lang="en-US" altLang="en-US" sz="2800" dirty="0">
                <a:latin typeface="Calibri" pitchFamily="4" charset="0"/>
              </a:rPr>
              <a:t>A volunteer is a recipient or intended recipient of a gift- i.e. someone who has given no consideration</a:t>
            </a:r>
          </a:p>
          <a:p>
            <a:pPr marL="457200" indent="-457200" algn="just">
              <a:spcAft>
                <a:spcPts val="0"/>
              </a:spcAft>
              <a:buFont typeface="Arial" panose="020B0604020202020204" pitchFamily="34" charset="0"/>
              <a:buChar char="•"/>
            </a:pPr>
            <a:r>
              <a:rPr lang="en-US" altLang="en-US" sz="2800" dirty="0">
                <a:latin typeface="Calibri" pitchFamily="4" charset="0"/>
              </a:rPr>
              <a:t>When a donor attempts to gift an asset to a volunteer, but fails to transfer legal title successfully, the attempted transaction is an </a:t>
            </a:r>
            <a:r>
              <a:rPr lang="en-US" altLang="en-US" sz="2800" b="1" dirty="0">
                <a:latin typeface="Calibri" pitchFamily="4" charset="0"/>
              </a:rPr>
              <a:t>imperfect gift</a:t>
            </a:r>
          </a:p>
          <a:p>
            <a:pPr marL="457200" indent="-457200" algn="just">
              <a:spcAft>
                <a:spcPts val="0"/>
              </a:spcAft>
              <a:buFont typeface="Arial" panose="020B0604020202020204" pitchFamily="34" charset="0"/>
              <a:buChar char="•"/>
            </a:pPr>
            <a:r>
              <a:rPr lang="en-US" altLang="en-US" sz="2800" dirty="0">
                <a:latin typeface="Calibri" pitchFamily="4" charset="0"/>
              </a:rPr>
              <a:t>When there is an imperfect gift, the volunteer has no recourse at law</a:t>
            </a:r>
          </a:p>
          <a:p>
            <a:pPr marL="457200" indent="-457200" algn="just">
              <a:spcAft>
                <a:spcPts val="0"/>
              </a:spcAft>
              <a:buFont typeface="Arial" panose="020B0604020202020204" pitchFamily="34" charset="0"/>
              <a:buChar char="•"/>
            </a:pPr>
            <a:endParaRPr lang="en-US" altLang="en-US" sz="3000" dirty="0">
              <a:latin typeface="Calibri" pitchFamily="4" charset="0"/>
            </a:endParaRPr>
          </a:p>
          <a:p>
            <a:pPr marL="457200" indent="-457200" algn="just">
              <a:spcAft>
                <a:spcPts val="0"/>
              </a:spcAft>
              <a:buFont typeface="Arial" panose="020B0604020202020204" pitchFamily="34" charset="0"/>
              <a:buChar char="•"/>
            </a:pPr>
            <a:endParaRPr lang="en-US" altLang="en-US" sz="3000" dirty="0">
              <a:latin typeface="Calibri" pitchFamily="4" charset="0"/>
            </a:endParaRPr>
          </a:p>
        </p:txBody>
      </p:sp>
    </p:spTree>
    <p:extLst>
      <p:ext uri="{BB962C8B-B14F-4D97-AF65-F5344CB8AC3E}">
        <p14:creationId xmlns:p14="http://schemas.microsoft.com/office/powerpoint/2010/main" val="2184106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684213" y="620713"/>
            <a:ext cx="7772400" cy="1295400"/>
          </a:xfrm>
        </p:spPr>
        <p:txBody>
          <a:bodyPr/>
          <a:lstStyle/>
          <a:p>
            <a:br>
              <a:rPr lang="en-US" dirty="0">
                <a:latin typeface="Calibri" pitchFamily="4" charset="0"/>
              </a:rPr>
            </a:br>
            <a:r>
              <a:rPr lang="en-US" dirty="0">
                <a:latin typeface="Calibri" pitchFamily="4" charset="0"/>
              </a:rPr>
              <a:t>Effects of </a:t>
            </a:r>
            <a:r>
              <a:rPr lang="en-US" dirty="0">
                <a:latin typeface="+mn-lt"/>
              </a:rPr>
              <a:t>constitution</a:t>
            </a:r>
            <a:br>
              <a:rPr lang="en-US" dirty="0">
                <a:latin typeface="Calibri" pitchFamily="4" charset="0"/>
              </a:rPr>
            </a:br>
            <a:br>
              <a:rPr lang="en-US" i="1" dirty="0">
                <a:latin typeface="Calibri" pitchFamily="4" charset="0"/>
              </a:rPr>
            </a:br>
            <a:endParaRPr lang="en-US" dirty="0">
              <a:latin typeface="Calibri" pitchFamily="4" charset="0"/>
            </a:endParaRPr>
          </a:p>
        </p:txBody>
      </p:sp>
      <p:sp>
        <p:nvSpPr>
          <p:cNvPr id="15363" name="Content Placeholder 2"/>
          <p:cNvSpPr>
            <a:spLocks noGrp="1"/>
          </p:cNvSpPr>
          <p:nvPr>
            <p:ph idx="1"/>
          </p:nvPr>
        </p:nvSpPr>
        <p:spPr>
          <a:xfrm>
            <a:off x="179512" y="1484784"/>
            <a:ext cx="8712968" cy="4320479"/>
          </a:xfrm>
        </p:spPr>
        <p:txBody>
          <a:bodyPr/>
          <a:lstStyle/>
          <a:p>
            <a:pPr>
              <a:buFont typeface="Arial" panose="020B0604020202020204" pitchFamily="34" charset="0"/>
              <a:buChar char="•"/>
              <a:defRPr/>
            </a:pPr>
            <a:r>
              <a:rPr lang="en-US" altLang="en-US" sz="2400" dirty="0"/>
              <a:t>For a trust to be enforceable, legal title to the trust property must be vested in the trustee in their capacity as trustee</a:t>
            </a:r>
          </a:p>
          <a:p>
            <a:pPr>
              <a:buFont typeface="Arial" panose="020B0604020202020204" pitchFamily="34" charset="0"/>
              <a:buChar char="•"/>
              <a:defRPr/>
            </a:pPr>
            <a:r>
              <a:rPr lang="en-US" altLang="en-US" sz="2400" dirty="0"/>
              <a:t>i.e. the trust must be </a:t>
            </a:r>
            <a:r>
              <a:rPr lang="en-US" altLang="en-US" sz="2400" b="1" dirty="0"/>
              <a:t>constituted</a:t>
            </a:r>
          </a:p>
          <a:p>
            <a:pPr>
              <a:buFont typeface="Arial" panose="020B0604020202020204" pitchFamily="34" charset="0"/>
              <a:buChar char="•"/>
              <a:defRPr/>
            </a:pPr>
            <a:r>
              <a:rPr lang="en-US" altLang="en-US" sz="2400" dirty="0"/>
              <a:t>If a settlor declares themselves a trustee, there is no need to transfer legal title - the declaration of trust will constitute it</a:t>
            </a:r>
          </a:p>
          <a:p>
            <a:pPr>
              <a:buFont typeface="Arial" panose="020B0604020202020204" pitchFamily="34" charset="0"/>
              <a:buChar char="•"/>
              <a:defRPr/>
            </a:pPr>
            <a:r>
              <a:rPr lang="en-US" altLang="en-US" sz="2400" dirty="0"/>
              <a:t>If the creation of the trust involves transferring the trust property to trustees other than the settlor, the trust will only be constituted if legal title is successfully transferred to the trustees</a:t>
            </a:r>
          </a:p>
          <a:p>
            <a:pPr>
              <a:buFont typeface="Arial" panose="020B0604020202020204" pitchFamily="34" charset="0"/>
              <a:buChar char="•"/>
              <a:defRPr/>
            </a:pPr>
            <a:r>
              <a:rPr lang="en-US" altLang="en-US" sz="2400" b="1" dirty="0"/>
              <a:t>An </a:t>
            </a:r>
            <a:r>
              <a:rPr lang="en-US" altLang="en-US" sz="2400" b="1" dirty="0" err="1"/>
              <a:t>unconstituted</a:t>
            </a:r>
            <a:r>
              <a:rPr lang="en-US" altLang="en-US" sz="2400" b="1" dirty="0"/>
              <a:t> trust has no legal effect</a:t>
            </a:r>
          </a:p>
          <a:p>
            <a:pPr marL="457200" indent="-457200">
              <a:buAutoNum type="arabicParenR"/>
              <a:defRPr/>
            </a:pPr>
            <a:endParaRPr lang="en-US" altLang="en-US" sz="2200" dirty="0">
              <a:latin typeface="Calibri" pitchFamily="4" charset="0"/>
            </a:endParaRPr>
          </a:p>
          <a:p>
            <a:pPr marL="0" indent="0">
              <a:defRPr/>
            </a:pPr>
            <a:endParaRPr lang="en-US" altLang="en-US" sz="2400" dirty="0">
              <a:latin typeface="Calibri" pitchFamily="4" charset="0"/>
            </a:endParaRPr>
          </a:p>
        </p:txBody>
      </p:sp>
    </p:spTree>
    <p:extLst>
      <p:ext uri="{BB962C8B-B14F-4D97-AF65-F5344CB8AC3E}">
        <p14:creationId xmlns:p14="http://schemas.microsoft.com/office/powerpoint/2010/main" val="2209834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GB" dirty="0">
                <a:latin typeface="+mn-lt"/>
              </a:rPr>
              <a:t>Constitution and the two types of express trust </a:t>
            </a:r>
          </a:p>
        </p:txBody>
      </p:sp>
      <p:sp>
        <p:nvSpPr>
          <p:cNvPr id="3" name="TextBox 2"/>
          <p:cNvSpPr txBox="1"/>
          <p:nvPr/>
        </p:nvSpPr>
        <p:spPr>
          <a:xfrm>
            <a:off x="1116013" y="2439988"/>
            <a:ext cx="1152525" cy="400050"/>
          </a:xfrm>
          <a:prstGeom prst="rect">
            <a:avLst/>
          </a:prstGeom>
          <a:noFill/>
        </p:spPr>
        <p:txBody>
          <a:bodyPr>
            <a:spAutoFit/>
          </a:bodyPr>
          <a:lstStyle/>
          <a:p>
            <a:pPr>
              <a:defRPr/>
            </a:pPr>
            <a:r>
              <a:rPr lang="en-GB" sz="2000" dirty="0">
                <a:latin typeface="+mn-lt"/>
                <a:cs typeface="+mn-cs"/>
              </a:rPr>
              <a:t>S</a:t>
            </a:r>
          </a:p>
        </p:txBody>
      </p:sp>
      <p:sp>
        <p:nvSpPr>
          <p:cNvPr id="4" name="TextBox 3"/>
          <p:cNvSpPr txBox="1"/>
          <p:nvPr/>
        </p:nvSpPr>
        <p:spPr>
          <a:xfrm>
            <a:off x="1835150" y="2438400"/>
            <a:ext cx="2801938" cy="400050"/>
          </a:xfrm>
          <a:prstGeom prst="rect">
            <a:avLst/>
          </a:prstGeom>
          <a:noFill/>
        </p:spPr>
        <p:txBody>
          <a:bodyPr>
            <a:spAutoFit/>
          </a:bodyPr>
          <a:lstStyle/>
          <a:p>
            <a:pPr>
              <a:defRPr/>
            </a:pPr>
            <a:r>
              <a:rPr lang="en-GB" sz="2000" dirty="0">
                <a:latin typeface="+mn-lt"/>
                <a:cs typeface="+mn-cs"/>
              </a:rPr>
              <a:t>Transfers property to</a:t>
            </a:r>
          </a:p>
        </p:txBody>
      </p:sp>
      <p:sp>
        <p:nvSpPr>
          <p:cNvPr id="5" name="TextBox 4"/>
          <p:cNvSpPr txBox="1"/>
          <p:nvPr/>
        </p:nvSpPr>
        <p:spPr>
          <a:xfrm>
            <a:off x="4594225" y="2438400"/>
            <a:ext cx="1152525" cy="400050"/>
          </a:xfrm>
          <a:prstGeom prst="rect">
            <a:avLst/>
          </a:prstGeom>
          <a:noFill/>
        </p:spPr>
        <p:txBody>
          <a:bodyPr>
            <a:spAutoFit/>
          </a:bodyPr>
          <a:lstStyle/>
          <a:p>
            <a:pPr>
              <a:defRPr/>
            </a:pPr>
            <a:r>
              <a:rPr lang="en-GB" sz="2000" dirty="0">
                <a:latin typeface="+mn-lt"/>
                <a:cs typeface="+mn-cs"/>
              </a:rPr>
              <a:t>T</a:t>
            </a:r>
          </a:p>
        </p:txBody>
      </p:sp>
      <p:cxnSp>
        <p:nvCxnSpPr>
          <p:cNvPr id="5126" name="Straight Arrow Connector 4"/>
          <p:cNvCxnSpPr>
            <a:cxnSpLocks noChangeShapeType="1"/>
          </p:cNvCxnSpPr>
          <p:nvPr/>
        </p:nvCxnSpPr>
        <p:spPr bwMode="auto">
          <a:xfrm flipV="1">
            <a:off x="2087563" y="3068638"/>
            <a:ext cx="1871662" cy="0"/>
          </a:xfrm>
          <a:prstGeom prst="straightConnector1">
            <a:avLst/>
          </a:prstGeom>
          <a:noFill/>
          <a:ln w="19050">
            <a:solidFill>
              <a:schemeClr val="tx1"/>
            </a:solidFill>
            <a:round/>
            <a:headEnd/>
            <a:tailEnd type="arrow" w="med" len="med"/>
          </a:ln>
        </p:spPr>
      </p:cxnSp>
      <p:sp>
        <p:nvSpPr>
          <p:cNvPr id="8" name="TextBox 7"/>
          <p:cNvSpPr txBox="1"/>
          <p:nvPr/>
        </p:nvSpPr>
        <p:spPr>
          <a:xfrm>
            <a:off x="1125538" y="4776788"/>
            <a:ext cx="1512887" cy="400050"/>
          </a:xfrm>
          <a:prstGeom prst="rect">
            <a:avLst/>
          </a:prstGeom>
          <a:noFill/>
        </p:spPr>
        <p:txBody>
          <a:bodyPr>
            <a:spAutoFit/>
          </a:bodyPr>
          <a:lstStyle/>
          <a:p>
            <a:pPr>
              <a:defRPr/>
            </a:pPr>
            <a:r>
              <a:rPr lang="en-GB" sz="2000" dirty="0">
                <a:latin typeface="+mn-lt"/>
                <a:cs typeface="+mn-cs"/>
              </a:rPr>
              <a:t>S</a:t>
            </a:r>
          </a:p>
        </p:txBody>
      </p:sp>
      <p:sp>
        <p:nvSpPr>
          <p:cNvPr id="9" name="TextBox 8"/>
          <p:cNvSpPr txBox="1"/>
          <p:nvPr/>
        </p:nvSpPr>
        <p:spPr>
          <a:xfrm>
            <a:off x="1844675" y="4802188"/>
            <a:ext cx="2376488" cy="400050"/>
          </a:xfrm>
          <a:prstGeom prst="rect">
            <a:avLst/>
          </a:prstGeom>
          <a:noFill/>
        </p:spPr>
        <p:txBody>
          <a:bodyPr>
            <a:spAutoFit/>
          </a:bodyPr>
          <a:lstStyle/>
          <a:p>
            <a:pPr>
              <a:defRPr/>
            </a:pPr>
            <a:r>
              <a:rPr lang="en-GB" sz="2000" dirty="0">
                <a:latin typeface="+mn-lt"/>
                <a:cs typeface="+mn-cs"/>
              </a:rPr>
              <a:t>Self declaration as </a:t>
            </a:r>
          </a:p>
        </p:txBody>
      </p:sp>
      <p:sp>
        <p:nvSpPr>
          <p:cNvPr id="10" name="TextBox 9"/>
          <p:cNvSpPr txBox="1"/>
          <p:nvPr/>
        </p:nvSpPr>
        <p:spPr>
          <a:xfrm>
            <a:off x="4618038" y="4770438"/>
            <a:ext cx="1152525" cy="400050"/>
          </a:xfrm>
          <a:prstGeom prst="rect">
            <a:avLst/>
          </a:prstGeom>
          <a:noFill/>
        </p:spPr>
        <p:txBody>
          <a:bodyPr>
            <a:spAutoFit/>
          </a:bodyPr>
          <a:lstStyle/>
          <a:p>
            <a:pPr>
              <a:defRPr/>
            </a:pPr>
            <a:r>
              <a:rPr lang="en-GB" sz="2000" dirty="0">
                <a:latin typeface="+mn-lt"/>
                <a:cs typeface="+mn-cs"/>
              </a:rPr>
              <a:t>T</a:t>
            </a:r>
          </a:p>
        </p:txBody>
      </p:sp>
      <p:sp>
        <p:nvSpPr>
          <p:cNvPr id="5130" name="TextBox 7"/>
          <p:cNvSpPr txBox="1">
            <a:spLocks noChangeArrowheads="1"/>
          </p:cNvSpPr>
          <p:nvPr/>
        </p:nvSpPr>
        <p:spPr bwMode="auto">
          <a:xfrm>
            <a:off x="395288" y="2438400"/>
            <a:ext cx="468312" cy="401638"/>
          </a:xfrm>
          <a:prstGeom prst="rect">
            <a:avLst/>
          </a:prstGeom>
          <a:noFill/>
          <a:ln w="9525">
            <a:noFill/>
            <a:miter lim="800000"/>
            <a:headEnd/>
            <a:tailEnd/>
          </a:ln>
        </p:spPr>
        <p:txBody>
          <a:bodyPr>
            <a:prstTxWarp prst="textNoShape">
              <a:avLst/>
            </a:prstTxWarp>
            <a:spAutoFit/>
          </a:bodyPr>
          <a:lstStyle/>
          <a:p>
            <a:r>
              <a:rPr lang="en-GB" sz="2000" b="1" dirty="0">
                <a:latin typeface="Arial" pitchFamily="4" charset="0"/>
                <a:ea typeface="Arial" pitchFamily="4" charset="0"/>
                <a:cs typeface="Arial" pitchFamily="4" charset="0"/>
              </a:rPr>
              <a:t>1)</a:t>
            </a:r>
          </a:p>
        </p:txBody>
      </p:sp>
      <p:sp>
        <p:nvSpPr>
          <p:cNvPr id="5131" name="TextBox 23"/>
          <p:cNvSpPr txBox="1">
            <a:spLocks noChangeArrowheads="1"/>
          </p:cNvSpPr>
          <p:nvPr/>
        </p:nvSpPr>
        <p:spPr bwMode="auto">
          <a:xfrm>
            <a:off x="404813" y="4802188"/>
            <a:ext cx="468312" cy="400050"/>
          </a:xfrm>
          <a:prstGeom prst="rect">
            <a:avLst/>
          </a:prstGeom>
          <a:noFill/>
          <a:ln w="9525">
            <a:noFill/>
            <a:miter lim="800000"/>
            <a:headEnd/>
            <a:tailEnd/>
          </a:ln>
        </p:spPr>
        <p:txBody>
          <a:bodyPr>
            <a:prstTxWarp prst="textNoShape">
              <a:avLst/>
            </a:prstTxWarp>
            <a:spAutoFit/>
          </a:bodyPr>
          <a:lstStyle/>
          <a:p>
            <a:r>
              <a:rPr lang="en-GB" sz="2000" b="1" dirty="0">
                <a:latin typeface="Arial" pitchFamily="4" charset="0"/>
                <a:ea typeface="Arial" pitchFamily="4" charset="0"/>
                <a:cs typeface="Arial" pitchFamily="4" charset="0"/>
              </a:rPr>
              <a:t>2)</a:t>
            </a:r>
          </a:p>
        </p:txBody>
      </p:sp>
      <p:cxnSp>
        <p:nvCxnSpPr>
          <p:cNvPr id="5132" name="Straight Connector 15"/>
          <p:cNvCxnSpPr>
            <a:cxnSpLocks noChangeShapeType="1"/>
          </p:cNvCxnSpPr>
          <p:nvPr/>
        </p:nvCxnSpPr>
        <p:spPr bwMode="auto">
          <a:xfrm>
            <a:off x="4787900" y="3068638"/>
            <a:ext cx="0" cy="647700"/>
          </a:xfrm>
          <a:prstGeom prst="line">
            <a:avLst/>
          </a:prstGeom>
          <a:noFill/>
          <a:ln w="9525">
            <a:solidFill>
              <a:schemeClr val="tx1"/>
            </a:solidFill>
            <a:round/>
            <a:headEnd/>
            <a:tailEnd/>
          </a:ln>
        </p:spPr>
      </p:cxnSp>
      <p:sp>
        <p:nvSpPr>
          <p:cNvPr id="17" name="TextBox 16"/>
          <p:cNvSpPr txBox="1"/>
          <p:nvPr/>
        </p:nvSpPr>
        <p:spPr>
          <a:xfrm>
            <a:off x="4637088" y="3789363"/>
            <a:ext cx="1152525" cy="400050"/>
          </a:xfrm>
          <a:prstGeom prst="rect">
            <a:avLst/>
          </a:prstGeom>
          <a:noFill/>
        </p:spPr>
        <p:txBody>
          <a:bodyPr>
            <a:spAutoFit/>
          </a:bodyPr>
          <a:lstStyle/>
          <a:p>
            <a:pPr>
              <a:defRPr/>
            </a:pPr>
            <a:r>
              <a:rPr lang="en-GB" sz="2000" dirty="0">
                <a:latin typeface="+mn-lt"/>
                <a:cs typeface="+mn-cs"/>
              </a:rPr>
              <a:t>B</a:t>
            </a:r>
          </a:p>
        </p:txBody>
      </p:sp>
      <p:cxnSp>
        <p:nvCxnSpPr>
          <p:cNvPr id="5134" name="Straight Connector 17"/>
          <p:cNvCxnSpPr>
            <a:cxnSpLocks noChangeShapeType="1"/>
          </p:cNvCxnSpPr>
          <p:nvPr/>
        </p:nvCxnSpPr>
        <p:spPr bwMode="auto">
          <a:xfrm>
            <a:off x="4787900" y="5316538"/>
            <a:ext cx="0" cy="647700"/>
          </a:xfrm>
          <a:prstGeom prst="line">
            <a:avLst/>
          </a:prstGeom>
          <a:noFill/>
          <a:ln w="9525">
            <a:solidFill>
              <a:schemeClr val="tx1"/>
            </a:solidFill>
            <a:round/>
            <a:headEnd/>
            <a:tailEnd/>
          </a:ln>
        </p:spPr>
      </p:cxnSp>
      <p:sp>
        <p:nvSpPr>
          <p:cNvPr id="19" name="TextBox 18"/>
          <p:cNvSpPr txBox="1"/>
          <p:nvPr/>
        </p:nvSpPr>
        <p:spPr>
          <a:xfrm>
            <a:off x="4618038" y="6053138"/>
            <a:ext cx="1152525" cy="400050"/>
          </a:xfrm>
          <a:prstGeom prst="rect">
            <a:avLst/>
          </a:prstGeom>
          <a:noFill/>
        </p:spPr>
        <p:txBody>
          <a:bodyPr>
            <a:spAutoFit/>
          </a:bodyPr>
          <a:lstStyle/>
          <a:p>
            <a:pPr>
              <a:defRPr/>
            </a:pPr>
            <a:r>
              <a:rPr lang="en-GB" sz="2000" dirty="0">
                <a:latin typeface="+mn-lt"/>
                <a:cs typeface="+mn-cs"/>
              </a:rPr>
              <a:t>B</a:t>
            </a:r>
          </a:p>
        </p:txBody>
      </p:sp>
      <p:sp>
        <p:nvSpPr>
          <p:cNvPr id="22" name="TextBox 21"/>
          <p:cNvSpPr txBox="1"/>
          <p:nvPr/>
        </p:nvSpPr>
        <p:spPr>
          <a:xfrm>
            <a:off x="2286000" y="1981200"/>
            <a:ext cx="1676400" cy="400050"/>
          </a:xfrm>
          <a:prstGeom prst="rect">
            <a:avLst/>
          </a:prstGeom>
          <a:noFill/>
        </p:spPr>
        <p:txBody>
          <a:bodyPr wrap="square">
            <a:spAutoFit/>
          </a:bodyPr>
          <a:lstStyle/>
          <a:p>
            <a:pPr>
              <a:defRPr/>
            </a:pPr>
            <a:r>
              <a:rPr lang="en-GB" sz="2000" dirty="0">
                <a:solidFill>
                  <a:srgbClr val="0070C0"/>
                </a:solidFill>
                <a:latin typeface="+mn-lt"/>
                <a:cs typeface="+mn-cs"/>
              </a:rPr>
              <a:t>Constitution</a:t>
            </a:r>
          </a:p>
        </p:txBody>
      </p:sp>
      <p:sp>
        <p:nvSpPr>
          <p:cNvPr id="23" name="TextBox 22"/>
          <p:cNvSpPr txBox="1"/>
          <p:nvPr/>
        </p:nvSpPr>
        <p:spPr>
          <a:xfrm>
            <a:off x="5580063" y="4770438"/>
            <a:ext cx="2801937" cy="1323439"/>
          </a:xfrm>
          <a:prstGeom prst="rect">
            <a:avLst/>
          </a:prstGeom>
          <a:noFill/>
        </p:spPr>
        <p:txBody>
          <a:bodyPr>
            <a:spAutoFit/>
          </a:bodyPr>
          <a:lstStyle/>
          <a:p>
            <a:pPr>
              <a:defRPr/>
            </a:pPr>
            <a:r>
              <a:rPr lang="en-GB" sz="2000" dirty="0">
                <a:solidFill>
                  <a:srgbClr val="0070C0"/>
                </a:solidFill>
                <a:latin typeface="+mn-lt"/>
                <a:cs typeface="+mn-cs"/>
              </a:rPr>
              <a:t>No separate step of constitution required, as property does not move</a:t>
            </a:r>
          </a:p>
        </p:txBody>
      </p:sp>
      <p:cxnSp>
        <p:nvCxnSpPr>
          <p:cNvPr id="24" name="Straight Arrow Connector 23"/>
          <p:cNvCxnSpPr>
            <a:cxnSpLocks noChangeShapeType="1"/>
          </p:cNvCxnSpPr>
          <p:nvPr/>
        </p:nvCxnSpPr>
        <p:spPr bwMode="auto">
          <a:xfrm flipV="1">
            <a:off x="949325" y="2924175"/>
            <a:ext cx="309563" cy="576263"/>
          </a:xfrm>
          <a:prstGeom prst="straightConnector1">
            <a:avLst/>
          </a:prstGeom>
          <a:noFill/>
          <a:ln w="19050">
            <a:solidFill>
              <a:srgbClr val="00B050"/>
            </a:solidFill>
            <a:round/>
            <a:headEnd/>
            <a:tailEnd type="arrow" w="med" len="med"/>
          </a:ln>
        </p:spPr>
      </p:cxnSp>
      <p:sp>
        <p:nvSpPr>
          <p:cNvPr id="28" name="TextBox 27"/>
          <p:cNvSpPr txBox="1"/>
          <p:nvPr/>
        </p:nvSpPr>
        <p:spPr>
          <a:xfrm>
            <a:off x="490538" y="3500438"/>
            <a:ext cx="2801937" cy="708025"/>
          </a:xfrm>
          <a:prstGeom prst="rect">
            <a:avLst/>
          </a:prstGeom>
          <a:noFill/>
        </p:spPr>
        <p:txBody>
          <a:bodyPr>
            <a:spAutoFit/>
          </a:bodyPr>
          <a:lstStyle/>
          <a:p>
            <a:pPr>
              <a:defRPr/>
            </a:pPr>
            <a:r>
              <a:rPr lang="en-GB" sz="2000" dirty="0">
                <a:solidFill>
                  <a:srgbClr val="00B050"/>
                </a:solidFill>
                <a:latin typeface="+mn-lt"/>
                <a:cs typeface="+mn-cs"/>
              </a:rPr>
              <a:t>Formalities on declaration of trust</a:t>
            </a:r>
          </a:p>
        </p:txBody>
      </p:sp>
      <p:cxnSp>
        <p:nvCxnSpPr>
          <p:cNvPr id="29" name="Straight Arrow Connector 28"/>
          <p:cNvCxnSpPr>
            <a:cxnSpLocks noChangeShapeType="1"/>
          </p:cNvCxnSpPr>
          <p:nvPr/>
        </p:nvCxnSpPr>
        <p:spPr bwMode="auto">
          <a:xfrm rot="10800000" flipV="1">
            <a:off x="3886200" y="2209799"/>
            <a:ext cx="1447800" cy="1"/>
          </a:xfrm>
          <a:prstGeom prst="straightConnector1">
            <a:avLst/>
          </a:prstGeom>
          <a:noFill/>
          <a:ln w="19050">
            <a:solidFill>
              <a:srgbClr val="FF0000"/>
            </a:solidFill>
            <a:round/>
            <a:headEnd/>
            <a:tailEnd type="arrow" w="med" len="med"/>
          </a:ln>
        </p:spPr>
      </p:cxnSp>
      <p:sp>
        <p:nvSpPr>
          <p:cNvPr id="32" name="TextBox 31"/>
          <p:cNvSpPr txBox="1"/>
          <p:nvPr/>
        </p:nvSpPr>
        <p:spPr>
          <a:xfrm>
            <a:off x="5486400" y="1905000"/>
            <a:ext cx="2801937" cy="708025"/>
          </a:xfrm>
          <a:prstGeom prst="rect">
            <a:avLst/>
          </a:prstGeom>
          <a:noFill/>
        </p:spPr>
        <p:txBody>
          <a:bodyPr>
            <a:spAutoFit/>
          </a:bodyPr>
          <a:lstStyle/>
          <a:p>
            <a:pPr>
              <a:defRPr/>
            </a:pPr>
            <a:r>
              <a:rPr lang="en-GB" sz="2000" dirty="0">
                <a:solidFill>
                  <a:srgbClr val="FF0000"/>
                </a:solidFill>
                <a:latin typeface="+mn-lt"/>
                <a:cs typeface="+mn-cs"/>
              </a:rPr>
              <a:t>Formalities on constitution</a:t>
            </a:r>
          </a:p>
        </p:txBody>
      </p:sp>
      <p:cxnSp>
        <p:nvCxnSpPr>
          <p:cNvPr id="34" name="Straight Arrow Connector 33"/>
          <p:cNvCxnSpPr>
            <a:cxnSpLocks noChangeShapeType="1"/>
          </p:cNvCxnSpPr>
          <p:nvPr/>
        </p:nvCxnSpPr>
        <p:spPr bwMode="auto">
          <a:xfrm>
            <a:off x="949325" y="4208463"/>
            <a:ext cx="1138238" cy="444500"/>
          </a:xfrm>
          <a:prstGeom prst="straightConnector1">
            <a:avLst/>
          </a:prstGeom>
          <a:noFill/>
          <a:ln w="19050">
            <a:solidFill>
              <a:srgbClr val="00B050"/>
            </a:solidFill>
            <a:round/>
            <a:headEnd/>
            <a:tailEnd type="arrow"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8" grpId="0"/>
      <p:bldP spid="3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687387" y="610582"/>
            <a:ext cx="7772400" cy="792063"/>
          </a:xfrm>
        </p:spPr>
        <p:txBody>
          <a:bodyPr/>
          <a:lstStyle/>
          <a:p>
            <a:pPr algn="ctr"/>
            <a:br>
              <a:rPr lang="en-US" dirty="0">
                <a:latin typeface="Calibri" pitchFamily="4" charset="0"/>
              </a:rPr>
            </a:br>
            <a:r>
              <a:rPr lang="en-US" sz="3600" dirty="0">
                <a:solidFill>
                  <a:srgbClr val="00B050"/>
                </a:solidFill>
                <a:latin typeface="+mn-lt"/>
              </a:rPr>
              <a:t>Incompletely constituted trusts</a:t>
            </a:r>
            <a:br>
              <a:rPr lang="en-US" dirty="0">
                <a:latin typeface="Calibri" pitchFamily="4" charset="0"/>
              </a:rPr>
            </a:br>
            <a:br>
              <a:rPr lang="en-US" i="1" dirty="0">
                <a:latin typeface="Calibri" pitchFamily="4" charset="0"/>
              </a:rPr>
            </a:br>
            <a:endParaRPr lang="en-US" dirty="0">
              <a:latin typeface="Calibri" pitchFamily="4" charset="0"/>
            </a:endParaRPr>
          </a:p>
        </p:txBody>
      </p:sp>
      <p:sp>
        <p:nvSpPr>
          <p:cNvPr id="15363" name="Content Placeholder 2"/>
          <p:cNvSpPr>
            <a:spLocks noGrp="1"/>
          </p:cNvSpPr>
          <p:nvPr>
            <p:ph idx="1"/>
          </p:nvPr>
        </p:nvSpPr>
        <p:spPr>
          <a:xfrm>
            <a:off x="425123" y="1124744"/>
            <a:ext cx="8179325" cy="5004544"/>
          </a:xfrm>
        </p:spPr>
        <p:txBody>
          <a:bodyPr/>
          <a:lstStyle/>
          <a:p>
            <a:pPr marL="457200" indent="-457200" algn="just">
              <a:spcAft>
                <a:spcPts val="0"/>
              </a:spcAft>
              <a:buFont typeface="Arial" panose="020B0604020202020204" pitchFamily="34" charset="0"/>
              <a:buChar char="•"/>
            </a:pPr>
            <a:r>
              <a:rPr lang="en-US" altLang="en-US" sz="2800" dirty="0">
                <a:latin typeface="Calibri" pitchFamily="4" charset="0"/>
              </a:rPr>
              <a:t>When the creation of a trust involves transfer of the trust property to trustees, it is necessary to for legal title to be transferred to the trustees, which is similar to the transfer of legal title from donor to </a:t>
            </a:r>
            <a:r>
              <a:rPr lang="en-US" altLang="en-US" sz="2800" dirty="0" err="1">
                <a:latin typeface="Calibri" pitchFamily="4" charset="0"/>
              </a:rPr>
              <a:t>donee</a:t>
            </a:r>
            <a:r>
              <a:rPr lang="en-US" altLang="en-US" sz="2800" dirty="0">
                <a:latin typeface="Calibri" pitchFamily="4" charset="0"/>
              </a:rPr>
              <a:t> of a gift</a:t>
            </a:r>
          </a:p>
          <a:p>
            <a:pPr marL="457200" indent="-457200" algn="just">
              <a:spcAft>
                <a:spcPts val="0"/>
              </a:spcAft>
              <a:buFont typeface="Arial" panose="020B0604020202020204" pitchFamily="34" charset="0"/>
              <a:buChar char="•"/>
            </a:pPr>
            <a:r>
              <a:rPr lang="en-US" altLang="en-US" sz="2800" dirty="0">
                <a:latin typeface="Calibri" pitchFamily="4" charset="0"/>
              </a:rPr>
              <a:t>Where trusts are principally ‘gifts’ in that the beneficiaries (and trustees) are volunteers, the same logic applies - equity will not assist volunteers</a:t>
            </a:r>
          </a:p>
          <a:p>
            <a:pPr marL="457200" indent="-457200" algn="just">
              <a:spcAft>
                <a:spcPts val="0"/>
              </a:spcAft>
              <a:buFont typeface="Arial" panose="020B0604020202020204" pitchFamily="34" charset="0"/>
              <a:buChar char="•"/>
            </a:pPr>
            <a:r>
              <a:rPr lang="en-US" altLang="en-US" sz="2800" dirty="0">
                <a:latin typeface="Calibri" pitchFamily="4" charset="0"/>
              </a:rPr>
              <a:t>Thus, if a trust is not properly constituted, the beneficiary cannot rely on equity’s assistance</a:t>
            </a:r>
          </a:p>
          <a:p>
            <a:pPr marL="457200" indent="-457200" algn="just">
              <a:spcAft>
                <a:spcPts val="0"/>
              </a:spcAft>
              <a:buFont typeface="Arial" panose="020B0604020202020204" pitchFamily="34" charset="0"/>
              <a:buChar char="•"/>
            </a:pPr>
            <a:endParaRPr lang="en-US" altLang="en-US" sz="2800" dirty="0">
              <a:latin typeface="Calibri" pitchFamily="4" charset="0"/>
            </a:endParaRPr>
          </a:p>
        </p:txBody>
      </p:sp>
    </p:spTree>
    <p:extLst>
      <p:ext uri="{BB962C8B-B14F-4D97-AF65-F5344CB8AC3E}">
        <p14:creationId xmlns:p14="http://schemas.microsoft.com/office/powerpoint/2010/main" val="588525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323528" y="404664"/>
            <a:ext cx="8496944" cy="576064"/>
          </a:xfrm>
        </p:spPr>
        <p:txBody>
          <a:bodyPr/>
          <a:lstStyle/>
          <a:p>
            <a:pPr algn="ctr"/>
            <a:r>
              <a:rPr lang="en-GB" sz="2800" dirty="0">
                <a:latin typeface="+mn-lt"/>
              </a:rPr>
              <a:t>The rule in </a:t>
            </a:r>
            <a:r>
              <a:rPr lang="en-GB" sz="2800" i="1" dirty="0">
                <a:latin typeface="+mn-lt"/>
              </a:rPr>
              <a:t>Milroy v Lord </a:t>
            </a:r>
            <a:r>
              <a:rPr lang="en-GB" sz="2800" dirty="0">
                <a:latin typeface="+mn-lt"/>
              </a:rPr>
              <a:t>(1862) 4 De G,F &amp; J 264</a:t>
            </a:r>
          </a:p>
        </p:txBody>
      </p:sp>
      <p:sp>
        <p:nvSpPr>
          <p:cNvPr id="3" name="Content Placeholder 2"/>
          <p:cNvSpPr txBox="1">
            <a:spLocks/>
          </p:cNvSpPr>
          <p:nvPr/>
        </p:nvSpPr>
        <p:spPr bwMode="auto">
          <a:xfrm>
            <a:off x="323528" y="1484784"/>
            <a:ext cx="8496944" cy="4955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marL="342900" indent="-342900" algn="just">
              <a:spcBef>
                <a:spcPct val="20000"/>
              </a:spcBef>
              <a:buFont typeface="Arial" panose="020B0604020202020204" pitchFamily="34" charset="0"/>
              <a:buChar char="•"/>
            </a:pPr>
            <a:r>
              <a:rPr lang="en-GB" dirty="0">
                <a:solidFill>
                  <a:srgbClr val="000000"/>
                </a:solidFill>
                <a:effectLst/>
                <a:latin typeface="+mn-lt"/>
                <a:ea typeface="Times New Roman" panose="02020603050405020304" pitchFamily="18" charset="0"/>
              </a:rPr>
              <a:t>The settlor attempted to transfer some shares in th</a:t>
            </a:r>
            <a:r>
              <a:rPr lang="en-GB" dirty="0">
                <a:solidFill>
                  <a:srgbClr val="000000"/>
                </a:solidFill>
                <a:latin typeface="+mn-lt"/>
                <a:ea typeface="Times New Roman" panose="02020603050405020304" pitchFamily="18" charset="0"/>
              </a:rPr>
              <a:t>e Bank of Louisiana </a:t>
            </a:r>
            <a:r>
              <a:rPr lang="en-GB" dirty="0">
                <a:solidFill>
                  <a:srgbClr val="000000"/>
                </a:solidFill>
                <a:effectLst/>
                <a:latin typeface="+mn-lt"/>
                <a:ea typeface="Times New Roman" panose="02020603050405020304" pitchFamily="18" charset="0"/>
              </a:rPr>
              <a:t>to Lord to hold on trust for Milroy</a:t>
            </a:r>
          </a:p>
          <a:p>
            <a:pPr marL="342900" indent="-342900" algn="just">
              <a:spcBef>
                <a:spcPct val="20000"/>
              </a:spcBef>
              <a:buFont typeface="Arial" panose="020B0604020202020204" pitchFamily="34" charset="0"/>
              <a:buChar char="•"/>
            </a:pPr>
            <a:r>
              <a:rPr lang="en-GB" dirty="0">
                <a:solidFill>
                  <a:srgbClr val="000000"/>
                </a:solidFill>
                <a:latin typeface="+mn-lt"/>
                <a:ea typeface="Times New Roman" panose="02020603050405020304" pitchFamily="18" charset="0"/>
              </a:rPr>
              <a:t>T</a:t>
            </a:r>
            <a:r>
              <a:rPr lang="en-GB" dirty="0">
                <a:solidFill>
                  <a:srgbClr val="000000"/>
                </a:solidFill>
                <a:effectLst/>
                <a:latin typeface="+mn-lt"/>
                <a:ea typeface="Times New Roman" panose="02020603050405020304" pitchFamily="18" charset="0"/>
              </a:rPr>
              <a:t>he settlor </a:t>
            </a:r>
            <a:r>
              <a:rPr lang="en-GB" dirty="0">
                <a:solidFill>
                  <a:srgbClr val="000000"/>
                </a:solidFill>
                <a:latin typeface="+mn-lt"/>
                <a:ea typeface="Times New Roman" panose="02020603050405020304" pitchFamily="18" charset="0"/>
              </a:rPr>
              <a:t>executed the share transfer documentation but did not deposit the necessary documentation with the bank (as was required by the bank’s articles)</a:t>
            </a:r>
            <a:endParaRPr lang="en-GB" dirty="0">
              <a:solidFill>
                <a:srgbClr val="000000"/>
              </a:solidFill>
              <a:effectLst/>
              <a:latin typeface="+mn-lt"/>
              <a:ea typeface="Times New Roman" panose="02020603050405020304" pitchFamily="18" charset="0"/>
            </a:endParaRPr>
          </a:p>
          <a:p>
            <a:pPr marL="342900" indent="-342900" algn="just">
              <a:spcBef>
                <a:spcPct val="20000"/>
              </a:spcBef>
              <a:buFont typeface="Arial" panose="020B0604020202020204" pitchFamily="34" charset="0"/>
              <a:buChar char="•"/>
            </a:pPr>
            <a:r>
              <a:rPr lang="en-GB" dirty="0">
                <a:solidFill>
                  <a:srgbClr val="000000"/>
                </a:solidFill>
                <a:latin typeface="+mn-lt"/>
              </a:rPr>
              <a:t>No valid trust</a:t>
            </a:r>
          </a:p>
          <a:p>
            <a:pPr marL="342900" indent="-342900" algn="just">
              <a:spcBef>
                <a:spcPct val="20000"/>
              </a:spcBef>
              <a:buFont typeface="Arial" panose="020B0604020202020204" pitchFamily="34" charset="0"/>
              <a:buChar char="•"/>
            </a:pPr>
            <a:r>
              <a:rPr lang="en-GB" dirty="0">
                <a:latin typeface="+mn-lt"/>
              </a:rPr>
              <a:t>The donor/settlor must do everything  necessary to effectuate the transfer (this rule is sometimes called the ‘bright line’)</a:t>
            </a:r>
          </a:p>
          <a:p>
            <a:pPr marL="342900" indent="-342900" algn="just">
              <a:spcBef>
                <a:spcPct val="20000"/>
              </a:spcBef>
              <a:buFont typeface="Arial" panose="020B0604020202020204" pitchFamily="34" charset="0"/>
              <a:buChar char="•"/>
            </a:pPr>
            <a:r>
              <a:rPr lang="en-GB" dirty="0">
                <a:latin typeface="+mn-lt"/>
              </a:rPr>
              <a:t>If this is not done, equity will not assist</a:t>
            </a:r>
          </a:p>
        </p:txBody>
      </p:sp>
    </p:spTree>
    <p:extLst>
      <p:ext uri="{BB962C8B-B14F-4D97-AF65-F5344CB8AC3E}">
        <p14:creationId xmlns:p14="http://schemas.microsoft.com/office/powerpoint/2010/main" val="2380189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GB" dirty="0">
                <a:latin typeface="+mn-lt"/>
              </a:rPr>
              <a:t>The ‘bright-line’ rule</a:t>
            </a:r>
          </a:p>
        </p:txBody>
      </p:sp>
      <p:sp>
        <p:nvSpPr>
          <p:cNvPr id="3" name="Content Placeholder 2"/>
          <p:cNvSpPr txBox="1">
            <a:spLocks/>
          </p:cNvSpPr>
          <p:nvPr/>
        </p:nvSpPr>
        <p:spPr bwMode="auto">
          <a:xfrm>
            <a:off x="323528" y="1752600"/>
            <a:ext cx="8424936" cy="2412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marL="342900" indent="-342900" algn="ctr">
              <a:spcBef>
                <a:spcPct val="20000"/>
              </a:spcBef>
            </a:pPr>
            <a:r>
              <a:rPr lang="en-GB" u="sng" dirty="0">
                <a:latin typeface="Arial" pitchFamily="4" charset="0"/>
              </a:rPr>
              <a:t>Turner LJ in Milroy v Lord (1862) 4 De GF &amp; J 264</a:t>
            </a:r>
            <a:r>
              <a:rPr lang="en-GB" dirty="0">
                <a:latin typeface="Arial" pitchFamily="4" charset="0"/>
              </a:rPr>
              <a:t>, at 274/1189: </a:t>
            </a:r>
          </a:p>
          <a:p>
            <a:pPr marL="342900" indent="-342900" algn="just">
              <a:spcBef>
                <a:spcPct val="20000"/>
              </a:spcBef>
            </a:pPr>
            <a:r>
              <a:rPr lang="en-GB" sz="2200" dirty="0">
                <a:latin typeface="Arial" pitchFamily="4" charset="0"/>
              </a:rPr>
              <a:t>“I take the law of this Court to be well settled, that, in order to render a voluntary settlement valid and effectual, the settlor </a:t>
            </a:r>
            <a:r>
              <a:rPr lang="en-GB" sz="2200" b="1" dirty="0">
                <a:latin typeface="Arial" pitchFamily="4" charset="0"/>
              </a:rPr>
              <a:t>must have done everything which, according to the nature of the property comprised in the settlement, was necessary to be done in order to transfer the property </a:t>
            </a:r>
            <a:r>
              <a:rPr lang="en-GB" sz="2200" dirty="0">
                <a:latin typeface="Arial" pitchFamily="4" charset="0"/>
              </a:rPr>
              <a:t>and render the settlement binding upon him.” </a:t>
            </a:r>
          </a:p>
        </p:txBody>
      </p:sp>
      <p:pic>
        <p:nvPicPr>
          <p:cNvPr id="1026" name="Picture 2" descr="FQ8Oct07OldBankRoyalConti.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96136" y="4329100"/>
            <a:ext cx="3216357" cy="2412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119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02D13-7BE3-A495-920A-232B32ECD43A}"/>
              </a:ext>
            </a:extLst>
          </p:cNvPr>
          <p:cNvSpPr>
            <a:spLocks noGrp="1"/>
          </p:cNvSpPr>
          <p:nvPr>
            <p:ph type="title"/>
          </p:nvPr>
        </p:nvSpPr>
        <p:spPr>
          <a:xfrm>
            <a:off x="669405" y="188640"/>
            <a:ext cx="7772400" cy="1080120"/>
          </a:xfrm>
        </p:spPr>
        <p:txBody>
          <a:bodyPr/>
          <a:lstStyle/>
          <a:p>
            <a:pPr algn="ctr"/>
            <a:r>
              <a:rPr lang="en-US" dirty="0">
                <a:solidFill>
                  <a:srgbClr val="00B050"/>
                </a:solidFill>
              </a:rPr>
              <a:t>Weird transfers of legal title</a:t>
            </a:r>
          </a:p>
        </p:txBody>
      </p:sp>
      <p:sp>
        <p:nvSpPr>
          <p:cNvPr id="3" name="Content Placeholder 2">
            <a:extLst>
              <a:ext uri="{FF2B5EF4-FFF2-40B4-BE49-F238E27FC236}">
                <a16:creationId xmlns:a16="http://schemas.microsoft.com/office/drawing/2014/main" id="{3E5282D8-626B-B574-471A-D35D80331A32}"/>
              </a:ext>
            </a:extLst>
          </p:cNvPr>
          <p:cNvSpPr>
            <a:spLocks noGrp="1"/>
          </p:cNvSpPr>
          <p:nvPr>
            <p:ph idx="1"/>
          </p:nvPr>
        </p:nvSpPr>
        <p:spPr>
          <a:xfrm>
            <a:off x="323528" y="1484784"/>
            <a:ext cx="8727130" cy="4464496"/>
          </a:xfrm>
        </p:spPr>
        <p:txBody>
          <a:bodyPr/>
          <a:lstStyle/>
          <a:p>
            <a:pPr>
              <a:buFont typeface="Arial" panose="020B0604020202020204" pitchFamily="34" charset="0"/>
              <a:buChar char="•"/>
            </a:pPr>
            <a:r>
              <a:rPr lang="en-US" sz="2400" dirty="0"/>
              <a:t>Transferring legal title is usually straightforward: delivery + intention + acceptance</a:t>
            </a:r>
          </a:p>
          <a:p>
            <a:pPr>
              <a:buFont typeface="Arial" panose="020B0604020202020204" pitchFamily="34" charset="0"/>
              <a:buChar char="•"/>
            </a:pPr>
            <a:r>
              <a:rPr lang="en-US" sz="2400" dirty="0"/>
              <a:t>But some kinds of property are harder to transfer- </a:t>
            </a:r>
            <a:r>
              <a:rPr lang="en-US" sz="2400" dirty="0" err="1"/>
              <a:t>e.g</a:t>
            </a:r>
            <a:r>
              <a:rPr lang="en-US" sz="2400" dirty="0"/>
              <a:t>:</a:t>
            </a:r>
          </a:p>
          <a:p>
            <a:pPr lvl="1">
              <a:buFont typeface="Arial" panose="020B0604020202020204" pitchFamily="34" charset="0"/>
              <a:buChar char="•"/>
            </a:pPr>
            <a:r>
              <a:rPr lang="en-US" sz="2200" dirty="0"/>
              <a:t>Land (deed + registration)</a:t>
            </a:r>
          </a:p>
          <a:p>
            <a:pPr lvl="1">
              <a:buFont typeface="Arial" panose="020B0604020202020204" pitchFamily="34" charset="0"/>
              <a:buChar char="•"/>
            </a:pPr>
            <a:r>
              <a:rPr lang="en-US" sz="2200" dirty="0"/>
              <a:t>Shares</a:t>
            </a:r>
          </a:p>
          <a:p>
            <a:pPr lvl="2">
              <a:buFont typeface="Arial" panose="020B0604020202020204" pitchFamily="34" charset="0"/>
              <a:buChar char="•"/>
            </a:pPr>
            <a:r>
              <a:rPr lang="en-US" sz="2000" dirty="0"/>
              <a:t>Stock transfer form signed and delivered to transferee</a:t>
            </a:r>
          </a:p>
          <a:p>
            <a:pPr lvl="2">
              <a:buFont typeface="Arial" panose="020B0604020202020204" pitchFamily="34" charset="0"/>
              <a:buChar char="•"/>
            </a:pPr>
            <a:r>
              <a:rPr lang="en-US" sz="2000" dirty="0"/>
              <a:t>Share certificates delivered to transferee</a:t>
            </a:r>
          </a:p>
          <a:p>
            <a:pPr lvl="2">
              <a:buFont typeface="Arial" panose="020B0604020202020204" pitchFamily="34" charset="0"/>
              <a:buChar char="•"/>
            </a:pPr>
            <a:r>
              <a:rPr lang="en-US" sz="2000" dirty="0"/>
              <a:t>Stock transfer form and certificates delivered by transferee to company</a:t>
            </a:r>
          </a:p>
          <a:p>
            <a:pPr lvl="2">
              <a:buFont typeface="Arial" panose="020B0604020202020204" pitchFamily="34" charset="0"/>
              <a:buChar char="•"/>
            </a:pPr>
            <a:r>
              <a:rPr lang="en-US" sz="2000" dirty="0"/>
              <a:t>Acceptance by the company of the transfer, and registration</a:t>
            </a:r>
          </a:p>
          <a:p>
            <a:pPr lvl="2">
              <a:buFont typeface="Arial" panose="020B0604020202020204" pitchFamily="34" charset="0"/>
              <a:buChar char="•"/>
            </a:pPr>
            <a:r>
              <a:rPr lang="en-US" sz="2000" dirty="0"/>
              <a:t>S 53(1)(c) LPA 1925, if shares already held by someone else </a:t>
            </a:r>
          </a:p>
          <a:p>
            <a:pPr lvl="2">
              <a:buFont typeface="Arial" panose="020B0604020202020204" pitchFamily="34" charset="0"/>
              <a:buChar char="•"/>
            </a:pPr>
            <a:endParaRPr lang="en-US" sz="2000" dirty="0"/>
          </a:p>
          <a:p>
            <a:pPr lvl="2">
              <a:buFont typeface="Arial" panose="020B0604020202020204" pitchFamily="34" charset="0"/>
              <a:buChar char="•"/>
            </a:pPr>
            <a:endParaRPr lang="en-US" sz="2000" dirty="0"/>
          </a:p>
          <a:p>
            <a:pPr>
              <a:buFont typeface="Arial" panose="020B0604020202020204" pitchFamily="34" charset="0"/>
              <a:buChar char="•"/>
            </a:pPr>
            <a:endParaRPr lang="en-US" sz="2400" dirty="0"/>
          </a:p>
        </p:txBody>
      </p:sp>
    </p:spTree>
    <p:extLst>
      <p:ext uri="{BB962C8B-B14F-4D97-AF65-F5344CB8AC3E}">
        <p14:creationId xmlns:p14="http://schemas.microsoft.com/office/powerpoint/2010/main" val="437627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685800" y="404664"/>
            <a:ext cx="7772400" cy="576064"/>
          </a:xfrm>
        </p:spPr>
        <p:txBody>
          <a:bodyPr/>
          <a:lstStyle/>
          <a:p>
            <a:pPr algn="ctr"/>
            <a:r>
              <a:rPr lang="en-GB" sz="2800" dirty="0">
                <a:latin typeface="+mn-lt"/>
              </a:rPr>
              <a:t>The rule in </a:t>
            </a:r>
            <a:r>
              <a:rPr lang="en-GB" sz="2800" i="1" dirty="0">
                <a:latin typeface="+mn-lt"/>
              </a:rPr>
              <a:t>Re Rose </a:t>
            </a:r>
            <a:r>
              <a:rPr lang="en-GB" sz="2800" dirty="0">
                <a:latin typeface="+mn-lt"/>
              </a:rPr>
              <a:t>[1952] Ch 499</a:t>
            </a:r>
          </a:p>
        </p:txBody>
      </p:sp>
      <p:sp>
        <p:nvSpPr>
          <p:cNvPr id="3" name="Content Placeholder 2"/>
          <p:cNvSpPr txBox="1">
            <a:spLocks/>
          </p:cNvSpPr>
          <p:nvPr/>
        </p:nvSpPr>
        <p:spPr bwMode="auto">
          <a:xfrm>
            <a:off x="395536" y="1196752"/>
            <a:ext cx="8496944"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just">
              <a:spcBef>
                <a:spcPct val="20000"/>
              </a:spcBef>
            </a:pPr>
            <a:r>
              <a:rPr lang="en-GB" sz="2000" dirty="0">
                <a:solidFill>
                  <a:srgbClr val="000000"/>
                </a:solidFill>
                <a:effectLst/>
                <a:latin typeface="+mn-lt"/>
                <a:ea typeface="Times New Roman" panose="02020603050405020304" pitchFamily="18" charset="0"/>
              </a:rPr>
              <a:t>Rose attempted to transfer </a:t>
            </a:r>
            <a:r>
              <a:rPr lang="en-GB" sz="2000" dirty="0">
                <a:solidFill>
                  <a:srgbClr val="000000"/>
                </a:solidFill>
                <a:latin typeface="+mn-lt"/>
                <a:ea typeface="Times New Roman" panose="02020603050405020304" pitchFamily="18" charset="0"/>
              </a:rPr>
              <a:t>some shares in March. He:</a:t>
            </a:r>
          </a:p>
          <a:p>
            <a:pPr marL="800100" lvl="1" indent="-342900" algn="just">
              <a:spcBef>
                <a:spcPct val="20000"/>
              </a:spcBef>
              <a:buFont typeface="Arial" panose="020B0604020202020204" pitchFamily="34" charset="0"/>
              <a:buChar char="•"/>
            </a:pPr>
            <a:r>
              <a:rPr lang="en-GB" sz="2000" dirty="0">
                <a:solidFill>
                  <a:srgbClr val="000000"/>
                </a:solidFill>
                <a:effectLst/>
                <a:latin typeface="+mn-lt"/>
                <a:ea typeface="Times New Roman" panose="02020603050405020304" pitchFamily="18" charset="0"/>
              </a:rPr>
              <a:t>Executed the share transfer forms</a:t>
            </a:r>
          </a:p>
          <a:p>
            <a:pPr marL="800100" lvl="1" indent="-342900" algn="just">
              <a:spcBef>
                <a:spcPct val="20000"/>
              </a:spcBef>
              <a:buFont typeface="Arial" panose="020B0604020202020204" pitchFamily="34" charset="0"/>
              <a:buChar char="•"/>
            </a:pPr>
            <a:r>
              <a:rPr lang="en-GB" sz="2000" dirty="0">
                <a:solidFill>
                  <a:srgbClr val="000000"/>
                </a:solidFill>
                <a:latin typeface="+mn-lt"/>
                <a:ea typeface="Times New Roman" panose="02020603050405020304" pitchFamily="18" charset="0"/>
              </a:rPr>
              <a:t>Delivered the relevant documentation to the company </a:t>
            </a:r>
          </a:p>
          <a:p>
            <a:pPr marL="342900" indent="-342900" algn="just">
              <a:spcBef>
                <a:spcPct val="20000"/>
              </a:spcBef>
              <a:buFont typeface="Arial" panose="020B0604020202020204" pitchFamily="34" charset="0"/>
              <a:buChar char="•"/>
            </a:pPr>
            <a:r>
              <a:rPr lang="en-GB" sz="2000" dirty="0">
                <a:solidFill>
                  <a:srgbClr val="000000"/>
                </a:solidFill>
                <a:latin typeface="+mn-lt"/>
                <a:ea typeface="Times New Roman" panose="02020603050405020304" pitchFamily="18" charset="0"/>
              </a:rPr>
              <a:t>The directors completed the transfer in June</a:t>
            </a:r>
          </a:p>
          <a:p>
            <a:pPr marL="342900" indent="-342900" algn="just">
              <a:spcBef>
                <a:spcPct val="20000"/>
              </a:spcBef>
              <a:buFont typeface="Arial" panose="020B0604020202020204" pitchFamily="34" charset="0"/>
              <a:buChar char="•"/>
            </a:pPr>
            <a:r>
              <a:rPr lang="en-GB" sz="2000" dirty="0">
                <a:solidFill>
                  <a:srgbClr val="000000"/>
                </a:solidFill>
                <a:latin typeface="+mn-lt"/>
                <a:ea typeface="Times New Roman" panose="02020603050405020304" pitchFamily="18" charset="0"/>
              </a:rPr>
              <a:t>Rose died four years later</a:t>
            </a:r>
          </a:p>
          <a:p>
            <a:pPr marL="342900" indent="-342900" algn="just">
              <a:spcBef>
                <a:spcPct val="20000"/>
              </a:spcBef>
              <a:buFont typeface="Arial" panose="020B0604020202020204" pitchFamily="34" charset="0"/>
              <a:buChar char="•"/>
            </a:pPr>
            <a:r>
              <a:rPr lang="en-GB" sz="2000" dirty="0">
                <a:solidFill>
                  <a:srgbClr val="000000"/>
                </a:solidFill>
                <a:effectLst/>
                <a:latin typeface="+mn-lt"/>
                <a:ea typeface="Times New Roman" panose="02020603050405020304" pitchFamily="18" charset="0"/>
              </a:rPr>
              <a:t>If the shares had been transferred in June, the shares were part of his estate for property (now inheritance) tax purposes</a:t>
            </a:r>
          </a:p>
          <a:p>
            <a:pPr marL="342900" indent="-342900" algn="just">
              <a:spcBef>
                <a:spcPct val="20000"/>
              </a:spcBef>
              <a:buFont typeface="Arial" panose="020B0604020202020204" pitchFamily="34" charset="0"/>
              <a:buChar char="•"/>
            </a:pPr>
            <a:r>
              <a:rPr lang="en-GB" sz="2000" dirty="0">
                <a:solidFill>
                  <a:srgbClr val="000000"/>
                </a:solidFill>
                <a:latin typeface="+mn-lt"/>
                <a:ea typeface="Times New Roman" panose="02020603050405020304" pitchFamily="18" charset="0"/>
              </a:rPr>
              <a:t>If the shares had been transferred in March, the shares were not part of his estate for inheritance tax purposes</a:t>
            </a:r>
          </a:p>
          <a:p>
            <a:pPr marL="342900" indent="-342900" algn="just">
              <a:spcBef>
                <a:spcPct val="20000"/>
              </a:spcBef>
              <a:buFont typeface="Arial" panose="020B0604020202020204" pitchFamily="34" charset="0"/>
              <a:buChar char="•"/>
            </a:pPr>
            <a:r>
              <a:rPr lang="en-GB" sz="2000" dirty="0">
                <a:solidFill>
                  <a:srgbClr val="000000"/>
                </a:solidFill>
                <a:effectLst/>
                <a:latin typeface="+mn-lt"/>
                <a:ea typeface="Times New Roman" panose="02020603050405020304" pitchFamily="18" charset="0"/>
              </a:rPr>
              <a:t>Equity considere</a:t>
            </a:r>
            <a:r>
              <a:rPr lang="en-GB" sz="2000" dirty="0">
                <a:solidFill>
                  <a:srgbClr val="000000"/>
                </a:solidFill>
                <a:latin typeface="+mn-lt"/>
                <a:ea typeface="Times New Roman" panose="02020603050405020304" pitchFamily="18" charset="0"/>
              </a:rPr>
              <a:t>d the transfers completed in March - this is when Rose had done everything within his power to effectuate the transfer</a:t>
            </a:r>
          </a:p>
          <a:p>
            <a:pPr algn="just">
              <a:spcBef>
                <a:spcPct val="20000"/>
              </a:spcBef>
            </a:pPr>
            <a:r>
              <a:rPr lang="en-GB" sz="2000" dirty="0">
                <a:solidFill>
                  <a:srgbClr val="000000"/>
                </a:solidFill>
                <a:latin typeface="+mn-lt"/>
                <a:ea typeface="Times New Roman" panose="02020603050405020304" pitchFamily="18" charset="0"/>
              </a:rPr>
              <a:t>This rule was applied to registered land in </a:t>
            </a:r>
            <a:r>
              <a:rPr lang="en-GB" sz="2000" i="1" dirty="0" err="1">
                <a:solidFill>
                  <a:srgbClr val="000000"/>
                </a:solidFill>
                <a:latin typeface="+mn-lt"/>
                <a:ea typeface="Times New Roman" panose="02020603050405020304" pitchFamily="18" charset="0"/>
              </a:rPr>
              <a:t>Mascall</a:t>
            </a:r>
            <a:r>
              <a:rPr lang="en-GB" sz="2000" i="1" dirty="0">
                <a:solidFill>
                  <a:srgbClr val="000000"/>
                </a:solidFill>
                <a:latin typeface="+mn-lt"/>
                <a:ea typeface="Times New Roman" panose="02020603050405020304" pitchFamily="18" charset="0"/>
              </a:rPr>
              <a:t> v </a:t>
            </a:r>
            <a:r>
              <a:rPr lang="en-GB" sz="2000" i="1" dirty="0" err="1">
                <a:solidFill>
                  <a:srgbClr val="000000"/>
                </a:solidFill>
                <a:latin typeface="+mn-lt"/>
                <a:ea typeface="Times New Roman" panose="02020603050405020304" pitchFamily="18" charset="0"/>
              </a:rPr>
              <a:t>Mascall</a:t>
            </a:r>
            <a:r>
              <a:rPr lang="en-GB" sz="2000" i="1" dirty="0">
                <a:solidFill>
                  <a:srgbClr val="000000"/>
                </a:solidFill>
                <a:latin typeface="+mn-lt"/>
                <a:ea typeface="Times New Roman" panose="02020603050405020304" pitchFamily="18" charset="0"/>
              </a:rPr>
              <a:t> </a:t>
            </a:r>
            <a:r>
              <a:rPr lang="en-GB" sz="2000" dirty="0">
                <a:solidFill>
                  <a:srgbClr val="000000"/>
                </a:solidFill>
                <a:latin typeface="+mn-lt"/>
                <a:ea typeface="Times New Roman" panose="02020603050405020304" pitchFamily="18" charset="0"/>
              </a:rPr>
              <a:t>(1985) 49 P &amp; CR 119</a:t>
            </a:r>
          </a:p>
          <a:p>
            <a:pPr marL="342900" indent="-342900" algn="just">
              <a:spcBef>
                <a:spcPct val="20000"/>
              </a:spcBef>
              <a:buFont typeface="Arial" panose="020B0604020202020204" pitchFamily="34" charset="0"/>
              <a:buChar char="•"/>
            </a:pPr>
            <a:endParaRPr lang="en-GB" sz="2000" dirty="0">
              <a:solidFill>
                <a:srgbClr val="000000"/>
              </a:solidFill>
              <a:latin typeface="+mn-lt"/>
              <a:ea typeface="Times New Roman" panose="02020603050405020304" pitchFamily="18" charset="0"/>
            </a:endParaRPr>
          </a:p>
        </p:txBody>
      </p:sp>
    </p:spTree>
    <p:extLst>
      <p:ext uri="{BB962C8B-B14F-4D97-AF65-F5344CB8AC3E}">
        <p14:creationId xmlns:p14="http://schemas.microsoft.com/office/powerpoint/2010/main" val="4043812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5C5DD-5867-77B3-E5BF-C298176BB604}"/>
              </a:ext>
            </a:extLst>
          </p:cNvPr>
          <p:cNvSpPr>
            <a:spLocks noGrp="1"/>
          </p:cNvSpPr>
          <p:nvPr>
            <p:ph type="title"/>
          </p:nvPr>
        </p:nvSpPr>
        <p:spPr>
          <a:xfrm>
            <a:off x="179512" y="476673"/>
            <a:ext cx="9073008" cy="1606028"/>
          </a:xfrm>
        </p:spPr>
        <p:txBody>
          <a:bodyPr/>
          <a:lstStyle/>
          <a:p>
            <a:r>
              <a:rPr lang="en-GB" sz="4000" dirty="0"/>
              <a:t>Re Rose: doing everything in one’s power </a:t>
            </a:r>
          </a:p>
        </p:txBody>
      </p:sp>
      <p:pic>
        <p:nvPicPr>
          <p:cNvPr id="27" name="Picture 26" descr="A diagram of a tax flow&#10;&#10;Description automatically generated">
            <a:extLst>
              <a:ext uri="{FF2B5EF4-FFF2-40B4-BE49-F238E27FC236}">
                <a16:creationId xmlns:a16="http://schemas.microsoft.com/office/drawing/2014/main" id="{8C9ACEFC-8AC2-A763-6DF3-BA5E79B4752D}"/>
              </a:ext>
            </a:extLst>
          </p:cNvPr>
          <p:cNvPicPr>
            <a:picLocks noChangeAspect="1"/>
          </p:cNvPicPr>
          <p:nvPr/>
        </p:nvPicPr>
        <p:blipFill>
          <a:blip r:embed="rId2"/>
          <a:stretch>
            <a:fillRect/>
          </a:stretch>
        </p:blipFill>
        <p:spPr>
          <a:xfrm>
            <a:off x="179512" y="2204864"/>
            <a:ext cx="8723137" cy="2463062"/>
          </a:xfrm>
          <a:prstGeom prst="rect">
            <a:avLst/>
          </a:prstGeom>
        </p:spPr>
      </p:pic>
    </p:spTree>
    <p:extLst>
      <p:ext uri="{BB962C8B-B14F-4D97-AF65-F5344CB8AC3E}">
        <p14:creationId xmlns:p14="http://schemas.microsoft.com/office/powerpoint/2010/main" val="2196451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323528" y="240885"/>
            <a:ext cx="8064896" cy="883859"/>
          </a:xfrm>
        </p:spPr>
        <p:txBody>
          <a:bodyPr/>
          <a:lstStyle/>
          <a:p>
            <a:pPr algn="ctr"/>
            <a:r>
              <a:rPr lang="en-GB" sz="2400" i="1" dirty="0">
                <a:effectLst/>
                <a:latin typeface="Calibri" panose="020F0502020204030204" pitchFamily="34" charset="0"/>
                <a:ea typeface="MS Mincho" panose="02020609040205080304" pitchFamily="49" charset="-128"/>
              </a:rPr>
              <a:t>T. </a:t>
            </a:r>
            <a:r>
              <a:rPr lang="en-GB" sz="2400" i="1" dirty="0" err="1">
                <a:effectLst/>
                <a:latin typeface="Calibri" panose="020F0502020204030204" pitchFamily="34" charset="0"/>
                <a:ea typeface="MS Mincho" panose="02020609040205080304" pitchFamily="49" charset="-128"/>
              </a:rPr>
              <a:t>Choithram</a:t>
            </a:r>
            <a:r>
              <a:rPr lang="en-GB" sz="2400" i="1" dirty="0">
                <a:effectLst/>
                <a:latin typeface="Calibri" panose="020F0502020204030204" pitchFamily="34" charset="0"/>
                <a:ea typeface="MS Mincho" panose="02020609040205080304" pitchFamily="49" charset="-128"/>
              </a:rPr>
              <a:t> International SA v </a:t>
            </a:r>
            <a:r>
              <a:rPr lang="en-GB" sz="2400" i="1" dirty="0" err="1">
                <a:effectLst/>
                <a:latin typeface="Calibri" panose="020F0502020204030204" pitchFamily="34" charset="0"/>
                <a:ea typeface="MS Mincho" panose="02020609040205080304" pitchFamily="49" charset="-128"/>
              </a:rPr>
              <a:t>Pagarani</a:t>
            </a:r>
            <a:r>
              <a:rPr lang="en-GB" sz="2400" dirty="0">
                <a:effectLst/>
                <a:latin typeface="Calibri" panose="020F0502020204030204" pitchFamily="34" charset="0"/>
                <a:ea typeface="MS Mincho" panose="02020609040205080304" pitchFamily="49" charset="-128"/>
              </a:rPr>
              <a:t> [2001] 1 WLR 1</a:t>
            </a:r>
            <a:r>
              <a:rPr lang="en-GB" sz="2400" dirty="0">
                <a:latin typeface="Calibri" panose="020F0502020204030204" pitchFamily="34" charset="0"/>
                <a:ea typeface="MS Mincho" panose="02020609040205080304" pitchFamily="49" charset="-128"/>
              </a:rPr>
              <a:t>: Equity ‘will not strive officiously to defeat a gift’</a:t>
            </a:r>
            <a:endParaRPr lang="en-GB" sz="2400" dirty="0">
              <a:latin typeface="+mn-lt"/>
            </a:endParaRPr>
          </a:p>
        </p:txBody>
      </p:sp>
      <p:sp>
        <p:nvSpPr>
          <p:cNvPr id="3" name="Content Placeholder 2"/>
          <p:cNvSpPr txBox="1">
            <a:spLocks/>
          </p:cNvSpPr>
          <p:nvPr/>
        </p:nvSpPr>
        <p:spPr bwMode="auto">
          <a:xfrm>
            <a:off x="323528" y="1268760"/>
            <a:ext cx="8279705" cy="482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marL="342900" indent="-342900" algn="just">
              <a:spcBef>
                <a:spcPct val="20000"/>
              </a:spcBef>
              <a:buFont typeface="Arial" panose="020B0604020202020204" pitchFamily="34" charset="0"/>
              <a:buChar char="•"/>
            </a:pPr>
            <a:r>
              <a:rPr lang="en-GB" dirty="0">
                <a:latin typeface="Arial" pitchFamily="4" charset="0"/>
              </a:rPr>
              <a:t>Mr </a:t>
            </a:r>
            <a:r>
              <a:rPr lang="en-GB" dirty="0" err="1">
                <a:latin typeface="Arial" pitchFamily="4" charset="0"/>
              </a:rPr>
              <a:t>Pagarani</a:t>
            </a:r>
            <a:r>
              <a:rPr lang="en-GB" dirty="0">
                <a:latin typeface="Arial" pitchFamily="4" charset="0"/>
              </a:rPr>
              <a:t> executed a deed creating a charitable trust foundation </a:t>
            </a:r>
          </a:p>
          <a:p>
            <a:pPr marL="342900" indent="-342900" algn="just">
              <a:spcBef>
                <a:spcPct val="20000"/>
              </a:spcBef>
              <a:buFont typeface="Arial" panose="020B0604020202020204" pitchFamily="34" charset="0"/>
              <a:buChar char="•"/>
            </a:pPr>
            <a:r>
              <a:rPr lang="en-GB" dirty="0">
                <a:latin typeface="Arial" pitchFamily="4" charset="0"/>
              </a:rPr>
              <a:t>He then stated that all of his wealth, including his shares, should belong to the foundation</a:t>
            </a:r>
          </a:p>
          <a:p>
            <a:pPr marL="342900" indent="-342900" algn="just">
              <a:spcBef>
                <a:spcPct val="20000"/>
              </a:spcBef>
              <a:buFont typeface="Arial" panose="020B0604020202020204" pitchFamily="34" charset="0"/>
              <a:buChar char="•"/>
            </a:pPr>
            <a:r>
              <a:rPr lang="en-GB" dirty="0">
                <a:latin typeface="Arial" pitchFamily="4" charset="0"/>
              </a:rPr>
              <a:t>He was one of several trustees of the foundation</a:t>
            </a:r>
          </a:p>
          <a:p>
            <a:pPr marL="342900" indent="-342900" algn="just">
              <a:spcBef>
                <a:spcPct val="20000"/>
              </a:spcBef>
              <a:buFont typeface="Arial" panose="020B0604020202020204" pitchFamily="34" charset="0"/>
              <a:buChar char="•"/>
            </a:pPr>
            <a:r>
              <a:rPr lang="en-GB" dirty="0">
                <a:latin typeface="Arial" pitchFamily="4" charset="0"/>
              </a:rPr>
              <a:t>After his death, his family claimed that he had not successfully transferred any shares to the foundation:</a:t>
            </a:r>
          </a:p>
          <a:p>
            <a:pPr marL="800100" lvl="1" indent="-342900" algn="just">
              <a:spcBef>
                <a:spcPct val="20000"/>
              </a:spcBef>
              <a:buFont typeface="Arial" panose="020B0604020202020204" pitchFamily="34" charset="0"/>
              <a:buChar char="•"/>
            </a:pPr>
            <a:r>
              <a:rPr lang="en-GB" dirty="0">
                <a:latin typeface="Arial" pitchFamily="4" charset="0"/>
              </a:rPr>
              <a:t>He had not formally transferred the shares</a:t>
            </a:r>
          </a:p>
          <a:p>
            <a:pPr marL="800100" lvl="1" indent="-342900" algn="just">
              <a:spcBef>
                <a:spcPct val="20000"/>
              </a:spcBef>
              <a:buFont typeface="Arial" panose="020B0604020202020204" pitchFamily="34" charset="0"/>
              <a:buChar char="•"/>
            </a:pPr>
            <a:r>
              <a:rPr lang="en-GB" dirty="0">
                <a:latin typeface="Arial" pitchFamily="4" charset="0"/>
              </a:rPr>
              <a:t>He had not declared himself trustee of the shares</a:t>
            </a:r>
          </a:p>
          <a:p>
            <a:pPr marL="342900" indent="-342900" algn="just">
              <a:spcBef>
                <a:spcPct val="20000"/>
              </a:spcBef>
              <a:buFont typeface="Arial" panose="020B0604020202020204" pitchFamily="34" charset="0"/>
              <a:buChar char="•"/>
            </a:pPr>
            <a:r>
              <a:rPr lang="en-GB" dirty="0">
                <a:latin typeface="Arial" pitchFamily="4" charset="0"/>
              </a:rPr>
              <a:t>HELD: the trust was constituted by his declaration</a:t>
            </a:r>
          </a:p>
          <a:p>
            <a:pPr marL="342900" indent="-342900" algn="just">
              <a:spcBef>
                <a:spcPct val="20000"/>
              </a:spcBef>
              <a:buFont typeface="Arial" panose="020B0604020202020204" pitchFamily="34" charset="0"/>
              <a:buChar char="•"/>
            </a:pPr>
            <a:r>
              <a:rPr lang="en-GB" dirty="0">
                <a:latin typeface="Arial" pitchFamily="4" charset="0"/>
              </a:rPr>
              <a:t>Think about whether you agree with this decision</a:t>
            </a:r>
          </a:p>
          <a:p>
            <a:pPr marL="342900" indent="-342900" algn="just">
              <a:spcBef>
                <a:spcPct val="20000"/>
              </a:spcBef>
              <a:buFont typeface="Arial" panose="020B0604020202020204" pitchFamily="34" charset="0"/>
              <a:buChar char="•"/>
            </a:pPr>
            <a:endParaRPr lang="en-GB" dirty="0">
              <a:latin typeface="Arial" pitchFamily="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323528" y="240885"/>
            <a:ext cx="8064896" cy="883859"/>
          </a:xfrm>
        </p:spPr>
        <p:txBody>
          <a:bodyPr/>
          <a:lstStyle/>
          <a:p>
            <a:pPr algn="ctr"/>
            <a:r>
              <a:rPr lang="en-GB" sz="3200" dirty="0">
                <a:latin typeface="Calibri" panose="020F0502020204030204" pitchFamily="34" charset="0"/>
                <a:ea typeface="MS Mincho" panose="02020609040205080304" pitchFamily="49" charset="-128"/>
              </a:rPr>
              <a:t>Unconscionability: </a:t>
            </a:r>
            <a:r>
              <a:rPr lang="en-GB" sz="3200" i="1" dirty="0">
                <a:latin typeface="Calibri" panose="020F0502020204030204" pitchFamily="34" charset="0"/>
                <a:ea typeface="MS Mincho" panose="02020609040205080304" pitchFamily="49" charset="-128"/>
              </a:rPr>
              <a:t>Pennington v </a:t>
            </a:r>
            <a:r>
              <a:rPr lang="en-GB" sz="3200" i="1" dirty="0" err="1">
                <a:latin typeface="Calibri" panose="020F0502020204030204" pitchFamily="34" charset="0"/>
                <a:ea typeface="MS Mincho" panose="02020609040205080304" pitchFamily="49" charset="-128"/>
              </a:rPr>
              <a:t>Waine</a:t>
            </a:r>
            <a:r>
              <a:rPr lang="en-GB" sz="3200" i="1" dirty="0">
                <a:latin typeface="Calibri" panose="020F0502020204030204" pitchFamily="34" charset="0"/>
                <a:ea typeface="MS Mincho" panose="02020609040205080304" pitchFamily="49" charset="-128"/>
              </a:rPr>
              <a:t> (no 1) </a:t>
            </a:r>
            <a:r>
              <a:rPr lang="en-GB" sz="3200" dirty="0">
                <a:latin typeface="Calibri" panose="020F0502020204030204" pitchFamily="34" charset="0"/>
                <a:ea typeface="MS Mincho" panose="02020609040205080304" pitchFamily="49" charset="-128"/>
              </a:rPr>
              <a:t>[2002] EWCA </a:t>
            </a:r>
            <a:r>
              <a:rPr lang="en-GB" sz="3200" dirty="0" err="1">
                <a:latin typeface="Calibri" panose="020F0502020204030204" pitchFamily="34" charset="0"/>
                <a:ea typeface="MS Mincho" panose="02020609040205080304" pitchFamily="49" charset="-128"/>
              </a:rPr>
              <a:t>Civ</a:t>
            </a:r>
            <a:r>
              <a:rPr lang="en-GB" sz="3200" dirty="0">
                <a:latin typeface="Calibri" panose="020F0502020204030204" pitchFamily="34" charset="0"/>
                <a:ea typeface="MS Mincho" panose="02020609040205080304" pitchFamily="49" charset="-128"/>
              </a:rPr>
              <a:t> 227</a:t>
            </a:r>
            <a:endParaRPr lang="en-GB" sz="3200" dirty="0">
              <a:latin typeface="+mn-lt"/>
            </a:endParaRPr>
          </a:p>
        </p:txBody>
      </p:sp>
      <p:sp>
        <p:nvSpPr>
          <p:cNvPr id="3" name="Content Placeholder 2"/>
          <p:cNvSpPr txBox="1">
            <a:spLocks/>
          </p:cNvSpPr>
          <p:nvPr/>
        </p:nvSpPr>
        <p:spPr bwMode="auto">
          <a:xfrm>
            <a:off x="323528" y="1412776"/>
            <a:ext cx="8568952"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marL="342900" indent="-342900" algn="just">
              <a:spcBef>
                <a:spcPct val="20000"/>
              </a:spcBef>
              <a:buFont typeface="Arial" panose="020B0604020202020204" pitchFamily="34" charset="0"/>
              <a:buChar char="•"/>
            </a:pPr>
            <a:r>
              <a:rPr lang="en-GB" dirty="0">
                <a:latin typeface="+mn-lt"/>
              </a:rPr>
              <a:t>Ada Crampton wished to transfer shares to Harold</a:t>
            </a:r>
          </a:p>
          <a:p>
            <a:pPr marL="342900" indent="-342900" algn="just">
              <a:spcBef>
                <a:spcPct val="20000"/>
              </a:spcBef>
              <a:buFont typeface="Arial" panose="020B0604020202020204" pitchFamily="34" charset="0"/>
              <a:buChar char="•"/>
            </a:pPr>
            <a:r>
              <a:rPr lang="en-GB" dirty="0">
                <a:latin typeface="+mn-lt"/>
              </a:rPr>
              <a:t>She </a:t>
            </a:r>
            <a:r>
              <a:rPr lang="en-GB" dirty="0">
                <a:effectLst/>
                <a:latin typeface="+mn-lt"/>
                <a:ea typeface="Calibri" panose="020F0502020204030204" pitchFamily="34" charset="0"/>
              </a:rPr>
              <a:t>signed the share transfer form and instructed her accountant, Pennington, to take the necessary steps to complete the transfer</a:t>
            </a:r>
            <a:r>
              <a:rPr lang="en-GB" dirty="0">
                <a:effectLst/>
                <a:latin typeface="+mn-lt"/>
              </a:rPr>
              <a:t> </a:t>
            </a:r>
          </a:p>
          <a:p>
            <a:pPr marL="342900" indent="-342900" algn="just">
              <a:spcBef>
                <a:spcPct val="20000"/>
              </a:spcBef>
              <a:buFont typeface="Arial" panose="020B0604020202020204" pitchFamily="34" charset="0"/>
              <a:buChar char="•"/>
            </a:pPr>
            <a:r>
              <a:rPr lang="en-GB" dirty="0">
                <a:latin typeface="+mn-lt"/>
              </a:rPr>
              <a:t>At her death, Pennington had not done this</a:t>
            </a:r>
          </a:p>
          <a:p>
            <a:pPr marL="342900" indent="-342900" algn="just">
              <a:spcBef>
                <a:spcPct val="20000"/>
              </a:spcBef>
              <a:buFont typeface="Arial" panose="020B0604020202020204" pitchFamily="34" charset="0"/>
              <a:buChar char="•"/>
            </a:pPr>
            <a:r>
              <a:rPr lang="en-GB" dirty="0">
                <a:latin typeface="+mn-lt"/>
              </a:rPr>
              <a:t>Harold claimed the shares:</a:t>
            </a:r>
          </a:p>
          <a:p>
            <a:pPr marL="800100" lvl="1" indent="-342900" algn="just">
              <a:spcBef>
                <a:spcPct val="20000"/>
              </a:spcBef>
              <a:buFont typeface="Arial" panose="020B0604020202020204" pitchFamily="34" charset="0"/>
              <a:buChar char="•"/>
            </a:pPr>
            <a:r>
              <a:rPr lang="en-GB" dirty="0">
                <a:latin typeface="+mn-lt"/>
              </a:rPr>
              <a:t>He could not rely on </a:t>
            </a:r>
            <a:r>
              <a:rPr lang="en-GB" i="1" dirty="0">
                <a:latin typeface="+mn-lt"/>
              </a:rPr>
              <a:t>Re Rose - </a:t>
            </a:r>
            <a:r>
              <a:rPr lang="en-GB" dirty="0">
                <a:latin typeface="+mn-lt"/>
              </a:rPr>
              <a:t>Ada had not done everything with her power (due to her agent’s failings)</a:t>
            </a:r>
          </a:p>
          <a:p>
            <a:pPr marL="800100" lvl="1" indent="-342900" algn="just">
              <a:spcBef>
                <a:spcPct val="20000"/>
              </a:spcBef>
              <a:buFont typeface="Arial" panose="020B0604020202020204" pitchFamily="34" charset="0"/>
              <a:buChar char="•"/>
            </a:pPr>
            <a:r>
              <a:rPr lang="en-GB" dirty="0">
                <a:latin typeface="+mn-lt"/>
              </a:rPr>
              <a:t>He succeeded because revocation by Ada would have been unconscionable</a:t>
            </a:r>
            <a:r>
              <a:rPr lang="en-GB" i="1" dirty="0">
                <a:latin typeface="+mn-lt"/>
              </a:rPr>
              <a:t> </a:t>
            </a:r>
          </a:p>
        </p:txBody>
      </p:sp>
    </p:spTree>
    <p:extLst>
      <p:ext uri="{BB962C8B-B14F-4D97-AF65-F5344CB8AC3E}">
        <p14:creationId xmlns:p14="http://schemas.microsoft.com/office/powerpoint/2010/main" val="1623531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323528" y="240885"/>
            <a:ext cx="8064896" cy="883859"/>
          </a:xfrm>
        </p:spPr>
        <p:txBody>
          <a:bodyPr/>
          <a:lstStyle/>
          <a:p>
            <a:pPr algn="ctr"/>
            <a:r>
              <a:rPr lang="en-GB" sz="3200" dirty="0">
                <a:latin typeface="Calibri" panose="020F0502020204030204" pitchFamily="34" charset="0"/>
                <a:ea typeface="MS Mincho" panose="02020609040205080304" pitchFamily="49" charset="-128"/>
              </a:rPr>
              <a:t>Established Exceptions to </a:t>
            </a:r>
            <a:r>
              <a:rPr lang="en-GB" sz="3200" i="1" dirty="0">
                <a:latin typeface="Calibri" panose="020F0502020204030204" pitchFamily="34" charset="0"/>
                <a:ea typeface="MS Mincho" panose="02020609040205080304" pitchFamily="49" charset="-128"/>
              </a:rPr>
              <a:t>Milroy v Lord: </a:t>
            </a:r>
            <a:r>
              <a:rPr lang="en-GB" sz="3200" dirty="0">
                <a:latin typeface="Calibri" panose="020F0502020204030204" pitchFamily="34" charset="0"/>
                <a:ea typeface="MS Mincho" panose="02020609040205080304" pitchFamily="49" charset="-128"/>
              </a:rPr>
              <a:t>The Rule in </a:t>
            </a:r>
            <a:r>
              <a:rPr lang="en-GB" sz="3200" i="1" dirty="0">
                <a:latin typeface="Calibri" panose="020F0502020204030204" pitchFamily="34" charset="0"/>
                <a:ea typeface="MS Mincho" panose="02020609040205080304" pitchFamily="49" charset="-128"/>
              </a:rPr>
              <a:t>Strong v Bird</a:t>
            </a:r>
            <a:endParaRPr lang="en-GB" sz="3200" dirty="0">
              <a:latin typeface="+mn-lt"/>
            </a:endParaRPr>
          </a:p>
        </p:txBody>
      </p:sp>
      <p:sp>
        <p:nvSpPr>
          <p:cNvPr id="3" name="Content Placeholder 2"/>
          <p:cNvSpPr txBox="1">
            <a:spLocks/>
          </p:cNvSpPr>
          <p:nvPr/>
        </p:nvSpPr>
        <p:spPr bwMode="auto">
          <a:xfrm>
            <a:off x="323528" y="1268760"/>
            <a:ext cx="8279705" cy="482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marL="342900" indent="-342900" algn="just">
              <a:spcBef>
                <a:spcPct val="20000"/>
              </a:spcBef>
              <a:buFont typeface="Arial" panose="020B0604020202020204" pitchFamily="34" charset="0"/>
              <a:buChar char="•"/>
            </a:pPr>
            <a:r>
              <a:rPr lang="en-GB" sz="2000" dirty="0">
                <a:latin typeface="Calibri" panose="020F0502020204030204" pitchFamily="34" charset="0"/>
                <a:ea typeface="Calibri" panose="020F0502020204030204" pitchFamily="34" charset="0"/>
                <a:cs typeface="Calibri" panose="020F0502020204030204" pitchFamily="34" charset="0"/>
              </a:rPr>
              <a:t>W</a:t>
            </a:r>
            <a:r>
              <a:rPr lang="en-GB" sz="2000" dirty="0">
                <a:effectLst/>
                <a:latin typeface="Calibri" panose="020F0502020204030204" pitchFamily="34" charset="0"/>
                <a:ea typeface="Calibri" panose="020F0502020204030204" pitchFamily="34" charset="0"/>
                <a:cs typeface="Calibri" panose="020F0502020204030204" pitchFamily="34" charset="0"/>
              </a:rPr>
              <a:t>hen a donor makes an imperfect gift to a </a:t>
            </a:r>
            <a:r>
              <a:rPr lang="en-GB" sz="2000" dirty="0" err="1">
                <a:effectLst/>
                <a:latin typeface="Calibri" panose="020F0502020204030204" pitchFamily="34" charset="0"/>
                <a:ea typeface="Calibri" panose="020F0502020204030204" pitchFamily="34" charset="0"/>
                <a:cs typeface="Calibri" panose="020F0502020204030204" pitchFamily="34" charset="0"/>
              </a:rPr>
              <a:t>donee</a:t>
            </a:r>
            <a:r>
              <a:rPr lang="en-GB" sz="2000" dirty="0">
                <a:effectLst/>
                <a:latin typeface="Calibri" panose="020F0502020204030204" pitchFamily="34" charset="0"/>
                <a:ea typeface="Calibri" panose="020F0502020204030204" pitchFamily="34" charset="0"/>
                <a:cs typeface="Calibri" panose="020F0502020204030204" pitchFamily="34" charset="0"/>
              </a:rPr>
              <a:t> or a trustee who is then appointed executor or administrator of the donor’s estate…</a:t>
            </a:r>
            <a:endParaRPr lang="en-GB" sz="20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spcBef>
                <a:spcPct val="20000"/>
              </a:spcBef>
              <a:buFont typeface="Arial" panose="020B0604020202020204" pitchFamily="34" charset="0"/>
              <a:buChar char="•"/>
            </a:pPr>
            <a:r>
              <a:rPr lang="en-GB" sz="2000" dirty="0">
                <a:effectLst/>
                <a:latin typeface="Calibri" panose="020F0502020204030204" pitchFamily="34" charset="0"/>
                <a:ea typeface="Calibri" panose="020F0502020204030204" pitchFamily="34" charset="0"/>
                <a:cs typeface="Calibri" panose="020F0502020204030204" pitchFamily="34" charset="0"/>
              </a:rPr>
              <a:t>… the vesting in the </a:t>
            </a:r>
            <a:r>
              <a:rPr lang="en-GB" sz="2000" dirty="0" err="1">
                <a:effectLst/>
                <a:latin typeface="Calibri" panose="020F0502020204030204" pitchFamily="34" charset="0"/>
                <a:ea typeface="Calibri" panose="020F0502020204030204" pitchFamily="34" charset="0"/>
                <a:cs typeface="Calibri" panose="020F0502020204030204" pitchFamily="34" charset="0"/>
              </a:rPr>
              <a:t>donee</a:t>
            </a:r>
            <a:r>
              <a:rPr lang="en-GB" sz="2000" dirty="0">
                <a:effectLst/>
                <a:latin typeface="Calibri" panose="020F0502020204030204" pitchFamily="34" charset="0"/>
                <a:ea typeface="Calibri" panose="020F0502020204030204" pitchFamily="34" charset="0"/>
                <a:cs typeface="Calibri" panose="020F0502020204030204" pitchFamily="34" charset="0"/>
              </a:rPr>
              <a:t> or trustee, in their capacity as executor or administrator, of legal title to the gift is regarded by equity as having perfected the gift…</a:t>
            </a:r>
            <a:endParaRPr lang="en-GB" sz="2000" dirty="0">
              <a:latin typeface="Calibri" panose="020F0502020204030204" pitchFamily="34" charset="0"/>
              <a:ea typeface="Calibri" panose="020F0502020204030204" pitchFamily="34" charset="0"/>
              <a:cs typeface="Calibri" panose="020F0502020204030204" pitchFamily="34" charset="0"/>
            </a:endParaRPr>
          </a:p>
          <a:p>
            <a:pPr marL="342900" indent="-342900" algn="just">
              <a:spcBef>
                <a:spcPct val="20000"/>
              </a:spcBef>
              <a:buFont typeface="Arial" panose="020B0604020202020204" pitchFamily="34" charset="0"/>
              <a:buChar char="•"/>
            </a:pPr>
            <a:r>
              <a:rPr lang="en-GB" sz="2000" dirty="0">
                <a:latin typeface="Calibri" panose="020F0502020204030204" pitchFamily="34" charset="0"/>
                <a:cs typeface="Calibri" panose="020F0502020204030204" pitchFamily="34" charset="0"/>
              </a:rPr>
              <a:t>s</a:t>
            </a:r>
            <a:r>
              <a:rPr lang="en-GB" sz="2000" dirty="0">
                <a:effectLst/>
                <a:latin typeface="Calibri" panose="020F0502020204030204" pitchFamily="34" charset="0"/>
                <a:cs typeface="Calibri" panose="020F0502020204030204" pitchFamily="34" charset="0"/>
              </a:rPr>
              <a:t>o long as the following requirements are satisfied:</a:t>
            </a:r>
          </a:p>
          <a:p>
            <a:pPr marL="742950" lvl="1" indent="-285750" fontAlgn="base">
              <a:lnSpc>
                <a:spcPct val="107000"/>
              </a:lnSpc>
              <a:spcAft>
                <a:spcPts val="800"/>
              </a:spcAft>
              <a:buFont typeface="+mj-lt"/>
              <a:buAutoNum type="romanLcPeriod"/>
              <a:tabLst>
                <a:tab pos="914400" algn="l"/>
              </a:tabLst>
            </a:pPr>
            <a:r>
              <a:rPr lang="en-GB" sz="2000" dirty="0">
                <a:effectLst/>
                <a:latin typeface="Calibri" panose="020F0502020204030204" pitchFamily="34" charset="0"/>
                <a:ea typeface="Calibri" panose="020F0502020204030204" pitchFamily="34" charset="0"/>
                <a:cs typeface="Calibri" panose="020F0502020204030204" pitchFamily="34" charset="0"/>
              </a:rPr>
              <a:t>an attempt to make immediate </a:t>
            </a:r>
            <a:r>
              <a:rPr lang="en-GB" sz="2000" i="1" dirty="0">
                <a:effectLst/>
                <a:latin typeface="Calibri" panose="020F0502020204030204" pitchFamily="34" charset="0"/>
                <a:ea typeface="Calibri" panose="020F0502020204030204" pitchFamily="34" charset="0"/>
                <a:cs typeface="Calibri" panose="020F0502020204030204" pitchFamily="34" charset="0"/>
              </a:rPr>
              <a:t>inter </a:t>
            </a:r>
            <a:r>
              <a:rPr lang="en-GB" sz="2000" i="1" dirty="0" err="1">
                <a:effectLst/>
                <a:latin typeface="Calibri" panose="020F0502020204030204" pitchFamily="34" charset="0"/>
                <a:ea typeface="Calibri" panose="020F0502020204030204" pitchFamily="34" charset="0"/>
                <a:cs typeface="Calibri" panose="020F0502020204030204" pitchFamily="34" charset="0"/>
              </a:rPr>
              <a:t>vivos</a:t>
            </a:r>
            <a:r>
              <a:rPr lang="en-GB" sz="2000" i="1" dirty="0">
                <a:effectLst/>
                <a:latin typeface="Calibri" panose="020F0502020204030204" pitchFamily="34" charset="0"/>
                <a:ea typeface="Calibri" panose="020F0502020204030204" pitchFamily="34" charset="0"/>
                <a:cs typeface="Calibri" panose="020F0502020204030204" pitchFamily="34" charset="0"/>
              </a:rPr>
              <a:t> </a:t>
            </a:r>
            <a:r>
              <a:rPr lang="en-GB" sz="2000" dirty="0">
                <a:effectLst/>
                <a:latin typeface="Calibri" panose="020F0502020204030204" pitchFamily="34" charset="0"/>
                <a:ea typeface="Calibri" panose="020F0502020204030204" pitchFamily="34" charset="0"/>
                <a:cs typeface="Calibri" panose="020F0502020204030204" pitchFamily="34" charset="0"/>
              </a:rPr>
              <a:t>gift of specific property;</a:t>
            </a:r>
          </a:p>
          <a:p>
            <a:pPr marL="742950" lvl="1" indent="-285750" fontAlgn="base">
              <a:lnSpc>
                <a:spcPct val="107000"/>
              </a:lnSpc>
              <a:spcAft>
                <a:spcPts val="800"/>
              </a:spcAft>
              <a:buFont typeface="+mj-lt"/>
              <a:buAutoNum type="romanLcPeriod"/>
              <a:tabLst>
                <a:tab pos="914400" algn="l"/>
              </a:tabLst>
            </a:pPr>
            <a:r>
              <a:rPr lang="en-GB" sz="2000" dirty="0">
                <a:effectLst/>
                <a:latin typeface="Calibri" panose="020F0502020204030204" pitchFamily="34" charset="0"/>
                <a:ea typeface="Calibri" panose="020F0502020204030204" pitchFamily="34" charset="0"/>
                <a:cs typeface="Calibri" panose="020F0502020204030204" pitchFamily="34" charset="0"/>
              </a:rPr>
              <a:t>a continuing intention on the part of the donor to make the gift, and this intention must persist until the donor’s death;</a:t>
            </a:r>
          </a:p>
          <a:p>
            <a:pPr marL="742950" lvl="1" indent="-285750" fontAlgn="base">
              <a:lnSpc>
                <a:spcPct val="107000"/>
              </a:lnSpc>
              <a:spcAft>
                <a:spcPts val="800"/>
              </a:spcAft>
              <a:buFont typeface="+mj-lt"/>
              <a:buAutoNum type="romanLcPeriod"/>
              <a:tabLst>
                <a:tab pos="914400" algn="l"/>
              </a:tabLst>
            </a:pPr>
            <a:r>
              <a:rPr lang="en-GB" sz="2000" dirty="0">
                <a:effectLst/>
                <a:latin typeface="Calibri" panose="020F0502020204030204" pitchFamily="34" charset="0"/>
                <a:ea typeface="Calibri" panose="020F0502020204030204" pitchFamily="34" charset="0"/>
                <a:cs typeface="Calibri" panose="020F0502020204030204" pitchFamily="34" charset="0"/>
              </a:rPr>
              <a:t>legal title to the subject matter of the gift must be vested in the </a:t>
            </a:r>
            <a:r>
              <a:rPr lang="en-GB" sz="2000" dirty="0" err="1">
                <a:effectLst/>
                <a:latin typeface="Calibri" panose="020F0502020204030204" pitchFamily="34" charset="0"/>
                <a:ea typeface="Calibri" panose="020F0502020204030204" pitchFamily="34" charset="0"/>
                <a:cs typeface="Calibri" panose="020F0502020204030204" pitchFamily="34" charset="0"/>
              </a:rPr>
              <a:t>donee</a:t>
            </a:r>
            <a:r>
              <a:rPr lang="en-GB" sz="2000" dirty="0">
                <a:effectLst/>
                <a:latin typeface="Calibri" panose="020F0502020204030204" pitchFamily="34" charset="0"/>
                <a:ea typeface="Calibri" panose="020F0502020204030204" pitchFamily="34" charset="0"/>
                <a:cs typeface="Calibri" panose="020F0502020204030204" pitchFamily="34" charset="0"/>
              </a:rPr>
              <a:t> after the death of the donor as his capacity as executor/administrator of the donor’s estate</a:t>
            </a:r>
          </a:p>
          <a:p>
            <a:pPr marL="342900" indent="-342900" algn="just">
              <a:spcBef>
                <a:spcPct val="20000"/>
              </a:spcBef>
              <a:buFont typeface="Arial" panose="020B0604020202020204" pitchFamily="34" charset="0"/>
              <a:buChar char="•"/>
            </a:pPr>
            <a:r>
              <a:rPr lang="en-GB" sz="2000" dirty="0">
                <a:latin typeface="Calibri" panose="020F0502020204030204" pitchFamily="34" charset="0"/>
                <a:ea typeface="Calibri" panose="020F0502020204030204" pitchFamily="34" charset="0"/>
                <a:cs typeface="Calibri" panose="020F0502020204030204" pitchFamily="34" charset="0"/>
              </a:rPr>
              <a:t>E.g. </a:t>
            </a:r>
            <a:r>
              <a:rPr lang="en-GB" sz="2000" i="1" dirty="0">
                <a:effectLst/>
                <a:latin typeface="Calibri" panose="020F0502020204030204" pitchFamily="34" charset="0"/>
                <a:ea typeface="Calibri" panose="020F0502020204030204" pitchFamily="34" charset="0"/>
              </a:rPr>
              <a:t>Re James </a:t>
            </a:r>
            <a:r>
              <a:rPr lang="en-GB" sz="2000" dirty="0">
                <a:effectLst/>
                <a:latin typeface="Calibri" panose="020F0502020204030204" pitchFamily="34" charset="0"/>
                <a:ea typeface="Calibri" panose="020F0502020204030204" pitchFamily="34" charset="0"/>
              </a:rPr>
              <a:t>[1935] Ch 449 </a:t>
            </a:r>
            <a:endParaRPr lang="en-GB" sz="2000" dirty="0">
              <a:effectLst/>
              <a:latin typeface="Calibri" panose="020F0502020204030204" pitchFamily="34" charset="0"/>
              <a:ea typeface="Calibri" panose="020F0502020204030204" pitchFamily="34" charset="0"/>
              <a:cs typeface="Calibri" panose="020F0502020204030204" pitchFamily="34" charset="0"/>
            </a:endParaRPr>
          </a:p>
          <a:p>
            <a:pPr algn="just">
              <a:spcBef>
                <a:spcPct val="20000"/>
              </a:spcBef>
            </a:pPr>
            <a:endParaRPr lang="en-GB" sz="1800" dirty="0">
              <a:effectLst/>
              <a:latin typeface="Calibri" panose="020F0502020204030204" pitchFamily="34" charset="0"/>
            </a:endParaRPr>
          </a:p>
        </p:txBody>
      </p:sp>
    </p:spTree>
    <p:extLst>
      <p:ext uri="{BB962C8B-B14F-4D97-AF65-F5344CB8AC3E}">
        <p14:creationId xmlns:p14="http://schemas.microsoft.com/office/powerpoint/2010/main" val="2283219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323528" y="240885"/>
            <a:ext cx="8064896" cy="883859"/>
          </a:xfrm>
        </p:spPr>
        <p:txBody>
          <a:bodyPr/>
          <a:lstStyle/>
          <a:p>
            <a:pPr algn="ctr"/>
            <a:r>
              <a:rPr lang="en-GB" sz="3200" dirty="0">
                <a:latin typeface="Calibri" panose="020F0502020204030204" pitchFamily="34" charset="0"/>
                <a:ea typeface="MS Mincho" panose="02020609040205080304" pitchFamily="49" charset="-128"/>
              </a:rPr>
              <a:t>Established Exceptions to </a:t>
            </a:r>
            <a:r>
              <a:rPr lang="en-GB" sz="3200" i="1" dirty="0">
                <a:latin typeface="Calibri" panose="020F0502020204030204" pitchFamily="34" charset="0"/>
                <a:ea typeface="MS Mincho" panose="02020609040205080304" pitchFamily="49" charset="-128"/>
              </a:rPr>
              <a:t>Milroy v Lord: </a:t>
            </a:r>
            <a:r>
              <a:rPr lang="en-GB" sz="3200" dirty="0" err="1">
                <a:latin typeface="Calibri" panose="020F0502020204030204" pitchFamily="34" charset="0"/>
                <a:ea typeface="MS Mincho" panose="02020609040205080304" pitchFamily="49" charset="-128"/>
              </a:rPr>
              <a:t>Donationes</a:t>
            </a:r>
            <a:r>
              <a:rPr lang="en-GB" sz="3200" dirty="0">
                <a:latin typeface="Calibri" panose="020F0502020204030204" pitchFamily="34" charset="0"/>
                <a:ea typeface="MS Mincho" panose="02020609040205080304" pitchFamily="49" charset="-128"/>
              </a:rPr>
              <a:t> Mortis Causa</a:t>
            </a:r>
            <a:endParaRPr lang="en-GB" sz="3200" dirty="0">
              <a:latin typeface="+mn-lt"/>
            </a:endParaRPr>
          </a:p>
        </p:txBody>
      </p:sp>
      <p:sp>
        <p:nvSpPr>
          <p:cNvPr id="3" name="Content Placeholder 2"/>
          <p:cNvSpPr txBox="1">
            <a:spLocks/>
          </p:cNvSpPr>
          <p:nvPr/>
        </p:nvSpPr>
        <p:spPr bwMode="auto">
          <a:xfrm>
            <a:off x="323528" y="1268760"/>
            <a:ext cx="8279705" cy="482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marL="342900" indent="-342900" algn="just">
              <a:spcBef>
                <a:spcPct val="20000"/>
              </a:spcBef>
              <a:buFont typeface="Arial" panose="020B0604020202020204" pitchFamily="34" charset="0"/>
              <a:buChar char="•"/>
            </a:pPr>
            <a:r>
              <a:rPr lang="en-GB" sz="2000" dirty="0">
                <a:effectLst/>
                <a:latin typeface="Calibri" panose="020F0502020204030204" pitchFamily="34" charset="0"/>
                <a:ea typeface="Calibri" panose="020F0502020204030204" pitchFamily="34" charset="0"/>
              </a:rPr>
              <a:t>A </a:t>
            </a:r>
            <a:r>
              <a:rPr lang="en-GB" sz="2000" i="1" dirty="0" err="1">
                <a:effectLst/>
                <a:latin typeface="Calibri" panose="020F0502020204030204" pitchFamily="34" charset="0"/>
                <a:ea typeface="Calibri" panose="020F0502020204030204" pitchFamily="34" charset="0"/>
              </a:rPr>
              <a:t>donatio</a:t>
            </a:r>
            <a:r>
              <a:rPr lang="en-GB" sz="2000" i="1" dirty="0">
                <a:effectLst/>
                <a:latin typeface="Calibri" panose="020F0502020204030204" pitchFamily="34" charset="0"/>
                <a:ea typeface="Calibri" panose="020F0502020204030204" pitchFamily="34" charset="0"/>
              </a:rPr>
              <a:t> mortis causa</a:t>
            </a:r>
            <a:r>
              <a:rPr lang="en-GB" sz="2000" dirty="0">
                <a:effectLst/>
                <a:latin typeface="Calibri" panose="020F0502020204030204" pitchFamily="34" charset="0"/>
                <a:ea typeface="Calibri" panose="020F0502020204030204" pitchFamily="34" charset="0"/>
              </a:rPr>
              <a:t> (DMC) is a gift recognised by equity that is made in contemplation of death</a:t>
            </a:r>
          </a:p>
          <a:p>
            <a:pPr marL="342900" indent="-342900" algn="just">
              <a:spcBef>
                <a:spcPct val="20000"/>
              </a:spcBef>
              <a:buFont typeface="Arial" panose="020B0604020202020204" pitchFamily="34" charset="0"/>
              <a:buChar char="•"/>
            </a:pPr>
            <a:r>
              <a:rPr lang="en-GB" sz="2000" dirty="0">
                <a:effectLst/>
                <a:latin typeface="Calibri" panose="020F0502020204030204" pitchFamily="34" charset="0"/>
                <a:ea typeface="Calibri" panose="020F0502020204030204" pitchFamily="34" charset="0"/>
              </a:rPr>
              <a:t>It is conditional upon death and only takes effect on the donor’s death</a:t>
            </a:r>
          </a:p>
          <a:p>
            <a:pPr marL="342900" indent="-342900" algn="just">
              <a:spcBef>
                <a:spcPct val="20000"/>
              </a:spcBef>
              <a:buFont typeface="Arial" panose="020B0604020202020204" pitchFamily="34" charset="0"/>
              <a:buChar char="•"/>
            </a:pPr>
            <a:r>
              <a:rPr lang="en-GB" sz="2000" dirty="0">
                <a:effectLst/>
                <a:latin typeface="Calibri" panose="020F0502020204030204" pitchFamily="34" charset="0"/>
                <a:ea typeface="Calibri" panose="020F0502020204030204" pitchFamily="34" charset="0"/>
              </a:rPr>
              <a:t>Wh</a:t>
            </a:r>
            <a:r>
              <a:rPr lang="en-GB" sz="2000" dirty="0">
                <a:latin typeface="Calibri" panose="020F0502020204030204" pitchFamily="34" charset="0"/>
                <a:ea typeface="Calibri" panose="020F0502020204030204" pitchFamily="34" charset="0"/>
              </a:rPr>
              <a:t>en a DMC is successful, equitable title to the subject matter of the DMC passes to the </a:t>
            </a:r>
            <a:r>
              <a:rPr lang="en-GB" sz="2000" dirty="0" err="1">
                <a:latin typeface="Calibri" panose="020F0502020204030204" pitchFamily="34" charset="0"/>
                <a:ea typeface="Calibri" panose="020F0502020204030204" pitchFamily="34" charset="0"/>
              </a:rPr>
              <a:t>donee</a:t>
            </a:r>
            <a:r>
              <a:rPr lang="en-GB" sz="2000" dirty="0">
                <a:latin typeface="Calibri" panose="020F0502020204030204" pitchFamily="34" charset="0"/>
                <a:ea typeface="Calibri" panose="020F0502020204030204" pitchFamily="34" charset="0"/>
              </a:rPr>
              <a:t>/trustee upon the donor/settlor’s death</a:t>
            </a:r>
          </a:p>
          <a:p>
            <a:pPr marL="342900" indent="-342900" algn="just">
              <a:spcBef>
                <a:spcPct val="20000"/>
              </a:spcBef>
              <a:buFont typeface="Arial" panose="020B0604020202020204" pitchFamily="34" charset="0"/>
              <a:buChar char="•"/>
            </a:pPr>
            <a:r>
              <a:rPr lang="en-GB" sz="2000" dirty="0">
                <a:latin typeface="Calibri" panose="020F0502020204030204" pitchFamily="34" charset="0"/>
                <a:ea typeface="Calibri" panose="020F0502020204030204" pitchFamily="34" charset="0"/>
              </a:rPr>
              <a:t>DMCs are not testamentary dispositions, so are not regulated by the Wills Act</a:t>
            </a:r>
          </a:p>
          <a:p>
            <a:pPr marL="342900" indent="-342900" algn="just">
              <a:spcBef>
                <a:spcPct val="20000"/>
              </a:spcBef>
              <a:buFont typeface="Arial" panose="020B0604020202020204" pitchFamily="34" charset="0"/>
              <a:buChar char="•"/>
            </a:pPr>
            <a:r>
              <a:rPr lang="en-GB" sz="2000" dirty="0">
                <a:effectLst/>
                <a:latin typeface="Calibri" panose="020F0502020204030204" pitchFamily="34" charset="0"/>
                <a:ea typeface="Calibri" panose="020F0502020204030204" pitchFamily="34" charset="0"/>
              </a:rPr>
              <a:t>A DMC is not a conveyance of legal title to land, so the Law of Property Act 1925, s52(1), which requires conveyances of legal title to be by deed, does not apply to DMCs of land. </a:t>
            </a:r>
          </a:p>
          <a:p>
            <a:pPr marL="342900" indent="-342900" algn="just">
              <a:spcBef>
                <a:spcPct val="20000"/>
              </a:spcBef>
              <a:buFont typeface="Arial" panose="020B0604020202020204" pitchFamily="34" charset="0"/>
              <a:buChar char="•"/>
            </a:pPr>
            <a:r>
              <a:rPr lang="en-GB" sz="2000" dirty="0">
                <a:effectLst/>
                <a:latin typeface="Calibri" panose="020F0502020204030204" pitchFamily="34" charset="0"/>
                <a:ea typeface="Calibri" panose="020F0502020204030204" pitchFamily="34" charset="0"/>
              </a:rPr>
              <a:t>53(1)(b), which requires trusts of land to be evidenced in writing</a:t>
            </a:r>
            <a:r>
              <a:rPr lang="en-GB" sz="2000" dirty="0">
                <a:latin typeface="Calibri" panose="020F0502020204030204" pitchFamily="34" charset="0"/>
                <a:ea typeface="Calibri" panose="020F0502020204030204" pitchFamily="34" charset="0"/>
              </a:rPr>
              <a:t>: </a:t>
            </a:r>
            <a:r>
              <a:rPr lang="en-GB" sz="2000" dirty="0">
                <a:effectLst/>
                <a:latin typeface="Calibri" panose="020F0502020204030204" pitchFamily="34" charset="0"/>
                <a:ea typeface="Calibri" panose="020F0502020204030204" pitchFamily="34" charset="0"/>
              </a:rPr>
              <a:t>DMCs are given effect by constructive trust</a:t>
            </a:r>
            <a:r>
              <a:rPr lang="en-GB" sz="2000" dirty="0">
                <a:effectLst/>
              </a:rPr>
              <a:t> (s53(2) </a:t>
            </a:r>
            <a:endParaRPr lang="en-GB" sz="2000" dirty="0">
              <a:latin typeface="Calibri" panose="020F0502020204030204" pitchFamily="34" charset="0"/>
              <a:ea typeface="Calibri" panose="020F0502020204030204" pitchFamily="34" charset="0"/>
            </a:endParaRPr>
          </a:p>
          <a:p>
            <a:pPr marL="800100" lvl="1" indent="-342900" algn="just">
              <a:spcBef>
                <a:spcPct val="20000"/>
              </a:spcBef>
              <a:buFont typeface="Arial" panose="020B0604020202020204" pitchFamily="34" charset="0"/>
              <a:buChar char="•"/>
            </a:pPr>
            <a:endParaRPr lang="en-GB" sz="18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008249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2"/>
          <a:stretch>
            <a:fillRect/>
          </a:stretch>
        </p:blipFill>
        <p:spPr>
          <a:xfrm>
            <a:off x="2051720" y="3222054"/>
            <a:ext cx="1528440" cy="1004246"/>
          </a:xfrm>
          <a:prstGeom prst="rect">
            <a:avLst/>
          </a:prstGeom>
        </p:spPr>
      </p:pic>
      <p:pic>
        <p:nvPicPr>
          <p:cNvPr id="19" name="Picture 18"/>
          <p:cNvPicPr>
            <a:picLocks noChangeAspect="1"/>
          </p:cNvPicPr>
          <p:nvPr/>
        </p:nvPicPr>
        <p:blipFill>
          <a:blip r:embed="rId3"/>
          <a:stretch>
            <a:fillRect/>
          </a:stretch>
        </p:blipFill>
        <p:spPr>
          <a:xfrm>
            <a:off x="5214937" y="3087717"/>
            <a:ext cx="941239" cy="1256602"/>
          </a:xfrm>
          <a:prstGeom prst="rect">
            <a:avLst/>
          </a:prstGeom>
        </p:spPr>
      </p:pic>
      <p:sp>
        <p:nvSpPr>
          <p:cNvPr id="8194" name="Title 1"/>
          <p:cNvSpPr>
            <a:spLocks noGrp="1"/>
          </p:cNvSpPr>
          <p:nvPr>
            <p:ph type="title"/>
          </p:nvPr>
        </p:nvSpPr>
        <p:spPr/>
        <p:txBody>
          <a:bodyPr/>
          <a:lstStyle/>
          <a:p>
            <a:r>
              <a:rPr lang="en-GB" i="1" dirty="0" err="1">
                <a:latin typeface="+mn-lt"/>
              </a:rPr>
              <a:t>Donatio</a:t>
            </a:r>
            <a:r>
              <a:rPr lang="en-GB" i="1" dirty="0">
                <a:latin typeface="+mn-lt"/>
              </a:rPr>
              <a:t> mortis causa </a:t>
            </a:r>
            <a:r>
              <a:rPr lang="en-GB" dirty="0">
                <a:latin typeface="+mn-lt"/>
              </a:rPr>
              <a:t>(deathbed gift)</a:t>
            </a:r>
            <a:endParaRPr lang="en-GB" i="1" u="sng" dirty="0">
              <a:latin typeface="+mn-lt"/>
            </a:endParaRPr>
          </a:p>
        </p:txBody>
      </p:sp>
      <p:sp>
        <p:nvSpPr>
          <p:cNvPr id="3" name="Content Placeholder 2"/>
          <p:cNvSpPr txBox="1">
            <a:spLocks/>
          </p:cNvSpPr>
          <p:nvPr/>
        </p:nvSpPr>
        <p:spPr bwMode="auto">
          <a:xfrm>
            <a:off x="1652587" y="1431955"/>
            <a:ext cx="7491413"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marL="342900" indent="-342900">
              <a:spcBef>
                <a:spcPct val="20000"/>
              </a:spcBef>
              <a:buFont typeface="Arial" pitchFamily="4" charset="0"/>
              <a:buChar char="•"/>
            </a:pPr>
            <a:endParaRPr lang="en-GB" dirty="0">
              <a:latin typeface="Arial" pitchFamily="4" charset="0"/>
            </a:endParaRPr>
          </a:p>
          <a:p>
            <a:pPr marL="342900" indent="-342900">
              <a:spcBef>
                <a:spcPct val="20000"/>
              </a:spcBef>
            </a:pPr>
            <a:endParaRPr lang="en-GB" dirty="0">
              <a:latin typeface="Arial" pitchFamily="4" charset="0"/>
            </a:endParaRPr>
          </a:p>
          <a:p>
            <a:pPr marL="342900" indent="-342900">
              <a:spcBef>
                <a:spcPct val="20000"/>
              </a:spcBef>
            </a:pPr>
            <a:endParaRPr lang="en-GB" u="sng" dirty="0">
              <a:latin typeface="Arial" pitchFamily="4" charset="0"/>
            </a:endParaRPr>
          </a:p>
          <a:p>
            <a:pPr marL="342900" indent="-342900">
              <a:spcBef>
                <a:spcPct val="20000"/>
              </a:spcBef>
            </a:pPr>
            <a:endParaRPr lang="en-US" dirty="0">
              <a:latin typeface="Arial" pitchFamily="4" charset="0"/>
            </a:endParaRPr>
          </a:p>
        </p:txBody>
      </p:sp>
      <p:cxnSp>
        <p:nvCxnSpPr>
          <p:cNvPr id="6" name="Straight Arrow Connector 5"/>
          <p:cNvCxnSpPr/>
          <p:nvPr/>
        </p:nvCxnSpPr>
        <p:spPr bwMode="auto">
          <a:xfrm>
            <a:off x="685800" y="3048000"/>
            <a:ext cx="7239000" cy="1588"/>
          </a:xfrm>
          <a:prstGeom prst="straightConnector1">
            <a:avLst/>
          </a:prstGeom>
          <a:solidFill>
            <a:schemeClr val="accent1"/>
          </a:solidFill>
          <a:ln w="28575" cap="flat" cmpd="sng" algn="ctr">
            <a:solidFill>
              <a:schemeClr val="tx1"/>
            </a:solidFill>
            <a:prstDash val="solid"/>
            <a:round/>
            <a:headEnd type="none" w="med" len="med"/>
            <a:tailEnd type="arrow" w="med" len="med"/>
          </a:ln>
          <a:effectLst/>
        </p:spPr>
      </p:cxnSp>
      <p:sp>
        <p:nvSpPr>
          <p:cNvPr id="9" name="TextBox 8"/>
          <p:cNvSpPr txBox="1"/>
          <p:nvPr/>
        </p:nvSpPr>
        <p:spPr>
          <a:xfrm>
            <a:off x="2667000" y="2514600"/>
            <a:ext cx="603250" cy="400050"/>
          </a:xfrm>
          <a:prstGeom prst="rect">
            <a:avLst/>
          </a:prstGeom>
          <a:noFill/>
        </p:spPr>
        <p:txBody>
          <a:bodyPr wrap="square">
            <a:spAutoFit/>
          </a:bodyPr>
          <a:lstStyle/>
          <a:p>
            <a:pPr>
              <a:defRPr/>
            </a:pPr>
            <a:r>
              <a:rPr lang="en-GB" sz="2000" dirty="0">
                <a:latin typeface="+mn-lt"/>
                <a:cs typeface="+mn-cs"/>
              </a:rPr>
              <a:t>Will</a:t>
            </a:r>
          </a:p>
        </p:txBody>
      </p:sp>
      <p:sp>
        <p:nvSpPr>
          <p:cNvPr id="10" name="TextBox 9"/>
          <p:cNvSpPr txBox="1"/>
          <p:nvPr/>
        </p:nvSpPr>
        <p:spPr>
          <a:xfrm>
            <a:off x="5334000" y="2514600"/>
            <a:ext cx="1212850" cy="400110"/>
          </a:xfrm>
          <a:prstGeom prst="rect">
            <a:avLst/>
          </a:prstGeom>
          <a:noFill/>
        </p:spPr>
        <p:txBody>
          <a:bodyPr wrap="square">
            <a:spAutoFit/>
          </a:bodyPr>
          <a:lstStyle/>
          <a:p>
            <a:pPr>
              <a:defRPr/>
            </a:pPr>
            <a:r>
              <a:rPr lang="en-GB" sz="2000" dirty="0">
                <a:latin typeface="+mn-lt"/>
                <a:cs typeface="+mn-cs"/>
              </a:rPr>
              <a:t>DMC</a:t>
            </a:r>
          </a:p>
        </p:txBody>
      </p:sp>
      <p:pic>
        <p:nvPicPr>
          <p:cNvPr id="12" name="Picture 11" descr="images2.jpeg"/>
          <p:cNvPicPr>
            <a:picLocks noChangeAspect="1"/>
          </p:cNvPicPr>
          <p:nvPr/>
        </p:nvPicPr>
        <p:blipFill>
          <a:blip r:embed="rId4"/>
          <a:stretch>
            <a:fillRect/>
          </a:stretch>
        </p:blipFill>
        <p:spPr>
          <a:xfrm>
            <a:off x="7084863" y="3314813"/>
            <a:ext cx="685800" cy="899238"/>
          </a:xfrm>
          <a:prstGeom prst="rect">
            <a:avLst/>
          </a:prstGeom>
        </p:spPr>
      </p:pic>
      <p:sp>
        <p:nvSpPr>
          <p:cNvPr id="14" name="TextBox 13"/>
          <p:cNvSpPr txBox="1"/>
          <p:nvPr/>
        </p:nvSpPr>
        <p:spPr>
          <a:xfrm>
            <a:off x="6934200" y="2514600"/>
            <a:ext cx="1212850" cy="400110"/>
          </a:xfrm>
          <a:prstGeom prst="rect">
            <a:avLst/>
          </a:prstGeom>
          <a:noFill/>
        </p:spPr>
        <p:txBody>
          <a:bodyPr wrap="square">
            <a:spAutoFit/>
          </a:bodyPr>
          <a:lstStyle/>
          <a:p>
            <a:pPr>
              <a:defRPr/>
            </a:pPr>
            <a:r>
              <a:rPr lang="en-GB" sz="2000" dirty="0">
                <a:latin typeface="+mn-lt"/>
                <a:cs typeface="+mn-cs"/>
              </a:rPr>
              <a:t>Death</a:t>
            </a:r>
          </a:p>
        </p:txBody>
      </p:sp>
      <p:sp>
        <p:nvSpPr>
          <p:cNvPr id="15" name="TextBox 14"/>
          <p:cNvSpPr txBox="1"/>
          <p:nvPr/>
        </p:nvSpPr>
        <p:spPr>
          <a:xfrm>
            <a:off x="1687641" y="4267200"/>
            <a:ext cx="3429000" cy="707886"/>
          </a:xfrm>
          <a:prstGeom prst="rect">
            <a:avLst/>
          </a:prstGeom>
          <a:noFill/>
        </p:spPr>
        <p:txBody>
          <a:bodyPr wrap="square">
            <a:spAutoFit/>
          </a:bodyPr>
          <a:lstStyle/>
          <a:p>
            <a:pPr>
              <a:defRPr/>
            </a:pPr>
            <a:r>
              <a:rPr lang="en-GB" sz="2000" dirty="0">
                <a:latin typeface="+mn-lt"/>
                <a:cs typeface="+mn-cs"/>
              </a:rPr>
              <a:t>Property </a:t>
            </a:r>
            <a:r>
              <a:rPr lang="en-GB" sz="2000" u="sng" dirty="0">
                <a:latin typeface="+mn-lt"/>
                <a:cs typeface="+mn-cs"/>
              </a:rPr>
              <a:t>not</a:t>
            </a:r>
            <a:r>
              <a:rPr lang="en-GB" sz="2000" dirty="0">
                <a:latin typeface="+mn-lt"/>
                <a:cs typeface="+mn-cs"/>
              </a:rPr>
              <a:t> contained </a:t>
            </a:r>
          </a:p>
          <a:p>
            <a:pPr>
              <a:defRPr/>
            </a:pPr>
            <a:r>
              <a:rPr lang="en-GB" sz="2000" dirty="0">
                <a:latin typeface="+mn-lt"/>
                <a:cs typeface="+mn-cs"/>
              </a:rPr>
              <a:t>in the will</a:t>
            </a:r>
          </a:p>
        </p:txBody>
      </p:sp>
      <p:sp>
        <p:nvSpPr>
          <p:cNvPr id="16" name="TextBox 15"/>
          <p:cNvSpPr txBox="1"/>
          <p:nvPr/>
        </p:nvSpPr>
        <p:spPr>
          <a:xfrm>
            <a:off x="4953000" y="4267200"/>
            <a:ext cx="2209800" cy="2246769"/>
          </a:xfrm>
          <a:prstGeom prst="rect">
            <a:avLst/>
          </a:prstGeom>
          <a:noFill/>
        </p:spPr>
        <p:txBody>
          <a:bodyPr wrap="square">
            <a:spAutoFit/>
          </a:bodyPr>
          <a:lstStyle/>
          <a:p>
            <a:pPr>
              <a:buFont typeface="Arial"/>
              <a:buChar char="•"/>
              <a:defRPr/>
            </a:pPr>
            <a:r>
              <a:rPr lang="en-GB" sz="2000" dirty="0">
                <a:latin typeface="+mn-lt"/>
                <a:cs typeface="+mn-cs"/>
              </a:rPr>
              <a:t> Contemplation  of death</a:t>
            </a:r>
          </a:p>
          <a:p>
            <a:pPr>
              <a:buFont typeface="Arial"/>
              <a:buChar char="•"/>
              <a:defRPr/>
            </a:pPr>
            <a:r>
              <a:rPr lang="en-GB" sz="2000" dirty="0">
                <a:latin typeface="+mn-lt"/>
                <a:cs typeface="+mn-cs"/>
              </a:rPr>
              <a:t> Delivery of property or </a:t>
            </a:r>
          </a:p>
          <a:p>
            <a:pPr>
              <a:defRPr/>
            </a:pPr>
            <a:r>
              <a:rPr lang="en-GB" sz="2000" dirty="0">
                <a:latin typeface="+mn-lt"/>
                <a:cs typeface="+mn-cs"/>
              </a:rPr>
              <a:t>‘indicia of title’</a:t>
            </a:r>
          </a:p>
          <a:p>
            <a:pPr>
              <a:buFont typeface="Arial"/>
              <a:buChar char="•"/>
              <a:defRPr/>
            </a:pPr>
            <a:r>
              <a:rPr lang="en-GB" sz="2000" dirty="0">
                <a:latin typeface="+mn-lt"/>
                <a:cs typeface="+mn-cs"/>
              </a:rPr>
              <a:t> Revocability</a:t>
            </a:r>
          </a:p>
          <a:p>
            <a:pPr>
              <a:buFont typeface="Arial"/>
              <a:buChar char="•"/>
              <a:defRPr/>
            </a:pPr>
            <a:endParaRPr lang="en-GB" sz="2000" dirty="0">
              <a:latin typeface="+mn-lt"/>
              <a:cs typeface="+mn-cs"/>
            </a:endParaRPr>
          </a:p>
        </p:txBody>
      </p:sp>
      <p:sp>
        <p:nvSpPr>
          <p:cNvPr id="17" name="TextBox 16"/>
          <p:cNvSpPr txBox="1"/>
          <p:nvPr/>
        </p:nvSpPr>
        <p:spPr>
          <a:xfrm>
            <a:off x="6934200" y="4267200"/>
            <a:ext cx="1828800" cy="1015663"/>
          </a:xfrm>
          <a:prstGeom prst="rect">
            <a:avLst/>
          </a:prstGeom>
          <a:noFill/>
        </p:spPr>
        <p:txBody>
          <a:bodyPr wrap="square">
            <a:spAutoFit/>
          </a:bodyPr>
          <a:lstStyle/>
          <a:p>
            <a:pPr>
              <a:defRPr/>
            </a:pPr>
            <a:r>
              <a:rPr lang="en-GB" sz="2000" dirty="0">
                <a:latin typeface="+mn-lt"/>
                <a:cs typeface="+mn-cs"/>
              </a:rPr>
              <a:t>Death constitutes </a:t>
            </a:r>
          </a:p>
          <a:p>
            <a:pPr>
              <a:defRPr/>
            </a:pPr>
            <a:r>
              <a:rPr lang="en-GB" sz="2000" dirty="0">
                <a:latin typeface="+mn-lt"/>
                <a:cs typeface="+mn-cs"/>
              </a:rPr>
              <a:t>the gift</a:t>
            </a:r>
          </a:p>
        </p:txBody>
      </p:sp>
      <p:sp>
        <p:nvSpPr>
          <p:cNvPr id="21" name="TextBox 20"/>
          <p:cNvSpPr txBox="1"/>
          <p:nvPr/>
        </p:nvSpPr>
        <p:spPr>
          <a:xfrm>
            <a:off x="381000" y="2514600"/>
            <a:ext cx="1752600" cy="307777"/>
          </a:xfrm>
          <a:prstGeom prst="rect">
            <a:avLst/>
          </a:prstGeom>
          <a:noFill/>
        </p:spPr>
        <p:txBody>
          <a:bodyPr wrap="square">
            <a:spAutoFit/>
          </a:bodyPr>
          <a:lstStyle/>
          <a:p>
            <a:pPr>
              <a:defRPr/>
            </a:pPr>
            <a:r>
              <a:rPr lang="en-GB" sz="1400" i="1" dirty="0">
                <a:latin typeface="+mn-lt"/>
                <a:cs typeface="+mn-cs"/>
              </a:rPr>
              <a:t>Life of the testator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323528" y="240885"/>
            <a:ext cx="8064896" cy="883859"/>
          </a:xfrm>
        </p:spPr>
        <p:txBody>
          <a:bodyPr/>
          <a:lstStyle/>
          <a:p>
            <a:pPr algn="ctr"/>
            <a:r>
              <a:rPr lang="en-GB" sz="3200" dirty="0">
                <a:latin typeface="Calibri" panose="020F0502020204030204" pitchFamily="34" charset="0"/>
                <a:ea typeface="MS Mincho" panose="02020609040205080304" pitchFamily="49" charset="-128"/>
              </a:rPr>
              <a:t>Established Exceptions to the Rule in </a:t>
            </a:r>
            <a:r>
              <a:rPr lang="en-GB" sz="3200" i="1" dirty="0">
                <a:latin typeface="Calibri" panose="020F0502020204030204" pitchFamily="34" charset="0"/>
                <a:ea typeface="MS Mincho" panose="02020609040205080304" pitchFamily="49" charset="-128"/>
              </a:rPr>
              <a:t>Milroy v Lord: </a:t>
            </a:r>
            <a:r>
              <a:rPr lang="en-GB" sz="3200" dirty="0" err="1">
                <a:latin typeface="Calibri" panose="020F0502020204030204" pitchFamily="34" charset="0"/>
                <a:ea typeface="MS Mincho" panose="02020609040205080304" pitchFamily="49" charset="-128"/>
              </a:rPr>
              <a:t>Donationes</a:t>
            </a:r>
            <a:r>
              <a:rPr lang="en-GB" sz="3200" dirty="0">
                <a:latin typeface="Calibri" panose="020F0502020204030204" pitchFamily="34" charset="0"/>
                <a:ea typeface="MS Mincho" panose="02020609040205080304" pitchFamily="49" charset="-128"/>
              </a:rPr>
              <a:t> Mortis Causa</a:t>
            </a:r>
            <a:endParaRPr lang="en-GB" sz="3200" dirty="0">
              <a:latin typeface="+mn-lt"/>
            </a:endParaRPr>
          </a:p>
        </p:txBody>
      </p:sp>
      <p:sp>
        <p:nvSpPr>
          <p:cNvPr id="3" name="Content Placeholder 2"/>
          <p:cNvSpPr txBox="1">
            <a:spLocks/>
          </p:cNvSpPr>
          <p:nvPr/>
        </p:nvSpPr>
        <p:spPr bwMode="auto">
          <a:xfrm>
            <a:off x="323528" y="1700808"/>
            <a:ext cx="8279705" cy="482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marL="342900" indent="-342900" algn="just">
              <a:spcBef>
                <a:spcPct val="20000"/>
              </a:spcBef>
              <a:buFont typeface="Arial" panose="020B0604020202020204" pitchFamily="34" charset="0"/>
              <a:buChar char="•"/>
            </a:pPr>
            <a:r>
              <a:rPr lang="en-GB" sz="2800" dirty="0">
                <a:latin typeface="Calibri" panose="020F0502020204030204" pitchFamily="34" charset="0"/>
                <a:ea typeface="Calibri" panose="020F0502020204030204" pitchFamily="34" charset="0"/>
              </a:rPr>
              <a:t>The requirements for DMCs are (</a:t>
            </a:r>
            <a:r>
              <a:rPr lang="en-GB" sz="2800" i="1" dirty="0">
                <a:latin typeface="Calibri" panose="020F0502020204030204" pitchFamily="34" charset="0"/>
                <a:ea typeface="Calibri" panose="020F0502020204030204" pitchFamily="34" charset="0"/>
              </a:rPr>
              <a:t>Cain v Moon </a:t>
            </a:r>
            <a:r>
              <a:rPr lang="en-GB" sz="2800" dirty="0">
                <a:latin typeface="Calibri" panose="020F0502020204030204" pitchFamily="34" charset="0"/>
                <a:ea typeface="Calibri" panose="020F0502020204030204" pitchFamily="34" charset="0"/>
              </a:rPr>
              <a:t>[1896] 2 QB 283):</a:t>
            </a:r>
          </a:p>
          <a:p>
            <a:pPr marL="914400" lvl="1" indent="-457200" algn="just">
              <a:spcBef>
                <a:spcPct val="20000"/>
              </a:spcBef>
              <a:buFont typeface="+mj-lt"/>
              <a:buAutoNum type="arabicPeriod"/>
            </a:pPr>
            <a:r>
              <a:rPr lang="en-GB" sz="2800" dirty="0">
                <a:latin typeface="Calibri" panose="020F0502020204030204" pitchFamily="34" charset="0"/>
                <a:ea typeface="Calibri" panose="020F0502020204030204" pitchFamily="34" charset="0"/>
              </a:rPr>
              <a:t>T</a:t>
            </a:r>
            <a:r>
              <a:rPr lang="en-GB" sz="2800" dirty="0">
                <a:effectLst/>
                <a:latin typeface="Calibri" panose="020F0502020204030204" pitchFamily="34" charset="0"/>
                <a:ea typeface="Calibri" panose="020F0502020204030204" pitchFamily="34" charset="0"/>
              </a:rPr>
              <a:t>he gift must </a:t>
            </a:r>
            <a:r>
              <a:rPr lang="en-GB" sz="2800" dirty="0">
                <a:latin typeface="Calibri" panose="020F0502020204030204" pitchFamily="34" charset="0"/>
                <a:ea typeface="Calibri" panose="020F0502020204030204" pitchFamily="34" charset="0"/>
              </a:rPr>
              <a:t>be </a:t>
            </a:r>
            <a:r>
              <a:rPr lang="en-GB" sz="2800" dirty="0">
                <a:effectLst/>
                <a:latin typeface="Calibri" panose="020F0502020204030204" pitchFamily="34" charset="0"/>
                <a:ea typeface="Calibri" panose="020F0502020204030204" pitchFamily="34" charset="0"/>
              </a:rPr>
              <a:t>made in contemplation, though not necessarily in expectation, of death</a:t>
            </a:r>
          </a:p>
          <a:p>
            <a:pPr marL="914400" lvl="1" indent="-457200" algn="just">
              <a:spcBef>
                <a:spcPct val="20000"/>
              </a:spcBef>
              <a:buFont typeface="+mj-lt"/>
              <a:buAutoNum type="arabicPeriod"/>
            </a:pPr>
            <a:r>
              <a:rPr lang="en-GB" sz="2800" dirty="0">
                <a:latin typeface="Calibri" panose="020F0502020204030204" pitchFamily="34" charset="0"/>
                <a:ea typeface="Calibri" panose="020F0502020204030204" pitchFamily="34" charset="0"/>
              </a:rPr>
              <a:t>The subject matter of the DMC must be delivered (physically or symbolically) to the </a:t>
            </a:r>
            <a:r>
              <a:rPr lang="en-GB" sz="2800" dirty="0" err="1">
                <a:latin typeface="Calibri" panose="020F0502020204030204" pitchFamily="34" charset="0"/>
                <a:ea typeface="Calibri" panose="020F0502020204030204" pitchFamily="34" charset="0"/>
              </a:rPr>
              <a:t>donee</a:t>
            </a:r>
            <a:endParaRPr lang="en-GB" sz="2800" dirty="0">
              <a:latin typeface="Calibri" panose="020F0502020204030204" pitchFamily="34" charset="0"/>
              <a:ea typeface="Calibri" panose="020F0502020204030204" pitchFamily="34" charset="0"/>
            </a:endParaRPr>
          </a:p>
          <a:p>
            <a:pPr marL="914400" lvl="1" indent="-457200" algn="just">
              <a:spcBef>
                <a:spcPct val="20000"/>
              </a:spcBef>
              <a:buFont typeface="+mj-lt"/>
              <a:buAutoNum type="arabicPeriod"/>
            </a:pPr>
            <a:r>
              <a:rPr lang="en-GB" sz="2800" dirty="0">
                <a:latin typeface="Calibri" panose="020F0502020204030204" pitchFamily="34" charset="0"/>
                <a:ea typeface="Calibri" panose="020F0502020204030204" pitchFamily="34" charset="0"/>
              </a:rPr>
              <a:t>The gift must be conditional up on death</a:t>
            </a:r>
          </a:p>
          <a:p>
            <a:pPr marL="342900" indent="-342900" algn="just">
              <a:spcBef>
                <a:spcPct val="20000"/>
              </a:spcBef>
              <a:buFont typeface="Arial" panose="020B0604020202020204" pitchFamily="34" charset="0"/>
              <a:buChar char="•"/>
            </a:pPr>
            <a:r>
              <a:rPr lang="en-GB" sz="2800" dirty="0">
                <a:latin typeface="Calibri" panose="020F0502020204030204" pitchFamily="34" charset="0"/>
                <a:ea typeface="Calibri" panose="020F0502020204030204" pitchFamily="34" charset="0"/>
              </a:rPr>
              <a:t>E.g. </a:t>
            </a:r>
            <a:r>
              <a:rPr lang="en-GB" sz="2800" i="1" dirty="0">
                <a:latin typeface="Calibri" panose="020F0502020204030204" pitchFamily="34" charset="0"/>
                <a:ea typeface="Calibri" panose="020F0502020204030204" pitchFamily="34" charset="0"/>
              </a:rPr>
              <a:t>Sen v Headley </a:t>
            </a:r>
            <a:r>
              <a:rPr lang="en-GB" sz="2800" dirty="0">
                <a:latin typeface="Calibri" panose="020F0502020204030204" pitchFamily="34" charset="0"/>
                <a:ea typeface="Calibri" panose="020F0502020204030204" pitchFamily="34" charset="0"/>
              </a:rPr>
              <a:t>[1991] Ch 425</a:t>
            </a:r>
          </a:p>
        </p:txBody>
      </p:sp>
    </p:spTree>
    <p:extLst>
      <p:ext uri="{BB962C8B-B14F-4D97-AF65-F5344CB8AC3E}">
        <p14:creationId xmlns:p14="http://schemas.microsoft.com/office/powerpoint/2010/main" val="2489089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7495FF6B-35F3-D841-B8AC-0BB4457B964A}"/>
              </a:ext>
            </a:extLst>
          </p:cNvPr>
          <p:cNvSpPr>
            <a:spLocks noGrp="1"/>
          </p:cNvSpPr>
          <p:nvPr>
            <p:ph type="title"/>
          </p:nvPr>
        </p:nvSpPr>
        <p:spPr/>
        <p:txBody>
          <a:bodyPr/>
          <a:lstStyle/>
          <a:p>
            <a:pPr>
              <a:defRPr/>
            </a:pPr>
            <a:r>
              <a:rPr lang="en-GB" altLang="en-US" dirty="0">
                <a:latin typeface="+mn-lt"/>
                <a:ea typeface="ＭＳ Ｐゴシック" panose="020B0600070205080204" pitchFamily="34" charset="-128"/>
              </a:rPr>
              <a:t>Recap</a:t>
            </a:r>
          </a:p>
        </p:txBody>
      </p:sp>
      <p:sp>
        <p:nvSpPr>
          <p:cNvPr id="15363" name="Content Placeholder 2">
            <a:extLst>
              <a:ext uri="{FF2B5EF4-FFF2-40B4-BE49-F238E27FC236}">
                <a16:creationId xmlns:a16="http://schemas.microsoft.com/office/drawing/2014/main" id="{B1362EB2-44AF-9D42-A8F5-01DD21AF6C8D}"/>
              </a:ext>
            </a:extLst>
          </p:cNvPr>
          <p:cNvSpPr txBox="1">
            <a:spLocks/>
          </p:cNvSpPr>
          <p:nvPr/>
        </p:nvSpPr>
        <p:spPr bwMode="auto">
          <a:xfrm>
            <a:off x="534988" y="1752600"/>
            <a:ext cx="7923212" cy="2239963"/>
          </a:xfrm>
          <a:prstGeom prst="rect">
            <a:avLst/>
          </a:prstGeom>
          <a:noFill/>
          <a:ln>
            <a:noFill/>
          </a:ln>
        </p:spPr>
        <p:txBody>
          <a:bodyPr lIns="91440" tIns="45720" rIns="91440" bIns="45720" anchor="t"/>
          <a:lstStyle>
            <a:lvl1pPr marL="571500" indent="-571500">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buFont typeface="Wingdings" panose="05000000000000000000" pitchFamily="2" charset="2"/>
              <a:buChar char="q"/>
              <a:defRPr/>
            </a:pPr>
            <a:r>
              <a:rPr lang="en-US" altLang="en-US" dirty="0">
                <a:cs typeface="+mn-cs"/>
              </a:rPr>
              <a:t>Constitution is a vital step in creating a valid trust.</a:t>
            </a:r>
          </a:p>
          <a:p>
            <a:pPr>
              <a:buFont typeface="Wingdings" panose="05000000000000000000" pitchFamily="2" charset="2"/>
              <a:buChar char="q"/>
              <a:defRPr/>
            </a:pPr>
            <a:r>
              <a:rPr lang="en-US" altLang="en-US" dirty="0">
                <a:cs typeface="+mn-cs"/>
              </a:rPr>
              <a:t>It is needed for trusts with separate trustees, but not for self-declaration trusts.</a:t>
            </a:r>
          </a:p>
          <a:p>
            <a:pPr>
              <a:buFont typeface="Wingdings" panose="05000000000000000000" pitchFamily="2" charset="2"/>
              <a:buChar char="q"/>
              <a:defRPr/>
            </a:pPr>
            <a:r>
              <a:rPr lang="en-US" altLang="en-US" dirty="0">
                <a:cs typeface="+mn-cs"/>
              </a:rPr>
              <a:t>Various exceptions allow settlors/testators to settle property on trust even though the trust has not been fully constituted.</a:t>
            </a:r>
          </a:p>
          <a:p>
            <a:pPr marL="0" indent="0">
              <a:defRPr/>
            </a:pPr>
            <a:endParaRPr lang="en-US" altLang="en-US" sz="1000" b="1" dirty="0">
              <a:solidFill>
                <a:srgbClr val="000000"/>
              </a:solidFill>
              <a:highlight>
                <a:srgbClr val="FFFF00"/>
              </a:highlight>
            </a:endParaRPr>
          </a:p>
          <a:p>
            <a:pPr>
              <a:defRPr/>
            </a:pPr>
            <a:endParaRPr lang="en-US" altLang="en-US" dirty="0">
              <a:solidFill>
                <a:srgbClr val="000000"/>
              </a:solidFill>
            </a:endParaRPr>
          </a:p>
        </p:txBody>
      </p:sp>
    </p:spTree>
    <p:extLst>
      <p:ext uri="{BB962C8B-B14F-4D97-AF65-F5344CB8AC3E}">
        <p14:creationId xmlns:p14="http://schemas.microsoft.com/office/powerpoint/2010/main" val="4226417473"/>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1572</Words>
  <Application>Microsoft Macintosh PowerPoint</Application>
  <PresentationFormat>On-screen Show (4:3)</PresentationFormat>
  <Paragraphs>158</Paragraphs>
  <Slides>20</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Courier New</vt:lpstr>
      <vt:lpstr>Times</vt:lpstr>
      <vt:lpstr>Times New Roman</vt:lpstr>
      <vt:lpstr>Wingdings</vt:lpstr>
      <vt:lpstr>Blank</vt:lpstr>
      <vt:lpstr>   Trusts Law  Week 7: Constitution of Trusts, Volunteers, and Imperfect Gifts  </vt:lpstr>
      <vt:lpstr> Thematic positioning   </vt:lpstr>
      <vt:lpstr> Starting points  </vt:lpstr>
      <vt:lpstr>Equitable maxims</vt:lpstr>
      <vt:lpstr> Enforceability of promises  </vt:lpstr>
      <vt:lpstr> Effects of constitution  </vt:lpstr>
      <vt:lpstr>Constitution and the two types of express trust </vt:lpstr>
      <vt:lpstr> Incompletely constituted trusts  </vt:lpstr>
      <vt:lpstr>The rule in Milroy v Lord (1862) 4 De G,F &amp; J 264</vt:lpstr>
      <vt:lpstr>The ‘bright-line’ rule</vt:lpstr>
      <vt:lpstr>Weird transfers of legal title</vt:lpstr>
      <vt:lpstr>The rule in Re Rose [1952] Ch 499</vt:lpstr>
      <vt:lpstr>Re Rose: doing everything in one’s power </vt:lpstr>
      <vt:lpstr>T. Choithram International SA v Pagarani [2001] 1 WLR 1: Equity ‘will not strive officiously to defeat a gift’</vt:lpstr>
      <vt:lpstr>Unconscionability: Pennington v Waine (no 1) [2002] EWCA Civ 227</vt:lpstr>
      <vt:lpstr>Established Exceptions to Milroy v Lord: The Rule in Strong v Bird</vt:lpstr>
      <vt:lpstr>Established Exceptions to Milroy v Lord: Donationes Mortis Causa</vt:lpstr>
      <vt:lpstr>Donatio mortis causa (deathbed gift)</vt:lpstr>
      <vt:lpstr>Established Exceptions to the Rule in Milroy v Lord: Donationes Mortis Causa</vt:lpstr>
      <vt:lpstr>Recap</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Trusts Law  Week 15: The constitution of trusts  </dc:title>
  <dc:subject/>
  <dc:creator/>
  <cp:keywords/>
  <dc:description/>
  <cp:lastModifiedBy/>
  <cp:revision>99</cp:revision>
  <dcterms:created xsi:type="dcterms:W3CDTF">2017-11-16T21:34:01Z</dcterms:created>
  <dcterms:modified xsi:type="dcterms:W3CDTF">2024-11-16T19:42:25Z</dcterms:modified>
  <cp:category/>
</cp:coreProperties>
</file>