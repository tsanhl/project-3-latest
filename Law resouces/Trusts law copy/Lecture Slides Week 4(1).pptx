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48" r:id="rId1"/>
  </p:sldMasterIdLst>
  <p:notesMasterIdLst>
    <p:notesMasterId r:id="rId20"/>
  </p:notesMasterIdLst>
  <p:sldIdLst>
    <p:sldId id="274" r:id="rId2"/>
    <p:sldId id="347" r:id="rId3"/>
    <p:sldId id="299" r:id="rId4"/>
    <p:sldId id="317" r:id="rId5"/>
    <p:sldId id="340" r:id="rId6"/>
    <p:sldId id="346" r:id="rId7"/>
    <p:sldId id="348" r:id="rId8"/>
    <p:sldId id="342" r:id="rId9"/>
    <p:sldId id="343" r:id="rId10"/>
    <p:sldId id="322" r:id="rId11"/>
    <p:sldId id="323" r:id="rId12"/>
    <p:sldId id="325" r:id="rId13"/>
    <p:sldId id="326" r:id="rId14"/>
    <p:sldId id="327" r:id="rId15"/>
    <p:sldId id="328" r:id="rId16"/>
    <p:sldId id="266" r:id="rId17"/>
    <p:sldId id="324" r:id="rId18"/>
    <p:sldId id="339" r:id="rId19"/>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53A0"/>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9"/>
    <p:restoredTop sz="94648"/>
  </p:normalViewPr>
  <p:slideViewPr>
    <p:cSldViewPr>
      <p:cViewPr varScale="1">
        <p:scale>
          <a:sx n="62" d="100"/>
          <a:sy n="62" d="100"/>
        </p:scale>
        <p:origin x="1396" y="2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7T13:28:40.419"/>
    </inkml:context>
    <inkml:brush xml:id="br0">
      <inkml:brushProperty name="width" value="0.2" units="cm"/>
      <inkml:brushProperty name="height" value="0.2" units="cm"/>
      <inkml:brushProperty name="color" value="#008C3A"/>
    </inkml:brush>
  </inkml:definitions>
  <inkml:trace contextRef="#ctx0" brushRef="#br0">1 1521 24575,'57'61'0,"0"-1"0,1 0 0,-1 0 0,0 0 0,7 8 0,0 0 0,-4-6 0,-9-11 0,-3-11 0,-10-9 0,2 2 0,39 28 0,-67-67 0,2-21 0,9-24 0,9-16 0,0-3 0,-4 6 0,-5 8 0,-4 6 0,0 1 0,0 0 0,2 0 0,1 1 0,2 2 0,1-2 0,2 0 0,0 0 0,-2 5 0,-2 3 0,-3 4 0,2-1 0,2 1 0,5-2 0,3-1 0,1-1 0,0 0 0,-3 0 0,-3 4 0,-1 2 0,-2 1 0,1-1 0,1-1 0,0 1 0,1-1 0,1 2 0,1-1 0,0-2 0,-1-1 0,0-1 0,-4 4 0,-3 3 0,-4 3 0,-4 3 0,7-7 0,6-3 0,5-7 0,6-5 0,6-5 0,3 0 0,4 0 0,-4 4 0,-8 8 0,-9 5 0,-9 8 0,-4 5 0,-3 6 0,-2 4 0,-3 2 0,-3 3 0,-3 4 0,0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7T13:29:14.531"/>
    </inkml:context>
    <inkml:brush xml:id="br0">
      <inkml:brushProperty name="width" value="0.2" units="cm"/>
      <inkml:brushProperty name="height" value="0.2" units="cm"/>
      <inkml:brushProperty name="color" value="#E71224"/>
    </inkml:brush>
  </inkml:definitions>
  <inkml:trace contextRef="#ctx0" brushRef="#br0">1 0 24575,'49'77'0,"-11"-22"0,4 6 0,-5-9 0,2 5 0,1 1-566,7 11 1,2 2-1,-1 0 566,-1-1 0,-1 0 0,-1 0 0,-1-2 0,-2 0 0,0 0 0,-4-3 0,0 0 0,-2-1 31,-4-3 1,-2-1 0,0 1-32,-1 0 0,0 1 0,-1-1 0,12 30 0,1 0 0,0-2 0,-1-2 0,-2-9 0,-1-3 194,-2-6 1,0-3-195,-6-11 0,0-3 0,-4-7 0,-2-1 0,22 38 851,-8-10-851,-8-13 362,-10-17-362,-8-17 0,-5-11 0,-2-3 0,-1-1 0,0-6 0,-2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7T13:29:16.437"/>
    </inkml:context>
    <inkml:brush xml:id="br0">
      <inkml:brushProperty name="width" value="0.2" units="cm"/>
      <inkml:brushProperty name="height" value="0.2" units="cm"/>
      <inkml:brushProperty name="color" value="#E71224"/>
    </inkml:brush>
  </inkml:definitions>
  <inkml:trace contextRef="#ctx0" brushRef="#br0">2749 0 24575,'-85'49'0,"42"-22"0,-1 3 0,-11 10 0,-3 6 0,-2 5 0,-3 4 0,13-10 0,-1 3 0,-1 1-252,0 2 0,0 3 0,1 0 252,0 2 0,1 1 0,-1 0 0,1 2 0,0 0 0,0 1 0,1 0 0,0 1 0,0 0 0,2 0 0,0 0 0,-1 0 0,-1 1 0,0 1 0,0 0 0,1-2 0,0 0 0,1-1 0,2-4 0,0 0 0,0-2 0,1-2 0,1-1 0,-1-1 93,-16 15 0,0-2-93,-2-2 0,0-1 0,2-4 0,1-2 0,2-2 0,1-2 0,5-3 0,1-2 0,9-7 0,0-3 0,-30 25 570,15-17-570,15-14 0,13-11 0,12-8 0,7-5 0,5-3 0,2-1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7T13:36:46.346"/>
    </inkml:context>
    <inkml:brush xml:id="br0">
      <inkml:brushProperty name="width" value="0.2" units="cm"/>
      <inkml:brushProperty name="height" value="0.2" units="cm"/>
      <inkml:brushProperty name="color" value="#E71224"/>
    </inkml:brush>
  </inkml:definitions>
  <inkml:trace contextRef="#ctx0" brushRef="#br0">1 0 24575,'49'77'0,"-11"-22"0,4 6 0,-5-9 0,2 5 0,1 1-566,7 11 1,2 2-1,-1 0 566,-1-1 0,-1 0 0,-1 0 0,-1-2 0,-2 0 0,0 0 0,-4-3 0,0 0 0,-2-1 31,-4-3 1,-2-1 0,0 1-32,-1 0 0,0 1 0,-1-1 0,12 30 0,1 0 0,0-2 0,-1-2 0,-2-9 0,-1-3 194,-2-6 1,0-3-195,-6-11 0,0-3 0,-4-7 0,-2-1 0,22 38 851,-8-10-851,-8-13 362,-10-17-362,-8-17 0,-5-11 0,-2-3 0,-1-1 0,0-6 0,-2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7T13:36:46.347"/>
    </inkml:context>
    <inkml:brush xml:id="br0">
      <inkml:brushProperty name="width" value="0.2" units="cm"/>
      <inkml:brushProperty name="height" value="0.2" units="cm"/>
      <inkml:brushProperty name="color" value="#E71224"/>
    </inkml:brush>
  </inkml:definitions>
  <inkml:trace contextRef="#ctx0" brushRef="#br0">2749 0 24575,'-85'49'0,"42"-22"0,-1 3 0,-11 10 0,-3 6 0,-2 5 0,-3 4 0,13-10 0,-1 3 0,-1 1-252,0 2 0,0 3 0,1 0 252,0 2 0,1 1 0,-1 0 0,1 2 0,0 0 0,0 1 0,1 0 0,0 1 0,0 0 0,2 0 0,0 0 0,-1 0 0,-1 1 0,0 1 0,0 0 0,1-2 0,0 0 0,1-1 0,2-4 0,0 0 0,0-2 0,1-2 0,1-1 0,-1-1 93,-16 15 0,0-2-93,-2-2 0,0-1 0,2-4 0,1-2 0,2-2 0,1-2 0,5-3 0,1-2 0,9-7 0,0-3 0,-30 25 570,15-17-570,15-14 0,13-11 0,12-8 0,7-5 0,5-3 0,2-1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CDED190-C85A-4EEB-A1EB-1901C56A4C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79" name="Rectangle 3">
            <a:extLst>
              <a:ext uri="{FF2B5EF4-FFF2-40B4-BE49-F238E27FC236}">
                <a16:creationId xmlns:a16="http://schemas.microsoft.com/office/drawing/2014/main" id="{0655F1E0-74A6-4ABE-A74F-C5A8380BFA9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8" charset="0"/>
                <a:ea typeface="+mn-ea"/>
                <a:cs typeface="+mn-cs"/>
              </a:defRPr>
            </a:lvl1pPr>
          </a:lstStyle>
          <a:p>
            <a:pPr>
              <a:defRPr/>
            </a:pPr>
            <a:endParaRPr lang="en-GB"/>
          </a:p>
        </p:txBody>
      </p:sp>
      <p:sp>
        <p:nvSpPr>
          <p:cNvPr id="17412" name="Rectangle 4">
            <a:extLst>
              <a:ext uri="{FF2B5EF4-FFF2-40B4-BE49-F238E27FC236}">
                <a16:creationId xmlns:a16="http://schemas.microsoft.com/office/drawing/2014/main" id="{239D27DB-871C-48E4-B1B8-EB53F7C55BF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a:extLst>
              <a:ext uri="{FF2B5EF4-FFF2-40B4-BE49-F238E27FC236}">
                <a16:creationId xmlns:a16="http://schemas.microsoft.com/office/drawing/2014/main" id="{E7A024B9-B67B-458A-8471-B44168829B2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a:extLst>
              <a:ext uri="{FF2B5EF4-FFF2-40B4-BE49-F238E27FC236}">
                <a16:creationId xmlns:a16="http://schemas.microsoft.com/office/drawing/2014/main" id="{F7524B1E-34EB-45B9-96BD-91AF1A2198C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83" name="Rectangle 7">
            <a:extLst>
              <a:ext uri="{FF2B5EF4-FFF2-40B4-BE49-F238E27FC236}">
                <a16:creationId xmlns:a16="http://schemas.microsoft.com/office/drawing/2014/main" id="{47600296-FB72-4539-B5EE-9B1A8B64E15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A6BE7A43-217B-4633-9421-66A68FB7DE85}"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ＭＳ Ｐゴシック" pitchFamily="4"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cf6be79a1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1cf6be79a1a_0_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E7D98A70-487B-4728-A9D7-1B803D1B494D}"/>
              </a:ext>
            </a:extLst>
          </p:cNvPr>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endParaRPr>
          </a:p>
        </p:txBody>
      </p:sp>
      <p:pic>
        <p:nvPicPr>
          <p:cNvPr id="5" name="Picture 8">
            <a:extLst>
              <a:ext uri="{FF2B5EF4-FFF2-40B4-BE49-F238E27FC236}">
                <a16:creationId xmlns:a16="http://schemas.microsoft.com/office/drawing/2014/main" id="{98EA87B0-079E-48D1-9973-2B539049372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a:extLst>
              <a:ext uri="{FF2B5EF4-FFF2-40B4-BE49-F238E27FC236}">
                <a16:creationId xmlns:a16="http://schemas.microsoft.com/office/drawing/2014/main" id="{E3B923CC-9860-484D-92F7-4512ABCE3FCC}"/>
              </a:ext>
            </a:extLst>
          </p:cNvPr>
          <p:cNvSpPr>
            <a:spLocks noGrp="1" noChangeArrowheads="1"/>
          </p:cNvSpPr>
          <p:nvPr>
            <p:ph type="sldNum" sz="quarter" idx="10"/>
          </p:nvPr>
        </p:nvSpPr>
        <p:spPr>
          <a:xfrm>
            <a:off x="6553200" y="6245225"/>
            <a:ext cx="2133600" cy="476250"/>
          </a:xfrm>
        </p:spPr>
        <p:txBody>
          <a:bodyPr/>
          <a:lstStyle>
            <a:lvl1pPr>
              <a:defRPr/>
            </a:lvl1pPr>
          </a:lstStyle>
          <a:p>
            <a:fld id="{F2C9F87C-62B5-4E19-8D0E-4A9347E57DAE}" type="slidenum">
              <a:rPr lang="en-GB" altLang="en-US"/>
              <a:pPr/>
              <a:t>‹#›</a:t>
            </a:fld>
            <a:endParaRPr lang="en-GB" altLang="en-US"/>
          </a:p>
        </p:txBody>
      </p:sp>
    </p:spTree>
    <p:extLst>
      <p:ext uri="{BB962C8B-B14F-4D97-AF65-F5344CB8AC3E}">
        <p14:creationId xmlns:p14="http://schemas.microsoft.com/office/powerpoint/2010/main" val="2975712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DB7065B3-DB2A-4897-9CA5-7EF36075B0E7}"/>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3B703E5-57BF-4F63-89C6-70152B1BF97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CFDEBD90-266A-4F75-88B6-97EA2688182A}"/>
              </a:ext>
            </a:extLst>
          </p:cNvPr>
          <p:cNvSpPr>
            <a:spLocks noGrp="1" noChangeArrowheads="1"/>
          </p:cNvSpPr>
          <p:nvPr>
            <p:ph type="sldNum" sz="quarter" idx="12"/>
          </p:nvPr>
        </p:nvSpPr>
        <p:spPr>
          <a:ln/>
        </p:spPr>
        <p:txBody>
          <a:bodyPr/>
          <a:lstStyle>
            <a:lvl1pPr>
              <a:defRPr/>
            </a:lvl1pPr>
          </a:lstStyle>
          <a:p>
            <a:fld id="{BB7E9F46-5A80-41CD-A534-A8E65DD9D47A}" type="slidenum">
              <a:rPr lang="en-GB" altLang="en-US"/>
              <a:pPr/>
              <a:t>‹#›</a:t>
            </a:fld>
            <a:endParaRPr lang="en-GB" altLang="en-US"/>
          </a:p>
        </p:txBody>
      </p:sp>
    </p:spTree>
    <p:extLst>
      <p:ext uri="{BB962C8B-B14F-4D97-AF65-F5344CB8AC3E}">
        <p14:creationId xmlns:p14="http://schemas.microsoft.com/office/powerpoint/2010/main" val="21367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293B0A0-55A2-4174-8C16-5705870DA32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95EDA575-2CB5-4706-8804-0B9765F17D8A}"/>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66A56BCA-7C9A-401E-9031-1A199137D06A}"/>
              </a:ext>
            </a:extLst>
          </p:cNvPr>
          <p:cNvSpPr>
            <a:spLocks noGrp="1" noChangeArrowheads="1"/>
          </p:cNvSpPr>
          <p:nvPr>
            <p:ph type="sldNum" sz="quarter" idx="12"/>
          </p:nvPr>
        </p:nvSpPr>
        <p:spPr>
          <a:ln/>
        </p:spPr>
        <p:txBody>
          <a:bodyPr/>
          <a:lstStyle>
            <a:lvl1pPr>
              <a:defRPr/>
            </a:lvl1pPr>
          </a:lstStyle>
          <a:p>
            <a:fld id="{0FD05565-90A1-44FD-83CB-0555DC339D65}" type="slidenum">
              <a:rPr lang="en-GB" altLang="en-US"/>
              <a:pPr/>
              <a:t>‹#›</a:t>
            </a:fld>
            <a:endParaRPr lang="en-GB" altLang="en-US"/>
          </a:p>
        </p:txBody>
      </p:sp>
    </p:spTree>
    <p:extLst>
      <p:ext uri="{BB962C8B-B14F-4D97-AF65-F5344CB8AC3E}">
        <p14:creationId xmlns:p14="http://schemas.microsoft.com/office/powerpoint/2010/main" val="101408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3D54FF9E-AC47-44F2-BA73-14ECFE4624E7}"/>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877F90EE-DF76-44D8-8AB3-4FF725DFA25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C49ADFEE-F40A-4A0E-A2CF-1FC66A1F7A42}"/>
              </a:ext>
            </a:extLst>
          </p:cNvPr>
          <p:cNvSpPr>
            <a:spLocks noGrp="1" noChangeArrowheads="1"/>
          </p:cNvSpPr>
          <p:nvPr>
            <p:ph type="sldNum" sz="quarter" idx="12"/>
          </p:nvPr>
        </p:nvSpPr>
        <p:spPr>
          <a:ln/>
        </p:spPr>
        <p:txBody>
          <a:bodyPr/>
          <a:lstStyle>
            <a:lvl1pPr>
              <a:defRPr/>
            </a:lvl1pPr>
          </a:lstStyle>
          <a:p>
            <a:fld id="{70B508F2-CAD7-4FBC-AEA0-C08F5D72C042}" type="slidenum">
              <a:rPr lang="en-GB" altLang="en-US"/>
              <a:pPr/>
              <a:t>‹#›</a:t>
            </a:fld>
            <a:endParaRPr lang="en-GB" altLang="en-US"/>
          </a:p>
        </p:txBody>
      </p:sp>
    </p:spTree>
    <p:extLst>
      <p:ext uri="{BB962C8B-B14F-4D97-AF65-F5344CB8AC3E}">
        <p14:creationId xmlns:p14="http://schemas.microsoft.com/office/powerpoint/2010/main" val="3764970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67F481EC-1D4E-4EF3-A091-A25E4A4B8C73}"/>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8138317B-28D9-49D8-A123-A8590135EEE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ACFB1E13-816C-4886-B6B6-5774D9119571}"/>
              </a:ext>
            </a:extLst>
          </p:cNvPr>
          <p:cNvSpPr>
            <a:spLocks noGrp="1" noChangeArrowheads="1"/>
          </p:cNvSpPr>
          <p:nvPr>
            <p:ph type="sldNum" sz="quarter" idx="12"/>
          </p:nvPr>
        </p:nvSpPr>
        <p:spPr>
          <a:ln/>
        </p:spPr>
        <p:txBody>
          <a:bodyPr/>
          <a:lstStyle>
            <a:lvl1pPr>
              <a:defRPr/>
            </a:lvl1pPr>
          </a:lstStyle>
          <a:p>
            <a:fld id="{1C46294A-479E-43D1-A0FB-37ED22F26209}" type="slidenum">
              <a:rPr lang="en-GB" altLang="en-US"/>
              <a:pPr/>
              <a:t>‹#›</a:t>
            </a:fld>
            <a:endParaRPr lang="en-GB" altLang="en-US"/>
          </a:p>
        </p:txBody>
      </p:sp>
    </p:spTree>
    <p:extLst>
      <p:ext uri="{BB962C8B-B14F-4D97-AF65-F5344CB8AC3E}">
        <p14:creationId xmlns:p14="http://schemas.microsoft.com/office/powerpoint/2010/main" val="2741507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368FE45D-97F6-4F23-953B-02AC20E845A8}"/>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1A535A86-3295-47B6-9B35-2EFC223058D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1B1113C9-C330-47A7-9380-221F281D98C5}"/>
              </a:ext>
            </a:extLst>
          </p:cNvPr>
          <p:cNvSpPr>
            <a:spLocks noGrp="1" noChangeArrowheads="1"/>
          </p:cNvSpPr>
          <p:nvPr>
            <p:ph type="sldNum" sz="quarter" idx="12"/>
          </p:nvPr>
        </p:nvSpPr>
        <p:spPr>
          <a:ln/>
        </p:spPr>
        <p:txBody>
          <a:bodyPr/>
          <a:lstStyle>
            <a:lvl1pPr>
              <a:defRPr/>
            </a:lvl1pPr>
          </a:lstStyle>
          <a:p>
            <a:fld id="{A2DCC676-EC22-4CE5-8053-A7C760DF36F0}" type="slidenum">
              <a:rPr lang="en-GB" altLang="en-US"/>
              <a:pPr/>
              <a:t>‹#›</a:t>
            </a:fld>
            <a:endParaRPr lang="en-GB" altLang="en-US"/>
          </a:p>
        </p:txBody>
      </p:sp>
    </p:spTree>
    <p:extLst>
      <p:ext uri="{BB962C8B-B14F-4D97-AF65-F5344CB8AC3E}">
        <p14:creationId xmlns:p14="http://schemas.microsoft.com/office/powerpoint/2010/main" val="1828434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103FBB2-013D-451C-8DA1-2B707BC35896}"/>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A3B04C32-17CA-4CD8-8CF6-DC7156B56BE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EBC29EB4-15F1-41B0-AA7B-2C90EC28F550}"/>
              </a:ext>
            </a:extLst>
          </p:cNvPr>
          <p:cNvSpPr>
            <a:spLocks noGrp="1" noChangeArrowheads="1"/>
          </p:cNvSpPr>
          <p:nvPr>
            <p:ph type="sldNum" sz="quarter" idx="12"/>
          </p:nvPr>
        </p:nvSpPr>
        <p:spPr>
          <a:ln/>
        </p:spPr>
        <p:txBody>
          <a:bodyPr/>
          <a:lstStyle>
            <a:lvl1pPr>
              <a:defRPr/>
            </a:lvl1pPr>
          </a:lstStyle>
          <a:p>
            <a:fld id="{45CD5162-D492-4199-BD40-3F82F11DB62D}" type="slidenum">
              <a:rPr lang="en-GB" altLang="en-US"/>
              <a:pPr/>
              <a:t>‹#›</a:t>
            </a:fld>
            <a:endParaRPr lang="en-GB" altLang="en-US"/>
          </a:p>
        </p:txBody>
      </p:sp>
    </p:spTree>
    <p:extLst>
      <p:ext uri="{BB962C8B-B14F-4D97-AF65-F5344CB8AC3E}">
        <p14:creationId xmlns:p14="http://schemas.microsoft.com/office/powerpoint/2010/main" val="3474616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80CA933-82E9-4E80-9B91-D0A0079541CD}"/>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E8E16F67-DF47-4F8F-ACE2-03E7F6C22D0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3DD91086-B541-4741-B7F9-48C3BC9D2A72}"/>
              </a:ext>
            </a:extLst>
          </p:cNvPr>
          <p:cNvSpPr>
            <a:spLocks noGrp="1" noChangeArrowheads="1"/>
          </p:cNvSpPr>
          <p:nvPr>
            <p:ph type="sldNum" sz="quarter" idx="12"/>
          </p:nvPr>
        </p:nvSpPr>
        <p:spPr>
          <a:ln/>
        </p:spPr>
        <p:txBody>
          <a:bodyPr/>
          <a:lstStyle>
            <a:lvl1pPr>
              <a:defRPr/>
            </a:lvl1pPr>
          </a:lstStyle>
          <a:p>
            <a:fld id="{49339264-43A1-4303-AE05-A7BCA957273F}" type="slidenum">
              <a:rPr lang="en-GB" altLang="en-US"/>
              <a:pPr/>
              <a:t>‹#›</a:t>
            </a:fld>
            <a:endParaRPr lang="en-GB" altLang="en-US"/>
          </a:p>
        </p:txBody>
      </p:sp>
    </p:spTree>
    <p:extLst>
      <p:ext uri="{BB962C8B-B14F-4D97-AF65-F5344CB8AC3E}">
        <p14:creationId xmlns:p14="http://schemas.microsoft.com/office/powerpoint/2010/main" val="4249546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D230F2C-5ED7-48B7-93DF-F98825A2B612}"/>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943E55C6-95B7-4F82-8B6E-8FD6F3E5CA7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4B8282B5-5F3F-4E55-AD2D-558D221400D9}"/>
              </a:ext>
            </a:extLst>
          </p:cNvPr>
          <p:cNvSpPr>
            <a:spLocks noGrp="1" noChangeArrowheads="1"/>
          </p:cNvSpPr>
          <p:nvPr>
            <p:ph type="sldNum" sz="quarter" idx="12"/>
          </p:nvPr>
        </p:nvSpPr>
        <p:spPr>
          <a:ln/>
        </p:spPr>
        <p:txBody>
          <a:bodyPr/>
          <a:lstStyle>
            <a:lvl1pPr>
              <a:defRPr/>
            </a:lvl1pPr>
          </a:lstStyle>
          <a:p>
            <a:fld id="{F4BDEBBC-E5CE-4EE4-8A5B-709748107BDA}" type="slidenum">
              <a:rPr lang="en-GB" altLang="en-US"/>
              <a:pPr/>
              <a:t>‹#›</a:t>
            </a:fld>
            <a:endParaRPr lang="en-GB" altLang="en-US"/>
          </a:p>
        </p:txBody>
      </p:sp>
    </p:spTree>
    <p:extLst>
      <p:ext uri="{BB962C8B-B14F-4D97-AF65-F5344CB8AC3E}">
        <p14:creationId xmlns:p14="http://schemas.microsoft.com/office/powerpoint/2010/main" val="1757265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0B105543-3961-4D67-865A-BEC847251F4F}"/>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EB2903D0-14E9-44FE-A9B7-39D5B7D48D7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03863D1D-A353-4A2F-831D-5B10EAB528AD}"/>
              </a:ext>
            </a:extLst>
          </p:cNvPr>
          <p:cNvSpPr>
            <a:spLocks noGrp="1" noChangeArrowheads="1"/>
          </p:cNvSpPr>
          <p:nvPr>
            <p:ph type="sldNum" sz="quarter" idx="12"/>
          </p:nvPr>
        </p:nvSpPr>
        <p:spPr>
          <a:ln/>
        </p:spPr>
        <p:txBody>
          <a:bodyPr/>
          <a:lstStyle>
            <a:lvl1pPr>
              <a:defRPr/>
            </a:lvl1pPr>
          </a:lstStyle>
          <a:p>
            <a:fld id="{51572E90-9466-4840-B487-A38D40F4D41D}" type="slidenum">
              <a:rPr lang="en-GB" altLang="en-US"/>
              <a:pPr/>
              <a:t>‹#›</a:t>
            </a:fld>
            <a:endParaRPr lang="en-GB" altLang="en-US"/>
          </a:p>
        </p:txBody>
      </p:sp>
    </p:spTree>
    <p:extLst>
      <p:ext uri="{BB962C8B-B14F-4D97-AF65-F5344CB8AC3E}">
        <p14:creationId xmlns:p14="http://schemas.microsoft.com/office/powerpoint/2010/main" val="2784626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F58AE52A-C305-4FAD-A6C4-F4EBFF1D2BC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B627E335-0FD1-418C-BBD2-50D6A051C34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AA2C1394-F8C2-4BBE-BBFF-77F6BDBD4111}"/>
              </a:ext>
            </a:extLst>
          </p:cNvPr>
          <p:cNvSpPr>
            <a:spLocks noGrp="1" noChangeArrowheads="1"/>
          </p:cNvSpPr>
          <p:nvPr>
            <p:ph type="sldNum" sz="quarter" idx="12"/>
          </p:nvPr>
        </p:nvSpPr>
        <p:spPr>
          <a:ln/>
        </p:spPr>
        <p:txBody>
          <a:bodyPr/>
          <a:lstStyle>
            <a:lvl1pPr>
              <a:defRPr/>
            </a:lvl1pPr>
          </a:lstStyle>
          <a:p>
            <a:fld id="{00805F74-FF9C-49FF-84AE-1D2CF40AF0E9}" type="slidenum">
              <a:rPr lang="en-GB" altLang="en-US"/>
              <a:pPr/>
              <a:t>‹#›</a:t>
            </a:fld>
            <a:endParaRPr lang="en-GB" altLang="en-US"/>
          </a:p>
        </p:txBody>
      </p:sp>
    </p:spTree>
    <p:extLst>
      <p:ext uri="{BB962C8B-B14F-4D97-AF65-F5344CB8AC3E}">
        <p14:creationId xmlns:p14="http://schemas.microsoft.com/office/powerpoint/2010/main" val="2582737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840D1B3C-F303-41A2-85A7-69D02950E4BA}"/>
              </a:ext>
            </a:extLst>
          </p:cNvPr>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GB" altLang="en-US">
                <a:solidFill>
                  <a:srgbClr val="663366"/>
                </a:solidFill>
              </a:rPr>
              <a:t>∂</a:t>
            </a:r>
          </a:p>
        </p:txBody>
      </p:sp>
      <p:sp>
        <p:nvSpPr>
          <p:cNvPr id="1027" name="Rectangle 8">
            <a:extLst>
              <a:ext uri="{FF2B5EF4-FFF2-40B4-BE49-F238E27FC236}">
                <a16:creationId xmlns:a16="http://schemas.microsoft.com/office/drawing/2014/main" id="{17064862-FEF8-44F4-A591-A054D05CC556}"/>
              </a:ext>
            </a:extLst>
          </p:cNvPr>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endParaRPr>
          </a:p>
        </p:txBody>
      </p:sp>
      <p:sp>
        <p:nvSpPr>
          <p:cNvPr id="1028" name="Rectangle 2">
            <a:extLst>
              <a:ext uri="{FF2B5EF4-FFF2-40B4-BE49-F238E27FC236}">
                <a16:creationId xmlns:a16="http://schemas.microsoft.com/office/drawing/2014/main" id="{FED3A094-A454-4CEB-A5D7-6CD73EA7F40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a:extLst>
              <a:ext uri="{FF2B5EF4-FFF2-40B4-BE49-F238E27FC236}">
                <a16:creationId xmlns:a16="http://schemas.microsoft.com/office/drawing/2014/main" id="{25C014C2-F577-4B6F-8960-3E7F9657EBB9}"/>
              </a:ext>
            </a:extLst>
          </p:cNvPr>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14101EC0-BD92-47B6-9006-BF1573C4C3CE}"/>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pitchFamily="18" charset="0"/>
                <a:ea typeface="+mn-ea"/>
                <a:cs typeface="+mn-cs"/>
              </a:defRPr>
            </a:lvl1pPr>
          </a:lstStyle>
          <a:p>
            <a:pPr>
              <a:defRPr/>
            </a:pPr>
            <a:endParaRPr lang="en-GB"/>
          </a:p>
        </p:txBody>
      </p:sp>
      <p:sp>
        <p:nvSpPr>
          <p:cNvPr id="3" name="Rectangle 5">
            <a:extLst>
              <a:ext uri="{FF2B5EF4-FFF2-40B4-BE49-F238E27FC236}">
                <a16:creationId xmlns:a16="http://schemas.microsoft.com/office/drawing/2014/main" id="{2A729635-DE0C-4E7B-90F9-EA97496CA15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8" charset="0"/>
                <a:ea typeface="+mn-ea"/>
                <a:cs typeface="+mn-cs"/>
              </a:defRPr>
            </a:lvl1pPr>
          </a:lstStyle>
          <a:p>
            <a:pPr>
              <a:defRPr/>
            </a:pPr>
            <a:endParaRPr lang="en-GB"/>
          </a:p>
        </p:txBody>
      </p:sp>
      <p:sp>
        <p:nvSpPr>
          <p:cNvPr id="1030" name="Rectangle 6">
            <a:extLst>
              <a:ext uri="{FF2B5EF4-FFF2-40B4-BE49-F238E27FC236}">
                <a16:creationId xmlns:a16="http://schemas.microsoft.com/office/drawing/2014/main" id="{226281E7-5E9B-435D-9803-C8B033C9796F}"/>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052F1E3-6BBD-4277-A501-54C6E3B8ED24}" type="slidenum">
              <a:rPr lang="en-GB" altLang="en-US"/>
              <a:pPr/>
              <a:t>‹#›</a:t>
            </a:fld>
            <a:endParaRPr lang="en-GB" altLang="en-US"/>
          </a:p>
        </p:txBody>
      </p:sp>
      <p:sp>
        <p:nvSpPr>
          <p:cNvPr id="1033" name="Rectangle 9">
            <a:extLst>
              <a:ext uri="{FF2B5EF4-FFF2-40B4-BE49-F238E27FC236}">
                <a16:creationId xmlns:a16="http://schemas.microsoft.com/office/drawing/2014/main" id="{0D3AD312-8DA0-4889-BC50-484AA5D556C0}"/>
              </a:ext>
            </a:extLst>
          </p:cNvPr>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a typeface="+mn-ea"/>
            </a:endParaRPr>
          </a:p>
        </p:txBody>
      </p:sp>
      <p:sp>
        <p:nvSpPr>
          <p:cNvPr id="1034" name="Rectangle 10">
            <a:extLst>
              <a:ext uri="{FF2B5EF4-FFF2-40B4-BE49-F238E27FC236}">
                <a16:creationId xmlns:a16="http://schemas.microsoft.com/office/drawing/2014/main" id="{A77EF1F3-FDE3-4C56-8605-EF36FE6477FB}"/>
              </a:ext>
            </a:extLst>
          </p:cNvPr>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a typeface="+mn-ea"/>
            </a:endParaRPr>
          </a:p>
        </p:txBody>
      </p:sp>
      <p:pic>
        <p:nvPicPr>
          <p:cNvPr id="1035" name="Picture 11">
            <a:extLst>
              <a:ext uri="{FF2B5EF4-FFF2-40B4-BE49-F238E27FC236}">
                <a16:creationId xmlns:a16="http://schemas.microsoft.com/office/drawing/2014/main" id="{DF4DC3FC-C296-4567-B7A8-8554D76000F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35"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xStyles>
    <p:titleStyle>
      <a:lvl1pPr algn="l" rtl="0" eaLnBrk="0" fontAlgn="base" hangingPunct="0">
        <a:spcBef>
          <a:spcPct val="0"/>
        </a:spcBef>
        <a:spcAft>
          <a:spcPct val="0"/>
        </a:spcAft>
        <a:defRPr sz="4400">
          <a:solidFill>
            <a:srgbClr val="663366"/>
          </a:solidFill>
          <a:latin typeface="+mj-lt"/>
          <a:ea typeface="ＭＳ Ｐゴシック" pitchFamily="4" charset="-128"/>
          <a:cs typeface="ＭＳ Ｐゴシック" pitchFamily="4" charset="-128"/>
        </a:defRPr>
      </a:lvl1pPr>
      <a:lvl2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2pPr>
      <a:lvl3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3pPr>
      <a:lvl4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4pPr>
      <a:lvl5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6.xml"/><Relationship Id="rId6" Type="http://schemas.openxmlformats.org/officeDocument/2006/relationships/customXml" Target="../ink/ink3.xml"/><Relationship Id="rId5" Type="http://schemas.openxmlformats.org/officeDocument/2006/relationships/image" Target="../media/image3.png"/><Relationship Id="rId4" Type="http://schemas.openxmlformats.org/officeDocument/2006/relationships/customXml" Target="../ink/ink2.xml"/><Relationship Id="rId9" Type="http://schemas.openxmlformats.org/officeDocument/2006/relationships/customXml" Target="../ink/ink5.xml"/></Relationships>
</file>

<file path=ppt/slides/_rels/slide7.xml.rels><?xml version="1.0" encoding="UTF-8" standalone="yes"?>
<Relationships xmlns="http://schemas.openxmlformats.org/package/2006/relationships"><Relationship Id="rId2" Type="http://schemas.openxmlformats.org/officeDocument/2006/relationships/hyperlink" Target="https://www.theguardian.com/world/2018/oct/23/russian-banker-loses-9m-london-home-in-legal-fight-with-moscow"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janisjoplin.net/life/autopsy/"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6460FE0C-EB8B-4990-BE5E-D40B39613C8E}"/>
              </a:ext>
            </a:extLst>
          </p:cNvPr>
          <p:cNvSpPr>
            <a:spLocks noGrp="1"/>
          </p:cNvSpPr>
          <p:nvPr>
            <p:ph type="ctrTitle" sz="quarter"/>
          </p:nvPr>
        </p:nvSpPr>
        <p:spPr>
          <a:xfrm>
            <a:off x="721519" y="620688"/>
            <a:ext cx="7772400" cy="1470025"/>
          </a:xfrm>
        </p:spPr>
        <p:txBody>
          <a:bodyPr/>
          <a:lstStyle/>
          <a:p>
            <a:br>
              <a:rPr lang="en-US" altLang="en-US" dirty="0">
                <a:ea typeface="ＭＳ Ｐゴシック" panose="020B0600070205080204" pitchFamily="34" charset="-128"/>
              </a:rPr>
            </a:br>
            <a:br>
              <a:rPr lang="en-US" altLang="en-US" dirty="0">
                <a:ea typeface="ＭＳ Ｐゴシック" panose="020B0600070205080204" pitchFamily="34" charset="-128"/>
              </a:rPr>
            </a:br>
            <a:br>
              <a:rPr lang="en-US" altLang="en-US" dirty="0">
                <a:ea typeface="ＭＳ Ｐゴシック" panose="020B0600070205080204" pitchFamily="34" charset="-128"/>
              </a:rPr>
            </a:br>
            <a:r>
              <a:rPr lang="en-US" altLang="en-US" dirty="0">
                <a:latin typeface="+mn-lt"/>
                <a:ea typeface="ＭＳ Ｐゴシック" panose="020B0600070205080204" pitchFamily="34" charset="-128"/>
                <a:cs typeface="Times New Roman" panose="02020603050405020304" pitchFamily="18" charset="0"/>
              </a:rPr>
              <a:t>Trusts Law</a:t>
            </a:r>
            <a:br>
              <a:rPr lang="en-US" altLang="en-US" dirty="0">
                <a:latin typeface="+mn-lt"/>
                <a:ea typeface="ＭＳ Ｐゴシック" panose="020B0600070205080204" pitchFamily="34" charset="-128"/>
                <a:cs typeface="Times New Roman" panose="02020603050405020304" pitchFamily="18" charset="0"/>
              </a:rPr>
            </a:br>
            <a:br>
              <a:rPr lang="en-US" altLang="en-US" dirty="0">
                <a:latin typeface="+mn-lt"/>
                <a:ea typeface="ＭＳ Ｐゴシック" panose="020B0600070205080204" pitchFamily="34" charset="-128"/>
                <a:cs typeface="Times New Roman" panose="02020603050405020304" pitchFamily="18" charset="0"/>
              </a:rPr>
            </a:br>
            <a:r>
              <a:rPr lang="en-US" altLang="en-US" dirty="0">
                <a:latin typeface="+mn-lt"/>
                <a:ea typeface="ＭＳ Ｐゴシック" panose="020B0600070205080204" pitchFamily="34" charset="-128"/>
                <a:cs typeface="Times New Roman" panose="02020603050405020304" pitchFamily="18" charset="0"/>
              </a:rPr>
              <a:t>Week 4: </a:t>
            </a:r>
            <a:r>
              <a:rPr lang="en-GB" altLang="en-US" dirty="0">
                <a:latin typeface="+mn-lt"/>
                <a:ea typeface="ＭＳ Ｐゴシック" panose="020B0600070205080204" pitchFamily="34" charset="-128"/>
                <a:cs typeface="Times New Roman" panose="02020603050405020304" pitchFamily="18" charset="0"/>
              </a:rPr>
              <a:t>Formalities (II)</a:t>
            </a:r>
            <a:br>
              <a:rPr lang="en-US" altLang="en-US" dirty="0">
                <a:latin typeface="Times New Roman" panose="02020603050405020304" pitchFamily="18" charset="0"/>
                <a:ea typeface="ＭＳ Ｐゴシック" panose="020B0600070205080204" pitchFamily="34" charset="-128"/>
                <a:cs typeface="Times New Roman" panose="02020603050405020304" pitchFamily="18" charset="0"/>
              </a:rPr>
            </a:br>
            <a:br>
              <a:rPr lang="en-US" altLang="en-US" sz="3600" dirty="0">
                <a:ea typeface="ＭＳ Ｐゴシック" panose="020B0600070205080204" pitchFamily="34" charset="-128"/>
              </a:rPr>
            </a:br>
            <a:endParaRPr lang="en-GB" altLang="en-US" sz="2800" dirty="0">
              <a:ea typeface="ＭＳ Ｐゴシック" panose="020B0600070205080204" pitchFamily="34" charset="-128"/>
            </a:endParaRPr>
          </a:p>
        </p:txBody>
      </p:sp>
      <p:sp>
        <p:nvSpPr>
          <p:cNvPr id="3075" name="Subtitle 2">
            <a:extLst>
              <a:ext uri="{FF2B5EF4-FFF2-40B4-BE49-F238E27FC236}">
                <a16:creationId xmlns:a16="http://schemas.microsoft.com/office/drawing/2014/main" id="{7FFE0D80-7360-4E4C-99B0-DA887E96E9AA}"/>
              </a:ext>
            </a:extLst>
          </p:cNvPr>
          <p:cNvSpPr>
            <a:spLocks noGrp="1"/>
          </p:cNvSpPr>
          <p:nvPr>
            <p:ph type="subTitle" sz="quarter" idx="1"/>
          </p:nvPr>
        </p:nvSpPr>
        <p:spPr>
          <a:xfrm>
            <a:off x="751547" y="3284984"/>
            <a:ext cx="7561262" cy="1223963"/>
          </a:xfrm>
        </p:spPr>
        <p:txBody>
          <a:bodyPr/>
          <a:lstStyle/>
          <a:p>
            <a:pPr eaLnBrk="1" hangingPunct="1">
              <a:lnSpc>
                <a:spcPct val="110000"/>
              </a:lnSpc>
              <a:spcBef>
                <a:spcPct val="0"/>
              </a:spcBef>
            </a:pPr>
            <a:endParaRPr lang="en-GB" altLang="en-US" b="0" dirty="0">
              <a:latin typeface="Calibri" panose="020F0502020204030204" pitchFamily="34" charset="0"/>
              <a:ea typeface="ＭＳ Ｐゴシック" panose="020B0600070205080204" pitchFamily="34" charset="-128"/>
            </a:endParaRPr>
          </a:p>
          <a:p>
            <a:pPr eaLnBrk="1" hangingPunct="1">
              <a:lnSpc>
                <a:spcPct val="110000"/>
              </a:lnSpc>
              <a:spcBef>
                <a:spcPct val="0"/>
              </a:spcBef>
            </a:pPr>
            <a:r>
              <a:rPr lang="en-GB" altLang="en-US" b="0" dirty="0">
                <a:latin typeface="Calibri" panose="020F0502020204030204" pitchFamily="34" charset="0"/>
                <a:ea typeface="ＭＳ Ｐゴシック" panose="020B0600070205080204" pitchFamily="34" charset="-128"/>
              </a:rPr>
              <a:t>Dr Johanna Jacques</a:t>
            </a:r>
          </a:p>
          <a:p>
            <a:pPr eaLnBrk="1" hangingPunct="1">
              <a:lnSpc>
                <a:spcPct val="110000"/>
              </a:lnSpc>
              <a:spcBef>
                <a:spcPct val="0"/>
              </a:spcBef>
            </a:pPr>
            <a:endParaRPr lang="en-GB" altLang="en-US" b="0" dirty="0">
              <a:ea typeface="ＭＳ Ｐゴシック" panose="020B0600070205080204" pitchFamily="34" charset="-128"/>
            </a:endParaRPr>
          </a:p>
          <a:p>
            <a:pPr eaLnBrk="1" hangingPunct="1"/>
            <a:endParaRPr lang="en-GB"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C9CC1-A00D-5324-FFDB-2EAEC20D0EE3}"/>
            </a:ext>
          </a:extLst>
        </p:cNvPr>
        <p:cNvGrpSpPr/>
        <p:nvPr/>
      </p:nvGrpSpPr>
      <p:grpSpPr>
        <a:xfrm>
          <a:off x="0" y="0"/>
          <a:ext cx="0" cy="0"/>
          <a:chOff x="0" y="0"/>
          <a:chExt cx="0" cy="0"/>
        </a:xfrm>
      </p:grpSpPr>
      <p:sp>
        <p:nvSpPr>
          <p:cNvPr id="4098" name="Title 1">
            <a:extLst>
              <a:ext uri="{FF2B5EF4-FFF2-40B4-BE49-F238E27FC236}">
                <a16:creationId xmlns:a16="http://schemas.microsoft.com/office/drawing/2014/main" id="{10AA46B7-745C-8D5C-D1B7-00E0A88BC478}"/>
              </a:ext>
            </a:extLst>
          </p:cNvPr>
          <p:cNvSpPr>
            <a:spLocks noGrp="1"/>
          </p:cNvSpPr>
          <p:nvPr>
            <p:ph type="title"/>
          </p:nvPr>
        </p:nvSpPr>
        <p:spPr>
          <a:xfrm>
            <a:off x="683568" y="838200"/>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Some more trusts terminology</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038A716D-A7B5-1DA0-146D-A43A745C2DC9}"/>
              </a:ext>
            </a:extLst>
          </p:cNvPr>
          <p:cNvSpPr>
            <a:spLocks noGrp="1"/>
          </p:cNvSpPr>
          <p:nvPr>
            <p:ph idx="1"/>
          </p:nvPr>
        </p:nvSpPr>
        <p:spPr>
          <a:xfrm>
            <a:off x="611560" y="1700808"/>
            <a:ext cx="7772400" cy="3895725"/>
          </a:xfrm>
        </p:spPr>
        <p:txBody>
          <a:bodyPr/>
          <a:lstStyle/>
          <a:p>
            <a:pPr>
              <a:buFont typeface="Arial" panose="020B0604020202020204" pitchFamily="34" charset="0"/>
              <a:buChar char="•"/>
              <a:defRPr/>
            </a:pPr>
            <a:r>
              <a:rPr lang="en-US" altLang="en-US" sz="2000" b="1" kern="1200" dirty="0">
                <a:cs typeface="+mn-cs"/>
              </a:rPr>
              <a:t>Fixed trust</a:t>
            </a:r>
            <a:r>
              <a:rPr lang="en-US" altLang="en-US" sz="2000" kern="1200" dirty="0">
                <a:cs typeface="+mn-cs"/>
              </a:rPr>
              <a:t>: A trust which assigns fixed interests to beneficiaries.</a:t>
            </a:r>
          </a:p>
          <a:p>
            <a:pPr>
              <a:buFont typeface="Arial" panose="020B0604020202020204" pitchFamily="34" charset="0"/>
              <a:buChar char="•"/>
              <a:defRPr/>
            </a:pPr>
            <a:r>
              <a:rPr lang="en-US" altLang="en-US" sz="2000" b="1" kern="1200" dirty="0">
                <a:cs typeface="+mn-cs"/>
              </a:rPr>
              <a:t>Discretionary trust</a:t>
            </a:r>
            <a:r>
              <a:rPr lang="en-US" altLang="en-US" sz="2000" kern="1200" dirty="0">
                <a:cs typeface="+mn-cs"/>
              </a:rPr>
              <a:t>: A trust which does not assign fixed interests to beneficiaries but gives trustees a dispositive discretion.</a:t>
            </a:r>
            <a:endParaRPr lang="en-US" altLang="en-US" sz="2000" kern="1200" dirty="0">
              <a:highlight>
                <a:srgbClr val="FFFF00"/>
              </a:highlight>
              <a:cs typeface="+mn-cs"/>
            </a:endParaRPr>
          </a:p>
          <a:p>
            <a:pPr>
              <a:buFont typeface="Arial" panose="020B0604020202020204" pitchFamily="34" charset="0"/>
              <a:buChar char="•"/>
              <a:defRPr/>
            </a:pPr>
            <a:r>
              <a:rPr lang="en-US" altLang="en-US" sz="2000" b="1" kern="1200" dirty="0">
                <a:cs typeface="+mn-cs"/>
              </a:rPr>
              <a:t>Bare trust</a:t>
            </a:r>
            <a:r>
              <a:rPr lang="en-US" altLang="en-US" sz="2000" kern="1200" dirty="0">
                <a:cs typeface="+mn-cs"/>
              </a:rPr>
              <a:t>: A trust in which the trustee holds/transfers the property on instruction of the beneficiary and has no other ongoing duties.</a:t>
            </a:r>
          </a:p>
          <a:p>
            <a:pPr>
              <a:buFont typeface="Arial" panose="020B0604020202020204" pitchFamily="34" charset="0"/>
              <a:buChar char="•"/>
              <a:defRPr/>
            </a:pPr>
            <a:r>
              <a:rPr lang="en-US" altLang="en-US" sz="2000" b="1" kern="1200" dirty="0">
                <a:cs typeface="+mn-cs"/>
              </a:rPr>
              <a:t>Sub-trust</a:t>
            </a:r>
            <a:r>
              <a:rPr lang="en-US" altLang="en-US" sz="2000" kern="1200" dirty="0">
                <a:cs typeface="+mn-cs"/>
              </a:rPr>
              <a:t>: A trust in which the beneficiary becomes trustee of a secondary trust.</a:t>
            </a:r>
          </a:p>
          <a:p>
            <a:pPr>
              <a:buFont typeface="Arial" panose="020B0604020202020204" pitchFamily="34" charset="0"/>
              <a:buChar char="•"/>
              <a:defRPr/>
            </a:pPr>
            <a:r>
              <a:rPr lang="en-US" altLang="en-US" sz="2000" b="1" kern="1200" dirty="0">
                <a:cs typeface="+mn-cs"/>
              </a:rPr>
              <a:t>A trust of successive interests</a:t>
            </a:r>
            <a:r>
              <a:rPr lang="en-US" altLang="en-US" sz="2000" kern="1200" dirty="0">
                <a:cs typeface="+mn-cs"/>
              </a:rPr>
              <a:t>: A trust which structures interests on a temporal plane.</a:t>
            </a:r>
          </a:p>
        </p:txBody>
      </p:sp>
    </p:spTree>
    <p:extLst>
      <p:ext uri="{BB962C8B-B14F-4D97-AF65-F5344CB8AC3E}">
        <p14:creationId xmlns:p14="http://schemas.microsoft.com/office/powerpoint/2010/main" val="2691631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FA42874-E943-4685-8EB4-D6ACA20462EE}"/>
              </a:ext>
            </a:extLst>
          </p:cNvPr>
          <p:cNvSpPr>
            <a:spLocks noGrp="1"/>
          </p:cNvSpPr>
          <p:nvPr>
            <p:ph type="title"/>
          </p:nvPr>
        </p:nvSpPr>
        <p:spPr>
          <a:xfrm>
            <a:off x="683568" y="838200"/>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This week</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78BCE45D-2AE0-4FA7-94FF-64451A2F8CB5}"/>
              </a:ext>
            </a:extLst>
          </p:cNvPr>
          <p:cNvSpPr>
            <a:spLocks noGrp="1"/>
          </p:cNvSpPr>
          <p:nvPr>
            <p:ph idx="1"/>
          </p:nvPr>
        </p:nvSpPr>
        <p:spPr>
          <a:xfrm>
            <a:off x="609600" y="1981200"/>
            <a:ext cx="7772400" cy="3895725"/>
          </a:xfrm>
        </p:spPr>
        <p:txBody>
          <a:bodyPr/>
          <a:lstStyle/>
          <a:p>
            <a:pPr marL="0" indent="0">
              <a:defRPr/>
            </a:pPr>
            <a:r>
              <a:rPr lang="en-US" altLang="en-US" sz="2400" b="1" kern="1200" dirty="0">
                <a:latin typeface="Arial" panose="020B0604020202020204" pitchFamily="34" charset="0"/>
                <a:cs typeface="Arial" panose="020B0604020202020204" pitchFamily="34" charset="0"/>
              </a:rPr>
              <a:t>This week:</a:t>
            </a:r>
          </a:p>
          <a:p>
            <a:pPr>
              <a:buFontTx/>
              <a:buChar char="•"/>
              <a:defRPr/>
            </a:pPr>
            <a:r>
              <a:rPr lang="en-US" altLang="en-US" sz="2400" kern="1200" dirty="0">
                <a:cs typeface="+mn-cs"/>
              </a:rPr>
              <a:t>The policy reasons that may invalidate a trust</a:t>
            </a:r>
          </a:p>
          <a:p>
            <a:pPr>
              <a:buFontTx/>
              <a:buChar char="•"/>
              <a:defRPr/>
            </a:pPr>
            <a:r>
              <a:rPr lang="en-US" altLang="en-US" sz="2400" kern="1200" dirty="0">
                <a:cs typeface="+mn-cs"/>
              </a:rPr>
              <a:t>The formalities that are required to dispose of an equitable interest under a trust</a:t>
            </a:r>
          </a:p>
          <a:p>
            <a:pPr>
              <a:buFontTx/>
              <a:buChar char="•"/>
              <a:defRPr/>
            </a:pPr>
            <a:r>
              <a:rPr lang="en-US" altLang="en-US" sz="2400" kern="1200" dirty="0">
                <a:cs typeface="+mn-cs"/>
              </a:rPr>
              <a:t>Examples of possible dispositions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45DDF-2080-94AF-A905-F79D1B9244A3}"/>
            </a:ext>
          </a:extLst>
        </p:cNvPr>
        <p:cNvGrpSpPr/>
        <p:nvPr/>
      </p:nvGrpSpPr>
      <p:grpSpPr>
        <a:xfrm>
          <a:off x="0" y="0"/>
          <a:ext cx="0" cy="0"/>
          <a:chOff x="0" y="0"/>
          <a:chExt cx="0" cy="0"/>
        </a:xfrm>
      </p:grpSpPr>
      <p:sp>
        <p:nvSpPr>
          <p:cNvPr id="4098" name="Title 1">
            <a:extLst>
              <a:ext uri="{FF2B5EF4-FFF2-40B4-BE49-F238E27FC236}">
                <a16:creationId xmlns:a16="http://schemas.microsoft.com/office/drawing/2014/main" id="{560D5D8E-42C2-AE43-FAB5-B76A2EB2B644}"/>
              </a:ext>
            </a:extLst>
          </p:cNvPr>
          <p:cNvSpPr>
            <a:spLocks noGrp="1"/>
          </p:cNvSpPr>
          <p:nvPr>
            <p:ph type="title"/>
          </p:nvPr>
        </p:nvSpPr>
        <p:spPr>
          <a:xfrm>
            <a:off x="683568" y="838200"/>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Learning objectives this week</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2" name="Content Placeholder 3">
            <a:extLst>
              <a:ext uri="{FF2B5EF4-FFF2-40B4-BE49-F238E27FC236}">
                <a16:creationId xmlns:a16="http://schemas.microsoft.com/office/drawing/2014/main" id="{2B0CF119-7040-B999-D319-E7E1E2892D10}"/>
              </a:ext>
            </a:extLst>
          </p:cNvPr>
          <p:cNvSpPr txBox="1">
            <a:spLocks/>
          </p:cNvSpPr>
          <p:nvPr/>
        </p:nvSpPr>
        <p:spPr bwMode="auto">
          <a:xfrm>
            <a:off x="1493658" y="2240868"/>
            <a:ext cx="2862318" cy="1512168"/>
          </a:xfrm>
          <a:prstGeom prst="roundRect">
            <a:avLst/>
          </a:prstGeom>
          <a:solidFill>
            <a:schemeClr val="accent1">
              <a:lumMod val="5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lvl1pPr marL="342900" indent="-342900" algn="l" rtl="0" eaLnBrk="0" fontAlgn="base" hangingPunct="0">
              <a:spcBef>
                <a:spcPct val="20000"/>
              </a:spcBef>
              <a:spcAft>
                <a:spcPct val="0"/>
              </a:spcAft>
              <a:defRPr>
                <a:solidFill>
                  <a:schemeClr val="lt1"/>
                </a:solidFill>
                <a:latin typeface="+mn-lt"/>
                <a:ea typeface="+mn-ea"/>
                <a:cs typeface="+mn-cs"/>
              </a:defRPr>
            </a:lvl1pPr>
            <a:lvl2pPr marL="742950" indent="-285750" algn="l" rtl="0" eaLnBrk="0" fontAlgn="base" hangingPunct="0">
              <a:spcBef>
                <a:spcPct val="20000"/>
              </a:spcBef>
              <a:spcAft>
                <a:spcPct val="0"/>
              </a:spcAft>
              <a:buChar char="–"/>
              <a:defRPr sz="1600">
                <a:solidFill>
                  <a:schemeClr val="lt1"/>
                </a:solidFill>
                <a:latin typeface="+mn-lt"/>
                <a:ea typeface="+mn-ea"/>
                <a:cs typeface="+mn-cs"/>
              </a:defRPr>
            </a:lvl2pPr>
            <a:lvl3pPr marL="1143000" indent="-228600" algn="l" rtl="0" eaLnBrk="0" fontAlgn="base" hangingPunct="0">
              <a:spcBef>
                <a:spcPct val="20000"/>
              </a:spcBef>
              <a:spcAft>
                <a:spcPct val="0"/>
              </a:spcAft>
              <a:buChar char="•"/>
              <a:defRPr sz="1400">
                <a:solidFill>
                  <a:schemeClr val="lt1"/>
                </a:solidFill>
                <a:latin typeface="+mn-lt"/>
                <a:ea typeface="+mn-ea"/>
                <a:cs typeface="+mn-cs"/>
              </a:defRPr>
            </a:lvl3pPr>
            <a:lvl4pPr marL="1600200" indent="-228600" algn="l" rtl="0" eaLnBrk="0" fontAlgn="base" hangingPunct="0">
              <a:spcBef>
                <a:spcPct val="20000"/>
              </a:spcBef>
              <a:spcAft>
                <a:spcPct val="0"/>
              </a:spcAft>
              <a:buChar char="–"/>
              <a:defRPr sz="1200">
                <a:solidFill>
                  <a:schemeClr val="lt1"/>
                </a:solidFill>
                <a:latin typeface="+mn-lt"/>
                <a:ea typeface="+mn-ea"/>
                <a:cs typeface="+mn-cs"/>
              </a:defRPr>
            </a:lvl4pPr>
            <a:lvl5pPr marL="2057400" indent="-228600" algn="l" rtl="0" eaLnBrk="0" fontAlgn="base" hangingPunct="0">
              <a:spcBef>
                <a:spcPct val="20000"/>
              </a:spcBef>
              <a:spcAft>
                <a:spcPct val="0"/>
              </a:spcAft>
              <a:buChar char="»"/>
              <a:defRPr sz="1200">
                <a:solidFill>
                  <a:schemeClr val="lt1"/>
                </a:solidFill>
                <a:latin typeface="+mn-lt"/>
                <a:ea typeface="+mn-ea"/>
                <a:cs typeface="+mn-cs"/>
              </a:defRPr>
            </a:lvl5pPr>
            <a:lvl6pPr marL="2514600" indent="-228600" algn="l" rtl="0" fontAlgn="base">
              <a:spcBef>
                <a:spcPct val="20000"/>
              </a:spcBef>
              <a:spcAft>
                <a:spcPct val="0"/>
              </a:spcAft>
              <a:buChar char="»"/>
              <a:defRPr sz="1200">
                <a:solidFill>
                  <a:schemeClr val="lt1"/>
                </a:solidFill>
                <a:latin typeface="+mn-lt"/>
                <a:ea typeface="+mn-ea"/>
                <a:cs typeface="+mn-cs"/>
              </a:defRPr>
            </a:lvl6pPr>
            <a:lvl7pPr marL="2971800" indent="-228600" algn="l" rtl="0" fontAlgn="base">
              <a:spcBef>
                <a:spcPct val="20000"/>
              </a:spcBef>
              <a:spcAft>
                <a:spcPct val="0"/>
              </a:spcAft>
              <a:buChar char="»"/>
              <a:defRPr sz="1200">
                <a:solidFill>
                  <a:schemeClr val="lt1"/>
                </a:solidFill>
                <a:latin typeface="+mn-lt"/>
                <a:ea typeface="+mn-ea"/>
                <a:cs typeface="+mn-cs"/>
              </a:defRPr>
            </a:lvl7pPr>
            <a:lvl8pPr marL="3429000" indent="-228600" algn="l" rtl="0" fontAlgn="base">
              <a:spcBef>
                <a:spcPct val="20000"/>
              </a:spcBef>
              <a:spcAft>
                <a:spcPct val="0"/>
              </a:spcAft>
              <a:buChar char="»"/>
              <a:defRPr sz="1200">
                <a:solidFill>
                  <a:schemeClr val="lt1"/>
                </a:solidFill>
                <a:latin typeface="+mn-lt"/>
                <a:ea typeface="+mn-ea"/>
                <a:cs typeface="+mn-cs"/>
              </a:defRPr>
            </a:lvl8pPr>
            <a:lvl9pPr marL="3886200" indent="-228600" algn="l" rtl="0" fontAlgn="base">
              <a:spcBef>
                <a:spcPct val="20000"/>
              </a:spcBef>
              <a:spcAft>
                <a:spcPct val="0"/>
              </a:spcAft>
              <a:buChar char="»"/>
              <a:defRPr sz="1200">
                <a:solidFill>
                  <a:schemeClr val="lt1"/>
                </a:solidFill>
                <a:latin typeface="+mn-lt"/>
                <a:ea typeface="+mn-ea"/>
                <a:cs typeface="+mn-cs"/>
              </a:defRPr>
            </a:lvl9pPr>
          </a:lstStyle>
          <a:p>
            <a:pPr algn="ctr"/>
            <a:r>
              <a:rPr lang="en-GB" sz="1800" b="1" kern="0" dirty="0">
                <a:ea typeface="+mn-lt"/>
                <a:cs typeface="+mn-lt"/>
              </a:rPr>
              <a:t>To have a good sense of the limitations that the law imposes on trust creation</a:t>
            </a:r>
            <a:endParaRPr lang="en-GB" sz="1800" b="1" kern="0" dirty="0">
              <a:solidFill>
                <a:srgbClr val="FF0000"/>
              </a:solidFill>
              <a:ea typeface="+mn-lt"/>
              <a:cs typeface="+mn-lt"/>
            </a:endParaRPr>
          </a:p>
        </p:txBody>
      </p:sp>
      <p:sp>
        <p:nvSpPr>
          <p:cNvPr id="3" name="Rounded Rectangle 2">
            <a:extLst>
              <a:ext uri="{FF2B5EF4-FFF2-40B4-BE49-F238E27FC236}">
                <a16:creationId xmlns:a16="http://schemas.microsoft.com/office/drawing/2014/main" id="{0698507E-85BF-B6C4-0581-759A37D7DB16}"/>
              </a:ext>
            </a:extLst>
          </p:cNvPr>
          <p:cNvSpPr/>
          <p:nvPr/>
        </p:nvSpPr>
        <p:spPr>
          <a:xfrm>
            <a:off x="4516767" y="2240869"/>
            <a:ext cx="2968694" cy="1501991"/>
          </a:xfrm>
          <a:prstGeom prst="roundRect">
            <a:avLst/>
          </a:prstGeom>
          <a:solidFill>
            <a:srgbClr val="0070C0"/>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lIns="68580" tIns="34290" rIns="68580" bIns="34290" rtlCol="0" anchor="ctr"/>
          <a:lstStyle/>
          <a:p>
            <a:pPr algn="ctr"/>
            <a:r>
              <a:rPr lang="en-GB" sz="1800" b="1" dirty="0">
                <a:ea typeface="+mn-lt"/>
                <a:cs typeface="+mn-lt"/>
              </a:rPr>
              <a:t>To know the formality requirements for disposing of an equitable interest under a trust</a:t>
            </a:r>
          </a:p>
        </p:txBody>
      </p:sp>
      <p:sp>
        <p:nvSpPr>
          <p:cNvPr id="4" name="Rounded Rectangle 3">
            <a:extLst>
              <a:ext uri="{FF2B5EF4-FFF2-40B4-BE49-F238E27FC236}">
                <a16:creationId xmlns:a16="http://schemas.microsoft.com/office/drawing/2014/main" id="{7ACD18CB-E0F5-8535-65C7-C261966942D2}"/>
              </a:ext>
            </a:extLst>
          </p:cNvPr>
          <p:cNvSpPr/>
          <p:nvPr/>
        </p:nvSpPr>
        <p:spPr>
          <a:xfrm>
            <a:off x="2943253" y="4023067"/>
            <a:ext cx="2968694" cy="1501175"/>
          </a:xfrm>
          <a:prstGeom prst="roundRect">
            <a:avLst/>
          </a:prstGeom>
          <a:solidFill>
            <a:srgbClr val="A953A0"/>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lIns="68580" tIns="34290" rIns="68580" bIns="34290" rtlCol="0" anchor="ctr"/>
          <a:lstStyle/>
          <a:p>
            <a:pPr algn="ctr"/>
            <a:r>
              <a:rPr lang="en-GB" sz="1800" b="1" dirty="0"/>
              <a:t>To be able to distinguish scenarios that fall/do not fall under s. 53(1)(c) LPA 1925</a:t>
            </a:r>
          </a:p>
        </p:txBody>
      </p:sp>
    </p:spTree>
    <p:extLst>
      <p:ext uri="{BB962C8B-B14F-4D97-AF65-F5344CB8AC3E}">
        <p14:creationId xmlns:p14="http://schemas.microsoft.com/office/powerpoint/2010/main" val="4256292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7DF41DD-1DB2-485F-A4D7-59E0402C3A03}"/>
              </a:ext>
            </a:extLst>
          </p:cNvPr>
          <p:cNvSpPr>
            <a:spLocks noGrp="1"/>
          </p:cNvSpPr>
          <p:nvPr>
            <p:ph type="title"/>
          </p:nvPr>
        </p:nvSpPr>
        <p:spPr>
          <a:xfrm>
            <a:off x="599052" y="447703"/>
            <a:ext cx="7772400" cy="1143000"/>
          </a:xfrm>
        </p:spPr>
        <p:txBody>
          <a:bodyPr/>
          <a:lstStyle/>
          <a:p>
            <a:r>
              <a:rPr lang="en-US" altLang="en-US" dirty="0">
                <a:latin typeface="+mn-lt"/>
                <a:ea typeface="ＭＳ Ｐゴシック" panose="020B0600070205080204" pitchFamily="34" charset="-128"/>
              </a:rPr>
              <a:t>Conditions</a:t>
            </a:r>
          </a:p>
        </p:txBody>
      </p:sp>
      <p:sp>
        <p:nvSpPr>
          <p:cNvPr id="4" name="Content Placeholder 2">
            <a:extLst>
              <a:ext uri="{FF2B5EF4-FFF2-40B4-BE49-F238E27FC236}">
                <a16:creationId xmlns:a16="http://schemas.microsoft.com/office/drawing/2014/main" id="{94ABE9CF-A662-406C-B239-C9FE56BE2083}"/>
              </a:ext>
            </a:extLst>
          </p:cNvPr>
          <p:cNvSpPr txBox="1">
            <a:spLocks/>
          </p:cNvSpPr>
          <p:nvPr/>
        </p:nvSpPr>
        <p:spPr>
          <a:xfrm>
            <a:off x="558800" y="3187700"/>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lgn="ctr">
              <a:defRPr/>
            </a:pPr>
            <a:endParaRPr lang="en-US" altLang="en-US" kern="0" dirty="0">
              <a:ea typeface="ＭＳ Ｐゴシック" pitchFamily="34" charset="-128"/>
            </a:endParaRPr>
          </a:p>
        </p:txBody>
      </p:sp>
      <p:sp>
        <p:nvSpPr>
          <p:cNvPr id="9223" name="Rectangle 7">
            <a:extLst>
              <a:ext uri="{FF2B5EF4-FFF2-40B4-BE49-F238E27FC236}">
                <a16:creationId xmlns:a16="http://schemas.microsoft.com/office/drawing/2014/main" id="{F7396E47-B85C-4EFA-84E5-EAD0653EFBCB}"/>
              </a:ext>
            </a:extLst>
          </p:cNvPr>
          <p:cNvSpPr>
            <a:spLocks noChangeArrowheads="1"/>
          </p:cNvSpPr>
          <p:nvPr/>
        </p:nvSpPr>
        <p:spPr bwMode="auto">
          <a:xfrm>
            <a:off x="2509604" y="3234452"/>
            <a:ext cx="18453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mn-lt"/>
              </a:rPr>
              <a:t>Beneficiary</a:t>
            </a:r>
            <a:endParaRPr lang="en-US" altLang="en-US" dirty="0">
              <a:latin typeface="+mn-lt"/>
            </a:endParaRPr>
          </a:p>
        </p:txBody>
      </p:sp>
      <p:sp>
        <p:nvSpPr>
          <p:cNvPr id="9224" name="Rectangle 9">
            <a:extLst>
              <a:ext uri="{FF2B5EF4-FFF2-40B4-BE49-F238E27FC236}">
                <a16:creationId xmlns:a16="http://schemas.microsoft.com/office/drawing/2014/main" id="{71156D4D-2540-41A1-9C09-9F1291CE03D2}"/>
              </a:ext>
            </a:extLst>
          </p:cNvPr>
          <p:cNvSpPr>
            <a:spLocks noChangeArrowheads="1"/>
          </p:cNvSpPr>
          <p:nvPr/>
        </p:nvSpPr>
        <p:spPr bwMode="auto">
          <a:xfrm>
            <a:off x="348364" y="3243977"/>
            <a:ext cx="11592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solidFill>
                  <a:srgbClr val="7F7F7F"/>
                </a:solidFill>
                <a:latin typeface="+mn-lt"/>
              </a:rPr>
              <a:t>Settlor</a:t>
            </a:r>
            <a:endParaRPr lang="en-US" altLang="en-US" dirty="0">
              <a:solidFill>
                <a:srgbClr val="7F7F7F"/>
              </a:solidFill>
              <a:latin typeface="+mn-lt"/>
            </a:endParaRPr>
          </a:p>
        </p:txBody>
      </p:sp>
      <p:cxnSp>
        <p:nvCxnSpPr>
          <p:cNvPr id="9225" name="Straight Arrow Connector 10">
            <a:extLst>
              <a:ext uri="{FF2B5EF4-FFF2-40B4-BE49-F238E27FC236}">
                <a16:creationId xmlns:a16="http://schemas.microsoft.com/office/drawing/2014/main" id="{2D5382EE-04A3-4114-81C4-7F163CD4D970}"/>
              </a:ext>
            </a:extLst>
          </p:cNvPr>
          <p:cNvCxnSpPr>
            <a:cxnSpLocks noChangeShapeType="1"/>
          </p:cNvCxnSpPr>
          <p:nvPr/>
        </p:nvCxnSpPr>
        <p:spPr bwMode="auto">
          <a:xfrm>
            <a:off x="1514438" y="3475752"/>
            <a:ext cx="94297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1" name="Rectangle 4">
            <a:extLst>
              <a:ext uri="{FF2B5EF4-FFF2-40B4-BE49-F238E27FC236}">
                <a16:creationId xmlns:a16="http://schemas.microsoft.com/office/drawing/2014/main" id="{3B31434C-400E-4C54-8456-45000FD3B7A2}"/>
              </a:ext>
            </a:extLst>
          </p:cNvPr>
          <p:cNvSpPr>
            <a:spLocks noChangeArrowheads="1"/>
          </p:cNvSpPr>
          <p:nvPr/>
        </p:nvSpPr>
        <p:spPr bwMode="auto">
          <a:xfrm>
            <a:off x="733807" y="3769498"/>
            <a:ext cx="2353529"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b="1" dirty="0">
                <a:solidFill>
                  <a:srgbClr val="0070C0"/>
                </a:solidFill>
                <a:latin typeface="+mn-lt"/>
              </a:rPr>
              <a:t>Condition precedent:</a:t>
            </a:r>
          </a:p>
          <a:p>
            <a:pPr algn="ctr">
              <a:spcBef>
                <a:spcPct val="0"/>
              </a:spcBef>
            </a:pPr>
            <a:r>
              <a:rPr lang="en-US" altLang="en-US" sz="1600" dirty="0">
                <a:solidFill>
                  <a:srgbClr val="0070C0"/>
                </a:solidFill>
                <a:latin typeface="+mn-lt"/>
              </a:rPr>
              <a:t>Determines under which condition</a:t>
            </a:r>
          </a:p>
          <a:p>
            <a:pPr algn="ctr">
              <a:spcBef>
                <a:spcPct val="0"/>
              </a:spcBef>
            </a:pPr>
            <a:r>
              <a:rPr lang="en-US" altLang="en-US" sz="1600" dirty="0">
                <a:solidFill>
                  <a:srgbClr val="0070C0"/>
                </a:solidFill>
                <a:latin typeface="+mn-lt"/>
              </a:rPr>
              <a:t> the interest transfers </a:t>
            </a:r>
            <a:r>
              <a:rPr lang="en-US" altLang="en-US" sz="1600" u="sng" dirty="0">
                <a:solidFill>
                  <a:srgbClr val="0070C0"/>
                </a:solidFill>
                <a:latin typeface="+mn-lt"/>
              </a:rPr>
              <a:t>to </a:t>
            </a:r>
            <a:r>
              <a:rPr lang="en-US" altLang="en-US" sz="1600" dirty="0">
                <a:solidFill>
                  <a:srgbClr val="0070C0"/>
                </a:solidFill>
                <a:latin typeface="+mn-lt"/>
              </a:rPr>
              <a:t>the beneficiary</a:t>
            </a:r>
          </a:p>
        </p:txBody>
      </p:sp>
      <p:sp>
        <p:nvSpPr>
          <p:cNvPr id="9231" name="Rectangle 4">
            <a:extLst>
              <a:ext uri="{FF2B5EF4-FFF2-40B4-BE49-F238E27FC236}">
                <a16:creationId xmlns:a16="http://schemas.microsoft.com/office/drawing/2014/main" id="{86A90172-A369-481E-9D57-C55D7A122B8D}"/>
              </a:ext>
            </a:extLst>
          </p:cNvPr>
          <p:cNvSpPr>
            <a:spLocks noChangeArrowheads="1"/>
          </p:cNvSpPr>
          <p:nvPr/>
        </p:nvSpPr>
        <p:spPr bwMode="auto">
          <a:xfrm>
            <a:off x="1525299" y="3071525"/>
            <a:ext cx="8707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dirty="0">
                <a:latin typeface="+mn-lt"/>
              </a:rPr>
              <a:t>Interest</a:t>
            </a:r>
          </a:p>
        </p:txBody>
      </p:sp>
      <p:sp>
        <p:nvSpPr>
          <p:cNvPr id="19" name="Rectangle 4">
            <a:extLst>
              <a:ext uri="{FF2B5EF4-FFF2-40B4-BE49-F238E27FC236}">
                <a16:creationId xmlns:a16="http://schemas.microsoft.com/office/drawing/2014/main" id="{3B31434C-400E-4C54-8456-45000FD3B7A2}"/>
              </a:ext>
            </a:extLst>
          </p:cNvPr>
          <p:cNvSpPr>
            <a:spLocks noChangeArrowheads="1"/>
          </p:cNvSpPr>
          <p:nvPr/>
        </p:nvSpPr>
        <p:spPr bwMode="auto">
          <a:xfrm>
            <a:off x="3262343" y="3764674"/>
            <a:ext cx="254738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b="1" dirty="0">
                <a:solidFill>
                  <a:srgbClr val="FF0000"/>
                </a:solidFill>
                <a:latin typeface="+mn-lt"/>
              </a:rPr>
              <a:t>Condition subsequent:</a:t>
            </a:r>
          </a:p>
          <a:p>
            <a:pPr algn="ctr">
              <a:spcBef>
                <a:spcPct val="0"/>
              </a:spcBef>
            </a:pPr>
            <a:r>
              <a:rPr lang="en-US" altLang="en-US" sz="1600" dirty="0">
                <a:solidFill>
                  <a:srgbClr val="FF0000"/>
                </a:solidFill>
                <a:latin typeface="+mn-lt"/>
              </a:rPr>
              <a:t>Determines under which condition</a:t>
            </a:r>
          </a:p>
          <a:p>
            <a:pPr algn="ctr">
              <a:spcBef>
                <a:spcPct val="0"/>
              </a:spcBef>
            </a:pPr>
            <a:r>
              <a:rPr lang="en-US" altLang="en-US" sz="1600" dirty="0">
                <a:solidFill>
                  <a:srgbClr val="FF0000"/>
                </a:solidFill>
                <a:latin typeface="+mn-lt"/>
              </a:rPr>
              <a:t> the interest transfers </a:t>
            </a:r>
            <a:r>
              <a:rPr lang="en-US" altLang="en-US" sz="1600" u="sng" dirty="0">
                <a:solidFill>
                  <a:srgbClr val="FF0000"/>
                </a:solidFill>
                <a:latin typeface="+mn-lt"/>
              </a:rPr>
              <a:t>from</a:t>
            </a:r>
            <a:r>
              <a:rPr lang="en-US" altLang="en-US" sz="1600" dirty="0">
                <a:solidFill>
                  <a:srgbClr val="FF0000"/>
                </a:solidFill>
                <a:latin typeface="+mn-lt"/>
              </a:rPr>
              <a:t> the beneficiary</a:t>
            </a:r>
          </a:p>
        </p:txBody>
      </p:sp>
      <p:cxnSp>
        <p:nvCxnSpPr>
          <p:cNvPr id="20" name="Straight Arrow Connector 10">
            <a:extLst>
              <a:ext uri="{FF2B5EF4-FFF2-40B4-BE49-F238E27FC236}">
                <a16:creationId xmlns:a16="http://schemas.microsoft.com/office/drawing/2014/main" id="{2D5382EE-04A3-4114-81C4-7F163CD4D970}"/>
              </a:ext>
            </a:extLst>
          </p:cNvPr>
          <p:cNvCxnSpPr>
            <a:cxnSpLocks noChangeShapeType="1"/>
          </p:cNvCxnSpPr>
          <p:nvPr/>
        </p:nvCxnSpPr>
        <p:spPr bwMode="auto">
          <a:xfrm>
            <a:off x="4349329" y="3474958"/>
            <a:ext cx="94297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2" name="Rectangle 4">
            <a:extLst>
              <a:ext uri="{FF2B5EF4-FFF2-40B4-BE49-F238E27FC236}">
                <a16:creationId xmlns:a16="http://schemas.microsoft.com/office/drawing/2014/main" id="{86A90172-A369-481E-9D57-C55D7A122B8D}"/>
              </a:ext>
            </a:extLst>
          </p:cNvPr>
          <p:cNvSpPr>
            <a:spLocks noChangeArrowheads="1"/>
          </p:cNvSpPr>
          <p:nvPr/>
        </p:nvSpPr>
        <p:spPr bwMode="auto">
          <a:xfrm>
            <a:off x="4385441" y="3086095"/>
            <a:ext cx="8707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dirty="0">
                <a:latin typeface="+mn-lt"/>
              </a:rPr>
              <a:t>Interest</a:t>
            </a:r>
          </a:p>
        </p:txBody>
      </p:sp>
      <p:sp>
        <p:nvSpPr>
          <p:cNvPr id="23" name="Rectangle 9">
            <a:extLst>
              <a:ext uri="{FF2B5EF4-FFF2-40B4-BE49-F238E27FC236}">
                <a16:creationId xmlns:a16="http://schemas.microsoft.com/office/drawing/2014/main" id="{71156D4D-2540-41A1-9C09-9F1291CE03D2}"/>
              </a:ext>
            </a:extLst>
          </p:cNvPr>
          <p:cNvSpPr>
            <a:spLocks noChangeArrowheads="1"/>
          </p:cNvSpPr>
          <p:nvPr/>
        </p:nvSpPr>
        <p:spPr bwMode="auto">
          <a:xfrm>
            <a:off x="5356928" y="3195507"/>
            <a:ext cx="35718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solidFill>
                  <a:srgbClr val="7F7F7F"/>
                </a:solidFill>
                <a:latin typeface="+mn-lt"/>
              </a:rPr>
              <a:t>Settlor/trustee/3</a:t>
            </a:r>
            <a:r>
              <a:rPr lang="en-US" altLang="en-US" b="1" baseline="30000" dirty="0">
                <a:solidFill>
                  <a:srgbClr val="7F7F7F"/>
                </a:solidFill>
                <a:latin typeface="+mn-lt"/>
              </a:rPr>
              <a:t>rd</a:t>
            </a:r>
            <a:r>
              <a:rPr lang="en-US" altLang="en-US" b="1" dirty="0">
                <a:solidFill>
                  <a:srgbClr val="7F7F7F"/>
                </a:solidFill>
                <a:latin typeface="+mn-lt"/>
              </a:rPr>
              <a:t> party</a:t>
            </a:r>
            <a:endParaRPr lang="en-US" altLang="en-US" dirty="0">
              <a:solidFill>
                <a:srgbClr val="7F7F7F"/>
              </a:solidFill>
              <a:latin typeface="+mn-lt"/>
            </a:endParaRPr>
          </a:p>
        </p:txBody>
      </p:sp>
      <p:sp>
        <p:nvSpPr>
          <p:cNvPr id="25" name="Rectangle 4">
            <a:extLst>
              <a:ext uri="{FF2B5EF4-FFF2-40B4-BE49-F238E27FC236}">
                <a16:creationId xmlns:a16="http://schemas.microsoft.com/office/drawing/2014/main" id="{3B31434C-400E-4C54-8456-45000FD3B7A2}"/>
              </a:ext>
            </a:extLst>
          </p:cNvPr>
          <p:cNvSpPr>
            <a:spLocks noChangeArrowheads="1"/>
          </p:cNvSpPr>
          <p:nvPr/>
        </p:nvSpPr>
        <p:spPr bwMode="auto">
          <a:xfrm>
            <a:off x="5990705" y="3769498"/>
            <a:ext cx="241948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b="1" dirty="0">
                <a:solidFill>
                  <a:srgbClr val="00B050"/>
                </a:solidFill>
                <a:latin typeface="+mn-lt"/>
              </a:rPr>
              <a:t>Determinable interest:</a:t>
            </a:r>
          </a:p>
          <a:p>
            <a:pPr algn="ctr">
              <a:spcBef>
                <a:spcPct val="0"/>
              </a:spcBef>
            </a:pPr>
            <a:r>
              <a:rPr lang="en-US" altLang="en-US" sz="1600" dirty="0">
                <a:solidFill>
                  <a:srgbClr val="00B050"/>
                </a:solidFill>
                <a:latin typeface="+mn-lt"/>
              </a:rPr>
              <a:t>Determines </a:t>
            </a:r>
            <a:r>
              <a:rPr lang="en-US" altLang="en-US" sz="1600" u="sng" dirty="0">
                <a:solidFill>
                  <a:srgbClr val="00B050"/>
                </a:solidFill>
                <a:latin typeface="+mn-lt"/>
              </a:rPr>
              <a:t>when</a:t>
            </a:r>
          </a:p>
          <a:p>
            <a:pPr algn="ctr">
              <a:spcBef>
                <a:spcPct val="0"/>
              </a:spcBef>
            </a:pPr>
            <a:r>
              <a:rPr lang="en-US" altLang="en-US" sz="1600" dirty="0">
                <a:solidFill>
                  <a:srgbClr val="00B050"/>
                </a:solidFill>
                <a:latin typeface="+mn-lt"/>
              </a:rPr>
              <a:t> the interest transfers to from the beneficiary</a:t>
            </a:r>
          </a:p>
        </p:txBody>
      </p:sp>
      <p:sp>
        <p:nvSpPr>
          <p:cNvPr id="5" name="Cloud Callout 4"/>
          <p:cNvSpPr/>
          <p:nvPr/>
        </p:nvSpPr>
        <p:spPr bwMode="auto">
          <a:xfrm>
            <a:off x="2162291" y="1282086"/>
            <a:ext cx="2702072" cy="1545591"/>
          </a:xfrm>
          <a:prstGeom prst="cloudCallout">
            <a:avLst>
              <a:gd name="adj1" fmla="val -89841"/>
              <a:gd name="adj2" fmla="val 84008"/>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GB" sz="1100" dirty="0">
                <a:latin typeface="+mn-lt"/>
              </a:rPr>
              <a:t>Lack of trust in the beneficiary: The settlor w</a:t>
            </a:r>
            <a:r>
              <a:rPr kumimoji="0" lang="en-GB" sz="1100" b="0" i="0" u="none" strike="noStrike" cap="none" normalizeH="0" baseline="0" dirty="0">
                <a:ln>
                  <a:noFill/>
                </a:ln>
                <a:solidFill>
                  <a:schemeClr val="tx1"/>
                </a:solidFill>
                <a:effectLst/>
                <a:latin typeface="+mn-lt"/>
              </a:rPr>
              <a:t>ants to control the beneficiary’s actions and protect the property.</a:t>
            </a:r>
          </a:p>
        </p:txBody>
      </p:sp>
    </p:spTree>
    <p:extLst>
      <p:ext uri="{BB962C8B-B14F-4D97-AF65-F5344CB8AC3E}">
        <p14:creationId xmlns:p14="http://schemas.microsoft.com/office/powerpoint/2010/main" val="274772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9" grpId="0"/>
      <p:bldP spid="22" grpId="0"/>
      <p:bldP spid="23"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7DF41DD-1DB2-485F-A4D7-59E0402C3A03}"/>
              </a:ext>
            </a:extLst>
          </p:cNvPr>
          <p:cNvSpPr>
            <a:spLocks noGrp="1"/>
          </p:cNvSpPr>
          <p:nvPr>
            <p:ph type="title"/>
          </p:nvPr>
        </p:nvSpPr>
        <p:spPr>
          <a:xfrm>
            <a:off x="653592" y="383432"/>
            <a:ext cx="7772400" cy="1143000"/>
          </a:xfrm>
        </p:spPr>
        <p:txBody>
          <a:bodyPr/>
          <a:lstStyle/>
          <a:p>
            <a:r>
              <a:rPr lang="en-GB" altLang="en-US" sz="3600" dirty="0">
                <a:latin typeface="+mn-lt"/>
                <a:ea typeface="ＭＳ Ｐゴシック" panose="020B0600070205080204" pitchFamily="34" charset="-128"/>
              </a:rPr>
              <a:t>The trust as protection from creditors</a:t>
            </a:r>
          </a:p>
        </p:txBody>
      </p:sp>
      <p:sp>
        <p:nvSpPr>
          <p:cNvPr id="3" name="Content Placeholder 2">
            <a:extLst>
              <a:ext uri="{FF2B5EF4-FFF2-40B4-BE49-F238E27FC236}">
                <a16:creationId xmlns:a16="http://schemas.microsoft.com/office/drawing/2014/main" id="{163AFC93-8211-4A43-A5B3-9077A5591CB0}"/>
              </a:ext>
            </a:extLst>
          </p:cNvPr>
          <p:cNvSpPr txBox="1">
            <a:spLocks/>
          </p:cNvSpPr>
          <p:nvPr/>
        </p:nvSpPr>
        <p:spPr bwMode="auto">
          <a:xfrm>
            <a:off x="964211" y="2188599"/>
            <a:ext cx="8336295"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charset="0"/>
                <a:ea typeface="ＭＳ Ｐゴシック" pitchFamily="4" charset="-128"/>
              </a:defRPr>
            </a:lvl1pPr>
            <a:lvl2pPr marL="742950" indent="-285750">
              <a:spcBef>
                <a:spcPct val="20000"/>
              </a:spcBef>
              <a:buChar char="–"/>
              <a:defRPr sz="1600">
                <a:solidFill>
                  <a:schemeClr val="tx1"/>
                </a:solidFill>
                <a:latin typeface="Arial" charset="0"/>
                <a:ea typeface="ＭＳ Ｐゴシック" pitchFamily="4" charset="-128"/>
              </a:defRPr>
            </a:lvl2pPr>
            <a:lvl3pPr marL="1143000" indent="-228600">
              <a:spcBef>
                <a:spcPct val="20000"/>
              </a:spcBef>
              <a:buChar char="•"/>
              <a:defRPr sz="1400">
                <a:solidFill>
                  <a:schemeClr val="tx1"/>
                </a:solidFill>
                <a:latin typeface="Arial" charset="0"/>
                <a:ea typeface="ＭＳ Ｐゴシック" pitchFamily="4" charset="-128"/>
              </a:defRPr>
            </a:lvl3pPr>
            <a:lvl4pPr marL="1600200" indent="-228600">
              <a:spcBef>
                <a:spcPct val="20000"/>
              </a:spcBef>
              <a:buChar char="–"/>
              <a:defRPr sz="1200">
                <a:solidFill>
                  <a:schemeClr val="tx1"/>
                </a:solidFill>
                <a:latin typeface="Arial" charset="0"/>
                <a:ea typeface="ＭＳ Ｐゴシック" pitchFamily="4" charset="-128"/>
              </a:defRPr>
            </a:lvl4pPr>
            <a:lvl5pPr marL="2057400" indent="-228600">
              <a:spcBef>
                <a:spcPct val="20000"/>
              </a:spcBef>
              <a:buChar char="»"/>
              <a:defRPr sz="1200">
                <a:solidFill>
                  <a:schemeClr val="tx1"/>
                </a:solidFill>
                <a:latin typeface="Arial" charset="0"/>
                <a:ea typeface="ＭＳ Ｐゴシック" pitchFamily="4" charset="-128"/>
              </a:defRPr>
            </a:lvl5pPr>
            <a:lvl6pPr marL="25146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6pPr>
            <a:lvl7pPr marL="29718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7pPr>
            <a:lvl8pPr marL="34290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8pPr>
            <a:lvl9pPr marL="38862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9pPr>
          </a:lstStyle>
          <a:p>
            <a:pPr marL="0" lvl="1" indent="0">
              <a:buFontTx/>
              <a:buNone/>
              <a:defRPr/>
            </a:pPr>
            <a:endParaRPr lang="en-US" altLang="en-US" sz="2400" b="1" dirty="0">
              <a:highlight>
                <a:srgbClr val="FFFF00"/>
              </a:highlight>
              <a:latin typeface="Calibri" pitchFamily="4" charset="0"/>
            </a:endParaRPr>
          </a:p>
          <a:p>
            <a:pPr marL="0" lvl="1" indent="0">
              <a:buFontTx/>
              <a:buNone/>
              <a:defRPr/>
            </a:pPr>
            <a:endParaRPr lang="en-GB" altLang="en-US" sz="2400" b="1" dirty="0">
              <a:latin typeface="Calibri" pitchFamily="4" charset="0"/>
            </a:endParaRPr>
          </a:p>
          <a:p>
            <a:pPr lvl="1">
              <a:buFontTx/>
              <a:buNone/>
              <a:defRPr/>
            </a:pPr>
            <a:endParaRPr lang="en-US" altLang="en-US" dirty="0">
              <a:latin typeface="Calibri" pitchFamily="4" charset="0"/>
            </a:endParaRPr>
          </a:p>
          <a:p>
            <a:pPr>
              <a:buFontTx/>
              <a:buChar char="•"/>
              <a:defRPr/>
            </a:pPr>
            <a:endParaRPr lang="en-US" altLang="en-US" sz="1200" dirty="0">
              <a:latin typeface="Calibri" pitchFamily="4" charset="0"/>
            </a:endParaRPr>
          </a:p>
          <a:p>
            <a:pPr>
              <a:defRPr/>
            </a:pPr>
            <a:endParaRPr lang="en-US" altLang="en-US" dirty="0"/>
          </a:p>
        </p:txBody>
      </p:sp>
      <p:sp>
        <p:nvSpPr>
          <p:cNvPr id="4" name="Content Placeholder 2">
            <a:extLst>
              <a:ext uri="{FF2B5EF4-FFF2-40B4-BE49-F238E27FC236}">
                <a16:creationId xmlns:a16="http://schemas.microsoft.com/office/drawing/2014/main" id="{94ABE9CF-A662-406C-B239-C9FE56BE2083}"/>
              </a:ext>
            </a:extLst>
          </p:cNvPr>
          <p:cNvSpPr txBox="1">
            <a:spLocks/>
          </p:cNvSpPr>
          <p:nvPr/>
        </p:nvSpPr>
        <p:spPr>
          <a:xfrm>
            <a:off x="488752" y="2755801"/>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lgn="ctr">
              <a:defRPr/>
            </a:pPr>
            <a:endParaRPr lang="en-US" altLang="en-US" kern="0" dirty="0">
              <a:ea typeface="ＭＳ Ｐゴシック" pitchFamily="34" charset="-128"/>
            </a:endParaRPr>
          </a:p>
        </p:txBody>
      </p:sp>
      <p:cxnSp>
        <p:nvCxnSpPr>
          <p:cNvPr id="9221" name="Straight Connector 3">
            <a:extLst>
              <a:ext uri="{FF2B5EF4-FFF2-40B4-BE49-F238E27FC236}">
                <a16:creationId xmlns:a16="http://schemas.microsoft.com/office/drawing/2014/main" id="{6FD42F98-A135-4F30-A718-B2651DF3311B}"/>
              </a:ext>
            </a:extLst>
          </p:cNvPr>
          <p:cNvCxnSpPr>
            <a:cxnSpLocks noChangeShapeType="1"/>
          </p:cNvCxnSpPr>
          <p:nvPr/>
        </p:nvCxnSpPr>
        <p:spPr bwMode="auto">
          <a:xfrm>
            <a:off x="4398861" y="3531769"/>
            <a:ext cx="0" cy="6285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9222" name="Rectangle 4">
            <a:extLst>
              <a:ext uri="{FF2B5EF4-FFF2-40B4-BE49-F238E27FC236}">
                <a16:creationId xmlns:a16="http://schemas.microsoft.com/office/drawing/2014/main" id="{05A291C3-5A7A-4100-835E-AB86AAD053C1}"/>
              </a:ext>
            </a:extLst>
          </p:cNvPr>
          <p:cNvSpPr>
            <a:spLocks noChangeArrowheads="1"/>
          </p:cNvSpPr>
          <p:nvPr/>
        </p:nvSpPr>
        <p:spPr bwMode="auto">
          <a:xfrm>
            <a:off x="3617103" y="4427140"/>
            <a:ext cx="18453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mn-lt"/>
              </a:rPr>
              <a:t>Beneficiary</a:t>
            </a:r>
            <a:endParaRPr lang="en-US" altLang="en-US" dirty="0">
              <a:latin typeface="+mn-lt"/>
            </a:endParaRPr>
          </a:p>
        </p:txBody>
      </p:sp>
      <p:sp>
        <p:nvSpPr>
          <p:cNvPr id="9223" name="Rectangle 7">
            <a:extLst>
              <a:ext uri="{FF2B5EF4-FFF2-40B4-BE49-F238E27FC236}">
                <a16:creationId xmlns:a16="http://schemas.microsoft.com/office/drawing/2014/main" id="{F7396E47-B85C-4EFA-84E5-EAD0653EFBCB}"/>
              </a:ext>
            </a:extLst>
          </p:cNvPr>
          <p:cNvSpPr>
            <a:spLocks noChangeArrowheads="1"/>
          </p:cNvSpPr>
          <p:nvPr/>
        </p:nvSpPr>
        <p:spPr bwMode="auto">
          <a:xfrm>
            <a:off x="3730427" y="2917151"/>
            <a:ext cx="12801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mn-lt"/>
              </a:rPr>
              <a:t>Trustee</a:t>
            </a:r>
            <a:endParaRPr lang="en-US" altLang="en-US" dirty="0">
              <a:latin typeface="+mn-lt"/>
            </a:endParaRPr>
          </a:p>
        </p:txBody>
      </p:sp>
      <p:sp>
        <p:nvSpPr>
          <p:cNvPr id="9224" name="Rectangle 9">
            <a:extLst>
              <a:ext uri="{FF2B5EF4-FFF2-40B4-BE49-F238E27FC236}">
                <a16:creationId xmlns:a16="http://schemas.microsoft.com/office/drawing/2014/main" id="{71156D4D-2540-41A1-9C09-9F1291CE03D2}"/>
              </a:ext>
            </a:extLst>
          </p:cNvPr>
          <p:cNvSpPr>
            <a:spLocks noChangeArrowheads="1"/>
          </p:cNvSpPr>
          <p:nvPr/>
        </p:nvSpPr>
        <p:spPr bwMode="auto">
          <a:xfrm>
            <a:off x="1208475" y="2919703"/>
            <a:ext cx="11592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latin typeface="+mn-lt"/>
              </a:rPr>
              <a:t>Settlor</a:t>
            </a:r>
            <a:endParaRPr lang="en-US" altLang="en-US" dirty="0">
              <a:latin typeface="+mn-lt"/>
            </a:endParaRPr>
          </a:p>
        </p:txBody>
      </p:sp>
      <p:cxnSp>
        <p:nvCxnSpPr>
          <p:cNvPr id="9225" name="Straight Arrow Connector 10">
            <a:extLst>
              <a:ext uri="{FF2B5EF4-FFF2-40B4-BE49-F238E27FC236}">
                <a16:creationId xmlns:a16="http://schemas.microsoft.com/office/drawing/2014/main" id="{2D5382EE-04A3-4114-81C4-7F163CD4D970}"/>
              </a:ext>
            </a:extLst>
          </p:cNvPr>
          <p:cNvCxnSpPr>
            <a:cxnSpLocks noChangeShapeType="1"/>
          </p:cNvCxnSpPr>
          <p:nvPr/>
        </p:nvCxnSpPr>
        <p:spPr bwMode="auto">
          <a:xfrm>
            <a:off x="2467536" y="3150535"/>
            <a:ext cx="1262891"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 name="Straight Arrow Connector 14">
            <a:extLst>
              <a:ext uri="{FF2B5EF4-FFF2-40B4-BE49-F238E27FC236}">
                <a16:creationId xmlns:a16="http://schemas.microsoft.com/office/drawing/2014/main" id="{875B7A23-7BB4-49C4-88CE-0DC1F94D418F}"/>
              </a:ext>
            </a:extLst>
          </p:cNvPr>
          <p:cNvCxnSpPr>
            <a:cxnSpLocks noChangeShapeType="1"/>
          </p:cNvCxnSpPr>
          <p:nvPr/>
        </p:nvCxnSpPr>
        <p:spPr bwMode="auto">
          <a:xfrm>
            <a:off x="5454834" y="4691666"/>
            <a:ext cx="944563"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6" name="Rectangle 4">
            <a:extLst>
              <a:ext uri="{FF2B5EF4-FFF2-40B4-BE49-F238E27FC236}">
                <a16:creationId xmlns:a16="http://schemas.microsoft.com/office/drawing/2014/main" id="{FD00FFA0-A105-4031-A6FB-2F36AC2703A2}"/>
              </a:ext>
            </a:extLst>
          </p:cNvPr>
          <p:cNvSpPr>
            <a:spLocks noChangeArrowheads="1"/>
          </p:cNvSpPr>
          <p:nvPr/>
        </p:nvSpPr>
        <p:spPr bwMode="auto">
          <a:xfrm>
            <a:off x="6366921" y="4242473"/>
            <a:ext cx="18128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b="1" dirty="0">
                <a:highlight>
                  <a:srgbClr val="FFFF00"/>
                </a:highlight>
                <a:latin typeface="Calibri" panose="020F0502020204030204" pitchFamily="34" charset="0"/>
              </a:rPr>
              <a:t>Beneficiary’s</a:t>
            </a:r>
          </a:p>
          <a:p>
            <a:pPr>
              <a:spcBef>
                <a:spcPct val="0"/>
              </a:spcBef>
            </a:pPr>
            <a:r>
              <a:rPr lang="en-US" altLang="en-US" b="1" dirty="0">
                <a:highlight>
                  <a:srgbClr val="FFFF00"/>
                </a:highlight>
                <a:latin typeface="Calibri" panose="020F0502020204030204" pitchFamily="34" charset="0"/>
              </a:rPr>
              <a:t>creditors</a:t>
            </a:r>
            <a:endParaRPr lang="en-US" altLang="en-US" dirty="0">
              <a:highlight>
                <a:srgbClr val="FFFF00"/>
              </a:highlight>
              <a:latin typeface="Calibri" panose="020F0502020204030204" pitchFamily="34" charset="0"/>
            </a:endParaRPr>
          </a:p>
        </p:txBody>
      </p:sp>
      <p:sp>
        <p:nvSpPr>
          <p:cNvPr id="17" name="Rectangle 4">
            <a:extLst>
              <a:ext uri="{FF2B5EF4-FFF2-40B4-BE49-F238E27FC236}">
                <a16:creationId xmlns:a16="http://schemas.microsoft.com/office/drawing/2014/main" id="{ED76DC42-8676-4615-B5D2-7DB76D1A73B7}"/>
              </a:ext>
            </a:extLst>
          </p:cNvPr>
          <p:cNvSpPr>
            <a:spLocks noChangeArrowheads="1"/>
          </p:cNvSpPr>
          <p:nvPr/>
        </p:nvSpPr>
        <p:spPr bwMode="auto">
          <a:xfrm>
            <a:off x="4840947" y="4993338"/>
            <a:ext cx="24164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dirty="0">
                <a:latin typeface="+mn-lt"/>
              </a:rPr>
              <a:t>Transfer of their rights to</a:t>
            </a:r>
          </a:p>
        </p:txBody>
      </p:sp>
      <p:cxnSp>
        <p:nvCxnSpPr>
          <p:cNvPr id="18" name="Elbow Connector 17">
            <a:extLst>
              <a:ext uri="{FF2B5EF4-FFF2-40B4-BE49-F238E27FC236}">
                <a16:creationId xmlns:a16="http://schemas.microsoft.com/office/drawing/2014/main" id="{D64E39B5-D874-4B96-8FB7-8F916A67E416}"/>
              </a:ext>
            </a:extLst>
          </p:cNvPr>
          <p:cNvCxnSpPr>
            <a:cxnSpLocks noChangeShapeType="1"/>
            <a:endCxn id="17" idx="2"/>
          </p:cNvCxnSpPr>
          <p:nvPr/>
        </p:nvCxnSpPr>
        <p:spPr bwMode="auto">
          <a:xfrm>
            <a:off x="1401756" y="3334401"/>
            <a:ext cx="4648200" cy="1997075"/>
          </a:xfrm>
          <a:prstGeom prst="bentConnector4">
            <a:avLst>
              <a:gd name="adj1" fmla="val 69"/>
              <a:gd name="adj2" fmla="val 111449"/>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1" name="Rectangle 4">
            <a:extLst>
              <a:ext uri="{FF2B5EF4-FFF2-40B4-BE49-F238E27FC236}">
                <a16:creationId xmlns:a16="http://schemas.microsoft.com/office/drawing/2014/main" id="{3B31434C-400E-4C54-8456-45000FD3B7A2}"/>
              </a:ext>
            </a:extLst>
          </p:cNvPr>
          <p:cNvSpPr>
            <a:spLocks noChangeArrowheads="1"/>
          </p:cNvSpPr>
          <p:nvPr/>
        </p:nvSpPr>
        <p:spPr bwMode="auto">
          <a:xfrm rot="10800000" flipV="1">
            <a:off x="1436209" y="4168281"/>
            <a:ext cx="255538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1600" dirty="0">
                <a:solidFill>
                  <a:srgbClr val="FF0000"/>
                </a:solidFill>
                <a:latin typeface="+mn-lt"/>
              </a:rPr>
              <a:t>Settlor cannot restrict the beneficiary’s right of disposition by way of condition subsequent.</a:t>
            </a:r>
          </a:p>
        </p:txBody>
      </p:sp>
      <p:sp>
        <p:nvSpPr>
          <p:cNvPr id="9231" name="Rectangle 4">
            <a:extLst>
              <a:ext uri="{FF2B5EF4-FFF2-40B4-BE49-F238E27FC236}">
                <a16:creationId xmlns:a16="http://schemas.microsoft.com/office/drawing/2014/main" id="{86A90172-A369-481E-9D57-C55D7A122B8D}"/>
              </a:ext>
            </a:extLst>
          </p:cNvPr>
          <p:cNvSpPr>
            <a:spLocks noChangeArrowheads="1"/>
          </p:cNvSpPr>
          <p:nvPr/>
        </p:nvSpPr>
        <p:spPr bwMode="auto">
          <a:xfrm>
            <a:off x="1833401" y="2569488"/>
            <a:ext cx="22112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dirty="0">
                <a:latin typeface="+mn-lt"/>
              </a:rPr>
              <a:t>Transfer of property to</a:t>
            </a:r>
          </a:p>
        </p:txBody>
      </p:sp>
      <p:sp>
        <p:nvSpPr>
          <p:cNvPr id="32" name="Rectangle 4">
            <a:extLst>
              <a:ext uri="{FF2B5EF4-FFF2-40B4-BE49-F238E27FC236}">
                <a16:creationId xmlns:a16="http://schemas.microsoft.com/office/drawing/2014/main" id="{8A1A25CA-F10B-4162-8463-9C47567CBB49}"/>
              </a:ext>
            </a:extLst>
          </p:cNvPr>
          <p:cNvSpPr>
            <a:spLocks noChangeArrowheads="1"/>
          </p:cNvSpPr>
          <p:nvPr/>
        </p:nvSpPr>
        <p:spPr bwMode="auto">
          <a:xfrm>
            <a:off x="4370506" y="1420357"/>
            <a:ext cx="38273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1600" dirty="0">
                <a:solidFill>
                  <a:srgbClr val="FF0000"/>
                </a:solidFill>
                <a:latin typeface="+mn-lt"/>
              </a:rPr>
              <a:t>Trust property is safe from personal creditors of the trustee.</a:t>
            </a:r>
          </a:p>
        </p:txBody>
      </p:sp>
      <p:sp>
        <p:nvSpPr>
          <p:cNvPr id="19" name="Rectangle 4">
            <a:extLst>
              <a:ext uri="{FF2B5EF4-FFF2-40B4-BE49-F238E27FC236}">
                <a16:creationId xmlns:a16="http://schemas.microsoft.com/office/drawing/2014/main" id="{3B31434C-400E-4C54-8456-45000FD3B7A2}"/>
              </a:ext>
            </a:extLst>
          </p:cNvPr>
          <p:cNvSpPr>
            <a:spLocks noChangeArrowheads="1"/>
          </p:cNvSpPr>
          <p:nvPr/>
        </p:nvSpPr>
        <p:spPr bwMode="auto">
          <a:xfrm>
            <a:off x="1406327" y="5567424"/>
            <a:ext cx="58949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1600" b="1" dirty="0">
                <a:solidFill>
                  <a:srgbClr val="0070C0"/>
                </a:solidFill>
                <a:latin typeface="+mn-lt"/>
              </a:rPr>
              <a:t>But: An element of creditor protection is possible through </a:t>
            </a:r>
          </a:p>
          <a:p>
            <a:pPr>
              <a:spcBef>
                <a:spcPct val="0"/>
              </a:spcBef>
            </a:pPr>
            <a:r>
              <a:rPr lang="en-US" altLang="en-US" sz="1600" b="1" dirty="0">
                <a:solidFill>
                  <a:srgbClr val="0070C0"/>
                </a:solidFill>
                <a:latin typeface="+mn-lt"/>
              </a:rPr>
              <a:t>a protective trust.</a:t>
            </a:r>
          </a:p>
        </p:txBody>
      </p:sp>
      <p:cxnSp>
        <p:nvCxnSpPr>
          <p:cNvPr id="6" name="Straight Arrow Connector 10">
            <a:extLst>
              <a:ext uri="{FF2B5EF4-FFF2-40B4-BE49-F238E27FC236}">
                <a16:creationId xmlns:a16="http://schemas.microsoft.com/office/drawing/2014/main" id="{F59B9B7E-F705-9E44-EC1D-68186F005989}"/>
              </a:ext>
            </a:extLst>
          </p:cNvPr>
          <p:cNvCxnSpPr>
            <a:cxnSpLocks noChangeShapeType="1"/>
          </p:cNvCxnSpPr>
          <p:nvPr/>
        </p:nvCxnSpPr>
        <p:spPr bwMode="auto">
          <a:xfrm>
            <a:off x="5010586" y="3147983"/>
            <a:ext cx="1396458"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 name="Rectangle 4">
            <a:extLst>
              <a:ext uri="{FF2B5EF4-FFF2-40B4-BE49-F238E27FC236}">
                <a16:creationId xmlns:a16="http://schemas.microsoft.com/office/drawing/2014/main" id="{FA92D525-3548-BA7B-A94A-646F766012F0}"/>
              </a:ext>
            </a:extLst>
          </p:cNvPr>
          <p:cNvSpPr>
            <a:spLocks noChangeArrowheads="1"/>
          </p:cNvSpPr>
          <p:nvPr/>
        </p:nvSpPr>
        <p:spPr bwMode="auto">
          <a:xfrm>
            <a:off x="6408532" y="2853343"/>
            <a:ext cx="13850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b="1" dirty="0">
                <a:highlight>
                  <a:srgbClr val="FFFF00"/>
                </a:highlight>
                <a:latin typeface="Calibri" panose="020F0502020204030204" pitchFamily="34" charset="0"/>
              </a:rPr>
              <a:t>Trustee’s </a:t>
            </a:r>
          </a:p>
          <a:p>
            <a:pPr>
              <a:spcBef>
                <a:spcPct val="0"/>
              </a:spcBef>
            </a:pPr>
            <a:r>
              <a:rPr lang="en-US" altLang="en-US" b="1" dirty="0">
                <a:highlight>
                  <a:srgbClr val="FFFF00"/>
                </a:highlight>
                <a:latin typeface="Calibri" panose="020F0502020204030204" pitchFamily="34" charset="0"/>
              </a:rPr>
              <a:t>creditors</a:t>
            </a:r>
            <a:endParaRPr lang="en-US" altLang="en-US" dirty="0">
              <a:highlight>
                <a:srgbClr val="FFFF00"/>
              </a:highlight>
              <a:latin typeface="Calibri" panose="020F0502020204030204" pitchFamily="34" charset="0"/>
            </a:endParaRPr>
          </a:p>
        </p:txBody>
      </p:sp>
      <p:sp>
        <p:nvSpPr>
          <p:cNvPr id="11" name="Rectangle 4">
            <a:extLst>
              <a:ext uri="{FF2B5EF4-FFF2-40B4-BE49-F238E27FC236}">
                <a16:creationId xmlns:a16="http://schemas.microsoft.com/office/drawing/2014/main" id="{5AC432A7-95D6-8D23-0DA9-FDE80E1F99CA}"/>
              </a:ext>
            </a:extLst>
          </p:cNvPr>
          <p:cNvSpPr>
            <a:spLocks noChangeArrowheads="1"/>
          </p:cNvSpPr>
          <p:nvPr/>
        </p:nvSpPr>
        <p:spPr bwMode="auto">
          <a:xfrm>
            <a:off x="4480546" y="2594921"/>
            <a:ext cx="22112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dirty="0">
                <a:latin typeface="+mn-lt"/>
              </a:rPr>
              <a:t>Transfer of property to</a:t>
            </a:r>
          </a:p>
        </p:txBody>
      </p:sp>
      <p:sp>
        <p:nvSpPr>
          <p:cNvPr id="14" name="Rectangle 4">
            <a:extLst>
              <a:ext uri="{FF2B5EF4-FFF2-40B4-BE49-F238E27FC236}">
                <a16:creationId xmlns:a16="http://schemas.microsoft.com/office/drawing/2014/main" id="{5C36F54A-D30E-B063-8BEB-2859882BE60D}"/>
              </a:ext>
            </a:extLst>
          </p:cNvPr>
          <p:cNvSpPr>
            <a:spLocks noChangeArrowheads="1"/>
          </p:cNvSpPr>
          <p:nvPr/>
        </p:nvSpPr>
        <p:spPr bwMode="auto">
          <a:xfrm>
            <a:off x="214235" y="2237338"/>
            <a:ext cx="13915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b="1" dirty="0">
                <a:highlight>
                  <a:srgbClr val="FFFF00"/>
                </a:highlight>
                <a:latin typeface="Calibri" panose="020F0502020204030204" pitchFamily="34" charset="0"/>
              </a:rPr>
              <a:t>Settlor’s </a:t>
            </a:r>
          </a:p>
          <a:p>
            <a:pPr>
              <a:spcBef>
                <a:spcPct val="0"/>
              </a:spcBef>
            </a:pPr>
            <a:r>
              <a:rPr lang="en-US" altLang="en-US" b="1" dirty="0">
                <a:highlight>
                  <a:srgbClr val="FFFF00"/>
                </a:highlight>
                <a:latin typeface="Calibri" panose="020F0502020204030204" pitchFamily="34" charset="0"/>
              </a:rPr>
              <a:t>creditors</a:t>
            </a:r>
            <a:endParaRPr lang="en-US" altLang="en-US" dirty="0">
              <a:highlight>
                <a:srgbClr val="FFFF00"/>
              </a:highlight>
              <a:latin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2">
            <p14:nvContentPartPr>
              <p14:cNvPr id="22" name="Ink 21">
                <a:extLst>
                  <a:ext uri="{FF2B5EF4-FFF2-40B4-BE49-F238E27FC236}">
                    <a16:creationId xmlns:a16="http://schemas.microsoft.com/office/drawing/2014/main" id="{FCA68280-A0EF-DBBC-F4D8-CD4882BB1FC9}"/>
                  </a:ext>
                </a:extLst>
              </p14:cNvPr>
              <p14:cNvContentPartPr/>
              <p14:nvPr/>
            </p14:nvContentPartPr>
            <p14:xfrm>
              <a:off x="7674553" y="4916133"/>
              <a:ext cx="795600" cy="805320"/>
            </p14:xfrm>
          </p:contentPart>
        </mc:Choice>
        <mc:Fallback xmlns="">
          <p:pic>
            <p:nvPicPr>
              <p:cNvPr id="22" name="Ink 21">
                <a:extLst>
                  <a:ext uri="{FF2B5EF4-FFF2-40B4-BE49-F238E27FC236}">
                    <a16:creationId xmlns:a16="http://schemas.microsoft.com/office/drawing/2014/main" id="{FCA68280-A0EF-DBBC-F4D8-CD4882BB1FC9}"/>
                  </a:ext>
                </a:extLst>
              </p:cNvPr>
              <p:cNvPicPr/>
              <p:nvPr/>
            </p:nvPicPr>
            <p:blipFill>
              <a:blip r:embed="rId3"/>
              <a:stretch>
                <a:fillRect/>
              </a:stretch>
            </p:blipFill>
            <p:spPr>
              <a:xfrm>
                <a:off x="7638913" y="4880133"/>
                <a:ext cx="867240" cy="876960"/>
              </a:xfrm>
              <a:prstGeom prst="rect">
                <a:avLst/>
              </a:prstGeom>
            </p:spPr>
          </p:pic>
        </mc:Fallback>
      </mc:AlternateContent>
      <p:grpSp>
        <p:nvGrpSpPr>
          <p:cNvPr id="27" name="Group 26">
            <a:extLst>
              <a:ext uri="{FF2B5EF4-FFF2-40B4-BE49-F238E27FC236}">
                <a16:creationId xmlns:a16="http://schemas.microsoft.com/office/drawing/2014/main" id="{28C3617D-0184-CD25-0DEB-0BB934BB94AB}"/>
              </a:ext>
            </a:extLst>
          </p:cNvPr>
          <p:cNvGrpSpPr/>
          <p:nvPr/>
        </p:nvGrpSpPr>
        <p:grpSpPr>
          <a:xfrm>
            <a:off x="5295234" y="2492717"/>
            <a:ext cx="989640" cy="1038960"/>
            <a:chOff x="6576553" y="2810493"/>
            <a:chExt cx="989640" cy="1038960"/>
          </a:xfrm>
        </p:grpSpPr>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0F4A7749-4666-51B6-DD55-C70E84F338C0}"/>
                    </a:ext>
                  </a:extLst>
                </p14:cNvPr>
                <p14:cNvContentPartPr/>
                <p14:nvPr/>
              </p14:nvContentPartPr>
              <p14:xfrm>
                <a:off x="6833593" y="2873853"/>
                <a:ext cx="546120" cy="975600"/>
              </p14:xfrm>
            </p:contentPart>
          </mc:Choice>
          <mc:Fallback xmlns="">
            <p:pic>
              <p:nvPicPr>
                <p:cNvPr id="23" name="Ink 22">
                  <a:extLst>
                    <a:ext uri="{FF2B5EF4-FFF2-40B4-BE49-F238E27FC236}">
                      <a16:creationId xmlns:a16="http://schemas.microsoft.com/office/drawing/2014/main" id="{0F4A7749-4666-51B6-DD55-C70E84F338C0}"/>
                    </a:ext>
                  </a:extLst>
                </p:cNvPr>
                <p:cNvPicPr/>
                <p:nvPr/>
              </p:nvPicPr>
              <p:blipFill>
                <a:blip r:embed="rId5"/>
                <a:stretch>
                  <a:fillRect/>
                </a:stretch>
              </p:blipFill>
              <p:spPr>
                <a:xfrm>
                  <a:off x="6797953" y="2837853"/>
                  <a:ext cx="617760" cy="1047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5" name="Ink 24">
                  <a:extLst>
                    <a:ext uri="{FF2B5EF4-FFF2-40B4-BE49-F238E27FC236}">
                      <a16:creationId xmlns:a16="http://schemas.microsoft.com/office/drawing/2014/main" id="{D7807081-7C5C-543E-3569-C66B37427905}"/>
                    </a:ext>
                  </a:extLst>
                </p14:cNvPr>
                <p14:cNvContentPartPr/>
                <p14:nvPr/>
              </p14:nvContentPartPr>
              <p14:xfrm>
                <a:off x="6576553" y="2810493"/>
                <a:ext cx="989640" cy="1006560"/>
              </p14:xfrm>
            </p:contentPart>
          </mc:Choice>
          <mc:Fallback xmlns="">
            <p:pic>
              <p:nvPicPr>
                <p:cNvPr id="25" name="Ink 24">
                  <a:extLst>
                    <a:ext uri="{FF2B5EF4-FFF2-40B4-BE49-F238E27FC236}">
                      <a16:creationId xmlns:a16="http://schemas.microsoft.com/office/drawing/2014/main" id="{D7807081-7C5C-543E-3569-C66B37427905}"/>
                    </a:ext>
                  </a:extLst>
                </p:cNvPr>
                <p:cNvPicPr/>
                <p:nvPr/>
              </p:nvPicPr>
              <p:blipFill>
                <a:blip r:embed="rId7"/>
                <a:stretch>
                  <a:fillRect/>
                </a:stretch>
              </p:blipFill>
              <p:spPr>
                <a:xfrm>
                  <a:off x="6540553" y="2774493"/>
                  <a:ext cx="1061280" cy="1078200"/>
                </a:xfrm>
                <a:prstGeom prst="rect">
                  <a:avLst/>
                </a:prstGeom>
              </p:spPr>
            </p:pic>
          </mc:Fallback>
        </mc:AlternateContent>
      </p:grpSp>
      <p:grpSp>
        <p:nvGrpSpPr>
          <p:cNvPr id="30" name="Group 29">
            <a:extLst>
              <a:ext uri="{FF2B5EF4-FFF2-40B4-BE49-F238E27FC236}">
                <a16:creationId xmlns:a16="http://schemas.microsoft.com/office/drawing/2014/main" id="{27590A10-3B98-661D-B3C8-F0DACB851D19}"/>
              </a:ext>
            </a:extLst>
          </p:cNvPr>
          <p:cNvGrpSpPr/>
          <p:nvPr/>
        </p:nvGrpSpPr>
        <p:grpSpPr>
          <a:xfrm>
            <a:off x="2405208" y="2454141"/>
            <a:ext cx="989640" cy="1038960"/>
            <a:chOff x="6576553" y="2810493"/>
            <a:chExt cx="989640" cy="1038960"/>
          </a:xfrm>
        </p:grpSpPr>
        <mc:AlternateContent xmlns:mc="http://schemas.openxmlformats.org/markup-compatibility/2006" xmlns:p14="http://schemas.microsoft.com/office/powerpoint/2010/main">
          <mc:Choice Requires="p14">
            <p:contentPart p14:bwMode="auto" r:id="rId8">
              <p14:nvContentPartPr>
                <p14:cNvPr id="31" name="Ink 30">
                  <a:extLst>
                    <a:ext uri="{FF2B5EF4-FFF2-40B4-BE49-F238E27FC236}">
                      <a16:creationId xmlns:a16="http://schemas.microsoft.com/office/drawing/2014/main" id="{2A0E3DF1-E6E7-25E3-7F53-15ACA7A9D424}"/>
                    </a:ext>
                  </a:extLst>
                </p14:cNvPr>
                <p14:cNvContentPartPr/>
                <p14:nvPr/>
              </p14:nvContentPartPr>
              <p14:xfrm>
                <a:off x="6833593" y="2873853"/>
                <a:ext cx="546120" cy="975600"/>
              </p14:xfrm>
            </p:contentPart>
          </mc:Choice>
          <mc:Fallback xmlns="">
            <p:pic>
              <p:nvPicPr>
                <p:cNvPr id="31" name="Ink 30">
                  <a:extLst>
                    <a:ext uri="{FF2B5EF4-FFF2-40B4-BE49-F238E27FC236}">
                      <a16:creationId xmlns:a16="http://schemas.microsoft.com/office/drawing/2014/main" id="{2A0E3DF1-E6E7-25E3-7F53-15ACA7A9D424}"/>
                    </a:ext>
                  </a:extLst>
                </p:cNvPr>
                <p:cNvPicPr/>
                <p:nvPr/>
              </p:nvPicPr>
              <p:blipFill>
                <a:blip r:embed="rId5"/>
                <a:stretch>
                  <a:fillRect/>
                </a:stretch>
              </p:blipFill>
              <p:spPr>
                <a:xfrm>
                  <a:off x="6797953" y="2837853"/>
                  <a:ext cx="617760" cy="1047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2F9E2189-E3CF-53C7-97C8-6AFAADB4FC26}"/>
                    </a:ext>
                  </a:extLst>
                </p14:cNvPr>
                <p14:cNvContentPartPr/>
                <p14:nvPr/>
              </p14:nvContentPartPr>
              <p14:xfrm>
                <a:off x="6576553" y="2810493"/>
                <a:ext cx="989640" cy="1006560"/>
              </p14:xfrm>
            </p:contentPart>
          </mc:Choice>
          <mc:Fallback xmlns="">
            <p:pic>
              <p:nvPicPr>
                <p:cNvPr id="33" name="Ink 32">
                  <a:extLst>
                    <a:ext uri="{FF2B5EF4-FFF2-40B4-BE49-F238E27FC236}">
                      <a16:creationId xmlns:a16="http://schemas.microsoft.com/office/drawing/2014/main" id="{2F9E2189-E3CF-53C7-97C8-6AFAADB4FC26}"/>
                    </a:ext>
                  </a:extLst>
                </p:cNvPr>
                <p:cNvPicPr/>
                <p:nvPr/>
              </p:nvPicPr>
              <p:blipFill>
                <a:blip r:embed="rId7"/>
                <a:stretch>
                  <a:fillRect/>
                </a:stretch>
              </p:blipFill>
              <p:spPr>
                <a:xfrm>
                  <a:off x="6540553" y="2774493"/>
                  <a:ext cx="1061280" cy="1078200"/>
                </a:xfrm>
                <a:prstGeom prst="rect">
                  <a:avLst/>
                </a:prstGeom>
              </p:spPr>
            </p:pic>
          </mc:Fallback>
        </mc:AlternateContent>
      </p:grpSp>
      <p:sp>
        <p:nvSpPr>
          <p:cNvPr id="34" name="Rectangle 4">
            <a:extLst>
              <a:ext uri="{FF2B5EF4-FFF2-40B4-BE49-F238E27FC236}">
                <a16:creationId xmlns:a16="http://schemas.microsoft.com/office/drawing/2014/main" id="{2811B008-9711-0ADF-B9EB-67C8056B5762}"/>
              </a:ext>
            </a:extLst>
          </p:cNvPr>
          <p:cNvSpPr>
            <a:spLocks noChangeArrowheads="1"/>
          </p:cNvSpPr>
          <p:nvPr/>
        </p:nvSpPr>
        <p:spPr bwMode="auto">
          <a:xfrm>
            <a:off x="359643" y="1419637"/>
            <a:ext cx="382734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sz="1600" dirty="0">
                <a:solidFill>
                  <a:srgbClr val="FF0000"/>
                </a:solidFill>
                <a:latin typeface="+mn-lt"/>
              </a:rPr>
              <a:t>Settlor cannot protect his own property from creditors by way of trust if that is the main purpose of the trust.</a:t>
            </a:r>
          </a:p>
        </p:txBody>
      </p:sp>
    </p:spTree>
    <p:extLst>
      <p:ext uri="{BB962C8B-B14F-4D97-AF65-F5344CB8AC3E}">
        <p14:creationId xmlns:p14="http://schemas.microsoft.com/office/powerpoint/2010/main" val="789757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63"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p:cTn id="17" dur="2000" fill="hold"/>
                                        <p:tgtEl>
                                          <p:spTgt spid="27"/>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63" presetClass="entr" presetSubtype="0"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p:cTn id="30" dur="2000" fill="hold"/>
                                        <p:tgtEl>
                                          <p:spTgt spid="22"/>
                                        </p:tgtEl>
                                        <p:attrNameLst>
                                          <p:attrName>drawProgress</p:attrName>
                                        </p:attrNameLst>
                                      </p:cBhvr>
                                      <p:tavLst>
                                        <p:tav tm="0">
                                          <p:val>
                                            <p:fltVal val="0"/>
                                          </p:val>
                                        </p:tav>
                                        <p:tav tm="100000">
                                          <p:val>
                                            <p:fltVal val="1"/>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63"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anim calcmode="lin" valueType="num">
                                      <p:cBhvr>
                                        <p:cTn id="53" dur="2000" fill="hold"/>
                                        <p:tgtEl>
                                          <p:spTgt spid="30"/>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1" grpId="0"/>
      <p:bldP spid="32" grpId="1"/>
      <p:bldP spid="19" grpId="0"/>
      <p:bldP spid="7" grpId="1"/>
      <p:bldP spid="11" grpId="0"/>
      <p:bldP spid="14" grpId="1"/>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17F6E-BB39-446C-2F3F-A40FAD9F5D67}"/>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2A4ACD85-D899-C73A-044F-6FECC0821D99}"/>
              </a:ext>
            </a:extLst>
          </p:cNvPr>
          <p:cNvSpPr>
            <a:spLocks noGrp="1"/>
          </p:cNvSpPr>
          <p:nvPr>
            <p:ph type="title"/>
          </p:nvPr>
        </p:nvSpPr>
        <p:spPr/>
        <p:txBody>
          <a:bodyPr/>
          <a:lstStyle/>
          <a:p>
            <a:r>
              <a:rPr lang="en-US" altLang="en-US" dirty="0">
                <a:latin typeface="+mn-lt"/>
                <a:ea typeface="ＭＳ Ｐゴシック" panose="020B0600070205080204" pitchFamily="34" charset="-128"/>
              </a:rPr>
              <a:t>Sham/discriminating trusts</a:t>
            </a:r>
          </a:p>
        </p:txBody>
      </p:sp>
      <p:sp>
        <p:nvSpPr>
          <p:cNvPr id="4" name="Content Placeholder 2">
            <a:extLst>
              <a:ext uri="{FF2B5EF4-FFF2-40B4-BE49-F238E27FC236}">
                <a16:creationId xmlns:a16="http://schemas.microsoft.com/office/drawing/2014/main" id="{37A8F541-345B-F6F6-C2F9-E946D4057ADF}"/>
              </a:ext>
            </a:extLst>
          </p:cNvPr>
          <p:cNvSpPr txBox="1">
            <a:spLocks/>
          </p:cNvSpPr>
          <p:nvPr/>
        </p:nvSpPr>
        <p:spPr>
          <a:xfrm>
            <a:off x="558800" y="3187700"/>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lgn="ctr">
              <a:defRPr/>
            </a:pPr>
            <a:endParaRPr lang="en-US" altLang="en-US" kern="0" dirty="0">
              <a:ea typeface="ＭＳ Ｐゴシック" pitchFamily="34" charset="-128"/>
            </a:endParaRPr>
          </a:p>
        </p:txBody>
      </p:sp>
      <p:sp>
        <p:nvSpPr>
          <p:cNvPr id="21" name="Content Placeholder 2">
            <a:extLst>
              <a:ext uri="{FF2B5EF4-FFF2-40B4-BE49-F238E27FC236}">
                <a16:creationId xmlns:a16="http://schemas.microsoft.com/office/drawing/2014/main" id="{BD662ED7-4ADC-D15B-0EE0-F0C829D55D8F}"/>
              </a:ext>
            </a:extLst>
          </p:cNvPr>
          <p:cNvSpPr txBox="1">
            <a:spLocks/>
          </p:cNvSpPr>
          <p:nvPr/>
        </p:nvSpPr>
        <p:spPr bwMode="auto">
          <a:xfrm>
            <a:off x="685800" y="1844824"/>
            <a:ext cx="7418784"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sz="2000" b="1" dirty="0">
                <a:latin typeface="+mn-lt"/>
              </a:rPr>
              <a:t>Illusory and sham trusts:</a:t>
            </a:r>
          </a:p>
          <a:p>
            <a:r>
              <a:rPr lang="en-GB" sz="2000" i="1" u="sng" dirty="0">
                <a:effectLst/>
                <a:latin typeface="Arial" panose="020B0604020202020204" pitchFamily="34" charset="0"/>
                <a:ea typeface="Times New Roman" panose="02020603050405020304" pitchFamily="18" charset="0"/>
              </a:rPr>
              <a:t>JSC </a:t>
            </a:r>
            <a:r>
              <a:rPr lang="en-GB" sz="2000" i="1" u="sng" dirty="0" err="1">
                <a:effectLst/>
                <a:latin typeface="Arial" panose="020B0604020202020204" pitchFamily="34" charset="0"/>
                <a:ea typeface="Times New Roman" panose="02020603050405020304" pitchFamily="18" charset="0"/>
              </a:rPr>
              <a:t>Mezhdunarodniy</a:t>
            </a:r>
            <a:r>
              <a:rPr lang="en-GB" sz="2000" i="1" u="sng" dirty="0">
                <a:effectLst/>
                <a:latin typeface="Arial" panose="020B0604020202020204" pitchFamily="34" charset="0"/>
                <a:ea typeface="Times New Roman" panose="02020603050405020304" pitchFamily="18" charset="0"/>
              </a:rPr>
              <a:t> </a:t>
            </a:r>
            <a:r>
              <a:rPr lang="en-GB" sz="2000" i="1" u="sng" dirty="0" err="1">
                <a:effectLst/>
                <a:latin typeface="Arial" panose="020B0604020202020204" pitchFamily="34" charset="0"/>
                <a:ea typeface="Times New Roman" panose="02020603050405020304" pitchFamily="18" charset="0"/>
              </a:rPr>
              <a:t>Promyshlenniy</a:t>
            </a:r>
            <a:r>
              <a:rPr lang="en-GB" sz="2000" i="1" u="sng" dirty="0">
                <a:effectLst/>
                <a:latin typeface="Arial" panose="020B0604020202020204" pitchFamily="34" charset="0"/>
                <a:ea typeface="Times New Roman" panose="02020603050405020304" pitchFamily="18" charset="0"/>
              </a:rPr>
              <a:t> Bank v </a:t>
            </a:r>
            <a:r>
              <a:rPr lang="en-GB" sz="2000" i="1" u="sng" dirty="0" err="1">
                <a:effectLst/>
                <a:latin typeface="Arial" panose="020B0604020202020204" pitchFamily="34" charset="0"/>
                <a:ea typeface="Times New Roman" panose="02020603050405020304" pitchFamily="18" charset="0"/>
              </a:rPr>
              <a:t>Puchachev</a:t>
            </a:r>
            <a:r>
              <a:rPr lang="en-GB" sz="2000" u="sng" dirty="0">
                <a:effectLst/>
                <a:latin typeface="Arial" panose="020B0604020202020204" pitchFamily="34" charset="0"/>
                <a:ea typeface="Times New Roman" panose="02020603050405020304" pitchFamily="18" charset="0"/>
              </a:rPr>
              <a:t> [2017] EWHC 2426 (Ch) (also see many articles online, such as </a:t>
            </a:r>
            <a:r>
              <a:rPr lang="en-GB" sz="2000" u="sng" dirty="0">
                <a:effectLst/>
                <a:latin typeface="Arial" panose="020B0604020202020204" pitchFamily="34" charset="0"/>
                <a:ea typeface="Times New Roman" panose="02020603050405020304" pitchFamily="18" charset="0"/>
                <a:hlinkClick r:id="rId2"/>
              </a:rPr>
              <a:t>https://www.theguardian.com/world/2018/oct/23/russian-banker-loses-9m-london-home-in-legal-fight-with-Moscow</a:t>
            </a:r>
            <a:r>
              <a:rPr lang="en-GB" sz="2000" u="sng" dirty="0">
                <a:effectLst/>
                <a:latin typeface="Arial" panose="020B0604020202020204" pitchFamily="34" charset="0"/>
                <a:ea typeface="Times New Roman" panose="02020603050405020304" pitchFamily="18" charset="0"/>
              </a:rPr>
              <a:t>)</a:t>
            </a:r>
          </a:p>
          <a:p>
            <a:pPr marL="0" lvl="1" indent="0">
              <a:buNone/>
            </a:pPr>
            <a:endParaRPr lang="en-US" altLang="en-US" sz="2000" b="1" dirty="0">
              <a:latin typeface="+mn-lt"/>
            </a:endParaRPr>
          </a:p>
          <a:p>
            <a:pPr marL="0" lvl="1" indent="0">
              <a:buNone/>
            </a:pPr>
            <a:r>
              <a:rPr lang="en-US" altLang="en-US" sz="2000" b="1" dirty="0">
                <a:latin typeface="+mn-lt"/>
              </a:rPr>
              <a:t>Trusts in restraint of marriage, religion and other discriminating trusts:</a:t>
            </a:r>
          </a:p>
          <a:p>
            <a:pPr marL="342900" indent="-342900">
              <a:buFont typeface="Arial" panose="020B0604020202020204" pitchFamily="34" charset="0"/>
              <a:buChar char="•"/>
            </a:pPr>
            <a:r>
              <a:rPr lang="en-GB" altLang="en-US" sz="2000" dirty="0">
                <a:latin typeface="+mn-lt"/>
              </a:rPr>
              <a:t>Trusts in restraint of marriage are odious to the law – but should they be?</a:t>
            </a:r>
            <a:endParaRPr lang="en-US" altLang="en-US" sz="2000" dirty="0">
              <a:latin typeface="+mn-lt"/>
            </a:endParaRPr>
          </a:p>
          <a:p>
            <a:pPr marL="342900" indent="-342900">
              <a:buFont typeface="Arial" panose="020B0604020202020204" pitchFamily="34" charset="0"/>
              <a:buChar char="•"/>
            </a:pPr>
            <a:r>
              <a:rPr lang="en-US" altLang="en-US" sz="2000" dirty="0">
                <a:latin typeface="+mn-lt"/>
              </a:rPr>
              <a:t>Unclear whether discriminating conditions attached to private trusts would nowadays still be upheld. </a:t>
            </a:r>
          </a:p>
          <a:p>
            <a:pPr>
              <a:buFontTx/>
              <a:buChar char="•"/>
            </a:pPr>
            <a:endParaRPr lang="en-US" altLang="en-US" sz="1200" dirty="0">
              <a:latin typeface="Calibri" panose="020F0502020204030204" pitchFamily="34" charset="0"/>
            </a:endParaRPr>
          </a:p>
          <a:p>
            <a:endParaRPr lang="en-US" altLang="en-US" dirty="0"/>
          </a:p>
        </p:txBody>
      </p:sp>
    </p:spTree>
    <p:extLst>
      <p:ext uri="{BB962C8B-B14F-4D97-AF65-F5344CB8AC3E}">
        <p14:creationId xmlns:p14="http://schemas.microsoft.com/office/powerpoint/2010/main" val="2046397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42C8BF10-E1DB-4D9B-ABB2-D637CCC0A24F}"/>
              </a:ext>
            </a:extLst>
          </p:cNvPr>
          <p:cNvSpPr>
            <a:spLocks noGrp="1"/>
          </p:cNvSpPr>
          <p:nvPr>
            <p:ph type="title"/>
          </p:nvPr>
        </p:nvSpPr>
        <p:spPr/>
        <p:txBody>
          <a:bodyPr/>
          <a:lstStyle/>
          <a:p>
            <a:r>
              <a:rPr lang="en-US" altLang="en-US" sz="4000" dirty="0">
                <a:latin typeface="+mn-lt"/>
                <a:ea typeface="ＭＳ Ｐゴシック" panose="020B0600070205080204" pitchFamily="34" charset="-128"/>
              </a:rPr>
              <a:t>Trusts linked to illegal purpose (I)</a:t>
            </a:r>
          </a:p>
        </p:txBody>
      </p:sp>
      <p:sp>
        <p:nvSpPr>
          <p:cNvPr id="3" name="Content Placeholder 2">
            <a:extLst>
              <a:ext uri="{FF2B5EF4-FFF2-40B4-BE49-F238E27FC236}">
                <a16:creationId xmlns:a16="http://schemas.microsoft.com/office/drawing/2014/main" id="{175357C9-C306-4CDC-B3BC-F13664F11A0E}"/>
              </a:ext>
            </a:extLst>
          </p:cNvPr>
          <p:cNvSpPr txBox="1">
            <a:spLocks/>
          </p:cNvSpPr>
          <p:nvPr/>
        </p:nvSpPr>
        <p:spPr bwMode="auto">
          <a:xfrm>
            <a:off x="395536" y="1340768"/>
            <a:ext cx="7202488"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charset="0"/>
                <a:ea typeface="ＭＳ Ｐゴシック" pitchFamily="4" charset="-128"/>
              </a:defRPr>
            </a:lvl1pPr>
            <a:lvl2pPr marL="742950" indent="-285750">
              <a:spcBef>
                <a:spcPct val="20000"/>
              </a:spcBef>
              <a:buChar char="–"/>
              <a:defRPr sz="1600">
                <a:solidFill>
                  <a:schemeClr val="tx1"/>
                </a:solidFill>
                <a:latin typeface="Arial" charset="0"/>
                <a:ea typeface="ＭＳ Ｐゴシック" pitchFamily="4" charset="-128"/>
              </a:defRPr>
            </a:lvl2pPr>
            <a:lvl3pPr marL="1143000" indent="-228600">
              <a:spcBef>
                <a:spcPct val="20000"/>
              </a:spcBef>
              <a:buChar char="•"/>
              <a:defRPr sz="1400">
                <a:solidFill>
                  <a:schemeClr val="tx1"/>
                </a:solidFill>
                <a:latin typeface="Arial" charset="0"/>
                <a:ea typeface="ＭＳ Ｐゴシック" pitchFamily="4" charset="-128"/>
              </a:defRPr>
            </a:lvl3pPr>
            <a:lvl4pPr marL="1600200" indent="-228600">
              <a:spcBef>
                <a:spcPct val="20000"/>
              </a:spcBef>
              <a:buChar char="–"/>
              <a:defRPr sz="1200">
                <a:solidFill>
                  <a:schemeClr val="tx1"/>
                </a:solidFill>
                <a:latin typeface="Arial" charset="0"/>
                <a:ea typeface="ＭＳ Ｐゴシック" pitchFamily="4" charset="-128"/>
              </a:defRPr>
            </a:lvl4pPr>
            <a:lvl5pPr marL="2057400" indent="-228600">
              <a:spcBef>
                <a:spcPct val="20000"/>
              </a:spcBef>
              <a:buChar char="»"/>
              <a:defRPr sz="1200">
                <a:solidFill>
                  <a:schemeClr val="tx1"/>
                </a:solidFill>
                <a:latin typeface="Arial" charset="0"/>
                <a:ea typeface="ＭＳ Ｐゴシック" pitchFamily="4" charset="-128"/>
              </a:defRPr>
            </a:lvl5pPr>
            <a:lvl6pPr marL="25146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6pPr>
            <a:lvl7pPr marL="29718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7pPr>
            <a:lvl8pPr marL="34290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8pPr>
            <a:lvl9pPr marL="3886200" indent="-228600" eaLnBrk="0" fontAlgn="base" hangingPunct="0">
              <a:spcBef>
                <a:spcPct val="20000"/>
              </a:spcBef>
              <a:spcAft>
                <a:spcPct val="0"/>
              </a:spcAft>
              <a:buChar char="»"/>
              <a:defRPr sz="1200">
                <a:solidFill>
                  <a:schemeClr val="tx1"/>
                </a:solidFill>
                <a:latin typeface="Arial" charset="0"/>
                <a:ea typeface="ＭＳ Ｐゴシック" pitchFamily="4" charset="-128"/>
              </a:defRPr>
            </a:lvl9pPr>
          </a:lstStyle>
          <a:p>
            <a:pPr marL="0" lvl="1" indent="0">
              <a:buFontTx/>
              <a:buNone/>
              <a:defRPr/>
            </a:pPr>
            <a:endParaRPr lang="en-US" altLang="en-US" sz="2400" b="1" dirty="0">
              <a:latin typeface="+mn-lt"/>
            </a:endParaRPr>
          </a:p>
          <a:p>
            <a:pPr marL="0" lvl="1" indent="0">
              <a:buFontTx/>
              <a:buNone/>
              <a:defRPr/>
            </a:pPr>
            <a:endParaRPr lang="en-GB" altLang="en-US" sz="2400" b="1" dirty="0">
              <a:latin typeface="+mn-lt"/>
            </a:endParaRPr>
          </a:p>
          <a:p>
            <a:pPr lvl="1">
              <a:buFontTx/>
              <a:buNone/>
              <a:defRPr/>
            </a:pPr>
            <a:endParaRPr lang="en-US" altLang="en-US" dirty="0">
              <a:latin typeface="+mn-lt"/>
            </a:endParaRPr>
          </a:p>
          <a:p>
            <a:pPr>
              <a:buFontTx/>
              <a:buChar char="•"/>
              <a:defRPr/>
            </a:pPr>
            <a:endParaRPr lang="en-US" altLang="en-US" sz="1200" dirty="0">
              <a:latin typeface="+mn-lt"/>
            </a:endParaRPr>
          </a:p>
          <a:p>
            <a:pPr>
              <a:defRPr/>
            </a:pPr>
            <a:endParaRPr lang="en-US" altLang="en-US" dirty="0">
              <a:latin typeface="+mn-lt"/>
            </a:endParaRPr>
          </a:p>
        </p:txBody>
      </p:sp>
      <p:sp>
        <p:nvSpPr>
          <p:cNvPr id="4" name="Content Placeholder 2">
            <a:extLst>
              <a:ext uri="{FF2B5EF4-FFF2-40B4-BE49-F238E27FC236}">
                <a16:creationId xmlns:a16="http://schemas.microsoft.com/office/drawing/2014/main" id="{3A525DE5-A217-4B0B-B8C3-5DB16770125D}"/>
              </a:ext>
            </a:extLst>
          </p:cNvPr>
          <p:cNvSpPr txBox="1">
            <a:spLocks/>
          </p:cNvSpPr>
          <p:nvPr/>
        </p:nvSpPr>
        <p:spPr>
          <a:xfrm>
            <a:off x="558800" y="3187700"/>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lgn="ctr">
              <a:defRPr/>
            </a:pPr>
            <a:endParaRPr lang="en-US" altLang="en-US" kern="0" dirty="0">
              <a:ea typeface="ＭＳ Ｐゴシック" pitchFamily="34" charset="-128"/>
            </a:endParaRPr>
          </a:p>
        </p:txBody>
      </p:sp>
      <p:cxnSp>
        <p:nvCxnSpPr>
          <p:cNvPr id="10245" name="Straight Connector 3">
            <a:extLst>
              <a:ext uri="{FF2B5EF4-FFF2-40B4-BE49-F238E27FC236}">
                <a16:creationId xmlns:a16="http://schemas.microsoft.com/office/drawing/2014/main" id="{B78DB2FE-FB3C-4DB5-B7F7-4233E24224CF}"/>
              </a:ext>
            </a:extLst>
          </p:cNvPr>
          <p:cNvCxnSpPr>
            <a:cxnSpLocks noChangeShapeType="1"/>
          </p:cNvCxnSpPr>
          <p:nvPr/>
        </p:nvCxnSpPr>
        <p:spPr bwMode="auto">
          <a:xfrm>
            <a:off x="4405561" y="3153693"/>
            <a:ext cx="0" cy="12112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0246" name="Rectangle 4">
            <a:extLst>
              <a:ext uri="{FF2B5EF4-FFF2-40B4-BE49-F238E27FC236}">
                <a16:creationId xmlns:a16="http://schemas.microsoft.com/office/drawing/2014/main" id="{B116AFFE-73A4-45DE-9647-C6A0022DFE52}"/>
              </a:ext>
            </a:extLst>
          </p:cNvPr>
          <p:cNvSpPr>
            <a:spLocks noChangeArrowheads="1"/>
          </p:cNvSpPr>
          <p:nvPr/>
        </p:nvSpPr>
        <p:spPr bwMode="auto">
          <a:xfrm>
            <a:off x="2012919" y="4531643"/>
            <a:ext cx="47852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latin typeface="+mn-lt"/>
              </a:rPr>
              <a:t>T (50%), M (50%) (beneficiaries)</a:t>
            </a:r>
            <a:endParaRPr lang="en-US" altLang="en-US">
              <a:latin typeface="+mn-lt"/>
            </a:endParaRPr>
          </a:p>
        </p:txBody>
      </p:sp>
      <p:sp>
        <p:nvSpPr>
          <p:cNvPr id="10247" name="Rectangle 7">
            <a:extLst>
              <a:ext uri="{FF2B5EF4-FFF2-40B4-BE49-F238E27FC236}">
                <a16:creationId xmlns:a16="http://schemas.microsoft.com/office/drawing/2014/main" id="{E217617B-F24A-46CA-8C90-D50CEDCD0246}"/>
              </a:ext>
            </a:extLst>
          </p:cNvPr>
          <p:cNvSpPr>
            <a:spLocks noChangeArrowheads="1"/>
          </p:cNvSpPr>
          <p:nvPr/>
        </p:nvSpPr>
        <p:spPr bwMode="auto">
          <a:xfrm>
            <a:off x="3278714" y="2682206"/>
            <a:ext cx="22536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latin typeface="+mn-lt"/>
              </a:rPr>
              <a:t>T, M (trustees)</a:t>
            </a:r>
            <a:endParaRPr lang="en-US" altLang="en-US">
              <a:latin typeface="+mn-lt"/>
            </a:endParaRPr>
          </a:p>
        </p:txBody>
      </p:sp>
      <p:sp>
        <p:nvSpPr>
          <p:cNvPr id="10248" name="Rectangle 9">
            <a:extLst>
              <a:ext uri="{FF2B5EF4-FFF2-40B4-BE49-F238E27FC236}">
                <a16:creationId xmlns:a16="http://schemas.microsoft.com/office/drawing/2014/main" id="{8DCCE1A6-1077-4E99-A7A9-1E1B391DDFD9}"/>
              </a:ext>
            </a:extLst>
          </p:cNvPr>
          <p:cNvSpPr>
            <a:spLocks noChangeArrowheads="1"/>
          </p:cNvSpPr>
          <p:nvPr/>
        </p:nvSpPr>
        <p:spPr bwMode="auto">
          <a:xfrm>
            <a:off x="1519028" y="2691731"/>
            <a:ext cx="7645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solidFill>
                  <a:srgbClr val="7F7F7F"/>
                </a:solidFill>
                <a:latin typeface="+mn-lt"/>
              </a:rPr>
              <a:t>T, M</a:t>
            </a:r>
            <a:endParaRPr lang="en-US" altLang="en-US">
              <a:solidFill>
                <a:srgbClr val="7F7F7F"/>
              </a:solidFill>
              <a:latin typeface="+mn-lt"/>
            </a:endParaRPr>
          </a:p>
        </p:txBody>
      </p:sp>
      <p:cxnSp>
        <p:nvCxnSpPr>
          <p:cNvPr id="10249" name="Straight Arrow Connector 10">
            <a:extLst>
              <a:ext uri="{FF2B5EF4-FFF2-40B4-BE49-F238E27FC236}">
                <a16:creationId xmlns:a16="http://schemas.microsoft.com/office/drawing/2014/main" id="{58322749-BB02-4107-A1BF-A2CAEA46577D}"/>
              </a:ext>
            </a:extLst>
          </p:cNvPr>
          <p:cNvCxnSpPr>
            <a:cxnSpLocks noChangeShapeType="1"/>
          </p:cNvCxnSpPr>
          <p:nvPr/>
        </p:nvCxnSpPr>
        <p:spPr bwMode="auto">
          <a:xfrm>
            <a:off x="2341811" y="2912393"/>
            <a:ext cx="94297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0251" name="Rectangle 4">
            <a:extLst>
              <a:ext uri="{FF2B5EF4-FFF2-40B4-BE49-F238E27FC236}">
                <a16:creationId xmlns:a16="http://schemas.microsoft.com/office/drawing/2014/main" id="{0FF9F1D0-1A33-40B5-B6EF-3B8EA0A560F6}"/>
              </a:ext>
            </a:extLst>
          </p:cNvPr>
          <p:cNvSpPr>
            <a:spLocks noChangeArrowheads="1"/>
          </p:cNvSpPr>
          <p:nvPr/>
        </p:nvSpPr>
        <p:spPr bwMode="auto">
          <a:xfrm>
            <a:off x="1796394" y="2198018"/>
            <a:ext cx="26164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a:latin typeface="+mn-lt"/>
              </a:rPr>
              <a:t>Both contribute</a:t>
            </a:r>
          </a:p>
          <a:p>
            <a:pPr algn="ctr">
              <a:spcBef>
                <a:spcPct val="0"/>
              </a:spcBef>
            </a:pPr>
            <a:r>
              <a:rPr lang="en-US" altLang="en-US" sz="1600">
                <a:latin typeface="+mn-lt"/>
              </a:rPr>
              <a:t>to the purchase of a house</a:t>
            </a:r>
          </a:p>
        </p:txBody>
      </p:sp>
      <p:sp>
        <p:nvSpPr>
          <p:cNvPr id="20" name="Rectangle 7">
            <a:extLst>
              <a:ext uri="{FF2B5EF4-FFF2-40B4-BE49-F238E27FC236}">
                <a16:creationId xmlns:a16="http://schemas.microsoft.com/office/drawing/2014/main" id="{BCE962A0-6C30-40B9-B507-7001715B82C6}"/>
              </a:ext>
            </a:extLst>
          </p:cNvPr>
          <p:cNvSpPr>
            <a:spLocks noChangeArrowheads="1"/>
          </p:cNvSpPr>
          <p:nvPr/>
        </p:nvSpPr>
        <p:spPr bwMode="auto">
          <a:xfrm>
            <a:off x="3251603" y="2632993"/>
            <a:ext cx="30540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latin typeface="+mn-lt"/>
              </a:rPr>
              <a:t>T (sole legal owner)</a:t>
            </a:r>
            <a:endParaRPr lang="en-US" altLang="en-US">
              <a:latin typeface="+mn-lt"/>
            </a:endParaRPr>
          </a:p>
        </p:txBody>
      </p:sp>
      <p:sp>
        <p:nvSpPr>
          <p:cNvPr id="22" name="Rectangle 7">
            <a:extLst>
              <a:ext uri="{FF2B5EF4-FFF2-40B4-BE49-F238E27FC236}">
                <a16:creationId xmlns:a16="http://schemas.microsoft.com/office/drawing/2014/main" id="{D67FEB82-166D-4DDB-9438-295D5DCE49F5}"/>
              </a:ext>
            </a:extLst>
          </p:cNvPr>
          <p:cNvSpPr>
            <a:spLocks noChangeArrowheads="1"/>
          </p:cNvSpPr>
          <p:nvPr/>
        </p:nvSpPr>
        <p:spPr bwMode="auto">
          <a:xfrm>
            <a:off x="5283743" y="3106068"/>
            <a:ext cx="302518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a:solidFill>
                  <a:srgbClr val="00B050"/>
                </a:solidFill>
                <a:latin typeface="+mn-lt"/>
              </a:rPr>
              <a:t>What it</a:t>
            </a:r>
          </a:p>
          <a:p>
            <a:pPr algn="ctr">
              <a:spcBef>
                <a:spcPct val="0"/>
              </a:spcBef>
            </a:pPr>
            <a:r>
              <a:rPr lang="en-US" altLang="en-US" b="1">
                <a:solidFill>
                  <a:srgbClr val="00B050"/>
                </a:solidFill>
                <a:latin typeface="+mn-lt"/>
              </a:rPr>
              <a:t> should have </a:t>
            </a:r>
          </a:p>
          <a:p>
            <a:pPr algn="ctr">
              <a:spcBef>
                <a:spcPct val="0"/>
              </a:spcBef>
            </a:pPr>
            <a:r>
              <a:rPr lang="en-US" altLang="en-US" b="1">
                <a:solidFill>
                  <a:srgbClr val="00B050"/>
                </a:solidFill>
                <a:latin typeface="+mn-lt"/>
              </a:rPr>
              <a:t>been: express trust</a:t>
            </a:r>
            <a:endParaRPr lang="en-US" altLang="en-US">
              <a:solidFill>
                <a:srgbClr val="00B050"/>
              </a:solidFill>
              <a:latin typeface="+mn-lt"/>
            </a:endParaRPr>
          </a:p>
        </p:txBody>
      </p:sp>
      <p:sp>
        <p:nvSpPr>
          <p:cNvPr id="23" name="Rectangle 7">
            <a:extLst>
              <a:ext uri="{FF2B5EF4-FFF2-40B4-BE49-F238E27FC236}">
                <a16:creationId xmlns:a16="http://schemas.microsoft.com/office/drawing/2014/main" id="{8475374C-88B4-4E07-8947-E2B550D30C98}"/>
              </a:ext>
            </a:extLst>
          </p:cNvPr>
          <p:cNvSpPr>
            <a:spLocks noChangeArrowheads="1"/>
          </p:cNvSpPr>
          <p:nvPr/>
        </p:nvSpPr>
        <p:spPr bwMode="auto">
          <a:xfrm>
            <a:off x="4916551" y="3152106"/>
            <a:ext cx="3616696"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b="1" dirty="0">
                <a:solidFill>
                  <a:srgbClr val="FF0000"/>
                </a:solidFill>
                <a:latin typeface="+mn-lt"/>
              </a:rPr>
              <a:t>The actual </a:t>
            </a:r>
          </a:p>
          <a:p>
            <a:pPr algn="ctr">
              <a:spcBef>
                <a:spcPct val="0"/>
              </a:spcBef>
            </a:pPr>
            <a:r>
              <a:rPr lang="en-US" altLang="en-US" b="1" dirty="0">
                <a:solidFill>
                  <a:srgbClr val="FF0000"/>
                </a:solidFill>
                <a:latin typeface="+mn-lt"/>
              </a:rPr>
              <a:t>arrangement: no trust, </a:t>
            </a:r>
          </a:p>
          <a:p>
            <a:pPr algn="ctr">
              <a:spcBef>
                <a:spcPct val="0"/>
              </a:spcBef>
            </a:pPr>
            <a:r>
              <a:rPr lang="en-US" altLang="en-US" b="1" dirty="0">
                <a:solidFill>
                  <a:srgbClr val="FF0000"/>
                </a:solidFill>
                <a:latin typeface="+mn-lt"/>
              </a:rPr>
              <a:t>allowing M </a:t>
            </a:r>
          </a:p>
          <a:p>
            <a:pPr algn="ctr">
              <a:spcBef>
                <a:spcPct val="0"/>
              </a:spcBef>
            </a:pPr>
            <a:r>
              <a:rPr lang="en-US" altLang="en-US" b="1" dirty="0">
                <a:solidFill>
                  <a:srgbClr val="FF0000"/>
                </a:solidFill>
                <a:latin typeface="+mn-lt"/>
              </a:rPr>
              <a:t>to illegally conceal her </a:t>
            </a:r>
          </a:p>
          <a:p>
            <a:pPr algn="ctr">
              <a:spcBef>
                <a:spcPct val="0"/>
              </a:spcBef>
            </a:pPr>
            <a:r>
              <a:rPr lang="en-US" altLang="en-US" b="1" dirty="0">
                <a:solidFill>
                  <a:srgbClr val="FF0000"/>
                </a:solidFill>
                <a:latin typeface="+mn-lt"/>
              </a:rPr>
              <a:t>ownership rights when </a:t>
            </a:r>
          </a:p>
          <a:p>
            <a:pPr algn="ctr">
              <a:spcBef>
                <a:spcPct val="0"/>
              </a:spcBef>
            </a:pPr>
            <a:r>
              <a:rPr lang="en-US" altLang="en-US" b="1" dirty="0">
                <a:solidFill>
                  <a:srgbClr val="FF0000"/>
                </a:solidFill>
                <a:latin typeface="+mn-lt"/>
              </a:rPr>
              <a:t>claiming benefits</a:t>
            </a:r>
            <a:endParaRPr lang="en-US" altLang="en-US" dirty="0">
              <a:solidFill>
                <a:srgbClr val="FF0000"/>
              </a:solidFill>
              <a:latin typeface="+mn-lt"/>
            </a:endParaRPr>
          </a:p>
        </p:txBody>
      </p:sp>
      <p:sp>
        <p:nvSpPr>
          <p:cNvPr id="10256" name="Rectangle 4">
            <a:extLst>
              <a:ext uri="{FF2B5EF4-FFF2-40B4-BE49-F238E27FC236}">
                <a16:creationId xmlns:a16="http://schemas.microsoft.com/office/drawing/2014/main" id="{E232083E-474B-496A-B9D2-45F6F85F9719}"/>
              </a:ext>
            </a:extLst>
          </p:cNvPr>
          <p:cNvSpPr>
            <a:spLocks noChangeArrowheads="1"/>
          </p:cNvSpPr>
          <p:nvPr/>
        </p:nvSpPr>
        <p:spPr bwMode="auto">
          <a:xfrm>
            <a:off x="4859338" y="5949950"/>
            <a:ext cx="3946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lgn="ctr">
              <a:spcBef>
                <a:spcPct val="0"/>
              </a:spcBef>
            </a:pPr>
            <a:r>
              <a:rPr lang="en-US" altLang="en-US" sz="1600" i="1" u="sng">
                <a:latin typeface="+mn-lt"/>
              </a:rPr>
              <a:t>Tinsley v Milligan </a:t>
            </a:r>
            <a:r>
              <a:rPr lang="en-US" altLang="en-US" sz="1600" u="sng">
                <a:latin typeface="+mn-lt"/>
              </a:rPr>
              <a:t>[1993] 3 All ER 65</a:t>
            </a:r>
          </a:p>
        </p:txBody>
      </p:sp>
      <p:pic>
        <p:nvPicPr>
          <p:cNvPr id="10257" name="Picture 18">
            <a:extLst>
              <a:ext uri="{FF2B5EF4-FFF2-40B4-BE49-F238E27FC236}">
                <a16:creationId xmlns:a16="http://schemas.microsoft.com/office/drawing/2014/main" id="{A91A7175-EDDE-43EC-A852-A4501A9F4F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1149" y="3329906"/>
            <a:ext cx="1011237" cy="754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09052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246"/>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10245"/>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0247"/>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p:bldP spid="10247" grpId="0"/>
      <p:bldP spid="20" grpId="0"/>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42C8BF10-E1DB-4D9B-ABB2-D637CCC0A24F}"/>
              </a:ext>
            </a:extLst>
          </p:cNvPr>
          <p:cNvSpPr>
            <a:spLocks noGrp="1"/>
          </p:cNvSpPr>
          <p:nvPr>
            <p:ph type="title"/>
          </p:nvPr>
        </p:nvSpPr>
        <p:spPr>
          <a:xfrm>
            <a:off x="685800" y="609600"/>
            <a:ext cx="7918648" cy="1143000"/>
          </a:xfrm>
        </p:spPr>
        <p:txBody>
          <a:bodyPr/>
          <a:lstStyle/>
          <a:p>
            <a:r>
              <a:rPr lang="en-US" altLang="en-US" sz="4000" dirty="0">
                <a:latin typeface="+mn-lt"/>
                <a:ea typeface="ＭＳ Ｐゴシック" panose="020B0600070205080204" pitchFamily="34" charset="-128"/>
              </a:rPr>
              <a:t>Trusts linked to illegal purpose (II)</a:t>
            </a:r>
          </a:p>
        </p:txBody>
      </p:sp>
      <p:sp>
        <p:nvSpPr>
          <p:cNvPr id="4" name="Content Placeholder 2">
            <a:extLst>
              <a:ext uri="{FF2B5EF4-FFF2-40B4-BE49-F238E27FC236}">
                <a16:creationId xmlns:a16="http://schemas.microsoft.com/office/drawing/2014/main" id="{3A525DE5-A217-4B0B-B8C3-5DB16770125D}"/>
              </a:ext>
            </a:extLst>
          </p:cNvPr>
          <p:cNvSpPr txBox="1">
            <a:spLocks/>
          </p:cNvSpPr>
          <p:nvPr/>
        </p:nvSpPr>
        <p:spPr>
          <a:xfrm>
            <a:off x="558800" y="3187700"/>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lgn="ctr">
              <a:defRPr/>
            </a:pPr>
            <a:endParaRPr lang="en-US" altLang="en-US" kern="0" dirty="0">
              <a:ea typeface="ＭＳ Ｐゴシック" pitchFamily="34" charset="-128"/>
            </a:endParaRPr>
          </a:p>
        </p:txBody>
      </p:sp>
      <p:sp>
        <p:nvSpPr>
          <p:cNvPr id="21" name="Content Placeholder 2">
            <a:extLst>
              <a:ext uri="{FF2B5EF4-FFF2-40B4-BE49-F238E27FC236}">
                <a16:creationId xmlns:a16="http://schemas.microsoft.com/office/drawing/2014/main" id="{D47DD79C-81FB-445E-B1DC-74307065CBCA}"/>
              </a:ext>
            </a:extLst>
          </p:cNvPr>
          <p:cNvSpPr txBox="1">
            <a:spLocks/>
          </p:cNvSpPr>
          <p:nvPr/>
        </p:nvSpPr>
        <p:spPr bwMode="auto">
          <a:xfrm>
            <a:off x="685800" y="1752600"/>
            <a:ext cx="7491413"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sz="2000" b="1" i="1" u="sng" dirty="0">
                <a:latin typeface="+mn-lt"/>
              </a:rPr>
              <a:t>Patel v Mirza </a:t>
            </a:r>
            <a:r>
              <a:rPr lang="en-US" altLang="en-US" sz="2000" b="1" u="sng" dirty="0">
                <a:latin typeface="+mn-lt"/>
              </a:rPr>
              <a:t>[2016] UKSC 42</a:t>
            </a:r>
          </a:p>
          <a:p>
            <a:endParaRPr lang="en-US" altLang="en-US" sz="2000" b="1" u="sng" dirty="0">
              <a:latin typeface="+mn-lt"/>
            </a:endParaRPr>
          </a:p>
          <a:p>
            <a:r>
              <a:rPr lang="en-US" altLang="en-US" sz="2000" dirty="0">
                <a:latin typeface="+mn-lt"/>
              </a:rPr>
              <a:t>Lord </a:t>
            </a:r>
            <a:r>
              <a:rPr lang="en-US" altLang="en-US" sz="2000" dirty="0" err="1">
                <a:latin typeface="+mn-lt"/>
              </a:rPr>
              <a:t>Toulson</a:t>
            </a:r>
            <a:r>
              <a:rPr lang="en-US" altLang="en-US" sz="2000" dirty="0">
                <a:latin typeface="+mn-lt"/>
              </a:rPr>
              <a:t> established the following three-fold test for whether allowing a claim would be contrary to the public interest. One would need to consider:</a:t>
            </a:r>
          </a:p>
          <a:p>
            <a:pPr marL="457200" indent="-457200">
              <a:buFont typeface="+mj-lt"/>
              <a:buAutoNum type="arabicParenR"/>
            </a:pPr>
            <a:r>
              <a:rPr lang="en-US" altLang="en-US" sz="2000" dirty="0">
                <a:latin typeface="+mn-lt"/>
              </a:rPr>
              <a:t>The underlying purpose of the prohibition which has been transgressed;</a:t>
            </a:r>
          </a:p>
          <a:p>
            <a:pPr marL="457200" indent="-457200">
              <a:buAutoNum type="arabicParenR"/>
            </a:pPr>
            <a:r>
              <a:rPr lang="en-US" altLang="en-US" sz="2000" dirty="0">
                <a:latin typeface="+mn-lt"/>
              </a:rPr>
              <a:t>Any other relevant public policies;</a:t>
            </a:r>
          </a:p>
          <a:p>
            <a:pPr marL="457200" indent="-457200">
              <a:buAutoNum type="arabicParenR"/>
            </a:pPr>
            <a:r>
              <a:rPr lang="en-US" altLang="en-US" sz="2000" dirty="0">
                <a:latin typeface="+mn-lt"/>
              </a:rPr>
              <a:t>The possibility of overkill unless the law is applied with a due sense of proportionality.</a:t>
            </a:r>
          </a:p>
          <a:p>
            <a:pPr>
              <a:buFontTx/>
              <a:buChar char="•"/>
            </a:pPr>
            <a:endParaRPr lang="en-US" altLang="en-US" sz="1200" dirty="0">
              <a:latin typeface="Calibri" panose="020F0502020204030204" pitchFamily="34" charset="0"/>
            </a:endParaRPr>
          </a:p>
          <a:p>
            <a:endParaRPr lang="en-US" altLang="en-US" dirty="0"/>
          </a:p>
        </p:txBody>
      </p:sp>
      <p:sp>
        <p:nvSpPr>
          <p:cNvPr id="3" name="Content Placeholder 2">
            <a:extLst>
              <a:ext uri="{FF2B5EF4-FFF2-40B4-BE49-F238E27FC236}">
                <a16:creationId xmlns:a16="http://schemas.microsoft.com/office/drawing/2014/main" id="{6498588F-AB45-6C0C-1F16-67B769700CDF}"/>
              </a:ext>
            </a:extLst>
          </p:cNvPr>
          <p:cNvSpPr txBox="1">
            <a:spLocks/>
          </p:cNvSpPr>
          <p:nvPr/>
        </p:nvSpPr>
        <p:spPr bwMode="auto">
          <a:xfrm>
            <a:off x="2170002" y="5451563"/>
            <a:ext cx="6402288" cy="662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r>
              <a:rPr lang="en-US" altLang="en-US" sz="2800" b="1" dirty="0">
                <a:solidFill>
                  <a:srgbClr val="7030A0"/>
                </a:solidFill>
                <a:latin typeface="Bradley Hand" pitchFamily="2" charset="77"/>
              </a:rPr>
              <a:t>Do you think the law is clear now?</a:t>
            </a:r>
          </a:p>
        </p:txBody>
      </p:sp>
    </p:spTree>
    <p:extLst>
      <p:ext uri="{BB962C8B-B14F-4D97-AF65-F5344CB8AC3E}">
        <p14:creationId xmlns:p14="http://schemas.microsoft.com/office/powerpoint/2010/main" val="410476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55472CA-0899-4B39-A6B8-540044FC821E}"/>
              </a:ext>
            </a:extLst>
          </p:cNvPr>
          <p:cNvSpPr>
            <a:spLocks noGrp="1"/>
          </p:cNvSpPr>
          <p:nvPr>
            <p:ph type="title"/>
          </p:nvPr>
        </p:nvSpPr>
        <p:spPr/>
        <p:txBody>
          <a:bodyPr/>
          <a:lstStyle/>
          <a:p>
            <a:r>
              <a:rPr lang="en-GB" altLang="en-US" dirty="0">
                <a:latin typeface="+mn-lt"/>
                <a:ea typeface="ＭＳ Ｐゴシック" panose="020B0600070205080204" pitchFamily="34" charset="-128"/>
              </a:rPr>
              <a:t>Formalities for the disposition of equitable interests</a:t>
            </a:r>
            <a:endParaRPr lang="en-GB" altLang="en-US" i="1" dirty="0">
              <a:latin typeface="+mn-lt"/>
              <a:ea typeface="ＭＳ Ｐゴシック" panose="020B0600070205080204" pitchFamily="34" charset="-128"/>
            </a:endParaRPr>
          </a:p>
        </p:txBody>
      </p:sp>
      <p:sp>
        <p:nvSpPr>
          <p:cNvPr id="7171" name="Content Placeholder 2">
            <a:extLst>
              <a:ext uri="{FF2B5EF4-FFF2-40B4-BE49-F238E27FC236}">
                <a16:creationId xmlns:a16="http://schemas.microsoft.com/office/drawing/2014/main" id="{5B0BB6F6-4B55-4FED-8D59-87FE07F798A6}"/>
              </a:ext>
            </a:extLst>
          </p:cNvPr>
          <p:cNvSpPr txBox="1">
            <a:spLocks/>
          </p:cNvSpPr>
          <p:nvPr/>
        </p:nvSpPr>
        <p:spPr bwMode="auto">
          <a:xfrm>
            <a:off x="609600" y="1981200"/>
            <a:ext cx="7491413"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42900" indent="-34290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40005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342900" marR="0" lvl="1" indent="-342900" algn="l" defTabSz="914400" rtl="0" eaLnBrk="0" fontAlgn="base" latinLnBrk="0" hangingPunct="0">
              <a:lnSpc>
                <a:spcPct val="100000"/>
              </a:lnSpc>
              <a:spcBef>
                <a:spcPct val="2000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mn-lt"/>
              </a:rPr>
              <a:t>Law of Property Act 1925, s. 53(1)(c): </a:t>
            </a:r>
            <a:endParaRPr lang="en-US" altLang="en-US" sz="2400" dirty="0">
              <a:solidFill>
                <a:srgbClr val="000000"/>
              </a:solidFill>
              <a:latin typeface="+mn-lt"/>
            </a:endParaRPr>
          </a:p>
          <a:p>
            <a:pPr marL="342900" marR="0" lvl="1" indent="-342900" algn="l" defTabSz="914400" rtl="0" eaLnBrk="0" fontAlgn="base" latinLnBrk="0" hangingPunct="0">
              <a:lnSpc>
                <a:spcPct val="100000"/>
              </a:lnSpc>
              <a:spcBef>
                <a:spcPct val="20000"/>
              </a:spcBef>
              <a:spcAft>
                <a:spcPct val="0"/>
              </a:spcAft>
              <a:buClrTx/>
              <a:buSzTx/>
              <a:buFontTx/>
              <a:buNone/>
              <a:tabLst/>
              <a:defRPr/>
            </a:pPr>
            <a:r>
              <a:rPr lang="en-US" altLang="en-US" sz="2400" dirty="0">
                <a:solidFill>
                  <a:srgbClr val="000000"/>
                </a:solidFill>
                <a:latin typeface="+mn-lt"/>
              </a:rPr>
              <a:t>	</a:t>
            </a:r>
            <a:r>
              <a:rPr lang="en-GB" altLang="en-US" sz="2400" dirty="0">
                <a:solidFill>
                  <a:srgbClr val="000000"/>
                </a:solidFill>
                <a:latin typeface="+mn-lt"/>
              </a:rPr>
              <a:t>A disposition of an equitable interest or trust subsisting at the time of the disposition, must be in writing signed by the person disposing of the same, or by his agent thereunto lawfully authorised in writing or by will. </a:t>
            </a:r>
            <a:endParaRPr kumimoji="0" lang="en-US" altLang="en-US" sz="1200" b="0" i="0" u="none" strike="noStrike" kern="1200" cap="none" spc="0" normalizeH="0" baseline="0" noProof="0" dirty="0">
              <a:ln>
                <a:noFill/>
              </a:ln>
              <a:solidFill>
                <a:srgbClr val="000000"/>
              </a:solidFill>
              <a:effectLst/>
              <a:uLnTx/>
              <a:uFillTx/>
              <a:latin typeface="+mn-lt"/>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3743" y="4076700"/>
            <a:ext cx="2143125" cy="2143125"/>
          </a:xfrm>
          <a:prstGeom prst="rect">
            <a:avLst/>
          </a:prstGeom>
        </p:spPr>
      </p:pic>
    </p:spTree>
    <p:extLst>
      <p:ext uri="{BB962C8B-B14F-4D97-AF65-F5344CB8AC3E}">
        <p14:creationId xmlns:p14="http://schemas.microsoft.com/office/powerpoint/2010/main" val="2117679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0E911A5A-23DE-4C06-8739-00094AA9A1FA}"/>
              </a:ext>
            </a:extLst>
          </p:cNvPr>
          <p:cNvSpPr>
            <a:spLocks noGrp="1"/>
          </p:cNvSpPr>
          <p:nvPr>
            <p:ph type="title"/>
          </p:nvPr>
        </p:nvSpPr>
        <p:spPr/>
        <p:txBody>
          <a:bodyPr/>
          <a:lstStyle/>
          <a:p>
            <a:r>
              <a:rPr lang="en-GB" altLang="en-US" dirty="0">
                <a:latin typeface="+mn-lt"/>
                <a:ea typeface="ＭＳ Ｐゴシック" panose="020B0600070205080204" pitchFamily="34" charset="-128"/>
              </a:rPr>
              <a:t>What is an equitable interest? What a disposition?</a:t>
            </a:r>
          </a:p>
        </p:txBody>
      </p:sp>
      <p:sp>
        <p:nvSpPr>
          <p:cNvPr id="3" name="Content Placeholder 2">
            <a:extLst>
              <a:ext uri="{FF2B5EF4-FFF2-40B4-BE49-F238E27FC236}">
                <a16:creationId xmlns:a16="http://schemas.microsoft.com/office/drawing/2014/main" id="{7C39CF77-FFCD-4AF7-B114-ED5EDDDA412F}"/>
              </a:ext>
            </a:extLst>
          </p:cNvPr>
          <p:cNvSpPr txBox="1">
            <a:spLocks/>
          </p:cNvSpPr>
          <p:nvPr/>
        </p:nvSpPr>
        <p:spPr>
          <a:xfrm>
            <a:off x="684213" y="1981200"/>
            <a:ext cx="7772400" cy="3895725"/>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marR="0" lvl="0" indent="0" algn="ctr" defTabSz="914400" rtl="0" eaLnBrk="0" fontAlgn="base" latinLnBrk="0" hangingPunct="0">
              <a:lnSpc>
                <a:spcPct val="100000"/>
              </a:lnSpc>
              <a:spcBef>
                <a:spcPct val="2000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ea typeface="ＭＳ Ｐゴシック" pitchFamily="34" charset="-128"/>
            </a:endParaRPr>
          </a:p>
        </p:txBody>
      </p:sp>
      <p:cxnSp>
        <p:nvCxnSpPr>
          <p:cNvPr id="6148" name="Straight Connector 3">
            <a:extLst>
              <a:ext uri="{FF2B5EF4-FFF2-40B4-BE49-F238E27FC236}">
                <a16:creationId xmlns:a16="http://schemas.microsoft.com/office/drawing/2014/main" id="{0C57F4A5-D87F-4B77-ADEF-51B022E0806E}"/>
              </a:ext>
            </a:extLst>
          </p:cNvPr>
          <p:cNvCxnSpPr>
            <a:cxnSpLocks noChangeShapeType="1"/>
            <a:endCxn id="6149" idx="0"/>
          </p:cNvCxnSpPr>
          <p:nvPr/>
        </p:nvCxnSpPr>
        <p:spPr bwMode="auto">
          <a:xfrm flipH="1">
            <a:off x="1994695" y="2608263"/>
            <a:ext cx="793" cy="21891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6149" name="Rectangle 4">
            <a:extLst>
              <a:ext uri="{FF2B5EF4-FFF2-40B4-BE49-F238E27FC236}">
                <a16:creationId xmlns:a16="http://schemas.microsoft.com/office/drawing/2014/main" id="{4E27FEA6-F96F-44A6-8E05-5334034B2887}"/>
              </a:ext>
            </a:extLst>
          </p:cNvPr>
          <p:cNvSpPr>
            <a:spLocks noChangeArrowheads="1"/>
          </p:cNvSpPr>
          <p:nvPr/>
        </p:nvSpPr>
        <p:spPr bwMode="auto">
          <a:xfrm>
            <a:off x="1072006" y="4797425"/>
            <a:ext cx="18453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mn-lt"/>
                <a:ea typeface="ＭＳ Ｐゴシック" panose="020B0600070205080204" pitchFamily="34" charset="-128"/>
                <a:cs typeface="+mn-cs"/>
              </a:rPr>
              <a:t>Beneficiary</a:t>
            </a:r>
            <a:endParaRPr kumimoji="0" lang="en-US" altLang="en-US" sz="2400" b="0" i="0" u="none" strike="noStrike" kern="1200" cap="none" spc="0" normalizeH="0" baseline="0" noProof="0">
              <a:ln>
                <a:noFill/>
              </a:ln>
              <a:solidFill>
                <a:srgbClr val="000000"/>
              </a:solidFill>
              <a:effectLst/>
              <a:uLnTx/>
              <a:uFillTx/>
              <a:latin typeface="+mn-lt"/>
              <a:ea typeface="ＭＳ Ｐゴシック" panose="020B0600070205080204" pitchFamily="34" charset="-128"/>
              <a:cs typeface="+mn-cs"/>
            </a:endParaRPr>
          </a:p>
        </p:txBody>
      </p:sp>
      <p:sp>
        <p:nvSpPr>
          <p:cNvPr id="6150" name="Rectangle 7">
            <a:extLst>
              <a:ext uri="{FF2B5EF4-FFF2-40B4-BE49-F238E27FC236}">
                <a16:creationId xmlns:a16="http://schemas.microsoft.com/office/drawing/2014/main" id="{F6A263C5-D3F2-47A0-89F8-C8F6E11ECE8A}"/>
              </a:ext>
            </a:extLst>
          </p:cNvPr>
          <p:cNvSpPr>
            <a:spLocks noChangeArrowheads="1"/>
          </p:cNvSpPr>
          <p:nvPr/>
        </p:nvSpPr>
        <p:spPr bwMode="auto">
          <a:xfrm>
            <a:off x="1345090" y="2024063"/>
            <a:ext cx="12801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Trustee</a:t>
            </a:r>
            <a:endParaRPr kumimoji="0" lang="en-US" altLang="en-US" sz="24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6151" name="AutoShape 2" descr="Image result for bottle of wine">
            <a:extLst>
              <a:ext uri="{FF2B5EF4-FFF2-40B4-BE49-F238E27FC236}">
                <a16:creationId xmlns:a16="http://schemas.microsoft.com/office/drawing/2014/main" id="{CD83D647-7828-448F-B630-8F32C4F4DEF7}"/>
              </a:ext>
            </a:extLst>
          </p:cNvPr>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panose="02020603050405020304" pitchFamily="18" charset="0"/>
              <a:ea typeface="ＭＳ Ｐゴシック" panose="020B0600070205080204" pitchFamily="34" charset="-128"/>
              <a:cs typeface="+mn-cs"/>
            </a:endParaRPr>
          </a:p>
        </p:txBody>
      </p:sp>
      <p:sp>
        <p:nvSpPr>
          <p:cNvPr id="6152" name="Rectangle 10">
            <a:extLst>
              <a:ext uri="{FF2B5EF4-FFF2-40B4-BE49-F238E27FC236}">
                <a16:creationId xmlns:a16="http://schemas.microsoft.com/office/drawing/2014/main" id="{7528B139-0619-4AE7-92C7-E53EBF55A381}"/>
              </a:ext>
            </a:extLst>
          </p:cNvPr>
          <p:cNvSpPr>
            <a:spLocks noChangeArrowheads="1"/>
          </p:cNvSpPr>
          <p:nvPr/>
        </p:nvSpPr>
        <p:spPr bwMode="auto">
          <a:xfrm>
            <a:off x="2119313" y="3276600"/>
            <a:ext cx="15165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Property</a:t>
            </a:r>
            <a:endParaRPr kumimoji="0" lang="en-US" altLang="en-US" sz="24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cxnSp>
        <p:nvCxnSpPr>
          <p:cNvPr id="18" name="Straight Arrow Connector 4">
            <a:extLst>
              <a:ext uri="{FF2B5EF4-FFF2-40B4-BE49-F238E27FC236}">
                <a16:creationId xmlns:a16="http://schemas.microsoft.com/office/drawing/2014/main" id="{22368382-38A5-4B80-931B-CAF3CF29E604}"/>
              </a:ext>
            </a:extLst>
          </p:cNvPr>
          <p:cNvCxnSpPr>
            <a:cxnSpLocks noChangeShapeType="1"/>
          </p:cNvCxnSpPr>
          <p:nvPr/>
        </p:nvCxnSpPr>
        <p:spPr bwMode="auto">
          <a:xfrm flipV="1">
            <a:off x="2195513" y="3789363"/>
            <a:ext cx="504825" cy="928687"/>
          </a:xfrm>
          <a:prstGeom prst="straightConnector1">
            <a:avLst/>
          </a:prstGeom>
          <a:noFill/>
          <a:ln w="28575">
            <a:solidFill>
              <a:srgbClr val="00B050"/>
            </a:solidFill>
            <a:round/>
            <a:headEnd/>
            <a:tailEnd type="arrow" w="med" len="med"/>
          </a:ln>
          <a:extLst>
            <a:ext uri="{909E8E84-426E-40DD-AFC4-6F175D3DCCD1}">
              <a14:hiddenFill xmlns:a14="http://schemas.microsoft.com/office/drawing/2010/main">
                <a:noFill/>
              </a14:hiddenFill>
            </a:ext>
          </a:extLst>
        </p:spPr>
      </p:cxnSp>
      <p:sp>
        <p:nvSpPr>
          <p:cNvPr id="23" name="Rectangle 22">
            <a:extLst>
              <a:ext uri="{FF2B5EF4-FFF2-40B4-BE49-F238E27FC236}">
                <a16:creationId xmlns:a16="http://schemas.microsoft.com/office/drawing/2014/main" id="{FFE70530-860C-4D29-A7FD-221AAC6A57EC}"/>
              </a:ext>
            </a:extLst>
          </p:cNvPr>
          <p:cNvSpPr>
            <a:spLocks noChangeArrowheads="1"/>
          </p:cNvSpPr>
          <p:nvPr/>
        </p:nvSpPr>
        <p:spPr bwMode="auto">
          <a:xfrm>
            <a:off x="2917383" y="3679825"/>
            <a:ext cx="6550025" cy="101566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a:ln>
                  <a:noFill/>
                </a:ln>
                <a:solidFill>
                  <a:srgbClr val="00B050"/>
                </a:solidFill>
                <a:effectLst/>
                <a:uLnTx/>
                <a:uFillTx/>
                <a:latin typeface="Calibri" panose="020F0502020204030204" pitchFamily="34" charset="0"/>
                <a:ea typeface="ＭＳ Ｐゴシック" panose="020B0600070205080204" pitchFamily="34" charset="-128"/>
                <a:cs typeface="+mn-cs"/>
              </a:rPr>
              <a:t>The interest that the beneficiary has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a:ln>
                  <a:noFill/>
                </a:ln>
                <a:solidFill>
                  <a:srgbClr val="00B050"/>
                </a:solidFill>
                <a:effectLst/>
                <a:uLnTx/>
                <a:uFillTx/>
                <a:latin typeface="Calibri" panose="020F0502020204030204" pitchFamily="34" charset="0"/>
                <a:ea typeface="ＭＳ Ｐゴシック" panose="020B0600070205080204" pitchFamily="34" charset="-128"/>
                <a:cs typeface="+mn-cs"/>
              </a:rPr>
              <a:t>in the trust property, such as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a:ln>
                  <a:noFill/>
                </a:ln>
                <a:solidFill>
                  <a:srgbClr val="00B050"/>
                </a:solidFill>
                <a:effectLst/>
                <a:uLnTx/>
                <a:uFillTx/>
                <a:latin typeface="Calibri" panose="020F0502020204030204" pitchFamily="34" charset="0"/>
                <a:ea typeface="ＭＳ Ｐゴシック" panose="020B0600070205080204" pitchFamily="34" charset="-128"/>
                <a:cs typeface="+mn-cs"/>
              </a:rPr>
              <a:t>a right to use or a right to income</a:t>
            </a:r>
            <a:endParaRPr kumimoji="0" lang="en-US" altLang="en-US" sz="2000" b="0" i="0" u="none" strike="noStrike" kern="1200" cap="none" spc="0" normalizeH="0" baseline="0" noProof="0" dirty="0">
              <a:ln>
                <a:noFill/>
              </a:ln>
              <a:solidFill>
                <a:srgbClr val="00B050"/>
              </a:solidFill>
              <a:effectLst/>
              <a:uLnTx/>
              <a:uFillTx/>
              <a:latin typeface="Calibri" panose="020F0502020204030204" pitchFamily="34" charset="0"/>
              <a:ea typeface="ＭＳ Ｐゴシック" panose="020B0600070205080204" pitchFamily="34" charset="-128"/>
              <a:cs typeface="+mn-cs"/>
            </a:endParaRPr>
          </a:p>
        </p:txBody>
      </p:sp>
      <p:sp>
        <p:nvSpPr>
          <p:cNvPr id="29" name="Rectangle 28">
            <a:extLst>
              <a:ext uri="{FF2B5EF4-FFF2-40B4-BE49-F238E27FC236}">
                <a16:creationId xmlns:a16="http://schemas.microsoft.com/office/drawing/2014/main" id="{C2B2126A-7AF8-48CE-A83D-223DABBA9D96}"/>
              </a:ext>
            </a:extLst>
          </p:cNvPr>
          <p:cNvSpPr>
            <a:spLocks noChangeArrowheads="1"/>
          </p:cNvSpPr>
          <p:nvPr/>
        </p:nvSpPr>
        <p:spPr bwMode="auto">
          <a:xfrm>
            <a:off x="2954338" y="5118100"/>
            <a:ext cx="2833687" cy="707886"/>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a:ln>
                  <a:noFill/>
                </a:ln>
                <a:solidFill>
                  <a:srgbClr val="FF0000"/>
                </a:solidFill>
                <a:effectLst/>
                <a:uLnTx/>
                <a:uFillTx/>
                <a:latin typeface="+mn-lt"/>
                <a:ea typeface="ＭＳ Ｐゴシック" panose="020B0600070205080204" pitchFamily="34" charset="-128"/>
                <a:cs typeface="+mn-cs"/>
              </a:rPr>
              <a:t>NOT the property itself</a:t>
            </a:r>
            <a:endParaRPr kumimoji="0" lang="en-US" altLang="en-US" sz="2000" b="0" i="0" u="none" strike="noStrike" kern="1200" cap="none" spc="0" normalizeH="0" baseline="0" noProof="0" dirty="0">
              <a:ln>
                <a:noFill/>
              </a:ln>
              <a:solidFill>
                <a:srgbClr val="FF0000"/>
              </a:solidFill>
              <a:effectLst/>
              <a:uLnTx/>
              <a:uFillTx/>
              <a:latin typeface="+mn-lt"/>
              <a:ea typeface="ＭＳ Ｐゴシック" panose="020B0600070205080204" pitchFamily="34" charset="-128"/>
              <a:cs typeface="+mn-cs"/>
            </a:endParaRPr>
          </a:p>
        </p:txBody>
      </p:sp>
      <p:cxnSp>
        <p:nvCxnSpPr>
          <p:cNvPr id="12" name="Straight Arrow Connector 4">
            <a:extLst>
              <a:ext uri="{FF2B5EF4-FFF2-40B4-BE49-F238E27FC236}">
                <a16:creationId xmlns:a16="http://schemas.microsoft.com/office/drawing/2014/main" id="{22368382-38A5-4B80-931B-CAF3CF29E604}"/>
              </a:ext>
            </a:extLst>
          </p:cNvPr>
          <p:cNvCxnSpPr>
            <a:cxnSpLocks noChangeShapeType="1"/>
          </p:cNvCxnSpPr>
          <p:nvPr/>
        </p:nvCxnSpPr>
        <p:spPr bwMode="auto">
          <a:xfrm flipV="1">
            <a:off x="2929255" y="5067161"/>
            <a:ext cx="3599978" cy="21093"/>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sp>
        <p:nvSpPr>
          <p:cNvPr id="15" name="Rectangle 10">
            <a:extLst>
              <a:ext uri="{FF2B5EF4-FFF2-40B4-BE49-F238E27FC236}">
                <a16:creationId xmlns:a16="http://schemas.microsoft.com/office/drawing/2014/main" id="{7528B139-0619-4AE7-92C7-E53EBF55A381}"/>
              </a:ext>
            </a:extLst>
          </p:cNvPr>
          <p:cNvSpPr>
            <a:spLocks noChangeArrowheads="1"/>
          </p:cNvSpPr>
          <p:nvPr/>
        </p:nvSpPr>
        <p:spPr bwMode="auto">
          <a:xfrm>
            <a:off x="3502865" y="5256659"/>
            <a:ext cx="19000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dirty="0">
                <a:ln>
                  <a:noFill/>
                </a:ln>
                <a:solidFill>
                  <a:srgbClr val="0070C0"/>
                </a:solidFill>
                <a:effectLst/>
                <a:uLnTx/>
                <a:uFillTx/>
                <a:latin typeface="+mn-lt"/>
                <a:ea typeface="ＭＳ Ｐゴシック" panose="020B0600070205080204" pitchFamily="34" charset="-128"/>
                <a:cs typeface="+mn-cs"/>
              </a:rPr>
              <a:t>= Disposition</a:t>
            </a:r>
            <a:endParaRPr kumimoji="0" lang="en-US" altLang="en-US" sz="2400" b="0" i="0" u="none" strike="noStrike" kern="1200" cap="none" spc="0" normalizeH="0" baseline="0" noProof="0" dirty="0">
              <a:ln>
                <a:noFill/>
              </a:ln>
              <a:solidFill>
                <a:srgbClr val="0070C0"/>
              </a:solidFill>
              <a:effectLst/>
              <a:uLnTx/>
              <a:uFillTx/>
              <a:latin typeface="+mn-lt"/>
              <a:ea typeface="ＭＳ Ｐゴシック" panose="020B0600070205080204" pitchFamily="34" charset="-128"/>
              <a:cs typeface="+mn-cs"/>
            </a:endParaRPr>
          </a:p>
        </p:txBody>
      </p:sp>
      <p:sp>
        <p:nvSpPr>
          <p:cNvPr id="16" name="Rectangle 10">
            <a:extLst>
              <a:ext uri="{FF2B5EF4-FFF2-40B4-BE49-F238E27FC236}">
                <a16:creationId xmlns:a16="http://schemas.microsoft.com/office/drawing/2014/main" id="{7528B139-0619-4AE7-92C7-E53EBF55A381}"/>
              </a:ext>
            </a:extLst>
          </p:cNvPr>
          <p:cNvSpPr>
            <a:spLocks noChangeArrowheads="1"/>
          </p:cNvSpPr>
          <p:nvPr/>
        </p:nvSpPr>
        <p:spPr bwMode="auto">
          <a:xfrm>
            <a:off x="6317490" y="4727861"/>
            <a:ext cx="1368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3</a:t>
            </a:r>
            <a:r>
              <a:rPr kumimoji="0" lang="en-US" altLang="en-US" sz="2400" b="1" i="0" u="none" strike="noStrike" kern="1200" cap="none" spc="0" normalizeH="0" baseline="30000" noProof="0" dirty="0">
                <a:ln>
                  <a:noFill/>
                </a:ln>
                <a:solidFill>
                  <a:srgbClr val="000000"/>
                </a:solidFill>
                <a:effectLst/>
                <a:uLnTx/>
                <a:uFillTx/>
                <a:latin typeface="+mn-lt"/>
                <a:ea typeface="ＭＳ Ｐゴシック" panose="020B0600070205080204" pitchFamily="34" charset="-128"/>
                <a:cs typeface="+mn-cs"/>
              </a:rPr>
              <a:t>rd</a:t>
            </a:r>
            <a:r>
              <a:rPr kumimoji="0" lang="en-US" altLang="en-US" sz="2400" b="1"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 party</a:t>
            </a:r>
            <a:endParaRPr kumimoji="0" lang="en-US" altLang="en-US" sz="24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
        <p:nvSpPr>
          <p:cNvPr id="17" name="Rectangle 10">
            <a:extLst>
              <a:ext uri="{FF2B5EF4-FFF2-40B4-BE49-F238E27FC236}">
                <a16:creationId xmlns:a16="http://schemas.microsoft.com/office/drawing/2014/main" id="{7528B139-0619-4AE7-92C7-E53EBF55A381}"/>
              </a:ext>
            </a:extLst>
          </p:cNvPr>
          <p:cNvSpPr>
            <a:spLocks noChangeArrowheads="1"/>
          </p:cNvSpPr>
          <p:nvPr/>
        </p:nvSpPr>
        <p:spPr bwMode="auto">
          <a:xfrm>
            <a:off x="3040409" y="4247415"/>
            <a:ext cx="25786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noProof="0" dirty="0">
                <a:ln>
                  <a:noFill/>
                </a:ln>
                <a:solidFill>
                  <a:srgbClr val="000000"/>
                </a:solidFill>
                <a:effectLst/>
                <a:uLnTx/>
                <a:uFillTx/>
                <a:latin typeface="+mn-lt"/>
                <a:ea typeface="ＭＳ Ｐゴシック" panose="020B0600070205080204" pitchFamily="34" charset="-128"/>
                <a:cs typeface="+mn-cs"/>
              </a:rPr>
              <a:t>Equitable interest</a:t>
            </a:r>
            <a:endParaRPr kumimoji="0" lang="en-US" altLang="en-US" sz="24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endParaRPr>
          </a:p>
        </p:txBody>
      </p:sp>
    </p:spTree>
    <p:extLst>
      <p:ext uri="{BB962C8B-B14F-4D97-AF65-F5344CB8AC3E}">
        <p14:creationId xmlns:p14="http://schemas.microsoft.com/office/powerpoint/2010/main" val="285427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9" grpId="0" animBg="1"/>
      <p:bldP spid="15"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5" name="Picture 5" descr="C:\Users\knwf93\AppData\Local\Microsoft\Windows\Temporary Internet Files\Content.IE5\A1AOPBTI\220px-ACT_Stamp_Duty_5c[1].jpg">
            <a:extLst>
              <a:ext uri="{FF2B5EF4-FFF2-40B4-BE49-F238E27FC236}">
                <a16:creationId xmlns:a16="http://schemas.microsoft.com/office/drawing/2014/main" id="{B33E20C2-072E-4481-BC28-B9E1B6892EE9}"/>
              </a:ext>
            </a:extLst>
          </p:cNvPr>
          <p:cNvPicPr>
            <a:picLocks noChangeAspect="1" noChangeArrowheads="1"/>
          </p:cNvPicPr>
          <p:nvPr/>
        </p:nvPicPr>
        <p:blipFill>
          <a:blip r:embed="rId2"/>
          <a:srcRect/>
          <a:stretch>
            <a:fillRect/>
          </a:stretch>
        </p:blipFill>
        <p:spPr bwMode="auto">
          <a:xfrm>
            <a:off x="6660232" y="3948181"/>
            <a:ext cx="2155850" cy="252822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9219" name="Title 1">
            <a:extLst>
              <a:ext uri="{FF2B5EF4-FFF2-40B4-BE49-F238E27FC236}">
                <a16:creationId xmlns:a16="http://schemas.microsoft.com/office/drawing/2014/main" id="{888CB716-4686-407C-B1D4-9B16BEA0D430}"/>
              </a:ext>
            </a:extLst>
          </p:cNvPr>
          <p:cNvSpPr>
            <a:spLocks noGrp="1"/>
          </p:cNvSpPr>
          <p:nvPr>
            <p:ph type="title"/>
          </p:nvPr>
        </p:nvSpPr>
        <p:spPr>
          <a:xfrm>
            <a:off x="755650" y="549275"/>
            <a:ext cx="7772400" cy="1143000"/>
          </a:xfrm>
        </p:spPr>
        <p:txBody>
          <a:bodyPr/>
          <a:lstStyle/>
          <a:p>
            <a:r>
              <a:rPr lang="en-GB" altLang="en-US" dirty="0">
                <a:latin typeface="+mn-lt"/>
                <a:ea typeface="ＭＳ Ｐゴシック" panose="020B0600070205080204" pitchFamily="34" charset="-128"/>
              </a:rPr>
              <a:t>Testing the meaning of ‘disposition’ under the LPA</a:t>
            </a:r>
            <a:endParaRPr lang="en-GB" altLang="en-US" i="1" dirty="0">
              <a:latin typeface="+mn-lt"/>
              <a:ea typeface="ＭＳ Ｐゴシック" panose="020B0600070205080204" pitchFamily="34" charset="-128"/>
            </a:endParaRPr>
          </a:p>
        </p:txBody>
      </p:sp>
      <p:sp>
        <p:nvSpPr>
          <p:cNvPr id="9220" name="Content Placeholder 2">
            <a:extLst>
              <a:ext uri="{FF2B5EF4-FFF2-40B4-BE49-F238E27FC236}">
                <a16:creationId xmlns:a16="http://schemas.microsoft.com/office/drawing/2014/main" id="{ADC9C3FF-D586-4C42-A980-4F529CA2160A}"/>
              </a:ext>
            </a:extLst>
          </p:cNvPr>
          <p:cNvSpPr txBox="1">
            <a:spLocks/>
          </p:cNvSpPr>
          <p:nvPr/>
        </p:nvSpPr>
        <p:spPr bwMode="auto">
          <a:xfrm>
            <a:off x="755650" y="1988840"/>
            <a:ext cx="7200726"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indent="-45720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457200" marR="0" lvl="1" indent="-457200" algn="l" defTabSz="914400" rtl="0" eaLnBrk="0" fontAlgn="base" latinLnBrk="0" hangingPunct="0">
              <a:lnSpc>
                <a:spcPct val="100000"/>
              </a:lnSpc>
              <a:spcBef>
                <a:spcPct val="20000"/>
              </a:spcBef>
              <a:spcAft>
                <a:spcPct val="0"/>
              </a:spcAft>
              <a:buClrTx/>
              <a:buSzTx/>
              <a:buFont typeface="Times" panose="02020603050405020304" pitchFamily="18" charset="0"/>
              <a:buAutoNum type="arabicParenR"/>
              <a:tabLst/>
              <a:defRPr/>
            </a:pPr>
            <a:r>
              <a:rPr kumimoji="0" lang="en-GB" altLang="en-US" sz="2000" b="0" i="0" u="none" strike="noStrike" kern="1200" cap="none" spc="0" normalizeH="0" baseline="0" noProof="0" dirty="0">
                <a:ln>
                  <a:noFill/>
                </a:ln>
                <a:solidFill>
                  <a:srgbClr val="000000"/>
                </a:solidFill>
                <a:effectLst/>
                <a:uLnTx/>
                <a:uFillTx/>
                <a:latin typeface="+mn-lt"/>
              </a:rPr>
              <a:t>Direct assignments to a third party</a:t>
            </a:r>
          </a:p>
          <a:p>
            <a:pPr marL="457200" marR="0" lvl="1" indent="-457200" algn="l" defTabSz="914400" rtl="0" eaLnBrk="0" fontAlgn="base" latinLnBrk="0" hangingPunct="0">
              <a:lnSpc>
                <a:spcPct val="100000"/>
              </a:lnSpc>
              <a:spcBef>
                <a:spcPct val="20000"/>
              </a:spcBef>
              <a:spcAft>
                <a:spcPct val="0"/>
              </a:spcAft>
              <a:buClrTx/>
              <a:buSzTx/>
              <a:buFont typeface="Times" panose="02020603050405020304" pitchFamily="18" charset="0"/>
              <a:buAutoNum type="arabicParenR"/>
              <a:tabLst/>
              <a:defRPr/>
            </a:pPr>
            <a:r>
              <a:rPr kumimoji="0" lang="en-GB" altLang="en-US" sz="2000" b="1" i="0" u="none" strike="noStrike" kern="1200" cap="none" spc="0" normalizeH="0" baseline="0" noProof="0" dirty="0">
                <a:ln>
                  <a:noFill/>
                </a:ln>
                <a:solidFill>
                  <a:srgbClr val="000000"/>
                </a:solidFill>
                <a:effectLst/>
                <a:uLnTx/>
                <a:uFillTx/>
                <a:latin typeface="+mn-lt"/>
              </a:rPr>
              <a:t>Directions to trustees to hold the property on trust for</a:t>
            </a:r>
            <a:r>
              <a:rPr kumimoji="0" lang="en-GB" altLang="en-US" sz="2000" b="1" i="0" u="none" strike="noStrike" kern="1200" cap="none" spc="0" normalizeH="0" noProof="0" dirty="0">
                <a:ln>
                  <a:noFill/>
                </a:ln>
                <a:solidFill>
                  <a:srgbClr val="000000"/>
                </a:solidFill>
                <a:effectLst/>
                <a:uLnTx/>
                <a:uFillTx/>
                <a:latin typeface="+mn-lt"/>
              </a:rPr>
              <a:t> </a:t>
            </a:r>
            <a:r>
              <a:rPr kumimoji="0" lang="en-GB" altLang="en-US" sz="2000" b="1" i="0" u="none" strike="noStrike" kern="1200" cap="none" spc="0" normalizeH="0" baseline="0" noProof="0" dirty="0">
                <a:ln>
                  <a:noFill/>
                </a:ln>
                <a:solidFill>
                  <a:srgbClr val="000000"/>
                </a:solidFill>
                <a:effectLst/>
                <a:uLnTx/>
                <a:uFillTx/>
                <a:latin typeface="+mn-lt"/>
              </a:rPr>
              <a:t>another</a:t>
            </a:r>
            <a:endParaRPr lang="en-GB" altLang="en-US" sz="2000" b="1" noProof="0" dirty="0">
              <a:solidFill>
                <a:srgbClr val="000000"/>
              </a:solidFill>
              <a:latin typeface="+mn-lt"/>
            </a:endParaRPr>
          </a:p>
          <a:p>
            <a:pPr marL="457200" marR="0" lvl="1" indent="-457200" algn="l" defTabSz="914400" rtl="0" eaLnBrk="0" fontAlgn="base" latinLnBrk="0" hangingPunct="0">
              <a:lnSpc>
                <a:spcPct val="100000"/>
              </a:lnSpc>
              <a:spcBef>
                <a:spcPct val="20000"/>
              </a:spcBef>
              <a:spcAft>
                <a:spcPct val="0"/>
              </a:spcAft>
              <a:buClrTx/>
              <a:buSzTx/>
              <a:buFont typeface="Times" panose="02020603050405020304" pitchFamily="18" charset="0"/>
              <a:buAutoNum type="arabicParenR"/>
              <a:tabLst/>
              <a:defRPr/>
            </a:pPr>
            <a:r>
              <a:rPr lang="en-GB" altLang="en-US" sz="2000" b="1" dirty="0">
                <a:solidFill>
                  <a:srgbClr val="000000"/>
                </a:solidFill>
                <a:latin typeface="+mn-lt"/>
              </a:rPr>
              <a:t>Self-declarations as sub-trustees</a:t>
            </a:r>
          </a:p>
          <a:p>
            <a:pPr marL="457200" marR="0" lvl="1" indent="-457200" algn="l" defTabSz="914400" rtl="0" eaLnBrk="0" fontAlgn="base" latinLnBrk="0" hangingPunct="0">
              <a:lnSpc>
                <a:spcPct val="100000"/>
              </a:lnSpc>
              <a:spcBef>
                <a:spcPct val="20000"/>
              </a:spcBef>
              <a:spcAft>
                <a:spcPct val="0"/>
              </a:spcAft>
              <a:buClrTx/>
              <a:buSzTx/>
              <a:buFont typeface="Times" panose="02020603050405020304" pitchFamily="18" charset="0"/>
              <a:buAutoNum type="arabicParenR"/>
              <a:tabLst/>
              <a:defRPr/>
            </a:pPr>
            <a:r>
              <a:rPr lang="en-GB" altLang="en-US" sz="2000" b="1" dirty="0">
                <a:solidFill>
                  <a:srgbClr val="000000"/>
                </a:solidFill>
                <a:latin typeface="+mn-lt"/>
              </a:rPr>
              <a:t>Specifically enforceable c</a:t>
            </a:r>
            <a:r>
              <a:rPr kumimoji="0" lang="en-GB" altLang="en-US" sz="2000" b="1" i="0" u="none" strike="noStrike" kern="1200" cap="none" spc="0" normalizeH="0" baseline="0" noProof="0" dirty="0" err="1">
                <a:ln>
                  <a:noFill/>
                </a:ln>
                <a:solidFill>
                  <a:srgbClr val="000000"/>
                </a:solidFill>
                <a:effectLst/>
                <a:uLnTx/>
                <a:uFillTx/>
                <a:latin typeface="+mn-lt"/>
              </a:rPr>
              <a:t>ontracts</a:t>
            </a:r>
            <a:r>
              <a:rPr kumimoji="0" lang="en-GB" altLang="en-US" sz="2000" b="1" i="0" u="none" strike="noStrike" kern="1200" cap="none" spc="0" normalizeH="0" baseline="0" noProof="0" dirty="0">
                <a:ln>
                  <a:noFill/>
                </a:ln>
                <a:solidFill>
                  <a:srgbClr val="000000"/>
                </a:solidFill>
                <a:effectLst/>
                <a:uLnTx/>
                <a:uFillTx/>
                <a:latin typeface="+mn-lt"/>
              </a:rPr>
              <a:t> to assign an equitable interest</a:t>
            </a:r>
          </a:p>
          <a:p>
            <a:pPr marL="457200" marR="0" lvl="1" indent="-457200" algn="l" defTabSz="914400" rtl="0" eaLnBrk="0" fontAlgn="base" latinLnBrk="0" hangingPunct="0">
              <a:lnSpc>
                <a:spcPct val="100000"/>
              </a:lnSpc>
              <a:spcBef>
                <a:spcPct val="20000"/>
              </a:spcBef>
              <a:spcAft>
                <a:spcPct val="0"/>
              </a:spcAft>
              <a:buClrTx/>
              <a:buSzTx/>
              <a:buFont typeface="Times" panose="02020603050405020304" pitchFamily="18" charset="0"/>
              <a:buAutoNum type="arabicParenR"/>
              <a:tabLst/>
              <a:defRPr/>
            </a:pPr>
            <a:r>
              <a:rPr kumimoji="0" lang="en-GB" altLang="en-US" sz="2000" b="1" i="0" u="none" strike="noStrike" kern="1200" cap="none" spc="0" normalizeH="0" baseline="0" noProof="0" dirty="0">
                <a:ln>
                  <a:noFill/>
                </a:ln>
                <a:solidFill>
                  <a:srgbClr val="000000"/>
                </a:solidFill>
                <a:effectLst/>
                <a:uLnTx/>
                <a:uFillTx/>
                <a:latin typeface="+mn-lt"/>
              </a:rPr>
              <a:t>Transfers of legal and equitable title together</a:t>
            </a:r>
          </a:p>
          <a:p>
            <a:pPr marL="457200" marR="0" lvl="1" indent="-457200" algn="l" defTabSz="914400" rtl="0" eaLnBrk="0" fontAlgn="base" latinLnBrk="0" hangingPunct="0">
              <a:lnSpc>
                <a:spcPct val="100000"/>
              </a:lnSpc>
              <a:spcBef>
                <a:spcPct val="20000"/>
              </a:spcBef>
              <a:spcAft>
                <a:spcPct val="0"/>
              </a:spcAft>
              <a:buClrTx/>
              <a:buSzTx/>
              <a:buFontTx/>
              <a:buAutoNum type="arabicParenR" startAt="6"/>
              <a:tabLst/>
              <a:defRPr/>
            </a:pPr>
            <a:r>
              <a:rPr lang="en-GB" altLang="en-US" sz="2000" dirty="0">
                <a:solidFill>
                  <a:srgbClr val="000000"/>
                </a:solidFill>
                <a:latin typeface="+mn-lt"/>
              </a:rPr>
              <a:t>The nomination of a beneficiary under a policy</a:t>
            </a:r>
          </a:p>
          <a:p>
            <a:pPr marL="457200" marR="0" lvl="1" indent="-457200" algn="l" defTabSz="914400" rtl="0" eaLnBrk="0" fontAlgn="base" latinLnBrk="0" hangingPunct="0">
              <a:lnSpc>
                <a:spcPct val="100000"/>
              </a:lnSpc>
              <a:spcBef>
                <a:spcPct val="20000"/>
              </a:spcBef>
              <a:spcAft>
                <a:spcPct val="0"/>
              </a:spcAft>
              <a:buClrTx/>
              <a:buSzTx/>
              <a:buFontTx/>
              <a:buAutoNum type="arabicParenR" startAt="6"/>
              <a:tabLst/>
              <a:defRPr/>
            </a:pPr>
            <a:r>
              <a:rPr lang="en-GB" altLang="en-US" sz="2000" dirty="0">
                <a:solidFill>
                  <a:srgbClr val="000000"/>
                </a:solidFill>
                <a:latin typeface="+mn-lt"/>
              </a:rPr>
              <a:t>The disclaiming or extinguishing of an </a:t>
            </a:r>
          </a:p>
          <a:p>
            <a:pPr marL="0" marR="0" lvl="1" indent="0" algn="l" defTabSz="914400" rtl="0" eaLnBrk="0" fontAlgn="base" latinLnBrk="0" hangingPunct="0">
              <a:lnSpc>
                <a:spcPct val="100000"/>
              </a:lnSpc>
              <a:spcBef>
                <a:spcPct val="20000"/>
              </a:spcBef>
              <a:spcAft>
                <a:spcPct val="0"/>
              </a:spcAft>
              <a:buClrTx/>
              <a:buSzTx/>
              <a:buNone/>
              <a:tabLst/>
              <a:defRPr/>
            </a:pPr>
            <a:r>
              <a:rPr lang="en-GB" altLang="en-US" sz="2000" dirty="0">
                <a:solidFill>
                  <a:srgbClr val="000000"/>
                </a:solidFill>
                <a:latin typeface="+mn-lt"/>
              </a:rPr>
              <a:t>       equitable interest</a:t>
            </a:r>
            <a:endParaRPr kumimoji="0" lang="en-US" altLang="en-US" sz="2000" b="0" i="0" u="none" strike="noStrike" kern="1200" cap="none" spc="0" normalizeH="0" baseline="0" noProof="0" dirty="0">
              <a:ln>
                <a:noFill/>
              </a:ln>
              <a:solidFill>
                <a:srgbClr val="000000"/>
              </a:solidFill>
              <a:effectLst/>
              <a:uLnTx/>
              <a:uFillTx/>
              <a:latin typeface="+mn-lt"/>
            </a:endParaRPr>
          </a:p>
          <a:p>
            <a:pPr marL="0" marR="0" lvl="0" indent="0" algn="l" defTabSz="914400" rtl="0" eaLnBrk="0" fontAlgn="base" latinLnBrk="0" hangingPunct="0">
              <a:lnSpc>
                <a:spcPct val="100000"/>
              </a:lnSpc>
              <a:spcBef>
                <a:spcPct val="20000"/>
              </a:spcBef>
              <a:spcAft>
                <a:spcPct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548696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4908AAA-03BD-4CE9-A963-F84079784C5D}"/>
              </a:ext>
            </a:extLst>
          </p:cNvPr>
          <p:cNvSpPr>
            <a:spLocks noGrp="1"/>
          </p:cNvSpPr>
          <p:nvPr>
            <p:ph type="title"/>
          </p:nvPr>
        </p:nvSpPr>
        <p:spPr/>
        <p:txBody>
          <a:bodyPr/>
          <a:lstStyle/>
          <a:p>
            <a:r>
              <a:rPr lang="en-GB" altLang="en-US" u="sng" dirty="0">
                <a:latin typeface="+mn-lt"/>
                <a:ea typeface="ＭＳ Ｐゴシック" panose="020B0600070205080204" pitchFamily="34" charset="-128"/>
              </a:rPr>
              <a:t>Directions to trustees to hold the property on trust for another</a:t>
            </a:r>
          </a:p>
        </p:txBody>
      </p:sp>
      <p:sp>
        <p:nvSpPr>
          <p:cNvPr id="10243" name="TextBox 2">
            <a:extLst>
              <a:ext uri="{FF2B5EF4-FFF2-40B4-BE49-F238E27FC236}">
                <a16:creationId xmlns:a16="http://schemas.microsoft.com/office/drawing/2014/main" id="{E3E4F69D-121F-4D62-A31F-DC54D157D8DE}"/>
              </a:ext>
            </a:extLst>
          </p:cNvPr>
          <p:cNvSpPr txBox="1">
            <a:spLocks noChangeArrowheads="1"/>
          </p:cNvSpPr>
          <p:nvPr/>
        </p:nvSpPr>
        <p:spPr bwMode="auto">
          <a:xfrm>
            <a:off x="1834927" y="2325687"/>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T</a:t>
            </a:r>
          </a:p>
        </p:txBody>
      </p:sp>
      <p:sp>
        <p:nvSpPr>
          <p:cNvPr id="10244" name="TextBox 3">
            <a:extLst>
              <a:ext uri="{FF2B5EF4-FFF2-40B4-BE49-F238E27FC236}">
                <a16:creationId xmlns:a16="http://schemas.microsoft.com/office/drawing/2014/main" id="{8F474AAD-73AC-4504-BE84-6DC4A09175E7}"/>
              </a:ext>
            </a:extLst>
          </p:cNvPr>
          <p:cNvSpPr txBox="1">
            <a:spLocks noChangeArrowheads="1"/>
          </p:cNvSpPr>
          <p:nvPr/>
        </p:nvSpPr>
        <p:spPr bwMode="auto">
          <a:xfrm>
            <a:off x="1834927" y="4197349"/>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B</a:t>
            </a:r>
          </a:p>
        </p:txBody>
      </p:sp>
      <p:cxnSp>
        <p:nvCxnSpPr>
          <p:cNvPr id="10245" name="Straight Connector 5">
            <a:extLst>
              <a:ext uri="{FF2B5EF4-FFF2-40B4-BE49-F238E27FC236}">
                <a16:creationId xmlns:a16="http://schemas.microsoft.com/office/drawing/2014/main" id="{94CA293B-275F-4E3D-92D0-693A02D96610}"/>
              </a:ext>
            </a:extLst>
          </p:cNvPr>
          <p:cNvCxnSpPr>
            <a:cxnSpLocks noChangeShapeType="1"/>
          </p:cNvCxnSpPr>
          <p:nvPr/>
        </p:nvCxnSpPr>
        <p:spPr bwMode="auto">
          <a:xfrm>
            <a:off x="2012727" y="2987674"/>
            <a:ext cx="0"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246" name="TextBox 6">
            <a:extLst>
              <a:ext uri="{FF2B5EF4-FFF2-40B4-BE49-F238E27FC236}">
                <a16:creationId xmlns:a16="http://schemas.microsoft.com/office/drawing/2014/main" id="{CC7D652E-C0EF-46A9-8116-9C0622409BC9}"/>
              </a:ext>
            </a:extLst>
          </p:cNvPr>
          <p:cNvSpPr txBox="1">
            <a:spLocks noChangeArrowheads="1"/>
          </p:cNvSpPr>
          <p:nvPr/>
        </p:nvSpPr>
        <p:spPr bwMode="auto">
          <a:xfrm>
            <a:off x="2051621" y="3204891"/>
            <a:ext cx="18716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18,000</a:t>
            </a:r>
            <a:r>
              <a:rPr kumimoji="0" lang="en-GB" altLang="en-US" sz="18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shares</a:t>
            </a:r>
          </a:p>
        </p:txBody>
      </p:sp>
      <p:sp>
        <p:nvSpPr>
          <p:cNvPr id="14" name="TextBox 13">
            <a:extLst>
              <a:ext uri="{FF2B5EF4-FFF2-40B4-BE49-F238E27FC236}">
                <a16:creationId xmlns:a16="http://schemas.microsoft.com/office/drawing/2014/main" id="{4885E540-0E71-48FE-9470-B1B8B375E6EE}"/>
              </a:ext>
            </a:extLst>
          </p:cNvPr>
          <p:cNvSpPr txBox="1">
            <a:spLocks noChangeArrowheads="1"/>
          </p:cNvSpPr>
          <p:nvPr/>
        </p:nvSpPr>
        <p:spPr bwMode="auto">
          <a:xfrm>
            <a:off x="673910" y="3187594"/>
            <a:ext cx="14890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b="0" i="0" u="none" strike="noStrike" kern="1200" cap="none" spc="0" normalizeH="0" baseline="0" noProof="0" dirty="0">
                <a:ln>
                  <a:noFill/>
                </a:ln>
                <a:solidFill>
                  <a:srgbClr val="FF00FF"/>
                </a:solidFill>
                <a:effectLst/>
                <a:uLnTx/>
                <a:uFillTx/>
                <a:latin typeface="+mn-lt"/>
                <a:ea typeface="ＭＳ Ｐゴシック" panose="020B0600070205080204" pitchFamily="34" charset="-128"/>
                <a:cs typeface="+mn-cs"/>
              </a:rPr>
              <a:t>Oral direction</a:t>
            </a:r>
          </a:p>
        </p:txBody>
      </p:sp>
      <p:sp>
        <p:nvSpPr>
          <p:cNvPr id="15" name="TextBox 14">
            <a:extLst>
              <a:ext uri="{FF2B5EF4-FFF2-40B4-BE49-F238E27FC236}">
                <a16:creationId xmlns:a16="http://schemas.microsoft.com/office/drawing/2014/main" id="{967A95AF-7EA5-4004-8EAB-D59AFB91BB23}"/>
              </a:ext>
            </a:extLst>
          </p:cNvPr>
          <p:cNvSpPr txBox="1">
            <a:spLocks noChangeArrowheads="1"/>
          </p:cNvSpPr>
          <p:nvPr/>
        </p:nvSpPr>
        <p:spPr bwMode="auto">
          <a:xfrm>
            <a:off x="673910" y="2846759"/>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i="0" u="none" strike="noStrike" kern="1200" cap="none" spc="0" normalizeH="0" baseline="0" noProof="0" dirty="0">
                <a:ln>
                  <a:noFill/>
                </a:ln>
                <a:solidFill>
                  <a:srgbClr val="FF00FF"/>
                </a:solidFill>
                <a:effectLst/>
                <a:uLnTx/>
                <a:uFillTx/>
                <a:latin typeface="+mn-lt"/>
                <a:ea typeface="ＭＳ Ｐゴシック" panose="020B0600070205080204" pitchFamily="34" charset="-128"/>
                <a:cs typeface="+mn-cs"/>
              </a:rPr>
              <a:t>1)</a:t>
            </a:r>
          </a:p>
        </p:txBody>
      </p:sp>
      <p:sp>
        <p:nvSpPr>
          <p:cNvPr id="18" name="TextBox 17">
            <a:extLst>
              <a:ext uri="{FF2B5EF4-FFF2-40B4-BE49-F238E27FC236}">
                <a16:creationId xmlns:a16="http://schemas.microsoft.com/office/drawing/2014/main" id="{B6B9620C-C573-407C-A346-E25AF3F09E61}"/>
              </a:ext>
            </a:extLst>
          </p:cNvPr>
          <p:cNvSpPr txBox="1">
            <a:spLocks noChangeArrowheads="1"/>
          </p:cNvSpPr>
          <p:nvPr/>
        </p:nvSpPr>
        <p:spPr bwMode="auto">
          <a:xfrm>
            <a:off x="2987452" y="4135090"/>
            <a:ext cx="22621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altLang="en-US" sz="2000" dirty="0">
                <a:solidFill>
                  <a:srgbClr val="FF00FF"/>
                </a:solidFill>
                <a:latin typeface="+mn-lt"/>
              </a:rPr>
              <a:t>Grandchildren</a:t>
            </a:r>
          </a:p>
        </p:txBody>
      </p:sp>
      <p:cxnSp>
        <p:nvCxnSpPr>
          <p:cNvPr id="12300" name="Straight Connector 18">
            <a:extLst>
              <a:ext uri="{FF2B5EF4-FFF2-40B4-BE49-F238E27FC236}">
                <a16:creationId xmlns:a16="http://schemas.microsoft.com/office/drawing/2014/main" id="{811A1A36-65C0-4C7E-AF44-DE217DCB6344}"/>
              </a:ext>
            </a:extLst>
          </p:cNvPr>
          <p:cNvCxnSpPr>
            <a:cxnSpLocks noChangeShapeType="1"/>
          </p:cNvCxnSpPr>
          <p:nvPr/>
        </p:nvCxnSpPr>
        <p:spPr bwMode="auto">
          <a:xfrm>
            <a:off x="2339752" y="2684462"/>
            <a:ext cx="1727200" cy="1296987"/>
          </a:xfrm>
          <a:prstGeom prst="line">
            <a:avLst/>
          </a:prstGeom>
          <a:noFill/>
          <a:ln w="19050">
            <a:solidFill>
              <a:srgbClr val="FD45DE"/>
            </a:solidFill>
            <a:round/>
            <a:headEnd/>
            <a:tailEnd/>
          </a:ln>
          <a:extLst>
            <a:ext uri="{909E8E84-426E-40DD-AFC4-6F175D3DCCD1}">
              <a14:hiddenFill xmlns:a14="http://schemas.microsoft.com/office/drawing/2010/main">
                <a:noFill/>
              </a14:hiddenFill>
            </a:ext>
          </a:extLst>
        </p:spPr>
      </p:cxnSp>
      <p:sp>
        <p:nvSpPr>
          <p:cNvPr id="25" name="TextBox 24">
            <a:extLst>
              <a:ext uri="{FF2B5EF4-FFF2-40B4-BE49-F238E27FC236}">
                <a16:creationId xmlns:a16="http://schemas.microsoft.com/office/drawing/2014/main" id="{33DD8EFC-8A59-470C-A89F-383F27C5B07D}"/>
              </a:ext>
            </a:extLst>
          </p:cNvPr>
          <p:cNvSpPr txBox="1">
            <a:spLocks noChangeArrowheads="1"/>
          </p:cNvSpPr>
          <p:nvPr/>
        </p:nvSpPr>
        <p:spPr bwMode="auto">
          <a:xfrm>
            <a:off x="999565" y="4996939"/>
            <a:ext cx="5302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i="0" u="none" strike="noStrike" kern="1200" cap="none" spc="0" normalizeH="0" baseline="0" noProof="0" dirty="0">
                <a:ln>
                  <a:noFill/>
                </a:ln>
                <a:solidFill>
                  <a:srgbClr val="0066FF"/>
                </a:solidFill>
                <a:effectLst/>
                <a:uLnTx/>
                <a:uFillTx/>
                <a:latin typeface="+mn-lt"/>
                <a:ea typeface="ＭＳ Ｐゴシック" panose="020B0600070205080204" pitchFamily="34" charset="-128"/>
                <a:cs typeface="+mn-cs"/>
              </a:rPr>
              <a:t>2)</a:t>
            </a:r>
          </a:p>
        </p:txBody>
      </p:sp>
      <p:sp>
        <p:nvSpPr>
          <p:cNvPr id="26" name="TextBox 25">
            <a:extLst>
              <a:ext uri="{FF2B5EF4-FFF2-40B4-BE49-F238E27FC236}">
                <a16:creationId xmlns:a16="http://schemas.microsoft.com/office/drawing/2014/main" id="{9FACB653-CAE9-4888-8ACD-D608C623DD6C}"/>
              </a:ext>
            </a:extLst>
          </p:cNvPr>
          <p:cNvSpPr txBox="1">
            <a:spLocks noChangeArrowheads="1"/>
          </p:cNvSpPr>
          <p:nvPr/>
        </p:nvSpPr>
        <p:spPr bwMode="auto">
          <a:xfrm>
            <a:off x="1325563" y="4995863"/>
            <a:ext cx="75342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Trustees execute </a:t>
            </a:r>
            <a:r>
              <a:rPr kumimoji="0" lang="en-GB" altLang="en-US" sz="2000" b="0" i="0" u="none" strike="noStrike" kern="1200" cap="none" spc="0" normalizeH="0" baseline="0" noProof="0" dirty="0">
                <a:ln>
                  <a:noFill/>
                </a:ln>
                <a:solidFill>
                  <a:srgbClr val="0066FF"/>
                </a:solidFill>
                <a:effectLst/>
                <a:uLnTx/>
                <a:uFillTx/>
                <a:latin typeface="+mn-lt"/>
                <a:ea typeface="ＭＳ Ｐゴシック" panose="020B0600070205080204" pitchFamily="34" charset="-128"/>
                <a:cs typeface="+mn-cs"/>
              </a:rPr>
              <a:t>deed of declaration </a:t>
            </a:r>
            <a:r>
              <a:rPr kumimoji="0" lang="en-GB" altLang="en-US" sz="2000" b="0" i="0" u="none" strike="noStrike" kern="1200" cap="none" spc="0" normalizeH="0" baseline="0" noProof="0" dirty="0">
                <a:ln>
                  <a:noFill/>
                </a:ln>
                <a:solidFill>
                  <a:srgbClr val="000000"/>
                </a:solidFill>
                <a:effectLst/>
                <a:uLnTx/>
                <a:uFillTx/>
                <a:latin typeface="+mn-lt"/>
                <a:ea typeface="ＭＳ Ｐゴシック" panose="020B0600070205080204" pitchFamily="34" charset="-128"/>
                <a:cs typeface="+mn-cs"/>
              </a:rPr>
              <a:t>that they are holding shares on trust for benefit of grandchildren since </a:t>
            </a:r>
            <a:r>
              <a:rPr kumimoji="0" lang="en-GB" altLang="en-US" sz="2000" b="0" i="0" u="none" strike="noStrike" kern="1200" cap="none" spc="0" normalizeH="0" baseline="0" noProof="0" dirty="0">
                <a:ln>
                  <a:noFill/>
                </a:ln>
                <a:solidFill>
                  <a:srgbClr val="FF00FF"/>
                </a:solidFill>
                <a:effectLst/>
                <a:uLnTx/>
                <a:uFillTx/>
                <a:latin typeface="+mn-lt"/>
                <a:ea typeface="ＭＳ Ｐゴシック" panose="020B0600070205080204" pitchFamily="34" charset="-128"/>
                <a:cs typeface="+mn-cs"/>
              </a:rPr>
              <a:t>1)</a:t>
            </a:r>
            <a:r>
              <a:rPr kumimoji="0" lang="en-GB" altLang="en-US" sz="2000" b="0" i="0" u="none" strike="noStrike" kern="1200" cap="none" spc="0" normalizeH="0" baseline="0" noProof="0" dirty="0">
                <a:ln>
                  <a:noFill/>
                </a:ln>
                <a:effectLst/>
                <a:uLnTx/>
                <a:uFillTx/>
                <a:latin typeface="+mn-lt"/>
                <a:ea typeface="ＭＳ Ｐゴシック" panose="020B0600070205080204" pitchFamily="34" charset="-128"/>
                <a:cs typeface="+mn-cs"/>
              </a:rPr>
              <a:t>.</a:t>
            </a:r>
          </a:p>
        </p:txBody>
      </p:sp>
      <p:sp>
        <p:nvSpPr>
          <p:cNvPr id="10254" name="Rectangle 1">
            <a:extLst>
              <a:ext uri="{FF2B5EF4-FFF2-40B4-BE49-F238E27FC236}">
                <a16:creationId xmlns:a16="http://schemas.microsoft.com/office/drawing/2014/main" id="{C6E94E4E-36C4-4432-85A2-77DD39EA6E59}"/>
              </a:ext>
            </a:extLst>
          </p:cNvPr>
          <p:cNvSpPr>
            <a:spLocks noChangeArrowheads="1"/>
          </p:cNvSpPr>
          <p:nvPr/>
        </p:nvSpPr>
        <p:spPr bwMode="auto">
          <a:xfrm>
            <a:off x="4527550" y="5934075"/>
            <a:ext cx="44268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0" i="1" u="sng" strike="noStrike" kern="1200" cap="none" spc="0" normalizeH="0" baseline="0" noProof="0">
                <a:ln>
                  <a:noFill/>
                </a:ln>
                <a:solidFill>
                  <a:srgbClr val="000000"/>
                </a:solidFill>
                <a:effectLst/>
                <a:uLnTx/>
                <a:uFillTx/>
                <a:latin typeface="+mn-lt"/>
                <a:ea typeface="ＭＳ Ｐゴシック" panose="020B0600070205080204" pitchFamily="34" charset="-128"/>
                <a:cs typeface="+mn-cs"/>
              </a:rPr>
              <a:t>Grey v IRC </a:t>
            </a:r>
            <a:r>
              <a:rPr kumimoji="0" lang="en-GB" altLang="en-US" sz="2400" b="0" i="0" u="sng" strike="noStrike" kern="1200" cap="none" spc="0" normalizeH="0" baseline="0" noProof="0">
                <a:ln>
                  <a:noFill/>
                </a:ln>
                <a:solidFill>
                  <a:srgbClr val="000000"/>
                </a:solidFill>
                <a:effectLst/>
                <a:uLnTx/>
                <a:uFillTx/>
                <a:latin typeface="+mn-lt"/>
                <a:ea typeface="ＭＳ Ｐゴシック" panose="020B0600070205080204" pitchFamily="34" charset="-128"/>
                <a:cs typeface="+mn-cs"/>
              </a:rPr>
              <a:t>[1959] 3 All ER 603</a:t>
            </a:r>
            <a:endParaRPr kumimoji="0" lang="en-GB" altLang="en-US" sz="2400" b="0" i="0" u="none" strike="noStrike" kern="1200" cap="none" spc="0" normalizeH="0" baseline="0" noProof="0">
              <a:ln>
                <a:noFill/>
              </a:ln>
              <a:solidFill>
                <a:srgbClr val="000000"/>
              </a:solidFill>
              <a:effectLst/>
              <a:uLnTx/>
              <a:uFillTx/>
              <a:latin typeface="+mn-lt"/>
              <a:ea typeface="ＭＳ Ｐゴシック" panose="020B0600070205080204" pitchFamily="34" charset="-128"/>
              <a:cs typeface="+mn-cs"/>
            </a:endParaRPr>
          </a:p>
        </p:txBody>
      </p:sp>
    </p:spTree>
    <p:extLst>
      <p:ext uri="{BB962C8B-B14F-4D97-AF65-F5344CB8AC3E}">
        <p14:creationId xmlns:p14="http://schemas.microsoft.com/office/powerpoint/2010/main" val="29514023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30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8" grpId="0"/>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D8D945BA-AA7D-4601-A77A-058610BA0540}"/>
              </a:ext>
            </a:extLst>
          </p:cNvPr>
          <p:cNvSpPr>
            <a:spLocks noGrp="1"/>
          </p:cNvSpPr>
          <p:nvPr>
            <p:ph type="title"/>
          </p:nvPr>
        </p:nvSpPr>
        <p:spPr/>
        <p:txBody>
          <a:bodyPr/>
          <a:lstStyle/>
          <a:p>
            <a:r>
              <a:rPr lang="en-GB" altLang="en-US" u="sng" dirty="0">
                <a:latin typeface="+mn-lt"/>
                <a:ea typeface="ＭＳ Ｐゴシック" panose="020B0600070205080204" pitchFamily="34" charset="-128"/>
              </a:rPr>
              <a:t>Self-declarations as sub-trustees</a:t>
            </a:r>
          </a:p>
        </p:txBody>
      </p:sp>
      <p:sp>
        <p:nvSpPr>
          <p:cNvPr id="3" name="TextBox 2">
            <a:extLst>
              <a:ext uri="{FF2B5EF4-FFF2-40B4-BE49-F238E27FC236}">
                <a16:creationId xmlns:a16="http://schemas.microsoft.com/office/drawing/2014/main" id="{637E6978-7158-4E98-93C4-9FCE2FCD14C3}"/>
              </a:ext>
            </a:extLst>
          </p:cNvPr>
          <p:cNvSpPr txBox="1"/>
          <p:nvPr/>
        </p:nvSpPr>
        <p:spPr>
          <a:xfrm>
            <a:off x="2165350" y="2827338"/>
            <a:ext cx="1150938"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T1</a:t>
            </a:r>
          </a:p>
        </p:txBody>
      </p:sp>
      <p:sp>
        <p:nvSpPr>
          <p:cNvPr id="4" name="TextBox 3">
            <a:extLst>
              <a:ext uri="{FF2B5EF4-FFF2-40B4-BE49-F238E27FC236}">
                <a16:creationId xmlns:a16="http://schemas.microsoft.com/office/drawing/2014/main" id="{08550CEE-9AF9-4E69-BE9B-493E3101FBB4}"/>
              </a:ext>
            </a:extLst>
          </p:cNvPr>
          <p:cNvSpPr txBox="1"/>
          <p:nvPr/>
        </p:nvSpPr>
        <p:spPr>
          <a:xfrm>
            <a:off x="2165350" y="3975100"/>
            <a:ext cx="750888"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B1</a:t>
            </a:r>
          </a:p>
        </p:txBody>
      </p:sp>
      <p:cxnSp>
        <p:nvCxnSpPr>
          <p:cNvPr id="11269" name="Straight Connector 5">
            <a:extLst>
              <a:ext uri="{FF2B5EF4-FFF2-40B4-BE49-F238E27FC236}">
                <a16:creationId xmlns:a16="http://schemas.microsoft.com/office/drawing/2014/main" id="{517D15BD-5E4B-4EA5-8B18-6E5877CE3299}"/>
              </a:ext>
            </a:extLst>
          </p:cNvPr>
          <p:cNvCxnSpPr>
            <a:cxnSpLocks noChangeShapeType="1"/>
          </p:cNvCxnSpPr>
          <p:nvPr/>
        </p:nvCxnSpPr>
        <p:spPr bwMode="auto">
          <a:xfrm>
            <a:off x="2357438" y="3300413"/>
            <a:ext cx="0" cy="579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5" name="TextBox 14">
            <a:extLst>
              <a:ext uri="{FF2B5EF4-FFF2-40B4-BE49-F238E27FC236}">
                <a16:creationId xmlns:a16="http://schemas.microsoft.com/office/drawing/2014/main" id="{7F5591C3-FF25-4235-A727-50509B9E7276}"/>
              </a:ext>
            </a:extLst>
          </p:cNvPr>
          <p:cNvSpPr txBox="1"/>
          <p:nvPr/>
        </p:nvSpPr>
        <p:spPr>
          <a:xfrm>
            <a:off x="1133475" y="1989138"/>
            <a:ext cx="2718445"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00B050"/>
                </a:solidFill>
                <a:effectLst/>
                <a:uLnTx/>
                <a:uFillTx/>
                <a:latin typeface="Arial"/>
                <a:ea typeface="ＭＳ Ｐゴシック" pitchFamily="4" charset="-128"/>
                <a:cs typeface="+mn-cs"/>
              </a:rPr>
              <a:t>No disposition of the equitable interest</a:t>
            </a:r>
          </a:p>
        </p:txBody>
      </p:sp>
      <p:cxnSp>
        <p:nvCxnSpPr>
          <p:cNvPr id="13319" name="Straight Connector 11">
            <a:extLst>
              <a:ext uri="{FF2B5EF4-FFF2-40B4-BE49-F238E27FC236}">
                <a16:creationId xmlns:a16="http://schemas.microsoft.com/office/drawing/2014/main" id="{0D6C9065-C579-4787-9B4F-B745C6DF56B8}"/>
              </a:ext>
            </a:extLst>
          </p:cNvPr>
          <p:cNvCxnSpPr>
            <a:cxnSpLocks noChangeShapeType="1"/>
          </p:cNvCxnSpPr>
          <p:nvPr/>
        </p:nvCxnSpPr>
        <p:spPr bwMode="auto">
          <a:xfrm rot="5400000">
            <a:off x="1881981" y="4442619"/>
            <a:ext cx="411163" cy="365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 name="TextBox 23">
            <a:extLst>
              <a:ext uri="{FF2B5EF4-FFF2-40B4-BE49-F238E27FC236}">
                <a16:creationId xmlns:a16="http://schemas.microsoft.com/office/drawing/2014/main" id="{A48021AB-417E-4B25-BA13-3029D8625D11}"/>
              </a:ext>
            </a:extLst>
          </p:cNvPr>
          <p:cNvSpPr txBox="1"/>
          <p:nvPr/>
        </p:nvSpPr>
        <p:spPr>
          <a:xfrm>
            <a:off x="1104900" y="4786313"/>
            <a:ext cx="1758950" cy="706437"/>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B3 in remainder</a:t>
            </a:r>
          </a:p>
        </p:txBody>
      </p:sp>
      <p:sp>
        <p:nvSpPr>
          <p:cNvPr id="52" name="TextBox 51">
            <a:extLst>
              <a:ext uri="{FF2B5EF4-FFF2-40B4-BE49-F238E27FC236}">
                <a16:creationId xmlns:a16="http://schemas.microsoft.com/office/drawing/2014/main" id="{514DC3B0-0C1B-4127-B6F1-FEE742C0A890}"/>
              </a:ext>
            </a:extLst>
          </p:cNvPr>
          <p:cNvSpPr txBox="1"/>
          <p:nvPr/>
        </p:nvSpPr>
        <p:spPr>
          <a:xfrm>
            <a:off x="2627313" y="4829175"/>
            <a:ext cx="1758950"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B2 for life</a:t>
            </a:r>
          </a:p>
        </p:txBody>
      </p:sp>
      <p:cxnSp>
        <p:nvCxnSpPr>
          <p:cNvPr id="13322" name="Straight Connector 52">
            <a:extLst>
              <a:ext uri="{FF2B5EF4-FFF2-40B4-BE49-F238E27FC236}">
                <a16:creationId xmlns:a16="http://schemas.microsoft.com/office/drawing/2014/main" id="{405067F5-DCC7-4662-A9FC-D2508B32DC62}"/>
              </a:ext>
            </a:extLst>
          </p:cNvPr>
          <p:cNvCxnSpPr>
            <a:cxnSpLocks noChangeShapeType="1"/>
          </p:cNvCxnSpPr>
          <p:nvPr/>
        </p:nvCxnSpPr>
        <p:spPr bwMode="auto">
          <a:xfrm rot="16200000" flipH="1">
            <a:off x="2397125" y="4460875"/>
            <a:ext cx="404813" cy="322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2" name="TextBox 61">
            <a:extLst>
              <a:ext uri="{FF2B5EF4-FFF2-40B4-BE49-F238E27FC236}">
                <a16:creationId xmlns:a16="http://schemas.microsoft.com/office/drawing/2014/main" id="{97AD2D15-7985-444B-B257-ECBF2BB0CFB0}"/>
              </a:ext>
            </a:extLst>
          </p:cNvPr>
          <p:cNvSpPr txBox="1"/>
          <p:nvPr/>
        </p:nvSpPr>
        <p:spPr>
          <a:xfrm>
            <a:off x="4548188" y="1989138"/>
            <a:ext cx="3168650" cy="708025"/>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1" i="0" u="none" strike="noStrike" kern="1200" cap="none" spc="0" normalizeH="0" baseline="0" noProof="0" dirty="0">
                <a:ln>
                  <a:noFill/>
                </a:ln>
                <a:solidFill>
                  <a:srgbClr val="FF0000"/>
                </a:solidFill>
                <a:effectLst/>
                <a:uLnTx/>
                <a:uFillTx/>
                <a:latin typeface="Arial"/>
                <a:ea typeface="ＭＳ Ｐゴシック" pitchFamily="4" charset="-128"/>
                <a:cs typeface="+mn-cs"/>
              </a:rPr>
              <a:t>Disposition of the equitable interest</a:t>
            </a:r>
          </a:p>
        </p:txBody>
      </p:sp>
      <p:sp>
        <p:nvSpPr>
          <p:cNvPr id="63" name="TextBox 62">
            <a:extLst>
              <a:ext uri="{FF2B5EF4-FFF2-40B4-BE49-F238E27FC236}">
                <a16:creationId xmlns:a16="http://schemas.microsoft.com/office/drawing/2014/main" id="{E9098CE2-3ED7-49B4-9E93-5B7002E91483}"/>
              </a:ext>
            </a:extLst>
          </p:cNvPr>
          <p:cNvSpPr txBox="1"/>
          <p:nvPr/>
        </p:nvSpPr>
        <p:spPr>
          <a:xfrm>
            <a:off x="5940425" y="2827338"/>
            <a:ext cx="1152525"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T1</a:t>
            </a:r>
          </a:p>
        </p:txBody>
      </p:sp>
      <p:sp>
        <p:nvSpPr>
          <p:cNvPr id="64" name="TextBox 63">
            <a:extLst>
              <a:ext uri="{FF2B5EF4-FFF2-40B4-BE49-F238E27FC236}">
                <a16:creationId xmlns:a16="http://schemas.microsoft.com/office/drawing/2014/main" id="{8E2C91D6-FF8C-4701-A025-126C8C1E7E8E}"/>
              </a:ext>
            </a:extLst>
          </p:cNvPr>
          <p:cNvSpPr txBox="1"/>
          <p:nvPr/>
        </p:nvSpPr>
        <p:spPr>
          <a:xfrm>
            <a:off x="5940425" y="3975100"/>
            <a:ext cx="503238"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B1 </a:t>
            </a:r>
          </a:p>
        </p:txBody>
      </p:sp>
      <p:cxnSp>
        <p:nvCxnSpPr>
          <p:cNvPr id="13326" name="Straight Connector 64">
            <a:extLst>
              <a:ext uri="{FF2B5EF4-FFF2-40B4-BE49-F238E27FC236}">
                <a16:creationId xmlns:a16="http://schemas.microsoft.com/office/drawing/2014/main" id="{3B9E4430-BCB3-4C43-8444-3E8508AC5F73}"/>
              </a:ext>
            </a:extLst>
          </p:cNvPr>
          <p:cNvCxnSpPr>
            <a:cxnSpLocks noChangeShapeType="1"/>
          </p:cNvCxnSpPr>
          <p:nvPr/>
        </p:nvCxnSpPr>
        <p:spPr bwMode="auto">
          <a:xfrm>
            <a:off x="6132513" y="3300413"/>
            <a:ext cx="0" cy="579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8" name="TextBox 67">
            <a:extLst>
              <a:ext uri="{FF2B5EF4-FFF2-40B4-BE49-F238E27FC236}">
                <a16:creationId xmlns:a16="http://schemas.microsoft.com/office/drawing/2014/main" id="{58A18234-325B-4CB3-A37E-C32F566B7576}"/>
              </a:ext>
            </a:extLst>
          </p:cNvPr>
          <p:cNvSpPr txBox="1"/>
          <p:nvPr/>
        </p:nvSpPr>
        <p:spPr>
          <a:xfrm>
            <a:off x="5940425" y="4802188"/>
            <a:ext cx="1758950"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B3</a:t>
            </a:r>
          </a:p>
        </p:txBody>
      </p:sp>
      <p:cxnSp>
        <p:nvCxnSpPr>
          <p:cNvPr id="13328" name="Straight Connector 68">
            <a:extLst>
              <a:ext uri="{FF2B5EF4-FFF2-40B4-BE49-F238E27FC236}">
                <a16:creationId xmlns:a16="http://schemas.microsoft.com/office/drawing/2014/main" id="{04756D84-9E6D-4895-86E7-851A3775E5A5}"/>
              </a:ext>
            </a:extLst>
          </p:cNvPr>
          <p:cNvCxnSpPr>
            <a:cxnSpLocks noChangeShapeType="1"/>
          </p:cNvCxnSpPr>
          <p:nvPr/>
        </p:nvCxnSpPr>
        <p:spPr bwMode="auto">
          <a:xfrm>
            <a:off x="6132513" y="4371975"/>
            <a:ext cx="0" cy="414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7" name="TextBox 16">
            <a:extLst>
              <a:ext uri="{FF2B5EF4-FFF2-40B4-BE49-F238E27FC236}">
                <a16:creationId xmlns:a16="http://schemas.microsoft.com/office/drawing/2014/main" id="{4C1CFCEF-E245-4848-AA14-8752472D6504}"/>
              </a:ext>
            </a:extLst>
          </p:cNvPr>
          <p:cNvSpPr txBox="1"/>
          <p:nvPr/>
        </p:nvSpPr>
        <p:spPr>
          <a:xfrm>
            <a:off x="2565400" y="3975100"/>
            <a:ext cx="750888"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 T2</a:t>
            </a:r>
          </a:p>
        </p:txBody>
      </p:sp>
      <p:sp>
        <p:nvSpPr>
          <p:cNvPr id="18" name="TextBox 17">
            <a:extLst>
              <a:ext uri="{FF2B5EF4-FFF2-40B4-BE49-F238E27FC236}">
                <a16:creationId xmlns:a16="http://schemas.microsoft.com/office/drawing/2014/main" id="{B77F56B3-C300-4489-BEDD-0CE834740889}"/>
              </a:ext>
            </a:extLst>
          </p:cNvPr>
          <p:cNvSpPr txBox="1"/>
          <p:nvPr/>
        </p:nvSpPr>
        <p:spPr>
          <a:xfrm>
            <a:off x="6362700" y="3975100"/>
            <a:ext cx="750888"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 T2</a:t>
            </a:r>
          </a:p>
        </p:txBody>
      </p:sp>
    </p:spTree>
    <p:extLst>
      <p:ext uri="{BB962C8B-B14F-4D97-AF65-F5344CB8AC3E}">
        <p14:creationId xmlns:p14="http://schemas.microsoft.com/office/powerpoint/2010/main" val="32579892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31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332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332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4" grpId="0"/>
      <p:bldP spid="52" grpId="0"/>
      <p:bldP spid="62" grpId="0"/>
      <p:bldP spid="63" grpId="0"/>
      <p:bldP spid="64" grpId="0"/>
      <p:bldP spid="68" grpId="0"/>
      <p:bldP spid="17"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CD15F9B9-B5B7-4F03-98EC-725D5C8A2F87}"/>
              </a:ext>
            </a:extLst>
          </p:cNvPr>
          <p:cNvSpPr>
            <a:spLocks noGrp="1"/>
          </p:cNvSpPr>
          <p:nvPr>
            <p:ph type="title"/>
          </p:nvPr>
        </p:nvSpPr>
        <p:spPr/>
        <p:txBody>
          <a:bodyPr/>
          <a:lstStyle/>
          <a:p>
            <a:r>
              <a:rPr lang="en-GB" altLang="en-US" sz="4000" u="sng" dirty="0">
                <a:latin typeface="+mn-lt"/>
                <a:ea typeface="ＭＳ Ｐゴシック" panose="020B0600070205080204" pitchFamily="34" charset="-128"/>
              </a:rPr>
              <a:t>Specifically enforceable contracts to assign an equitable interest</a:t>
            </a:r>
          </a:p>
        </p:txBody>
      </p:sp>
      <p:sp>
        <p:nvSpPr>
          <p:cNvPr id="3" name="TextBox 2">
            <a:extLst>
              <a:ext uri="{FF2B5EF4-FFF2-40B4-BE49-F238E27FC236}">
                <a16:creationId xmlns:a16="http://schemas.microsoft.com/office/drawing/2014/main" id="{3FFC29BA-3EED-4C4E-BAF9-71ED55E1549D}"/>
              </a:ext>
            </a:extLst>
          </p:cNvPr>
          <p:cNvSpPr txBox="1"/>
          <p:nvPr/>
        </p:nvSpPr>
        <p:spPr>
          <a:xfrm>
            <a:off x="1492352" y="2137458"/>
            <a:ext cx="1152525"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T</a:t>
            </a:r>
          </a:p>
        </p:txBody>
      </p:sp>
      <p:sp>
        <p:nvSpPr>
          <p:cNvPr id="4" name="TextBox 3">
            <a:extLst>
              <a:ext uri="{FF2B5EF4-FFF2-40B4-BE49-F238E27FC236}">
                <a16:creationId xmlns:a16="http://schemas.microsoft.com/office/drawing/2014/main" id="{DB42D4AF-A563-4740-9C09-50DAAFD61F9D}"/>
              </a:ext>
            </a:extLst>
          </p:cNvPr>
          <p:cNvSpPr txBox="1"/>
          <p:nvPr/>
        </p:nvSpPr>
        <p:spPr>
          <a:xfrm>
            <a:off x="1644650" y="3790950"/>
            <a:ext cx="1760538"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Mrs O for life</a:t>
            </a:r>
          </a:p>
        </p:txBody>
      </p:sp>
      <p:cxnSp>
        <p:nvCxnSpPr>
          <p:cNvPr id="12293" name="Straight Connector 5">
            <a:extLst>
              <a:ext uri="{FF2B5EF4-FFF2-40B4-BE49-F238E27FC236}">
                <a16:creationId xmlns:a16="http://schemas.microsoft.com/office/drawing/2014/main" id="{C1DE1300-F2EC-4595-BCEE-ACAB950E2BDE}"/>
              </a:ext>
            </a:extLst>
          </p:cNvPr>
          <p:cNvCxnSpPr>
            <a:cxnSpLocks noChangeShapeType="1"/>
          </p:cNvCxnSpPr>
          <p:nvPr/>
        </p:nvCxnSpPr>
        <p:spPr bwMode="auto">
          <a:xfrm>
            <a:off x="1697140" y="2753408"/>
            <a:ext cx="0"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7" name="TextBox 6">
            <a:extLst>
              <a:ext uri="{FF2B5EF4-FFF2-40B4-BE49-F238E27FC236}">
                <a16:creationId xmlns:a16="http://schemas.microsoft.com/office/drawing/2014/main" id="{6A4BD123-236D-404A-ABBE-ACB872C0E792}"/>
              </a:ext>
            </a:extLst>
          </p:cNvPr>
          <p:cNvSpPr txBox="1"/>
          <p:nvPr/>
        </p:nvSpPr>
        <p:spPr>
          <a:xfrm>
            <a:off x="1770453" y="2858123"/>
            <a:ext cx="1184662" cy="7080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200,000 shares</a:t>
            </a:r>
          </a:p>
        </p:txBody>
      </p:sp>
      <p:sp>
        <p:nvSpPr>
          <p:cNvPr id="15" name="TextBox 14">
            <a:extLst>
              <a:ext uri="{FF2B5EF4-FFF2-40B4-BE49-F238E27FC236}">
                <a16:creationId xmlns:a16="http://schemas.microsoft.com/office/drawing/2014/main" id="{027DA0A8-0578-48E5-844A-9589313FEDB9}"/>
              </a:ext>
            </a:extLst>
          </p:cNvPr>
          <p:cNvSpPr txBox="1"/>
          <p:nvPr/>
        </p:nvSpPr>
        <p:spPr>
          <a:xfrm>
            <a:off x="730352" y="2137458"/>
            <a:ext cx="1152525" cy="400050"/>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i="0" u="none" strike="noStrike" kern="1200" cap="none" spc="0" normalizeH="0" baseline="0" noProof="0" dirty="0">
                <a:ln>
                  <a:noFill/>
                </a:ln>
                <a:solidFill>
                  <a:srgbClr val="FF00FF"/>
                </a:solidFill>
                <a:effectLst/>
                <a:uLnTx/>
                <a:uFillTx/>
                <a:latin typeface="Arial"/>
                <a:ea typeface="ＭＳ Ｐゴシック" pitchFamily="4" charset="-128"/>
                <a:cs typeface="+mn-cs"/>
              </a:rPr>
              <a:t>1)</a:t>
            </a:r>
          </a:p>
        </p:txBody>
      </p:sp>
      <p:sp>
        <p:nvSpPr>
          <p:cNvPr id="22" name="TextBox 21">
            <a:extLst>
              <a:ext uri="{FF2B5EF4-FFF2-40B4-BE49-F238E27FC236}">
                <a16:creationId xmlns:a16="http://schemas.microsoft.com/office/drawing/2014/main" id="{7A169ED2-EF8A-41B0-8F44-9DAE15DEA543}"/>
              </a:ext>
            </a:extLst>
          </p:cNvPr>
          <p:cNvSpPr txBox="1"/>
          <p:nvPr/>
        </p:nvSpPr>
        <p:spPr>
          <a:xfrm>
            <a:off x="4777527" y="2141889"/>
            <a:ext cx="682625" cy="40005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i="0" u="none" strike="noStrike" kern="1200" cap="none" spc="0" normalizeH="0" baseline="0" noProof="0" dirty="0">
                <a:ln>
                  <a:noFill/>
                </a:ln>
                <a:solidFill>
                  <a:srgbClr val="0066FF"/>
                </a:solidFill>
                <a:effectLst/>
                <a:uLnTx/>
                <a:uFillTx/>
                <a:latin typeface="Arial"/>
                <a:ea typeface="ＭＳ Ｐゴシック" pitchFamily="4" charset="-128"/>
                <a:cs typeface="+mn-cs"/>
              </a:rPr>
              <a:t>2)</a:t>
            </a:r>
          </a:p>
        </p:txBody>
      </p:sp>
      <p:cxnSp>
        <p:nvCxnSpPr>
          <p:cNvPr id="12298" name="Straight Connector 11">
            <a:extLst>
              <a:ext uri="{FF2B5EF4-FFF2-40B4-BE49-F238E27FC236}">
                <a16:creationId xmlns:a16="http://schemas.microsoft.com/office/drawing/2014/main" id="{6CC85DF7-B71D-4472-8B0C-E024881B6879}"/>
              </a:ext>
            </a:extLst>
          </p:cNvPr>
          <p:cNvCxnSpPr>
            <a:cxnSpLocks noChangeShapeType="1"/>
          </p:cNvCxnSpPr>
          <p:nvPr/>
        </p:nvCxnSpPr>
        <p:spPr bwMode="auto">
          <a:xfrm flipH="1">
            <a:off x="976415" y="3380471"/>
            <a:ext cx="720725" cy="654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2299" name="TextBox 23">
            <a:extLst>
              <a:ext uri="{FF2B5EF4-FFF2-40B4-BE49-F238E27FC236}">
                <a16:creationId xmlns:a16="http://schemas.microsoft.com/office/drawing/2014/main" id="{C31E0A12-BBDF-4D46-9157-AE62B65F1C1E}"/>
              </a:ext>
            </a:extLst>
          </p:cNvPr>
          <p:cNvSpPr txBox="1">
            <a:spLocks noChangeArrowheads="1"/>
          </p:cNvSpPr>
          <p:nvPr/>
        </p:nvSpPr>
        <p:spPr bwMode="auto">
          <a:xfrm>
            <a:off x="296965" y="4121833"/>
            <a:ext cx="17605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Mrs O’s son in remainder</a:t>
            </a:r>
          </a:p>
        </p:txBody>
      </p:sp>
      <p:sp>
        <p:nvSpPr>
          <p:cNvPr id="28" name="TextBox 27">
            <a:extLst>
              <a:ext uri="{FF2B5EF4-FFF2-40B4-BE49-F238E27FC236}">
                <a16:creationId xmlns:a16="http://schemas.microsoft.com/office/drawing/2014/main" id="{3AB870CC-308E-4BCE-8BE3-917B8AA04E3D}"/>
              </a:ext>
            </a:extLst>
          </p:cNvPr>
          <p:cNvSpPr txBox="1"/>
          <p:nvPr/>
        </p:nvSpPr>
        <p:spPr>
          <a:xfrm>
            <a:off x="2057400" y="4876800"/>
            <a:ext cx="2838450" cy="1323439"/>
          </a:xfrm>
          <a:prstGeom prst="rect">
            <a:avLst/>
          </a:prstGeom>
          <a:no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srgbClr val="FF00FF"/>
                </a:solidFill>
                <a:effectLst/>
                <a:uLnTx/>
                <a:uFillTx/>
                <a:latin typeface="Arial"/>
                <a:ea typeface="ＭＳ Ｐゴシック" pitchFamily="4" charset="-128"/>
                <a:cs typeface="+mn-cs"/>
              </a:rPr>
              <a:t>Oral agreement for Mrs O to purchase the remainder interest for the consideration of 72,700 shares that Mrs O owns absolutely.</a:t>
            </a:r>
          </a:p>
        </p:txBody>
      </p:sp>
      <p:sp>
        <p:nvSpPr>
          <p:cNvPr id="33" name="TextBox 32">
            <a:extLst>
              <a:ext uri="{FF2B5EF4-FFF2-40B4-BE49-F238E27FC236}">
                <a16:creationId xmlns:a16="http://schemas.microsoft.com/office/drawing/2014/main" id="{3A913F77-7AA2-4AB5-87F3-9530618E8B13}"/>
              </a:ext>
            </a:extLst>
          </p:cNvPr>
          <p:cNvSpPr txBox="1"/>
          <p:nvPr/>
        </p:nvSpPr>
        <p:spPr>
          <a:xfrm>
            <a:off x="5410736" y="2137458"/>
            <a:ext cx="2968817" cy="3785652"/>
          </a:xfrm>
          <a:prstGeom prst="rect">
            <a:avLst/>
          </a:prstGeom>
          <a:noFill/>
        </p:spPr>
        <p:txBody>
          <a:bodyPr wrap="square">
            <a:spAutoFit/>
          </a:bodyPr>
          <a:lstStyle/>
          <a:p>
            <a:pPr marL="342900" indent="-342900">
              <a:buFontTx/>
              <a:buAutoNum type="alphaLcParenR"/>
              <a:defRPr/>
            </a:pPr>
            <a:r>
              <a:rPr lang="en-GB" sz="1600" dirty="0">
                <a:solidFill>
                  <a:srgbClr val="0066FF"/>
                </a:solidFill>
                <a:latin typeface="Arial"/>
                <a:ea typeface="ＭＳ Ｐゴシック" pitchFamily="4" charset="-128"/>
              </a:rPr>
              <a:t>Transfer of legal title of 72,700 shares from Mrs O to Mrs O’s son.</a:t>
            </a:r>
          </a:p>
          <a:p>
            <a:pPr marL="342900" marR="0" lvl="0" indent="-342900" algn="l" defTabSz="914400" rtl="0" eaLnBrk="0" fontAlgn="base" latinLnBrk="0" hangingPunct="0">
              <a:lnSpc>
                <a:spcPct val="100000"/>
              </a:lnSpc>
              <a:spcBef>
                <a:spcPct val="0"/>
              </a:spcBef>
              <a:spcAft>
                <a:spcPct val="0"/>
              </a:spcAft>
              <a:buClrTx/>
              <a:buSzTx/>
              <a:buFontTx/>
              <a:buAutoNum type="alphaLcParenR"/>
              <a:tabLst/>
              <a:defRPr/>
            </a:pPr>
            <a:r>
              <a:rPr lang="en-GB" sz="1600" dirty="0">
                <a:solidFill>
                  <a:srgbClr val="0066FF"/>
                </a:solidFill>
                <a:latin typeface="Arial"/>
                <a:ea typeface="ＭＳ Ｐゴシック" pitchFamily="4" charset="-128"/>
              </a:rPr>
              <a:t>Execution of deed </a:t>
            </a:r>
            <a:r>
              <a:rPr kumimoji="0" lang="en-GB" sz="1600" b="0" i="0" u="none" strike="noStrike" kern="1200" cap="none" spc="0" normalizeH="0" baseline="0" noProof="0" dirty="0">
                <a:ln>
                  <a:noFill/>
                </a:ln>
                <a:solidFill>
                  <a:srgbClr val="0066FF"/>
                </a:solidFill>
                <a:effectLst/>
                <a:uLnTx/>
                <a:uFillTx/>
                <a:latin typeface="Arial"/>
                <a:ea typeface="ＭＳ Ｐゴシック" pitchFamily="4" charset="-128"/>
                <a:cs typeface="+mn-cs"/>
              </a:rPr>
              <a:t>of release concerning the remainder</a:t>
            </a:r>
            <a:r>
              <a:rPr kumimoji="0" lang="en-GB" sz="1600" b="0" i="0" u="none" strike="noStrike" kern="1200" cap="none" spc="0" normalizeH="0" noProof="0" dirty="0">
                <a:ln>
                  <a:noFill/>
                </a:ln>
                <a:solidFill>
                  <a:srgbClr val="0066FF"/>
                </a:solidFill>
                <a:effectLst/>
                <a:uLnTx/>
                <a:uFillTx/>
                <a:latin typeface="Arial"/>
                <a:ea typeface="ＭＳ Ｐゴシック" pitchFamily="4" charset="-128"/>
                <a:cs typeface="+mn-cs"/>
              </a:rPr>
              <a:t> interest </a:t>
            </a:r>
            <a:r>
              <a:rPr kumimoji="0" lang="en-GB" sz="1600" b="0" i="0" u="none" strike="noStrike" kern="1200" cap="none" spc="0" normalizeH="0" baseline="0" noProof="0" dirty="0">
                <a:ln>
                  <a:noFill/>
                </a:ln>
                <a:solidFill>
                  <a:srgbClr val="0066FF"/>
                </a:solidFill>
                <a:effectLst/>
                <a:uLnTx/>
                <a:uFillTx/>
                <a:latin typeface="Arial"/>
                <a:ea typeface="ＭＳ Ｐゴシック" pitchFamily="4" charset="-128"/>
                <a:cs typeface="+mn-cs"/>
              </a:rPr>
              <a:t>between Mrs O and Mrs O’s son.</a:t>
            </a:r>
          </a:p>
          <a:p>
            <a:pPr marL="342900" marR="0" lvl="0" indent="-342900" algn="l" defTabSz="914400" rtl="0" eaLnBrk="0" fontAlgn="base" latinLnBrk="0" hangingPunct="0">
              <a:lnSpc>
                <a:spcPct val="100000"/>
              </a:lnSpc>
              <a:spcBef>
                <a:spcPct val="0"/>
              </a:spcBef>
              <a:spcAft>
                <a:spcPct val="0"/>
              </a:spcAft>
              <a:buClrTx/>
              <a:buSzTx/>
              <a:buFontTx/>
              <a:buAutoNum type="alphaLcParenR"/>
              <a:tabLst/>
              <a:defRPr/>
            </a:pPr>
            <a:r>
              <a:rPr lang="en-GB" sz="1600" dirty="0">
                <a:solidFill>
                  <a:srgbClr val="0066FF"/>
                </a:solidFill>
                <a:latin typeface="Arial"/>
                <a:ea typeface="ＭＳ Ｐゴシック" pitchFamily="4" charset="-128"/>
              </a:rPr>
              <a:t>T</a:t>
            </a:r>
            <a:r>
              <a:rPr kumimoji="0" lang="en-GB" sz="1600" b="0" i="0" u="none" strike="noStrike" kern="1200" cap="none" spc="0" normalizeH="0" baseline="0" noProof="0" dirty="0" err="1">
                <a:ln>
                  <a:noFill/>
                </a:ln>
                <a:solidFill>
                  <a:srgbClr val="0066FF"/>
                </a:solidFill>
                <a:effectLst/>
                <a:uLnTx/>
                <a:uFillTx/>
                <a:latin typeface="Arial"/>
                <a:ea typeface="ＭＳ Ｐゴシック" pitchFamily="4" charset="-128"/>
                <a:cs typeface="+mn-cs"/>
              </a:rPr>
              <a:t>ransfer</a:t>
            </a:r>
            <a:r>
              <a:rPr kumimoji="0" lang="en-GB" sz="1600" b="0" i="0" u="none" strike="noStrike" kern="1200" cap="none" spc="0" normalizeH="0" baseline="0" noProof="0" dirty="0">
                <a:ln>
                  <a:noFill/>
                </a:ln>
                <a:solidFill>
                  <a:srgbClr val="0066FF"/>
                </a:solidFill>
                <a:effectLst/>
                <a:uLnTx/>
                <a:uFillTx/>
                <a:latin typeface="Arial"/>
                <a:ea typeface="ＭＳ Ｐゴシック" pitchFamily="4" charset="-128"/>
                <a:cs typeface="+mn-cs"/>
              </a:rPr>
              <a:t> of legal title in 200,000 shares from trustees to Mrs O.</a:t>
            </a:r>
          </a:p>
          <a:p>
            <a:pPr marR="0" lvl="0" algn="l" defTabSz="914400" rtl="0" eaLnBrk="0" fontAlgn="base" latinLnBrk="0" hangingPunct="0">
              <a:lnSpc>
                <a:spcPct val="100000"/>
              </a:lnSpc>
              <a:spcBef>
                <a:spcPct val="0"/>
              </a:spcBef>
              <a:spcAft>
                <a:spcPct val="0"/>
              </a:spcAft>
              <a:buClrTx/>
              <a:buSzTx/>
              <a:tabLst/>
              <a:defRPr/>
            </a:pPr>
            <a:r>
              <a:rPr lang="en-GB" sz="1600" b="1" dirty="0">
                <a:solidFill>
                  <a:srgbClr val="0066FF"/>
                </a:solidFill>
                <a:latin typeface="Arial"/>
                <a:ea typeface="ＭＳ Ｐゴシック" pitchFamily="4" charset="-128"/>
                <a:sym typeface="Wingdings" pitchFamily="2" charset="2"/>
              </a:rPr>
              <a:t> Mrs O owns 200,000 shares absolutely; Mrs O’s son owns 72,700 shares absolutely.</a:t>
            </a:r>
            <a:endParaRPr kumimoji="0" lang="en-GB" sz="1600" b="1" i="0" u="none" strike="noStrike" kern="1200" cap="none" spc="0" normalizeH="0" baseline="0" noProof="0" dirty="0">
              <a:ln>
                <a:noFill/>
              </a:ln>
              <a:solidFill>
                <a:srgbClr val="0066FF"/>
              </a:solidFill>
              <a:effectLst/>
              <a:uLnTx/>
              <a:uFillTx/>
              <a:latin typeface="Arial"/>
              <a:ea typeface="ＭＳ Ｐゴシック" pitchFamily="4" charset="-128"/>
            </a:endParaRPr>
          </a:p>
        </p:txBody>
      </p:sp>
      <p:sp>
        <p:nvSpPr>
          <p:cNvPr id="12303" name="Rectangle 1">
            <a:extLst>
              <a:ext uri="{FF2B5EF4-FFF2-40B4-BE49-F238E27FC236}">
                <a16:creationId xmlns:a16="http://schemas.microsoft.com/office/drawing/2014/main" id="{488BB3E1-3A19-418E-B7E7-82928EABE81B}"/>
              </a:ext>
            </a:extLst>
          </p:cNvPr>
          <p:cNvSpPr>
            <a:spLocks noChangeArrowheads="1"/>
          </p:cNvSpPr>
          <p:nvPr/>
        </p:nvSpPr>
        <p:spPr bwMode="auto">
          <a:xfrm>
            <a:off x="4504465" y="6116894"/>
            <a:ext cx="3875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0" i="1" u="sng" strike="noStrike" kern="1200" cap="none" spc="0" normalizeH="0" baseline="0" noProof="0" dirty="0" err="1">
                <a:ln>
                  <a:noFill/>
                </a:ln>
                <a:solidFill>
                  <a:srgbClr val="000000"/>
                </a:solidFill>
                <a:effectLst/>
                <a:uLnTx/>
                <a:uFillTx/>
                <a:latin typeface="Calibri" panose="020F0502020204030204" pitchFamily="34" charset="0"/>
                <a:ea typeface="ＭＳ Ｐゴシック" panose="020B0600070205080204" pitchFamily="34" charset="-128"/>
                <a:cs typeface="+mn-cs"/>
              </a:rPr>
              <a:t>Oughtred</a:t>
            </a:r>
            <a:r>
              <a:rPr kumimoji="0" lang="en-GB" altLang="en-US" sz="2400" b="0" i="1" u="sng"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mn-cs"/>
              </a:rPr>
              <a:t> v IRC </a:t>
            </a:r>
            <a:r>
              <a:rPr kumimoji="0" lang="en-GB" altLang="en-US" sz="2400" b="0" i="0" u="sng"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mn-cs"/>
              </a:rPr>
              <a:t>[1960] AC 206</a:t>
            </a:r>
            <a:endParaRPr kumimoji="0" lang="en-GB" altLang="en-US" sz="24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cxnSp>
        <p:nvCxnSpPr>
          <p:cNvPr id="31" name="Straight Arrow Connector 30">
            <a:extLst>
              <a:ext uri="{FF2B5EF4-FFF2-40B4-BE49-F238E27FC236}">
                <a16:creationId xmlns:a16="http://schemas.microsoft.com/office/drawing/2014/main" id="{A7699ABF-FF83-48D7-A9BC-05A2FFE2A342}"/>
              </a:ext>
            </a:extLst>
          </p:cNvPr>
          <p:cNvCxnSpPr>
            <a:cxnSpLocks noChangeShapeType="1"/>
          </p:cNvCxnSpPr>
          <p:nvPr/>
        </p:nvCxnSpPr>
        <p:spPr bwMode="auto">
          <a:xfrm flipV="1">
            <a:off x="1949552" y="4194858"/>
            <a:ext cx="762000" cy="538163"/>
          </a:xfrm>
          <a:prstGeom prst="straightConnector1">
            <a:avLst/>
          </a:prstGeom>
          <a:noFill/>
          <a:ln w="19050">
            <a:solidFill>
              <a:srgbClr val="FF00FF"/>
            </a:solidFill>
            <a:round/>
            <a:headEnd type="arrow" w="med" len="med"/>
            <a:tailEnd type="arrow" w="med" len="med"/>
          </a:ln>
          <a:extLst>
            <a:ext uri="{909E8E84-426E-40DD-AFC4-6F175D3DCCD1}">
              <a14:hiddenFill xmlns:a14="http://schemas.microsoft.com/office/drawing/2010/main">
                <a:noFill/>
              </a14:hiddenFill>
            </a:ext>
          </a:extLst>
        </p:spPr>
      </p:cxnSp>
      <p:sp>
        <p:nvSpPr>
          <p:cNvPr id="2" name="TextBox 1">
            <a:extLst>
              <a:ext uri="{FF2B5EF4-FFF2-40B4-BE49-F238E27FC236}">
                <a16:creationId xmlns:a16="http://schemas.microsoft.com/office/drawing/2014/main" id="{DC01918B-3DC3-5B0A-3B1A-D4C8F88E6445}"/>
              </a:ext>
            </a:extLst>
          </p:cNvPr>
          <p:cNvSpPr txBox="1"/>
          <p:nvPr/>
        </p:nvSpPr>
        <p:spPr>
          <a:xfrm>
            <a:off x="3058423" y="2128572"/>
            <a:ext cx="892471" cy="40005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Mrs O</a:t>
            </a:r>
          </a:p>
        </p:txBody>
      </p:sp>
      <p:cxnSp>
        <p:nvCxnSpPr>
          <p:cNvPr id="5" name="Straight Connector 5">
            <a:extLst>
              <a:ext uri="{FF2B5EF4-FFF2-40B4-BE49-F238E27FC236}">
                <a16:creationId xmlns:a16="http://schemas.microsoft.com/office/drawing/2014/main" id="{9C501D21-7334-79BA-1C6C-29A74AFAA24E}"/>
              </a:ext>
            </a:extLst>
          </p:cNvPr>
          <p:cNvCxnSpPr>
            <a:cxnSpLocks noChangeShapeType="1"/>
          </p:cNvCxnSpPr>
          <p:nvPr/>
        </p:nvCxnSpPr>
        <p:spPr bwMode="auto">
          <a:xfrm>
            <a:off x="3405188" y="2503736"/>
            <a:ext cx="0" cy="3543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 name="TextBox 7">
            <a:extLst>
              <a:ext uri="{FF2B5EF4-FFF2-40B4-BE49-F238E27FC236}">
                <a16:creationId xmlns:a16="http://schemas.microsoft.com/office/drawing/2014/main" id="{C30079EA-D3CF-130C-2CE8-42DA055BFF9C}"/>
              </a:ext>
            </a:extLst>
          </p:cNvPr>
          <p:cNvSpPr txBox="1"/>
          <p:nvPr/>
        </p:nvSpPr>
        <p:spPr>
          <a:xfrm>
            <a:off x="2913148" y="2858192"/>
            <a:ext cx="1113705"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000" b="0" i="0" u="none" strike="noStrike" kern="1200" cap="none" spc="0" normalizeH="0" baseline="0" noProof="0" dirty="0">
                <a:ln>
                  <a:noFill/>
                </a:ln>
                <a:solidFill>
                  <a:srgbClr val="000000"/>
                </a:solidFill>
                <a:effectLst/>
                <a:uLnTx/>
                <a:uFillTx/>
                <a:latin typeface="Arial"/>
                <a:ea typeface="ＭＳ Ｐゴシック" pitchFamily="4" charset="-128"/>
                <a:cs typeface="+mn-cs"/>
              </a:rPr>
              <a:t>72,700 shares</a:t>
            </a:r>
          </a:p>
        </p:txBody>
      </p:sp>
    </p:spTree>
    <p:extLst>
      <p:ext uri="{BB962C8B-B14F-4D97-AF65-F5344CB8AC3E}">
        <p14:creationId xmlns:p14="http://schemas.microsoft.com/office/powerpoint/2010/main" val="3849308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P spid="28" grpId="0"/>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5"/>
          <p:cNvSpPr txBox="1">
            <a:spLocks noGrp="1"/>
          </p:cNvSpPr>
          <p:nvPr>
            <p:ph type="title"/>
          </p:nvPr>
        </p:nvSpPr>
        <p:spPr>
          <a:xfrm>
            <a:off x="580230" y="755900"/>
            <a:ext cx="7772400" cy="857400"/>
          </a:xfrm>
          <a:prstGeom prst="rect">
            <a:avLst/>
          </a:prstGeom>
          <a:noFill/>
          <a:ln>
            <a:noFill/>
          </a:ln>
        </p:spPr>
        <p:txBody>
          <a:bodyPr spcFirstLastPara="1" vert="horz" wrap="square" lIns="91425" tIns="45700" rIns="91425" bIns="45700" numCol="1" anchor="ctr" anchorCtr="0" compatLnSpc="1">
            <a:prstTxWarp prst="textNoShape">
              <a:avLst/>
            </a:prstTxWarp>
            <a:noAutofit/>
          </a:bodyPr>
          <a:lstStyle/>
          <a:p>
            <a:pPr>
              <a:spcBef>
                <a:spcPts val="0"/>
              </a:spcBef>
              <a:spcAft>
                <a:spcPts val="0"/>
              </a:spcAft>
            </a:pPr>
            <a:r>
              <a:rPr lang="en-GB" sz="4000" u="sng" dirty="0">
                <a:effectLst/>
                <a:latin typeface="+mn-lt"/>
                <a:ea typeface="Times New Roman" panose="02020603050405020304" pitchFamily="18" charset="0"/>
              </a:rPr>
              <a:t>Transfers of legal and equitable title together</a:t>
            </a:r>
            <a:r>
              <a:rPr lang="en-GB" sz="4000" u="sng" dirty="0">
                <a:effectLst/>
                <a:latin typeface="+mn-lt"/>
              </a:rPr>
              <a:t> </a:t>
            </a:r>
            <a:endParaRPr sz="4000" u="sng" dirty="0">
              <a:latin typeface="+mn-lt"/>
            </a:endParaRPr>
          </a:p>
        </p:txBody>
      </p:sp>
      <p:sp>
        <p:nvSpPr>
          <p:cNvPr id="239" name="Google Shape;239;p35"/>
          <p:cNvSpPr txBox="1"/>
          <p:nvPr/>
        </p:nvSpPr>
        <p:spPr>
          <a:xfrm>
            <a:off x="2466053" y="2239128"/>
            <a:ext cx="358724" cy="400200"/>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2000" dirty="0">
                <a:solidFill>
                  <a:schemeClr val="dk1"/>
                </a:solidFill>
                <a:latin typeface="+mn-lt"/>
                <a:ea typeface="Arial"/>
                <a:cs typeface="Arial"/>
                <a:sym typeface="Arial"/>
              </a:rPr>
              <a:t>T</a:t>
            </a:r>
            <a:endParaRPr dirty="0">
              <a:latin typeface="+mn-lt"/>
            </a:endParaRPr>
          </a:p>
        </p:txBody>
      </p:sp>
      <p:sp>
        <p:nvSpPr>
          <p:cNvPr id="240" name="Google Shape;240;p35"/>
          <p:cNvSpPr txBox="1"/>
          <p:nvPr/>
        </p:nvSpPr>
        <p:spPr>
          <a:xfrm>
            <a:off x="2392003" y="3979076"/>
            <a:ext cx="1471500" cy="400200"/>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2000">
                <a:solidFill>
                  <a:schemeClr val="dk1"/>
                </a:solidFill>
                <a:latin typeface="+mn-lt"/>
                <a:ea typeface="Arial"/>
                <a:cs typeface="Arial"/>
                <a:sym typeface="Arial"/>
              </a:rPr>
              <a:t>Vandervell</a:t>
            </a:r>
            <a:endParaRPr sz="2000">
              <a:solidFill>
                <a:schemeClr val="dk1"/>
              </a:solidFill>
              <a:latin typeface="+mn-lt"/>
              <a:ea typeface="Arial"/>
              <a:cs typeface="Arial"/>
              <a:sym typeface="Arial"/>
            </a:endParaRPr>
          </a:p>
        </p:txBody>
      </p:sp>
      <p:cxnSp>
        <p:nvCxnSpPr>
          <p:cNvPr id="241" name="Google Shape;241;p35"/>
          <p:cNvCxnSpPr>
            <a:cxnSpLocks/>
          </p:cNvCxnSpPr>
          <p:nvPr/>
        </p:nvCxnSpPr>
        <p:spPr>
          <a:xfrm>
            <a:off x="2639653" y="2770698"/>
            <a:ext cx="0" cy="1045216"/>
          </a:xfrm>
          <a:prstGeom prst="straightConnector1">
            <a:avLst/>
          </a:prstGeom>
          <a:noFill/>
          <a:ln w="9525" cap="flat" cmpd="sng">
            <a:solidFill>
              <a:schemeClr val="dk1"/>
            </a:solidFill>
            <a:prstDash val="solid"/>
            <a:round/>
            <a:headEnd type="none" w="med" len="med"/>
            <a:tailEnd type="none" w="med" len="med"/>
          </a:ln>
        </p:spPr>
      </p:cxnSp>
      <p:sp>
        <p:nvSpPr>
          <p:cNvPr id="242" name="Google Shape;242;p35"/>
          <p:cNvSpPr txBox="1"/>
          <p:nvPr/>
        </p:nvSpPr>
        <p:spPr>
          <a:xfrm>
            <a:off x="2745552" y="2939306"/>
            <a:ext cx="1873200" cy="708000"/>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2000" dirty="0">
                <a:solidFill>
                  <a:schemeClr val="dk1"/>
                </a:solidFill>
                <a:latin typeface="+mn-lt"/>
                <a:ea typeface="Arial"/>
                <a:cs typeface="Arial"/>
                <a:sym typeface="Arial"/>
              </a:rPr>
              <a:t>100,000 shares</a:t>
            </a:r>
            <a:endParaRPr dirty="0">
              <a:latin typeface="+mn-lt"/>
            </a:endParaRPr>
          </a:p>
        </p:txBody>
      </p:sp>
      <p:sp>
        <p:nvSpPr>
          <p:cNvPr id="243" name="Google Shape;243;p35"/>
          <p:cNvSpPr txBox="1"/>
          <p:nvPr/>
        </p:nvSpPr>
        <p:spPr>
          <a:xfrm>
            <a:off x="931846" y="2939306"/>
            <a:ext cx="1305000" cy="708000"/>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2000" dirty="0">
                <a:solidFill>
                  <a:schemeClr val="dk1"/>
                </a:solidFill>
                <a:latin typeface="+mn-lt"/>
                <a:ea typeface="Arial"/>
                <a:cs typeface="Arial"/>
                <a:sym typeface="Arial"/>
              </a:rPr>
              <a:t>Oral direction</a:t>
            </a:r>
            <a:endParaRPr dirty="0">
              <a:latin typeface="+mn-lt"/>
            </a:endParaRPr>
          </a:p>
        </p:txBody>
      </p:sp>
      <p:sp>
        <p:nvSpPr>
          <p:cNvPr id="244" name="Google Shape;244;p35"/>
          <p:cNvSpPr txBox="1"/>
          <p:nvPr/>
        </p:nvSpPr>
        <p:spPr>
          <a:xfrm>
            <a:off x="5745501" y="2962967"/>
            <a:ext cx="1873200" cy="708000"/>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2000" dirty="0">
                <a:solidFill>
                  <a:schemeClr val="dk1"/>
                </a:solidFill>
                <a:latin typeface="+mn-lt"/>
                <a:ea typeface="Arial"/>
                <a:cs typeface="Arial"/>
                <a:sym typeface="Arial"/>
              </a:rPr>
              <a:t>RCS (absolute owners)</a:t>
            </a:r>
            <a:endParaRPr dirty="0">
              <a:latin typeface="+mn-lt"/>
            </a:endParaRPr>
          </a:p>
        </p:txBody>
      </p:sp>
      <p:cxnSp>
        <p:nvCxnSpPr>
          <p:cNvPr id="246" name="Google Shape;246;p35"/>
          <p:cNvCxnSpPr>
            <a:cxnSpLocks/>
          </p:cNvCxnSpPr>
          <p:nvPr/>
        </p:nvCxnSpPr>
        <p:spPr>
          <a:xfrm flipV="1">
            <a:off x="3863013" y="3437551"/>
            <a:ext cx="1882488" cy="4151"/>
          </a:xfrm>
          <a:prstGeom prst="straightConnector1">
            <a:avLst/>
          </a:prstGeom>
          <a:noFill/>
          <a:ln w="19050" cap="flat" cmpd="sng">
            <a:solidFill>
              <a:schemeClr val="dk1"/>
            </a:solidFill>
            <a:prstDash val="solid"/>
            <a:round/>
            <a:headEnd type="none" w="med" len="med"/>
            <a:tailEnd type="stealth" w="med" len="med"/>
          </a:ln>
        </p:spPr>
      </p:cxnSp>
      <p:sp>
        <p:nvSpPr>
          <p:cNvPr id="247" name="Google Shape;247;p35"/>
          <p:cNvSpPr txBox="1"/>
          <p:nvPr/>
        </p:nvSpPr>
        <p:spPr>
          <a:xfrm>
            <a:off x="3877221" y="2758675"/>
            <a:ext cx="1868280" cy="523180"/>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1400" dirty="0">
                <a:solidFill>
                  <a:schemeClr val="dk1"/>
                </a:solidFill>
                <a:latin typeface="+mn-lt"/>
                <a:ea typeface="Arial"/>
                <a:cs typeface="Arial"/>
                <a:sym typeface="Arial"/>
              </a:rPr>
              <a:t>To transfer legal and b</a:t>
            </a:r>
            <a:r>
              <a:rPr lang="en" sz="1400" dirty="0">
                <a:solidFill>
                  <a:schemeClr val="dk1"/>
                </a:solidFill>
                <a:latin typeface="+mn-lt"/>
              </a:rPr>
              <a:t>eneficial</a:t>
            </a:r>
            <a:r>
              <a:rPr lang="en" sz="1400" dirty="0">
                <a:solidFill>
                  <a:schemeClr val="dk1"/>
                </a:solidFill>
                <a:latin typeface="+mn-lt"/>
                <a:ea typeface="Arial"/>
                <a:cs typeface="Arial"/>
                <a:sym typeface="Arial"/>
              </a:rPr>
              <a:t> title</a:t>
            </a:r>
            <a:endParaRPr sz="1400" dirty="0">
              <a:latin typeface="+mn-lt"/>
            </a:endParaRPr>
          </a:p>
        </p:txBody>
      </p:sp>
      <p:sp>
        <p:nvSpPr>
          <p:cNvPr id="248" name="Google Shape;248;p35"/>
          <p:cNvSpPr txBox="1"/>
          <p:nvPr/>
        </p:nvSpPr>
        <p:spPr>
          <a:xfrm>
            <a:off x="3682152" y="5719024"/>
            <a:ext cx="7772400" cy="388500"/>
          </a:xfrm>
          <a:prstGeom prst="rect">
            <a:avLst/>
          </a:prstGeom>
          <a:noFill/>
          <a:ln>
            <a:noFill/>
          </a:ln>
        </p:spPr>
        <p:txBody>
          <a:bodyPr spcFirstLastPara="1" wrap="square" lIns="91425" tIns="45700" rIns="91425" bIns="45700" anchor="t" anchorCtr="0">
            <a:noAutofit/>
          </a:bodyPr>
          <a:lstStyle/>
          <a:p>
            <a:pPr>
              <a:spcBef>
                <a:spcPts val="0"/>
              </a:spcBef>
              <a:spcAft>
                <a:spcPts val="0"/>
              </a:spcAft>
            </a:pPr>
            <a:r>
              <a:rPr lang="en-GB" sz="1800" i="1" u="sng" dirty="0" err="1">
                <a:effectLst/>
                <a:latin typeface="Arial" panose="020B0604020202020204" pitchFamily="34" charset="0"/>
                <a:ea typeface="Times New Roman" panose="02020603050405020304" pitchFamily="18" charset="0"/>
              </a:rPr>
              <a:t>Vandervell</a:t>
            </a:r>
            <a:r>
              <a:rPr lang="en-GB" sz="1800" i="1" u="sng" dirty="0">
                <a:effectLst/>
                <a:latin typeface="Arial" panose="020B0604020202020204" pitchFamily="34" charset="0"/>
                <a:ea typeface="Times New Roman" panose="02020603050405020304" pitchFamily="18" charset="0"/>
              </a:rPr>
              <a:t> v IRC</a:t>
            </a:r>
            <a:r>
              <a:rPr lang="en-GB" sz="1800" u="sng" dirty="0">
                <a:effectLst/>
                <a:latin typeface="Arial" panose="020B0604020202020204" pitchFamily="34" charset="0"/>
                <a:ea typeface="Times New Roman" panose="02020603050405020304" pitchFamily="18" charset="0"/>
              </a:rPr>
              <a:t> [1967] 2 AC 291</a:t>
            </a:r>
            <a:r>
              <a:rPr lang="en-GB" sz="1800" dirty="0">
                <a:effectLst/>
                <a:latin typeface="Arial" panose="020B0604020202020204" pitchFamily="34" charset="0"/>
                <a:ea typeface="Times New Roman" panose="02020603050405020304" pitchFamily="18" charset="0"/>
              </a:rPr>
              <a:t> </a:t>
            </a:r>
            <a:endParaRPr b="1" dirty="0">
              <a:solidFill>
                <a:schemeClr val="dk1"/>
              </a:solidFill>
              <a:latin typeface="Arial"/>
              <a:ea typeface="Arial"/>
              <a:cs typeface="Arial"/>
              <a:sym typeface="Arial"/>
            </a:endParaRPr>
          </a:p>
        </p:txBody>
      </p:sp>
      <p:cxnSp>
        <p:nvCxnSpPr>
          <p:cNvPr id="249" name="Google Shape;249;p35"/>
          <p:cNvCxnSpPr>
            <a:cxnSpLocks/>
          </p:cNvCxnSpPr>
          <p:nvPr/>
        </p:nvCxnSpPr>
        <p:spPr>
          <a:xfrm flipV="1">
            <a:off x="6319225" y="2550035"/>
            <a:ext cx="199873" cy="337914"/>
          </a:xfrm>
          <a:prstGeom prst="straightConnector1">
            <a:avLst/>
          </a:prstGeom>
          <a:noFill/>
          <a:ln w="19050" cap="flat" cmpd="sng">
            <a:solidFill>
              <a:schemeClr val="dk1"/>
            </a:solidFill>
            <a:prstDash val="solid"/>
            <a:round/>
            <a:headEnd type="none" w="med" len="med"/>
            <a:tailEnd type="stealth" w="med" len="med"/>
          </a:ln>
        </p:spPr>
      </p:cxnSp>
      <p:sp>
        <p:nvSpPr>
          <p:cNvPr id="250" name="Google Shape;250;p35"/>
          <p:cNvSpPr txBox="1"/>
          <p:nvPr/>
        </p:nvSpPr>
        <p:spPr>
          <a:xfrm>
            <a:off x="6233185" y="2171603"/>
            <a:ext cx="657300" cy="400200"/>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2000">
                <a:solidFill>
                  <a:schemeClr val="dk1"/>
                </a:solidFill>
                <a:latin typeface="+mn-lt"/>
                <a:ea typeface="Arial"/>
                <a:cs typeface="Arial"/>
                <a:sym typeface="Arial"/>
              </a:rPr>
              <a:t>VT</a:t>
            </a:r>
            <a:endParaRPr>
              <a:latin typeface="+mn-lt"/>
            </a:endParaRPr>
          </a:p>
        </p:txBody>
      </p:sp>
      <p:sp>
        <p:nvSpPr>
          <p:cNvPr id="251" name="Google Shape;251;p35"/>
          <p:cNvSpPr txBox="1"/>
          <p:nvPr/>
        </p:nvSpPr>
        <p:spPr>
          <a:xfrm>
            <a:off x="6515210" y="2631446"/>
            <a:ext cx="865102" cy="338700"/>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1600" dirty="0">
                <a:solidFill>
                  <a:schemeClr val="dk1"/>
                </a:solidFill>
                <a:latin typeface="+mn-lt"/>
              </a:rPr>
              <a:t>O</a:t>
            </a:r>
            <a:r>
              <a:rPr lang="en" sz="1600" dirty="0">
                <a:solidFill>
                  <a:schemeClr val="dk1"/>
                </a:solidFill>
                <a:latin typeface="+mn-lt"/>
                <a:ea typeface="Arial"/>
                <a:cs typeface="Arial"/>
                <a:sym typeface="Arial"/>
              </a:rPr>
              <a:t>ption</a:t>
            </a:r>
            <a:endParaRPr sz="1000" dirty="0">
              <a:latin typeface="+mn-lt"/>
            </a:endParaRPr>
          </a:p>
        </p:txBody>
      </p:sp>
      <p:sp>
        <p:nvSpPr>
          <p:cNvPr id="254" name="Google Shape;254;p35"/>
          <p:cNvSpPr txBox="1"/>
          <p:nvPr/>
        </p:nvSpPr>
        <p:spPr>
          <a:xfrm>
            <a:off x="1904367" y="4469080"/>
            <a:ext cx="5236500" cy="1077178"/>
          </a:xfrm>
          <a:prstGeom prst="rect">
            <a:avLst/>
          </a:prstGeom>
          <a:noFill/>
          <a:ln>
            <a:noFill/>
          </a:ln>
        </p:spPr>
        <p:txBody>
          <a:bodyPr spcFirstLastPara="1" wrap="square" lIns="91425" tIns="45700" rIns="91425" bIns="45700" anchor="t" anchorCtr="0">
            <a:spAutoFit/>
          </a:bodyPr>
          <a:lstStyle/>
          <a:p>
            <a:pPr>
              <a:spcBef>
                <a:spcPts val="0"/>
              </a:spcBef>
              <a:spcAft>
                <a:spcPts val="0"/>
              </a:spcAft>
            </a:pPr>
            <a:r>
              <a:rPr lang="en" sz="1600" dirty="0">
                <a:solidFill>
                  <a:srgbClr val="0066FF"/>
                </a:solidFill>
                <a:latin typeface="Arial"/>
                <a:ea typeface="ＭＳ Ｐゴシック" pitchFamily="4" charset="-128"/>
              </a:rPr>
              <a:t>IRC seek to tax V. on dividends from the shares, claiming that beneficial title to the shares has not been transferred to the RCS due to non-compliance with s. 53(1)(c) LPA 1925.</a:t>
            </a:r>
            <a:endParaRPr sz="1600" dirty="0">
              <a:solidFill>
                <a:srgbClr val="0066FF"/>
              </a:solidFill>
              <a:latin typeface="Arial"/>
              <a:ea typeface="ＭＳ Ｐゴシック" pitchFamily="4" charset="-128"/>
            </a:endParaRPr>
          </a:p>
        </p:txBody>
      </p:sp>
      <p:cxnSp>
        <p:nvCxnSpPr>
          <p:cNvPr id="256" name="Google Shape;256;p35"/>
          <p:cNvCxnSpPr/>
          <p:nvPr/>
        </p:nvCxnSpPr>
        <p:spPr>
          <a:xfrm rot="10800000" flipH="1">
            <a:off x="2299077" y="2491437"/>
            <a:ext cx="31800" cy="1404900"/>
          </a:xfrm>
          <a:prstGeom prst="curvedConnector3">
            <a:avLst>
              <a:gd name="adj1" fmla="val -734459"/>
            </a:avLst>
          </a:prstGeom>
          <a:noFill/>
          <a:ln w="9525" cap="flat" cmpd="sng">
            <a:solidFill>
              <a:schemeClr val="dk1"/>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A915A074-1E18-4894-897D-5E2C14D65899}"/>
              </a:ext>
            </a:extLst>
          </p:cNvPr>
          <p:cNvSpPr>
            <a:spLocks noGrp="1"/>
          </p:cNvSpPr>
          <p:nvPr>
            <p:ph type="title"/>
          </p:nvPr>
        </p:nvSpPr>
        <p:spPr>
          <a:xfrm>
            <a:off x="685800" y="413792"/>
            <a:ext cx="7772400" cy="1143000"/>
          </a:xfrm>
        </p:spPr>
        <p:txBody>
          <a:bodyPr/>
          <a:lstStyle/>
          <a:p>
            <a:br>
              <a:rPr lang="en-US" altLang="en-US" dirty="0">
                <a:latin typeface="Calibri" panose="020F0502020204030204" pitchFamily="34" charset="0"/>
                <a:ea typeface="ＭＳ Ｐゴシック" panose="020B0600070205080204" pitchFamily="34" charset="-128"/>
              </a:rPr>
            </a:br>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Formalities - overview</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graphicFrame>
        <p:nvGraphicFramePr>
          <p:cNvPr id="3" name="Content Placeholder 2">
            <a:extLst>
              <a:ext uri="{FF2B5EF4-FFF2-40B4-BE49-F238E27FC236}">
                <a16:creationId xmlns:a16="http://schemas.microsoft.com/office/drawing/2014/main" id="{93D16DE5-5039-4503-8BE2-372A5C277782}"/>
              </a:ext>
            </a:extLst>
          </p:cNvPr>
          <p:cNvGraphicFramePr>
            <a:graphicFrameLocks noGrp="1"/>
          </p:cNvGraphicFramePr>
          <p:nvPr>
            <p:ph idx="1"/>
            <p:extLst>
              <p:ext uri="{D42A27DB-BD31-4B8C-83A1-F6EECF244321}">
                <p14:modId xmlns:p14="http://schemas.microsoft.com/office/powerpoint/2010/main" val="804604978"/>
              </p:ext>
            </p:extLst>
          </p:nvPr>
        </p:nvGraphicFramePr>
        <p:xfrm>
          <a:off x="971600" y="1412776"/>
          <a:ext cx="7772400" cy="4480560"/>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457200">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rgbClr val="FFFFFF"/>
                        </a:solidFill>
                        <a:effectLst/>
                        <a:latin typeface="+mn-lt"/>
                        <a:ea typeface="ＭＳ Ｐゴシック" pitchFamily="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1" i="1" u="none" strike="noStrike" cap="none" normalizeH="0" baseline="0" dirty="0">
                          <a:ln>
                            <a:noFill/>
                          </a:ln>
                          <a:solidFill>
                            <a:srgbClr val="FFFFFF"/>
                          </a:solidFill>
                          <a:effectLst/>
                          <a:highlight>
                            <a:srgbClr val="00FF00"/>
                          </a:highlight>
                          <a:latin typeface="+mn-lt"/>
                          <a:ea typeface="ＭＳ Ｐゴシック" pitchFamily="4" charset="-128"/>
                        </a:rPr>
                        <a:t>Inter </a:t>
                      </a:r>
                      <a:r>
                        <a:rPr kumimoji="0" lang="en-GB" altLang="en-US" sz="2400" b="1" i="1" u="none" strike="noStrike" cap="none" normalizeH="0" baseline="0" dirty="0" err="1">
                          <a:ln>
                            <a:noFill/>
                          </a:ln>
                          <a:solidFill>
                            <a:srgbClr val="FFFFFF"/>
                          </a:solidFill>
                          <a:effectLst/>
                          <a:highlight>
                            <a:srgbClr val="00FF00"/>
                          </a:highlight>
                          <a:latin typeface="+mn-lt"/>
                          <a:ea typeface="ＭＳ Ｐゴシック" pitchFamily="4" charset="-128"/>
                        </a:rPr>
                        <a:t>vivos</a:t>
                      </a:r>
                      <a:endParaRPr kumimoji="0" lang="en-GB" altLang="en-US" sz="2400" b="1" i="1" u="none" strike="noStrike" cap="none" normalizeH="0" baseline="0" dirty="0">
                        <a:ln>
                          <a:noFill/>
                        </a:ln>
                        <a:solidFill>
                          <a:srgbClr val="FFFFFF"/>
                        </a:solidFill>
                        <a:effectLst/>
                        <a:highlight>
                          <a:srgbClr val="00FF00"/>
                        </a:highlight>
                        <a:latin typeface="+mn-lt"/>
                        <a:ea typeface="ＭＳ Ｐゴシック" pitchFamily="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1" i="0" u="none" strike="noStrike" cap="none" normalizeH="0" baseline="0" dirty="0">
                          <a:ln>
                            <a:noFill/>
                          </a:ln>
                          <a:solidFill>
                            <a:srgbClr val="FFFFFF"/>
                          </a:solidFill>
                          <a:effectLst/>
                          <a:highlight>
                            <a:srgbClr val="00FF00"/>
                          </a:highlight>
                          <a:latin typeface="+mn-lt"/>
                          <a:ea typeface="ＭＳ Ｐゴシック" pitchFamily="4" charset="-128"/>
                        </a:rPr>
                        <a:t>Testamentary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71475">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1" i="0" u="none" strike="noStrike" kern="1200" cap="none" normalizeH="0" baseline="0" dirty="0">
                          <a:ln>
                            <a:noFill/>
                          </a:ln>
                          <a:solidFill>
                            <a:schemeClr val="bg1"/>
                          </a:solidFill>
                          <a:effectLst/>
                          <a:highlight>
                            <a:srgbClr val="FEA0EE"/>
                          </a:highlight>
                          <a:latin typeface="+mn-lt"/>
                          <a:ea typeface="ＭＳ Ｐゴシック" pitchFamily="4" charset="-128"/>
                          <a:cs typeface="+mn-cs"/>
                        </a:rPr>
                        <a:t>Personal property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1"/>
                        </a:solidFill>
                        <a:effectLst/>
                        <a:latin typeface="+mn-lt"/>
                        <a:ea typeface="ＭＳ Ｐゴシック" pitchFamily="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rowSpan="6">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altLang="en-US" sz="2400" b="0" i="0" u="none" strike="noStrike" cap="none" normalizeH="0" baseline="0" dirty="0">
                        <a:ln>
                          <a:noFill/>
                        </a:ln>
                        <a:solidFill>
                          <a:schemeClr val="bg1"/>
                        </a:solidFill>
                        <a:effectLst/>
                        <a:latin typeface="+mn-lt"/>
                        <a:ea typeface="ＭＳ Ｐゴシック" pitchFamily="4" charset="-128"/>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GB" altLang="en-US" sz="2400" b="0" i="0" u="none" strike="noStrike" cap="none" normalizeH="0" baseline="0" dirty="0">
                        <a:ln>
                          <a:noFill/>
                        </a:ln>
                        <a:solidFill>
                          <a:schemeClr val="bg1"/>
                        </a:solidFill>
                        <a:effectLst/>
                        <a:latin typeface="+mn-lt"/>
                        <a:ea typeface="ＭＳ Ｐゴシック" pitchFamily="4" charset="-128"/>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GB" altLang="en-US" sz="2400" b="0" i="0" u="none" strike="noStrike" cap="none" normalizeH="0" baseline="0" dirty="0">
                        <a:ln>
                          <a:noFill/>
                        </a:ln>
                        <a:solidFill>
                          <a:schemeClr val="bg1"/>
                        </a:solidFill>
                        <a:effectLst/>
                        <a:latin typeface="+mn-lt"/>
                        <a:ea typeface="ＭＳ Ｐゴシック" pitchFamily="4"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bg1"/>
                          </a:solidFill>
                          <a:effectLst/>
                          <a:latin typeface="+mn-lt"/>
                          <a:ea typeface="ＭＳ Ｐゴシック" pitchFamily="4" charset="-128"/>
                        </a:rPr>
                        <a:t>In writing + witnessed (WA)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371475">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chemeClr val="bg1"/>
                          </a:solidFill>
                          <a:effectLst/>
                          <a:latin typeface="+mn-lt"/>
                          <a:ea typeface="ＭＳ Ｐゴシック" pitchFamily="4" charset="-128"/>
                        </a:rPr>
                        <a:t>Creation of an express trust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err="1">
                          <a:ln>
                            <a:noFill/>
                          </a:ln>
                          <a:solidFill>
                            <a:schemeClr val="bg1"/>
                          </a:solidFill>
                          <a:effectLst/>
                          <a:latin typeface="+mn-lt"/>
                          <a:ea typeface="ＭＳ Ｐゴシック" pitchFamily="4" charset="-128"/>
                        </a:rPr>
                        <a:t>Parol</a:t>
                      </a:r>
                      <a:endParaRPr kumimoji="0" lang="en-GB" altLang="en-US" sz="2400" b="0" i="0" u="none" strike="noStrike" cap="none" normalizeH="0" baseline="0" dirty="0">
                        <a:ln>
                          <a:noFill/>
                        </a:ln>
                        <a:solidFill>
                          <a:schemeClr val="bg1"/>
                        </a:solidFill>
                        <a:effectLst/>
                        <a:latin typeface="+mn-lt"/>
                        <a:ea typeface="ＭＳ Ｐゴシック" pitchFamily="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vMerge="1">
                  <a:txBody>
                    <a:bodyPr/>
                    <a:lstStyle/>
                    <a:p>
                      <a:endParaRPr lang="en-GB"/>
                    </a:p>
                  </a:txBody>
                  <a:tcPr/>
                </a:tc>
                <a:extLst>
                  <a:ext uri="{0D108BD9-81ED-4DB2-BD59-A6C34878D82A}">
                    <a16:rowId xmlns:a16="http://schemas.microsoft.com/office/drawing/2014/main" val="10002"/>
                  </a:ext>
                </a:extLst>
              </a:tr>
              <a:tr h="371475">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chemeClr val="bg1"/>
                          </a:solidFill>
                          <a:effectLst/>
                          <a:highlight>
                            <a:srgbClr val="008080"/>
                          </a:highlight>
                          <a:latin typeface="+mn-lt"/>
                          <a:ea typeface="ＭＳ Ｐゴシック" pitchFamily="4" charset="-128"/>
                        </a:rPr>
                        <a:t>Disposition of an equitable interest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bg1"/>
                          </a:solidFill>
                          <a:effectLst/>
                          <a:latin typeface="+mn-lt"/>
                          <a:ea typeface="ＭＳ Ｐゴシック" pitchFamily="4" charset="-128"/>
                        </a:rPr>
                        <a:t>In writing (LPA)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vMerge="1">
                  <a:txBody>
                    <a:bodyPr/>
                    <a:lstStyle/>
                    <a:p>
                      <a:endParaRPr lang="en-GB"/>
                    </a:p>
                  </a:txBody>
                  <a:tcPr/>
                </a:tc>
                <a:extLst>
                  <a:ext uri="{0D108BD9-81ED-4DB2-BD59-A6C34878D82A}">
                    <a16:rowId xmlns:a16="http://schemas.microsoft.com/office/drawing/2014/main" val="10003"/>
                  </a:ext>
                </a:extLst>
              </a:tr>
              <a:tr h="371475">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1" i="0" u="none" strike="noStrike" kern="1200" cap="none" normalizeH="0" baseline="0" dirty="0">
                          <a:ln>
                            <a:noFill/>
                          </a:ln>
                          <a:solidFill>
                            <a:schemeClr val="bg1"/>
                          </a:solidFill>
                          <a:effectLst/>
                          <a:highlight>
                            <a:srgbClr val="FEA0EE"/>
                          </a:highlight>
                          <a:latin typeface="+mn-lt"/>
                          <a:ea typeface="ＭＳ Ｐゴシック" pitchFamily="4" charset="-128"/>
                          <a:cs typeface="+mn-cs"/>
                        </a:rPr>
                        <a:t>Real property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1"/>
                        </a:solidFill>
                        <a:effectLst/>
                        <a:latin typeface="+mn-lt"/>
                        <a:ea typeface="ＭＳ Ｐゴシック" pitchFamily="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vMerge="1">
                  <a:txBody>
                    <a:bodyPr/>
                    <a:lstStyle/>
                    <a:p>
                      <a:endParaRPr lang="en-GB"/>
                    </a:p>
                  </a:txBody>
                  <a:tcPr/>
                </a:tc>
                <a:extLst>
                  <a:ext uri="{0D108BD9-81ED-4DB2-BD59-A6C34878D82A}">
                    <a16:rowId xmlns:a16="http://schemas.microsoft.com/office/drawing/2014/main" val="10004"/>
                  </a:ext>
                </a:extLst>
              </a:tr>
              <a:tr h="371475">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chemeClr val="bg1"/>
                          </a:solidFill>
                          <a:effectLst/>
                          <a:latin typeface="+mn-lt"/>
                          <a:ea typeface="ＭＳ Ｐゴシック" pitchFamily="4" charset="-128"/>
                        </a:rPr>
                        <a:t>Creation of an express trust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bg1"/>
                          </a:solidFill>
                          <a:effectLst/>
                          <a:latin typeface="+mn-lt"/>
                          <a:ea typeface="ＭＳ Ｐゴシック" pitchFamily="4" charset="-128"/>
                        </a:rPr>
                        <a:t>Evidenced by writing (LPA)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vMerge="1">
                  <a:txBody>
                    <a:bodyPr/>
                    <a:lstStyle/>
                    <a:p>
                      <a:endParaRPr lang="en-GB"/>
                    </a:p>
                  </a:txBody>
                  <a:tcPr/>
                </a:tc>
                <a:extLst>
                  <a:ext uri="{0D108BD9-81ED-4DB2-BD59-A6C34878D82A}">
                    <a16:rowId xmlns:a16="http://schemas.microsoft.com/office/drawing/2014/main" val="10005"/>
                  </a:ext>
                </a:extLst>
              </a:tr>
              <a:tr h="371475">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1800" b="0" i="0" u="none" strike="noStrike" cap="none" normalizeH="0" baseline="0" dirty="0">
                          <a:ln>
                            <a:noFill/>
                          </a:ln>
                          <a:solidFill>
                            <a:schemeClr val="bg1"/>
                          </a:solidFill>
                          <a:effectLst/>
                          <a:highlight>
                            <a:srgbClr val="008080"/>
                          </a:highlight>
                          <a:latin typeface="+mn-lt"/>
                          <a:ea typeface="ＭＳ Ｐゴシック" pitchFamily="4" charset="-128"/>
                        </a:rPr>
                        <a:t>Disposition of an equitable interest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a:txBody>
                    <a:bodyPr/>
                    <a:lstStyle>
                      <a:lvl1pPr>
                        <a:spcBef>
                          <a:spcPct val="20000"/>
                        </a:spcBef>
                        <a:defRPr sz="1600">
                          <a:solidFill>
                            <a:schemeClr val="tx1"/>
                          </a:solidFill>
                          <a:latin typeface="Arial" charset="0"/>
                          <a:ea typeface="ＭＳ Ｐゴシック" pitchFamily="4" charset="-128"/>
                        </a:defRPr>
                      </a:lvl1pPr>
                      <a:lvl2pPr marL="37931725" indent="-37474525">
                        <a:spcBef>
                          <a:spcPct val="20000"/>
                        </a:spcBef>
                        <a:defRPr sz="1400">
                          <a:solidFill>
                            <a:schemeClr val="tx1"/>
                          </a:solidFill>
                          <a:latin typeface="Arial" charset="0"/>
                          <a:ea typeface="ＭＳ Ｐゴシック" pitchFamily="4" charset="-128"/>
                        </a:defRPr>
                      </a:lvl2pPr>
                      <a:lvl3pPr>
                        <a:spcBef>
                          <a:spcPct val="20000"/>
                        </a:spcBef>
                        <a:defRPr sz="1200">
                          <a:solidFill>
                            <a:schemeClr val="tx1"/>
                          </a:solidFill>
                          <a:latin typeface="Arial" charset="0"/>
                          <a:ea typeface="ＭＳ Ｐゴシック" pitchFamily="4" charset="-128"/>
                        </a:defRPr>
                      </a:lvl3pPr>
                      <a:lvl4pPr>
                        <a:spcBef>
                          <a:spcPct val="20000"/>
                        </a:spcBef>
                        <a:defRPr sz="1000">
                          <a:solidFill>
                            <a:schemeClr val="tx1"/>
                          </a:solidFill>
                          <a:latin typeface="Arial" charset="0"/>
                          <a:ea typeface="ＭＳ Ｐゴシック" pitchFamily="4" charset="-128"/>
                        </a:defRPr>
                      </a:lvl4pPr>
                      <a:lvl5pPr>
                        <a:spcBef>
                          <a:spcPct val="20000"/>
                        </a:spcBef>
                        <a:defRPr sz="1000">
                          <a:solidFill>
                            <a:schemeClr val="tx1"/>
                          </a:solidFill>
                          <a:latin typeface="Arial" charset="0"/>
                          <a:ea typeface="ＭＳ Ｐゴシック" pitchFamily="4" charset="-128"/>
                        </a:defRPr>
                      </a:lvl5pPr>
                      <a:lvl6pPr marL="457200" eaLnBrk="0" fontAlgn="base" hangingPunct="0">
                        <a:spcBef>
                          <a:spcPct val="20000"/>
                        </a:spcBef>
                        <a:spcAft>
                          <a:spcPct val="0"/>
                        </a:spcAft>
                        <a:defRPr sz="1000">
                          <a:solidFill>
                            <a:schemeClr val="tx1"/>
                          </a:solidFill>
                          <a:latin typeface="Arial" charset="0"/>
                          <a:ea typeface="ＭＳ Ｐゴシック" pitchFamily="4" charset="-128"/>
                        </a:defRPr>
                      </a:lvl6pPr>
                      <a:lvl7pPr marL="914400" eaLnBrk="0" fontAlgn="base" hangingPunct="0">
                        <a:spcBef>
                          <a:spcPct val="20000"/>
                        </a:spcBef>
                        <a:spcAft>
                          <a:spcPct val="0"/>
                        </a:spcAft>
                        <a:defRPr sz="1000">
                          <a:solidFill>
                            <a:schemeClr val="tx1"/>
                          </a:solidFill>
                          <a:latin typeface="Arial" charset="0"/>
                          <a:ea typeface="ＭＳ Ｐゴシック" pitchFamily="4" charset="-128"/>
                        </a:defRPr>
                      </a:lvl7pPr>
                      <a:lvl8pPr marL="1371600" eaLnBrk="0" fontAlgn="base" hangingPunct="0">
                        <a:spcBef>
                          <a:spcPct val="20000"/>
                        </a:spcBef>
                        <a:spcAft>
                          <a:spcPct val="0"/>
                        </a:spcAft>
                        <a:defRPr sz="1000">
                          <a:solidFill>
                            <a:schemeClr val="tx1"/>
                          </a:solidFill>
                          <a:latin typeface="Arial" charset="0"/>
                          <a:ea typeface="ＭＳ Ｐゴシック" pitchFamily="4" charset="-128"/>
                        </a:defRPr>
                      </a:lvl8pPr>
                      <a:lvl9pPr marL="1828800" eaLnBrk="0" fontAlgn="base" hangingPunct="0">
                        <a:spcBef>
                          <a:spcPct val="20000"/>
                        </a:spcBef>
                        <a:spcAft>
                          <a:spcPct val="0"/>
                        </a:spcAft>
                        <a:defRPr sz="1000">
                          <a:solidFill>
                            <a:schemeClr val="tx1"/>
                          </a:solidFill>
                          <a:latin typeface="Arial" charset="0"/>
                          <a:ea typeface="ＭＳ Ｐゴシック" pitchFamily="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bg1"/>
                          </a:solidFill>
                          <a:effectLst/>
                          <a:latin typeface="+mn-lt"/>
                          <a:ea typeface="ＭＳ Ｐゴシック" pitchFamily="4" charset="-128"/>
                        </a:rPr>
                        <a:t>In writing (LPA)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70C0"/>
                    </a:solidFill>
                  </a:tcPr>
                </a:tc>
                <a:tc vMerge="1">
                  <a:txBody>
                    <a:bodyPr/>
                    <a:lstStyle/>
                    <a:p>
                      <a:endParaRPr lang="en-GB"/>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47016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3349D588-9AA7-46FB-A15E-88745D9DED15}"/>
              </a:ext>
            </a:extLst>
          </p:cNvPr>
          <p:cNvSpPr>
            <a:spLocks noGrp="1"/>
          </p:cNvSpPr>
          <p:nvPr>
            <p:ph type="title"/>
          </p:nvPr>
        </p:nvSpPr>
        <p:spPr/>
        <p:txBody>
          <a:bodyPr/>
          <a:lstStyle/>
          <a:p>
            <a:r>
              <a:rPr lang="en-GB" altLang="en-US" dirty="0">
                <a:latin typeface="+mn-lt"/>
                <a:ea typeface="ＭＳ Ｐゴシック" panose="020B0600070205080204" pitchFamily="34" charset="-128"/>
              </a:rPr>
              <a:t>Activity</a:t>
            </a:r>
          </a:p>
        </p:txBody>
      </p:sp>
      <p:sp>
        <p:nvSpPr>
          <p:cNvPr id="12291" name="Rectangle 2">
            <a:extLst>
              <a:ext uri="{FF2B5EF4-FFF2-40B4-BE49-F238E27FC236}">
                <a16:creationId xmlns:a16="http://schemas.microsoft.com/office/drawing/2014/main" id="{EE68FE62-928D-44F1-8120-0F4F5C0A7034}"/>
              </a:ext>
            </a:extLst>
          </p:cNvPr>
          <p:cNvSpPr>
            <a:spLocks noChangeArrowheads="1"/>
          </p:cNvSpPr>
          <p:nvPr/>
        </p:nvSpPr>
        <p:spPr bwMode="auto">
          <a:xfrm>
            <a:off x="692775" y="1628800"/>
            <a:ext cx="69850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GB" altLang="en-US" dirty="0">
                <a:latin typeface="+mn-lt"/>
              </a:rPr>
              <a:t>Have a look at this (rather hilarious) attempt at producing a false trust deed (read up to para. 16 and from para. 63):</a:t>
            </a:r>
            <a:endParaRPr lang="en-GB" altLang="en-US" dirty="0">
              <a:latin typeface="+mn-lt"/>
              <a:hlinkClick r:id="rId2"/>
            </a:endParaRPr>
          </a:p>
          <a:p>
            <a:pPr>
              <a:spcBef>
                <a:spcPct val="0"/>
              </a:spcBef>
            </a:pPr>
            <a:r>
              <a:rPr lang="en-GB" sz="2400" i="1" u="sng" kern="1200" dirty="0">
                <a:latin typeface="+mn-lt"/>
                <a:cs typeface="Calibri"/>
              </a:rPr>
              <a:t>HRH Prince Khaled Bin Sultan Bin Abdulaziz Al Saud v Gibbs</a:t>
            </a:r>
            <a:r>
              <a:rPr lang="en-GB" sz="2400" u="sng" kern="1200" dirty="0">
                <a:latin typeface="+mn-lt"/>
                <a:cs typeface="Calibri"/>
              </a:rPr>
              <a:t> [2023] EWHC 3183 (Ch)</a:t>
            </a:r>
            <a:endParaRPr lang="en-GB" altLang="en-US" u="sng" dirty="0">
              <a:latin typeface="+mn-lt"/>
            </a:endParaRPr>
          </a:p>
        </p:txBody>
      </p:sp>
    </p:spTree>
    <p:extLst>
      <p:ext uri="{BB962C8B-B14F-4D97-AF65-F5344CB8AC3E}">
        <p14:creationId xmlns:p14="http://schemas.microsoft.com/office/powerpoint/2010/main" val="3134806746"/>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1171</Words>
  <Application>Microsoft Office PowerPoint</Application>
  <PresentationFormat>On-screen Show (4:3)</PresentationFormat>
  <Paragraphs>182</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ＭＳ Ｐゴシック</vt:lpstr>
      <vt:lpstr>Arial</vt:lpstr>
      <vt:lpstr>Bradley Hand</vt:lpstr>
      <vt:lpstr>Calibri</vt:lpstr>
      <vt:lpstr>Times</vt:lpstr>
      <vt:lpstr>Times New Roman</vt:lpstr>
      <vt:lpstr>Blank</vt:lpstr>
      <vt:lpstr>   Trusts Law  Week 4: Formalities (II)  </vt:lpstr>
      <vt:lpstr> Some more trusts terminology  </vt:lpstr>
      <vt:lpstr> This week  </vt:lpstr>
      <vt:lpstr> Learning objectives this week  </vt:lpstr>
      <vt:lpstr>Conditions</vt:lpstr>
      <vt:lpstr>The trust as protection from creditors</vt:lpstr>
      <vt:lpstr>Sham/discriminating trusts</vt:lpstr>
      <vt:lpstr>Trusts linked to illegal purpose (I)</vt:lpstr>
      <vt:lpstr>Trusts linked to illegal purpose (II)</vt:lpstr>
      <vt:lpstr>Formalities for the disposition of equitable interests</vt:lpstr>
      <vt:lpstr>What is an equitable interest? What a disposition?</vt:lpstr>
      <vt:lpstr>Testing the meaning of ‘disposition’ under the LPA</vt:lpstr>
      <vt:lpstr>Directions to trustees to hold the property on trust for another</vt:lpstr>
      <vt:lpstr>Self-declarations as sub-trustees</vt:lpstr>
      <vt:lpstr>Specifically enforceable contracts to assign an equitable interest</vt:lpstr>
      <vt:lpstr>Transfers of legal and equitable title together </vt:lpstr>
      <vt:lpstr>  Formalities - overview  </vt:lpstr>
      <vt:lpstr>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Trusts Law  Week 3: Public policy; certainty of intention</dc:title>
  <dc:creator/>
  <cp:lastModifiedBy/>
  <cp:revision>13</cp:revision>
  <dcterms:created xsi:type="dcterms:W3CDTF">2019-10-15T09:50:24Z</dcterms:created>
  <dcterms:modified xsi:type="dcterms:W3CDTF">2024-10-28T10:40:18Z</dcterms:modified>
</cp:coreProperties>
</file>