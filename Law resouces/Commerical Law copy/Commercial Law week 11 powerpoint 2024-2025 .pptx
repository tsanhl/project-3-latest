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68" r:id="rId8"/>
    <p:sldId id="271" r:id="rId9"/>
    <p:sldId id="261" r:id="rId10"/>
    <p:sldId id="272" r:id="rId11"/>
    <p:sldId id="262" r:id="rId12"/>
    <p:sldId id="263" r:id="rId13"/>
    <p:sldId id="273" r:id="rId14"/>
    <p:sldId id="275" r:id="rId15"/>
    <p:sldId id="264" r:id="rId16"/>
    <p:sldId id="265" r:id="rId17"/>
    <p:sldId id="266" r:id="rId18"/>
    <p:sldId id="267" r:id="rId19"/>
  </p:sldIdLst>
  <p:sldSz cx="9144000" cy="6858000" type="screen4x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9" autoAdjust="0"/>
    <p:restoredTop sz="60821" autoAdjust="0"/>
  </p:normalViewPr>
  <p:slideViewPr>
    <p:cSldViewPr snapToGrid="0" snapToObjects="1">
      <p:cViewPr varScale="1">
        <p:scale>
          <a:sx n="38" d="100"/>
          <a:sy n="38" d="100"/>
        </p:scale>
        <p:origin x="139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3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8FD97-06AC-F44F-A104-337E2736E714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877B5-E0F8-724E-BBFE-9EF63316C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34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aseline="0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3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87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3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53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03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1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74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55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53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6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76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44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0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4A7A31-4390-A741-8924-91F611363FDB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4D5766-8659-804E-8B0C-C12B46235ED0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063150-84B3-864D-BE65-FC77C9F642CD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69362"/>
            <a:ext cx="7772400" cy="1470025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Garamond" panose="02020404030301010803" pitchFamily="18" charset="0"/>
              </a:rPr>
              <a:t>Nemo</a:t>
            </a:r>
            <a:r>
              <a:rPr lang="en-US" sz="3600" b="1" dirty="0">
                <a:solidFill>
                  <a:srgbClr val="002060"/>
                </a:solidFill>
                <a:latin typeface="Garamond" panose="020204040303010108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Garamond" panose="02020404030301010803" pitchFamily="18" charset="0"/>
              </a:rPr>
              <a:t>dat</a:t>
            </a:r>
            <a:r>
              <a:rPr lang="en-US" sz="3600" b="1" dirty="0">
                <a:solidFill>
                  <a:srgbClr val="002060"/>
                </a:solidFill>
                <a:latin typeface="Garamond" panose="02020404030301010803" pitchFamily="18" charset="0"/>
              </a:rPr>
              <a:t> quod non </a:t>
            </a:r>
            <a:r>
              <a:rPr lang="en-US" sz="3600" b="1" dirty="0" err="1">
                <a:solidFill>
                  <a:srgbClr val="002060"/>
                </a:solidFill>
                <a:latin typeface="Garamond" panose="02020404030301010803" pitchFamily="18" charset="0"/>
              </a:rPr>
              <a:t>habet</a:t>
            </a:r>
            <a:r>
              <a:rPr lang="en-US" sz="3600" b="1" dirty="0">
                <a:solidFill>
                  <a:srgbClr val="002060"/>
                </a:solidFill>
                <a:latin typeface="Garamond" panose="02020404030301010803" pitchFamily="18" charset="0"/>
              </a:rPr>
              <a:t> and its exceptions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358325"/>
            <a:ext cx="6400800" cy="147002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Garamond" panose="02020404030301010803" pitchFamily="18" charset="0"/>
              </a:rPr>
              <a:t>Commercial Law</a:t>
            </a:r>
          </a:p>
          <a:p>
            <a:r>
              <a:rPr lang="en-US" sz="4000" b="1">
                <a:solidFill>
                  <a:schemeClr val="tx1"/>
                </a:solidFill>
                <a:latin typeface="Garamond" panose="02020404030301010803" pitchFamily="18" charset="0"/>
              </a:rPr>
              <a:t>Lecture </a:t>
            </a:r>
            <a:r>
              <a:rPr lang="en-US" sz="4000" b="1" dirty="0">
                <a:solidFill>
                  <a:schemeClr val="tx1"/>
                </a:solidFill>
                <a:latin typeface="Garamond" panose="02020404030301010803" pitchFamily="18" charset="0"/>
              </a:rPr>
              <a:t>11</a:t>
            </a:r>
          </a:p>
          <a:p>
            <a:endParaRPr lang="en-US" sz="4000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D867F3-16B5-CF4E-9BC0-0440438E72A8}"/>
              </a:ext>
            </a:extLst>
          </p:cNvPr>
          <p:cNvSpPr/>
          <p:nvPr/>
        </p:nvSpPr>
        <p:spPr>
          <a:xfrm>
            <a:off x="4253801" y="4914900"/>
            <a:ext cx="23310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Rachel Avery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Transfer of title by non-owner</a:t>
            </a:r>
          </a:p>
          <a:p>
            <a:r>
              <a:rPr lang="en-US" dirty="0" err="1">
                <a:latin typeface="Garamond" panose="02020404030301010803" pitchFamily="18" charset="0"/>
              </a:rPr>
              <a:t>Nemo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dat</a:t>
            </a:r>
            <a:r>
              <a:rPr lang="en-US" dirty="0">
                <a:latin typeface="Garamond" panose="02020404030301010803" pitchFamily="18" charset="0"/>
              </a:rPr>
              <a:t> quod non </a:t>
            </a:r>
            <a:r>
              <a:rPr lang="en-US" dirty="0" err="1">
                <a:latin typeface="Garamond" panose="02020404030301010803" pitchFamily="18" charset="0"/>
              </a:rPr>
              <a:t>habet</a:t>
            </a:r>
            <a:endParaRPr lang="en-US" dirty="0">
              <a:latin typeface="Garamond" panose="02020404030301010803" pitchFamily="18" charset="0"/>
            </a:endParaRPr>
          </a:p>
          <a:p>
            <a:pPr lvl="1"/>
            <a:r>
              <a:rPr lang="en-US" dirty="0">
                <a:latin typeface="Garamond" panose="02020404030301010803" pitchFamily="18" charset="0"/>
              </a:rPr>
              <a:t>Meaning  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problems</a:t>
            </a:r>
          </a:p>
          <a:p>
            <a:r>
              <a:rPr lang="en-US" dirty="0">
                <a:latin typeface="Garamond" panose="02020404030301010803" pitchFamily="18" charset="0"/>
              </a:rPr>
              <a:t>Exceptions to the </a:t>
            </a:r>
            <a:r>
              <a:rPr lang="en-US" dirty="0" err="1">
                <a:latin typeface="Garamond" panose="02020404030301010803" pitchFamily="18" charset="0"/>
              </a:rPr>
              <a:t>nemo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dat</a:t>
            </a:r>
            <a:r>
              <a:rPr lang="en-US" dirty="0">
                <a:latin typeface="Garamond" panose="02020404030301010803" pitchFamily="18" charset="0"/>
              </a:rPr>
              <a:t> principle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In common law 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In statutes (SGA 1979, FA 1889, etc.) </a:t>
            </a:r>
          </a:p>
          <a:p>
            <a:pPr lvl="2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961DDE-CFAE-8E48-9D55-D81BD6E3289D}"/>
              </a:ext>
            </a:extLst>
          </p:cNvPr>
          <p:cNvSpPr/>
          <p:nvPr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Intro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u="sng" dirty="0">
                <a:latin typeface="Garamond" panose="02020404030301010803" pitchFamily="18" charset="0"/>
              </a:rPr>
              <a:t>Lecture 10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Agency</a:t>
            </a:r>
          </a:p>
          <a:p>
            <a:pPr lvl="1"/>
            <a:r>
              <a:rPr lang="en-US" dirty="0" err="1">
                <a:latin typeface="Garamond" panose="02020404030301010803" pitchFamily="18" charset="0"/>
              </a:rPr>
              <a:t>Estoppel</a:t>
            </a:r>
            <a:endParaRPr lang="en-US" dirty="0">
              <a:latin typeface="Garamond" panose="02020404030301010803" pitchFamily="18" charset="0"/>
            </a:endParaRPr>
          </a:p>
          <a:p>
            <a:pPr lvl="1"/>
            <a:r>
              <a:rPr lang="en-US" dirty="0">
                <a:latin typeface="Garamond" panose="02020404030301010803" pitchFamily="18" charset="0"/>
              </a:rPr>
              <a:t>Special Powers of Sale</a:t>
            </a:r>
          </a:p>
          <a:p>
            <a:r>
              <a:rPr lang="en-US" b="1" u="sng" dirty="0">
                <a:latin typeface="Garamond" panose="02020404030301010803" pitchFamily="18" charset="0"/>
              </a:rPr>
              <a:t>Lecture 11-13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FA 1889, s.2(1) -&gt; Sale by a MA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SGA 1979, s.23 -&gt; Sale under voidable title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SGA 1979, s.24 -&gt; Seller in possession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SGA 1979, s.25 -&gt; Buyer in possession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HPA 1964, Part III, s.27 -&gt; Disposition of Motor Vehicle</a:t>
            </a: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Sale by MA – FA 1889 s.2(1)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Garamond" panose="02020404030301010803" pitchFamily="18" charset="0"/>
              </a:rPr>
              <a:t>Where Mercantile Agent (MA)...</a:t>
            </a:r>
          </a:p>
          <a:p>
            <a:r>
              <a:rPr lang="en-US" dirty="0">
                <a:latin typeface="Garamond" panose="02020404030301010803" pitchFamily="18" charset="0"/>
              </a:rPr>
              <a:t>... is in possession of goods or documents to title...</a:t>
            </a:r>
          </a:p>
          <a:p>
            <a:r>
              <a:rPr lang="en-US" dirty="0">
                <a:latin typeface="Garamond" panose="02020404030301010803" pitchFamily="18" charset="0"/>
              </a:rPr>
              <a:t>... with consent of owner...</a:t>
            </a:r>
          </a:p>
          <a:p>
            <a:r>
              <a:rPr lang="en-US" dirty="0">
                <a:latin typeface="Garamond" panose="02020404030301010803" pitchFamily="18" charset="0"/>
              </a:rPr>
              <a:t>... any sale, pledge or other disposition...</a:t>
            </a:r>
          </a:p>
          <a:p>
            <a:r>
              <a:rPr lang="en-US" dirty="0">
                <a:latin typeface="Garamond" panose="02020404030301010803" pitchFamily="18" charset="0"/>
              </a:rPr>
              <a:t>... in ordinary course of business of MA... </a:t>
            </a:r>
          </a:p>
          <a:p>
            <a:r>
              <a:rPr lang="en-US" dirty="0">
                <a:latin typeface="Garamond" panose="02020404030301010803" pitchFamily="18" charset="0"/>
              </a:rPr>
              <a:t>... shall be </a:t>
            </a:r>
            <a:r>
              <a:rPr lang="en-US" u="sng" dirty="0">
                <a:latin typeface="Garamond" panose="02020404030301010803" pitchFamily="18" charset="0"/>
              </a:rPr>
              <a:t>valid</a:t>
            </a:r>
            <a:r>
              <a:rPr lang="en-US" dirty="0">
                <a:latin typeface="Garamond" panose="02020404030301010803" pitchFamily="18" charset="0"/>
              </a:rPr>
              <a:t> as if expressly </a:t>
            </a:r>
            <a:r>
              <a:rPr lang="en-US" dirty="0" err="1">
                <a:latin typeface="Garamond" panose="02020404030301010803" pitchFamily="18" charset="0"/>
              </a:rPr>
              <a:t>authorised</a:t>
            </a:r>
            <a:r>
              <a:rPr lang="en-US" dirty="0">
                <a:latin typeface="Garamond" panose="02020404030301010803" pitchFamily="18" charset="0"/>
              </a:rPr>
              <a:t> by owner...</a:t>
            </a:r>
          </a:p>
          <a:p>
            <a:r>
              <a:rPr lang="en-US" dirty="0">
                <a:latin typeface="Garamond" panose="02020404030301010803" pitchFamily="18" charset="0"/>
              </a:rPr>
              <a:t>..provided person taking disposition acts in goods faith and without notice that MA lacks authority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2060"/>
                </a:solidFill>
              </a:rPr>
              <a:t>Example – FA 1889 s. 2(1)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7451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899592" y="1988840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Owner</a:t>
            </a:r>
          </a:p>
        </p:txBody>
      </p:sp>
      <p:sp>
        <p:nvSpPr>
          <p:cNvPr id="5" name="Oval 4"/>
          <p:cNvSpPr/>
          <p:nvPr/>
        </p:nvSpPr>
        <p:spPr>
          <a:xfrm>
            <a:off x="5652120" y="1742852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M.A.</a:t>
            </a:r>
          </a:p>
          <a:p>
            <a:pPr algn="ctr"/>
            <a:r>
              <a:rPr lang="en-GB" sz="2000" dirty="0"/>
              <a:t>(acting without authority)</a:t>
            </a:r>
          </a:p>
        </p:txBody>
      </p:sp>
      <p:sp>
        <p:nvSpPr>
          <p:cNvPr id="6" name="Oval 5"/>
          <p:cNvSpPr/>
          <p:nvPr/>
        </p:nvSpPr>
        <p:spPr>
          <a:xfrm>
            <a:off x="3563888" y="4030836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Buyer/Pledgee (seeks to rely on FA s. 2(1))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987824" y="2678956"/>
            <a:ext cx="2376264" cy="1019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364088" y="3717032"/>
            <a:ext cx="86409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17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‘Mercantile Agent’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latin typeface="Garamond" panose="02020404030301010803" pitchFamily="18" charset="0"/>
              </a:rPr>
              <a:t>‘Mercantile Agent’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Meaning</a:t>
            </a:r>
          </a:p>
          <a:p>
            <a:pPr lvl="2"/>
            <a:r>
              <a:rPr lang="en-US" sz="2800" dirty="0">
                <a:latin typeface="Garamond" panose="02020404030301010803" pitchFamily="18" charset="0"/>
              </a:rPr>
              <a:t>FA 1889, s.1(1) (or SGA 1979, s.26)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Weiner v Harris (Fisher entrusted with </a:t>
            </a:r>
            <a:r>
              <a:rPr lang="en-US" dirty="0" err="1">
                <a:latin typeface="Garamond" panose="02020404030301010803" pitchFamily="18" charset="0"/>
              </a:rPr>
              <a:t>jewellery</a:t>
            </a:r>
            <a:r>
              <a:rPr lang="en-US" dirty="0">
                <a:latin typeface="Garamond" panose="02020404030301010803" pitchFamily="18" charset="0"/>
              </a:rPr>
              <a:t> by Weiner; Fisher pledges them without authority to Harris (Fisher sells </a:t>
            </a:r>
            <a:r>
              <a:rPr lang="en-US" dirty="0" err="1">
                <a:latin typeface="Garamond" panose="02020404030301010803" pitchFamily="18" charset="0"/>
              </a:rPr>
              <a:t>jewellery</a:t>
            </a:r>
            <a:r>
              <a:rPr lang="en-US" dirty="0">
                <a:latin typeface="Garamond" panose="02020404030301010803" pitchFamily="18" charset="0"/>
              </a:rPr>
              <a:t> on his own behalf, but also travels country selling goods for others))</a:t>
            </a:r>
          </a:p>
          <a:p>
            <a:pPr lvl="1"/>
            <a:r>
              <a:rPr lang="en-US" dirty="0" err="1">
                <a:latin typeface="Garamond" panose="02020404030301010803" pitchFamily="18" charset="0"/>
              </a:rPr>
              <a:t>Lowther</a:t>
            </a:r>
            <a:r>
              <a:rPr lang="en-US" dirty="0">
                <a:latin typeface="Garamond" panose="02020404030301010803" pitchFamily="18" charset="0"/>
              </a:rPr>
              <a:t> v Harris (Art dealer with no general occupation as agent, normally buying/selling on his own account, acting for one single principal only)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‘Possession’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Possession is essential. Why?</a:t>
            </a:r>
          </a:p>
          <a:p>
            <a:r>
              <a:rPr lang="en-US" dirty="0">
                <a:latin typeface="Garamond" panose="02020404030301010803" pitchFamily="18" charset="0"/>
              </a:rPr>
              <a:t>Mercantile agent must be in possession at time of sale, pledge or other disposition; </a:t>
            </a:r>
            <a:r>
              <a:rPr lang="en-US" u="sng" dirty="0">
                <a:latin typeface="Garamond" panose="02020404030301010803" pitchFamily="18" charset="0"/>
              </a:rPr>
              <a:t>not have been in possession</a:t>
            </a:r>
          </a:p>
          <a:p>
            <a:pPr lvl="1"/>
            <a:r>
              <a:rPr lang="en-US" sz="3200" dirty="0">
                <a:latin typeface="Garamond" panose="02020404030301010803" pitchFamily="18" charset="0"/>
              </a:rPr>
              <a:t>Beverley Acceptances v Oakley (O executes bills of sale in </a:t>
            </a:r>
            <a:r>
              <a:rPr lang="en-US" sz="3200" dirty="0" err="1">
                <a:latin typeface="Garamond" panose="02020404030301010803" pitchFamily="18" charset="0"/>
              </a:rPr>
              <a:t>favour</a:t>
            </a:r>
            <a:r>
              <a:rPr lang="en-US" sz="3200" dirty="0">
                <a:latin typeface="Garamond" panose="02020404030301010803" pitchFamily="18" charset="0"/>
              </a:rPr>
              <a:t> of P at time where O was no longer in possession of the goods (cars); P not protected by FA, s.2(1)) </a:t>
            </a: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45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‘Goods’ and ‘documents of title’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500" dirty="0">
                <a:latin typeface="Garamond" panose="02020404030301010803" pitchFamily="18" charset="0"/>
              </a:rPr>
              <a:t>Meaning of goods</a:t>
            </a:r>
          </a:p>
          <a:p>
            <a:pPr lvl="1"/>
            <a:r>
              <a:rPr lang="en-US" sz="2500" dirty="0">
                <a:latin typeface="Garamond" panose="02020404030301010803" pitchFamily="18" charset="0"/>
              </a:rPr>
              <a:t>FA 1889, s.1(3)</a:t>
            </a:r>
          </a:p>
          <a:p>
            <a:pPr lvl="1"/>
            <a:r>
              <a:rPr lang="en-US" sz="2500" dirty="0">
                <a:latin typeface="Garamond" panose="02020404030301010803" pitchFamily="18" charset="0"/>
              </a:rPr>
              <a:t>Includes wares and merchandise</a:t>
            </a:r>
          </a:p>
          <a:p>
            <a:r>
              <a:rPr lang="en-US" sz="2500" dirty="0">
                <a:latin typeface="Garamond" panose="02020404030301010803" pitchFamily="18" charset="0"/>
              </a:rPr>
              <a:t>Meaning of documents of title</a:t>
            </a:r>
          </a:p>
          <a:p>
            <a:pPr lvl="1"/>
            <a:r>
              <a:rPr lang="en-US" sz="2500" dirty="0">
                <a:latin typeface="Garamond" panose="02020404030301010803" pitchFamily="18" charset="0"/>
              </a:rPr>
              <a:t>FA 1889, s.1(4)</a:t>
            </a:r>
          </a:p>
          <a:p>
            <a:pPr lvl="1"/>
            <a:r>
              <a:rPr lang="en-US" sz="2500" dirty="0">
                <a:latin typeface="Garamond" panose="02020404030301010803" pitchFamily="18" charset="0"/>
              </a:rPr>
              <a:t>Wider meaning than in common law: ‘any bill of lading, dock warrant, warehouse-keeper's certificate, and warrant or order for the delivery of goods, and any other document used in the ordinary course of business as </a:t>
            </a:r>
            <a:r>
              <a:rPr lang="en-US" sz="2500" u="sng" dirty="0">
                <a:latin typeface="Garamond" panose="02020404030301010803" pitchFamily="18" charset="0"/>
              </a:rPr>
              <a:t>proof of the possession or control of goods, or </a:t>
            </a:r>
            <a:r>
              <a:rPr lang="en-US" sz="2500" u="sng" dirty="0" err="1">
                <a:latin typeface="Garamond" panose="02020404030301010803" pitchFamily="18" charset="0"/>
              </a:rPr>
              <a:t>authorising</a:t>
            </a:r>
            <a:r>
              <a:rPr lang="en-US" sz="2500" u="sng" dirty="0">
                <a:latin typeface="Garamond" panose="02020404030301010803" pitchFamily="18" charset="0"/>
              </a:rPr>
              <a:t> or purporting to </a:t>
            </a:r>
            <a:r>
              <a:rPr lang="en-US" sz="2500" u="sng" dirty="0" err="1">
                <a:latin typeface="Garamond" panose="02020404030301010803" pitchFamily="18" charset="0"/>
              </a:rPr>
              <a:t>authorise</a:t>
            </a:r>
            <a:r>
              <a:rPr lang="en-US" sz="2500" dirty="0">
                <a:latin typeface="Garamond" panose="02020404030301010803" pitchFamily="18" charset="0"/>
              </a:rPr>
              <a:t>, either by endorsement or by delivery, </a:t>
            </a:r>
            <a:r>
              <a:rPr lang="en-US" sz="2500" u="sng" dirty="0">
                <a:latin typeface="Garamond" panose="02020404030301010803" pitchFamily="18" charset="0"/>
              </a:rPr>
              <a:t>the possessor of the document to transfer or receive goods thereby represented</a:t>
            </a:r>
            <a:r>
              <a:rPr lang="en-US" sz="2500" dirty="0">
                <a:latin typeface="Garamond" panose="02020404030301010803" pitchFamily="18" charset="0"/>
              </a:rPr>
              <a:t>’</a:t>
            </a:r>
          </a:p>
          <a:p>
            <a:pPr lvl="1"/>
            <a:r>
              <a:rPr lang="en-US" sz="2500" dirty="0">
                <a:latin typeface="Garamond" panose="02020404030301010803" pitchFamily="18" charset="0"/>
              </a:rPr>
              <a:t>Beverley Acceptances v Oakley (car logbook does not constitute document to title)</a:t>
            </a:r>
          </a:p>
          <a:p>
            <a:pPr lvl="2"/>
            <a:r>
              <a:rPr lang="en-US" sz="2500" dirty="0">
                <a:latin typeface="Garamond" panose="02020404030301010803" pitchFamily="18" charset="0"/>
              </a:rPr>
              <a:t>But see </a:t>
            </a:r>
            <a:r>
              <a:rPr lang="en-US" sz="2500" i="1" dirty="0">
                <a:latin typeface="Garamond" panose="02020404030301010803" pitchFamily="18" charset="0"/>
              </a:rPr>
              <a:t>Pearson v Rose &amp; Young</a:t>
            </a:r>
            <a:r>
              <a:rPr lang="en-US" sz="2500" dirty="0">
                <a:latin typeface="Garamond" panose="02020404030301010803" pitchFamily="18" charset="0"/>
              </a:rPr>
              <a:t> below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pPr lvl="1"/>
            <a:endParaRPr lang="en-US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‘Consent of the owner’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Goods must be in the </a:t>
            </a:r>
            <a:r>
              <a:rPr lang="en-US" dirty="0" err="1">
                <a:latin typeface="Garamond" panose="02020404030301010803" pitchFamily="18" charset="0"/>
              </a:rPr>
              <a:t>MA’s</a:t>
            </a:r>
            <a:r>
              <a:rPr lang="en-US" dirty="0">
                <a:latin typeface="Garamond" panose="02020404030301010803" pitchFamily="18" charset="0"/>
              </a:rPr>
              <a:t> possession with consent of the owner</a:t>
            </a:r>
          </a:p>
          <a:p>
            <a:pPr lvl="1"/>
            <a:r>
              <a:rPr lang="en-US" sz="3200" i="1" dirty="0">
                <a:latin typeface="Garamond" panose="02020404030301010803" pitchFamily="18" charset="0"/>
              </a:rPr>
              <a:t>Pearson v Rose &amp; Young Ltd </a:t>
            </a:r>
            <a:r>
              <a:rPr lang="en-US" sz="3200" dirty="0">
                <a:latin typeface="Garamond" panose="02020404030301010803" pitchFamily="18" charset="0"/>
              </a:rPr>
              <a:t>(P drives car to H’s showroom with a view to getting offers; H no authority to sell it; H also obtains car registration book through a trick; H sells car to M)</a:t>
            </a:r>
          </a:p>
          <a:p>
            <a:pPr lvl="1"/>
            <a:r>
              <a:rPr lang="en-US" sz="3200" dirty="0">
                <a:latin typeface="Garamond" panose="02020404030301010803" pitchFamily="18" charset="0"/>
              </a:rPr>
              <a:t>See also </a:t>
            </a:r>
            <a:r>
              <a:rPr lang="en-US" sz="3200" i="1" dirty="0">
                <a:latin typeface="Garamond" panose="02020404030301010803" pitchFamily="18" charset="0"/>
              </a:rPr>
              <a:t>Stadium Finance v Robbins</a:t>
            </a:r>
            <a:r>
              <a:rPr lang="en-US" sz="3200" dirty="0">
                <a:latin typeface="Garamond" panose="02020404030301010803" pitchFamily="18" charset="0"/>
              </a:rPr>
              <a:t> (below)</a:t>
            </a:r>
          </a:p>
          <a:p>
            <a:pPr lvl="1"/>
            <a:endParaRPr lang="en-US" sz="32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‘Consent of the owner’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>
                <a:latin typeface="Garamond" panose="02020404030301010803" pitchFamily="18" charset="0"/>
              </a:rPr>
              <a:t>Consent must be to possession of goods </a:t>
            </a:r>
            <a:r>
              <a:rPr lang="en-US" sz="2700" u="sng" dirty="0">
                <a:latin typeface="Garamond" panose="02020404030301010803" pitchFamily="18" charset="0"/>
              </a:rPr>
              <a:t>in the agent’s capacity as MA or for some purpose connected</a:t>
            </a:r>
          </a:p>
          <a:p>
            <a:pPr lvl="1"/>
            <a:r>
              <a:rPr lang="en-US" sz="2700" i="1" dirty="0">
                <a:latin typeface="Garamond" panose="02020404030301010803" pitchFamily="18" charset="0"/>
              </a:rPr>
              <a:t>Pearson v Rose &amp; Young Ltd </a:t>
            </a:r>
            <a:r>
              <a:rPr lang="en-US" sz="2700" b="1" dirty="0">
                <a:latin typeface="Garamond" panose="02020404030301010803" pitchFamily="18" charset="0"/>
              </a:rPr>
              <a:t>:</a:t>
            </a:r>
            <a:r>
              <a:rPr lang="en-US" sz="2700" dirty="0">
                <a:latin typeface="Garamond" panose="02020404030301010803" pitchFamily="18" charset="0"/>
              </a:rPr>
              <a:t> ‘Suppose … that the owner of furniture leaves it with a repairer for repair, and that the repairer happens to be a dealer as well, does that mean that the repairer can deprive the true owner of his goods by selling them to a buyer? Clearly not, if the owner did not know the repairer to be a dealer; and even if he did, why should that incidental knowledge deprive the true owner of his goods?’ (Denning) </a:t>
            </a:r>
          </a:p>
        </p:txBody>
      </p:sp>
    </p:spTree>
    <p:extLst>
      <p:ext uri="{BB962C8B-B14F-4D97-AF65-F5344CB8AC3E}">
        <p14:creationId xmlns:p14="http://schemas.microsoft.com/office/powerpoint/2010/main" val="147851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Astley Industrial Trust v Miller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899592" y="1988840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L Co.</a:t>
            </a:r>
          </a:p>
          <a:p>
            <a:pPr algn="ctr"/>
            <a:r>
              <a:rPr lang="en-GB" sz="2800" dirty="0"/>
              <a:t>(owner)</a:t>
            </a:r>
          </a:p>
        </p:txBody>
      </p:sp>
      <p:sp>
        <p:nvSpPr>
          <p:cNvPr id="5" name="Oval 4"/>
          <p:cNvSpPr/>
          <p:nvPr/>
        </p:nvSpPr>
        <p:spPr>
          <a:xfrm>
            <a:off x="5652120" y="1742852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D Co. </a:t>
            </a:r>
            <a:r>
              <a:rPr lang="en-GB" sz="2300" dirty="0"/>
              <a:t>(car hire + second hand dealer)</a:t>
            </a:r>
          </a:p>
        </p:txBody>
      </p:sp>
      <p:sp>
        <p:nvSpPr>
          <p:cNvPr id="6" name="Oval 5"/>
          <p:cNvSpPr/>
          <p:nvPr/>
        </p:nvSpPr>
        <p:spPr>
          <a:xfrm>
            <a:off x="3563888" y="4030836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/>
              <a:t>M </a:t>
            </a:r>
            <a:r>
              <a:rPr lang="en-GB" sz="2400" dirty="0"/>
              <a:t>(innocent buyer</a:t>
            </a:r>
            <a:r>
              <a:rPr lang="en-GB" sz="2000" dirty="0"/>
              <a:t>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987824" y="2678956"/>
            <a:ext cx="2376264" cy="1019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364088" y="3717032"/>
            <a:ext cx="86409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21399637" flipH="1">
            <a:off x="3358661" y="2075907"/>
            <a:ext cx="178879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dirty="0"/>
              <a:t>Car released</a:t>
            </a:r>
          </a:p>
        </p:txBody>
      </p:sp>
    </p:spTree>
    <p:extLst>
      <p:ext uri="{BB962C8B-B14F-4D97-AF65-F5344CB8AC3E}">
        <p14:creationId xmlns:p14="http://schemas.microsoft.com/office/powerpoint/2010/main" val="6552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FA 1889 ss.2(2), (3) and (4)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What if owner withdraws consent?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FA 1889, s.2(2)</a:t>
            </a:r>
          </a:p>
          <a:p>
            <a:r>
              <a:rPr lang="en-US" dirty="0">
                <a:latin typeface="Garamond" panose="02020404030301010803" pitchFamily="18" charset="0"/>
              </a:rPr>
              <a:t>Consent to possession of documents of title by virtue of possession of the goods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FA 1889, s.2(3)</a:t>
            </a:r>
          </a:p>
          <a:p>
            <a:r>
              <a:rPr lang="en-US" dirty="0">
                <a:latin typeface="Garamond" panose="02020404030301010803" pitchFamily="18" charset="0"/>
              </a:rPr>
              <a:t>Consent of the owner is presumed in absence of evidence to the contrary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FA 1889, s.2(4)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‘Sale, pledge or other disposition’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Sale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Agreement to sell?</a:t>
            </a:r>
          </a:p>
          <a:p>
            <a:r>
              <a:rPr lang="en-US" dirty="0">
                <a:latin typeface="Garamond" panose="02020404030301010803" pitchFamily="18" charset="0"/>
              </a:rPr>
              <a:t>Pledge 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Pledge on antecedent debt?</a:t>
            </a:r>
          </a:p>
          <a:p>
            <a:r>
              <a:rPr lang="en-US" dirty="0">
                <a:latin typeface="Garamond" panose="02020404030301010803" pitchFamily="18" charset="0"/>
              </a:rPr>
              <a:t>(Other Disposition)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‘Ordinary course of business’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i="1" dirty="0">
                <a:latin typeface="Garamond" panose="02020404030301010803" pitchFamily="18" charset="0"/>
              </a:rPr>
              <a:t>Oppenheimer </a:t>
            </a:r>
            <a:r>
              <a:rPr lang="en-US" sz="2800" i="1" dirty="0" err="1">
                <a:latin typeface="Garamond" panose="02020404030301010803" pitchFamily="18" charset="0"/>
              </a:rPr>
              <a:t>v</a:t>
            </a:r>
            <a:r>
              <a:rPr lang="en-US" sz="2800" i="1" dirty="0">
                <a:latin typeface="Garamond" panose="02020404030301010803" pitchFamily="18" charset="0"/>
              </a:rPr>
              <a:t> Attenborough &amp; Son</a:t>
            </a:r>
            <a:r>
              <a:rPr lang="en-US" sz="2800" dirty="0">
                <a:latin typeface="Garamond" panose="02020404030301010803" pitchFamily="18" charset="0"/>
              </a:rPr>
              <a:t>:</a:t>
            </a:r>
          </a:p>
          <a:p>
            <a:pPr>
              <a:lnSpc>
                <a:spcPct val="110000"/>
              </a:lnSpc>
              <a:buNone/>
            </a:pPr>
            <a:r>
              <a:rPr lang="en-GB" sz="2800" dirty="0">
                <a:latin typeface="Garamond" panose="02020404030301010803" pitchFamily="18" charset="0"/>
              </a:rPr>
              <a:t>	‘acting in such a way as a mercantile agent acting in the ordinary course of business of a mercantile agent would act’ </a:t>
            </a:r>
            <a:endParaRPr lang="en-US" sz="2800" dirty="0">
              <a:latin typeface="Garamond" panose="02020404030301010803" pitchFamily="18" charset="0"/>
            </a:endParaRPr>
          </a:p>
          <a:p>
            <a:pPr marL="342900" lvl="1" indent="-342900">
              <a:lnSpc>
                <a:spcPct val="110000"/>
              </a:lnSpc>
              <a:buFont typeface="Arial"/>
              <a:buChar char="•"/>
            </a:pPr>
            <a:r>
              <a:rPr lang="en-US" i="1" dirty="0">
                <a:latin typeface="Garamond" panose="02020404030301010803" pitchFamily="18" charset="0"/>
              </a:rPr>
              <a:t>Stadium Finance v Robbins (!) </a:t>
            </a:r>
            <a:r>
              <a:rPr lang="en-US" dirty="0">
                <a:latin typeface="Garamond" panose="02020404030301010803" pitchFamily="18" charset="0"/>
              </a:rPr>
              <a:t>(Owner leaves car with dealer with a view to getting offers; retains ignition key, but accidentally leaves registration document in locked glove compartment; dealer obtains other key; gets hold of registration book; sells the car)</a:t>
            </a:r>
            <a:endParaRPr lang="en-US" i="1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  <a:p>
            <a:pPr>
              <a:buNone/>
            </a:pPr>
            <a:endParaRPr lang="en-GB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‘Good faith’ and no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Third party must act in good faith and without notice of lack of authority</a:t>
            </a:r>
          </a:p>
          <a:p>
            <a:r>
              <a:rPr lang="en-US" dirty="0">
                <a:latin typeface="Garamond" panose="02020404030301010803" pitchFamily="18" charset="0"/>
              </a:rPr>
              <a:t>Burden of proof</a:t>
            </a:r>
          </a:p>
          <a:p>
            <a:pPr lvl="1"/>
            <a:r>
              <a:rPr lang="en-GB" dirty="0">
                <a:latin typeface="Garamond" panose="02020404030301010803" pitchFamily="18" charset="0"/>
              </a:rPr>
              <a:t>Heap v Motorists’ Advisory Agency  (car sold without owner’s authority to D. Sale is carried out through a friend at a price well below car’s value, Seller requests ‘open’ cheque) </a:t>
            </a:r>
            <a:endParaRPr lang="en-US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B24C251BCD4291F2C2F3A608C810" ma:contentTypeVersion="11" ma:contentTypeDescription="Create a new document." ma:contentTypeScope="" ma:versionID="83699b3271963520812641aaaa6ca2c4">
  <xsd:schema xmlns:xsd="http://www.w3.org/2001/XMLSchema" xmlns:xs="http://www.w3.org/2001/XMLSchema" xmlns:p="http://schemas.microsoft.com/office/2006/metadata/properties" xmlns:ns3="3cc0b812-7f7d-4aca-acca-000f424f7da7" xmlns:ns4="6bff29df-e80b-4a73-953f-e802c634e429" targetNamespace="http://schemas.microsoft.com/office/2006/metadata/properties" ma:root="true" ma:fieldsID="d7bdb9edf9b87b139097dc501a0a3627" ns3:_="" ns4:_="">
    <xsd:import namespace="3cc0b812-7f7d-4aca-acca-000f424f7da7"/>
    <xsd:import namespace="6bff29df-e80b-4a73-953f-e802c634e4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bjectDetectorVersion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b812-7f7d-4aca-acca-000f424f7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f29df-e80b-4a73-953f-e802c634e42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c0b812-7f7d-4aca-acca-000f424f7da7" xsi:nil="true"/>
  </documentManagement>
</p:properties>
</file>

<file path=customXml/itemProps1.xml><?xml version="1.0" encoding="utf-8"?>
<ds:datastoreItem xmlns:ds="http://schemas.openxmlformats.org/officeDocument/2006/customXml" ds:itemID="{9FDDE4E3-B9EC-4CED-A7A9-CF321D69A9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c0b812-7f7d-4aca-acca-000f424f7da7"/>
    <ds:schemaRef ds:uri="6bff29df-e80b-4a73-953f-e802c634e4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CFF3DE-23A4-4E28-8C29-25DCB2FB13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444CE0-4FA1-40CF-AC51-9D692DA308B8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6bff29df-e80b-4a73-953f-e802c634e429"/>
    <ds:schemaRef ds:uri="3cc0b812-7f7d-4aca-acca-000f424f7da7"/>
    <ds:schemaRef ds:uri="http://purl.org/dc/dcmitype/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24660</TotalTime>
  <Words>990</Words>
  <Application>Microsoft Office PowerPoint</Application>
  <PresentationFormat>On-screen Show (4:3)</PresentationFormat>
  <Paragraphs>105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Garamond</vt:lpstr>
      <vt:lpstr>Office Theme</vt:lpstr>
      <vt:lpstr>Nemo dat quod non habet and its exceptions</vt:lpstr>
      <vt:lpstr>Introduction</vt:lpstr>
      <vt:lpstr>Intro (II)</vt:lpstr>
      <vt:lpstr>Sale by MA – FA 1889 s.2(1)</vt:lpstr>
      <vt:lpstr>Example – FA 1889 s. 2(1)</vt:lpstr>
      <vt:lpstr>‘Mercantile Agent’</vt:lpstr>
      <vt:lpstr>‘Possession’</vt:lpstr>
      <vt:lpstr>‘Goods’ and ‘documents of title’</vt:lpstr>
      <vt:lpstr>‘Consent of the owner’</vt:lpstr>
      <vt:lpstr>‘Consent of the owner’ (II)</vt:lpstr>
      <vt:lpstr>Astley Industrial Trust v Miller</vt:lpstr>
      <vt:lpstr>FA 1889 ss.2(2), (3) and (4) </vt:lpstr>
      <vt:lpstr>‘Sale, pledge or other disposition’</vt:lpstr>
      <vt:lpstr>‘Ordinary course of business’</vt:lpstr>
      <vt:lpstr>‘Good faith’ and no notice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 dat quod non habet and its exceptions</dc:title>
  <dc:subject/>
  <dc:creator/>
  <cp:keywords/>
  <dc:description/>
  <cp:lastModifiedBy>AVERY, RACHEL J.</cp:lastModifiedBy>
  <cp:revision>157</cp:revision>
  <cp:lastPrinted>2015-01-16T11:06:16Z</cp:lastPrinted>
  <dcterms:created xsi:type="dcterms:W3CDTF">2013-01-21T10:58:36Z</dcterms:created>
  <dcterms:modified xsi:type="dcterms:W3CDTF">2025-01-07T11:07:17Z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0x01010009A4B24C251BCD4291F2C2F3A608C810</vt:lpwstr>
  </property>
</Properties>
</file>