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36"/>
  </p:notesMasterIdLst>
  <p:sldIdLst>
    <p:sldId id="256" r:id="rId5"/>
    <p:sldId id="257" r:id="rId6"/>
    <p:sldId id="258" r:id="rId7"/>
    <p:sldId id="259" r:id="rId8"/>
    <p:sldId id="260" r:id="rId9"/>
    <p:sldId id="261" r:id="rId10"/>
    <p:sldId id="286" r:id="rId11"/>
    <p:sldId id="262" r:id="rId12"/>
    <p:sldId id="263" r:id="rId13"/>
    <p:sldId id="264" r:id="rId14"/>
    <p:sldId id="278" r:id="rId15"/>
    <p:sldId id="265" r:id="rId16"/>
    <p:sldId id="266" r:id="rId17"/>
    <p:sldId id="267" r:id="rId18"/>
    <p:sldId id="268" r:id="rId19"/>
    <p:sldId id="279" r:id="rId20"/>
    <p:sldId id="269" r:id="rId21"/>
    <p:sldId id="270" r:id="rId22"/>
    <p:sldId id="285" r:id="rId23"/>
    <p:sldId id="271" r:id="rId24"/>
    <p:sldId id="280" r:id="rId25"/>
    <p:sldId id="272" r:id="rId26"/>
    <p:sldId id="273" r:id="rId27"/>
    <p:sldId id="281" r:id="rId28"/>
    <p:sldId id="274" r:id="rId29"/>
    <p:sldId id="282" r:id="rId30"/>
    <p:sldId id="275" r:id="rId31"/>
    <p:sldId id="283" r:id="rId32"/>
    <p:sldId id="276" r:id="rId33"/>
    <p:sldId id="284" r:id="rId34"/>
    <p:sldId id="277" r:id="rId3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Perpetua" pitchFamily="18" charset="0"/>
        <a:ea typeface="+mn-ea"/>
        <a:cs typeface="Arial" charset="0"/>
      </a:defRPr>
    </a:lvl1pPr>
    <a:lvl2pPr marL="457200" algn="l" rtl="0" fontAlgn="base">
      <a:spcBef>
        <a:spcPct val="0"/>
      </a:spcBef>
      <a:spcAft>
        <a:spcPct val="0"/>
      </a:spcAft>
      <a:defRPr kern="1200">
        <a:solidFill>
          <a:schemeClr val="tx1"/>
        </a:solidFill>
        <a:latin typeface="Perpetua" pitchFamily="18" charset="0"/>
        <a:ea typeface="+mn-ea"/>
        <a:cs typeface="Arial" charset="0"/>
      </a:defRPr>
    </a:lvl2pPr>
    <a:lvl3pPr marL="914400" algn="l" rtl="0" fontAlgn="base">
      <a:spcBef>
        <a:spcPct val="0"/>
      </a:spcBef>
      <a:spcAft>
        <a:spcPct val="0"/>
      </a:spcAft>
      <a:defRPr kern="1200">
        <a:solidFill>
          <a:schemeClr val="tx1"/>
        </a:solidFill>
        <a:latin typeface="Perpetua" pitchFamily="18" charset="0"/>
        <a:ea typeface="+mn-ea"/>
        <a:cs typeface="Arial" charset="0"/>
      </a:defRPr>
    </a:lvl3pPr>
    <a:lvl4pPr marL="1371600" algn="l" rtl="0" fontAlgn="base">
      <a:spcBef>
        <a:spcPct val="0"/>
      </a:spcBef>
      <a:spcAft>
        <a:spcPct val="0"/>
      </a:spcAft>
      <a:defRPr kern="1200">
        <a:solidFill>
          <a:schemeClr val="tx1"/>
        </a:solidFill>
        <a:latin typeface="Perpetua" pitchFamily="18" charset="0"/>
        <a:ea typeface="+mn-ea"/>
        <a:cs typeface="Arial" charset="0"/>
      </a:defRPr>
    </a:lvl4pPr>
    <a:lvl5pPr marL="1828800" algn="l" rtl="0" fontAlgn="base">
      <a:spcBef>
        <a:spcPct val="0"/>
      </a:spcBef>
      <a:spcAft>
        <a:spcPct val="0"/>
      </a:spcAft>
      <a:defRPr kern="1200">
        <a:solidFill>
          <a:schemeClr val="tx1"/>
        </a:solidFill>
        <a:latin typeface="Perpetua" pitchFamily="18" charset="0"/>
        <a:ea typeface="+mn-ea"/>
        <a:cs typeface="Arial" charset="0"/>
      </a:defRPr>
    </a:lvl5pPr>
    <a:lvl6pPr marL="2286000" algn="l" defTabSz="914400" rtl="0" eaLnBrk="1" latinLnBrk="0" hangingPunct="1">
      <a:defRPr kern="1200">
        <a:solidFill>
          <a:schemeClr val="tx1"/>
        </a:solidFill>
        <a:latin typeface="Perpetua" pitchFamily="18" charset="0"/>
        <a:ea typeface="+mn-ea"/>
        <a:cs typeface="Arial" charset="0"/>
      </a:defRPr>
    </a:lvl6pPr>
    <a:lvl7pPr marL="2743200" algn="l" defTabSz="914400" rtl="0" eaLnBrk="1" latinLnBrk="0" hangingPunct="1">
      <a:defRPr kern="1200">
        <a:solidFill>
          <a:schemeClr val="tx1"/>
        </a:solidFill>
        <a:latin typeface="Perpetua" pitchFamily="18" charset="0"/>
        <a:ea typeface="+mn-ea"/>
        <a:cs typeface="Arial" charset="0"/>
      </a:defRPr>
    </a:lvl7pPr>
    <a:lvl8pPr marL="3200400" algn="l" defTabSz="914400" rtl="0" eaLnBrk="1" latinLnBrk="0" hangingPunct="1">
      <a:defRPr kern="1200">
        <a:solidFill>
          <a:schemeClr val="tx1"/>
        </a:solidFill>
        <a:latin typeface="Perpetua" pitchFamily="18" charset="0"/>
        <a:ea typeface="+mn-ea"/>
        <a:cs typeface="Arial" charset="0"/>
      </a:defRPr>
    </a:lvl8pPr>
    <a:lvl9pPr marL="3657600" algn="l" defTabSz="914400" rtl="0" eaLnBrk="1" latinLnBrk="0" hangingPunct="1">
      <a:defRPr kern="1200">
        <a:solidFill>
          <a:schemeClr val="tx1"/>
        </a:solidFill>
        <a:latin typeface="Perpetua" pitchFamily="18"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p:cViewPr varScale="1">
        <p:scale>
          <a:sx n="63" d="100"/>
          <a:sy n="63" d="100"/>
        </p:scale>
        <p:origin x="1864" y="5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5596CAFA-EB50-4D46-A435-2628273C1E67}" type="datetimeFigureOut">
              <a:rPr lang="en-GB"/>
              <a:pPr>
                <a:defRPr/>
              </a:pPr>
              <a:t>10/09/2024</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GB"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5BDF1005-34D8-4A99-85EB-F93B2AAB41FD}" type="slidenum">
              <a:rPr lang="en-GB"/>
              <a:pPr>
                <a:defRPr/>
              </a:pPr>
              <a:t>‹#›</a:t>
            </a:fld>
            <a:endParaRPr lang="en-GB"/>
          </a:p>
        </p:txBody>
      </p:sp>
    </p:spTree>
    <p:extLst>
      <p:ext uri="{BB962C8B-B14F-4D97-AF65-F5344CB8AC3E}">
        <p14:creationId xmlns:p14="http://schemas.microsoft.com/office/powerpoint/2010/main" val="3423326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4"/>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 name="Rectangle 9"/>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a:t>Click to edit Master title style</a:t>
            </a:r>
          </a:p>
        </p:txBody>
      </p:sp>
      <p:sp>
        <p:nvSpPr>
          <p:cNvPr id="11" name="Date Placeholder 27"/>
          <p:cNvSpPr>
            <a:spLocks noGrp="1"/>
          </p:cNvSpPr>
          <p:nvPr>
            <p:ph type="dt" sz="half" idx="10"/>
          </p:nvPr>
        </p:nvSpPr>
        <p:spPr/>
        <p:txBody>
          <a:bodyPr/>
          <a:lstStyle>
            <a:lvl1pPr>
              <a:defRPr/>
            </a:lvl1pPr>
          </a:lstStyle>
          <a:p>
            <a:pPr>
              <a:defRPr/>
            </a:pPr>
            <a:fld id="{5F1ECCAB-BA11-49F9-BA0E-C4349C34F2AC}" type="datetime1">
              <a:rPr lang="en-GB"/>
              <a:pPr>
                <a:defRPr/>
              </a:pPr>
              <a:t>10/09/2024</a:t>
            </a:fld>
            <a:endParaRPr lang="en-GB"/>
          </a:p>
        </p:txBody>
      </p:sp>
      <p:sp>
        <p:nvSpPr>
          <p:cNvPr id="12" name="Footer Placeholder 16"/>
          <p:cNvSpPr>
            <a:spLocks noGrp="1"/>
          </p:cNvSpPr>
          <p:nvPr>
            <p:ph type="ftr" sz="quarter" idx="11"/>
          </p:nvPr>
        </p:nvSpPr>
        <p:spPr/>
        <p:txBody>
          <a:bodyPr/>
          <a:lstStyle>
            <a:lvl1pPr>
              <a:defRPr/>
            </a:lvl1pPr>
          </a:lstStyle>
          <a:p>
            <a:pPr>
              <a:defRPr/>
            </a:pPr>
            <a:endParaRPr lang="en-GB"/>
          </a:p>
        </p:txBody>
      </p:sp>
      <p:sp>
        <p:nvSpPr>
          <p:cNvPr id="13" name="Slide Number Placeholder 28"/>
          <p:cNvSpPr>
            <a:spLocks noGrp="1"/>
          </p:cNvSpPr>
          <p:nvPr>
            <p:ph type="sldNum" sz="quarter" idx="12"/>
          </p:nvPr>
        </p:nvSpPr>
        <p:spPr/>
        <p:txBody>
          <a:bodyPr/>
          <a:lstStyle>
            <a:lvl1pPr>
              <a:defRPr sz="1400">
                <a:solidFill>
                  <a:srgbClr val="FFFFFF"/>
                </a:solidFill>
              </a:defRPr>
            </a:lvl1pPr>
          </a:lstStyle>
          <a:p>
            <a:pPr>
              <a:defRPr/>
            </a:pPr>
            <a:fld id="{E19230E8-32F0-49E4-AC4D-070E8135A3D4}" type="slidenum">
              <a:rPr lang="en-GB"/>
              <a:pPr>
                <a:defRPr/>
              </a:pPr>
              <a:t>‹#›</a:t>
            </a:fld>
            <a:endParaRPr lang="en-GB"/>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fld id="{AAC4FAA8-C601-492C-BC75-5A04ACCC32B1}" type="datetime1">
              <a:rPr lang="en-GB"/>
              <a:pPr>
                <a:defRPr/>
              </a:pPr>
              <a:t>10/09/2024</a:t>
            </a:fld>
            <a:endParaRPr lang="en-GB"/>
          </a:p>
        </p:txBody>
      </p:sp>
      <p:sp>
        <p:nvSpPr>
          <p:cNvPr id="5" name="Footer Placeholder 2"/>
          <p:cNvSpPr>
            <a:spLocks noGrp="1"/>
          </p:cNvSpPr>
          <p:nvPr>
            <p:ph type="ftr" sz="quarter" idx="11"/>
          </p:nvPr>
        </p:nvSpPr>
        <p:spPr/>
        <p:txBody>
          <a:bodyPr/>
          <a:lstStyle>
            <a:lvl1pPr>
              <a:defRPr/>
            </a:lvl1pPr>
          </a:lstStyle>
          <a:p>
            <a:pPr>
              <a:defRPr/>
            </a:pPr>
            <a:endParaRPr lang="en-GB"/>
          </a:p>
        </p:txBody>
      </p:sp>
      <p:sp>
        <p:nvSpPr>
          <p:cNvPr id="6" name="Slide Number Placeholder 22"/>
          <p:cNvSpPr>
            <a:spLocks noGrp="1"/>
          </p:cNvSpPr>
          <p:nvPr>
            <p:ph type="sldNum" sz="quarter" idx="12"/>
          </p:nvPr>
        </p:nvSpPr>
        <p:spPr/>
        <p:txBody>
          <a:bodyPr/>
          <a:lstStyle>
            <a:lvl1pPr>
              <a:defRPr/>
            </a:lvl1pPr>
          </a:lstStyle>
          <a:p>
            <a:pPr>
              <a:defRPr/>
            </a:pPr>
            <a:fld id="{D79F9B61-834F-43A5-817F-BEB10D696D69}" type="slidenum">
              <a:rPr lang="en-GB"/>
              <a:pPr>
                <a:defRPr/>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4"/>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p:cNvSpPr/>
          <p:nvPr/>
        </p:nvSpPr>
        <p:spPr>
          <a:xfrm>
            <a:off x="69850" y="2341563"/>
            <a:ext cx="901382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p:cNvSpPr/>
          <p:nvPr/>
        </p:nvSpPr>
        <p:spPr>
          <a:xfrm>
            <a:off x="68263" y="2468563"/>
            <a:ext cx="9015412"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722313" y="952500"/>
            <a:ext cx="7772400" cy="1362075"/>
          </a:xfrm>
        </p:spPr>
        <p:txBody>
          <a:bodyPr/>
          <a:lstStyle>
            <a:lvl1pPr algn="l">
              <a:buNone/>
              <a:defRPr sz="4000" b="0" cap="none"/>
            </a:lvl1pPr>
          </a:lstStyle>
          <a:p>
            <a:r>
              <a:rPr lang="en-US"/>
              <a:t>Click to edit Master title style</a:t>
            </a:r>
          </a:p>
        </p:txBody>
      </p:sp>
      <p:sp>
        <p:nvSpPr>
          <p:cNvPr id="3" name="Text Placeholder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9" name="Date Placeholder 3"/>
          <p:cNvSpPr>
            <a:spLocks noGrp="1"/>
          </p:cNvSpPr>
          <p:nvPr>
            <p:ph type="dt" sz="half" idx="10"/>
          </p:nvPr>
        </p:nvSpPr>
        <p:spPr/>
        <p:txBody>
          <a:bodyPr/>
          <a:lstStyle>
            <a:lvl1pPr>
              <a:defRPr/>
            </a:lvl1pPr>
          </a:lstStyle>
          <a:p>
            <a:pPr>
              <a:defRPr/>
            </a:pPr>
            <a:fld id="{61B2FE65-C5DF-4CF9-84C9-E27E836EE4B0}" type="datetime1">
              <a:rPr lang="en-GB"/>
              <a:pPr>
                <a:defRPr/>
              </a:pPr>
              <a:t>10/09/2024</a:t>
            </a:fld>
            <a:endParaRPr lang="en-GB"/>
          </a:p>
        </p:txBody>
      </p:sp>
      <p:sp>
        <p:nvSpPr>
          <p:cNvPr id="10" name="Footer Placeholder 4"/>
          <p:cNvSpPr>
            <a:spLocks noGrp="1"/>
          </p:cNvSpPr>
          <p:nvPr>
            <p:ph type="ftr" sz="quarter" idx="11"/>
          </p:nvPr>
        </p:nvSpPr>
        <p:spPr>
          <a:xfrm>
            <a:off x="800100" y="6172200"/>
            <a:ext cx="4000500" cy="457200"/>
          </a:xfrm>
        </p:spPr>
        <p:txBody>
          <a:bodyPr/>
          <a:lstStyle>
            <a:lvl1pPr>
              <a:defRPr/>
            </a:lvl1pPr>
          </a:lstStyle>
          <a:p>
            <a:pPr>
              <a:defRPr/>
            </a:pPr>
            <a:endParaRPr lang="en-GB"/>
          </a:p>
        </p:txBody>
      </p:sp>
      <p:sp>
        <p:nvSpPr>
          <p:cNvPr id="11" name="Slide Number Placeholder 5"/>
          <p:cNvSpPr>
            <a:spLocks noGrp="1"/>
          </p:cNvSpPr>
          <p:nvPr>
            <p:ph type="sldNum" sz="quarter" idx="12"/>
          </p:nvPr>
        </p:nvSpPr>
        <p:spPr>
          <a:xfrm>
            <a:off x="146050" y="6208713"/>
            <a:ext cx="457200" cy="457200"/>
          </a:xfrm>
        </p:spPr>
        <p:txBody>
          <a:bodyPr/>
          <a:lstStyle>
            <a:lvl1pPr>
              <a:defRPr/>
            </a:lvl1pPr>
          </a:lstStyle>
          <a:p>
            <a:pPr>
              <a:defRPr/>
            </a:pPr>
            <a:fld id="{B2876FDA-B342-4C1E-9638-AB11C056E63C}" type="slidenum">
              <a:rPr lang="en-GB"/>
              <a:pPr>
                <a:defRPr/>
              </a:pPr>
              <a:t>‹#›</a:t>
            </a:fld>
            <a:endParaRPr lang="en-GB"/>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pPr>
              <a:defRPr/>
            </a:pPr>
            <a:fld id="{BCBEA2F7-4169-419B-925C-FE33F691831C}" type="datetime1">
              <a:rPr lang="en-GB"/>
              <a:pPr>
                <a:defRPr/>
              </a:pPr>
              <a:t>10/09/2024</a:t>
            </a:fld>
            <a:endParaRPr lang="en-GB"/>
          </a:p>
        </p:txBody>
      </p:sp>
      <p:sp>
        <p:nvSpPr>
          <p:cNvPr id="6" name="Footer Placeholder 2"/>
          <p:cNvSpPr>
            <a:spLocks noGrp="1"/>
          </p:cNvSpPr>
          <p:nvPr>
            <p:ph type="ftr" sz="quarter" idx="11"/>
          </p:nvPr>
        </p:nvSpPr>
        <p:spPr/>
        <p:txBody>
          <a:bodyPr/>
          <a:lstStyle>
            <a:lvl1pPr>
              <a:defRPr/>
            </a:lvl1pPr>
          </a:lstStyle>
          <a:p>
            <a:pPr>
              <a:defRPr/>
            </a:pPr>
            <a:endParaRPr lang="en-GB"/>
          </a:p>
        </p:txBody>
      </p:sp>
      <p:sp>
        <p:nvSpPr>
          <p:cNvPr id="7" name="Slide Number Placeholder 22"/>
          <p:cNvSpPr>
            <a:spLocks noGrp="1"/>
          </p:cNvSpPr>
          <p:nvPr>
            <p:ph type="sldNum" sz="quarter" idx="12"/>
          </p:nvPr>
        </p:nvSpPr>
        <p:spPr/>
        <p:txBody>
          <a:bodyPr/>
          <a:lstStyle>
            <a:lvl1pPr>
              <a:defRPr/>
            </a:lvl1pPr>
          </a:lstStyle>
          <a:p>
            <a:pPr>
              <a:defRPr/>
            </a:pPr>
            <a:fld id="{9E2C222C-FD21-4373-80F6-C536033541E3}" type="slidenum">
              <a:rPr lang="en-GB"/>
              <a:pPr>
                <a:defRPr/>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half" idx="2"/>
          </p:nvPr>
        </p:nvSpPr>
        <p:spPr>
          <a:xfrm>
            <a:off x="9144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4"/>
          </p:nvPr>
        </p:nvSpPr>
        <p:spPr>
          <a:xfrm>
            <a:off x="49530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13"/>
          <p:cNvSpPr>
            <a:spLocks noGrp="1"/>
          </p:cNvSpPr>
          <p:nvPr>
            <p:ph type="dt" sz="half" idx="10"/>
          </p:nvPr>
        </p:nvSpPr>
        <p:spPr/>
        <p:txBody>
          <a:bodyPr/>
          <a:lstStyle>
            <a:lvl1pPr>
              <a:defRPr/>
            </a:lvl1pPr>
          </a:lstStyle>
          <a:p>
            <a:pPr>
              <a:defRPr/>
            </a:pPr>
            <a:fld id="{8247A9B1-ED7F-46DF-9A92-6FC3AE7FB20C}" type="datetime1">
              <a:rPr lang="en-GB"/>
              <a:pPr>
                <a:defRPr/>
              </a:pPr>
              <a:t>10/09/2024</a:t>
            </a:fld>
            <a:endParaRPr lang="en-GB"/>
          </a:p>
        </p:txBody>
      </p:sp>
      <p:sp>
        <p:nvSpPr>
          <p:cNvPr id="8" name="Footer Placeholder 2"/>
          <p:cNvSpPr>
            <a:spLocks noGrp="1"/>
          </p:cNvSpPr>
          <p:nvPr>
            <p:ph type="ftr" sz="quarter" idx="11"/>
          </p:nvPr>
        </p:nvSpPr>
        <p:spPr/>
        <p:txBody>
          <a:bodyPr/>
          <a:lstStyle>
            <a:lvl1pPr>
              <a:defRPr/>
            </a:lvl1pPr>
          </a:lstStyle>
          <a:p>
            <a:pPr>
              <a:defRPr/>
            </a:pPr>
            <a:endParaRPr lang="en-GB"/>
          </a:p>
        </p:txBody>
      </p:sp>
      <p:sp>
        <p:nvSpPr>
          <p:cNvPr id="9" name="Slide Number Placeholder 22"/>
          <p:cNvSpPr>
            <a:spLocks noGrp="1"/>
          </p:cNvSpPr>
          <p:nvPr>
            <p:ph type="sldNum" sz="quarter" idx="12"/>
          </p:nvPr>
        </p:nvSpPr>
        <p:spPr/>
        <p:txBody>
          <a:bodyPr/>
          <a:lstStyle>
            <a:lvl1pPr>
              <a:defRPr/>
            </a:lvl1pPr>
          </a:lstStyle>
          <a:p>
            <a:pPr>
              <a:defRPr/>
            </a:pPr>
            <a:fld id="{CD389A79-686B-4FF0-A45A-323FFEEB72F2}" type="slidenum">
              <a:rPr lang="en-GB"/>
              <a:pPr>
                <a:defRPr/>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p:cNvSpPr>
            <a:spLocks noGrp="1"/>
          </p:cNvSpPr>
          <p:nvPr>
            <p:ph type="dt" sz="half" idx="10"/>
          </p:nvPr>
        </p:nvSpPr>
        <p:spPr/>
        <p:txBody>
          <a:bodyPr/>
          <a:lstStyle>
            <a:lvl1pPr>
              <a:defRPr/>
            </a:lvl1pPr>
          </a:lstStyle>
          <a:p>
            <a:pPr>
              <a:defRPr/>
            </a:pPr>
            <a:fld id="{555BBEC4-25E5-49F3-AC46-CF827B682DE2}" type="datetime1">
              <a:rPr lang="en-GB"/>
              <a:pPr>
                <a:defRPr/>
              </a:pPr>
              <a:t>10/09/2024</a:t>
            </a:fld>
            <a:endParaRPr lang="en-GB"/>
          </a:p>
        </p:txBody>
      </p:sp>
      <p:sp>
        <p:nvSpPr>
          <p:cNvPr id="4" name="Footer Placeholder 2"/>
          <p:cNvSpPr>
            <a:spLocks noGrp="1"/>
          </p:cNvSpPr>
          <p:nvPr>
            <p:ph type="ftr" sz="quarter" idx="11"/>
          </p:nvPr>
        </p:nvSpPr>
        <p:spPr/>
        <p:txBody>
          <a:bodyPr/>
          <a:lstStyle>
            <a:lvl1pPr>
              <a:defRPr/>
            </a:lvl1pPr>
          </a:lstStyle>
          <a:p>
            <a:pPr>
              <a:defRPr/>
            </a:pPr>
            <a:endParaRPr lang="en-GB"/>
          </a:p>
        </p:txBody>
      </p:sp>
      <p:sp>
        <p:nvSpPr>
          <p:cNvPr id="5" name="Slide Number Placeholder 22"/>
          <p:cNvSpPr>
            <a:spLocks noGrp="1"/>
          </p:cNvSpPr>
          <p:nvPr>
            <p:ph type="sldNum" sz="quarter" idx="12"/>
          </p:nvPr>
        </p:nvSpPr>
        <p:spPr/>
        <p:txBody>
          <a:bodyPr/>
          <a:lstStyle>
            <a:lvl1pPr>
              <a:defRPr/>
            </a:lvl1pPr>
          </a:lstStyle>
          <a:p>
            <a:pPr>
              <a:defRPr/>
            </a:pPr>
            <a:fld id="{AB07E8B5-9B0C-4FF7-A02C-F45FF598DA6D}" type="slidenum">
              <a:rPr lang="en-GB"/>
              <a:pPr>
                <a:defRPr/>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p:txBody>
          <a:bodyPr/>
          <a:lstStyle>
            <a:lvl1pPr>
              <a:defRPr/>
            </a:lvl1pPr>
          </a:lstStyle>
          <a:p>
            <a:pPr>
              <a:defRPr/>
            </a:pPr>
            <a:fld id="{41CD345C-2EB8-4B33-A730-8E120AEEE10A}" type="datetime1">
              <a:rPr lang="en-GB"/>
              <a:pPr>
                <a:defRPr/>
              </a:pPr>
              <a:t>10/09/2024</a:t>
            </a:fld>
            <a:endParaRPr lang="en-GB"/>
          </a:p>
        </p:txBody>
      </p:sp>
      <p:sp>
        <p:nvSpPr>
          <p:cNvPr id="3" name="Footer Placeholder 2"/>
          <p:cNvSpPr>
            <a:spLocks noGrp="1"/>
          </p:cNvSpPr>
          <p:nvPr>
            <p:ph type="ftr" sz="quarter" idx="11"/>
          </p:nvPr>
        </p:nvSpPr>
        <p:spPr/>
        <p:txBody>
          <a:bodyPr/>
          <a:lstStyle>
            <a:lvl1pPr>
              <a:defRPr/>
            </a:lvl1pPr>
          </a:lstStyle>
          <a:p>
            <a:pPr>
              <a:defRPr/>
            </a:pPr>
            <a:endParaRPr lang="en-GB"/>
          </a:p>
        </p:txBody>
      </p:sp>
      <p:sp>
        <p:nvSpPr>
          <p:cNvPr id="4" name="Slide Number Placeholder 22"/>
          <p:cNvSpPr>
            <a:spLocks noGrp="1"/>
          </p:cNvSpPr>
          <p:nvPr>
            <p:ph type="sldNum" sz="quarter" idx="12"/>
          </p:nvPr>
        </p:nvSpPr>
        <p:spPr/>
        <p:txBody>
          <a:bodyPr/>
          <a:lstStyle>
            <a:lvl1pPr>
              <a:defRPr/>
            </a:lvl1pPr>
          </a:lstStyle>
          <a:p>
            <a:pPr>
              <a:defRPr/>
            </a:pPr>
            <a:fld id="{C19C38C5-28F4-4856-BA66-4585F70CE9F4}" type="slidenum">
              <a:rPr lang="en-GB"/>
              <a:pPr>
                <a:defRPr/>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6" name="Rounded Rectangle 5"/>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p:cNvSpPr>
            <a:spLocks noGrp="1"/>
          </p:cNvSpPr>
          <p:nvPr>
            <p:ph type="dt" sz="half" idx="10"/>
          </p:nvPr>
        </p:nvSpPr>
        <p:spPr/>
        <p:txBody>
          <a:bodyPr/>
          <a:lstStyle>
            <a:lvl1pPr>
              <a:defRPr/>
            </a:lvl1pPr>
          </a:lstStyle>
          <a:p>
            <a:pPr>
              <a:defRPr/>
            </a:pPr>
            <a:fld id="{9535B14A-A80B-46AB-8C23-A497ECB4A4E8}" type="datetime1">
              <a:rPr lang="en-GB"/>
              <a:pPr>
                <a:defRPr/>
              </a:pPr>
              <a:t>10/09/2024</a:t>
            </a:fld>
            <a:endParaRPr lang="en-GB"/>
          </a:p>
        </p:txBody>
      </p:sp>
      <p:sp>
        <p:nvSpPr>
          <p:cNvPr id="8" name="Footer Placeholder 5"/>
          <p:cNvSpPr>
            <a:spLocks noGrp="1"/>
          </p:cNvSpPr>
          <p:nvPr>
            <p:ph type="ftr" sz="quarter" idx="11"/>
          </p:nvPr>
        </p:nvSpPr>
        <p:spPr/>
        <p:txBody>
          <a:bodyPr/>
          <a:lstStyle>
            <a:lvl1pPr>
              <a:defRPr/>
            </a:lvl1pPr>
          </a:lstStyle>
          <a:p>
            <a:pPr>
              <a:defRPr/>
            </a:pPr>
            <a:endParaRPr lang="en-GB"/>
          </a:p>
        </p:txBody>
      </p:sp>
      <p:sp>
        <p:nvSpPr>
          <p:cNvPr id="9" name="Slide Number Placeholder 6"/>
          <p:cNvSpPr>
            <a:spLocks noGrp="1"/>
          </p:cNvSpPr>
          <p:nvPr>
            <p:ph type="sldNum" sz="quarter" idx="12"/>
          </p:nvPr>
        </p:nvSpPr>
        <p:spPr/>
        <p:txBody>
          <a:bodyPr/>
          <a:lstStyle>
            <a:lvl1pPr>
              <a:defRPr/>
            </a:lvl1pPr>
          </a:lstStyle>
          <a:p>
            <a:pPr>
              <a:defRPr/>
            </a:pPr>
            <a:fld id="{E7222E0D-1017-4B7E-B130-C6B1086104EA}" type="slidenum">
              <a:rPr lang="en-GB"/>
              <a:pPr>
                <a:defRPr/>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p:cNvSpPr>
            <a:spLocks noGrp="1"/>
          </p:cNvSpPr>
          <p:nvPr>
            <p:ph type="dt" sz="half" idx="10"/>
          </p:nvPr>
        </p:nvSpPr>
        <p:spPr/>
        <p:txBody>
          <a:bodyPr/>
          <a:lstStyle>
            <a:lvl1pPr>
              <a:defRPr/>
            </a:lvl1pPr>
          </a:lstStyle>
          <a:p>
            <a:pPr>
              <a:defRPr/>
            </a:pPr>
            <a:fld id="{C830784B-B74F-4AD3-9160-A75FAAD4E817}" type="datetime1">
              <a:rPr lang="en-GB"/>
              <a:pPr>
                <a:defRPr/>
              </a:pPr>
              <a:t>10/09/2024</a:t>
            </a:fld>
            <a:endParaRPr lang="en-GB"/>
          </a:p>
        </p:txBody>
      </p:sp>
      <p:sp>
        <p:nvSpPr>
          <p:cNvPr id="9" name="Footer Placeholder 5"/>
          <p:cNvSpPr>
            <a:spLocks noGrp="1"/>
          </p:cNvSpPr>
          <p:nvPr>
            <p:ph type="ftr" sz="quarter" idx="11"/>
          </p:nvPr>
        </p:nvSpPr>
        <p:spPr>
          <a:xfrm>
            <a:off x="914400" y="6172200"/>
            <a:ext cx="3886200" cy="457200"/>
          </a:xfrm>
        </p:spPr>
        <p:txBody>
          <a:bodyPr/>
          <a:lstStyle>
            <a:lvl1pPr>
              <a:defRPr/>
            </a:lvl1pPr>
          </a:lstStyle>
          <a:p>
            <a:pPr>
              <a:defRPr/>
            </a:pPr>
            <a:endParaRPr lang="en-GB"/>
          </a:p>
        </p:txBody>
      </p:sp>
      <p:sp>
        <p:nvSpPr>
          <p:cNvPr id="10" name="Slide Number Placeholder 6"/>
          <p:cNvSpPr>
            <a:spLocks noGrp="1"/>
          </p:cNvSpPr>
          <p:nvPr>
            <p:ph type="sldNum" sz="quarter" idx="12"/>
          </p:nvPr>
        </p:nvSpPr>
        <p:spPr>
          <a:xfrm>
            <a:off x="146050" y="6208713"/>
            <a:ext cx="457200" cy="457200"/>
          </a:xfrm>
        </p:spPr>
        <p:txBody>
          <a:bodyPr/>
          <a:lstStyle>
            <a:lvl1pPr>
              <a:defRPr/>
            </a:lvl1pPr>
          </a:lstStyle>
          <a:p>
            <a:pPr>
              <a:defRPr/>
            </a:pPr>
            <a:fld id="{4451C9D7-13F4-43DC-997B-2A53C2B7F1BC}" type="slidenum">
              <a:rPr lang="en-GB"/>
              <a:pPr>
                <a:defRPr/>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fld id="{D5C09DA6-41FC-47E4-BBE5-6E39E3EBB163}" type="datetime1">
              <a:rPr lang="en-GB"/>
              <a:pPr>
                <a:defRPr/>
              </a:pPr>
              <a:t>10/09/2024</a:t>
            </a:fld>
            <a:endParaRPr lang="en-GB"/>
          </a:p>
        </p:txBody>
      </p:sp>
      <p:sp>
        <p:nvSpPr>
          <p:cNvPr id="5" name="Footer Placeholder 2"/>
          <p:cNvSpPr>
            <a:spLocks noGrp="1"/>
          </p:cNvSpPr>
          <p:nvPr>
            <p:ph type="ftr" sz="quarter" idx="11"/>
          </p:nvPr>
        </p:nvSpPr>
        <p:spPr/>
        <p:txBody>
          <a:bodyPr/>
          <a:lstStyle>
            <a:lvl1pPr>
              <a:defRPr/>
            </a:lvl1pPr>
          </a:lstStyle>
          <a:p>
            <a:pPr>
              <a:defRPr/>
            </a:pPr>
            <a:endParaRPr lang="en-GB"/>
          </a:p>
        </p:txBody>
      </p:sp>
      <p:sp>
        <p:nvSpPr>
          <p:cNvPr id="6" name="Slide Number Placeholder 22"/>
          <p:cNvSpPr>
            <a:spLocks noGrp="1"/>
          </p:cNvSpPr>
          <p:nvPr>
            <p:ph type="sldNum" sz="quarter" idx="12"/>
          </p:nvPr>
        </p:nvSpPr>
        <p:spPr/>
        <p:txBody>
          <a:bodyPr/>
          <a:lstStyle>
            <a:lvl1pPr>
              <a:defRPr/>
            </a:lvl1pPr>
          </a:lstStyle>
          <a:p>
            <a:pPr>
              <a:defRPr/>
            </a:pPr>
            <a:fld id="{523CC0E9-0D98-4EBB-B81D-CB90D6C9C711}" type="slidenum">
              <a:rPr lang="en-GB"/>
              <a:pPr>
                <a:defRPr/>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fld id="{E39A990F-9408-4EFB-B33C-39F66F9CBFF9}" type="datetime1">
              <a:rPr lang="en-GB"/>
              <a:pPr>
                <a:defRPr/>
              </a:pPr>
              <a:t>10/09/2024</a:t>
            </a:fld>
            <a:endParaRPr lang="en-GB"/>
          </a:p>
        </p:txBody>
      </p:sp>
      <p:sp>
        <p:nvSpPr>
          <p:cNvPr id="5" name="Footer Placeholder 2"/>
          <p:cNvSpPr>
            <a:spLocks noGrp="1"/>
          </p:cNvSpPr>
          <p:nvPr>
            <p:ph type="ftr" sz="quarter" idx="11"/>
          </p:nvPr>
        </p:nvSpPr>
        <p:spPr/>
        <p:txBody>
          <a:bodyPr/>
          <a:lstStyle>
            <a:lvl1pPr>
              <a:defRPr/>
            </a:lvl1pPr>
          </a:lstStyle>
          <a:p>
            <a:pPr>
              <a:defRPr/>
            </a:pPr>
            <a:endParaRPr lang="en-GB"/>
          </a:p>
        </p:txBody>
      </p:sp>
      <p:sp>
        <p:nvSpPr>
          <p:cNvPr id="6" name="Slide Number Placeholder 22"/>
          <p:cNvSpPr>
            <a:spLocks noGrp="1"/>
          </p:cNvSpPr>
          <p:nvPr>
            <p:ph type="sldNum" sz="quarter" idx="12"/>
          </p:nvPr>
        </p:nvSpPr>
        <p:spPr/>
        <p:txBody>
          <a:bodyPr/>
          <a:lstStyle>
            <a:lvl1pPr>
              <a:defRPr/>
            </a:lvl1pPr>
          </a:lstStyle>
          <a:p>
            <a:pPr>
              <a:defRPr/>
            </a:pPr>
            <a:fld id="{DBE1A303-B23E-48E7-83E5-048F77B16C3D}" type="slidenum">
              <a:rPr lang="en-GB"/>
              <a:pPr>
                <a:defRPr/>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8" name="Rounded Rectangle 7"/>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28" name="Title Placeholder 21"/>
          <p:cNvSpPr>
            <a:spLocks noGrp="1"/>
          </p:cNvSpPr>
          <p:nvPr>
            <p:ph type="title"/>
          </p:nvPr>
        </p:nvSpPr>
        <p:spPr bwMode="auto">
          <a:xfrm>
            <a:off x="914400" y="274638"/>
            <a:ext cx="7772400" cy="1143000"/>
          </a:xfrm>
          <a:prstGeom prst="rect">
            <a:avLst/>
          </a:prstGeom>
          <a:noFill/>
          <a:ln w="9525">
            <a:noFill/>
            <a:miter lim="800000"/>
            <a:headEnd/>
            <a:tailEnd/>
          </a:ln>
        </p:spPr>
        <p:txBody>
          <a:bodyPr vert="horz" wrap="square" lIns="91440" tIns="45720" rIns="91440" bIns="91440" numCol="1" anchor="b" anchorCtr="0" compatLnSpc="1">
            <a:prstTxWarp prst="textNoShape">
              <a:avLst/>
            </a:prstTxWarp>
          </a:bodyPr>
          <a:lstStyle/>
          <a:p>
            <a:pPr lvl="0"/>
            <a:r>
              <a:rPr lang="en-US"/>
              <a:t>Click to edit Master title style</a:t>
            </a:r>
          </a:p>
        </p:txBody>
      </p:sp>
      <p:sp>
        <p:nvSpPr>
          <p:cNvPr id="1029" name="Text Placeholder 12"/>
          <p:cNvSpPr>
            <a:spLocks noGrp="1"/>
          </p:cNvSpPr>
          <p:nvPr>
            <p:ph type="body" idx="1"/>
          </p:nvPr>
        </p:nvSpPr>
        <p:spPr bwMode="auto">
          <a:xfrm>
            <a:off x="914400" y="1447800"/>
            <a:ext cx="7772400" cy="457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fontAlgn="auto" latinLnBrk="0" hangingPunct="1">
              <a:spcBef>
                <a:spcPts val="0"/>
              </a:spcBef>
              <a:spcAft>
                <a:spcPts val="0"/>
              </a:spcAft>
              <a:defRPr kumimoji="0" sz="1400">
                <a:solidFill>
                  <a:schemeClr val="tx2"/>
                </a:solidFill>
                <a:latin typeface="+mn-lt"/>
                <a:cs typeface="+mn-cs"/>
              </a:defRPr>
            </a:lvl1pPr>
          </a:lstStyle>
          <a:p>
            <a:pPr>
              <a:defRPr/>
            </a:pPr>
            <a:fld id="{90EB732A-415D-45ED-A591-6FC785C48042}" type="datetime1">
              <a:rPr lang="en-GB"/>
              <a:pPr>
                <a:defRPr/>
              </a:pPr>
              <a:t>10/09/2024</a:t>
            </a:fld>
            <a:endParaRPr lang="en-GB"/>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fontAlgn="auto" latinLnBrk="0" hangingPunct="1">
              <a:spcBef>
                <a:spcPts val="0"/>
              </a:spcBef>
              <a:spcAft>
                <a:spcPts val="0"/>
              </a:spcAft>
              <a:defRPr kumimoji="0" sz="1400">
                <a:solidFill>
                  <a:schemeClr val="tx2"/>
                </a:solidFill>
                <a:latin typeface="+mn-lt"/>
                <a:cs typeface="+mn-cs"/>
              </a:defRPr>
            </a:lvl1pPr>
          </a:lstStyle>
          <a:p>
            <a:pPr>
              <a:defRPr/>
            </a:pPr>
            <a:endParaRPr lang="en-GB"/>
          </a:p>
        </p:txBody>
      </p:sp>
      <p:sp>
        <p:nvSpPr>
          <p:cNvPr id="23" name="Slide Number Placeholder 22"/>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lgn="ctr" eaLnBrk="1" fontAlgn="auto" latinLnBrk="0" hangingPunct="1">
              <a:spcBef>
                <a:spcPts val="0"/>
              </a:spcBef>
              <a:spcAft>
                <a:spcPts val="0"/>
              </a:spcAft>
              <a:defRPr kumimoji="0" sz="1400">
                <a:solidFill>
                  <a:srgbClr val="FFFFFF"/>
                </a:solidFill>
                <a:latin typeface="+mj-lt"/>
                <a:ea typeface="+mj-ea"/>
                <a:cs typeface="+mj-cs"/>
              </a:defRPr>
            </a:lvl1pPr>
          </a:lstStyle>
          <a:p>
            <a:pPr>
              <a:defRPr/>
            </a:pPr>
            <a:fld id="{E1BFB9B5-EAA9-4EF2-9955-6EA36D856A30}" type="slidenum">
              <a:rPr lang="en-GB"/>
              <a:pPr>
                <a:defRPr/>
              </a:pPr>
              <a:t>‹#›</a:t>
            </a:fld>
            <a:endParaRPr lang="en-GB"/>
          </a:p>
        </p:txBody>
      </p:sp>
    </p:spTree>
  </p:cSld>
  <p:clrMap bg1="lt1" tx1="dk1" bg2="lt2" tx2="dk2" accent1="accent1" accent2="accent2" accent3="accent3" accent4="accent4" accent5="accent5" accent6="accent6" hlink="hlink" folHlink="folHlink"/>
  <p:sldLayoutIdLst>
    <p:sldLayoutId id="2147483785" r:id="rId1"/>
    <p:sldLayoutId id="2147483778" r:id="rId2"/>
    <p:sldLayoutId id="2147483786" r:id="rId3"/>
    <p:sldLayoutId id="2147483779" r:id="rId4"/>
    <p:sldLayoutId id="2147483780" r:id="rId5"/>
    <p:sldLayoutId id="2147483781" r:id="rId6"/>
    <p:sldLayoutId id="2147483782" r:id="rId7"/>
    <p:sldLayoutId id="2147483787" r:id="rId8"/>
    <p:sldLayoutId id="2147483788" r:id="rId9"/>
    <p:sldLayoutId id="2147483783" r:id="rId10"/>
    <p:sldLayoutId id="2147483784" r:id="rId11"/>
  </p:sldLayoutIdLst>
  <p:hf hdr="0" ft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pitchFamily="34" charset="0"/>
        </a:defRPr>
      </a:lvl2pPr>
      <a:lvl3pPr algn="l" rtl="0" eaLnBrk="0" fontAlgn="base" hangingPunct="0">
        <a:spcBef>
          <a:spcPct val="0"/>
        </a:spcBef>
        <a:spcAft>
          <a:spcPct val="0"/>
        </a:spcAft>
        <a:defRPr sz="4000">
          <a:solidFill>
            <a:schemeClr val="tx2"/>
          </a:solidFill>
          <a:latin typeface="Franklin Gothic Book" pitchFamily="34" charset="0"/>
        </a:defRPr>
      </a:lvl3pPr>
      <a:lvl4pPr algn="l" rtl="0" eaLnBrk="0" fontAlgn="base" hangingPunct="0">
        <a:spcBef>
          <a:spcPct val="0"/>
        </a:spcBef>
        <a:spcAft>
          <a:spcPct val="0"/>
        </a:spcAft>
        <a:defRPr sz="4000">
          <a:solidFill>
            <a:schemeClr val="tx2"/>
          </a:solidFill>
          <a:latin typeface="Franklin Gothic Book" pitchFamily="34" charset="0"/>
        </a:defRPr>
      </a:lvl4pPr>
      <a:lvl5pPr algn="l" rtl="0" eaLnBrk="0" fontAlgn="base" hangingPunct="0">
        <a:spcBef>
          <a:spcPct val="0"/>
        </a:spcBef>
        <a:spcAft>
          <a:spcPct val="0"/>
        </a:spcAft>
        <a:defRPr sz="4000">
          <a:solidFill>
            <a:schemeClr val="tx2"/>
          </a:solidFill>
          <a:latin typeface="Franklin Gothic Book" pitchFamily="34" charset="0"/>
        </a:defRPr>
      </a:lvl5pPr>
      <a:lvl6pPr marL="457200" algn="l" rtl="0" fontAlgn="base">
        <a:spcBef>
          <a:spcPct val="0"/>
        </a:spcBef>
        <a:spcAft>
          <a:spcPct val="0"/>
        </a:spcAft>
        <a:defRPr sz="4000">
          <a:solidFill>
            <a:schemeClr val="tx2"/>
          </a:solidFill>
          <a:latin typeface="Franklin Gothic Book" pitchFamily="34" charset="0"/>
        </a:defRPr>
      </a:lvl6pPr>
      <a:lvl7pPr marL="914400" algn="l" rtl="0" fontAlgn="base">
        <a:spcBef>
          <a:spcPct val="0"/>
        </a:spcBef>
        <a:spcAft>
          <a:spcPct val="0"/>
        </a:spcAft>
        <a:defRPr sz="4000">
          <a:solidFill>
            <a:schemeClr val="tx2"/>
          </a:solidFill>
          <a:latin typeface="Franklin Gothic Book" pitchFamily="34" charset="0"/>
        </a:defRPr>
      </a:lvl7pPr>
      <a:lvl8pPr marL="1371600" algn="l" rtl="0" fontAlgn="base">
        <a:spcBef>
          <a:spcPct val="0"/>
        </a:spcBef>
        <a:spcAft>
          <a:spcPct val="0"/>
        </a:spcAft>
        <a:defRPr sz="4000">
          <a:solidFill>
            <a:schemeClr val="tx2"/>
          </a:solidFill>
          <a:latin typeface="Franklin Gothic Book" pitchFamily="34" charset="0"/>
        </a:defRPr>
      </a:lvl8pPr>
      <a:lvl9pPr marL="1828800" algn="l" rtl="0" fontAlgn="base">
        <a:spcBef>
          <a:spcPct val="0"/>
        </a:spcBef>
        <a:spcAft>
          <a:spcPct val="0"/>
        </a:spcAft>
        <a:defRPr sz="4000">
          <a:solidFill>
            <a:schemeClr val="tx2"/>
          </a:solidFill>
          <a:latin typeface="Franklin Gothic Book" pitchFamily="34" charset="0"/>
        </a:defRPr>
      </a:lvl9pPr>
    </p:titleStyle>
    <p:bodyStyle>
      <a:lvl1pPr marL="273050" indent="-273050" algn="l" rtl="0" eaLnBrk="0" fontAlgn="base" hangingPunct="0">
        <a:spcBef>
          <a:spcPts val="575"/>
        </a:spcBef>
        <a:spcAft>
          <a:spcPct val="0"/>
        </a:spcAft>
        <a:buClr>
          <a:schemeClr val="accent1"/>
        </a:buClr>
        <a:buSzPct val="85000"/>
        <a:buFont typeface="Wingdings 2"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ubtitle 2"/>
          <p:cNvSpPr>
            <a:spLocks noGrp="1"/>
          </p:cNvSpPr>
          <p:nvPr>
            <p:ph type="subTitle" idx="1"/>
          </p:nvPr>
        </p:nvSpPr>
        <p:spPr/>
        <p:txBody>
          <a:bodyPr/>
          <a:lstStyle/>
          <a:p>
            <a:pPr eaLnBrk="1" hangingPunct="1"/>
            <a:endParaRPr lang="en-GB" dirty="0"/>
          </a:p>
          <a:p>
            <a:pPr eaLnBrk="1" hangingPunct="1"/>
            <a:r>
              <a:rPr lang="en-GB" dirty="0">
                <a:solidFill>
                  <a:schemeClr val="tx1"/>
                </a:solidFill>
              </a:rPr>
              <a:t>Rachel Avery</a:t>
            </a:r>
          </a:p>
        </p:txBody>
      </p:sp>
      <p:sp>
        <p:nvSpPr>
          <p:cNvPr id="6147" name="Title 1"/>
          <p:cNvSpPr>
            <a:spLocks noGrp="1"/>
          </p:cNvSpPr>
          <p:nvPr>
            <p:ph type="ctrTitle"/>
          </p:nvPr>
        </p:nvSpPr>
        <p:spPr>
          <a:xfrm>
            <a:off x="457200" y="1506538"/>
            <a:ext cx="8229600" cy="1470025"/>
          </a:xfrm>
        </p:spPr>
        <p:txBody>
          <a:bodyPr/>
          <a:lstStyle/>
          <a:p>
            <a:pPr eaLnBrk="1" hangingPunct="1"/>
            <a:r>
              <a:rPr lang="en-GB" dirty="0"/>
              <a:t>Commercial Law</a:t>
            </a:r>
            <a:br>
              <a:rPr lang="en-GB" dirty="0"/>
            </a:br>
            <a:r>
              <a:rPr lang="en-GB" dirty="0"/>
              <a:t>(Law 2241)</a:t>
            </a:r>
          </a:p>
        </p:txBody>
      </p:sp>
      <p:sp>
        <p:nvSpPr>
          <p:cNvPr id="4" name="Slide Number Placeholder 3"/>
          <p:cNvSpPr>
            <a:spLocks noGrp="1"/>
          </p:cNvSpPr>
          <p:nvPr>
            <p:ph type="sldNum" sz="quarter" idx="12"/>
          </p:nvPr>
        </p:nvSpPr>
        <p:spPr/>
        <p:txBody>
          <a:bodyPr/>
          <a:lstStyle/>
          <a:p>
            <a:pPr>
              <a:defRPr/>
            </a:pPr>
            <a:fld id="{A2B628F9-28E6-4C39-97A1-7FB10A4D7883}" type="slidenum">
              <a:rPr lang="en-GB"/>
              <a:pPr>
                <a:defRPr/>
              </a:pPr>
              <a:t>1</a:t>
            </a:fld>
            <a:endParaRPr lang="en-GB"/>
          </a:p>
        </p:txBody>
      </p:sp>
      <p:pic>
        <p:nvPicPr>
          <p:cNvPr id="30722" name="Picture 2" descr="Image result for risk picture"/>
          <p:cNvPicPr>
            <a:picLocks noChangeAspect="1" noChangeArrowheads="1"/>
          </p:cNvPicPr>
          <p:nvPr/>
        </p:nvPicPr>
        <p:blipFill>
          <a:blip r:embed="rId2" cstate="print"/>
          <a:srcRect/>
          <a:stretch>
            <a:fillRect/>
          </a:stretch>
        </p:blipFill>
        <p:spPr bwMode="auto">
          <a:xfrm>
            <a:off x="0" y="3939515"/>
            <a:ext cx="3203848" cy="2918485"/>
          </a:xfrm>
          <a:prstGeom prst="rect">
            <a:avLst/>
          </a:prstGeom>
          <a:noFill/>
        </p:spPr>
      </p:pic>
      <p:pic>
        <p:nvPicPr>
          <p:cNvPr id="30724" name="Picture 4" descr="Related image"/>
          <p:cNvPicPr>
            <a:picLocks noChangeAspect="1" noChangeArrowheads="1"/>
          </p:cNvPicPr>
          <p:nvPr/>
        </p:nvPicPr>
        <p:blipFill>
          <a:blip r:embed="rId3" cstate="print"/>
          <a:srcRect/>
          <a:stretch>
            <a:fillRect/>
          </a:stretch>
        </p:blipFill>
        <p:spPr bwMode="auto">
          <a:xfrm>
            <a:off x="5868144" y="3933056"/>
            <a:ext cx="3275856" cy="2833168"/>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eaLnBrk="1" hangingPunct="1"/>
            <a:r>
              <a:rPr lang="en-GB" b="1" dirty="0">
                <a:solidFill>
                  <a:schemeClr val="tx1"/>
                </a:solidFill>
              </a:rPr>
              <a:t>Today….</a:t>
            </a:r>
          </a:p>
        </p:txBody>
      </p:sp>
      <p:sp>
        <p:nvSpPr>
          <p:cNvPr id="7171" name="Content Placeholder 2"/>
          <p:cNvSpPr>
            <a:spLocks noGrp="1"/>
          </p:cNvSpPr>
          <p:nvPr>
            <p:ph sz="quarter" idx="1"/>
          </p:nvPr>
        </p:nvSpPr>
        <p:spPr/>
        <p:txBody>
          <a:bodyPr/>
          <a:lstStyle/>
          <a:p>
            <a:pPr eaLnBrk="1" hangingPunct="1"/>
            <a:r>
              <a:rPr lang="en-GB" sz="3200" dirty="0">
                <a:highlight>
                  <a:srgbClr val="FFFF00"/>
                </a:highlight>
              </a:rPr>
              <a:t>Post-contractual loss of goods and other forms of subsequent impossibility</a:t>
            </a:r>
          </a:p>
          <a:p>
            <a:pPr marL="0" indent="0" eaLnBrk="1" hangingPunct="1">
              <a:buNone/>
            </a:pPr>
            <a:endParaRPr lang="en-GB" dirty="0"/>
          </a:p>
          <a:p>
            <a:pPr eaLnBrk="1" hangingPunct="1"/>
            <a:r>
              <a:rPr lang="en-GB" u="sng" dirty="0"/>
              <a:t>So far:</a:t>
            </a:r>
          </a:p>
          <a:p>
            <a:pPr lvl="1" eaLnBrk="1" hangingPunct="1"/>
            <a:r>
              <a:rPr lang="en-GB" dirty="0"/>
              <a:t>Delivery and Payment</a:t>
            </a:r>
          </a:p>
          <a:p>
            <a:pPr lvl="1" eaLnBrk="1" hangingPunct="1"/>
            <a:r>
              <a:rPr lang="en-GB" dirty="0"/>
              <a:t>Property and Risk</a:t>
            </a:r>
          </a:p>
          <a:p>
            <a:pPr lvl="1" eaLnBrk="1" hangingPunct="1"/>
            <a:r>
              <a:rPr lang="en-GB" dirty="0"/>
              <a:t>Non-existent goods at the date of the contract</a:t>
            </a:r>
          </a:p>
        </p:txBody>
      </p:sp>
      <p:sp>
        <p:nvSpPr>
          <p:cNvPr id="4" name="Slide Number Placeholder 3"/>
          <p:cNvSpPr>
            <a:spLocks noGrp="1"/>
          </p:cNvSpPr>
          <p:nvPr>
            <p:ph type="sldNum" sz="quarter" idx="12"/>
          </p:nvPr>
        </p:nvSpPr>
        <p:spPr/>
        <p:txBody>
          <a:bodyPr/>
          <a:lstStyle/>
          <a:p>
            <a:pPr>
              <a:defRPr/>
            </a:pPr>
            <a:fld id="{B686CE5B-CF2E-4A46-8822-6E264699D3EB}" type="slidenum">
              <a:rPr lang="en-GB"/>
              <a:pPr>
                <a:defRPr/>
              </a:pPr>
              <a:t>2</a:t>
            </a:fld>
            <a:endParaRPr lang="en-GB"/>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468313" y="260350"/>
            <a:ext cx="7772400" cy="1143000"/>
          </a:xfrm>
        </p:spPr>
        <p:txBody>
          <a:bodyPr/>
          <a:lstStyle/>
          <a:p>
            <a:pPr algn="ctr" eaLnBrk="1" hangingPunct="1"/>
            <a:r>
              <a:rPr lang="en-GB" b="1" u="sng" dirty="0">
                <a:solidFill>
                  <a:srgbClr val="FF0000"/>
                </a:solidFill>
              </a:rPr>
              <a:t>Risk and Frustration</a:t>
            </a:r>
          </a:p>
        </p:txBody>
      </p:sp>
      <p:sp>
        <p:nvSpPr>
          <p:cNvPr id="8195" name="Content Placeholder 2"/>
          <p:cNvSpPr>
            <a:spLocks noGrp="1"/>
          </p:cNvSpPr>
          <p:nvPr>
            <p:ph sz="quarter" idx="1"/>
          </p:nvPr>
        </p:nvSpPr>
        <p:spPr>
          <a:xfrm>
            <a:off x="457200" y="1600200"/>
            <a:ext cx="8229600" cy="4924425"/>
          </a:xfrm>
        </p:spPr>
        <p:txBody>
          <a:bodyPr/>
          <a:lstStyle/>
          <a:p>
            <a:pPr marL="639763" indent="-457200" eaLnBrk="1" hangingPunct="1"/>
            <a:r>
              <a:rPr lang="en-GB" dirty="0">
                <a:solidFill>
                  <a:srgbClr val="0070C0"/>
                </a:solidFill>
              </a:rPr>
              <a:t>Accidental loss or damage </a:t>
            </a:r>
            <a:r>
              <a:rPr lang="en-GB" dirty="0"/>
              <a:t>to goods are borne by the party when the goods are his risk.</a:t>
            </a:r>
          </a:p>
          <a:p>
            <a:pPr marL="639763" indent="-457200" eaLnBrk="1" hangingPunct="1"/>
            <a:r>
              <a:rPr lang="en-GB" dirty="0"/>
              <a:t>Frustration may occur when goods are:</a:t>
            </a:r>
          </a:p>
          <a:p>
            <a:pPr marL="914400" lvl="1" indent="-457200" eaLnBrk="1" hangingPunct="1"/>
            <a:r>
              <a:rPr lang="en-GB" dirty="0"/>
              <a:t>Destroyed</a:t>
            </a:r>
          </a:p>
          <a:p>
            <a:pPr marL="914400" lvl="1" indent="-457200" eaLnBrk="1" hangingPunct="1"/>
            <a:r>
              <a:rPr lang="en-GB" dirty="0"/>
              <a:t>Severely damaged.</a:t>
            </a:r>
          </a:p>
          <a:p>
            <a:pPr marL="639763" indent="-457200" eaLnBrk="1" hangingPunct="1"/>
            <a:r>
              <a:rPr lang="en-GB" dirty="0"/>
              <a:t>There is a </a:t>
            </a:r>
            <a:r>
              <a:rPr lang="en-GB" b="1" dirty="0">
                <a:solidFill>
                  <a:srgbClr val="0070C0"/>
                </a:solidFill>
              </a:rPr>
              <a:t>relationship between the doctrines of risk and frustration.</a:t>
            </a:r>
          </a:p>
          <a:p>
            <a:pPr marL="639763" indent="-457200" eaLnBrk="1" hangingPunct="1"/>
            <a:r>
              <a:rPr lang="en-GB" dirty="0">
                <a:solidFill>
                  <a:srgbClr val="FF0000"/>
                </a:solidFill>
              </a:rPr>
              <a:t>Legal problems arising out of </a:t>
            </a:r>
            <a:r>
              <a:rPr lang="en-GB" i="1" dirty="0">
                <a:solidFill>
                  <a:srgbClr val="FF0000"/>
                </a:solidFill>
              </a:rPr>
              <a:t>loss </a:t>
            </a:r>
            <a:r>
              <a:rPr lang="en-GB" dirty="0">
                <a:solidFill>
                  <a:srgbClr val="FF0000"/>
                </a:solidFill>
              </a:rPr>
              <a:t>of goods after the contract.</a:t>
            </a:r>
          </a:p>
          <a:p>
            <a:pPr marL="914400" lvl="1" indent="-457200" eaLnBrk="1" hangingPunct="1"/>
            <a:r>
              <a:rPr lang="en-GB" i="1" dirty="0">
                <a:solidFill>
                  <a:srgbClr val="FF0000"/>
                </a:solidFill>
              </a:rPr>
              <a:t>(1) Who bears the risk?</a:t>
            </a:r>
          </a:p>
          <a:p>
            <a:pPr marL="914400" lvl="1" indent="-457200" eaLnBrk="1" hangingPunct="1"/>
            <a:r>
              <a:rPr lang="en-GB" i="1" dirty="0">
                <a:solidFill>
                  <a:srgbClr val="FF0000"/>
                </a:solidFill>
              </a:rPr>
              <a:t>(2) Does it depend on the passage of property?</a:t>
            </a:r>
          </a:p>
        </p:txBody>
      </p:sp>
      <p:sp>
        <p:nvSpPr>
          <p:cNvPr id="4" name="Slide Number Placeholder 3"/>
          <p:cNvSpPr>
            <a:spLocks noGrp="1"/>
          </p:cNvSpPr>
          <p:nvPr>
            <p:ph type="sldNum" sz="quarter" idx="12"/>
          </p:nvPr>
        </p:nvSpPr>
        <p:spPr/>
        <p:txBody>
          <a:bodyPr/>
          <a:lstStyle/>
          <a:p>
            <a:pPr>
              <a:defRPr/>
            </a:pPr>
            <a:fld id="{DC8645CF-6CE3-4BA5-ABD3-592A1880962C}" type="slidenum">
              <a:rPr lang="en-GB"/>
              <a:pPr>
                <a:defRPr/>
              </a:pPr>
              <a:t>3</a:t>
            </a:fld>
            <a:endParaRPr lang="en-GB"/>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eaLnBrk="1" hangingPunct="1"/>
            <a:r>
              <a:rPr lang="en-GB" dirty="0">
                <a:solidFill>
                  <a:schemeClr val="tx1"/>
                </a:solidFill>
              </a:rPr>
              <a:t>Risk and Frustration</a:t>
            </a:r>
          </a:p>
        </p:txBody>
      </p:sp>
      <p:sp>
        <p:nvSpPr>
          <p:cNvPr id="3" name="Content Placeholder 2"/>
          <p:cNvSpPr>
            <a:spLocks noGrp="1"/>
          </p:cNvSpPr>
          <p:nvPr>
            <p:ph sz="quarter" idx="1"/>
          </p:nvPr>
        </p:nvSpPr>
        <p:spPr>
          <a:xfrm>
            <a:off x="611188" y="1412875"/>
            <a:ext cx="8137525" cy="5040313"/>
          </a:xfrm>
        </p:spPr>
        <p:txBody>
          <a:bodyPr>
            <a:normAutofit fontScale="92500" lnSpcReduction="20000"/>
          </a:bodyPr>
          <a:lstStyle/>
          <a:p>
            <a:pPr marL="274320" indent="-274320" eaLnBrk="1" fontAlgn="auto" hangingPunct="1">
              <a:spcBef>
                <a:spcPts val="580"/>
              </a:spcBef>
              <a:spcAft>
                <a:spcPts val="0"/>
              </a:spcAft>
              <a:buFont typeface="Wingdings 2"/>
              <a:buChar char=""/>
              <a:defRPr/>
            </a:pPr>
            <a:r>
              <a:rPr lang="en-GB" u="sng" dirty="0"/>
              <a:t>Frustration of an </a:t>
            </a:r>
            <a:r>
              <a:rPr lang="en-GB" u="sng" dirty="0" err="1"/>
              <a:t>executory</a:t>
            </a:r>
            <a:r>
              <a:rPr lang="en-GB" u="sng" dirty="0"/>
              <a:t> contract:</a:t>
            </a:r>
          </a:p>
          <a:p>
            <a:pPr marL="548640" lvl="1" eaLnBrk="1" fontAlgn="auto" hangingPunct="1">
              <a:spcBef>
                <a:spcPts val="370"/>
              </a:spcBef>
              <a:spcAft>
                <a:spcPts val="0"/>
              </a:spcAft>
              <a:buFont typeface="Wingdings 2"/>
              <a:buChar char=""/>
              <a:defRPr/>
            </a:pPr>
            <a:r>
              <a:rPr lang="en-GB" dirty="0"/>
              <a:t>What is an </a:t>
            </a:r>
            <a:r>
              <a:rPr lang="en-GB" dirty="0" err="1"/>
              <a:t>executory</a:t>
            </a:r>
            <a:r>
              <a:rPr lang="en-GB" dirty="0"/>
              <a:t> contract?</a:t>
            </a:r>
          </a:p>
          <a:p>
            <a:pPr marL="548640" lvl="1" eaLnBrk="1" fontAlgn="auto" hangingPunct="1">
              <a:spcBef>
                <a:spcPts val="370"/>
              </a:spcBef>
              <a:spcAft>
                <a:spcPts val="0"/>
              </a:spcAft>
              <a:buFont typeface="Wingdings 2"/>
              <a:buChar char=""/>
              <a:defRPr/>
            </a:pPr>
            <a:r>
              <a:rPr lang="en-GB" dirty="0"/>
              <a:t>The property has not passed; it is an </a:t>
            </a:r>
            <a:r>
              <a:rPr lang="en-GB" dirty="0">
                <a:solidFill>
                  <a:srgbClr val="FF0000"/>
                </a:solidFill>
              </a:rPr>
              <a:t>agreement to sell</a:t>
            </a:r>
            <a:r>
              <a:rPr lang="en-GB" dirty="0"/>
              <a:t>. Parties are not under any liability (payment and delivery) to each other.</a:t>
            </a:r>
          </a:p>
          <a:p>
            <a:pPr marL="548640" lvl="1" eaLnBrk="1" fontAlgn="auto" hangingPunct="1">
              <a:spcBef>
                <a:spcPts val="370"/>
              </a:spcBef>
              <a:spcAft>
                <a:spcPts val="0"/>
              </a:spcAft>
              <a:buFont typeface="Wingdings 2" pitchFamily="18" charset="2"/>
              <a:buNone/>
              <a:defRPr/>
            </a:pPr>
            <a:endParaRPr lang="en-GB" dirty="0"/>
          </a:p>
          <a:p>
            <a:pPr marL="274320" indent="-274320" eaLnBrk="1" fontAlgn="auto" hangingPunct="1">
              <a:spcBef>
                <a:spcPts val="580"/>
              </a:spcBef>
              <a:spcAft>
                <a:spcPts val="0"/>
              </a:spcAft>
              <a:buFont typeface="Wingdings 2"/>
              <a:buChar char=""/>
              <a:defRPr/>
            </a:pPr>
            <a:r>
              <a:rPr lang="en-GB" u="sng" dirty="0"/>
              <a:t>Possibilities:</a:t>
            </a:r>
          </a:p>
          <a:p>
            <a:pPr marL="548640" lvl="1" eaLnBrk="1" fontAlgn="auto" hangingPunct="1">
              <a:spcBef>
                <a:spcPts val="370"/>
              </a:spcBef>
              <a:spcAft>
                <a:spcPts val="0"/>
              </a:spcAft>
              <a:buFont typeface="Wingdings 2"/>
              <a:buChar char=""/>
              <a:defRPr/>
            </a:pPr>
            <a:r>
              <a:rPr lang="en-GB" dirty="0"/>
              <a:t>(1)  Goods perish while they are at the S’s risk, B is not liable for the price.</a:t>
            </a:r>
          </a:p>
          <a:p>
            <a:pPr marL="822960" lvl="2" eaLnBrk="1" fontAlgn="auto" hangingPunct="1">
              <a:spcBef>
                <a:spcPts val="370"/>
              </a:spcBef>
              <a:spcAft>
                <a:spcPts val="0"/>
              </a:spcAft>
              <a:buClr>
                <a:schemeClr val="accent1">
                  <a:tint val="60000"/>
                </a:schemeClr>
              </a:buClr>
              <a:buFont typeface="Wingdings 2"/>
              <a:buChar char=""/>
              <a:defRPr/>
            </a:pPr>
            <a:r>
              <a:rPr lang="en-GB" dirty="0"/>
              <a:t>But the S may still be liable for non-delivery if the B can prove his loss.</a:t>
            </a:r>
          </a:p>
          <a:p>
            <a:pPr marL="822960" lvl="2" eaLnBrk="1" fontAlgn="auto" hangingPunct="1">
              <a:spcBef>
                <a:spcPts val="370"/>
              </a:spcBef>
              <a:spcAft>
                <a:spcPts val="0"/>
              </a:spcAft>
              <a:buClr>
                <a:schemeClr val="accent1">
                  <a:tint val="60000"/>
                </a:schemeClr>
              </a:buClr>
              <a:buFont typeface="Wingdings 2"/>
              <a:buChar char=""/>
              <a:defRPr/>
            </a:pPr>
            <a:r>
              <a:rPr lang="en-GB" dirty="0"/>
              <a:t>S may be exempted but only due to the doctrine of frustration</a:t>
            </a:r>
          </a:p>
          <a:p>
            <a:pPr marL="822960" lvl="2" eaLnBrk="1" fontAlgn="auto" hangingPunct="1">
              <a:spcBef>
                <a:spcPts val="370"/>
              </a:spcBef>
              <a:spcAft>
                <a:spcPts val="0"/>
              </a:spcAft>
              <a:buClr>
                <a:schemeClr val="accent1">
                  <a:tint val="60000"/>
                </a:schemeClr>
              </a:buClr>
              <a:buFont typeface="Wingdings 2" pitchFamily="18" charset="2"/>
              <a:buNone/>
              <a:defRPr/>
            </a:pPr>
            <a:endParaRPr lang="en-GB" dirty="0"/>
          </a:p>
          <a:p>
            <a:pPr marL="548640" lvl="1" eaLnBrk="1" fontAlgn="auto" hangingPunct="1">
              <a:spcBef>
                <a:spcPts val="370"/>
              </a:spcBef>
              <a:spcAft>
                <a:spcPts val="0"/>
              </a:spcAft>
              <a:buFont typeface="Wingdings 2"/>
              <a:buChar char=""/>
              <a:defRPr/>
            </a:pPr>
            <a:r>
              <a:rPr lang="en-GB" dirty="0"/>
              <a:t>(2)  Goods perish while they are at the B’s risk, B is liable for the price.</a:t>
            </a:r>
          </a:p>
          <a:p>
            <a:pPr marL="822960" lvl="2" eaLnBrk="1" fontAlgn="auto" hangingPunct="1">
              <a:spcBef>
                <a:spcPts val="370"/>
              </a:spcBef>
              <a:spcAft>
                <a:spcPts val="0"/>
              </a:spcAft>
              <a:buClr>
                <a:schemeClr val="accent1">
                  <a:tint val="60000"/>
                </a:schemeClr>
              </a:buClr>
              <a:buFont typeface="Wingdings 2"/>
              <a:buChar char=""/>
              <a:defRPr/>
            </a:pPr>
            <a:r>
              <a:rPr lang="en-GB" dirty="0"/>
              <a:t>But B may also be liable for damages if the S can prove non-acceptance of goods caused him loss (such as storage charges or loss of profits). </a:t>
            </a:r>
          </a:p>
          <a:p>
            <a:pPr marL="822960" lvl="2" eaLnBrk="1" fontAlgn="auto" hangingPunct="1">
              <a:spcBef>
                <a:spcPts val="370"/>
              </a:spcBef>
              <a:spcAft>
                <a:spcPts val="0"/>
              </a:spcAft>
              <a:buClr>
                <a:schemeClr val="accent1">
                  <a:tint val="60000"/>
                </a:schemeClr>
              </a:buClr>
              <a:buFont typeface="Wingdings 2"/>
              <a:buChar char=""/>
              <a:defRPr/>
            </a:pPr>
            <a:r>
              <a:rPr lang="en-GB" dirty="0"/>
              <a:t>B may be discharged from the liability for non-acceptance by the doctrine of frustration.</a:t>
            </a:r>
          </a:p>
          <a:p>
            <a:pPr marL="548640" lvl="1" eaLnBrk="1" fontAlgn="auto" hangingPunct="1">
              <a:spcBef>
                <a:spcPts val="370"/>
              </a:spcBef>
              <a:spcAft>
                <a:spcPts val="0"/>
              </a:spcAft>
              <a:buFont typeface="Wingdings 2"/>
              <a:buChar char=""/>
              <a:defRPr/>
            </a:pPr>
            <a:endParaRPr lang="en-GB" dirty="0"/>
          </a:p>
          <a:p>
            <a:pPr marL="548640" lvl="1" eaLnBrk="1" fontAlgn="auto" hangingPunct="1">
              <a:spcBef>
                <a:spcPts val="370"/>
              </a:spcBef>
              <a:spcAft>
                <a:spcPts val="0"/>
              </a:spcAft>
              <a:buFont typeface="Wingdings 2"/>
              <a:buChar char=""/>
              <a:defRPr/>
            </a:pPr>
            <a:endParaRPr lang="en-GB" dirty="0"/>
          </a:p>
          <a:p>
            <a:pPr marL="548640" lvl="1" eaLnBrk="1" fontAlgn="auto" hangingPunct="1">
              <a:spcBef>
                <a:spcPts val="370"/>
              </a:spcBef>
              <a:spcAft>
                <a:spcPts val="0"/>
              </a:spcAft>
              <a:buFont typeface="Wingdings 2"/>
              <a:buChar char=""/>
              <a:defRPr/>
            </a:pPr>
            <a:endParaRPr lang="en-GB" dirty="0"/>
          </a:p>
        </p:txBody>
      </p:sp>
      <p:sp>
        <p:nvSpPr>
          <p:cNvPr id="4" name="Slide Number Placeholder 3"/>
          <p:cNvSpPr>
            <a:spLocks noGrp="1"/>
          </p:cNvSpPr>
          <p:nvPr>
            <p:ph type="sldNum" sz="quarter" idx="12"/>
          </p:nvPr>
        </p:nvSpPr>
        <p:spPr/>
        <p:txBody>
          <a:bodyPr/>
          <a:lstStyle/>
          <a:p>
            <a:pPr>
              <a:defRPr/>
            </a:pPr>
            <a:fld id="{F5BD9CF5-7810-4EAD-B529-C8C70F7E246D}" type="slidenum">
              <a:rPr lang="en-GB"/>
              <a:pPr>
                <a:defRPr/>
              </a:pPr>
              <a:t>4</a:t>
            </a:fld>
            <a:endParaRPr lang="en-GB"/>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GB" b="1" u="sng" dirty="0">
                <a:solidFill>
                  <a:srgbClr val="FF0000"/>
                </a:solidFill>
              </a:rPr>
              <a:t>Transfer of Risk</a:t>
            </a:r>
          </a:p>
        </p:txBody>
      </p:sp>
      <p:sp>
        <p:nvSpPr>
          <p:cNvPr id="10243" name="Content Placeholder 2"/>
          <p:cNvSpPr>
            <a:spLocks noGrp="1"/>
          </p:cNvSpPr>
          <p:nvPr>
            <p:ph sz="quarter" idx="1"/>
          </p:nvPr>
        </p:nvSpPr>
        <p:spPr>
          <a:xfrm>
            <a:off x="914400" y="1447800"/>
            <a:ext cx="7772400" cy="4860925"/>
          </a:xfrm>
        </p:spPr>
        <p:txBody>
          <a:bodyPr/>
          <a:lstStyle/>
          <a:p>
            <a:pPr eaLnBrk="1" hangingPunct="1"/>
            <a:r>
              <a:rPr lang="en-GB" dirty="0"/>
              <a:t>Risk linked to </a:t>
            </a:r>
            <a:r>
              <a:rPr lang="en-GB" b="1" dirty="0"/>
              <a:t>property, not to delivery </a:t>
            </a:r>
            <a:r>
              <a:rPr lang="en-GB" dirty="0"/>
              <a:t>in sales not involving the CRA 2015.</a:t>
            </a:r>
          </a:p>
          <a:p>
            <a:pPr eaLnBrk="1" hangingPunct="1"/>
            <a:endParaRPr lang="en-GB" dirty="0">
              <a:solidFill>
                <a:srgbClr val="FF0000"/>
              </a:solidFill>
            </a:endParaRPr>
          </a:p>
          <a:p>
            <a:pPr eaLnBrk="1" hangingPunct="1"/>
            <a:r>
              <a:rPr lang="en-GB" sz="2800" b="1" dirty="0">
                <a:solidFill>
                  <a:srgbClr val="FF0000"/>
                </a:solidFill>
                <a:highlight>
                  <a:srgbClr val="FFFF00"/>
                </a:highlight>
              </a:rPr>
              <a:t>S. 20(1) – </a:t>
            </a:r>
            <a:r>
              <a:rPr lang="en-GB" sz="2800" b="1" i="1" dirty="0">
                <a:solidFill>
                  <a:srgbClr val="FF0000"/>
                </a:solidFill>
                <a:highlight>
                  <a:srgbClr val="FFFF00"/>
                </a:highlight>
              </a:rPr>
              <a:t>Unless otherwise agreed</a:t>
            </a:r>
            <a:r>
              <a:rPr lang="en-GB" sz="2800" b="1" dirty="0">
                <a:solidFill>
                  <a:srgbClr val="FF0000"/>
                </a:solidFill>
                <a:highlight>
                  <a:srgbClr val="FFFF00"/>
                </a:highlight>
              </a:rPr>
              <a:t>, risk passes with property</a:t>
            </a:r>
          </a:p>
          <a:p>
            <a:pPr eaLnBrk="1" hangingPunct="1"/>
            <a:endParaRPr lang="en-GB" b="1" dirty="0"/>
          </a:p>
          <a:p>
            <a:pPr lvl="1" eaLnBrk="1" hangingPunct="1"/>
            <a:r>
              <a:rPr lang="en-GB" dirty="0"/>
              <a:t>S’s risk until the property passes to B.</a:t>
            </a:r>
          </a:p>
          <a:p>
            <a:pPr lvl="1" eaLnBrk="1" hangingPunct="1"/>
            <a:r>
              <a:rPr lang="en-GB" dirty="0"/>
              <a:t>B’s risk whether or not the delivery has been made.</a:t>
            </a:r>
          </a:p>
          <a:p>
            <a:pPr lvl="1" eaLnBrk="1" hangingPunct="1">
              <a:buFont typeface="Wingdings 2" pitchFamily="18" charset="2"/>
              <a:buNone/>
            </a:pPr>
            <a:endParaRPr lang="en-GB" dirty="0"/>
          </a:p>
          <a:p>
            <a:pPr eaLnBrk="1" hangingPunct="1"/>
            <a:r>
              <a:rPr lang="en-GB" dirty="0"/>
              <a:t>But in the absence of an express contract, the rule is </a:t>
            </a:r>
            <a:r>
              <a:rPr lang="en-GB" i="1" dirty="0"/>
              <a:t>Res </a:t>
            </a:r>
            <a:r>
              <a:rPr lang="en-GB" i="1" dirty="0" err="1"/>
              <a:t>perit</a:t>
            </a:r>
            <a:r>
              <a:rPr lang="en-GB" i="1" dirty="0"/>
              <a:t> domino (he who has the property bears the risk).</a:t>
            </a:r>
          </a:p>
        </p:txBody>
      </p:sp>
      <p:sp>
        <p:nvSpPr>
          <p:cNvPr id="4" name="Slide Number Placeholder 3"/>
          <p:cNvSpPr>
            <a:spLocks noGrp="1"/>
          </p:cNvSpPr>
          <p:nvPr>
            <p:ph type="sldNum" sz="quarter" idx="12"/>
          </p:nvPr>
        </p:nvSpPr>
        <p:spPr/>
        <p:txBody>
          <a:bodyPr/>
          <a:lstStyle/>
          <a:p>
            <a:pPr>
              <a:defRPr/>
            </a:pPr>
            <a:fld id="{E4957393-A401-47D9-A964-9AC2BFEEE420}" type="slidenum">
              <a:rPr lang="en-GB"/>
              <a:pPr>
                <a:defRPr/>
              </a:pPr>
              <a:t>5</a:t>
            </a:fld>
            <a:endParaRPr lang="en-GB"/>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en-GB" u="sng" dirty="0">
                <a:solidFill>
                  <a:schemeClr val="tx1"/>
                </a:solidFill>
              </a:rPr>
              <a:t>Transfer of Risk</a:t>
            </a:r>
          </a:p>
        </p:txBody>
      </p:sp>
      <p:sp>
        <p:nvSpPr>
          <p:cNvPr id="3" name="Content Placeholder 2"/>
          <p:cNvSpPr>
            <a:spLocks noGrp="1"/>
          </p:cNvSpPr>
          <p:nvPr>
            <p:ph sz="quarter" idx="1"/>
          </p:nvPr>
        </p:nvSpPr>
        <p:spPr>
          <a:xfrm>
            <a:off x="914400" y="1447800"/>
            <a:ext cx="7772400" cy="4933950"/>
          </a:xfrm>
        </p:spPr>
        <p:txBody>
          <a:bodyPr>
            <a:normAutofit lnSpcReduction="10000"/>
          </a:bodyPr>
          <a:lstStyle/>
          <a:p>
            <a:pPr marL="274320" indent="-274320" eaLnBrk="1" fontAlgn="auto" hangingPunct="1">
              <a:spcBef>
                <a:spcPts val="580"/>
              </a:spcBef>
              <a:spcAft>
                <a:spcPts val="0"/>
              </a:spcAft>
              <a:buFont typeface="Wingdings 2"/>
              <a:buChar char=""/>
              <a:defRPr/>
            </a:pPr>
            <a:r>
              <a:rPr lang="en-GB" b="1" i="1" u="sng" dirty="0">
                <a:solidFill>
                  <a:srgbClr val="0070C0"/>
                </a:solidFill>
              </a:rPr>
              <a:t>Exceptions (summary list)</a:t>
            </a:r>
            <a:r>
              <a:rPr lang="en-GB" dirty="0">
                <a:solidFill>
                  <a:srgbClr val="0070C0"/>
                </a:solidFill>
              </a:rPr>
              <a:t>:</a:t>
            </a:r>
          </a:p>
          <a:p>
            <a:pPr marL="0" indent="0" eaLnBrk="1" fontAlgn="auto" hangingPunct="1">
              <a:spcBef>
                <a:spcPts val="580"/>
              </a:spcBef>
              <a:spcAft>
                <a:spcPts val="0"/>
              </a:spcAft>
              <a:buNone/>
              <a:defRPr/>
            </a:pPr>
            <a:endParaRPr lang="en-GB" dirty="0"/>
          </a:p>
          <a:p>
            <a:pPr marL="777240" lvl="1" indent="-457200" eaLnBrk="1" fontAlgn="auto" hangingPunct="1">
              <a:spcBef>
                <a:spcPts val="370"/>
              </a:spcBef>
              <a:spcAft>
                <a:spcPts val="0"/>
              </a:spcAft>
              <a:buFont typeface="+mj-lt"/>
              <a:buAutoNum type="arabicPeriod"/>
              <a:defRPr/>
            </a:pPr>
            <a:r>
              <a:rPr lang="en-GB" dirty="0"/>
              <a:t>The rule may be </a:t>
            </a:r>
            <a:r>
              <a:rPr lang="en-GB" b="1" dirty="0">
                <a:solidFill>
                  <a:srgbClr val="FF0000"/>
                </a:solidFill>
                <a:highlight>
                  <a:srgbClr val="FFFF00"/>
                </a:highlight>
              </a:rPr>
              <a:t>displaced by a contrary agreement</a:t>
            </a:r>
            <a:r>
              <a:rPr lang="en-GB" dirty="0">
                <a:solidFill>
                  <a:srgbClr val="FF0000"/>
                </a:solidFill>
                <a:highlight>
                  <a:srgbClr val="FFFF00"/>
                </a:highlight>
              </a:rPr>
              <a:t>.</a:t>
            </a:r>
          </a:p>
          <a:p>
            <a:pPr marL="822960" lvl="2" eaLnBrk="1" fontAlgn="auto" hangingPunct="1">
              <a:spcBef>
                <a:spcPts val="370"/>
              </a:spcBef>
              <a:spcAft>
                <a:spcPts val="0"/>
              </a:spcAft>
              <a:buClr>
                <a:schemeClr val="accent1">
                  <a:tint val="60000"/>
                </a:schemeClr>
              </a:buClr>
              <a:buFont typeface="Wingdings 2"/>
              <a:buChar char=""/>
              <a:defRPr/>
            </a:pPr>
            <a:r>
              <a:rPr lang="en-GB" sz="2400" dirty="0"/>
              <a:t>Where there is </a:t>
            </a:r>
            <a:r>
              <a:rPr lang="en-GB" sz="2400" u="sng" dirty="0"/>
              <a:t>Retention of Title </a:t>
            </a:r>
            <a:r>
              <a:rPr lang="en-GB" sz="2400" dirty="0"/>
              <a:t>(S retains title until the payment is made by B), the B bears the risk even though the B has no property.</a:t>
            </a:r>
          </a:p>
          <a:p>
            <a:pPr marL="594360" lvl="2" indent="0" eaLnBrk="1" fontAlgn="auto" hangingPunct="1">
              <a:spcBef>
                <a:spcPts val="370"/>
              </a:spcBef>
              <a:spcAft>
                <a:spcPts val="0"/>
              </a:spcAft>
              <a:buClr>
                <a:schemeClr val="accent1">
                  <a:tint val="60000"/>
                </a:schemeClr>
              </a:buClr>
              <a:buNone/>
              <a:defRPr/>
            </a:pPr>
            <a:endParaRPr lang="en-GB" sz="2400" dirty="0"/>
          </a:p>
          <a:p>
            <a:pPr marL="777240" lvl="1" indent="-457200" eaLnBrk="1" fontAlgn="auto" hangingPunct="1">
              <a:spcBef>
                <a:spcPts val="370"/>
              </a:spcBef>
              <a:spcAft>
                <a:spcPts val="0"/>
              </a:spcAft>
              <a:buFont typeface="+mj-lt"/>
              <a:buAutoNum type="arabicPeriod"/>
              <a:defRPr/>
            </a:pPr>
            <a:r>
              <a:rPr lang="en-GB" dirty="0"/>
              <a:t>The risk may be with one party, but may shift as a result of </a:t>
            </a:r>
            <a:r>
              <a:rPr lang="en-GB" b="1" dirty="0">
                <a:solidFill>
                  <a:srgbClr val="FF0000"/>
                </a:solidFill>
              </a:rPr>
              <a:t>fault</a:t>
            </a:r>
            <a:r>
              <a:rPr lang="en-GB" dirty="0"/>
              <a:t> by the other: </a:t>
            </a:r>
            <a:r>
              <a:rPr lang="en-GB" b="1" dirty="0">
                <a:solidFill>
                  <a:srgbClr val="FF0000"/>
                </a:solidFill>
              </a:rPr>
              <a:t>S.20(2)</a:t>
            </a:r>
          </a:p>
          <a:p>
            <a:pPr marL="777240" lvl="1" indent="-457200" eaLnBrk="1" fontAlgn="auto" hangingPunct="1">
              <a:spcBef>
                <a:spcPts val="370"/>
              </a:spcBef>
              <a:spcAft>
                <a:spcPts val="0"/>
              </a:spcAft>
              <a:buFont typeface="+mj-lt"/>
              <a:buAutoNum type="arabicPeriod"/>
              <a:defRPr/>
            </a:pPr>
            <a:endParaRPr lang="en-GB" b="1" dirty="0"/>
          </a:p>
          <a:p>
            <a:pPr marL="777240" lvl="1" indent="-457200" eaLnBrk="1" fontAlgn="auto" hangingPunct="1">
              <a:spcBef>
                <a:spcPts val="370"/>
              </a:spcBef>
              <a:spcAft>
                <a:spcPts val="0"/>
              </a:spcAft>
              <a:buFont typeface="+mj-lt"/>
              <a:buAutoNum type="arabicPeriod"/>
              <a:defRPr/>
            </a:pPr>
            <a:r>
              <a:rPr lang="en-GB" dirty="0"/>
              <a:t>Where the S is authorised to send the goods (delivery to an independent carrier), there are special rules for </a:t>
            </a:r>
            <a:r>
              <a:rPr lang="en-GB" b="1" dirty="0">
                <a:solidFill>
                  <a:srgbClr val="FF0000"/>
                </a:solidFill>
              </a:rPr>
              <a:t>risks of transit (risk passes to the B): ss. 32(2)(3) and 33</a:t>
            </a:r>
          </a:p>
          <a:p>
            <a:pPr marL="548640" lvl="1" eaLnBrk="1" fontAlgn="auto" hangingPunct="1">
              <a:spcBef>
                <a:spcPts val="370"/>
              </a:spcBef>
              <a:spcAft>
                <a:spcPts val="0"/>
              </a:spcAft>
              <a:buFont typeface="Wingdings 2"/>
              <a:buChar char=""/>
              <a:defRPr/>
            </a:pPr>
            <a:endParaRPr lang="en-GB" dirty="0"/>
          </a:p>
        </p:txBody>
      </p:sp>
      <p:sp>
        <p:nvSpPr>
          <p:cNvPr id="4" name="Slide Number Placeholder 3"/>
          <p:cNvSpPr>
            <a:spLocks noGrp="1"/>
          </p:cNvSpPr>
          <p:nvPr>
            <p:ph type="sldNum" sz="quarter" idx="12"/>
          </p:nvPr>
        </p:nvSpPr>
        <p:spPr/>
        <p:txBody>
          <a:bodyPr/>
          <a:lstStyle/>
          <a:p>
            <a:pPr>
              <a:defRPr/>
            </a:pPr>
            <a:fld id="{EBE8E102-22E9-445C-B015-012A2F1CD6CA}" type="slidenum">
              <a:rPr lang="en-GB"/>
              <a:pPr>
                <a:defRPr/>
              </a:pPr>
              <a:t>6</a:t>
            </a:fld>
            <a:endParaRPr lang="en-GB"/>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13D1C-B0DA-4B25-B70A-783BC98AD97C}"/>
              </a:ext>
            </a:extLst>
          </p:cNvPr>
          <p:cNvSpPr>
            <a:spLocks noGrp="1"/>
          </p:cNvSpPr>
          <p:nvPr>
            <p:ph type="title"/>
          </p:nvPr>
        </p:nvSpPr>
        <p:spPr>
          <a:xfrm>
            <a:off x="914400" y="116632"/>
            <a:ext cx="7772400" cy="1944216"/>
          </a:xfrm>
        </p:spPr>
        <p:txBody>
          <a:bodyPr/>
          <a:lstStyle/>
          <a:p>
            <a:r>
              <a:rPr lang="en-GB" sz="2400" b="1" u="sng" dirty="0">
                <a:solidFill>
                  <a:schemeClr val="tx1"/>
                </a:solidFill>
              </a:rPr>
              <a:t>Exceptions (summary list, continued)</a:t>
            </a:r>
            <a:r>
              <a:rPr lang="en-GB" sz="2400" dirty="0">
                <a:solidFill>
                  <a:schemeClr val="tx1"/>
                </a:solidFill>
              </a:rPr>
              <a:t>:</a:t>
            </a:r>
            <a:br>
              <a:rPr lang="en-GB" dirty="0">
                <a:solidFill>
                  <a:schemeClr val="tx1"/>
                </a:solidFill>
              </a:rPr>
            </a:br>
            <a:endParaRPr lang="en-GB" dirty="0">
              <a:solidFill>
                <a:schemeClr val="tx1"/>
              </a:solidFill>
            </a:endParaRPr>
          </a:p>
        </p:txBody>
      </p:sp>
      <p:sp>
        <p:nvSpPr>
          <p:cNvPr id="3" name="Content Placeholder 2">
            <a:extLst>
              <a:ext uri="{FF2B5EF4-FFF2-40B4-BE49-F238E27FC236}">
                <a16:creationId xmlns:a16="http://schemas.microsoft.com/office/drawing/2014/main" id="{3CD42188-6BA0-4670-A18A-1BCF90064E63}"/>
              </a:ext>
            </a:extLst>
          </p:cNvPr>
          <p:cNvSpPr>
            <a:spLocks noGrp="1"/>
          </p:cNvSpPr>
          <p:nvPr>
            <p:ph sz="quarter" idx="1"/>
          </p:nvPr>
        </p:nvSpPr>
        <p:spPr>
          <a:xfrm>
            <a:off x="914400" y="1772816"/>
            <a:ext cx="7772400" cy="4246984"/>
          </a:xfrm>
        </p:spPr>
        <p:txBody>
          <a:bodyPr/>
          <a:lstStyle/>
          <a:p>
            <a:pPr marL="777240" lvl="1" indent="-457200" eaLnBrk="1" fontAlgn="auto" hangingPunct="1">
              <a:spcBef>
                <a:spcPts val="370"/>
              </a:spcBef>
              <a:spcAft>
                <a:spcPts val="0"/>
              </a:spcAft>
              <a:buFont typeface="+mj-lt"/>
              <a:buAutoNum type="arabicPeriod" startAt="4"/>
              <a:defRPr/>
            </a:pPr>
            <a:r>
              <a:rPr lang="en-GB" dirty="0"/>
              <a:t>If B deals as a </a:t>
            </a:r>
            <a:r>
              <a:rPr lang="en-GB" b="1" dirty="0"/>
              <a:t>consumer</a:t>
            </a:r>
            <a:r>
              <a:rPr lang="en-GB" dirty="0"/>
              <a:t> risk does not pass until he is in physical possession of the goods (</a:t>
            </a:r>
            <a:r>
              <a:rPr lang="en-GB" b="1" dirty="0"/>
              <a:t>s.29 CRA 2015</a:t>
            </a:r>
            <a:r>
              <a:rPr lang="en-GB" dirty="0"/>
              <a:t>).</a:t>
            </a:r>
          </a:p>
          <a:p>
            <a:pPr marL="777240" lvl="1" indent="-457200" eaLnBrk="1" fontAlgn="auto" hangingPunct="1">
              <a:spcBef>
                <a:spcPts val="370"/>
              </a:spcBef>
              <a:spcAft>
                <a:spcPts val="0"/>
              </a:spcAft>
              <a:buFont typeface="+mj-lt"/>
              <a:buAutoNum type="arabicPeriod" startAt="4"/>
              <a:defRPr/>
            </a:pPr>
            <a:endParaRPr lang="en-GB" dirty="0"/>
          </a:p>
          <a:p>
            <a:pPr marL="777240" lvl="1" indent="-457200" eaLnBrk="1" fontAlgn="auto" hangingPunct="1">
              <a:spcBef>
                <a:spcPts val="370"/>
              </a:spcBef>
              <a:spcAft>
                <a:spcPts val="0"/>
              </a:spcAft>
              <a:buFont typeface="+mj-lt"/>
              <a:buAutoNum type="arabicPeriod" startAt="4"/>
              <a:defRPr/>
            </a:pPr>
            <a:r>
              <a:rPr lang="en-GB" dirty="0"/>
              <a:t>S. 20 does not apply to risk of loss where the goods are held in </a:t>
            </a:r>
            <a:r>
              <a:rPr lang="en-GB" b="1" dirty="0">
                <a:solidFill>
                  <a:srgbClr val="FF0000"/>
                </a:solidFill>
              </a:rPr>
              <a:t>co-ownership (s. 20A)</a:t>
            </a:r>
          </a:p>
          <a:p>
            <a:pPr marL="777240" lvl="1" indent="-457200" eaLnBrk="1" fontAlgn="auto" hangingPunct="1">
              <a:spcBef>
                <a:spcPts val="370"/>
              </a:spcBef>
              <a:spcAft>
                <a:spcPts val="0"/>
              </a:spcAft>
              <a:buFont typeface="+mj-lt"/>
              <a:buAutoNum type="arabicPeriod" startAt="4"/>
              <a:defRPr/>
            </a:pPr>
            <a:endParaRPr lang="en-GB" b="1" dirty="0">
              <a:solidFill>
                <a:srgbClr val="FF0000"/>
              </a:solidFill>
            </a:endParaRPr>
          </a:p>
          <a:p>
            <a:pPr marL="777240" lvl="1" indent="-457200" eaLnBrk="1" fontAlgn="auto" hangingPunct="1">
              <a:spcBef>
                <a:spcPts val="370"/>
              </a:spcBef>
              <a:spcAft>
                <a:spcPts val="0"/>
              </a:spcAft>
              <a:buFont typeface="+mj-lt"/>
              <a:buAutoNum type="arabicPeriod" startAt="4"/>
              <a:defRPr/>
            </a:pPr>
            <a:r>
              <a:rPr lang="en-GB" dirty="0"/>
              <a:t>S. 20 does not distinguish specific/ascertained goods from unascertained/quasi specific goods. The distinction affects the passage of property.</a:t>
            </a:r>
          </a:p>
          <a:p>
            <a:pPr marL="0" indent="0">
              <a:buNone/>
            </a:pPr>
            <a:endParaRPr lang="en-GB" dirty="0"/>
          </a:p>
        </p:txBody>
      </p:sp>
      <p:sp>
        <p:nvSpPr>
          <p:cNvPr id="4" name="Slide Number Placeholder 3">
            <a:extLst>
              <a:ext uri="{FF2B5EF4-FFF2-40B4-BE49-F238E27FC236}">
                <a16:creationId xmlns:a16="http://schemas.microsoft.com/office/drawing/2014/main" id="{9C55F8AD-6D55-4E1F-BDD0-C36AEE19E257}"/>
              </a:ext>
            </a:extLst>
          </p:cNvPr>
          <p:cNvSpPr>
            <a:spLocks noGrp="1"/>
          </p:cNvSpPr>
          <p:nvPr>
            <p:ph type="sldNum" sz="quarter" idx="12"/>
          </p:nvPr>
        </p:nvSpPr>
        <p:spPr/>
        <p:txBody>
          <a:bodyPr/>
          <a:lstStyle/>
          <a:p>
            <a:pPr>
              <a:defRPr/>
            </a:pPr>
            <a:fld id="{D79F9B61-834F-43A5-817F-BEB10D696D69}" type="slidenum">
              <a:rPr lang="en-GB" smtClean="0"/>
              <a:pPr>
                <a:defRPr/>
              </a:pPr>
              <a:t>7</a:t>
            </a:fld>
            <a:endParaRPr lang="en-GB"/>
          </a:p>
        </p:txBody>
      </p:sp>
    </p:spTree>
    <p:extLst>
      <p:ext uri="{BB962C8B-B14F-4D97-AF65-F5344CB8AC3E}">
        <p14:creationId xmlns:p14="http://schemas.microsoft.com/office/powerpoint/2010/main" val="3122520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pPr eaLnBrk="1" hangingPunct="1"/>
            <a:r>
              <a:rPr lang="en-GB" dirty="0">
                <a:solidFill>
                  <a:schemeClr val="tx1"/>
                </a:solidFill>
              </a:rPr>
              <a:t>Transfer of Risk</a:t>
            </a:r>
          </a:p>
        </p:txBody>
      </p:sp>
      <p:sp>
        <p:nvSpPr>
          <p:cNvPr id="3" name="Content Placeholder 2"/>
          <p:cNvSpPr>
            <a:spLocks noGrp="1"/>
          </p:cNvSpPr>
          <p:nvPr>
            <p:ph sz="quarter" idx="1"/>
          </p:nvPr>
        </p:nvSpPr>
        <p:spPr>
          <a:xfrm>
            <a:off x="611188" y="1447800"/>
            <a:ext cx="8075612" cy="5005388"/>
          </a:xfrm>
        </p:spPr>
        <p:txBody>
          <a:bodyPr>
            <a:normAutofit fontScale="92500"/>
          </a:bodyPr>
          <a:lstStyle/>
          <a:p>
            <a:pPr marL="274320" indent="-274320" eaLnBrk="1" fontAlgn="auto" hangingPunct="1">
              <a:spcBef>
                <a:spcPts val="580"/>
              </a:spcBef>
              <a:spcAft>
                <a:spcPts val="0"/>
              </a:spcAft>
              <a:buFont typeface="Wingdings 2"/>
              <a:buChar char=""/>
              <a:defRPr/>
            </a:pPr>
            <a:r>
              <a:rPr lang="en-GB" dirty="0"/>
              <a:t>Sometimes under </a:t>
            </a:r>
            <a:r>
              <a:rPr lang="en-GB" b="1" dirty="0">
                <a:solidFill>
                  <a:srgbClr val="0070C0"/>
                </a:solidFill>
              </a:rPr>
              <a:t>CIF </a:t>
            </a:r>
            <a:r>
              <a:rPr lang="en-GB" dirty="0"/>
              <a:t>(Cost-Insurance-Freight) and </a:t>
            </a:r>
            <a:r>
              <a:rPr lang="en-GB" b="1" dirty="0">
                <a:solidFill>
                  <a:srgbClr val="0070C0"/>
                </a:solidFill>
              </a:rPr>
              <a:t>FOB</a:t>
            </a:r>
            <a:r>
              <a:rPr lang="en-GB" b="1" dirty="0"/>
              <a:t> </a:t>
            </a:r>
            <a:r>
              <a:rPr lang="en-GB" dirty="0"/>
              <a:t>(Free on Board) contracts, transfer of risk is separated from the transfer of property.</a:t>
            </a:r>
          </a:p>
          <a:p>
            <a:pPr marL="548640" lvl="1" eaLnBrk="1" fontAlgn="auto" hangingPunct="1">
              <a:spcBef>
                <a:spcPts val="370"/>
              </a:spcBef>
              <a:spcAft>
                <a:spcPts val="0"/>
              </a:spcAft>
              <a:buFont typeface="Wingdings 2"/>
              <a:buChar char=""/>
              <a:defRPr/>
            </a:pPr>
            <a:r>
              <a:rPr lang="en-GB" dirty="0"/>
              <a:t>CIF - throughout the transit S bears the risk, while property in the goods has passed to the B. Insurance against risk is paid by the S.</a:t>
            </a:r>
          </a:p>
          <a:p>
            <a:pPr marL="548640" lvl="1" eaLnBrk="1" fontAlgn="auto" hangingPunct="1">
              <a:spcBef>
                <a:spcPts val="370"/>
              </a:spcBef>
              <a:spcAft>
                <a:spcPts val="0"/>
              </a:spcAft>
              <a:buFont typeface="Wingdings 2"/>
              <a:buChar char=""/>
              <a:defRPr/>
            </a:pPr>
            <a:r>
              <a:rPr lang="en-GB" dirty="0"/>
              <a:t>FOB - B assumes risk when the goods pass the rail of the ship.</a:t>
            </a:r>
          </a:p>
          <a:p>
            <a:pPr marL="548640" lvl="1" eaLnBrk="1" fontAlgn="auto" hangingPunct="1">
              <a:spcBef>
                <a:spcPts val="370"/>
              </a:spcBef>
              <a:spcAft>
                <a:spcPts val="0"/>
              </a:spcAft>
              <a:buFont typeface="Wingdings 2" pitchFamily="18" charset="2"/>
              <a:buNone/>
              <a:defRPr/>
            </a:pPr>
            <a:endParaRPr lang="en-GB" dirty="0"/>
          </a:p>
          <a:p>
            <a:pPr marL="274320" indent="-274320" eaLnBrk="1" fontAlgn="auto" hangingPunct="1">
              <a:spcBef>
                <a:spcPts val="580"/>
              </a:spcBef>
              <a:spcAft>
                <a:spcPts val="0"/>
              </a:spcAft>
              <a:buFont typeface="Wingdings 2"/>
              <a:buChar char=""/>
              <a:defRPr/>
            </a:pPr>
            <a:r>
              <a:rPr lang="en-GB" dirty="0"/>
              <a:t>What happens when the risk passes before the property? </a:t>
            </a:r>
            <a:r>
              <a:rPr lang="en-GB" b="1" dirty="0"/>
              <a:t>(exception 6)</a:t>
            </a:r>
          </a:p>
          <a:p>
            <a:pPr marL="548640" lvl="1" eaLnBrk="1" fontAlgn="auto" hangingPunct="1">
              <a:spcBef>
                <a:spcPts val="370"/>
              </a:spcBef>
              <a:spcAft>
                <a:spcPts val="0"/>
              </a:spcAft>
              <a:buFont typeface="Wingdings 2"/>
              <a:buChar char=""/>
              <a:defRPr/>
            </a:pPr>
            <a:r>
              <a:rPr lang="en-GB" dirty="0"/>
              <a:t>Quasi specific goods – goods supplied from a larger and identified bulk</a:t>
            </a:r>
          </a:p>
          <a:p>
            <a:pPr marL="548640" lvl="1" eaLnBrk="1" fontAlgn="auto" hangingPunct="1">
              <a:spcBef>
                <a:spcPts val="370"/>
              </a:spcBef>
              <a:spcAft>
                <a:spcPts val="0"/>
              </a:spcAft>
              <a:buFont typeface="Wingdings 2"/>
              <a:buChar char=""/>
              <a:defRPr/>
            </a:pPr>
            <a:r>
              <a:rPr lang="en-GB" b="1" i="1" dirty="0">
                <a:solidFill>
                  <a:srgbClr val="0070C0"/>
                </a:solidFill>
              </a:rPr>
              <a:t>Stern v Vickers</a:t>
            </a:r>
          </a:p>
          <a:p>
            <a:pPr marL="822960" lvl="2" eaLnBrk="1" fontAlgn="auto" hangingPunct="1">
              <a:spcBef>
                <a:spcPts val="370"/>
              </a:spcBef>
              <a:spcAft>
                <a:spcPts val="0"/>
              </a:spcAft>
              <a:buClr>
                <a:schemeClr val="accent1">
                  <a:tint val="60000"/>
                </a:schemeClr>
              </a:buClr>
              <a:buFont typeface="Wingdings 2"/>
              <a:buChar char=""/>
              <a:defRPr/>
            </a:pPr>
            <a:r>
              <a:rPr lang="en-GB" i="1" dirty="0"/>
              <a:t>Property had not passed to the B because the goods sold had not been ascertained. </a:t>
            </a:r>
          </a:p>
          <a:p>
            <a:pPr marL="822960" lvl="2" eaLnBrk="1" fontAlgn="auto" hangingPunct="1">
              <a:spcBef>
                <a:spcPts val="370"/>
              </a:spcBef>
              <a:spcAft>
                <a:spcPts val="0"/>
              </a:spcAft>
              <a:buClr>
                <a:schemeClr val="accent1">
                  <a:tint val="60000"/>
                </a:schemeClr>
              </a:buClr>
              <a:buFont typeface="Wingdings 2"/>
              <a:buChar char=""/>
              <a:defRPr/>
            </a:pPr>
            <a:r>
              <a:rPr lang="en-GB" i="1" dirty="0"/>
              <a:t>Held (CA): risk had passed to the B.</a:t>
            </a:r>
          </a:p>
        </p:txBody>
      </p:sp>
      <p:sp>
        <p:nvSpPr>
          <p:cNvPr id="4" name="Slide Number Placeholder 3"/>
          <p:cNvSpPr>
            <a:spLocks noGrp="1"/>
          </p:cNvSpPr>
          <p:nvPr>
            <p:ph type="sldNum" sz="quarter" idx="12"/>
          </p:nvPr>
        </p:nvSpPr>
        <p:spPr/>
        <p:txBody>
          <a:bodyPr/>
          <a:lstStyle/>
          <a:p>
            <a:pPr>
              <a:defRPr/>
            </a:pPr>
            <a:fld id="{4D7E9379-DE03-436A-AE57-E6A558B99A9C}" type="slidenum">
              <a:rPr lang="en-GB"/>
              <a:pPr>
                <a:defRPr/>
              </a:pPr>
              <a:t>8</a:t>
            </a:fld>
            <a:endParaRPr lang="en-GB"/>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eaLnBrk="1" hangingPunct="1"/>
            <a:r>
              <a:rPr lang="en-GB" dirty="0">
                <a:solidFill>
                  <a:schemeClr val="tx1"/>
                </a:solidFill>
              </a:rPr>
              <a:t>Transfer of Risk</a:t>
            </a:r>
          </a:p>
        </p:txBody>
      </p:sp>
      <p:sp>
        <p:nvSpPr>
          <p:cNvPr id="3" name="Slide Number Placeholder 2"/>
          <p:cNvSpPr>
            <a:spLocks noGrp="1"/>
          </p:cNvSpPr>
          <p:nvPr>
            <p:ph type="sldNum" sz="quarter" idx="12"/>
          </p:nvPr>
        </p:nvSpPr>
        <p:spPr/>
        <p:txBody>
          <a:bodyPr/>
          <a:lstStyle/>
          <a:p>
            <a:pPr>
              <a:defRPr/>
            </a:pPr>
            <a:fld id="{EC432BF5-D778-4DBC-88D9-BBB7E5F51356}" type="slidenum">
              <a:rPr lang="en-GB"/>
              <a:pPr>
                <a:defRPr/>
              </a:pPr>
              <a:t>9</a:t>
            </a:fld>
            <a:endParaRPr lang="en-GB"/>
          </a:p>
        </p:txBody>
      </p:sp>
      <p:sp>
        <p:nvSpPr>
          <p:cNvPr id="4" name="Content Placeholder 3"/>
          <p:cNvSpPr>
            <a:spLocks noGrp="1"/>
          </p:cNvSpPr>
          <p:nvPr>
            <p:ph sz="quarter" idx="1"/>
          </p:nvPr>
        </p:nvSpPr>
        <p:spPr>
          <a:xfrm>
            <a:off x="914400" y="1447800"/>
            <a:ext cx="7772400" cy="5219700"/>
          </a:xfrm>
        </p:spPr>
        <p:txBody>
          <a:bodyPr>
            <a:normAutofit fontScale="85000" lnSpcReduction="20000"/>
          </a:bodyPr>
          <a:lstStyle/>
          <a:p>
            <a:pPr marL="274320" indent="-274320" eaLnBrk="1" fontAlgn="auto" hangingPunct="1">
              <a:spcBef>
                <a:spcPts val="580"/>
              </a:spcBef>
              <a:spcAft>
                <a:spcPts val="0"/>
              </a:spcAft>
              <a:buFont typeface="Wingdings 2"/>
              <a:buChar char=""/>
              <a:defRPr/>
            </a:pPr>
            <a:r>
              <a:rPr lang="en-GB" dirty="0"/>
              <a:t>Sale of an unidentified part of a specific whole – risk passes before the property in a sale of unascertained goods</a:t>
            </a:r>
          </a:p>
          <a:p>
            <a:pPr marL="274320" indent="-274320" eaLnBrk="1" fontAlgn="auto" hangingPunct="1">
              <a:spcBef>
                <a:spcPts val="580"/>
              </a:spcBef>
              <a:spcAft>
                <a:spcPts val="0"/>
              </a:spcAft>
              <a:buFont typeface="Wingdings 2" pitchFamily="18" charset="2"/>
              <a:buNone/>
              <a:defRPr/>
            </a:pPr>
            <a:endParaRPr lang="en-GB" dirty="0"/>
          </a:p>
          <a:p>
            <a:pPr marL="274320" indent="-274320" eaLnBrk="1" fontAlgn="auto" hangingPunct="1">
              <a:spcBef>
                <a:spcPts val="580"/>
              </a:spcBef>
              <a:spcAft>
                <a:spcPts val="0"/>
              </a:spcAft>
              <a:buFont typeface="Wingdings 2"/>
              <a:buChar char=""/>
              <a:defRPr/>
            </a:pPr>
            <a:r>
              <a:rPr lang="en-GB" dirty="0"/>
              <a:t>When goods are not owned or possessed by the S risk cannot pass.  The B has contracted to pay the price whether the goods are delivered or not.</a:t>
            </a:r>
          </a:p>
          <a:p>
            <a:pPr marL="274320" indent="-274320" eaLnBrk="1" fontAlgn="auto" hangingPunct="1">
              <a:spcBef>
                <a:spcPts val="580"/>
              </a:spcBef>
              <a:spcAft>
                <a:spcPts val="0"/>
              </a:spcAft>
              <a:buFont typeface="Wingdings 2" pitchFamily="18" charset="2"/>
              <a:buNone/>
              <a:defRPr/>
            </a:pPr>
            <a:endParaRPr lang="en-GB" dirty="0"/>
          </a:p>
          <a:p>
            <a:pPr marL="274320" indent="-274320" eaLnBrk="1" fontAlgn="auto" hangingPunct="1">
              <a:spcBef>
                <a:spcPts val="580"/>
              </a:spcBef>
              <a:spcAft>
                <a:spcPts val="0"/>
              </a:spcAft>
              <a:buFont typeface="Wingdings 2"/>
              <a:buChar char=""/>
              <a:defRPr/>
            </a:pPr>
            <a:r>
              <a:rPr lang="en-GB" dirty="0"/>
              <a:t>Risk may remain with the S after the property has passed. </a:t>
            </a:r>
          </a:p>
          <a:p>
            <a:pPr marL="274320" indent="-274320" eaLnBrk="1" fontAlgn="auto" hangingPunct="1">
              <a:spcBef>
                <a:spcPts val="580"/>
              </a:spcBef>
              <a:spcAft>
                <a:spcPts val="0"/>
              </a:spcAft>
              <a:buFont typeface="Wingdings 2" pitchFamily="18" charset="2"/>
              <a:buNone/>
              <a:defRPr/>
            </a:pPr>
            <a:endParaRPr lang="en-GB" dirty="0"/>
          </a:p>
          <a:p>
            <a:pPr marL="274320" indent="-274320" eaLnBrk="1" fontAlgn="auto" hangingPunct="1">
              <a:spcBef>
                <a:spcPts val="580"/>
              </a:spcBef>
              <a:spcAft>
                <a:spcPts val="0"/>
              </a:spcAft>
              <a:buFont typeface="Wingdings 2"/>
              <a:buChar char=""/>
              <a:defRPr/>
            </a:pPr>
            <a:r>
              <a:rPr lang="en-GB" b="1" i="1" u="sng" dirty="0">
                <a:solidFill>
                  <a:srgbClr val="0070C0"/>
                </a:solidFill>
              </a:rPr>
              <a:t>Head v Tattersall</a:t>
            </a:r>
          </a:p>
          <a:p>
            <a:pPr marL="548640" lvl="1" eaLnBrk="1" fontAlgn="auto" hangingPunct="1">
              <a:spcBef>
                <a:spcPts val="370"/>
              </a:spcBef>
              <a:spcAft>
                <a:spcPts val="0"/>
              </a:spcAft>
              <a:buFont typeface="Wingdings 2"/>
              <a:buChar char=""/>
              <a:defRPr/>
            </a:pPr>
            <a:r>
              <a:rPr lang="en-GB" sz="2600" i="1" dirty="0"/>
              <a:t>On a proper construction of the contract risk was held to be with the S even though property had passed to the B.</a:t>
            </a:r>
          </a:p>
          <a:p>
            <a:pPr marL="548640" lvl="1" eaLnBrk="1" fontAlgn="auto" hangingPunct="1">
              <a:spcBef>
                <a:spcPts val="370"/>
              </a:spcBef>
              <a:spcAft>
                <a:spcPts val="0"/>
              </a:spcAft>
              <a:buFont typeface="Wingdings 2"/>
              <a:buChar char=""/>
              <a:defRPr/>
            </a:pPr>
            <a:r>
              <a:rPr lang="en-GB" sz="2600" i="1" dirty="0"/>
              <a:t>Under the SGA the same case could have been decided similarly (BUT s. 18 Rule 4(b) – the property does not pass until the expiry of the fixed time.) </a:t>
            </a:r>
          </a:p>
          <a:p>
            <a:pPr marL="548640" lvl="1" eaLnBrk="1" fontAlgn="auto" hangingPunct="1">
              <a:spcBef>
                <a:spcPts val="370"/>
              </a:spcBef>
              <a:spcAft>
                <a:spcPts val="0"/>
              </a:spcAft>
              <a:buFont typeface="Wingdings 2"/>
              <a:buChar char=""/>
              <a:defRPr/>
            </a:pPr>
            <a:r>
              <a:rPr lang="en-GB" sz="2600" i="1" dirty="0"/>
              <a:t>However</a:t>
            </a:r>
            <a:r>
              <a:rPr lang="en-GB" sz="2600" b="1" i="1" dirty="0">
                <a:solidFill>
                  <a:srgbClr val="FF0000"/>
                </a:solidFill>
              </a:rPr>
              <a:t>, </a:t>
            </a:r>
            <a:r>
              <a:rPr lang="en-GB" sz="2600" b="1" i="1" u="sng" dirty="0">
                <a:solidFill>
                  <a:srgbClr val="FF0000"/>
                </a:solidFill>
              </a:rPr>
              <a:t>the principle</a:t>
            </a:r>
            <a:r>
              <a:rPr lang="en-GB" sz="2600" b="1" i="1" dirty="0">
                <a:solidFill>
                  <a:srgbClr val="FF0000"/>
                </a:solidFill>
              </a:rPr>
              <a:t>: The risk always remains with the S when the B has a right of rejection.</a:t>
            </a:r>
          </a:p>
          <a:p>
            <a:pPr marL="274320" indent="-274320" eaLnBrk="1" fontAlgn="auto" hangingPunct="1">
              <a:spcBef>
                <a:spcPts val="580"/>
              </a:spcBef>
              <a:spcAft>
                <a:spcPts val="0"/>
              </a:spcAft>
              <a:buFont typeface="Wingdings 2"/>
              <a:buChar char=""/>
              <a:defRPr/>
            </a:pPr>
            <a:endParaRPr lang="en-GB" i="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pPr eaLnBrk="1" hangingPunct="1"/>
            <a:r>
              <a:rPr lang="en-GB" dirty="0">
                <a:solidFill>
                  <a:schemeClr val="tx1"/>
                </a:solidFill>
              </a:rPr>
              <a:t>Transfer of Risk</a:t>
            </a:r>
          </a:p>
        </p:txBody>
      </p:sp>
      <p:sp>
        <p:nvSpPr>
          <p:cNvPr id="3" name="Slide Number Placeholder 2"/>
          <p:cNvSpPr>
            <a:spLocks noGrp="1"/>
          </p:cNvSpPr>
          <p:nvPr>
            <p:ph type="sldNum" sz="quarter" idx="12"/>
          </p:nvPr>
        </p:nvSpPr>
        <p:spPr/>
        <p:txBody>
          <a:bodyPr/>
          <a:lstStyle/>
          <a:p>
            <a:pPr>
              <a:defRPr/>
            </a:pPr>
            <a:fld id="{4E921C35-A749-4C5D-B1D9-F44BC937CB7F}" type="slidenum">
              <a:rPr lang="en-GB"/>
              <a:pPr>
                <a:defRPr/>
              </a:pPr>
              <a:t>10</a:t>
            </a:fld>
            <a:endParaRPr lang="en-GB"/>
          </a:p>
        </p:txBody>
      </p:sp>
      <p:sp>
        <p:nvSpPr>
          <p:cNvPr id="14340" name="Content Placeholder 3"/>
          <p:cNvSpPr>
            <a:spLocks noGrp="1"/>
          </p:cNvSpPr>
          <p:nvPr>
            <p:ph sz="quarter" idx="1"/>
          </p:nvPr>
        </p:nvSpPr>
        <p:spPr/>
        <p:txBody>
          <a:bodyPr/>
          <a:lstStyle/>
          <a:p>
            <a:pPr eaLnBrk="1" hangingPunct="1"/>
            <a:r>
              <a:rPr lang="en-GB" b="1" u="sng" dirty="0"/>
              <a:t>What happens when risk passes after the property? (exception 6)</a:t>
            </a:r>
          </a:p>
          <a:p>
            <a:pPr eaLnBrk="1" hangingPunct="1">
              <a:buFont typeface="Wingdings 2" pitchFamily="18" charset="2"/>
              <a:buNone/>
            </a:pPr>
            <a:endParaRPr lang="en-GB" dirty="0"/>
          </a:p>
          <a:p>
            <a:pPr lvl="1" eaLnBrk="1" hangingPunct="1"/>
            <a:r>
              <a:rPr lang="en-GB" dirty="0"/>
              <a:t>S agrees to dispatch specific goods at his own risk to the B.</a:t>
            </a:r>
          </a:p>
          <a:p>
            <a:pPr lvl="1" eaLnBrk="1" hangingPunct="1"/>
            <a:r>
              <a:rPr lang="en-GB" dirty="0">
                <a:solidFill>
                  <a:srgbClr val="FF0000"/>
                </a:solidFill>
              </a:rPr>
              <a:t>S is liable for deterioration/destruction not necessarily incidental to the course of transit: </a:t>
            </a:r>
            <a:r>
              <a:rPr lang="en-GB" b="1" dirty="0">
                <a:solidFill>
                  <a:srgbClr val="FF0000"/>
                </a:solidFill>
              </a:rPr>
              <a:t>s.33</a:t>
            </a:r>
          </a:p>
          <a:p>
            <a:pPr lvl="1" eaLnBrk="1" hangingPunct="1"/>
            <a:r>
              <a:rPr lang="en-GB" dirty="0"/>
              <a:t>S is not liable for risk of deterioration incidental to the course of transit because defective condition of the goods at the commencement of the transit is not covered.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GB" dirty="0">
                <a:solidFill>
                  <a:schemeClr val="tx1"/>
                </a:solidFill>
              </a:rPr>
              <a:t>Transfer of Risk </a:t>
            </a:r>
          </a:p>
        </p:txBody>
      </p:sp>
      <p:sp>
        <p:nvSpPr>
          <p:cNvPr id="15363" name="Content Placeholder 2"/>
          <p:cNvSpPr>
            <a:spLocks noGrp="1"/>
          </p:cNvSpPr>
          <p:nvPr>
            <p:ph sz="quarter" idx="1"/>
          </p:nvPr>
        </p:nvSpPr>
        <p:spPr/>
        <p:txBody>
          <a:bodyPr/>
          <a:lstStyle/>
          <a:p>
            <a:pPr lvl="2" eaLnBrk="1" hangingPunct="1">
              <a:buFont typeface="Wingdings 2" pitchFamily="18" charset="2"/>
              <a:buNone/>
            </a:pPr>
            <a:endParaRPr lang="en-GB" b="1" i="1" u="sng" dirty="0"/>
          </a:p>
          <a:p>
            <a:pPr lvl="2" eaLnBrk="1" hangingPunct="1">
              <a:buFont typeface="Wingdings 2" pitchFamily="18" charset="2"/>
              <a:buNone/>
            </a:pPr>
            <a:r>
              <a:rPr lang="en-GB" sz="2800" b="1" i="1" u="sng" dirty="0">
                <a:solidFill>
                  <a:srgbClr val="0070C0"/>
                </a:solidFill>
              </a:rPr>
              <a:t>Mash &amp; Murrell v Joseph Emmanuel</a:t>
            </a:r>
          </a:p>
          <a:p>
            <a:pPr lvl="2" eaLnBrk="1" hangingPunct="1">
              <a:buFont typeface="Wingdings 2" pitchFamily="18" charset="2"/>
              <a:buNone/>
            </a:pPr>
            <a:endParaRPr lang="en-GB" sz="2800" i="1" dirty="0"/>
          </a:p>
          <a:p>
            <a:pPr lvl="3" eaLnBrk="1" hangingPunct="1"/>
            <a:r>
              <a:rPr lang="en-GB" sz="2800" i="1" dirty="0"/>
              <a:t>Held: implied condition that the goods are of merchantable quality involves a </a:t>
            </a:r>
            <a:r>
              <a:rPr lang="en-GB" sz="2800" i="1" u="sng" dirty="0"/>
              <a:t>continuing obligation as to the condition of the goods for a reasonable time after shipment in a CIF contract.</a:t>
            </a:r>
          </a:p>
          <a:p>
            <a:endParaRPr lang="en-GB" dirty="0"/>
          </a:p>
        </p:txBody>
      </p:sp>
      <p:sp>
        <p:nvSpPr>
          <p:cNvPr id="4" name="Slide Number Placeholder 3"/>
          <p:cNvSpPr>
            <a:spLocks noGrp="1"/>
          </p:cNvSpPr>
          <p:nvPr>
            <p:ph type="sldNum" sz="quarter" idx="12"/>
          </p:nvPr>
        </p:nvSpPr>
        <p:spPr/>
        <p:txBody>
          <a:bodyPr/>
          <a:lstStyle/>
          <a:p>
            <a:pPr>
              <a:defRPr/>
            </a:pPr>
            <a:fld id="{C71D8239-D699-4099-941E-1B5BCA1D5810}" type="slidenum">
              <a:rPr lang="en-GB" smtClean="0"/>
              <a:pPr>
                <a:defRPr/>
              </a:pPr>
              <a:t>11</a:t>
            </a:fld>
            <a:endParaRPr lang="en-GB"/>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GB" dirty="0">
                <a:solidFill>
                  <a:schemeClr val="tx1"/>
                </a:solidFill>
              </a:rPr>
              <a:t>Transfer of Risk</a:t>
            </a:r>
          </a:p>
        </p:txBody>
      </p:sp>
      <p:sp>
        <p:nvSpPr>
          <p:cNvPr id="3" name="Slide Number Placeholder 2"/>
          <p:cNvSpPr>
            <a:spLocks noGrp="1"/>
          </p:cNvSpPr>
          <p:nvPr>
            <p:ph type="sldNum" sz="quarter" idx="12"/>
          </p:nvPr>
        </p:nvSpPr>
        <p:spPr/>
        <p:txBody>
          <a:bodyPr/>
          <a:lstStyle/>
          <a:p>
            <a:pPr>
              <a:defRPr/>
            </a:pPr>
            <a:fld id="{44B9156C-E010-4363-9E9A-02585771617C}" type="slidenum">
              <a:rPr lang="en-GB"/>
              <a:pPr>
                <a:defRPr/>
              </a:pPr>
              <a:t>12</a:t>
            </a:fld>
            <a:endParaRPr lang="en-GB"/>
          </a:p>
        </p:txBody>
      </p:sp>
      <p:sp>
        <p:nvSpPr>
          <p:cNvPr id="4" name="Content Placeholder 3"/>
          <p:cNvSpPr>
            <a:spLocks noGrp="1"/>
          </p:cNvSpPr>
          <p:nvPr>
            <p:ph sz="quarter" idx="1"/>
          </p:nvPr>
        </p:nvSpPr>
        <p:spPr>
          <a:xfrm>
            <a:off x="914400" y="1447800"/>
            <a:ext cx="7772400" cy="5005388"/>
          </a:xfrm>
        </p:spPr>
        <p:txBody>
          <a:bodyPr>
            <a:normAutofit fontScale="92500" lnSpcReduction="10000"/>
          </a:bodyPr>
          <a:lstStyle/>
          <a:p>
            <a:pPr marL="274320" indent="-274320" eaLnBrk="1" fontAlgn="auto" hangingPunct="1">
              <a:spcBef>
                <a:spcPts val="580"/>
              </a:spcBef>
              <a:spcAft>
                <a:spcPts val="0"/>
              </a:spcAft>
              <a:buFont typeface="Wingdings 2"/>
              <a:buChar char=""/>
              <a:defRPr/>
            </a:pPr>
            <a:r>
              <a:rPr lang="en-GB" dirty="0">
                <a:solidFill>
                  <a:srgbClr val="0070C0"/>
                </a:solidFill>
              </a:rPr>
              <a:t>Big question is </a:t>
            </a:r>
            <a:r>
              <a:rPr lang="en-GB" u="sng" dirty="0">
                <a:solidFill>
                  <a:srgbClr val="0070C0"/>
                </a:solidFill>
              </a:rPr>
              <a:t>whether the seller has continuously warranted the condition of the goods</a:t>
            </a:r>
            <a:r>
              <a:rPr lang="en-GB" dirty="0">
                <a:solidFill>
                  <a:srgbClr val="0070C0"/>
                </a:solidFill>
              </a:rPr>
              <a:t>? </a:t>
            </a:r>
          </a:p>
          <a:p>
            <a:pPr marL="548640" lvl="1" eaLnBrk="1" fontAlgn="auto" hangingPunct="1">
              <a:spcBef>
                <a:spcPts val="370"/>
              </a:spcBef>
              <a:spcAft>
                <a:spcPts val="0"/>
              </a:spcAft>
              <a:buFont typeface="Wingdings 2"/>
              <a:buChar char=""/>
              <a:defRPr/>
            </a:pPr>
            <a:r>
              <a:rPr lang="en-GB" u="sng" dirty="0"/>
              <a:t>Yes</a:t>
            </a:r>
            <a:r>
              <a:rPr lang="en-GB" dirty="0"/>
              <a:t> – S remains liable for the deterioration in their condition.</a:t>
            </a:r>
          </a:p>
          <a:p>
            <a:pPr marL="822960" lvl="2" eaLnBrk="1" fontAlgn="auto" hangingPunct="1">
              <a:spcBef>
                <a:spcPts val="370"/>
              </a:spcBef>
              <a:spcAft>
                <a:spcPts val="0"/>
              </a:spcAft>
              <a:buClr>
                <a:schemeClr val="accent1">
                  <a:tint val="60000"/>
                </a:schemeClr>
              </a:buClr>
              <a:buFont typeface="Wingdings 2"/>
              <a:buChar char=""/>
              <a:defRPr/>
            </a:pPr>
            <a:r>
              <a:rPr lang="en-GB" dirty="0"/>
              <a:t>For this reason when there is a CIF contract the S insures the goods against risks.</a:t>
            </a:r>
          </a:p>
          <a:p>
            <a:pPr marL="548640" lvl="1" eaLnBrk="1" fontAlgn="auto" hangingPunct="1">
              <a:spcBef>
                <a:spcPts val="370"/>
              </a:spcBef>
              <a:spcAft>
                <a:spcPts val="0"/>
              </a:spcAft>
              <a:buFont typeface="Wingdings 2"/>
              <a:buChar char=""/>
              <a:defRPr/>
            </a:pPr>
            <a:r>
              <a:rPr lang="en-GB" u="sng" dirty="0"/>
              <a:t>No</a:t>
            </a:r>
            <a:r>
              <a:rPr lang="en-GB" dirty="0"/>
              <a:t> – risk has passed to the B.</a:t>
            </a:r>
          </a:p>
          <a:p>
            <a:pPr marL="548640" lvl="1" eaLnBrk="1" fontAlgn="auto" hangingPunct="1">
              <a:spcBef>
                <a:spcPts val="370"/>
              </a:spcBef>
              <a:spcAft>
                <a:spcPts val="0"/>
              </a:spcAft>
              <a:buFont typeface="Wingdings 2"/>
              <a:buChar char=""/>
              <a:defRPr/>
            </a:pPr>
            <a:endParaRPr lang="en-GB" dirty="0"/>
          </a:p>
          <a:p>
            <a:pPr marL="274320" indent="-274320" eaLnBrk="1" fontAlgn="auto" hangingPunct="1">
              <a:spcBef>
                <a:spcPts val="580"/>
              </a:spcBef>
              <a:spcAft>
                <a:spcPts val="0"/>
              </a:spcAft>
              <a:buFont typeface="Wingdings 2"/>
              <a:buChar char=""/>
              <a:defRPr/>
            </a:pPr>
            <a:r>
              <a:rPr lang="en-GB" dirty="0"/>
              <a:t>What happens when the goods are </a:t>
            </a:r>
            <a:r>
              <a:rPr lang="en-GB" u="sng" dirty="0"/>
              <a:t>accidentally destroyed</a:t>
            </a:r>
            <a:r>
              <a:rPr lang="en-GB" dirty="0"/>
              <a:t>?</a:t>
            </a:r>
          </a:p>
          <a:p>
            <a:pPr marL="548640" lvl="1" eaLnBrk="1" fontAlgn="auto" hangingPunct="1">
              <a:spcBef>
                <a:spcPts val="370"/>
              </a:spcBef>
              <a:spcAft>
                <a:spcPts val="0"/>
              </a:spcAft>
              <a:buFont typeface="Wingdings 2"/>
              <a:buChar char=""/>
              <a:defRPr/>
            </a:pPr>
            <a:r>
              <a:rPr lang="en-GB" u="sng" dirty="0"/>
              <a:t>If the goods are accidentally destroyed after the property has passed the B has the risk. </a:t>
            </a:r>
            <a:r>
              <a:rPr lang="en-GB" dirty="0"/>
              <a:t>B must pay the price even though the S cannot deliver the goods.</a:t>
            </a:r>
          </a:p>
          <a:p>
            <a:pPr marL="822960" lvl="2" eaLnBrk="1" fontAlgn="auto" hangingPunct="1">
              <a:spcBef>
                <a:spcPts val="370"/>
              </a:spcBef>
              <a:spcAft>
                <a:spcPts val="0"/>
              </a:spcAft>
              <a:buClr>
                <a:schemeClr val="accent1">
                  <a:tint val="60000"/>
                </a:schemeClr>
              </a:buClr>
              <a:buFont typeface="Wingdings 2"/>
              <a:buChar char=""/>
              <a:defRPr/>
            </a:pPr>
            <a:r>
              <a:rPr lang="en-GB" dirty="0"/>
              <a:t>If B buys the goods, they are left overnight in the S’s warehouse and the goods are destroyed does B have to pay? In today’s commercial life, the goods will be insured and if B pays, the S would be considered as a constructive trustee of the proceeds of the insurance policy for the B.</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GB" dirty="0">
                <a:solidFill>
                  <a:schemeClr val="tx1"/>
                </a:solidFill>
              </a:rPr>
              <a:t>Transfer of Risk</a:t>
            </a:r>
          </a:p>
        </p:txBody>
      </p:sp>
      <p:sp>
        <p:nvSpPr>
          <p:cNvPr id="3" name="Slide Number Placeholder 2"/>
          <p:cNvSpPr>
            <a:spLocks noGrp="1"/>
          </p:cNvSpPr>
          <p:nvPr>
            <p:ph type="sldNum" sz="quarter" idx="12"/>
          </p:nvPr>
        </p:nvSpPr>
        <p:spPr/>
        <p:txBody>
          <a:bodyPr/>
          <a:lstStyle/>
          <a:p>
            <a:pPr>
              <a:defRPr/>
            </a:pPr>
            <a:fld id="{7B01BFF4-56A9-4071-B59B-84E7246B78B6}" type="slidenum">
              <a:rPr lang="en-GB"/>
              <a:pPr>
                <a:defRPr/>
              </a:pPr>
              <a:t>13</a:t>
            </a:fld>
            <a:endParaRPr lang="en-GB"/>
          </a:p>
        </p:txBody>
      </p:sp>
      <p:sp>
        <p:nvSpPr>
          <p:cNvPr id="17412" name="Content Placeholder 3"/>
          <p:cNvSpPr>
            <a:spLocks noGrp="1"/>
          </p:cNvSpPr>
          <p:nvPr>
            <p:ph sz="quarter" idx="1"/>
          </p:nvPr>
        </p:nvSpPr>
        <p:spPr/>
        <p:txBody>
          <a:bodyPr/>
          <a:lstStyle/>
          <a:p>
            <a:pPr eaLnBrk="1" hangingPunct="1"/>
            <a:r>
              <a:rPr lang="en-GB" dirty="0">
                <a:solidFill>
                  <a:srgbClr val="FF0000"/>
                </a:solidFill>
                <a:highlight>
                  <a:srgbClr val="FFFF00"/>
                </a:highlight>
              </a:rPr>
              <a:t>Who should insure the goods against risk?</a:t>
            </a:r>
          </a:p>
          <a:p>
            <a:pPr lvl="1" eaLnBrk="1" hangingPunct="1"/>
            <a:r>
              <a:rPr lang="en-GB" dirty="0">
                <a:solidFill>
                  <a:srgbClr val="FF0000"/>
                </a:solidFill>
                <a:highlight>
                  <a:srgbClr val="FFFF00"/>
                </a:highlight>
              </a:rPr>
              <a:t>The party with physical possession?? The party with title??  Someone else??</a:t>
            </a:r>
          </a:p>
          <a:p>
            <a:pPr lvl="1" eaLnBrk="1" hangingPunct="1"/>
            <a:endParaRPr lang="en-GB" dirty="0"/>
          </a:p>
          <a:p>
            <a:pPr eaLnBrk="1" hangingPunct="1"/>
            <a:r>
              <a:rPr lang="en-GB" dirty="0"/>
              <a:t>What about </a:t>
            </a:r>
            <a:r>
              <a:rPr lang="en-GB" b="1" dirty="0"/>
              <a:t>s. 20(2)</a:t>
            </a:r>
            <a:r>
              <a:rPr lang="en-GB" dirty="0"/>
              <a:t>?</a:t>
            </a:r>
          </a:p>
          <a:p>
            <a:pPr lvl="1" eaLnBrk="1" hangingPunct="1"/>
            <a:r>
              <a:rPr lang="en-GB" b="1" i="1" u="sng" dirty="0" err="1">
                <a:solidFill>
                  <a:srgbClr val="0070C0"/>
                </a:solidFill>
              </a:rPr>
              <a:t>Demby</a:t>
            </a:r>
            <a:r>
              <a:rPr lang="en-GB" b="1" i="1" u="sng" dirty="0">
                <a:solidFill>
                  <a:srgbClr val="0070C0"/>
                </a:solidFill>
              </a:rPr>
              <a:t> Hamilton v Barden</a:t>
            </a:r>
          </a:p>
          <a:p>
            <a:pPr lvl="2" eaLnBrk="1" hangingPunct="1"/>
            <a:r>
              <a:rPr lang="en-GB" i="1" dirty="0"/>
              <a:t>Buyer liable as the B was delayed in taking delivery.</a:t>
            </a:r>
          </a:p>
          <a:p>
            <a:pPr lvl="2" eaLnBrk="1" hangingPunct="1"/>
            <a:r>
              <a:rPr lang="en-GB" i="1" dirty="0"/>
              <a:t>Buyer is liable for those risks which might not have occurred but for such fault.</a:t>
            </a:r>
          </a:p>
          <a:p>
            <a:pPr eaLnBrk="1" hangingPunct="1"/>
            <a:endParaRPr lang="en-GB"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GB" b="1" u="sng" dirty="0">
                <a:solidFill>
                  <a:srgbClr val="FF0000"/>
                </a:solidFill>
                <a:highlight>
                  <a:srgbClr val="FFFF00"/>
                </a:highlight>
              </a:rPr>
              <a:t>Frustration</a:t>
            </a:r>
          </a:p>
        </p:txBody>
      </p:sp>
      <p:sp>
        <p:nvSpPr>
          <p:cNvPr id="3" name="Slide Number Placeholder 2"/>
          <p:cNvSpPr>
            <a:spLocks noGrp="1"/>
          </p:cNvSpPr>
          <p:nvPr>
            <p:ph type="sldNum" sz="quarter" idx="12"/>
          </p:nvPr>
        </p:nvSpPr>
        <p:spPr/>
        <p:txBody>
          <a:bodyPr/>
          <a:lstStyle/>
          <a:p>
            <a:pPr>
              <a:defRPr/>
            </a:pPr>
            <a:fld id="{AC600614-BD32-4CF4-A20C-67615F1ED7C7}" type="slidenum">
              <a:rPr lang="en-GB"/>
              <a:pPr>
                <a:defRPr/>
              </a:pPr>
              <a:t>14</a:t>
            </a:fld>
            <a:endParaRPr lang="en-GB"/>
          </a:p>
        </p:txBody>
      </p:sp>
      <p:sp>
        <p:nvSpPr>
          <p:cNvPr id="4" name="Content Placeholder 3"/>
          <p:cNvSpPr>
            <a:spLocks noGrp="1"/>
          </p:cNvSpPr>
          <p:nvPr>
            <p:ph sz="quarter" idx="1"/>
          </p:nvPr>
        </p:nvSpPr>
        <p:spPr>
          <a:xfrm>
            <a:off x="611188" y="1447800"/>
            <a:ext cx="8075612" cy="4860925"/>
          </a:xfrm>
        </p:spPr>
        <p:txBody>
          <a:bodyPr>
            <a:normAutofit fontScale="92500"/>
          </a:bodyPr>
          <a:lstStyle/>
          <a:p>
            <a:pPr marL="274320" indent="-274320" eaLnBrk="1" fontAlgn="auto" hangingPunct="1">
              <a:spcBef>
                <a:spcPts val="580"/>
              </a:spcBef>
              <a:spcAft>
                <a:spcPts val="0"/>
              </a:spcAft>
              <a:buFont typeface="Wingdings 2"/>
              <a:buChar char=""/>
              <a:defRPr/>
            </a:pPr>
            <a:r>
              <a:rPr lang="en-GB" b="1" dirty="0">
                <a:solidFill>
                  <a:srgbClr val="FF0000"/>
                </a:solidFill>
              </a:rPr>
              <a:t>S. 7 </a:t>
            </a:r>
            <a:r>
              <a:rPr lang="en-GB" dirty="0"/>
              <a:t>– if the goods perish before the property passes, the S bears the loss and B is not under the obligation to pay the price.</a:t>
            </a:r>
          </a:p>
          <a:p>
            <a:pPr marL="548640" lvl="1" eaLnBrk="1" fontAlgn="auto" hangingPunct="1">
              <a:spcBef>
                <a:spcPts val="370"/>
              </a:spcBef>
              <a:spcAft>
                <a:spcPts val="0"/>
              </a:spcAft>
              <a:buFont typeface="Wingdings 2"/>
              <a:buChar char=""/>
              <a:defRPr/>
            </a:pPr>
            <a:r>
              <a:rPr lang="en-GB" dirty="0"/>
              <a:t>But S is also not liable for non-delivery.</a:t>
            </a:r>
          </a:p>
          <a:p>
            <a:pPr marL="548640" lvl="1" eaLnBrk="1" fontAlgn="auto" hangingPunct="1">
              <a:spcBef>
                <a:spcPts val="370"/>
              </a:spcBef>
              <a:spcAft>
                <a:spcPts val="0"/>
              </a:spcAft>
              <a:buFont typeface="Wingdings 2" pitchFamily="18" charset="2"/>
              <a:buNone/>
              <a:defRPr/>
            </a:pPr>
            <a:endParaRPr lang="en-GB" dirty="0"/>
          </a:p>
          <a:p>
            <a:pPr marL="274320" indent="-274320" eaLnBrk="1" fontAlgn="auto" hangingPunct="1">
              <a:spcBef>
                <a:spcPts val="580"/>
              </a:spcBef>
              <a:spcAft>
                <a:spcPts val="0"/>
              </a:spcAft>
              <a:buFont typeface="Wingdings 2"/>
              <a:buChar char=""/>
              <a:defRPr/>
            </a:pPr>
            <a:r>
              <a:rPr lang="en-GB" dirty="0"/>
              <a:t>As the K is avoided both parties are discharged from their obligations.</a:t>
            </a:r>
          </a:p>
          <a:p>
            <a:pPr marL="274320" indent="-274320" eaLnBrk="1" fontAlgn="auto" hangingPunct="1">
              <a:spcBef>
                <a:spcPts val="580"/>
              </a:spcBef>
              <a:spcAft>
                <a:spcPts val="0"/>
              </a:spcAft>
              <a:buFont typeface="Wingdings 2" pitchFamily="18" charset="2"/>
              <a:buNone/>
              <a:defRPr/>
            </a:pPr>
            <a:endParaRPr lang="en-GB" dirty="0"/>
          </a:p>
          <a:p>
            <a:pPr marL="274320" indent="-274320" eaLnBrk="1" fontAlgn="auto" hangingPunct="1">
              <a:spcBef>
                <a:spcPts val="580"/>
              </a:spcBef>
              <a:spcAft>
                <a:spcPts val="0"/>
              </a:spcAft>
              <a:buFont typeface="Wingdings 2"/>
              <a:buChar char=""/>
              <a:defRPr/>
            </a:pPr>
            <a:r>
              <a:rPr lang="en-GB" b="1" dirty="0">
                <a:solidFill>
                  <a:srgbClr val="FF0000"/>
                </a:solidFill>
              </a:rPr>
              <a:t>S. 7 only applies to the contract of </a:t>
            </a:r>
            <a:r>
              <a:rPr lang="en-GB" b="1" u="sng" dirty="0">
                <a:solidFill>
                  <a:srgbClr val="FF0000"/>
                </a:solidFill>
              </a:rPr>
              <a:t>sale of specific goods in which neither the property nor the risk has passed.</a:t>
            </a:r>
          </a:p>
          <a:p>
            <a:pPr marL="274320" indent="-274320" eaLnBrk="1" fontAlgn="auto" hangingPunct="1">
              <a:spcBef>
                <a:spcPts val="580"/>
              </a:spcBef>
              <a:spcAft>
                <a:spcPts val="0"/>
              </a:spcAft>
              <a:buFont typeface="Wingdings 2" pitchFamily="18" charset="2"/>
              <a:buNone/>
              <a:defRPr/>
            </a:pPr>
            <a:endParaRPr lang="en-GB" b="1" dirty="0"/>
          </a:p>
          <a:p>
            <a:pPr marL="548640" lvl="1" eaLnBrk="1" fontAlgn="auto" hangingPunct="1">
              <a:spcBef>
                <a:spcPts val="370"/>
              </a:spcBef>
              <a:spcAft>
                <a:spcPts val="0"/>
              </a:spcAft>
              <a:buFont typeface="Wingdings 2"/>
              <a:buChar char=""/>
              <a:defRPr/>
            </a:pPr>
            <a:r>
              <a:rPr lang="en-GB" dirty="0"/>
              <a:t>In the sale of specific goods both the property and risk pass at once.</a:t>
            </a:r>
          </a:p>
          <a:p>
            <a:pPr marL="548640" lvl="1" eaLnBrk="1" fontAlgn="auto" hangingPunct="1">
              <a:spcBef>
                <a:spcPts val="370"/>
              </a:spcBef>
              <a:spcAft>
                <a:spcPts val="0"/>
              </a:spcAft>
              <a:buFont typeface="Wingdings 2" pitchFamily="18" charset="2"/>
              <a:buNone/>
              <a:defRPr/>
            </a:pPr>
            <a:endParaRPr lang="en-GB" dirty="0"/>
          </a:p>
          <a:p>
            <a:pPr marL="274320" indent="-274320" eaLnBrk="1" fontAlgn="auto" hangingPunct="1">
              <a:spcBef>
                <a:spcPts val="580"/>
              </a:spcBef>
              <a:spcAft>
                <a:spcPts val="0"/>
              </a:spcAft>
              <a:buFont typeface="Wingdings 2"/>
              <a:buChar char=""/>
              <a:defRPr/>
            </a:pPr>
            <a:endParaRPr lang="en-GB" dirty="0"/>
          </a:p>
          <a:p>
            <a:pPr marL="274320" indent="-274320" eaLnBrk="1" fontAlgn="auto" hangingPunct="1">
              <a:spcBef>
                <a:spcPts val="580"/>
              </a:spcBef>
              <a:spcAft>
                <a:spcPts val="0"/>
              </a:spcAft>
              <a:buFont typeface="Wingdings 2"/>
              <a:buChar char=""/>
              <a:defRPr/>
            </a:pPr>
            <a:endParaRPr lang="en-GB"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GB" dirty="0">
                <a:solidFill>
                  <a:schemeClr val="tx1"/>
                </a:solidFill>
              </a:rPr>
              <a:t>Frustration</a:t>
            </a:r>
          </a:p>
        </p:txBody>
      </p:sp>
      <p:sp>
        <p:nvSpPr>
          <p:cNvPr id="3" name="Slide Number Placeholder 2"/>
          <p:cNvSpPr>
            <a:spLocks noGrp="1"/>
          </p:cNvSpPr>
          <p:nvPr>
            <p:ph type="sldNum" sz="quarter" idx="12"/>
          </p:nvPr>
        </p:nvSpPr>
        <p:spPr/>
        <p:txBody>
          <a:bodyPr/>
          <a:lstStyle/>
          <a:p>
            <a:pPr>
              <a:defRPr/>
            </a:pPr>
            <a:fld id="{64164708-6018-40E9-8422-1806D70D9280}" type="slidenum">
              <a:rPr lang="en-GB"/>
              <a:pPr>
                <a:defRPr/>
              </a:pPr>
              <a:t>15</a:t>
            </a:fld>
            <a:endParaRPr lang="en-GB"/>
          </a:p>
        </p:txBody>
      </p:sp>
      <p:sp>
        <p:nvSpPr>
          <p:cNvPr id="19460" name="Content Placeholder 3"/>
          <p:cNvSpPr>
            <a:spLocks noGrp="1"/>
          </p:cNvSpPr>
          <p:nvPr>
            <p:ph sz="quarter" idx="1"/>
          </p:nvPr>
        </p:nvSpPr>
        <p:spPr>
          <a:xfrm>
            <a:off x="468313" y="1447800"/>
            <a:ext cx="8351837" cy="5005388"/>
          </a:xfrm>
        </p:spPr>
        <p:txBody>
          <a:bodyPr/>
          <a:lstStyle/>
          <a:p>
            <a:pPr eaLnBrk="1" hangingPunct="1"/>
            <a:endParaRPr lang="en-GB" sz="2000" b="1" i="1" dirty="0"/>
          </a:p>
          <a:p>
            <a:pPr eaLnBrk="1" hangingPunct="1"/>
            <a:r>
              <a:rPr lang="en-GB" sz="2400" b="1" i="1" dirty="0">
                <a:solidFill>
                  <a:srgbClr val="0070C0"/>
                </a:solidFill>
              </a:rPr>
              <a:t>Barrow Lane v Phillips</a:t>
            </a:r>
          </a:p>
          <a:p>
            <a:pPr lvl="1" eaLnBrk="1" hangingPunct="1"/>
            <a:r>
              <a:rPr lang="en-GB" i="1" dirty="0"/>
              <a:t>If the K is </a:t>
            </a:r>
            <a:r>
              <a:rPr lang="en-GB" i="1" dirty="0" err="1"/>
              <a:t>unseverable</a:t>
            </a:r>
            <a:r>
              <a:rPr lang="en-GB" i="1" dirty="0"/>
              <a:t> it is frustrated by the perishing of part of the goods, but if it is severable it is frustrated only as to the part which has perished.</a:t>
            </a:r>
          </a:p>
          <a:p>
            <a:pPr lvl="1" eaLnBrk="1" hangingPunct="1">
              <a:buFont typeface="Wingdings 2" pitchFamily="18" charset="2"/>
              <a:buNone/>
            </a:pPr>
            <a:endParaRPr lang="en-GB" i="1" dirty="0"/>
          </a:p>
          <a:p>
            <a:pPr eaLnBrk="1" hangingPunct="1"/>
            <a:r>
              <a:rPr lang="en-GB" sz="2400" b="1" i="1" dirty="0">
                <a:solidFill>
                  <a:srgbClr val="0070C0"/>
                </a:solidFill>
              </a:rPr>
              <a:t>H R &amp; S Sainsbury v Street</a:t>
            </a:r>
          </a:p>
          <a:p>
            <a:pPr lvl="1" eaLnBrk="1" hangingPunct="1"/>
            <a:r>
              <a:rPr lang="en-GB" i="1" dirty="0"/>
              <a:t>Where only part of the goods perish, the seller may be obliged to offer the remaining goods to the buyer</a:t>
            </a:r>
          </a:p>
          <a:p>
            <a:pPr lvl="1" eaLnBrk="1" hangingPunct="1">
              <a:buFont typeface="Wingdings 2" pitchFamily="18" charset="2"/>
              <a:buNone/>
            </a:pPr>
            <a:endParaRPr lang="en-GB" i="1" dirty="0"/>
          </a:p>
          <a:p>
            <a:pPr eaLnBrk="1" hangingPunct="1"/>
            <a:r>
              <a:rPr lang="en-GB" sz="2400" b="1" dirty="0">
                <a:solidFill>
                  <a:srgbClr val="FF0000"/>
                </a:solidFill>
              </a:rPr>
              <a:t>If the risk has passed the subsequent destruction of goods cannot frustrate the contract.  Hugely important!</a:t>
            </a:r>
          </a:p>
          <a:p>
            <a:pPr eaLnBrk="1" hangingPunct="1"/>
            <a:endParaRPr lang="en-GB"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GB" dirty="0">
                <a:solidFill>
                  <a:schemeClr val="tx1"/>
                </a:solidFill>
              </a:rPr>
              <a:t>Frustration </a:t>
            </a:r>
          </a:p>
        </p:txBody>
      </p:sp>
      <p:sp>
        <p:nvSpPr>
          <p:cNvPr id="3" name="Content Placeholder 2"/>
          <p:cNvSpPr>
            <a:spLocks noGrp="1"/>
          </p:cNvSpPr>
          <p:nvPr>
            <p:ph sz="quarter" idx="1"/>
          </p:nvPr>
        </p:nvSpPr>
        <p:spPr>
          <a:xfrm>
            <a:off x="914400" y="1447800"/>
            <a:ext cx="7772400" cy="5005536"/>
          </a:xfrm>
        </p:spPr>
        <p:txBody>
          <a:bodyPr/>
          <a:lstStyle/>
          <a:p>
            <a:pPr marL="548640" lvl="1" eaLnBrk="1" fontAlgn="auto" hangingPunct="1">
              <a:spcBef>
                <a:spcPts val="370"/>
              </a:spcBef>
              <a:spcAft>
                <a:spcPts val="0"/>
              </a:spcAft>
              <a:buFont typeface="Wingdings 2"/>
              <a:buChar char=""/>
              <a:defRPr/>
            </a:pPr>
            <a:endParaRPr lang="en-GB" sz="2200" dirty="0"/>
          </a:p>
          <a:p>
            <a:pPr marL="548640" lvl="1" eaLnBrk="1" fontAlgn="auto" hangingPunct="1">
              <a:spcBef>
                <a:spcPts val="370"/>
              </a:spcBef>
              <a:spcAft>
                <a:spcPts val="0"/>
              </a:spcAft>
              <a:buFont typeface="Wingdings 2"/>
              <a:buChar char=""/>
              <a:defRPr/>
            </a:pPr>
            <a:r>
              <a:rPr lang="en-GB" sz="2200" dirty="0">
                <a:highlight>
                  <a:srgbClr val="FFFF00"/>
                </a:highlight>
              </a:rPr>
              <a:t>Frustration cannot apply to an executed contract.</a:t>
            </a:r>
          </a:p>
          <a:p>
            <a:pPr marL="548640" lvl="1" eaLnBrk="1" fontAlgn="auto" hangingPunct="1">
              <a:spcBef>
                <a:spcPts val="370"/>
              </a:spcBef>
              <a:spcAft>
                <a:spcPts val="0"/>
              </a:spcAft>
              <a:buFont typeface="Wingdings 2" pitchFamily="18" charset="2"/>
              <a:buNone/>
              <a:defRPr/>
            </a:pPr>
            <a:endParaRPr lang="en-GB" sz="2200" b="1" dirty="0"/>
          </a:p>
          <a:p>
            <a:pPr marL="822960" lvl="2" eaLnBrk="1" fontAlgn="auto" hangingPunct="1">
              <a:spcBef>
                <a:spcPts val="370"/>
              </a:spcBef>
              <a:spcAft>
                <a:spcPts val="0"/>
              </a:spcAft>
              <a:buClr>
                <a:schemeClr val="accent1">
                  <a:tint val="60000"/>
                </a:schemeClr>
              </a:buClr>
              <a:buFont typeface="Wingdings 2"/>
              <a:buChar char=""/>
              <a:defRPr/>
            </a:pPr>
            <a:r>
              <a:rPr lang="en-GB" sz="2200" b="1" i="1" dirty="0">
                <a:solidFill>
                  <a:srgbClr val="FF0000"/>
                </a:solidFill>
              </a:rPr>
              <a:t>Re </a:t>
            </a:r>
            <a:r>
              <a:rPr lang="en-GB" sz="2200" b="1" i="1" dirty="0" err="1">
                <a:solidFill>
                  <a:srgbClr val="FF0000"/>
                </a:solidFill>
              </a:rPr>
              <a:t>Shipton</a:t>
            </a:r>
            <a:r>
              <a:rPr lang="en-GB" sz="2200" b="1" i="1" dirty="0">
                <a:solidFill>
                  <a:srgbClr val="FF0000"/>
                </a:solidFill>
              </a:rPr>
              <a:t> Anderson and Harrison Bros. </a:t>
            </a:r>
          </a:p>
          <a:p>
            <a:pPr marL="594360" lvl="2" indent="0" eaLnBrk="1" fontAlgn="auto" hangingPunct="1">
              <a:spcBef>
                <a:spcPts val="370"/>
              </a:spcBef>
              <a:spcAft>
                <a:spcPts val="0"/>
              </a:spcAft>
              <a:buClr>
                <a:schemeClr val="accent1">
                  <a:tint val="60000"/>
                </a:schemeClr>
              </a:buClr>
              <a:buNone/>
              <a:defRPr/>
            </a:pPr>
            <a:r>
              <a:rPr lang="en-GB" sz="2200" b="1" i="1" dirty="0">
                <a:solidFill>
                  <a:srgbClr val="FF0000"/>
                </a:solidFill>
              </a:rPr>
              <a:t>	If the property and risk have both already passed there can be no frustration.</a:t>
            </a:r>
            <a:endParaRPr lang="en-GB" sz="2200" b="1" dirty="0">
              <a:solidFill>
                <a:srgbClr val="FF0000"/>
              </a:solidFill>
            </a:endParaRPr>
          </a:p>
          <a:p>
            <a:pPr marL="548640" lvl="1" eaLnBrk="1" fontAlgn="auto" hangingPunct="1">
              <a:spcBef>
                <a:spcPts val="370"/>
              </a:spcBef>
              <a:spcAft>
                <a:spcPts val="0"/>
              </a:spcAft>
              <a:buFont typeface="Wingdings 2"/>
              <a:buChar char=""/>
              <a:defRPr/>
            </a:pPr>
            <a:endParaRPr lang="en-GB" sz="2200" dirty="0"/>
          </a:p>
          <a:p>
            <a:pPr marL="548640" lvl="1" eaLnBrk="1" fontAlgn="auto" hangingPunct="1">
              <a:spcBef>
                <a:spcPts val="370"/>
              </a:spcBef>
              <a:spcAft>
                <a:spcPts val="0"/>
              </a:spcAft>
              <a:buFont typeface="Wingdings 2"/>
              <a:buChar char=""/>
              <a:defRPr/>
            </a:pPr>
            <a:r>
              <a:rPr lang="en-GB" sz="2200" dirty="0"/>
              <a:t>If the property has passed the object of the K cannot be defeated by supervening events.</a:t>
            </a:r>
          </a:p>
          <a:p>
            <a:pPr marL="548640" lvl="1" eaLnBrk="1" fontAlgn="auto" hangingPunct="1">
              <a:spcBef>
                <a:spcPts val="370"/>
              </a:spcBef>
              <a:spcAft>
                <a:spcPts val="0"/>
              </a:spcAft>
              <a:buFont typeface="Wingdings 2" pitchFamily="18" charset="2"/>
              <a:buNone/>
              <a:defRPr/>
            </a:pPr>
            <a:endParaRPr lang="en-GB" sz="2200" dirty="0"/>
          </a:p>
          <a:p>
            <a:pPr marL="548640" lvl="1" eaLnBrk="1" fontAlgn="auto" hangingPunct="1">
              <a:spcBef>
                <a:spcPts val="370"/>
              </a:spcBef>
              <a:spcAft>
                <a:spcPts val="0"/>
              </a:spcAft>
              <a:buFont typeface="Wingdings 2"/>
              <a:buChar char=""/>
              <a:defRPr/>
            </a:pPr>
            <a:r>
              <a:rPr lang="en-GB" sz="2200" dirty="0"/>
              <a:t>If the risk has passed before the property the goods may have perished but the B’s obligation to pay the price means that the risk was on the B. Thus, again there is no frustration.</a:t>
            </a:r>
          </a:p>
          <a:p>
            <a:pPr>
              <a:defRPr/>
            </a:pPr>
            <a:endParaRPr lang="en-GB" dirty="0"/>
          </a:p>
        </p:txBody>
      </p:sp>
      <p:sp>
        <p:nvSpPr>
          <p:cNvPr id="4" name="Slide Number Placeholder 3"/>
          <p:cNvSpPr>
            <a:spLocks noGrp="1"/>
          </p:cNvSpPr>
          <p:nvPr>
            <p:ph type="sldNum" sz="quarter" idx="12"/>
          </p:nvPr>
        </p:nvSpPr>
        <p:spPr/>
        <p:txBody>
          <a:bodyPr/>
          <a:lstStyle/>
          <a:p>
            <a:pPr>
              <a:defRPr/>
            </a:pPr>
            <a:fld id="{BBB01CE6-5431-43E8-B702-FF2719C48D6E}" type="slidenum">
              <a:rPr lang="en-GB" smtClean="0"/>
              <a:pPr>
                <a:defRPr/>
              </a:pPr>
              <a:t>16</a:t>
            </a:fld>
            <a:endParaRPr lang="en-GB"/>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pPr eaLnBrk="1" hangingPunct="1"/>
            <a:r>
              <a:rPr lang="en-GB" dirty="0">
                <a:solidFill>
                  <a:schemeClr val="tx1"/>
                </a:solidFill>
              </a:rPr>
              <a:t>Frustration</a:t>
            </a:r>
          </a:p>
        </p:txBody>
      </p:sp>
      <p:sp>
        <p:nvSpPr>
          <p:cNvPr id="3" name="Slide Number Placeholder 2"/>
          <p:cNvSpPr>
            <a:spLocks noGrp="1"/>
          </p:cNvSpPr>
          <p:nvPr>
            <p:ph type="sldNum" sz="quarter" idx="12"/>
          </p:nvPr>
        </p:nvSpPr>
        <p:spPr/>
        <p:txBody>
          <a:bodyPr/>
          <a:lstStyle/>
          <a:p>
            <a:pPr>
              <a:defRPr/>
            </a:pPr>
            <a:fld id="{0BF0D877-5382-4732-AE62-55FDA77386E8}" type="slidenum">
              <a:rPr lang="en-GB"/>
              <a:pPr>
                <a:defRPr/>
              </a:pPr>
              <a:t>17</a:t>
            </a:fld>
            <a:endParaRPr lang="en-GB"/>
          </a:p>
        </p:txBody>
      </p:sp>
      <p:sp>
        <p:nvSpPr>
          <p:cNvPr id="21508" name="Content Placeholder 3"/>
          <p:cNvSpPr>
            <a:spLocks noGrp="1"/>
          </p:cNvSpPr>
          <p:nvPr>
            <p:ph sz="quarter" idx="1"/>
          </p:nvPr>
        </p:nvSpPr>
        <p:spPr>
          <a:xfrm>
            <a:off x="539750" y="1447800"/>
            <a:ext cx="8147050" cy="5005388"/>
          </a:xfrm>
        </p:spPr>
        <p:txBody>
          <a:bodyPr/>
          <a:lstStyle/>
          <a:p>
            <a:pPr eaLnBrk="1" hangingPunct="1"/>
            <a:r>
              <a:rPr lang="en-GB" b="1" dirty="0"/>
              <a:t>S. 7 has </a:t>
            </a:r>
            <a:r>
              <a:rPr lang="en-GB" b="1" u="sng" dirty="0">
                <a:solidFill>
                  <a:srgbClr val="0070C0"/>
                </a:solidFill>
              </a:rPr>
              <a:t>three possible constructions</a:t>
            </a:r>
            <a:r>
              <a:rPr lang="en-GB" b="1" dirty="0">
                <a:solidFill>
                  <a:srgbClr val="0070C0"/>
                </a:solidFill>
              </a:rPr>
              <a:t>:</a:t>
            </a:r>
          </a:p>
          <a:p>
            <a:pPr eaLnBrk="1" hangingPunct="1">
              <a:buFont typeface="Wingdings 2" pitchFamily="18" charset="2"/>
              <a:buNone/>
            </a:pPr>
            <a:endParaRPr lang="en-GB" dirty="0"/>
          </a:p>
          <a:p>
            <a:pPr marL="776288" lvl="1" indent="-457200" eaLnBrk="1" hangingPunct="1">
              <a:buFont typeface="Franklin Gothic Book" pitchFamily="34" charset="0"/>
              <a:buAutoNum type="arabicPeriod"/>
            </a:pPr>
            <a:r>
              <a:rPr lang="en-GB" dirty="0"/>
              <a:t>Implied condition that if the goods perish the K will be discharged and neither party will be liable.</a:t>
            </a:r>
          </a:p>
          <a:p>
            <a:pPr marL="776288" lvl="1" indent="-457200" eaLnBrk="1" hangingPunct="1">
              <a:buFont typeface="Franklin Gothic Book" pitchFamily="34" charset="0"/>
              <a:buAutoNum type="arabicPeriod"/>
            </a:pPr>
            <a:endParaRPr lang="en-GB" dirty="0"/>
          </a:p>
          <a:p>
            <a:pPr marL="776288" lvl="1" indent="-457200" eaLnBrk="1" hangingPunct="1">
              <a:buFont typeface="Franklin Gothic Book" pitchFamily="34" charset="0"/>
              <a:buAutoNum type="arabicPeriod"/>
            </a:pPr>
            <a:r>
              <a:rPr lang="en-GB" dirty="0"/>
              <a:t>S may promise that the goods will not perish and if they do the S will bear the loss of goods and be liable for damages for non-delivery.</a:t>
            </a:r>
          </a:p>
          <a:p>
            <a:pPr marL="776288" lvl="1" indent="-457200" eaLnBrk="1" hangingPunct="1">
              <a:buFont typeface="Franklin Gothic Book" pitchFamily="34" charset="0"/>
              <a:buAutoNum type="arabicPeriod"/>
            </a:pPr>
            <a:endParaRPr lang="en-GB" dirty="0"/>
          </a:p>
          <a:p>
            <a:pPr marL="776288" lvl="1" indent="-457200" eaLnBrk="1" hangingPunct="1">
              <a:buFont typeface="Franklin Gothic Book" pitchFamily="34" charset="0"/>
              <a:buAutoNum type="arabicPeriod"/>
            </a:pPr>
            <a:r>
              <a:rPr lang="en-GB" dirty="0"/>
              <a:t>B may promise to bear the consequences of the goods perishing, and if they do B has to pay the price and is liable for damages.</a:t>
            </a:r>
          </a:p>
          <a:p>
            <a:pPr marL="776288" lvl="1" indent="-457200" eaLnBrk="1" hangingPunct="1">
              <a:buFont typeface="Wingdings 2" pitchFamily="18" charset="2"/>
              <a:buNone/>
            </a:pPr>
            <a:r>
              <a:rPr lang="en-GB" dirty="0"/>
              <a:t> </a:t>
            </a:r>
          </a:p>
          <a:p>
            <a:pPr eaLnBrk="1" hangingPunct="1"/>
            <a:endParaRPr lang="en-GB" i="1" dirty="0"/>
          </a:p>
          <a:p>
            <a:pPr eaLnBrk="1" hangingPunct="1"/>
            <a:endParaRPr lang="en-GB" i="1"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GB" dirty="0">
                <a:solidFill>
                  <a:schemeClr val="tx1"/>
                </a:solidFill>
              </a:rPr>
              <a:t>Frustration</a:t>
            </a:r>
          </a:p>
        </p:txBody>
      </p:sp>
      <p:sp>
        <p:nvSpPr>
          <p:cNvPr id="22531" name="Content Placeholder 2"/>
          <p:cNvSpPr>
            <a:spLocks noGrp="1"/>
          </p:cNvSpPr>
          <p:nvPr>
            <p:ph sz="quarter" idx="1"/>
          </p:nvPr>
        </p:nvSpPr>
        <p:spPr>
          <a:xfrm>
            <a:off x="468313" y="1268413"/>
            <a:ext cx="8218487" cy="5184775"/>
          </a:xfrm>
        </p:spPr>
        <p:txBody>
          <a:bodyPr/>
          <a:lstStyle/>
          <a:p>
            <a:pPr eaLnBrk="1" hangingPunct="1"/>
            <a:r>
              <a:rPr lang="en-GB" u="sng" dirty="0">
                <a:solidFill>
                  <a:srgbClr val="FF0000"/>
                </a:solidFill>
              </a:rPr>
              <a:t>Key question: Can a K for unascertained goods be frustrated? </a:t>
            </a:r>
          </a:p>
          <a:p>
            <a:pPr lvl="1" eaLnBrk="1" hangingPunct="1"/>
            <a:r>
              <a:rPr lang="en-GB" dirty="0"/>
              <a:t>It depends on the type of goods:</a:t>
            </a:r>
          </a:p>
          <a:p>
            <a:pPr lvl="2" eaLnBrk="1" hangingPunct="1"/>
            <a:r>
              <a:rPr lang="en-GB" dirty="0"/>
              <a:t>Agreement to sell </a:t>
            </a:r>
            <a:r>
              <a:rPr lang="en-GB" b="1" dirty="0"/>
              <a:t>purely generic goods </a:t>
            </a:r>
            <a:r>
              <a:rPr lang="en-GB" dirty="0"/>
              <a:t>cannot be frustrated by destruction because a whole species cannot perish.</a:t>
            </a:r>
          </a:p>
          <a:p>
            <a:pPr lvl="2" eaLnBrk="1" hangingPunct="1"/>
            <a:r>
              <a:rPr lang="en-GB" dirty="0"/>
              <a:t>A particular stock of goods may perish but the B is not concerned whether S had a particular stock in mind. The S will still be liable to deliver and may pay damages for non-delivery.</a:t>
            </a:r>
          </a:p>
          <a:p>
            <a:pPr eaLnBrk="1" hangingPunct="1"/>
            <a:r>
              <a:rPr lang="en-GB" b="1" i="1" u="sng" dirty="0">
                <a:solidFill>
                  <a:srgbClr val="0070C0"/>
                </a:solidFill>
              </a:rPr>
              <a:t>Howell v Coupland </a:t>
            </a:r>
          </a:p>
          <a:p>
            <a:pPr lvl="2" eaLnBrk="1" hangingPunct="1"/>
            <a:r>
              <a:rPr lang="en-GB" i="1" dirty="0"/>
              <a:t>K for the sale of 200 tons of Regent potatoes on a particular piece of land. Only 80 tons produced due to disease. </a:t>
            </a:r>
          </a:p>
          <a:p>
            <a:pPr lvl="2" eaLnBrk="1" hangingPunct="1"/>
            <a:r>
              <a:rPr lang="en-GB" i="1" dirty="0"/>
              <a:t>H took delivery of the 80 tons and sued for damages for the failure to deliver the balance.</a:t>
            </a:r>
          </a:p>
          <a:p>
            <a:pPr lvl="2" eaLnBrk="1" hangingPunct="1"/>
            <a:r>
              <a:rPr lang="en-GB" b="1" i="1" dirty="0"/>
              <a:t>Held (CA)</a:t>
            </a:r>
            <a:r>
              <a:rPr lang="en-GB" i="1" dirty="0"/>
              <a:t>: K was frustrated by the failure of the crop.</a:t>
            </a:r>
          </a:p>
        </p:txBody>
      </p:sp>
      <p:sp>
        <p:nvSpPr>
          <p:cNvPr id="4" name="Slide Number Placeholder 3"/>
          <p:cNvSpPr>
            <a:spLocks noGrp="1"/>
          </p:cNvSpPr>
          <p:nvPr>
            <p:ph type="sldNum" sz="quarter" idx="12"/>
          </p:nvPr>
        </p:nvSpPr>
        <p:spPr/>
        <p:txBody>
          <a:bodyPr/>
          <a:lstStyle/>
          <a:p>
            <a:pPr>
              <a:defRPr/>
            </a:pPr>
            <a:fld id="{72AB16E5-0F70-43F9-AED5-3212A93ED52B}" type="slidenum">
              <a:rPr lang="en-GB" smtClean="0"/>
              <a:pPr>
                <a:defRPr/>
              </a:pPr>
              <a:t>18</a:t>
            </a:fld>
            <a:endParaRPr lang="en-GB"/>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GB" dirty="0">
                <a:solidFill>
                  <a:schemeClr val="tx1"/>
                </a:solidFill>
              </a:rPr>
              <a:t>Frustration</a:t>
            </a:r>
          </a:p>
        </p:txBody>
      </p:sp>
      <p:sp>
        <p:nvSpPr>
          <p:cNvPr id="23555" name="Content Placeholder 2"/>
          <p:cNvSpPr>
            <a:spLocks noGrp="1"/>
          </p:cNvSpPr>
          <p:nvPr>
            <p:ph sz="quarter" idx="1"/>
          </p:nvPr>
        </p:nvSpPr>
        <p:spPr/>
        <p:txBody>
          <a:bodyPr/>
          <a:lstStyle/>
          <a:p>
            <a:pPr eaLnBrk="1" hangingPunct="1"/>
            <a:endParaRPr lang="en-GB" i="1" dirty="0"/>
          </a:p>
          <a:p>
            <a:pPr eaLnBrk="1" hangingPunct="1"/>
            <a:r>
              <a:rPr lang="en-GB" b="1" i="1" dirty="0">
                <a:solidFill>
                  <a:srgbClr val="0070C0"/>
                </a:solidFill>
              </a:rPr>
              <a:t>Appleby v Myers</a:t>
            </a:r>
          </a:p>
          <a:p>
            <a:pPr eaLnBrk="1" hangingPunct="1">
              <a:buFont typeface="Wingdings 2" pitchFamily="18" charset="2"/>
              <a:buNone/>
            </a:pPr>
            <a:endParaRPr lang="en-GB" i="1" dirty="0"/>
          </a:p>
          <a:p>
            <a:pPr lvl="1" eaLnBrk="1" hangingPunct="1"/>
            <a:r>
              <a:rPr lang="en-GB" i="1" dirty="0"/>
              <a:t>Agreement to construct machinery; the building and the machinery were destroyed. The K may be frustrated.</a:t>
            </a:r>
          </a:p>
          <a:p>
            <a:pPr>
              <a:buFont typeface="Wingdings 2" pitchFamily="18" charset="2"/>
              <a:buNone/>
            </a:pPr>
            <a:endParaRPr lang="en-GB" dirty="0"/>
          </a:p>
        </p:txBody>
      </p:sp>
      <p:sp>
        <p:nvSpPr>
          <p:cNvPr id="4" name="Slide Number Placeholder 3"/>
          <p:cNvSpPr>
            <a:spLocks noGrp="1"/>
          </p:cNvSpPr>
          <p:nvPr>
            <p:ph type="sldNum" sz="quarter" idx="12"/>
          </p:nvPr>
        </p:nvSpPr>
        <p:spPr/>
        <p:txBody>
          <a:bodyPr/>
          <a:lstStyle/>
          <a:p>
            <a:pPr>
              <a:defRPr/>
            </a:pPr>
            <a:fld id="{C9A3A01C-4783-41D0-893E-602086D8E47B}" type="slidenum">
              <a:rPr lang="en-GB" smtClean="0"/>
              <a:pPr>
                <a:defRPr/>
              </a:pPr>
              <a:t>19</a:t>
            </a:fld>
            <a:endParaRPr lang="en-GB"/>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pPr eaLnBrk="1" hangingPunct="1"/>
            <a:r>
              <a:rPr lang="en-GB" dirty="0">
                <a:solidFill>
                  <a:schemeClr val="tx1"/>
                </a:solidFill>
              </a:rPr>
              <a:t>Frustration</a:t>
            </a:r>
          </a:p>
        </p:txBody>
      </p:sp>
      <p:sp>
        <p:nvSpPr>
          <p:cNvPr id="24579" name="Content Placeholder 2"/>
          <p:cNvSpPr>
            <a:spLocks noGrp="1"/>
          </p:cNvSpPr>
          <p:nvPr>
            <p:ph sz="quarter" idx="1"/>
          </p:nvPr>
        </p:nvSpPr>
        <p:spPr>
          <a:xfrm>
            <a:off x="539750" y="1268413"/>
            <a:ext cx="8147050" cy="5184775"/>
          </a:xfrm>
        </p:spPr>
        <p:txBody>
          <a:bodyPr/>
          <a:lstStyle/>
          <a:p>
            <a:pPr eaLnBrk="1" hangingPunct="1"/>
            <a:endParaRPr lang="en-GB" sz="2100" dirty="0"/>
          </a:p>
          <a:p>
            <a:pPr eaLnBrk="1" hangingPunct="1"/>
            <a:r>
              <a:rPr lang="en-GB" sz="2200" dirty="0"/>
              <a:t>K’s for unascertained goods may be </a:t>
            </a:r>
            <a:r>
              <a:rPr lang="en-GB" sz="2200" b="1" dirty="0">
                <a:solidFill>
                  <a:srgbClr val="0070C0"/>
                </a:solidFill>
              </a:rPr>
              <a:t>frustrated for reasons other than perishing.</a:t>
            </a:r>
          </a:p>
          <a:p>
            <a:pPr eaLnBrk="1" hangingPunct="1">
              <a:buFont typeface="Wingdings 2" pitchFamily="18" charset="2"/>
              <a:buNone/>
            </a:pPr>
            <a:endParaRPr lang="en-GB" sz="2200" dirty="0"/>
          </a:p>
          <a:p>
            <a:pPr lvl="1" eaLnBrk="1" hangingPunct="1"/>
            <a:r>
              <a:rPr lang="en-GB" sz="2200" b="1" u="sng" dirty="0"/>
              <a:t>BUT</a:t>
            </a:r>
            <a:r>
              <a:rPr lang="en-GB" sz="2200" dirty="0"/>
              <a:t> </a:t>
            </a:r>
            <a:r>
              <a:rPr lang="en-GB" sz="2200" dirty="0">
                <a:solidFill>
                  <a:srgbClr val="FF0000"/>
                </a:solidFill>
              </a:rPr>
              <a:t>it is difficult to convince the court that the event which has occurred has destroyed the basis of the contract. </a:t>
            </a:r>
          </a:p>
          <a:p>
            <a:pPr lvl="1" eaLnBrk="1" hangingPunct="1">
              <a:buFont typeface="Wingdings 2" pitchFamily="18" charset="2"/>
              <a:buNone/>
            </a:pPr>
            <a:endParaRPr lang="en-GB" sz="2200" dirty="0"/>
          </a:p>
          <a:p>
            <a:pPr lvl="1" eaLnBrk="1" hangingPunct="1"/>
            <a:r>
              <a:rPr lang="en-GB" sz="2200" b="1" i="1" dirty="0">
                <a:solidFill>
                  <a:srgbClr val="0070C0"/>
                </a:solidFill>
              </a:rPr>
              <a:t>Blackburn Bobbin v Allen</a:t>
            </a:r>
          </a:p>
          <a:p>
            <a:pPr lvl="2" eaLnBrk="1" hangingPunct="1"/>
            <a:r>
              <a:rPr lang="en-GB" sz="2200" i="1" dirty="0"/>
              <a:t>Unqualified contract for the sale of unascertained goods will not be dissolved by the operation of doctrine of frustration.</a:t>
            </a:r>
          </a:p>
          <a:p>
            <a:pPr lvl="2" eaLnBrk="1" hangingPunct="1">
              <a:buFont typeface="Wingdings 2" pitchFamily="18" charset="2"/>
              <a:buNone/>
            </a:pPr>
            <a:endParaRPr lang="en-GB" sz="2200" b="1" i="1" dirty="0"/>
          </a:p>
          <a:p>
            <a:pPr lvl="1" eaLnBrk="1" hangingPunct="1"/>
            <a:r>
              <a:rPr lang="en-GB" sz="2200" b="1" i="1" dirty="0">
                <a:solidFill>
                  <a:srgbClr val="0070C0"/>
                </a:solidFill>
              </a:rPr>
              <a:t>CTI Group v </a:t>
            </a:r>
            <a:r>
              <a:rPr lang="en-GB" sz="2200" b="1" i="1" dirty="0" err="1">
                <a:solidFill>
                  <a:srgbClr val="0070C0"/>
                </a:solidFill>
              </a:rPr>
              <a:t>Transclear</a:t>
            </a:r>
            <a:endParaRPr lang="en-GB" sz="2200" b="1" i="1" dirty="0">
              <a:solidFill>
                <a:srgbClr val="0070C0"/>
              </a:solidFill>
            </a:endParaRPr>
          </a:p>
          <a:p>
            <a:pPr lvl="2" eaLnBrk="1" hangingPunct="1"/>
            <a:r>
              <a:rPr lang="en-GB" sz="2200" i="1" dirty="0"/>
              <a:t>No frustration. The S could have sought to obtain similar goods elsewhere.</a:t>
            </a:r>
          </a:p>
          <a:p>
            <a:pPr lvl="1" eaLnBrk="1" hangingPunct="1"/>
            <a:endParaRPr lang="en-GB" i="1" dirty="0"/>
          </a:p>
          <a:p>
            <a:pPr eaLnBrk="1" hangingPunct="1"/>
            <a:endParaRPr lang="en-GB" i="1" dirty="0"/>
          </a:p>
        </p:txBody>
      </p:sp>
      <p:sp>
        <p:nvSpPr>
          <p:cNvPr id="4" name="Slide Number Placeholder 3"/>
          <p:cNvSpPr>
            <a:spLocks noGrp="1"/>
          </p:cNvSpPr>
          <p:nvPr>
            <p:ph type="sldNum" sz="quarter" idx="12"/>
          </p:nvPr>
        </p:nvSpPr>
        <p:spPr/>
        <p:txBody>
          <a:bodyPr/>
          <a:lstStyle/>
          <a:p>
            <a:pPr>
              <a:defRPr/>
            </a:pPr>
            <a:fld id="{2B40573B-11FC-41F7-8695-736A4AB93FAB}" type="slidenum">
              <a:rPr lang="en-GB" smtClean="0"/>
              <a:pPr>
                <a:defRPr/>
              </a:pPr>
              <a:t>20</a:t>
            </a:fld>
            <a:endParaRPr lang="en-GB"/>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GB" dirty="0">
                <a:solidFill>
                  <a:schemeClr val="tx1"/>
                </a:solidFill>
              </a:rPr>
              <a:t>Frustration </a:t>
            </a:r>
          </a:p>
        </p:txBody>
      </p:sp>
      <p:sp>
        <p:nvSpPr>
          <p:cNvPr id="25603" name="Content Placeholder 2"/>
          <p:cNvSpPr>
            <a:spLocks noGrp="1"/>
          </p:cNvSpPr>
          <p:nvPr>
            <p:ph sz="quarter" idx="1"/>
          </p:nvPr>
        </p:nvSpPr>
        <p:spPr/>
        <p:txBody>
          <a:bodyPr/>
          <a:lstStyle/>
          <a:p>
            <a:pPr lvl="1" eaLnBrk="1" hangingPunct="1"/>
            <a:endParaRPr lang="en-GB" i="1" dirty="0">
              <a:solidFill>
                <a:srgbClr val="0070C0"/>
              </a:solidFill>
            </a:endParaRPr>
          </a:p>
          <a:p>
            <a:pPr lvl="1" eaLnBrk="1" hangingPunct="1"/>
            <a:r>
              <a:rPr lang="en-GB" b="1" i="1" dirty="0" err="1">
                <a:solidFill>
                  <a:srgbClr val="0070C0"/>
                </a:solidFill>
              </a:rPr>
              <a:t>Tsakiroglou</a:t>
            </a:r>
            <a:r>
              <a:rPr lang="en-GB" b="1" i="1" dirty="0">
                <a:solidFill>
                  <a:srgbClr val="0070C0"/>
                </a:solidFill>
              </a:rPr>
              <a:t> v Noble </a:t>
            </a:r>
            <a:r>
              <a:rPr lang="en-GB" b="1" i="1" dirty="0" err="1">
                <a:solidFill>
                  <a:srgbClr val="0070C0"/>
                </a:solidFill>
              </a:rPr>
              <a:t>Thorl</a:t>
            </a:r>
            <a:endParaRPr lang="en-GB" b="1" i="1" dirty="0">
              <a:solidFill>
                <a:srgbClr val="0070C0"/>
              </a:solidFill>
            </a:endParaRPr>
          </a:p>
          <a:p>
            <a:pPr lvl="2" eaLnBrk="1" hangingPunct="1"/>
            <a:r>
              <a:rPr lang="en-GB" sz="2400" i="1" dirty="0"/>
              <a:t>Held (HL): Closure of the Suez Canal did not frustrate the CIF K for the sale of unascertained goods (Sudanese groundnut) to European buyers.</a:t>
            </a:r>
          </a:p>
          <a:p>
            <a:pPr lvl="2" eaLnBrk="1" hangingPunct="1">
              <a:buFont typeface="Wingdings 2" pitchFamily="18" charset="2"/>
              <a:buNone/>
            </a:pPr>
            <a:endParaRPr lang="en-GB" sz="2400" i="1" dirty="0"/>
          </a:p>
          <a:p>
            <a:pPr lvl="2" eaLnBrk="1" hangingPunct="1">
              <a:buFont typeface="Wingdings 2" pitchFamily="18" charset="2"/>
              <a:buNone/>
            </a:pPr>
            <a:r>
              <a:rPr lang="en-GB" sz="2400" b="1" i="1" u="sng" dirty="0"/>
              <a:t>BUT:</a:t>
            </a:r>
          </a:p>
          <a:p>
            <a:pPr lvl="1" eaLnBrk="1" hangingPunct="1"/>
            <a:r>
              <a:rPr lang="en-GB" b="1" i="1" dirty="0">
                <a:solidFill>
                  <a:srgbClr val="0070C0"/>
                </a:solidFill>
              </a:rPr>
              <a:t>Re </a:t>
            </a:r>
            <a:r>
              <a:rPr lang="en-GB" b="1" i="1" dirty="0" err="1">
                <a:solidFill>
                  <a:srgbClr val="0070C0"/>
                </a:solidFill>
              </a:rPr>
              <a:t>Badische</a:t>
            </a:r>
            <a:r>
              <a:rPr lang="en-GB" b="1" i="1" dirty="0">
                <a:solidFill>
                  <a:srgbClr val="0070C0"/>
                </a:solidFill>
              </a:rPr>
              <a:t> </a:t>
            </a:r>
          </a:p>
          <a:p>
            <a:pPr lvl="2" eaLnBrk="1" hangingPunct="1"/>
            <a:r>
              <a:rPr lang="en-GB" sz="2400" dirty="0"/>
              <a:t>A K for supply of unascertained goods which both parties knew could only be obtained from Germany was frustrated by the outbreak of war.  </a:t>
            </a:r>
            <a:r>
              <a:rPr lang="en-GB" sz="2400" b="1" dirty="0">
                <a:solidFill>
                  <a:srgbClr val="FF0000"/>
                </a:solidFill>
              </a:rPr>
              <a:t>Unusual and rare case!</a:t>
            </a:r>
            <a:endParaRPr lang="en-GB" sz="2400" b="1" i="1" dirty="0">
              <a:solidFill>
                <a:srgbClr val="FF0000"/>
              </a:solidFill>
            </a:endParaRPr>
          </a:p>
          <a:p>
            <a:endParaRPr lang="en-GB" dirty="0"/>
          </a:p>
        </p:txBody>
      </p:sp>
      <p:sp>
        <p:nvSpPr>
          <p:cNvPr id="4" name="Slide Number Placeholder 3"/>
          <p:cNvSpPr>
            <a:spLocks noGrp="1"/>
          </p:cNvSpPr>
          <p:nvPr>
            <p:ph type="sldNum" sz="quarter" idx="12"/>
          </p:nvPr>
        </p:nvSpPr>
        <p:spPr/>
        <p:txBody>
          <a:bodyPr/>
          <a:lstStyle/>
          <a:p>
            <a:pPr>
              <a:defRPr/>
            </a:pPr>
            <a:fld id="{88A0A824-851D-43BF-9882-7A4B5B5C8492}" type="slidenum">
              <a:rPr lang="en-GB" smtClean="0"/>
              <a:pPr>
                <a:defRPr/>
              </a:pPr>
              <a:t>21</a:t>
            </a:fld>
            <a:endParaRPr lang="en-GB"/>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pPr eaLnBrk="1" hangingPunct="1"/>
            <a:r>
              <a:rPr lang="en-GB" dirty="0">
                <a:solidFill>
                  <a:schemeClr val="tx1"/>
                </a:solidFill>
              </a:rPr>
              <a:t>Frustration</a:t>
            </a:r>
          </a:p>
        </p:txBody>
      </p:sp>
      <p:sp>
        <p:nvSpPr>
          <p:cNvPr id="26627" name="Content Placeholder 2"/>
          <p:cNvSpPr>
            <a:spLocks noGrp="1"/>
          </p:cNvSpPr>
          <p:nvPr>
            <p:ph sz="quarter" idx="1"/>
          </p:nvPr>
        </p:nvSpPr>
        <p:spPr>
          <a:xfrm>
            <a:off x="468313" y="1447800"/>
            <a:ext cx="8218487" cy="5005388"/>
          </a:xfrm>
        </p:spPr>
        <p:txBody>
          <a:bodyPr/>
          <a:lstStyle/>
          <a:p>
            <a:pPr eaLnBrk="1" hangingPunct="1"/>
            <a:r>
              <a:rPr lang="en-GB" b="1" u="sng" dirty="0">
                <a:solidFill>
                  <a:srgbClr val="FF0000"/>
                </a:solidFill>
              </a:rPr>
              <a:t>Force majeure clauses </a:t>
            </a:r>
            <a:r>
              <a:rPr lang="en-GB" dirty="0"/>
              <a:t>– derives from French law. </a:t>
            </a:r>
          </a:p>
          <a:p>
            <a:pPr eaLnBrk="1" hangingPunct="1">
              <a:buFont typeface="Wingdings 2" pitchFamily="18" charset="2"/>
              <a:buNone/>
            </a:pPr>
            <a:endParaRPr lang="en-GB" dirty="0"/>
          </a:p>
          <a:p>
            <a:pPr lvl="1" eaLnBrk="1" hangingPunct="1"/>
            <a:r>
              <a:rPr lang="en-GB" dirty="0"/>
              <a:t>A clause in the K to protect parties against liabilities arising from government restrictions, strikes etc.</a:t>
            </a:r>
          </a:p>
          <a:p>
            <a:pPr lvl="1" eaLnBrk="1" hangingPunct="1">
              <a:buFont typeface="Wingdings 2" pitchFamily="18" charset="2"/>
              <a:buNone/>
            </a:pPr>
            <a:endParaRPr lang="en-GB" dirty="0"/>
          </a:p>
          <a:p>
            <a:pPr lvl="1" eaLnBrk="1" hangingPunct="1"/>
            <a:r>
              <a:rPr lang="en-GB" dirty="0"/>
              <a:t>One or both parties can cancel a contract or be excused from either part or complete performance of the contract if a certain specified event beyond the parties’ control occurs. </a:t>
            </a:r>
          </a:p>
        </p:txBody>
      </p:sp>
      <p:sp>
        <p:nvSpPr>
          <p:cNvPr id="4" name="Slide Number Placeholder 3"/>
          <p:cNvSpPr>
            <a:spLocks noGrp="1"/>
          </p:cNvSpPr>
          <p:nvPr>
            <p:ph type="sldNum" sz="quarter" idx="12"/>
          </p:nvPr>
        </p:nvSpPr>
        <p:spPr/>
        <p:txBody>
          <a:bodyPr/>
          <a:lstStyle/>
          <a:p>
            <a:pPr>
              <a:defRPr/>
            </a:pPr>
            <a:fld id="{4DD85126-46DD-4CF0-84F7-EA7817969AE9}" type="slidenum">
              <a:rPr lang="en-GB" smtClean="0"/>
              <a:pPr>
                <a:defRPr/>
              </a:pPr>
              <a:t>22</a:t>
            </a:fld>
            <a:endParaRPr lang="en-GB"/>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pPr eaLnBrk="1" hangingPunct="1"/>
            <a:r>
              <a:rPr lang="en-GB" u="sng" dirty="0">
                <a:solidFill>
                  <a:schemeClr val="tx1"/>
                </a:solidFill>
              </a:rPr>
              <a:t>Effects of Frustration</a:t>
            </a:r>
          </a:p>
        </p:txBody>
      </p:sp>
      <p:sp>
        <p:nvSpPr>
          <p:cNvPr id="3" name="Content Placeholder 2"/>
          <p:cNvSpPr>
            <a:spLocks noGrp="1"/>
          </p:cNvSpPr>
          <p:nvPr>
            <p:ph sz="quarter" idx="1"/>
          </p:nvPr>
        </p:nvSpPr>
        <p:spPr>
          <a:xfrm>
            <a:off x="395288" y="1447800"/>
            <a:ext cx="8497887" cy="5149850"/>
          </a:xfrm>
        </p:spPr>
        <p:txBody>
          <a:bodyPr/>
          <a:lstStyle/>
          <a:p>
            <a:pPr eaLnBrk="1" hangingPunct="1">
              <a:defRPr/>
            </a:pPr>
            <a:r>
              <a:rPr lang="en-GB" sz="2100" b="1" dirty="0">
                <a:solidFill>
                  <a:srgbClr val="FF0000"/>
                </a:solidFill>
                <a:highlight>
                  <a:srgbClr val="FFFF00"/>
                </a:highlight>
              </a:rPr>
              <a:t>Law Reform (Frustrated Contracts) Act 1943.</a:t>
            </a:r>
          </a:p>
          <a:p>
            <a:pPr eaLnBrk="1" hangingPunct="1">
              <a:buFont typeface="Wingdings 2" pitchFamily="18" charset="2"/>
              <a:buNone/>
              <a:defRPr/>
            </a:pPr>
            <a:endParaRPr lang="en-GB" sz="2100" b="1" dirty="0"/>
          </a:p>
          <a:p>
            <a:pPr lvl="1" eaLnBrk="1" hangingPunct="1">
              <a:defRPr/>
            </a:pPr>
            <a:r>
              <a:rPr lang="en-GB" sz="2100" b="1" dirty="0"/>
              <a:t>S. 2(5)(c) excludes: </a:t>
            </a:r>
          </a:p>
          <a:p>
            <a:pPr lvl="1" eaLnBrk="1" hangingPunct="1">
              <a:buFont typeface="Wingdings 2" pitchFamily="18" charset="2"/>
              <a:buNone/>
              <a:defRPr/>
            </a:pPr>
            <a:endParaRPr lang="en-GB" sz="2100" b="1" dirty="0"/>
          </a:p>
          <a:p>
            <a:pPr marL="1050925" lvl="2" indent="-457200" eaLnBrk="1" hangingPunct="1">
              <a:buFont typeface="+mj-lt"/>
              <a:buAutoNum type="arabicPeriod"/>
              <a:defRPr/>
            </a:pPr>
            <a:r>
              <a:rPr lang="en-GB" sz="2100" dirty="0"/>
              <a:t>Any K within s. 7 of the </a:t>
            </a:r>
            <a:r>
              <a:rPr lang="en-GB" sz="2100" dirty="0" err="1"/>
              <a:t>SGA</a:t>
            </a:r>
            <a:endParaRPr lang="en-GB" sz="2100" dirty="0"/>
          </a:p>
          <a:p>
            <a:pPr marL="1050925" lvl="2" indent="-457200" eaLnBrk="1" hangingPunct="1">
              <a:buFont typeface="+mj-lt"/>
              <a:buAutoNum type="arabicPeriod"/>
              <a:defRPr/>
            </a:pPr>
            <a:r>
              <a:rPr lang="en-GB" sz="2100" dirty="0"/>
              <a:t>Any K … where the K is frustrated by reason of the fact that the goods have perished. </a:t>
            </a:r>
            <a:r>
              <a:rPr lang="en-GB" sz="2100" b="1" dirty="0"/>
              <a:t>(?!?!)</a:t>
            </a:r>
          </a:p>
          <a:p>
            <a:pPr marL="1050925" lvl="2" indent="-457200" eaLnBrk="1" hangingPunct="1">
              <a:buFont typeface="Wingdings 2" pitchFamily="18" charset="2"/>
              <a:buNone/>
              <a:defRPr/>
            </a:pPr>
            <a:endParaRPr lang="en-GB" sz="2100" dirty="0"/>
          </a:p>
          <a:p>
            <a:pPr marL="501650" indent="-457200" eaLnBrk="1" hangingPunct="1">
              <a:defRPr/>
            </a:pPr>
            <a:r>
              <a:rPr lang="en-GB" sz="2100" dirty="0"/>
              <a:t>The </a:t>
            </a:r>
            <a:r>
              <a:rPr lang="en-GB" sz="2100" b="1" dirty="0"/>
              <a:t>second point is not clear</a:t>
            </a:r>
            <a:r>
              <a:rPr lang="en-GB" sz="2100" dirty="0"/>
              <a:t>. There are 3 interpretations:</a:t>
            </a:r>
          </a:p>
          <a:p>
            <a:pPr marL="501650" indent="-457200" eaLnBrk="1" hangingPunct="1">
              <a:buFont typeface="Wingdings 2" pitchFamily="18" charset="2"/>
              <a:buNone/>
              <a:defRPr/>
            </a:pPr>
            <a:endParaRPr lang="en-GB" sz="2100" dirty="0"/>
          </a:p>
          <a:p>
            <a:pPr marL="776288" lvl="1" indent="-457200" eaLnBrk="1" hangingPunct="1">
              <a:buFont typeface="+mj-lt"/>
              <a:buAutoNum type="arabicPeriod"/>
              <a:defRPr/>
            </a:pPr>
            <a:r>
              <a:rPr lang="en-GB" sz="2100" dirty="0"/>
              <a:t>K for sale of specific goods in which the property and the risk have both passed to the B. Act does not apply. </a:t>
            </a:r>
          </a:p>
          <a:p>
            <a:pPr marL="1050925" lvl="2" indent="-457200" eaLnBrk="1" hangingPunct="1">
              <a:defRPr/>
            </a:pPr>
            <a:r>
              <a:rPr lang="en-GB" sz="2100" dirty="0"/>
              <a:t>Why? After the risk and property passed to B, the K cannot be frustrated.</a:t>
            </a:r>
          </a:p>
          <a:p>
            <a:pPr lvl="1" eaLnBrk="1" hangingPunct="1">
              <a:buFont typeface="Wingdings 2" pitchFamily="18" charset="2"/>
              <a:buNone/>
              <a:defRPr/>
            </a:pPr>
            <a:endParaRPr lang="en-GB" dirty="0"/>
          </a:p>
        </p:txBody>
      </p:sp>
      <p:sp>
        <p:nvSpPr>
          <p:cNvPr id="4" name="Slide Number Placeholder 3"/>
          <p:cNvSpPr>
            <a:spLocks noGrp="1"/>
          </p:cNvSpPr>
          <p:nvPr>
            <p:ph type="sldNum" sz="quarter" idx="12"/>
          </p:nvPr>
        </p:nvSpPr>
        <p:spPr/>
        <p:txBody>
          <a:bodyPr/>
          <a:lstStyle/>
          <a:p>
            <a:pPr>
              <a:defRPr/>
            </a:pPr>
            <a:fld id="{87799301-F36C-4E1C-8808-3D528FC15046}" type="slidenum">
              <a:rPr lang="en-GB" smtClean="0"/>
              <a:pPr>
                <a:defRPr/>
              </a:pPr>
              <a:t>23</a:t>
            </a:fld>
            <a:endParaRPr lang="en-GB"/>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GB" dirty="0">
                <a:solidFill>
                  <a:schemeClr val="tx1"/>
                </a:solidFill>
              </a:rPr>
              <a:t>Effects of Frustration </a:t>
            </a:r>
          </a:p>
        </p:txBody>
      </p:sp>
      <p:sp>
        <p:nvSpPr>
          <p:cNvPr id="28675" name="Content Placeholder 2"/>
          <p:cNvSpPr>
            <a:spLocks noGrp="1"/>
          </p:cNvSpPr>
          <p:nvPr>
            <p:ph sz="quarter" idx="1"/>
          </p:nvPr>
        </p:nvSpPr>
        <p:spPr/>
        <p:txBody>
          <a:bodyPr/>
          <a:lstStyle/>
          <a:p>
            <a:pPr marL="776288" lvl="1" indent="-457200" eaLnBrk="1" hangingPunct="1">
              <a:buFont typeface="Wingdings 2" pitchFamily="18" charset="2"/>
              <a:buNone/>
            </a:pPr>
            <a:endParaRPr lang="en-GB" dirty="0"/>
          </a:p>
          <a:p>
            <a:pPr marL="776288" lvl="1" indent="-457200" eaLnBrk="1" hangingPunct="1">
              <a:buFont typeface="Wingdings 2" pitchFamily="18" charset="2"/>
              <a:buNone/>
            </a:pPr>
            <a:r>
              <a:rPr lang="en-GB" dirty="0"/>
              <a:t>2.  K for the sale of specific goods, in which the property has not yet passed, but the risk has passed. Act does not apply. </a:t>
            </a:r>
          </a:p>
          <a:p>
            <a:pPr marL="1050925" lvl="2" indent="-457200" eaLnBrk="1" hangingPunct="1"/>
            <a:r>
              <a:rPr lang="en-GB" sz="2400" dirty="0"/>
              <a:t>Why? The risk is with the B, so why frustrate the K?</a:t>
            </a:r>
          </a:p>
          <a:p>
            <a:pPr marL="1050925" lvl="2" indent="-457200" eaLnBrk="1" hangingPunct="1">
              <a:buFont typeface="Wingdings 2" pitchFamily="18" charset="2"/>
              <a:buNone/>
            </a:pPr>
            <a:endParaRPr lang="en-GB" sz="2400" dirty="0"/>
          </a:p>
          <a:p>
            <a:pPr marL="776288" lvl="1" indent="-457200" eaLnBrk="1" hangingPunct="1">
              <a:buFont typeface="Wingdings 2" pitchFamily="18" charset="2"/>
              <a:buNone/>
            </a:pPr>
            <a:r>
              <a:rPr lang="en-GB" dirty="0"/>
              <a:t>3.  The property has passed but the goods are still at the S’s risk. Act does not apply. S has to bear the risk and loss.</a:t>
            </a:r>
          </a:p>
          <a:p>
            <a:endParaRPr lang="en-GB" dirty="0"/>
          </a:p>
        </p:txBody>
      </p:sp>
      <p:sp>
        <p:nvSpPr>
          <p:cNvPr id="4" name="Slide Number Placeholder 3"/>
          <p:cNvSpPr>
            <a:spLocks noGrp="1"/>
          </p:cNvSpPr>
          <p:nvPr>
            <p:ph type="sldNum" sz="quarter" idx="12"/>
          </p:nvPr>
        </p:nvSpPr>
        <p:spPr/>
        <p:txBody>
          <a:bodyPr/>
          <a:lstStyle/>
          <a:p>
            <a:pPr>
              <a:defRPr/>
            </a:pPr>
            <a:fld id="{142E6DB7-5385-402F-8395-DBCA2C352FDC}" type="slidenum">
              <a:rPr lang="en-GB" smtClean="0"/>
              <a:pPr>
                <a:defRPr/>
              </a:pPr>
              <a:t>24</a:t>
            </a:fld>
            <a:endParaRPr lang="en-GB"/>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eaLnBrk="1" hangingPunct="1"/>
            <a:r>
              <a:rPr lang="en-GB" dirty="0">
                <a:solidFill>
                  <a:schemeClr val="tx1"/>
                </a:solidFill>
              </a:rPr>
              <a:t>Effects of Frustration</a:t>
            </a:r>
          </a:p>
        </p:txBody>
      </p:sp>
      <p:sp>
        <p:nvSpPr>
          <p:cNvPr id="29699" name="Content Placeholder 2"/>
          <p:cNvSpPr>
            <a:spLocks noGrp="1"/>
          </p:cNvSpPr>
          <p:nvPr>
            <p:ph sz="quarter" idx="1"/>
          </p:nvPr>
        </p:nvSpPr>
        <p:spPr>
          <a:xfrm>
            <a:off x="395288" y="1484313"/>
            <a:ext cx="8291512" cy="4968875"/>
          </a:xfrm>
        </p:spPr>
        <p:txBody>
          <a:bodyPr/>
          <a:lstStyle/>
          <a:p>
            <a:pPr eaLnBrk="1" hangingPunct="1"/>
            <a:r>
              <a:rPr lang="en-GB" sz="2400" u="sng" dirty="0"/>
              <a:t>So which cases do not apply?</a:t>
            </a:r>
          </a:p>
          <a:p>
            <a:pPr eaLnBrk="1" hangingPunct="1">
              <a:buFont typeface="Wingdings 2" pitchFamily="18" charset="2"/>
              <a:buNone/>
            </a:pPr>
            <a:endParaRPr lang="en-GB" sz="2400" dirty="0"/>
          </a:p>
          <a:p>
            <a:pPr lvl="1" eaLnBrk="1" hangingPunct="1"/>
            <a:r>
              <a:rPr lang="en-GB" b="1" dirty="0"/>
              <a:t>S. 7 </a:t>
            </a:r>
            <a:r>
              <a:rPr lang="en-GB" dirty="0"/>
              <a:t>– where there is a sale of specific goods in which neither property nor risk has passed to the B and the K is frustrated by the perishing of the goods. </a:t>
            </a:r>
          </a:p>
          <a:p>
            <a:pPr lvl="1" eaLnBrk="1" hangingPunct="1">
              <a:buFont typeface="Wingdings 2" pitchFamily="18" charset="2"/>
              <a:buNone/>
            </a:pPr>
            <a:endParaRPr lang="en-GB" dirty="0"/>
          </a:p>
          <a:p>
            <a:pPr marL="593725" lvl="2" indent="0" eaLnBrk="1" hangingPunct="1">
              <a:buNone/>
            </a:pPr>
            <a:r>
              <a:rPr lang="en-GB" sz="2400" u="sng" dirty="0"/>
              <a:t>If s.7 applies then the ordinary common law frustration rules apply as regards the consequences/remedy:</a:t>
            </a:r>
          </a:p>
          <a:p>
            <a:pPr lvl="2" eaLnBrk="1" hangingPunct="1"/>
            <a:endParaRPr lang="en-GB" sz="2400" dirty="0"/>
          </a:p>
          <a:p>
            <a:pPr marL="1325563" lvl="3" indent="-457200" eaLnBrk="1" hangingPunct="1">
              <a:buFont typeface="Franklin Gothic Book" pitchFamily="34" charset="0"/>
              <a:buAutoNum type="arabicPeriod"/>
            </a:pPr>
            <a:r>
              <a:rPr lang="en-GB" sz="2400" dirty="0"/>
              <a:t>Both parties discharged from all obligations not yet accrued before the destruction of the goods.</a:t>
            </a:r>
            <a:endParaRPr lang="en-GB" sz="2400" i="1" dirty="0"/>
          </a:p>
          <a:p>
            <a:pPr lvl="2" eaLnBrk="1" hangingPunct="1"/>
            <a:endParaRPr lang="en-GB" dirty="0"/>
          </a:p>
        </p:txBody>
      </p:sp>
      <p:sp>
        <p:nvSpPr>
          <p:cNvPr id="4" name="Slide Number Placeholder 3"/>
          <p:cNvSpPr>
            <a:spLocks noGrp="1"/>
          </p:cNvSpPr>
          <p:nvPr>
            <p:ph type="sldNum" sz="quarter" idx="12"/>
          </p:nvPr>
        </p:nvSpPr>
        <p:spPr/>
        <p:txBody>
          <a:bodyPr/>
          <a:lstStyle/>
          <a:p>
            <a:pPr>
              <a:defRPr/>
            </a:pPr>
            <a:fld id="{AFCD2D55-4A18-4AA4-A5B6-A9E5A0EF38E0}" type="slidenum">
              <a:rPr lang="en-GB" smtClean="0"/>
              <a:pPr>
                <a:defRPr/>
              </a:pPr>
              <a:t>25</a:t>
            </a:fld>
            <a:endParaRPr lang="en-GB"/>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GB" dirty="0">
                <a:solidFill>
                  <a:schemeClr val="tx1"/>
                </a:solidFill>
              </a:rPr>
              <a:t>Effects of Frustration</a:t>
            </a:r>
          </a:p>
        </p:txBody>
      </p:sp>
      <p:sp>
        <p:nvSpPr>
          <p:cNvPr id="30723" name="Content Placeholder 2"/>
          <p:cNvSpPr>
            <a:spLocks noGrp="1"/>
          </p:cNvSpPr>
          <p:nvPr>
            <p:ph sz="quarter" idx="1"/>
          </p:nvPr>
        </p:nvSpPr>
        <p:spPr>
          <a:xfrm>
            <a:off x="914400" y="1447800"/>
            <a:ext cx="7772400" cy="5293568"/>
          </a:xfrm>
        </p:spPr>
        <p:txBody>
          <a:bodyPr/>
          <a:lstStyle/>
          <a:p>
            <a:pPr marL="868363" lvl="3" indent="0" eaLnBrk="1" hangingPunct="1">
              <a:buNone/>
            </a:pPr>
            <a:r>
              <a:rPr lang="en-GB" sz="2400" dirty="0"/>
              <a:t>2.</a:t>
            </a:r>
            <a:r>
              <a:rPr lang="en-GB" sz="2400" u="sng" dirty="0">
                <a:solidFill>
                  <a:srgbClr val="FF0000"/>
                </a:solidFill>
              </a:rPr>
              <a:t>  If the </a:t>
            </a:r>
            <a:r>
              <a:rPr lang="en-GB" sz="2400" b="1" u="sng" dirty="0">
                <a:solidFill>
                  <a:srgbClr val="FF0000"/>
                </a:solidFill>
              </a:rPr>
              <a:t>price or any part of it has been paid</a:t>
            </a:r>
            <a:r>
              <a:rPr lang="en-GB" sz="2400" u="sng" dirty="0">
                <a:solidFill>
                  <a:srgbClr val="FF0000"/>
                </a:solidFill>
              </a:rPr>
              <a:t>, this can be </a:t>
            </a:r>
            <a:r>
              <a:rPr lang="en-GB" sz="2400" b="1" u="sng" dirty="0">
                <a:solidFill>
                  <a:srgbClr val="FF0000"/>
                </a:solidFill>
              </a:rPr>
              <a:t>recovered</a:t>
            </a:r>
            <a:r>
              <a:rPr lang="en-GB" sz="2400" u="sng" dirty="0">
                <a:solidFill>
                  <a:srgbClr val="FF0000"/>
                </a:solidFill>
              </a:rPr>
              <a:t> if there is a </a:t>
            </a:r>
            <a:r>
              <a:rPr lang="en-GB" sz="2400" b="1" u="sng" dirty="0">
                <a:solidFill>
                  <a:srgbClr val="FF0000"/>
                </a:solidFill>
              </a:rPr>
              <a:t>total failure of consideration</a:t>
            </a:r>
            <a:r>
              <a:rPr lang="en-GB" sz="2400" u="sng" dirty="0">
                <a:solidFill>
                  <a:srgbClr val="FF0000"/>
                </a:solidFill>
              </a:rPr>
              <a:t>.</a:t>
            </a:r>
          </a:p>
          <a:p>
            <a:pPr marL="1325563" lvl="3" indent="-457200" eaLnBrk="1" hangingPunct="1">
              <a:buFont typeface="Wingdings 2" pitchFamily="18" charset="2"/>
              <a:buNone/>
            </a:pPr>
            <a:endParaRPr lang="en-GB" sz="2400" dirty="0"/>
          </a:p>
          <a:p>
            <a:pPr lvl="4" eaLnBrk="1" hangingPunct="1"/>
            <a:r>
              <a:rPr lang="en-GB" sz="2400" b="1" i="1" dirty="0">
                <a:solidFill>
                  <a:srgbClr val="0070C0"/>
                </a:solidFill>
              </a:rPr>
              <a:t>Chandler v Webster</a:t>
            </a:r>
          </a:p>
          <a:p>
            <a:pPr lvl="4" eaLnBrk="1" hangingPunct="1">
              <a:buFontTx/>
              <a:buNone/>
            </a:pPr>
            <a:endParaRPr lang="en-GB" sz="2400" i="1" dirty="0">
              <a:solidFill>
                <a:srgbClr val="0070C0"/>
              </a:solidFill>
            </a:endParaRPr>
          </a:p>
          <a:p>
            <a:pPr lvl="4" eaLnBrk="1" hangingPunct="1"/>
            <a:r>
              <a:rPr lang="en-GB" sz="2400" b="1" i="1" dirty="0">
                <a:solidFill>
                  <a:srgbClr val="0070C0"/>
                </a:solidFill>
              </a:rPr>
              <a:t>Fibrosa v Fairbairn </a:t>
            </a:r>
          </a:p>
          <a:p>
            <a:pPr lvl="4" eaLnBrk="1" hangingPunct="1"/>
            <a:r>
              <a:rPr lang="en-GB" sz="2400" i="1" dirty="0"/>
              <a:t>B paid £1000 to S in advance for the manufacture of machinery. The K was frustrated before the manufacture of the machinery was completed and before any part was delivered. S had incurred expenses.</a:t>
            </a:r>
          </a:p>
          <a:p>
            <a:pPr lvl="4" eaLnBrk="1" hangingPunct="1"/>
            <a:r>
              <a:rPr lang="en-GB" sz="2400" b="1" i="1" dirty="0"/>
              <a:t>Held: </a:t>
            </a:r>
            <a:r>
              <a:rPr lang="en-GB" sz="2400" i="1" dirty="0"/>
              <a:t>B could recover payments made and S could not set-off any of its expenses from that payment.</a:t>
            </a:r>
          </a:p>
          <a:p>
            <a:endParaRPr lang="en-GB" dirty="0"/>
          </a:p>
        </p:txBody>
      </p:sp>
      <p:sp>
        <p:nvSpPr>
          <p:cNvPr id="4" name="Slide Number Placeholder 3"/>
          <p:cNvSpPr>
            <a:spLocks noGrp="1"/>
          </p:cNvSpPr>
          <p:nvPr>
            <p:ph type="sldNum" sz="quarter" idx="12"/>
          </p:nvPr>
        </p:nvSpPr>
        <p:spPr/>
        <p:txBody>
          <a:bodyPr/>
          <a:lstStyle/>
          <a:p>
            <a:pPr>
              <a:defRPr/>
            </a:pPr>
            <a:fld id="{10A207CC-4279-414F-A7E8-59CA379933D8}" type="slidenum">
              <a:rPr lang="en-GB" smtClean="0"/>
              <a:pPr>
                <a:defRPr/>
              </a:pPr>
              <a:t>26</a:t>
            </a:fld>
            <a:endParaRPr lang="en-GB"/>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pPr eaLnBrk="1" hangingPunct="1"/>
            <a:r>
              <a:rPr lang="en-GB" dirty="0">
                <a:solidFill>
                  <a:schemeClr val="tx1"/>
                </a:solidFill>
              </a:rPr>
              <a:t>Effects of Frustration</a:t>
            </a:r>
          </a:p>
        </p:txBody>
      </p:sp>
      <p:sp>
        <p:nvSpPr>
          <p:cNvPr id="31747" name="Content Placeholder 2"/>
          <p:cNvSpPr>
            <a:spLocks noGrp="1"/>
          </p:cNvSpPr>
          <p:nvPr>
            <p:ph sz="quarter" idx="1"/>
          </p:nvPr>
        </p:nvSpPr>
        <p:spPr>
          <a:xfrm>
            <a:off x="250825" y="1268760"/>
            <a:ext cx="8435975" cy="5314602"/>
          </a:xfrm>
        </p:spPr>
        <p:txBody>
          <a:bodyPr/>
          <a:lstStyle/>
          <a:p>
            <a:pPr marL="514350" indent="-514350" eaLnBrk="1" hangingPunct="1">
              <a:buFont typeface="Wingdings 2" pitchFamily="18" charset="2"/>
              <a:buNone/>
            </a:pPr>
            <a:r>
              <a:rPr lang="en-GB" sz="2000" dirty="0"/>
              <a:t>3.    	Today it would be subject to the 1943 Act. </a:t>
            </a:r>
          </a:p>
          <a:p>
            <a:pPr marL="514350" indent="-514350" eaLnBrk="1" hangingPunct="1">
              <a:buFont typeface="Wingdings 2" pitchFamily="18" charset="2"/>
              <a:buNone/>
            </a:pPr>
            <a:r>
              <a:rPr lang="en-GB" sz="2000" dirty="0"/>
              <a:t>	For example, if the goods are accidentally destroyed after S has done some work on them, under s. 18 R. 2 the property and risk do not pass until the work is completed and the B has notice. S. 7 would apply and 1943 Act would not apply. </a:t>
            </a:r>
          </a:p>
          <a:p>
            <a:pPr marL="514350" indent="-514350" eaLnBrk="1" hangingPunct="1">
              <a:buFont typeface="Wingdings 2" pitchFamily="18" charset="2"/>
              <a:buNone/>
            </a:pPr>
            <a:r>
              <a:rPr lang="en-GB" sz="2000" dirty="0"/>
              <a:t>	The common law rule enables the B to recover the whole amount which has been paid and the S is not entitled to retain any part of it.</a:t>
            </a:r>
          </a:p>
          <a:p>
            <a:pPr marL="514350" indent="-514350" eaLnBrk="1" hangingPunct="1">
              <a:buFont typeface="Wingdings 2" pitchFamily="18" charset="2"/>
              <a:buNone/>
            </a:pPr>
            <a:endParaRPr lang="en-GB" sz="2000" dirty="0"/>
          </a:p>
          <a:p>
            <a:pPr marL="514350" indent="-514350" eaLnBrk="1" hangingPunct="1">
              <a:buFont typeface="Wingdings 2" pitchFamily="18" charset="2"/>
              <a:buNone/>
            </a:pPr>
            <a:r>
              <a:rPr lang="en-GB" sz="2000" dirty="0"/>
              <a:t>4</a:t>
            </a:r>
            <a:r>
              <a:rPr lang="en-GB" sz="2000" dirty="0">
                <a:solidFill>
                  <a:srgbClr val="0070C0"/>
                </a:solidFill>
              </a:rPr>
              <a:t>.    </a:t>
            </a:r>
            <a:r>
              <a:rPr lang="en-GB" sz="2000" u="sng" dirty="0">
                <a:solidFill>
                  <a:srgbClr val="0070C0"/>
                </a:solidFill>
              </a:rPr>
              <a:t>Payment made under a K which is subsequently frustrated cannot be recovered if there is only a partial failure of consideration.  </a:t>
            </a:r>
            <a:r>
              <a:rPr lang="en-GB" sz="2000" dirty="0">
                <a:solidFill>
                  <a:srgbClr val="0070C0"/>
                </a:solidFill>
              </a:rPr>
              <a:t>Important – only total failure sufficient.</a:t>
            </a:r>
          </a:p>
          <a:p>
            <a:pPr marL="514350" indent="-514350" eaLnBrk="1" hangingPunct="1">
              <a:buFont typeface="Wingdings 2" pitchFamily="18" charset="2"/>
              <a:buNone/>
            </a:pPr>
            <a:r>
              <a:rPr lang="en-GB" sz="2000" dirty="0"/>
              <a:t>	For example, B agrees to buy a specific parcel of 100 tons of wheat located in a warehouse the price for which is to be paid in advance. The goods are the property of the S until delivery (instalments of 10 tons each). 1 instalment is delivered and the rest is destroyed. Risk is with S until the property has passed. S. 7 applies. Destruction of the undelivered part avoids the K. 1943 Act does not apply. </a:t>
            </a:r>
          </a:p>
          <a:p>
            <a:pPr marL="514350" indent="-514350" eaLnBrk="1" hangingPunct="1">
              <a:buFont typeface="Wingdings 2" pitchFamily="18" charset="2"/>
              <a:buNone/>
            </a:pPr>
            <a:r>
              <a:rPr lang="en-GB" sz="2000" dirty="0"/>
              <a:t> </a:t>
            </a:r>
          </a:p>
        </p:txBody>
      </p:sp>
      <p:sp>
        <p:nvSpPr>
          <p:cNvPr id="4" name="Slide Number Placeholder 3"/>
          <p:cNvSpPr>
            <a:spLocks noGrp="1"/>
          </p:cNvSpPr>
          <p:nvPr>
            <p:ph type="sldNum" sz="quarter" idx="12"/>
          </p:nvPr>
        </p:nvSpPr>
        <p:spPr/>
        <p:txBody>
          <a:bodyPr/>
          <a:lstStyle/>
          <a:p>
            <a:pPr>
              <a:defRPr/>
            </a:pPr>
            <a:fld id="{3268D780-D397-4A90-A766-E15FFCD3932B}" type="slidenum">
              <a:rPr lang="en-GB" smtClean="0"/>
              <a:pPr>
                <a:defRPr/>
              </a:pPr>
              <a:t>27</a:t>
            </a:fld>
            <a:endParaRPr lang="en-GB"/>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GB" dirty="0">
                <a:solidFill>
                  <a:schemeClr val="tx1"/>
                </a:solidFill>
              </a:rPr>
              <a:t>Effects of Frustration </a:t>
            </a:r>
          </a:p>
        </p:txBody>
      </p:sp>
      <p:sp>
        <p:nvSpPr>
          <p:cNvPr id="3" name="Content Placeholder 2"/>
          <p:cNvSpPr>
            <a:spLocks noGrp="1"/>
          </p:cNvSpPr>
          <p:nvPr>
            <p:ph sz="quarter" idx="1"/>
          </p:nvPr>
        </p:nvSpPr>
        <p:spPr/>
        <p:txBody>
          <a:bodyPr/>
          <a:lstStyle/>
          <a:p>
            <a:pPr marL="514350" indent="-514350" eaLnBrk="1" hangingPunct="1">
              <a:buFont typeface="Wingdings 2" pitchFamily="18" charset="2"/>
              <a:buNone/>
              <a:defRPr/>
            </a:pPr>
            <a:r>
              <a:rPr lang="en-GB" sz="2800" dirty="0"/>
              <a:t>	</a:t>
            </a:r>
          </a:p>
          <a:p>
            <a:pPr marL="514350" indent="-514350" eaLnBrk="1" hangingPunct="1">
              <a:defRPr/>
            </a:pPr>
            <a:r>
              <a:rPr lang="en-GB" sz="2800" dirty="0"/>
              <a:t>Entire contracts rule: if a K is frustrated it is not possible for either party to perform their obligations under the contract.</a:t>
            </a:r>
          </a:p>
          <a:p>
            <a:pPr marL="0" indent="0" eaLnBrk="1" hangingPunct="1">
              <a:buNone/>
              <a:defRPr/>
            </a:pPr>
            <a:endParaRPr lang="en-GB" sz="2800" dirty="0"/>
          </a:p>
          <a:p>
            <a:pPr marL="514350" indent="-514350" eaLnBrk="1" hangingPunct="1">
              <a:defRPr/>
            </a:pPr>
            <a:r>
              <a:rPr lang="en-GB" sz="2800" dirty="0"/>
              <a:t>But if the goods have already been delivered the law of restitution may require the B to return</a:t>
            </a:r>
          </a:p>
          <a:p>
            <a:pPr marL="514350" indent="-514350" eaLnBrk="1" hangingPunct="1">
              <a:buFont typeface="Wingdings 2" pitchFamily="18" charset="2"/>
              <a:buNone/>
              <a:defRPr/>
            </a:pPr>
            <a:r>
              <a:rPr lang="en-GB" sz="2800" dirty="0"/>
              <a:t>	the goods. </a:t>
            </a:r>
          </a:p>
          <a:p>
            <a:pPr>
              <a:defRPr/>
            </a:pPr>
            <a:endParaRPr lang="en-GB" dirty="0"/>
          </a:p>
        </p:txBody>
      </p:sp>
      <p:sp>
        <p:nvSpPr>
          <p:cNvPr id="4" name="Slide Number Placeholder 3"/>
          <p:cNvSpPr>
            <a:spLocks noGrp="1"/>
          </p:cNvSpPr>
          <p:nvPr>
            <p:ph type="sldNum" sz="quarter" idx="12"/>
          </p:nvPr>
        </p:nvSpPr>
        <p:spPr/>
        <p:txBody>
          <a:bodyPr/>
          <a:lstStyle/>
          <a:p>
            <a:pPr>
              <a:defRPr/>
            </a:pPr>
            <a:fld id="{401F66B7-2AA2-4184-A1C4-D1D9E57CFB0D}" type="slidenum">
              <a:rPr lang="en-GB" smtClean="0"/>
              <a:pPr>
                <a:defRPr/>
              </a:pPr>
              <a:t>28</a:t>
            </a:fld>
            <a:endParaRPr lang="en-GB"/>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pPr eaLnBrk="1" hangingPunct="1"/>
            <a:r>
              <a:rPr lang="en-GB" dirty="0">
                <a:solidFill>
                  <a:schemeClr val="tx1"/>
                </a:solidFill>
              </a:rPr>
              <a:t>Effects of Frustration</a:t>
            </a:r>
          </a:p>
        </p:txBody>
      </p:sp>
      <p:sp>
        <p:nvSpPr>
          <p:cNvPr id="33795" name="Content Placeholder 2"/>
          <p:cNvSpPr>
            <a:spLocks noGrp="1"/>
          </p:cNvSpPr>
          <p:nvPr>
            <p:ph sz="quarter" idx="1"/>
          </p:nvPr>
        </p:nvSpPr>
        <p:spPr>
          <a:xfrm>
            <a:off x="468313" y="1447800"/>
            <a:ext cx="8218487" cy="5005388"/>
          </a:xfrm>
        </p:spPr>
        <p:txBody>
          <a:bodyPr/>
          <a:lstStyle/>
          <a:p>
            <a:pPr eaLnBrk="1" hangingPunct="1"/>
            <a:r>
              <a:rPr lang="en-GB" b="1" dirty="0">
                <a:solidFill>
                  <a:srgbClr val="FF0000"/>
                </a:solidFill>
              </a:rPr>
              <a:t>1943 Act applies to all K’s for the sale of unascertained goods and to K’s for the sale of specific goods which are frustrated by some event other than the perishing of the goods. </a:t>
            </a:r>
          </a:p>
          <a:p>
            <a:pPr eaLnBrk="1" hangingPunct="1">
              <a:buFont typeface="Wingdings 2" pitchFamily="18" charset="2"/>
              <a:buNone/>
            </a:pPr>
            <a:endParaRPr lang="en-GB" dirty="0"/>
          </a:p>
          <a:p>
            <a:pPr eaLnBrk="1" hangingPunct="1"/>
            <a:r>
              <a:rPr lang="en-GB" b="1" dirty="0">
                <a:highlight>
                  <a:srgbClr val="FFFF00"/>
                </a:highlight>
              </a:rPr>
              <a:t>Three main changes</a:t>
            </a:r>
            <a:r>
              <a:rPr lang="en-GB" dirty="0">
                <a:highlight>
                  <a:srgbClr val="FFFF00"/>
                </a:highlight>
              </a:rPr>
              <a:t> to the common law made by the 1943 Act:</a:t>
            </a:r>
          </a:p>
          <a:p>
            <a:pPr eaLnBrk="1" hangingPunct="1">
              <a:buFont typeface="Wingdings 2" pitchFamily="18" charset="2"/>
              <a:buNone/>
            </a:pPr>
            <a:endParaRPr lang="en-GB" dirty="0"/>
          </a:p>
          <a:p>
            <a:pPr marL="776288" lvl="1" indent="-457200" eaLnBrk="1" hangingPunct="1">
              <a:buFont typeface="Franklin Gothic Book" pitchFamily="34" charset="0"/>
              <a:buAutoNum type="arabicPeriod"/>
            </a:pPr>
            <a:r>
              <a:rPr lang="en-GB" dirty="0">
                <a:solidFill>
                  <a:srgbClr val="FF0000"/>
                </a:solidFill>
              </a:rPr>
              <a:t>S. 1(2) </a:t>
            </a:r>
            <a:r>
              <a:rPr lang="en-GB" dirty="0"/>
              <a:t>a person may </a:t>
            </a:r>
            <a:r>
              <a:rPr lang="en-GB" u="sng" dirty="0"/>
              <a:t>recover any payments </a:t>
            </a:r>
            <a:r>
              <a:rPr lang="en-GB" dirty="0"/>
              <a:t>made under a K which has since been frustrated even though there has been a </a:t>
            </a:r>
            <a:r>
              <a:rPr lang="en-GB" u="sng" dirty="0"/>
              <a:t>partial failure of consideration</a:t>
            </a:r>
            <a:r>
              <a:rPr lang="en-GB" dirty="0"/>
              <a:t>.</a:t>
            </a:r>
          </a:p>
        </p:txBody>
      </p:sp>
      <p:sp>
        <p:nvSpPr>
          <p:cNvPr id="4" name="Slide Number Placeholder 3"/>
          <p:cNvSpPr>
            <a:spLocks noGrp="1"/>
          </p:cNvSpPr>
          <p:nvPr>
            <p:ph type="sldNum" sz="quarter" idx="12"/>
          </p:nvPr>
        </p:nvSpPr>
        <p:spPr/>
        <p:txBody>
          <a:bodyPr/>
          <a:lstStyle/>
          <a:p>
            <a:pPr>
              <a:defRPr/>
            </a:pPr>
            <a:fld id="{4E50E3D1-00F9-4270-80C4-51B2BB890846}" type="slidenum">
              <a:rPr lang="en-GB" smtClean="0"/>
              <a:pPr>
                <a:defRPr/>
              </a:pPr>
              <a:t>29</a:t>
            </a:fld>
            <a:endParaRPr lang="en-GB"/>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GB" dirty="0">
                <a:solidFill>
                  <a:schemeClr val="tx1"/>
                </a:solidFill>
              </a:rPr>
              <a:t>Effects of Frustration</a:t>
            </a:r>
          </a:p>
        </p:txBody>
      </p:sp>
      <p:sp>
        <p:nvSpPr>
          <p:cNvPr id="34819" name="Content Placeholder 2"/>
          <p:cNvSpPr>
            <a:spLocks noGrp="1"/>
          </p:cNvSpPr>
          <p:nvPr>
            <p:ph sz="quarter" idx="1"/>
          </p:nvPr>
        </p:nvSpPr>
        <p:spPr/>
        <p:txBody>
          <a:bodyPr/>
          <a:lstStyle/>
          <a:p>
            <a:pPr marL="776288" lvl="1" indent="-457200" eaLnBrk="1" hangingPunct="1">
              <a:buFont typeface="Wingdings 2" pitchFamily="18" charset="2"/>
              <a:buAutoNum type="arabicPeriod" startAt="2"/>
            </a:pPr>
            <a:endParaRPr lang="en-GB" sz="3200" dirty="0"/>
          </a:p>
          <a:p>
            <a:pPr marL="776288" lvl="1" indent="-457200" eaLnBrk="1" hangingPunct="1">
              <a:buFont typeface="Wingdings 2" pitchFamily="18" charset="2"/>
              <a:buAutoNum type="arabicPeriod" startAt="2"/>
            </a:pPr>
            <a:r>
              <a:rPr lang="en-GB" sz="3200" dirty="0">
                <a:solidFill>
                  <a:srgbClr val="FF0000"/>
                </a:solidFill>
              </a:rPr>
              <a:t>S. 1(2) </a:t>
            </a:r>
            <a:r>
              <a:rPr lang="en-GB" sz="3200" dirty="0"/>
              <a:t>enables the S to </a:t>
            </a:r>
            <a:r>
              <a:rPr lang="en-GB" sz="3200" u="sng" dirty="0"/>
              <a:t>retain part or all of a sum </a:t>
            </a:r>
            <a:r>
              <a:rPr lang="en-GB" sz="3200" dirty="0"/>
              <a:t>which would otherwise be recoverable as if there has been a total failure of consideration.</a:t>
            </a:r>
          </a:p>
          <a:p>
            <a:pPr marL="776288" lvl="1" indent="-457200" eaLnBrk="1" hangingPunct="1">
              <a:buFont typeface="Wingdings 2" pitchFamily="18" charset="2"/>
              <a:buAutoNum type="arabicPeriod" startAt="2"/>
            </a:pPr>
            <a:endParaRPr lang="en-GB" sz="3200" dirty="0"/>
          </a:p>
          <a:p>
            <a:pPr marL="776288" lvl="1" indent="-457200" eaLnBrk="1" hangingPunct="1">
              <a:buFont typeface="Wingdings 2" pitchFamily="18" charset="2"/>
              <a:buAutoNum type="arabicPeriod" startAt="2"/>
            </a:pPr>
            <a:r>
              <a:rPr lang="en-GB" sz="3200" dirty="0"/>
              <a:t>Special exception to the entire contracts rule: </a:t>
            </a:r>
            <a:r>
              <a:rPr lang="en-GB" sz="3200" dirty="0">
                <a:solidFill>
                  <a:srgbClr val="FF0000"/>
                </a:solidFill>
              </a:rPr>
              <a:t>s. 1(3) </a:t>
            </a:r>
          </a:p>
          <a:p>
            <a:endParaRPr lang="en-GB" dirty="0"/>
          </a:p>
        </p:txBody>
      </p:sp>
      <p:sp>
        <p:nvSpPr>
          <p:cNvPr id="4" name="Slide Number Placeholder 3"/>
          <p:cNvSpPr>
            <a:spLocks noGrp="1"/>
          </p:cNvSpPr>
          <p:nvPr>
            <p:ph type="sldNum" sz="quarter" idx="12"/>
          </p:nvPr>
        </p:nvSpPr>
        <p:spPr/>
        <p:txBody>
          <a:bodyPr/>
          <a:lstStyle/>
          <a:p>
            <a:pPr>
              <a:defRPr/>
            </a:pPr>
            <a:fld id="{FA134CE4-3B7B-44B7-AED2-70591C62FC62}" type="slidenum">
              <a:rPr lang="en-GB" smtClean="0"/>
              <a:pPr>
                <a:defRPr/>
              </a:pPr>
              <a:t>30</a:t>
            </a:fld>
            <a:endParaRPr lang="en-GB"/>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pPr eaLnBrk="1" hangingPunct="1"/>
            <a:r>
              <a:rPr lang="en-GB" u="sng" dirty="0">
                <a:solidFill>
                  <a:schemeClr val="tx1"/>
                </a:solidFill>
              </a:rPr>
              <a:t>Next two weeks:</a:t>
            </a:r>
          </a:p>
        </p:txBody>
      </p:sp>
      <p:sp>
        <p:nvSpPr>
          <p:cNvPr id="35843" name="Content Placeholder 2"/>
          <p:cNvSpPr>
            <a:spLocks noGrp="1"/>
          </p:cNvSpPr>
          <p:nvPr>
            <p:ph sz="quarter" idx="1"/>
          </p:nvPr>
        </p:nvSpPr>
        <p:spPr/>
        <p:txBody>
          <a:bodyPr/>
          <a:lstStyle/>
          <a:p>
            <a:pPr eaLnBrk="1" hangingPunct="1"/>
            <a:r>
              <a:rPr lang="en-GB" sz="3600" dirty="0"/>
              <a:t>The Passing of Property (1 and 2)</a:t>
            </a:r>
          </a:p>
          <a:p>
            <a:pPr eaLnBrk="1" hangingPunct="1">
              <a:buFont typeface="Wingdings 2" pitchFamily="18" charset="2"/>
              <a:buNone/>
            </a:pPr>
            <a:endParaRPr lang="en-GB" dirty="0"/>
          </a:p>
        </p:txBody>
      </p:sp>
      <p:sp>
        <p:nvSpPr>
          <p:cNvPr id="4" name="Slide Number Placeholder 3"/>
          <p:cNvSpPr>
            <a:spLocks noGrp="1"/>
          </p:cNvSpPr>
          <p:nvPr>
            <p:ph type="sldNum" sz="quarter" idx="12"/>
          </p:nvPr>
        </p:nvSpPr>
        <p:spPr/>
        <p:txBody>
          <a:bodyPr/>
          <a:lstStyle/>
          <a:p>
            <a:pPr>
              <a:defRPr/>
            </a:pPr>
            <a:fld id="{9C00357B-6F18-46F9-B01C-CD40F60AF97E}" type="slidenum">
              <a:rPr lang="en-GB" smtClean="0"/>
              <a:pPr>
                <a:defRPr/>
              </a:pPr>
              <a:t>31</a:t>
            </a:fld>
            <a:endParaRPr lang="en-GB"/>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9A4B24C251BCD4291F2C2F3A608C810" ma:contentTypeVersion="9" ma:contentTypeDescription="Create a new document." ma:contentTypeScope="" ma:versionID="72b3ce0b9445f479dcd63669a849f70a">
  <xsd:schema xmlns:xsd="http://www.w3.org/2001/XMLSchema" xmlns:xs="http://www.w3.org/2001/XMLSchema" xmlns:p="http://schemas.microsoft.com/office/2006/metadata/properties" xmlns:ns3="3cc0b812-7f7d-4aca-acca-000f424f7da7" xmlns:ns4="6bff29df-e80b-4a73-953f-e802c634e429" targetNamespace="http://schemas.microsoft.com/office/2006/metadata/properties" ma:root="true" ma:fieldsID="90c94a25cb4c1a2cd21c07d5eefe7aa2" ns3:_="" ns4:_="">
    <xsd:import namespace="3cc0b812-7f7d-4aca-acca-000f424f7da7"/>
    <xsd:import namespace="6bff29df-e80b-4a73-953f-e802c634e429"/>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DateTaken"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cc0b812-7f7d-4aca-acca-000f424f7da7"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bff29df-e80b-4a73-953f-e802c634e42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F661D38-B5D0-4582-AF9C-E57C780122C2}">
  <ds:schemaRefs>
    <ds:schemaRef ds:uri="http://schemas.microsoft.com/sharepoint/v3/contenttype/forms"/>
  </ds:schemaRefs>
</ds:datastoreItem>
</file>

<file path=customXml/itemProps2.xml><?xml version="1.0" encoding="utf-8"?>
<ds:datastoreItem xmlns:ds="http://schemas.openxmlformats.org/officeDocument/2006/customXml" ds:itemID="{FBA4983A-0F27-499E-B052-52C01EC9074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cc0b812-7f7d-4aca-acca-000f424f7da7"/>
    <ds:schemaRef ds:uri="6bff29df-e80b-4a73-953f-e802c634e42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EEE4CCD-4FCC-4F1A-8492-11FA3EF12666}">
  <ds:schemaRefs>
    <ds:schemaRef ds:uri="http://schemas.microsoft.com/office/infopath/2007/PartnerControls"/>
    <ds:schemaRef ds:uri="http://schemas.microsoft.com/office/2006/documentManagement/types"/>
    <ds:schemaRef ds:uri="http://schemas.microsoft.com/office/2006/metadata/properties"/>
    <ds:schemaRef ds:uri="http://purl.org/dc/dcmitype/"/>
    <ds:schemaRef ds:uri="http://purl.org/dc/terms/"/>
    <ds:schemaRef ds:uri="3cc0b812-7f7d-4aca-acca-000f424f7da7"/>
    <ds:schemaRef ds:uri="http://schemas.openxmlformats.org/package/2006/metadata/core-properties"/>
    <ds:schemaRef ds:uri="http://purl.org/dc/elements/1.1/"/>
    <ds:schemaRef ds:uri="6bff29df-e80b-4a73-953f-e802c634e429"/>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Equity</Template>
  <TotalTime>1074</TotalTime>
  <Words>2676</Words>
  <Application>Microsoft Office PowerPoint</Application>
  <PresentationFormat>On-screen Show (4:3)</PresentationFormat>
  <Paragraphs>275</Paragraphs>
  <Slides>31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Calibri</vt:lpstr>
      <vt:lpstr>Franklin Gothic Book</vt:lpstr>
      <vt:lpstr>Perpetua</vt:lpstr>
      <vt:lpstr>Wingdings 2</vt:lpstr>
      <vt:lpstr>Equity</vt:lpstr>
      <vt:lpstr>Commercial Law (Law 2241)</vt:lpstr>
      <vt:lpstr>Today….</vt:lpstr>
      <vt:lpstr>Risk and Frustration</vt:lpstr>
      <vt:lpstr>Risk and Frustration</vt:lpstr>
      <vt:lpstr>Transfer of Risk</vt:lpstr>
      <vt:lpstr>Transfer of Risk</vt:lpstr>
      <vt:lpstr>Exceptions (summary list, continued): </vt:lpstr>
      <vt:lpstr>Transfer of Risk</vt:lpstr>
      <vt:lpstr>Transfer of Risk</vt:lpstr>
      <vt:lpstr>Transfer of Risk</vt:lpstr>
      <vt:lpstr>Transfer of Risk </vt:lpstr>
      <vt:lpstr>Transfer of Risk</vt:lpstr>
      <vt:lpstr>Transfer of Risk</vt:lpstr>
      <vt:lpstr>Frustration</vt:lpstr>
      <vt:lpstr>Frustration</vt:lpstr>
      <vt:lpstr>Frustration </vt:lpstr>
      <vt:lpstr>Frustration</vt:lpstr>
      <vt:lpstr>Frustration</vt:lpstr>
      <vt:lpstr>Frustration</vt:lpstr>
      <vt:lpstr>Frustration</vt:lpstr>
      <vt:lpstr>Frustration </vt:lpstr>
      <vt:lpstr>Frustration</vt:lpstr>
      <vt:lpstr>Effects of Frustration</vt:lpstr>
      <vt:lpstr>Effects of Frustration </vt:lpstr>
      <vt:lpstr>Effects of Frustration</vt:lpstr>
      <vt:lpstr>Effects of Frustration</vt:lpstr>
      <vt:lpstr>Effects of Frustration</vt:lpstr>
      <vt:lpstr>Effects of Frustration </vt:lpstr>
      <vt:lpstr>Effects of Frustration</vt:lpstr>
      <vt:lpstr>Effects of Frustration</vt:lpstr>
      <vt:lpstr>Next two weeks:</vt:lpstr>
    </vt:vector>
  </TitlesOfParts>
  <Company>Durham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Commercial Law Law 2251</dc:title>
  <dc:creator>vchz42</dc:creator>
  <cp:lastModifiedBy>AVERY, RACHEL J.</cp:lastModifiedBy>
  <cp:revision>106</cp:revision>
  <dcterms:created xsi:type="dcterms:W3CDTF">2012-11-20T04:14:13Z</dcterms:created>
  <dcterms:modified xsi:type="dcterms:W3CDTF">2024-09-10T14:06:35Z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0x01010009A4B24C251BCD4291F2C2F3A608C810</vt:lpwstr>
  </property>
</Properties>
</file>