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3"/>
  </p:notesMasterIdLst>
  <p:sldIdLst>
    <p:sldId id="256" r:id="rId5"/>
    <p:sldId id="259" r:id="rId6"/>
    <p:sldId id="257" r:id="rId7"/>
    <p:sldId id="258" r:id="rId8"/>
    <p:sldId id="260" r:id="rId9"/>
    <p:sldId id="261" r:id="rId10"/>
    <p:sldId id="262" r:id="rId11"/>
    <p:sldId id="263" r:id="rId12"/>
    <p:sldId id="274" r:id="rId13"/>
    <p:sldId id="264" r:id="rId14"/>
    <p:sldId id="265" r:id="rId15"/>
    <p:sldId id="270" r:id="rId16"/>
    <p:sldId id="266" r:id="rId17"/>
    <p:sldId id="273" r:id="rId18"/>
    <p:sldId id="272" r:id="rId19"/>
    <p:sldId id="271" r:id="rId20"/>
    <p:sldId id="267" r:id="rId21"/>
    <p:sldId id="268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2296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37D3B8-C31C-42C6-A864-C2C5802658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6F3A9-AF4C-4CB8-8BBE-C92C0750317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1A214CFE-FC19-477F-8116-C078ECD56FC9}" type="datetimeFigureOut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5686173-21E9-4271-8B46-204F89450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336C026-101B-4817-8F43-DF37E2181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5B9D4-7F5A-4B4B-8978-40D3B338C2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5ACAE-C193-4092-9637-9B0766847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A3B2DDA-E5E1-46B2-B612-FC189A52A22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>
            <a:extLst>
              <a:ext uri="{FF2B5EF4-FFF2-40B4-BE49-F238E27FC236}">
                <a16:creationId xmlns:a16="http://schemas.microsoft.com/office/drawing/2014/main" id="{A2B58F42-2C8C-453D-9E2B-E1575846BC0D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D6443D4A-E37E-4A9B-B516-96E058585184}"/>
              </a:ext>
            </a:extLst>
          </p:cNvPr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B84BE150-F7E5-4999-BD21-325DB7A56FCB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4B3973EE-7768-410D-9539-5743D162EAE8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454336-7654-4E08-B44C-E2D3687DD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EEC0634-C402-45E0-9A49-1EBD00846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E809A8-EC84-4ECD-B9D3-964CF165F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6C1DED-4020-45C9-949E-03814CEEEDE9}"/>
              </a:ext>
            </a:extLst>
          </p:cNvPr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AF62AB-3AEE-456B-99D9-97AE33EE9E36}"/>
              </a:ext>
            </a:extLst>
          </p:cNvPr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>
            <a:extLst>
              <a:ext uri="{FF2B5EF4-FFF2-40B4-BE49-F238E27FC236}">
                <a16:creationId xmlns:a16="http://schemas.microsoft.com/office/drawing/2014/main" id="{EF1B4187-90A7-4F01-B888-A50980717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B44675-08B8-4EEC-BE9B-BFEA8F567889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16" name="Footer Placeholder 16">
            <a:extLst>
              <a:ext uri="{FF2B5EF4-FFF2-40B4-BE49-F238E27FC236}">
                <a16:creationId xmlns:a16="http://schemas.microsoft.com/office/drawing/2014/main" id="{DAAC6AB2-53FF-4C35-BF99-F49F2C37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" name="Slide Number Placeholder 28">
            <a:extLst>
              <a:ext uri="{FF2B5EF4-FFF2-40B4-BE49-F238E27FC236}">
                <a16:creationId xmlns:a16="http://schemas.microsoft.com/office/drawing/2014/main" id="{40C63453-A881-48CD-AE0E-C282718A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E2CF60-F181-4761-A23F-DC843451A39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11568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F0F40-AF3D-48FD-8C61-89E18324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5E871-03A6-4060-AD2A-F40E32138A70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467AE-BD77-49AF-A6BE-F1C14678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5CBF-C44F-441B-B579-E1220F81B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BB3B6C4-CCFE-46AA-9238-804A06BD30A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93560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>
            <a:extLst>
              <a:ext uri="{FF2B5EF4-FFF2-40B4-BE49-F238E27FC236}">
                <a16:creationId xmlns:a16="http://schemas.microsoft.com/office/drawing/2014/main" id="{3213EFFF-077D-4036-9B86-32DC2F2FEEC4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FCFA42C9-FF9C-41DE-B672-53DE40972AF7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006198B1-5A29-4DA7-AA6B-DFDEC0C8E5C3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F1EE5D3E-D131-4956-8C26-BBAE939A16C7}"/>
              </a:ext>
            </a:extLst>
          </p:cNvPr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Rectangle 25">
            <a:extLst>
              <a:ext uri="{FF2B5EF4-FFF2-40B4-BE49-F238E27FC236}">
                <a16:creationId xmlns:a16="http://schemas.microsoft.com/office/drawing/2014/main" id="{82F77B2E-9266-4520-B31D-FE6A3B61084B}"/>
              </a:ext>
            </a:extLst>
          </p:cNvPr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9" name="Rectangle 26">
            <a:extLst>
              <a:ext uri="{FF2B5EF4-FFF2-40B4-BE49-F238E27FC236}">
                <a16:creationId xmlns:a16="http://schemas.microsoft.com/office/drawing/2014/main" id="{96BBE50A-AD79-46F0-AD5B-ECAB0F0E4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3D12E8-5714-4025-9206-848FA0473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67D955-25B2-4519-B899-F37EA30BC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9C21A76-B202-4F57-BE28-E9E08531CA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5D5303-D3DD-45BB-B71B-C9E1EE963B25}"/>
              </a:ext>
            </a:extLst>
          </p:cNvPr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BA5D5C-7FB3-4D3B-B168-0F44FDE8E929}"/>
              </a:ext>
            </a:extLst>
          </p:cNvPr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FA68256-92B9-4A0D-AF76-C14AA170E1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7EB96E16-E832-4366-AD82-AE1DEB7DE2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B112A-5E1E-45DF-8AC8-D88412952AD3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B2DB01C-3310-4F5B-996D-F474139C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9BA41B-9113-483F-84B8-C70EB0078ED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72018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>
            <a:extLst>
              <a:ext uri="{FF2B5EF4-FFF2-40B4-BE49-F238E27FC236}">
                <a16:creationId xmlns:a16="http://schemas.microsoft.com/office/drawing/2014/main" id="{256DB5CC-6A06-4EFE-830D-325AB178D7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DB8B611-26F4-421D-A214-4F699CE6B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D7C8E-D58B-41D7-830E-B9D6907CF0A8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F1C738B-97DB-4965-A9DC-0E035AEF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BD7F105-41BE-46E3-9926-B1A61C93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6A810EC-3098-470D-970B-00139511715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719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>
            <a:extLst>
              <a:ext uri="{FF2B5EF4-FFF2-40B4-BE49-F238E27FC236}">
                <a16:creationId xmlns:a16="http://schemas.microsoft.com/office/drawing/2014/main" id="{C16DC36F-4FE8-43B8-B185-C6A4ED5902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7C74FFCC-DB42-4234-9F19-0C52EA8E5B36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2D8AEBB6-906A-4439-A124-DDD8315C083F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D3E987AC-58DE-4609-AF6B-EC01883265EC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FC89F993-2171-435A-B823-409093234C4A}"/>
              </a:ext>
            </a:extLst>
          </p:cNvPr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4304FF-B32F-485C-ADC9-D7A72830958E}"/>
              </a:ext>
            </a:extLst>
          </p:cNvPr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929DDF-372A-4AB8-9FE3-48E5398D1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E7077CF-AE7D-4016-94A1-878B0E21A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FC15B0-978B-40C8-99C7-02DC48224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584BFFC-6931-445A-B1E3-F9D871AA65C2}"/>
              </a:ext>
            </a:extLst>
          </p:cNvPr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EA341BD-5E52-4715-9557-F1DB0B85476D}"/>
              </a:ext>
            </a:extLst>
          </p:cNvPr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>
            <a:extLst>
              <a:ext uri="{FF2B5EF4-FFF2-40B4-BE49-F238E27FC236}">
                <a16:creationId xmlns:a16="http://schemas.microsoft.com/office/drawing/2014/main" id="{8C09CEF4-F841-4E93-85D1-020091F9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0A0A17-189D-4228-8D61-DBDD15093955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97A8FE43-8744-4CA1-B55D-B47C58BE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E64580DD-D366-4FF8-B7D6-8E305E81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24DE02F-77EC-48CE-8FC8-309C37EF310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18264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E272A-EE6A-47CD-A287-2507B928D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CB7F5-00FD-47FB-A6F3-F91965657EAE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CC5A7-B338-4C2B-9CD5-7E3C821FD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7D581-0116-4632-8898-2B208395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2B0BC6-6319-4405-9220-A64C9229A16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061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50CD285D-BD22-4BC9-9376-8E2B9DFB0714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E92B5CA3-1AC7-41E8-91B4-C557581186EB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34D4233A-43B6-4C21-AEEA-FF25E9DC04A6}"/>
              </a:ext>
            </a:extLst>
          </p:cNvPr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0B39388E-B09B-41D2-B3BB-F8BCF52D5998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7F24E2-5D93-4109-AA14-A5850452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9B1CC8-5715-4D0B-A655-7071AF1BD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EF6F42E-3983-4742-BB86-A41AFE5D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2976D-5268-4857-9A64-8C4E9B2CEBDC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8DE7F455-1631-46A3-839B-B529AFACB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6EED6DE-90FB-45A6-ACD5-7727FB3E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09E3376-FF60-4DE7-958F-D0BE0D9310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6472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F508BA-7C44-4802-AA90-935F56E63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31FD0058-8A66-42AF-83CB-F0234D459AFB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71A69D8E-7274-44EA-8EC3-B1F72FB19808}"/>
              </a:ext>
            </a:extLst>
          </p:cNvPr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BCF337AB-1B2F-4453-A040-3AE04F45CD6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8A9089AB-95E2-4D7C-A71D-830FCB82B3D4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D8FEAA-E0C6-446A-8EEC-E14E0C04E8E9}"/>
              </a:ext>
            </a:extLst>
          </p:cNvPr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C674F-19BE-4E0B-8F3D-7410BBC4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920A55B-C247-4544-9E14-ABCA182B7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F17B26-139F-4D1A-94C1-692652215AED}"/>
              </a:ext>
            </a:extLst>
          </p:cNvPr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FBFD67F-C721-4717-B490-BF729D0BC4CD}"/>
              </a:ext>
            </a:extLst>
          </p:cNvPr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D5A8BD-3B7B-4B64-9393-DEBA457D6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EDCBF48B-334A-43A7-8D06-C19434749A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D00F110-C310-4626-9C0B-5A734EAC6C1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D2E67C42-6DE9-41C5-A6CB-BA01AD030AA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113FC-0E03-462A-A5AE-4B4F9740C1F9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15CD7056-CFE7-4F5D-9CCA-30EE1A64CA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89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217D727-4A6B-41E1-BC53-4802CA55C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22688532-5511-4C62-8F90-2EA958C8824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8EB533EC-92B6-4D1E-88B2-013503129156}"/>
              </a:ext>
            </a:extLst>
          </p:cNvPr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4C0A6E72-71D8-477F-B418-75B368A75674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82D6CCB9-7226-486B-921F-78CDCDCF9AC3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22B50A-BDF6-4957-9774-179F359B1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CFEAF2-B9CC-4F65-81BF-B3E2F96C37E3}"/>
              </a:ext>
            </a:extLst>
          </p:cNvPr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6ABF4A-A1D2-48CC-8EF9-451E8AA13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F83586-DF10-4FC9-B220-2C0520703EBD}"/>
              </a:ext>
            </a:extLst>
          </p:cNvPr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3400147-7A84-42BF-BFC0-E8F2B1BAF05A}"/>
              </a:ext>
            </a:extLst>
          </p:cNvPr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8E9B97-5E4C-4949-B700-6F966CBCC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6B6338CB-ED1A-4637-9061-FEE99ACD0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41C0A20-334D-4EE2-BF43-709D4C9B73F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DFA95F16-0530-4886-8D41-559EEF1466E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A1049-9802-4BE3-8EE7-92C16FE2E6AF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F1FD0D9F-1493-4B01-AF29-1668A1F038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59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0F507-0CD5-4601-8F42-1DB9AD16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29002-0835-4AB9-B9BE-3AC8229BABB1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F55B2-0CA1-4F6A-B57C-F04224A5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4D189-C462-4C57-9333-2DE006FA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80B784E-D278-44B2-9EBF-56D3D0F3F56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17969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>
            <a:extLst>
              <a:ext uri="{FF2B5EF4-FFF2-40B4-BE49-F238E27FC236}">
                <a16:creationId xmlns:a16="http://schemas.microsoft.com/office/drawing/2014/main" id="{5D494F1A-0794-43C9-B6B9-6A4BB2BD2D01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50D04032-EF27-4B9C-BD3F-39E78F78C858}"/>
              </a:ext>
            </a:extLst>
          </p:cNvPr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E79DAA54-25D3-4D7A-A1C4-15391DBEBE9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F6B2CA2C-B7BF-4BC1-AA21-879E74DAD0E9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4A2764-9F11-4CB7-B70F-6FF87519F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6490B5-3BF2-4B0B-B7A2-84507D173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8CB936C-03CF-439D-8797-6D148FC5599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A9DEDE2-48B8-4A40-B61B-40F8EE989FEF}"/>
              </a:ext>
            </a:extLst>
          </p:cNvPr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F284B2-08DF-4FA9-8AE4-1F9BC84F766A}"/>
              </a:ext>
            </a:extLst>
          </p:cNvPr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E65BD01-60E8-4FFA-886E-22BADD119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9B4C14D-7DD6-4E95-B8D9-5B60897113C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A5F873A-0EA0-4996-9C96-2BC6D1DDF10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AE2D9-8E68-43BA-A174-F196A97B21D7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6040FB1-D82B-48E2-B776-2AED78C12D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861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>
            <a:extLst>
              <a:ext uri="{FF2B5EF4-FFF2-40B4-BE49-F238E27FC236}">
                <a16:creationId xmlns:a16="http://schemas.microsoft.com/office/drawing/2014/main" id="{ED791158-0799-475E-902E-6891822F3560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7" name="Rectangle 15">
            <a:extLst>
              <a:ext uri="{FF2B5EF4-FFF2-40B4-BE49-F238E27FC236}">
                <a16:creationId xmlns:a16="http://schemas.microsoft.com/office/drawing/2014/main" id="{9C28EA87-C1ED-41C3-9162-4648592FFCB9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8" name="Rectangle 17">
            <a:extLst>
              <a:ext uri="{FF2B5EF4-FFF2-40B4-BE49-F238E27FC236}">
                <a16:creationId xmlns:a16="http://schemas.microsoft.com/office/drawing/2014/main" id="{92030DC7-FAA8-4558-80B8-224C845E7CAF}"/>
              </a:ext>
            </a:extLst>
          </p:cNvPr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9" name="Rectangle 18">
            <a:extLst>
              <a:ext uri="{FF2B5EF4-FFF2-40B4-BE49-F238E27FC236}">
                <a16:creationId xmlns:a16="http://schemas.microsoft.com/office/drawing/2014/main" id="{C56DDD55-01A9-4402-B9C5-A69D7F1CD948}"/>
              </a:ext>
            </a:extLst>
          </p:cNvPr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53D086-E427-447F-BEF4-BE2082A46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B2C1B50-047C-4003-A014-E38617253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8B90526-A6EA-489E-8B7E-7555FEAEBBE3}" type="datetime1">
              <a:rPr lang="en-GB"/>
              <a:pPr>
                <a:defRPr/>
              </a:pPr>
              <a:t>14/10/2024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3EA0E-7CA5-4FCE-849D-242F53DA2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A41D8C-17EF-4F42-93F5-5B6C7A8BF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97163DB-171D-483A-9346-6D54EE343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FE4602-5241-40BA-AE68-3240D61F1000}"/>
              </a:ext>
            </a:extLst>
          </p:cNvPr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515D02-5531-47FA-8239-F8F4CCEBB918}"/>
              </a:ext>
            </a:extLst>
          </p:cNvPr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B0062D5-7830-4669-9447-63F6224EA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1600" smtClean="0">
                <a:solidFill>
                  <a:srgbClr val="7B9899"/>
                </a:solidFill>
              </a:defRPr>
            </a:lvl1pPr>
          </a:lstStyle>
          <a:p>
            <a:pPr>
              <a:defRPr/>
            </a:pPr>
            <a:fld id="{458B6C94-9AEC-4054-899F-7FBB3B08BB9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8" name="Title Placeholder 21">
            <a:extLst>
              <a:ext uri="{FF2B5EF4-FFF2-40B4-BE49-F238E27FC236}">
                <a16:creationId xmlns:a16="http://schemas.microsoft.com/office/drawing/2014/main" id="{1ACFE340-82F6-4FCC-A49F-87CF7653C09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9" name="Text Placeholder 12">
            <a:extLst>
              <a:ext uri="{FF2B5EF4-FFF2-40B4-BE49-F238E27FC236}">
                <a16:creationId xmlns:a16="http://schemas.microsoft.com/office/drawing/2014/main" id="{C0FF34E4-F31D-4160-BA00-72B4F11F98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anose="05020102010507070707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anose="05000000000000000000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ACD2B-9C28-4B54-94A5-4B7812F31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844824"/>
            <a:ext cx="6400800" cy="2727176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RACHEL AVERY</a:t>
            </a:r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GB"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GB"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Legislation, Basic Concepts and The Scope of the Sale of Goods Act 1979 (1) </a:t>
            </a:r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GB" dirty="0"/>
          </a:p>
        </p:txBody>
      </p:sp>
      <p:sp>
        <p:nvSpPr>
          <p:cNvPr id="14339" name="Title 1">
            <a:extLst>
              <a:ext uri="{FF2B5EF4-FFF2-40B4-BE49-F238E27FC236}">
                <a16:creationId xmlns:a16="http://schemas.microsoft.com/office/drawing/2014/main" id="{FA491136-EE26-4CB3-B904-68962FE9B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63824"/>
          </a:xfrm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Commercial Law</a:t>
            </a:r>
            <a:b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(Law 2241)</a:t>
            </a:r>
          </a:p>
        </p:txBody>
      </p:sp>
      <p:pic>
        <p:nvPicPr>
          <p:cNvPr id="14341" name="Picture 6" descr="Related image">
            <a:extLst>
              <a:ext uri="{FF2B5EF4-FFF2-40B4-BE49-F238E27FC236}">
                <a16:creationId xmlns:a16="http://schemas.microsoft.com/office/drawing/2014/main" id="{3896AC7D-1AFF-47C4-AEC0-ECA1B1DBE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005064"/>
            <a:ext cx="360997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CE347F7-F41F-4C25-8C4D-DDCF176E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week and next…..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E34B0B4A-B82F-4F10-A641-E942562EF4F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Sources of Sales law</a:t>
            </a: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Basic Concepts</a:t>
            </a: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Scope of SGA 1979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B743D8A5-DCE3-4CBF-BBA0-3E5AB26999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004C8F06-28FD-4EE5-BA0C-F038D3990175}" type="slidenum">
              <a:rPr lang="en-GB" altLang="en-US">
                <a:solidFill>
                  <a:srgbClr val="7B9899"/>
                </a:solidFill>
              </a:rPr>
              <a:pPr/>
              <a:t>2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2">
            <a:extLst>
              <a:ext uri="{FF2B5EF4-FFF2-40B4-BE49-F238E27FC236}">
                <a16:creationId xmlns:a16="http://schemas.microsoft.com/office/drawing/2014/main" id="{F672873D-2CE3-48B7-B3A8-E13868CB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6F6450-07A1-4B79-8D93-D156818AC2E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99745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Sale of Goods Act 1979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SGA 1893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Amendments by Sale and Supply of Goods Act 1994, SGA (Amendment) Act 1994 and the SGA (Amendment) Act 1995.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Further amendments by EU directives on sale of consumer goods, associated guarantees, distance contracts.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Pre-dated legislation such as Factors Act 1889. Other relevant legislation includes the Unfair Contract Terms Act 1977 and the Unfair Contract Terms Regulations 1999.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Case law interpreting the legislation.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Pre-1893 case law interpreting the legislation.</a:t>
            </a:r>
          </a:p>
          <a:p>
            <a:pPr marL="274320" lvl="1" indent="0"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GB" dirty="0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B4F9C3D7-BAE1-48CB-A70F-E4CA17E834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879A7977-15DA-468F-9667-547D9D3514AC}" type="slidenum">
              <a:rPr lang="en-GB" altLang="en-US">
                <a:solidFill>
                  <a:srgbClr val="7B9899"/>
                </a:solidFill>
              </a:rPr>
              <a:pPr/>
              <a:t>3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159B5F8-9478-4DE6-8C98-B9F2A0AD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7E3E4-2754-46A5-90C2-DD93965DC19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854575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Act of 1893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Codifying statute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First example of interpretation:</a:t>
            </a:r>
          </a:p>
          <a:p>
            <a:pPr marL="822960" lvl="2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r>
              <a:rPr lang="en-GB" b="1" i="1" dirty="0">
                <a:latin typeface="Calibri" panose="020F0502020204030204" pitchFamily="34" charset="0"/>
                <a:cs typeface="Calibri" panose="020F0502020204030204" pitchFamily="34" charset="0"/>
              </a:rPr>
              <a:t>Bank of England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GB" b="1" i="1" dirty="0">
                <a:latin typeface="Calibri" panose="020F0502020204030204" pitchFamily="34" charset="0"/>
                <a:cs typeface="Calibri" panose="020F0502020204030204" pitchFamily="34" charset="0"/>
              </a:rPr>
              <a:t> Vagliano Bros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[1891] AC 107, 144-5</a:t>
            </a:r>
          </a:p>
          <a:p>
            <a:pPr marL="1097280" lvl="3" algn="just" eaLnBrk="1" fontAlgn="auto" hangingPunct="1">
              <a:spcAft>
                <a:spcPts val="0"/>
              </a:spcAft>
              <a:buClr>
                <a:schemeClr val="accent4"/>
              </a:buClr>
              <a:buFont typeface="Wingdings"/>
              <a:buChar char="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‘in the first instance to examine the </a:t>
            </a:r>
            <a:r>
              <a:rPr lang="en-GB" i="1" u="sng" dirty="0">
                <a:latin typeface="Calibri" panose="020F0502020204030204" pitchFamily="34" charset="0"/>
                <a:cs typeface="Calibri" panose="020F0502020204030204" pitchFamily="34" charset="0"/>
              </a:rPr>
              <a:t>language of the statute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and to ask what is its </a:t>
            </a:r>
            <a:r>
              <a:rPr lang="en-GB" i="1" u="sng" dirty="0">
                <a:latin typeface="Calibri" panose="020F0502020204030204" pitchFamily="34" charset="0"/>
                <a:cs typeface="Calibri" panose="020F0502020204030204" pitchFamily="34" charset="0"/>
              </a:rPr>
              <a:t>natural meaning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i="1" u="sng" dirty="0">
                <a:latin typeface="Calibri" panose="020F0502020204030204" pitchFamily="34" charset="0"/>
                <a:cs typeface="Calibri" panose="020F0502020204030204" pitchFamily="34" charset="0"/>
              </a:rPr>
              <a:t>uninfluenced by any considerations</a:t>
            </a: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derived from the </a:t>
            </a:r>
            <a:r>
              <a:rPr lang="en-GB" i="1" u="sng" dirty="0">
                <a:latin typeface="Calibri" panose="020F0502020204030204" pitchFamily="34" charset="0"/>
                <a:cs typeface="Calibri" panose="020F0502020204030204" pitchFamily="34" charset="0"/>
              </a:rPr>
              <a:t>previous state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of the law, and not to start with inquiring how the law previously stood, and then, </a:t>
            </a:r>
            <a:r>
              <a:rPr lang="en-GB" i="1" u="sng" dirty="0">
                <a:latin typeface="Calibri" panose="020F0502020204030204" pitchFamily="34" charset="0"/>
                <a:cs typeface="Calibri" panose="020F0502020204030204" pitchFamily="34" charset="0"/>
              </a:rPr>
              <a:t>assuming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that it was probably </a:t>
            </a:r>
            <a:r>
              <a:rPr lang="en-GB" i="1" u="sng" dirty="0">
                <a:latin typeface="Calibri" panose="020F0502020204030204" pitchFamily="34" charset="0"/>
                <a:cs typeface="Calibri" panose="020F0502020204030204" pitchFamily="34" charset="0"/>
              </a:rPr>
              <a:t>intended to leave it unaltered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, to see if the words of the enactment will bear an interpretation in conformity with this view. … The purpose of such a statute surely was that on any point specifically dealt with by it, the </a:t>
            </a:r>
            <a:r>
              <a:rPr lang="en-GB" i="1" u="sng" dirty="0">
                <a:latin typeface="Calibri" panose="020F0502020204030204" pitchFamily="34" charset="0"/>
                <a:cs typeface="Calibri" panose="020F0502020204030204" pitchFamily="34" charset="0"/>
              </a:rPr>
              <a:t>law should be ascertained by interpreting the language used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instead of, as before by roaming over a vast number of authorities in order to discover what the law was, extracting it by a minute critical examination of the prior decisions.’</a:t>
            </a:r>
            <a:endParaRPr lang="en-GB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FCD7B4C3-2BA6-42E0-8D6A-0D4EE67B05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E3C442D0-F1E7-45F1-AA1E-ABDCB7E06D5B}" type="slidenum">
              <a:rPr lang="en-GB" altLang="en-US">
                <a:solidFill>
                  <a:srgbClr val="7B9899"/>
                </a:solidFill>
              </a:rPr>
              <a:pPr/>
              <a:t>4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BD97418-6A85-4973-A91C-42BD4FC2E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DDCF-DFEB-491B-B471-0A3404C37FB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412875"/>
            <a:ext cx="8504238" cy="5040313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application of </a:t>
            </a:r>
            <a:r>
              <a:rPr lang="en-GB" i="1" dirty="0">
                <a:latin typeface="Calibri" panose="020F0502020204030204" pitchFamily="34" charset="0"/>
                <a:cs typeface="Calibri" panose="020F0502020204030204" pitchFamily="34" charset="0"/>
              </a:rPr>
              <a:t>Bank of England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GB" i="1" dirty="0">
                <a:latin typeface="Calibri" panose="020F0502020204030204" pitchFamily="34" charset="0"/>
                <a:cs typeface="Calibri" panose="020F0502020204030204" pitchFamily="34" charset="0"/>
              </a:rPr>
              <a:t> Vagliano Bros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will need to be given </a:t>
            </a: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</a:rPr>
              <a:t>limited value to the extent that it applies to </a:t>
            </a:r>
            <a:r>
              <a:rPr lang="en-GB" i="1" u="sng" dirty="0">
                <a:latin typeface="Calibri" panose="020F0502020204030204" pitchFamily="34" charset="0"/>
                <a:cs typeface="Calibri" panose="020F0502020204030204" pitchFamily="34" charset="0"/>
              </a:rPr>
              <a:t>implied terms.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endParaRPr lang="en-GB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r>
              <a:rPr lang="en-GB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Ashington</a:t>
            </a:r>
            <a:r>
              <a:rPr lang="en-GB" b="1" i="1" dirty="0">
                <a:latin typeface="Calibri" panose="020F0502020204030204" pitchFamily="34" charset="0"/>
                <a:cs typeface="Calibri" panose="020F0502020204030204" pitchFamily="34" charset="0"/>
              </a:rPr>
              <a:t> Piggeries Ltd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GB" b="1" i="1" dirty="0">
                <a:latin typeface="Calibri" panose="020F0502020204030204" pitchFamily="34" charset="0"/>
                <a:cs typeface="Calibri" panose="020F0502020204030204" pitchFamily="34" charset="0"/>
              </a:rPr>
              <a:t> Christopher Hill Ltd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[1972] AC 441</a:t>
            </a:r>
          </a:p>
          <a:p>
            <a:pPr marL="822960" lvl="2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‘ought not to be construed so narrowly as to force on parties to contracts for the sale of goods promises and consequences </a:t>
            </a: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</a:rPr>
              <a:t>different from what they must reasonably have intended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.’</a:t>
            </a:r>
          </a:p>
          <a:p>
            <a:pPr marL="822960" lvl="2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i="1" dirty="0">
                <a:latin typeface="Calibri" panose="020F0502020204030204" pitchFamily="34" charset="0"/>
                <a:cs typeface="Calibri" panose="020F0502020204030204" pitchFamily="34" charset="0"/>
              </a:rPr>
              <a:t>Bank of England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decision may also need to be carefully approached in terms of the former 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en-GB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merchantable quality’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concept</a:t>
            </a:r>
            <a:r>
              <a:rPr lang="en-GB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which is now replaced by the 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en-GB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satisfactory quality’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term.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r>
              <a:rPr lang="en-GB" b="1" i="1" dirty="0">
                <a:latin typeface="Calibri" panose="020F0502020204030204" pitchFamily="34" charset="0"/>
                <a:cs typeface="Calibri" panose="020F0502020204030204" pitchFamily="34" charset="0"/>
              </a:rPr>
              <a:t>Rogers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i="1" dirty="0">
                <a:latin typeface="Calibri" panose="020F0502020204030204" pitchFamily="34" charset="0"/>
                <a:cs typeface="Calibri" panose="020F0502020204030204" pitchFamily="34" charset="0"/>
              </a:rPr>
              <a:t>Parish (Scarborough) Ltd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[1987] QB 933</a:t>
            </a:r>
          </a:p>
          <a:p>
            <a:pPr marL="274320" lvl="1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	Only the words of the 1979 Act need to be considered.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endParaRPr lang="en-GB" i="1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CD820BE2-76DB-4939-AD31-123AC68C6A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9EBC1449-FB22-4559-A936-6442FB606D9A}" type="slidenum">
              <a:rPr lang="en-GB" altLang="en-US">
                <a:solidFill>
                  <a:srgbClr val="7B9899"/>
                </a:solidFill>
              </a:rPr>
              <a:pPr/>
              <a:t>5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06D3ABA9-54CB-4B99-A4B5-80042B83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 (3)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66A8F766-6901-4D5F-9400-574C76C3E8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710113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A further problem with the </a:t>
            </a:r>
            <a:r>
              <a:rPr lang="en-GB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Bank of England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 decision: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Interpretation is not sufficiently adaptable to be used in the interpretation of legislation which departs from the general common law principles.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Every interpretation attempt creates a gap between sale of goods law and other closely related contracts such as personal property.</a:t>
            </a:r>
          </a:p>
          <a:p>
            <a:pPr lvl="1" eaLnBrk="1" hangingPunct="1"/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SGA does </a:t>
            </a:r>
            <a:r>
              <a:rPr lang="en-GB" altLang="en-US" b="1" i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attempt to codify the general principles of contract law: </a:t>
            </a:r>
            <a:r>
              <a:rPr lang="en-GB" alt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s.62(2).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01A3916A-B97E-4086-9CE6-7545557404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6702C939-47D8-4D59-9986-A556AE1C6AAA}" type="slidenum">
              <a:rPr lang="en-GB" altLang="en-US">
                <a:solidFill>
                  <a:srgbClr val="7B9899"/>
                </a:solidFill>
              </a:rPr>
              <a:pPr/>
              <a:t>6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F4539FB-830C-4112-8F13-4884B107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Basic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1667-6FD5-47AD-A848-A8FD8BE7874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926013"/>
          </a:xfrm>
        </p:spPr>
        <p:txBody>
          <a:bodyPr>
            <a:normAutofit fontScale="8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i="1" dirty="0">
                <a:latin typeface="Calibri" panose="020F0502020204030204" pitchFamily="34" charset="0"/>
                <a:cs typeface="Calibri" panose="020F0502020204030204" pitchFamily="34" charset="0"/>
              </a:rPr>
              <a:t>Ownership/property vs. possession: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Two distinct concepts. The significance between them can be found in the rights granted to the buyer.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Ownership/property</a:t>
            </a:r>
          </a:p>
          <a:p>
            <a:pPr marL="548958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Risk passes, buyer can sue in tort if a third party damages the goods.  In the case of the seller’s insolvency the buyer will have good title.</a:t>
            </a:r>
          </a:p>
          <a:p>
            <a:pPr marL="548958" lvl="1" indent="-27432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i="1" dirty="0">
                <a:latin typeface="Calibri" panose="020F0502020204030204" pitchFamily="34" charset="0"/>
                <a:cs typeface="Calibri" panose="020F0502020204030204" pitchFamily="34" charset="0"/>
              </a:rPr>
              <a:t>Possession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can be either </a:t>
            </a:r>
            <a:r>
              <a:rPr lang="en-GB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actual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GB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constructive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. The buyer may have the property but without possession of the goods, the buyer will have an immediate right to possession.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Possession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Actual – exclusive physical control.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Constructive – control over the goods in the hands of a 3</a:t>
            </a:r>
            <a:r>
              <a:rPr lang="en-GB" baseline="30000" dirty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party.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defRPr/>
            </a:pPr>
            <a:endParaRPr lang="en-GB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GB" dirty="0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CE70F591-71D4-4163-9CA2-A9C0FDB6F2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6AE6C986-4596-4AEA-A1CF-30FBE25B2936}" type="slidenum">
              <a:rPr lang="en-GB" altLang="en-US">
                <a:solidFill>
                  <a:srgbClr val="7B9899"/>
                </a:solidFill>
              </a:rPr>
              <a:pPr/>
              <a:t>7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6D02F4F-EC8B-4C1B-AE65-E77FFE0B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Contract of sale of goods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3CC956F0-C64C-452B-8FEE-FF807C42EE4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5141913"/>
          </a:xfrm>
        </p:spPr>
        <p:txBody>
          <a:bodyPr/>
          <a:lstStyle/>
          <a:p>
            <a:pPr eaLnBrk="1" hangingPunct="1"/>
            <a:r>
              <a:rPr lang="en-GB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SGA 1979 applies to </a:t>
            </a:r>
            <a:r>
              <a:rPr lang="en-GB" alt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“contracts of sale of goods”, s. 1: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(1)This Act applies to contracts of sale of goods made on or after (but not to those made before) 1 January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1894.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(2)In relation to contracts made on certain dates, this Act applies subject to the modification of certain of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its sections as mentioned in Schedule 1 below.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(3)Any such modification is indicated in the section concerned by a reference to Schedule 1 below.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(4)Accordingly, where a section does not contain such a reference, this Act applies in relation to the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contract concerned without such modification of the section</a:t>
            </a:r>
          </a:p>
          <a:p>
            <a:pPr eaLnBrk="1" hangingPunct="1"/>
            <a:r>
              <a:rPr lang="en-GB" alt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s. 2(1):</a:t>
            </a:r>
          </a:p>
          <a:p>
            <a:pPr lvl="1" eaLnBrk="1" hangingPunct="1"/>
            <a:r>
              <a:rPr lang="en-GB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See also </a:t>
            </a:r>
            <a:r>
              <a:rPr lang="en-GB" altLang="en-US" sz="21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s. 61  </a:t>
            </a:r>
            <a:r>
              <a:rPr lang="en-GB" alt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(interpretation section – useful!): </a:t>
            </a:r>
            <a:r>
              <a:rPr lang="en-GB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contract of sale .. An agreement to sell as well as an actual contract of sale.</a:t>
            </a:r>
          </a:p>
          <a:p>
            <a:pPr lvl="1" eaLnBrk="1" hangingPunct="1"/>
            <a:r>
              <a:rPr lang="en-GB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“A contract of sale of goods is a </a:t>
            </a:r>
            <a:r>
              <a:rPr lang="en-GB" altLang="en-US" sz="2100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contract</a:t>
            </a:r>
            <a:r>
              <a:rPr lang="en-GB" altLang="en-US" sz="21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which the </a:t>
            </a:r>
            <a:r>
              <a:rPr lang="en-GB" altLang="en-US" sz="2100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seller transfers or agrees to transfer the property in goods </a:t>
            </a:r>
            <a:r>
              <a:rPr lang="en-GB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the buyer for a </a:t>
            </a:r>
            <a:r>
              <a:rPr lang="en-GB" altLang="en-US" sz="2100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money consideration</a:t>
            </a:r>
            <a:r>
              <a:rPr lang="en-GB" alt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called the </a:t>
            </a:r>
            <a:r>
              <a:rPr lang="en-GB" altLang="en-US" sz="2100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price</a:t>
            </a:r>
            <a:r>
              <a:rPr lang="en-GB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.”</a:t>
            </a:r>
          </a:p>
          <a:p>
            <a:pPr eaLnBrk="1" hangingPunct="1"/>
            <a:r>
              <a:rPr lang="en-GB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‘Contract of sale’ </a:t>
            </a:r>
            <a:r>
              <a:rPr lang="en-GB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includes</a:t>
            </a:r>
            <a:r>
              <a:rPr lang="en-GB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 sale </a:t>
            </a:r>
            <a:r>
              <a:rPr lang="en-GB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GB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agreement to sell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GB" altLang="en-US" sz="2100" i="1" dirty="0"/>
          </a:p>
          <a:p>
            <a:pPr eaLnBrk="1" hangingPunct="1"/>
            <a:endParaRPr lang="en-GB" altLang="en-US" sz="2100" i="1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AD50AC24-10D4-4086-B7E0-E4D3F1E34E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F4D222F7-D749-4186-B704-5CB9C6BA9F5B}" type="slidenum">
              <a:rPr lang="en-GB" altLang="en-US">
                <a:solidFill>
                  <a:srgbClr val="7B9899"/>
                </a:solidFill>
              </a:rPr>
              <a:pPr/>
              <a:t>8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F17-8EB5-4898-A50B-1C5F222E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Consumer Rights Act 2015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5548B7A0-2D6B-4BC8-A15C-35248FCFEAE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CRA 2015 which came into force on 1</a:t>
            </a:r>
            <a:r>
              <a:rPr lang="en-GB" alt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 October 2015 is also an important piece of legislation which deals with (among other things) a contract for a </a:t>
            </a:r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trader to supply goods to a </a:t>
            </a:r>
            <a:r>
              <a:rPr lang="en-GB" altLang="en-US" b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consumer</a:t>
            </a:r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s.1 CRA 2015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>
              <a:buFont typeface="Wingdings 2" panose="05020102010507070707" pitchFamily="18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Chapter 2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is the most important Chapter for your purposes (“Goods”).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95CB5C1E-70AF-42A9-91DE-912E9C80E1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0182D34B-5924-414E-B14D-332884608149}" type="slidenum">
              <a:rPr lang="en-GB" altLang="en-US">
                <a:solidFill>
                  <a:srgbClr val="7B9899"/>
                </a:solidFill>
              </a:rPr>
              <a:pPr/>
              <a:t>9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6472B906-412A-4A3E-92D9-A5903C3A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Contract of Sale of Goods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F7379B5B-FA2B-434A-A523-0A2D06B0EB0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Essential components?</a:t>
            </a:r>
          </a:p>
          <a:p>
            <a:pPr lvl="1" eaLnBrk="1" hangingPunct="1"/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A contract …</a:t>
            </a:r>
          </a:p>
          <a:p>
            <a:pPr lvl="1" eaLnBrk="1" hangingPunct="1"/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the seller transfers or agrees to transfer the property …</a:t>
            </a:r>
          </a:p>
          <a:p>
            <a:pPr lvl="1" eaLnBrk="1" hangingPunct="1"/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In goods …</a:t>
            </a:r>
          </a:p>
          <a:p>
            <a:pPr lvl="1" eaLnBrk="1" hangingPunct="1"/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Money consideration …(price)</a:t>
            </a:r>
          </a:p>
          <a:p>
            <a:pPr lvl="1" eaLnBrk="1" hangingPunct="1"/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74638" lvl="1" indent="0" eaLnBrk="1" hangingPunct="1">
              <a:buNone/>
            </a:pPr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(ss.1, 2(1) and 61 taken together)</a:t>
            </a:r>
          </a:p>
          <a:p>
            <a:pPr marL="0" indent="0" eaLnBrk="1" hangingPunct="1">
              <a:buNone/>
            </a:pPr>
            <a:endParaRPr lang="en-GB" altLang="en-US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99593C9B-94C0-44AE-BA3D-8EDC3E8A2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65832235-33E4-4823-B11F-FC854C9BF931}" type="slidenum">
              <a:rPr lang="en-GB" altLang="en-US">
                <a:solidFill>
                  <a:srgbClr val="7B9899"/>
                </a:solidFill>
              </a:rPr>
              <a:pPr/>
              <a:t>10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A92995C2-6A08-4206-A105-67E6EC82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a contract …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18155AE7-DE40-403A-A78F-42F2F0D9B4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341438"/>
            <a:ext cx="8504238" cy="511175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… a contract…</a:t>
            </a:r>
          </a:p>
          <a:p>
            <a:pPr lvl="1" eaLnBrk="1" hangingPunct="1">
              <a:defRPr/>
            </a:pP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Contractual process/entering into contracts is a voluntary/consensual process. Bargain, negotiation, offer/acceptance etc. 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Parties agree to buy and sell </a:t>
            </a:r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‘goods’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Where there is a statutory right to receive a good then this is </a:t>
            </a:r>
            <a:r>
              <a:rPr lang="en-GB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not a sale of goods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74638" lvl="1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	Pfizer v Minister of Health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[1965] AC 512 – patient’s 	statutory right to receive the drug and the hospital’s 	obligation to supply it.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statutory provision of medicine </a:t>
            </a:r>
          </a:p>
          <a:p>
            <a:pPr marL="274638" lvl="1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And it is not a contract as it is not a </a:t>
            </a:r>
            <a:r>
              <a:rPr lang="en-GB" alt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voluntary process</a:t>
            </a:r>
            <a:r>
              <a:rPr lang="en-GB" altLang="en-US" dirty="0"/>
              <a:t>.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F1E71F45-816B-4591-8071-3DA9A7F47F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2C827AA9-6961-48EC-8849-F1DBF5DA04F0}" type="slidenum">
              <a:rPr lang="en-GB" altLang="en-US">
                <a:solidFill>
                  <a:srgbClr val="7B9899"/>
                </a:solidFill>
              </a:rPr>
              <a:pPr/>
              <a:t>11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EBE0-F5DC-4D97-82EA-FFF267607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a contract </a:t>
            </a:r>
            <a:r>
              <a:rPr lang="en-GB" dirty="0">
                <a:solidFill>
                  <a:srgbClr val="7B9899"/>
                </a:solidFill>
              </a:rPr>
              <a:t>…</a:t>
            </a:r>
            <a:endParaRPr lang="en-GB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256EF624-9866-485D-AA2A-CE6CA11468B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To the extent that a transaction is not regulated by agreement between the parties, it may be argued that it is not properly categorised as a contract.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GB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NORWEB </a:t>
            </a:r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GB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Dixon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[1995] 3 All ER 952</a:t>
            </a:r>
          </a:p>
          <a:p>
            <a:pPr lvl="2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A supply of electricity to a consumer which was almost entirely regulated both as to the creation of the relationship and its terms by the </a:t>
            </a:r>
            <a:r>
              <a:rPr lang="en-GB" alt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Electricity Act 1989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could not be regarded as a contract. Money owed by the consumer was not a contractual debt. </a:t>
            </a: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8B820E2F-4587-41F4-AC7E-5FCAAE028D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6BC6D26A-A7F9-4C67-8808-821716C52D1D}" type="slidenum">
              <a:rPr lang="en-GB" altLang="en-US">
                <a:solidFill>
                  <a:srgbClr val="7B9899"/>
                </a:solidFill>
              </a:rPr>
              <a:pPr/>
              <a:t>12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A53E-8644-4038-B7EC-EC38DDECF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88913"/>
            <a:ext cx="85344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rgbClr val="7B9899"/>
                </a:solidFill>
              </a:rPr>
              <a:t>… </a:t>
            </a:r>
            <a:r>
              <a:rPr lang="en-GB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contract …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DECA6CE6-36F6-482D-8C79-3FD513FDB66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268413"/>
            <a:ext cx="8504238" cy="5473700"/>
          </a:xfrm>
        </p:spPr>
        <p:txBody>
          <a:bodyPr/>
          <a:lstStyle/>
          <a:p>
            <a:pPr eaLnBrk="1" hangingPunct="1"/>
            <a:r>
              <a:rPr lang="en-GB" alt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SGA 1979, s.2(3)</a:t>
            </a:r>
            <a:endParaRPr lang="en-GB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‘A contract of sale may be </a:t>
            </a:r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absolute or conditional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.’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Absolute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 – the parties agree to pass the property there and then without any conditions.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Conditional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 sale agreement:</a:t>
            </a:r>
          </a:p>
          <a:p>
            <a:pPr lvl="2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Transfer of property is </a:t>
            </a:r>
            <a:r>
              <a:rPr lang="en-GB" altLang="en-US" i="1" u="sng" dirty="0">
                <a:latin typeface="Calibri" panose="020F0502020204030204" pitchFamily="34" charset="0"/>
                <a:cs typeface="Calibri" panose="020F0502020204030204" pitchFamily="34" charset="0"/>
              </a:rPr>
              <a:t>subject to certain </a:t>
            </a:r>
            <a:r>
              <a:rPr lang="en-GB" altLang="en-US" i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condition</a:t>
            </a:r>
            <a:r>
              <a:rPr lang="en-GB" altLang="en-US" i="1" u="sng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2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agreement for sale under which title remains with the seller </a:t>
            </a:r>
            <a:r>
              <a:rPr lang="en-GB" alt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until the purchase price has been paid in full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GB" alt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the buyer has complied with any other conditions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 prescribed by the agreement for the transfer of title to him. 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GB" altLang="en-US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E2E48522-A2EA-4284-A7EC-5CA6F0B0F2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D291D7E7-327D-475B-A70C-870B720C79B5}" type="slidenum">
              <a:rPr lang="en-GB" altLang="en-US">
                <a:solidFill>
                  <a:srgbClr val="7B9899"/>
                </a:solidFill>
              </a:rPr>
              <a:pPr/>
              <a:t>13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13FB-47FF-4A62-9B44-26ACF5496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...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 contract.... (continued)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63D08197-6182-4152-8DDC-70DD7FDA8F8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marL="0" lvl="3" indent="0">
              <a:buClr>
                <a:schemeClr val="accent1"/>
              </a:buClr>
              <a:buSzPct val="85000"/>
              <a:buNone/>
            </a:pPr>
            <a:endParaRPr lang="en-GB" altLang="en-US" dirty="0"/>
          </a:p>
          <a:p>
            <a:pPr marL="273050" lvl="3" indent="-273050"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Different to </a:t>
            </a:r>
            <a:r>
              <a:rPr lang="en-GB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hire-purchase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– where with a sales contract the buyer is contractually committed to buying, the hirer in a hire-purchase situation has an </a:t>
            </a:r>
            <a:r>
              <a:rPr lang="en-GB" alt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 but no obligation to buy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GB" altLang="en-US" dirty="0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E4513440-19DE-4792-8270-BF147D5FD9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010B655F-6298-497F-9023-E6AED024EC00}" type="slidenum">
              <a:rPr lang="en-GB" altLang="en-US">
                <a:solidFill>
                  <a:srgbClr val="7B9899"/>
                </a:solidFill>
              </a:rPr>
              <a:pPr/>
              <a:t>14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C42E-BA98-4F96-87A4-9F133542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rgbClr val="7B9899"/>
                </a:solidFill>
              </a:rPr>
              <a:t>… </a:t>
            </a:r>
            <a:r>
              <a:rPr lang="en-GB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contract …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0B249DA5-4030-468C-9F5A-B61DF99769B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Hire-purchase – contract for hire or bailment coupled with an </a:t>
            </a:r>
            <a:r>
              <a:rPr lang="en-GB" altLang="en-US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option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 to purchase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Property remains with the owner.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Purchase price is higher than the original price of the good.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person who hires (hirer) has no power to sell.</a:t>
            </a:r>
          </a:p>
          <a:p>
            <a:pPr lvl="2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Hirer has not agreed to buy goods.</a:t>
            </a:r>
          </a:p>
          <a:p>
            <a:pPr lvl="3" eaLnBrk="1" hangingPunct="1"/>
            <a:r>
              <a:rPr lang="en-GB" alt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Helby</a:t>
            </a:r>
            <a:r>
              <a:rPr lang="en-GB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GB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Matthews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[1895] AC 471</a:t>
            </a: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22E25D15-C86A-461E-A7EA-130D24B53F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975192E3-073F-4BD0-A2CC-84BE43B98EB5}" type="slidenum">
              <a:rPr lang="en-GB" altLang="en-US">
                <a:solidFill>
                  <a:srgbClr val="7B9899"/>
                </a:solidFill>
              </a:rPr>
              <a:pPr/>
              <a:t>15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1AE5-41C6-4B24-9381-39CBA392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a contract </a:t>
            </a:r>
            <a:r>
              <a:rPr lang="en-GB" dirty="0">
                <a:solidFill>
                  <a:srgbClr val="7B9899"/>
                </a:solidFill>
              </a:rPr>
              <a:t>…</a:t>
            </a:r>
            <a:endParaRPr lang="en-GB" dirty="0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E68AF2C2-327D-499C-89D1-965F8F2A52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GB" alt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conditional sale agreement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is a contract of sale.</a:t>
            </a:r>
          </a:p>
          <a:p>
            <a:pPr eaLnBrk="1" hangingPunct="1"/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GB" alt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What is this? 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itle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remains with the seller until the performance of a condition is met by the buyer. Usually, this condition is the buyer's full payment of the purchase price. </a:t>
            </a:r>
          </a:p>
          <a:p>
            <a:pPr eaLnBrk="1" hangingPunct="1"/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i="0" u="sng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lang="en-US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 An </a:t>
            </a:r>
            <a:r>
              <a:rPr lang="en-US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instalment contract </a:t>
            </a:r>
            <a:endParaRPr lang="en-GB" altLang="en-US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4A474A1A-0247-48C7-AC79-FA7556623C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D5E48011-B8B9-499D-A7FC-9CE62520B3B2}" type="slidenum">
              <a:rPr lang="en-GB" altLang="en-US">
                <a:solidFill>
                  <a:srgbClr val="7B9899"/>
                </a:solidFill>
              </a:rPr>
              <a:pPr/>
              <a:t>16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69BE8-3901-4D4C-A25F-6DA791F3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rgbClr val="7B98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a contract </a:t>
            </a:r>
            <a:r>
              <a:rPr lang="en-GB" dirty="0">
                <a:solidFill>
                  <a:srgbClr val="7B9899"/>
                </a:solidFill>
              </a:rPr>
              <a:t>…</a:t>
            </a:r>
            <a:endParaRPr lang="en-GB" dirty="0"/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E1D382EA-240C-4B2C-BD99-15490C7A4F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5070475"/>
          </a:xfrm>
        </p:spPr>
        <p:txBody>
          <a:bodyPr/>
          <a:lstStyle/>
          <a:p>
            <a:pPr eaLnBrk="1" hangingPunct="1"/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Charge/mortgage (see </a:t>
            </a:r>
            <a:r>
              <a:rPr lang="en-GB" alt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s.2(4) </a:t>
            </a:r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SGA)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Buyer buys and receives possession (pays for the goods);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Seller sells and delivers goods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Seller requires buyer to grant a charge or mortgage on the goods to the seller.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Must be written by a bill of sale – Bills of Sales Act 1878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Cannot be done if there is an earlier charge over the goods.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GB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Credit sale agreement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Property passes outright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Payments can be made in instalments </a:t>
            </a:r>
          </a:p>
          <a:p>
            <a:pPr lvl="1"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Under the SGA it </a:t>
            </a:r>
            <a:r>
              <a:rPr lang="en-GB" altLang="en-US" b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 a contract of sale. </a:t>
            </a: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6B4867B0-F1F9-4E1C-8FC8-85EDC10F70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CC21760E-55A8-4A64-AB12-C4A3F2F63E18}" type="slidenum">
              <a:rPr lang="en-GB" altLang="en-US">
                <a:solidFill>
                  <a:srgbClr val="7B9899"/>
                </a:solidFill>
              </a:rPr>
              <a:pPr/>
              <a:t>17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867E-D60E-4184-AF8E-63A6D05F4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Next week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F0171C38-839E-41AB-9F86-31F7837D8D9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Legislation, Basic Concepts, The Scope of the Sale of Goods Act 1979 (2) and overview of the Consumer Rights Act 2015.</a:t>
            </a:r>
          </a:p>
          <a:p>
            <a:pPr marL="0" indent="0" eaLnBrk="1" hangingPunct="1">
              <a:buNone/>
            </a:pPr>
            <a:endParaRPr lang="en-GB" altLang="en-US" dirty="0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5CB554B8-BB8E-4AC4-93D0-1E1B45A391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32DB3890-F988-49D9-A302-B5E5B863620D}" type="slidenum">
              <a:rPr lang="en-GB" altLang="en-US">
                <a:solidFill>
                  <a:srgbClr val="7B9899"/>
                </a:solidFill>
              </a:rPr>
              <a:pPr/>
              <a:t>18</a:t>
            </a:fld>
            <a:endParaRPr lang="en-GB" altLang="en-US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4B24C251BCD4291F2C2F3A608C810" ma:contentTypeVersion="9" ma:contentTypeDescription="Create a new document." ma:contentTypeScope="" ma:versionID="72b3ce0b9445f479dcd63669a849f70a">
  <xsd:schema xmlns:xsd="http://www.w3.org/2001/XMLSchema" xmlns:xs="http://www.w3.org/2001/XMLSchema" xmlns:p="http://schemas.microsoft.com/office/2006/metadata/properties" xmlns:ns3="3cc0b812-7f7d-4aca-acca-000f424f7da7" xmlns:ns4="6bff29df-e80b-4a73-953f-e802c634e429" targetNamespace="http://schemas.microsoft.com/office/2006/metadata/properties" ma:root="true" ma:fieldsID="90c94a25cb4c1a2cd21c07d5eefe7aa2" ns3:_="" ns4:_="">
    <xsd:import namespace="3cc0b812-7f7d-4aca-acca-000f424f7da7"/>
    <xsd:import namespace="6bff29df-e80b-4a73-953f-e802c634e42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c0b812-7f7d-4aca-acca-000f424f7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f29df-e80b-4a73-953f-e802c634e42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62F389-2C5C-4615-B227-69BCE8E9F0AE}">
  <ds:schemaRefs>
    <ds:schemaRef ds:uri="http://schemas.openxmlformats.org/package/2006/metadata/core-properties"/>
    <ds:schemaRef ds:uri="6bff29df-e80b-4a73-953f-e802c634e429"/>
    <ds:schemaRef ds:uri="http://schemas.microsoft.com/office/2006/metadata/properties"/>
    <ds:schemaRef ds:uri="http://purl.org/dc/terms/"/>
    <ds:schemaRef ds:uri="3cc0b812-7f7d-4aca-acca-000f424f7da7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82CBA71-D13F-40DD-8F33-E3EAB7A082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c0b812-7f7d-4aca-acca-000f424f7da7"/>
    <ds:schemaRef ds:uri="6bff29df-e80b-4a73-953f-e802c634e4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F37A52D-2E33-4008-A418-7B8707F4B1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454</TotalTime>
  <Words>1516</Words>
  <Application>Microsoft Macintosh PowerPoint</Application>
  <PresentationFormat>On-screen Show (4:3)</PresentationFormat>
  <Paragraphs>150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Georgia</vt:lpstr>
      <vt:lpstr>Wingdings</vt:lpstr>
      <vt:lpstr>Wingdings 2</vt:lpstr>
      <vt:lpstr>Civic</vt:lpstr>
      <vt:lpstr>Commercial Law (Law 2241)</vt:lpstr>
      <vt:lpstr>This week and next…..</vt:lpstr>
      <vt:lpstr>Introduction</vt:lpstr>
      <vt:lpstr>Sources (1)</vt:lpstr>
      <vt:lpstr>Sources (2)</vt:lpstr>
      <vt:lpstr>Sources (3)</vt:lpstr>
      <vt:lpstr>Basic Concepts</vt:lpstr>
      <vt:lpstr>Contract of sale of goods</vt:lpstr>
      <vt:lpstr>Consumer Rights Act 2015</vt:lpstr>
      <vt:lpstr>Contract of Sale of Goods</vt:lpstr>
      <vt:lpstr>… a contract …</vt:lpstr>
      <vt:lpstr>… a contract …</vt:lpstr>
      <vt:lpstr>… a contract …</vt:lpstr>
      <vt:lpstr>...a contract.... (continued)</vt:lpstr>
      <vt:lpstr>… a contract …</vt:lpstr>
      <vt:lpstr>… a contract …</vt:lpstr>
      <vt:lpstr>… a contract …</vt:lpstr>
      <vt:lpstr>Next week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Law Law 2241</dc:title>
  <dc:creator>vchz42</dc:creator>
  <cp:lastModifiedBy>TSANG, AGNES H.L. (Student)</cp:lastModifiedBy>
  <cp:revision>75</cp:revision>
  <dcterms:created xsi:type="dcterms:W3CDTF">2012-10-16T06:04:39Z</dcterms:created>
  <dcterms:modified xsi:type="dcterms:W3CDTF">2024-10-14T12:53:11Z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0x01010009A4B24C251BCD4291F2C2F3A608C810</vt:lpwstr>
  </property>
</Properties>
</file>