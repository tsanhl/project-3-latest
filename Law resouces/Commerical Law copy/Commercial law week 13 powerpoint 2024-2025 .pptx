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7" r:id="rId5"/>
    <p:sldId id="259" r:id="rId6"/>
    <p:sldId id="260" r:id="rId7"/>
    <p:sldId id="261" r:id="rId8"/>
    <p:sldId id="264" r:id="rId9"/>
    <p:sldId id="266" r:id="rId10"/>
    <p:sldId id="267" r:id="rId11"/>
    <p:sldId id="268" r:id="rId12"/>
    <p:sldId id="270" r:id="rId13"/>
    <p:sldId id="269" r:id="rId14"/>
    <p:sldId id="271" r:id="rId15"/>
    <p:sldId id="272" r:id="rId16"/>
    <p:sldId id="273" r:id="rId17"/>
    <p:sldId id="274" r:id="rId18"/>
    <p:sldId id="275" r:id="rId19"/>
    <p:sldId id="277" r:id="rId20"/>
    <p:sldId id="279" r:id="rId21"/>
    <p:sldId id="276" r:id="rId22"/>
  </p:sldIdLst>
  <p:sldSz cx="9144000" cy="6858000" type="screen4x3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6439" autoAdjust="0"/>
    <p:restoredTop sz="50000" autoAdjust="0"/>
  </p:normalViewPr>
  <p:slideViewPr>
    <p:cSldViewPr>
      <p:cViewPr varScale="1">
        <p:scale>
          <a:sx n="31" d="100"/>
          <a:sy n="31" d="100"/>
        </p:scale>
        <p:origin x="1596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411795-17AA-44AF-AE60-CDD1FCBC1BF9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7D6BC7-D13F-40A3-B5E7-D4FBFE95105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985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A877B5-E0F8-724E-BBFE-9EF63316CC1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76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051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532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7618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i="1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88647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53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8660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baseline="0" dirty="0"/>
              <a:t> </a:t>
            </a:r>
            <a:endParaRPr lang="en-GB" sz="140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83983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6532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40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4934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60097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u="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26285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233392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3374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23401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79617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125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400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7D6BC7-D13F-40A3-B5E7-D4FBFE95105B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6120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7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0364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360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9971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6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20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229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8035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04DBB-67D4-F245-8AC1-F6E945758AC9}" type="datetimeFigureOut">
              <a:rPr lang="en-US" smtClean="0"/>
              <a:pPr/>
              <a:t>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A3810-586C-FD4E-B464-A7C0E66A2BF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93B0DF6-DAA2-674D-B51F-04473916493F}"/>
              </a:ext>
            </a:extLst>
          </p:cNvPr>
          <p:cNvSpPr/>
          <p:nvPr userDrawn="1"/>
        </p:nvSpPr>
        <p:spPr>
          <a:xfrm>
            <a:off x="133350" y="179388"/>
            <a:ext cx="8877300" cy="641191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489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83999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5173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4541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1267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32757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8167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5191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72541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2487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EE9CE-E24A-4D85-BCEE-BFE5362D8BC6}" type="datetimeFigureOut">
              <a:rPr lang="en-GB" smtClean="0"/>
              <a:pPr/>
              <a:t>07/01/2025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CC89E2-C8BA-47BE-BB67-57F2CC30234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7328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4" r:id="rId2"/>
    <p:sldLayoutId id="2147483661" r:id="rId3"/>
    <p:sldLayoutId id="2147483649" r:id="rId4"/>
    <p:sldLayoutId id="2147483666" r:id="rId5"/>
    <p:sldLayoutId id="2147483662" r:id="rId6"/>
    <p:sldLayoutId id="2147483660" r:id="rId7"/>
    <p:sldLayoutId id="2147483650" r:id="rId8"/>
    <p:sldLayoutId id="2147483663" r:id="rId9"/>
    <p:sldLayoutId id="2147483651" r:id="rId10"/>
    <p:sldLayoutId id="2147483652" r:id="rId11"/>
    <p:sldLayoutId id="2147483653" r:id="rId12"/>
    <p:sldLayoutId id="2147483654" r:id="rId13"/>
    <p:sldLayoutId id="2147483655" r:id="rId14"/>
    <p:sldLayoutId id="2147483656" r:id="rId15"/>
    <p:sldLayoutId id="2147483657" r:id="rId16"/>
    <p:sldLayoutId id="2147483658" r:id="rId17"/>
    <p:sldLayoutId id="2147483659" r:id="rId18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833975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002060"/>
                </a:solidFill>
              </a:rPr>
              <a:t>Nemo</a:t>
            </a:r>
            <a:r>
              <a:rPr lang="en-US" dirty="0">
                <a:solidFill>
                  <a:srgbClr val="002060"/>
                </a:solidFill>
              </a:rPr>
              <a:t> </a:t>
            </a:r>
            <a:r>
              <a:rPr lang="en-US" dirty="0" err="1">
                <a:solidFill>
                  <a:srgbClr val="002060"/>
                </a:solidFill>
              </a:rPr>
              <a:t>dat</a:t>
            </a:r>
            <a:r>
              <a:rPr lang="en-US" dirty="0">
                <a:solidFill>
                  <a:srgbClr val="002060"/>
                </a:solidFill>
              </a:rPr>
              <a:t> quod non </a:t>
            </a:r>
            <a:r>
              <a:rPr lang="en-US" dirty="0" err="1">
                <a:solidFill>
                  <a:srgbClr val="002060"/>
                </a:solidFill>
              </a:rPr>
              <a:t>habet</a:t>
            </a:r>
            <a:r>
              <a:rPr lang="en-US" dirty="0">
                <a:solidFill>
                  <a:srgbClr val="002060"/>
                </a:solidFill>
              </a:rPr>
              <a:t> and its exceptions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7825"/>
            <a:ext cx="6400800" cy="17526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Commercial Law</a:t>
            </a:r>
          </a:p>
          <a:p>
            <a:r>
              <a:rPr lang="en-US" sz="400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Lecture 13</a:t>
            </a:r>
            <a:endParaRPr lang="en-US" sz="4000" dirty="0">
              <a:solidFill>
                <a:schemeClr val="tx1"/>
              </a:solidFill>
              <a:latin typeface="Garamond" charset="0"/>
              <a:ea typeface="Garamond" charset="0"/>
              <a:cs typeface="Garamond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97620" y="5007550"/>
            <a:ext cx="2154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Rachel Avery</a:t>
            </a:r>
          </a:p>
        </p:txBody>
      </p:sp>
    </p:spTree>
    <p:extLst>
      <p:ext uri="{BB962C8B-B14F-4D97-AF65-F5344CB8AC3E}">
        <p14:creationId xmlns:p14="http://schemas.microsoft.com/office/powerpoint/2010/main" val="350831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2656"/>
            <a:ext cx="7772400" cy="1470025"/>
          </a:xfrm>
        </p:spPr>
        <p:txBody>
          <a:bodyPr>
            <a:normAutofit/>
          </a:bodyPr>
          <a:lstStyle/>
          <a:p>
            <a:r>
              <a:rPr lang="en-GB" b="1" dirty="0"/>
              <a:t>FA </a:t>
            </a:r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1889</a:t>
            </a:r>
            <a:r>
              <a:rPr lang="en-GB" b="1" dirty="0"/>
              <a:t> s. 9 (SGA 1979 s.25) – B in possession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251520" y="2060848"/>
            <a:ext cx="8640960" cy="1752600"/>
          </a:xfrm>
        </p:spPr>
        <p:txBody>
          <a:bodyPr>
            <a:noAutofit/>
          </a:bodyPr>
          <a:lstStyle/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‘Where a person, having bought or agreed to buy goods, …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obtains with the consent of the seller…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possession of the goods/docs of title …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the delivery or transfer by that person or by a mercantile agent acting for him, of the goods/docs of title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under any sale, pledge or other disp. …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</a:t>
            </a:r>
            <a:r>
              <a:rPr lang="en-GB" sz="2100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or under any agreement for sale, pledge or other disposition thereof</a:t>
            </a:r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to any person receiving the same in good faith and without notice of any lien or other right of the original seller […] …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</a:t>
            </a:r>
            <a:r>
              <a:rPr lang="en-GB" sz="21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shall have the same effect </a:t>
            </a:r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as if the person making the delivery or transfer ….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were a </a:t>
            </a:r>
            <a:r>
              <a:rPr lang="en-GB" sz="21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mercantile agent</a:t>
            </a:r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in possession of the goods/docs of title…</a:t>
            </a:r>
          </a:p>
          <a:p>
            <a:r>
              <a:rPr lang="en-GB" sz="2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</a:t>
            </a:r>
            <a:r>
              <a:rPr lang="en-GB" sz="21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with the consent of the owner</a:t>
            </a:r>
            <a:r>
              <a:rPr lang="en-GB" sz="2100" u="sng" dirty="0">
                <a:latin typeface="Garamond" charset="0"/>
                <a:ea typeface="Garamond" charset="0"/>
                <a:cs typeface="Garamond" charset="0"/>
              </a:rPr>
              <a:t>’</a:t>
            </a:r>
            <a:r>
              <a:rPr lang="en-GB" sz="2100" dirty="0">
                <a:latin typeface="Garamond" charset="0"/>
                <a:ea typeface="Garamond" charset="0"/>
                <a:cs typeface="Garamond" charset="0"/>
              </a:rPr>
              <a:t>.  </a:t>
            </a:r>
            <a:endParaRPr lang="en-GB" sz="2100" b="1" dirty="0"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37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796" y="389335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Example – Buyer in possession</a:t>
            </a:r>
          </a:p>
        </p:txBody>
      </p:sp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649796" y="1935560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S</a:t>
            </a:r>
          </a:p>
        </p:txBody>
      </p:sp>
      <p:sp>
        <p:nvSpPr>
          <p:cNvPr id="5" name="Oval 4"/>
          <p:cNvSpPr/>
          <p:nvPr/>
        </p:nvSpPr>
        <p:spPr>
          <a:xfrm>
            <a:off x="6292632" y="1726888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B1 </a:t>
            </a:r>
            <a:r>
              <a:rPr lang="en-GB" sz="2000" dirty="0"/>
              <a:t>(having bought or agreed to buy)</a:t>
            </a:r>
          </a:p>
        </p:txBody>
      </p:sp>
      <p:sp>
        <p:nvSpPr>
          <p:cNvPr id="6" name="Oval 5"/>
          <p:cNvSpPr/>
          <p:nvPr/>
        </p:nvSpPr>
        <p:spPr>
          <a:xfrm>
            <a:off x="2591780" y="4221088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B2 </a:t>
            </a:r>
            <a:r>
              <a:rPr lang="en-GB" sz="2000" dirty="0"/>
              <a:t>(seeks protection of FA s. 9/SGA s. 25)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987824" y="2678956"/>
            <a:ext cx="2376264" cy="1019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364088" y="3717032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93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4664"/>
            <a:ext cx="7772400" cy="1470025"/>
          </a:xfrm>
        </p:spPr>
        <p:txBody>
          <a:bodyPr>
            <a:normAutofit/>
          </a:bodyPr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B1 ‘having bought or agreed to buy goods’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95536" y="2276872"/>
            <a:ext cx="8062664" cy="345638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3600" b="1" i="1" dirty="0" err="1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Helby</a:t>
            </a:r>
            <a:r>
              <a:rPr lang="en-GB" sz="36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sz="36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36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Matthews</a:t>
            </a:r>
            <a:r>
              <a:rPr lang="en-GB" sz="36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sz="36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(hire-purchase agreement: payment in instalments; hirer </a:t>
            </a:r>
            <a:r>
              <a:rPr lang="en-GB" sz="3600" i="1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option</a:t>
            </a:r>
            <a:r>
              <a:rPr lang="en-GB" sz="36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to return good (piano) or to become its owner by payment in full; hence no legal obligation to buy =&gt; hirer did not ‘agree to buy goods’; not covered by FA s.9))</a:t>
            </a:r>
          </a:p>
        </p:txBody>
      </p:sp>
    </p:spTree>
    <p:extLst>
      <p:ext uri="{BB962C8B-B14F-4D97-AF65-F5344CB8AC3E}">
        <p14:creationId xmlns:p14="http://schemas.microsoft.com/office/powerpoint/2010/main" val="41918867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1470025"/>
          </a:xfrm>
        </p:spPr>
        <p:txBody>
          <a:bodyPr>
            <a:normAutofit/>
          </a:bodyPr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B1 ‘having bought or agreed to buy goods’ (III)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95536" y="2018705"/>
            <a:ext cx="8062664" cy="4218607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Lee 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Butler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(conditional sale agreement (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CSA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): ‘hirer’ </a:t>
            </a:r>
            <a:r>
              <a:rPr lang="en-GB" sz="2400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required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to complete purchase of goods =&gt; covered by FA s.9)</a:t>
            </a:r>
          </a:p>
          <a:p>
            <a:pPr lvl="1">
              <a:lnSpc>
                <a:spcPct val="120000"/>
              </a:lnSpc>
            </a:pP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But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see now </a:t>
            </a:r>
            <a:r>
              <a:rPr lang="en-GB" sz="24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amended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FA s. 9 (SGA s.25(2)): if CSA considered to be consumer credit agreement under CCA 1974 and if at least part of price payable by instalments,  CSA 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not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covered by FA s.9.</a:t>
            </a:r>
          </a:p>
          <a:p>
            <a:pPr>
              <a:lnSpc>
                <a:spcPct val="120000"/>
              </a:lnSpc>
            </a:pP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Person entrusted with goods as agent to sell them: agent not a person who ‘bought or agreed to buy’)</a:t>
            </a:r>
          </a:p>
          <a:p>
            <a:pPr lvl="1">
              <a:lnSpc>
                <a:spcPct val="120000"/>
              </a:lnSpc>
            </a:pP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But other exceptions may apply (e.g. FA s.2)</a:t>
            </a:r>
          </a:p>
        </p:txBody>
      </p:sp>
    </p:spTree>
    <p:extLst>
      <p:ext uri="{BB962C8B-B14F-4D97-AF65-F5344CB8AC3E}">
        <p14:creationId xmlns:p14="http://schemas.microsoft.com/office/powerpoint/2010/main" val="9707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5880" y="200509"/>
            <a:ext cx="7772400" cy="1470025"/>
          </a:xfrm>
        </p:spPr>
        <p:txBody>
          <a:bodyPr>
            <a:normAutofit/>
          </a:bodyPr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B1 in possession of goods (docs of title) ‘with consent of the seller’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899592" y="1988840"/>
            <a:ext cx="1944216" cy="18722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S</a:t>
            </a:r>
          </a:p>
        </p:txBody>
      </p:sp>
      <p:sp>
        <p:nvSpPr>
          <p:cNvPr id="5" name="Oval 4"/>
          <p:cNvSpPr/>
          <p:nvPr/>
        </p:nvSpPr>
        <p:spPr>
          <a:xfrm>
            <a:off x="5652120" y="1742852"/>
            <a:ext cx="1944216" cy="18722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B1 </a:t>
            </a:r>
            <a:r>
              <a:rPr lang="en-GB" sz="2000" dirty="0"/>
              <a:t>(</a:t>
            </a:r>
            <a:r>
              <a:rPr lang="en-GB" sz="1900" u="sng" dirty="0"/>
              <a:t>consent of S to possession</a:t>
            </a:r>
            <a:r>
              <a:rPr lang="en-GB" sz="2000" dirty="0"/>
              <a:t>)</a:t>
            </a:r>
          </a:p>
        </p:txBody>
      </p:sp>
      <p:sp>
        <p:nvSpPr>
          <p:cNvPr id="6" name="Oval 5"/>
          <p:cNvSpPr/>
          <p:nvPr/>
        </p:nvSpPr>
        <p:spPr>
          <a:xfrm>
            <a:off x="3563888" y="4030836"/>
            <a:ext cx="1944216" cy="18722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B2 </a:t>
            </a:r>
            <a:endParaRPr lang="en-GB" sz="20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987824" y="2678956"/>
            <a:ext cx="2376264" cy="101972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364088" y="3717032"/>
            <a:ext cx="864096" cy="50405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414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235" y="-7296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B1 in possession of the goods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371600" y="1634479"/>
            <a:ext cx="6400800" cy="1752600"/>
          </a:xfrm>
        </p:spPr>
        <p:txBody>
          <a:bodyPr/>
          <a:lstStyle/>
          <a:p>
            <a:r>
              <a:rPr lang="en-GB" dirty="0">
                <a:solidFill>
                  <a:schemeClr val="tx1"/>
                </a:solidFill>
              </a:rPr>
              <a:t>Is constructive delivery possible?</a:t>
            </a:r>
          </a:p>
          <a:p>
            <a:pPr lvl="1"/>
            <a:r>
              <a:rPr lang="en-GB" i="1" dirty="0">
                <a:solidFill>
                  <a:schemeClr val="tx1"/>
                </a:solidFill>
              </a:rPr>
              <a:t>Four Point Garage </a:t>
            </a:r>
            <a:r>
              <a:rPr lang="en-GB" dirty="0">
                <a:solidFill>
                  <a:schemeClr val="tx1"/>
                </a:solidFill>
              </a:rPr>
              <a:t>v</a:t>
            </a:r>
            <a:r>
              <a:rPr lang="en-GB" i="1" dirty="0">
                <a:solidFill>
                  <a:schemeClr val="tx1"/>
                </a:solidFill>
              </a:rPr>
              <a:t> Carter </a:t>
            </a:r>
          </a:p>
          <a:p>
            <a:pPr lvl="1"/>
            <a:endParaRPr lang="en-GB" dirty="0"/>
          </a:p>
          <a:p>
            <a:endParaRPr lang="en-GB" dirty="0"/>
          </a:p>
        </p:txBody>
      </p:sp>
      <p:sp>
        <p:nvSpPr>
          <p:cNvPr id="4" name="Oval 3"/>
          <p:cNvSpPr/>
          <p:nvPr/>
        </p:nvSpPr>
        <p:spPr>
          <a:xfrm>
            <a:off x="1212366" y="2708920"/>
            <a:ext cx="1440160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Four Point</a:t>
            </a:r>
          </a:p>
        </p:txBody>
      </p:sp>
      <p:sp>
        <p:nvSpPr>
          <p:cNvPr id="5" name="Oval 4"/>
          <p:cNvSpPr/>
          <p:nvPr/>
        </p:nvSpPr>
        <p:spPr>
          <a:xfrm>
            <a:off x="3275856" y="4201642"/>
            <a:ext cx="1440160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Carter</a:t>
            </a:r>
          </a:p>
        </p:txBody>
      </p:sp>
      <p:sp>
        <p:nvSpPr>
          <p:cNvPr id="6" name="Oval 5"/>
          <p:cNvSpPr/>
          <p:nvPr/>
        </p:nvSpPr>
        <p:spPr>
          <a:xfrm>
            <a:off x="5230071" y="2721496"/>
            <a:ext cx="1440160" cy="129614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Freeway</a:t>
            </a:r>
          </a:p>
        </p:txBody>
      </p:sp>
      <p:sp>
        <p:nvSpPr>
          <p:cNvPr id="11" name="Curved Right Arrow 10"/>
          <p:cNvSpPr/>
          <p:nvPr/>
        </p:nvSpPr>
        <p:spPr>
          <a:xfrm rot="18281615">
            <a:off x="1493835" y="3657390"/>
            <a:ext cx="1207774" cy="2916210"/>
          </a:xfrm>
          <a:prstGeom prst="curv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743200" y="3352800"/>
            <a:ext cx="2286000" cy="15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10800000" flipV="1">
            <a:off x="4724400" y="3962400"/>
            <a:ext cx="685800" cy="4572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07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0648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B1 in possession of goods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79512" y="1730673"/>
            <a:ext cx="8278688" cy="4866679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Does the nature of possession matter? </a:t>
            </a:r>
          </a:p>
          <a:p>
            <a:pPr lvl="1"/>
            <a:r>
              <a:rPr lang="en-GB" sz="32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Cf.</a:t>
            </a:r>
            <a:r>
              <a:rPr lang="en-GB" sz="3200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sz="32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Pacific Motor Auctions </a:t>
            </a:r>
            <a:r>
              <a:rPr lang="en-GB" sz="32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32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Motor Credits </a:t>
            </a:r>
            <a:r>
              <a:rPr lang="en-GB" sz="32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(see lecture Week 12; Privy Council; S in possession under ‘display agreement’; all what is required is continuous physical possession)</a:t>
            </a:r>
          </a:p>
          <a:p>
            <a:pPr lvl="1"/>
            <a:r>
              <a:rPr lang="en-GB" sz="32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Marten </a:t>
            </a:r>
            <a:r>
              <a:rPr lang="en-GB" sz="32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32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Whale</a:t>
            </a:r>
            <a:r>
              <a:rPr lang="en-GB" sz="32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sz="32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(goods temporarily loaned to B1: B1 in possession under s.25</a:t>
            </a:r>
            <a:r>
              <a:rPr lang="en-GB" sz="3200" dirty="0">
                <a:latin typeface="Garamond" charset="0"/>
                <a:ea typeface="Garamond" charset="0"/>
                <a:cs typeface="Garamond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9123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0555"/>
            <a:ext cx="7772400" cy="1470025"/>
          </a:xfrm>
        </p:spPr>
        <p:txBody>
          <a:bodyPr>
            <a:normAutofit/>
          </a:bodyPr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‘Delivery or transfer’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val 3"/>
          <p:cNvSpPr/>
          <p:nvPr/>
        </p:nvSpPr>
        <p:spPr>
          <a:xfrm>
            <a:off x="899592" y="1988840"/>
            <a:ext cx="1944216" cy="1872208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S</a:t>
            </a:r>
          </a:p>
        </p:txBody>
      </p:sp>
      <p:sp>
        <p:nvSpPr>
          <p:cNvPr id="5" name="Oval 4"/>
          <p:cNvSpPr/>
          <p:nvPr/>
        </p:nvSpPr>
        <p:spPr>
          <a:xfrm>
            <a:off x="5652120" y="1844824"/>
            <a:ext cx="1944216" cy="1770236"/>
          </a:xfrm>
          <a:prstGeom prst="ellipse">
            <a:avLst/>
          </a:prstGeom>
          <a:solidFill>
            <a:schemeClr val="accent2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B1 </a:t>
            </a:r>
            <a:r>
              <a:rPr lang="en-GB" sz="2000" dirty="0"/>
              <a:t>delivery or transfer to: </a:t>
            </a:r>
          </a:p>
        </p:txBody>
      </p:sp>
      <p:sp>
        <p:nvSpPr>
          <p:cNvPr id="6" name="Oval 5"/>
          <p:cNvSpPr/>
          <p:nvPr/>
        </p:nvSpPr>
        <p:spPr>
          <a:xfrm>
            <a:off x="3563888" y="4030836"/>
            <a:ext cx="1944216" cy="18722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B2 </a:t>
            </a:r>
            <a:endParaRPr lang="en-GB" sz="2000" dirty="0"/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2987824" y="2678956"/>
            <a:ext cx="2376264" cy="101972"/>
          </a:xfrm>
          <a:prstGeom prst="straightConnector1">
            <a:avLst/>
          </a:prstGeom>
          <a:ln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5364088" y="3717032"/>
            <a:ext cx="864096" cy="504056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805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332656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Delivery or transfer (II)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79512" y="1802681"/>
            <a:ext cx="8424936" cy="4362623"/>
          </a:xfrm>
        </p:spPr>
        <p:txBody>
          <a:bodyPr>
            <a:normAutofit fontScale="92500"/>
          </a:bodyPr>
          <a:lstStyle/>
          <a:p>
            <a:r>
              <a:rPr lang="en-GB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Delivery requires a conscious voluntary act by B1 (</a:t>
            </a:r>
            <a:r>
              <a:rPr lang="en-GB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Forsythe International </a:t>
            </a:r>
            <a:r>
              <a:rPr lang="en-GB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Silver Shipping Co</a:t>
            </a:r>
            <a:r>
              <a:rPr lang="en-GB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: </a:t>
            </a:r>
            <a:r>
              <a:rPr lang="en-GB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‘B2’ seizes goods from ‘B1’)</a:t>
            </a:r>
          </a:p>
          <a:p>
            <a:r>
              <a:rPr lang="en-GB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Delivery by MA (acting for B1) to B2 suffices</a:t>
            </a:r>
          </a:p>
          <a:p>
            <a:r>
              <a:rPr lang="en-GB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Is constructive delivery possible?</a:t>
            </a:r>
          </a:p>
          <a:p>
            <a:pPr lvl="1"/>
            <a:r>
              <a:rPr lang="en-GB" sz="32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Constructive delivery between S and B1 in Four Point Garage</a:t>
            </a:r>
          </a:p>
          <a:p>
            <a:pPr lvl="1"/>
            <a:r>
              <a:rPr lang="en-GB" sz="32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What about a constructive delivery from B1 to B2?</a:t>
            </a:r>
          </a:p>
          <a:p>
            <a:endParaRPr lang="en-GB" dirty="0">
              <a:latin typeface="Garamond" charset="0"/>
              <a:ea typeface="Garamond" charset="0"/>
              <a:cs typeface="Garamond" charset="0"/>
            </a:endParaRP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0026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548680"/>
            <a:ext cx="7772400" cy="1470025"/>
          </a:xfrm>
        </p:spPr>
        <p:txBody>
          <a:bodyPr/>
          <a:lstStyle/>
          <a:p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Effect of FA, s. 9 (SGA s.25)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23528" y="2018705"/>
            <a:ext cx="8134672" cy="4362623"/>
          </a:xfrm>
        </p:spPr>
        <p:txBody>
          <a:bodyPr>
            <a:noAutofit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FA s 9 states that ‘sale, pledge other disposition, or agreement for sale, pledge other disposition’ by B1: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…. shall have the </a:t>
            </a:r>
            <a:r>
              <a:rPr lang="en-GB" u="sng" dirty="0">
                <a:solidFill>
                  <a:schemeClr val="tx1"/>
                </a:solidFill>
              </a:rPr>
              <a:t>same effect as if </a:t>
            </a:r>
            <a:r>
              <a:rPr lang="en-GB" dirty="0">
                <a:solidFill>
                  <a:schemeClr val="tx1"/>
                </a:solidFill>
              </a:rPr>
              <a:t>the person making the delivery or transfer ….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… were a </a:t>
            </a:r>
            <a:r>
              <a:rPr lang="en-GB" u="sng" dirty="0">
                <a:solidFill>
                  <a:schemeClr val="tx1"/>
                </a:solidFill>
              </a:rPr>
              <a:t>mercantile agent</a:t>
            </a:r>
            <a:r>
              <a:rPr lang="en-GB" dirty="0">
                <a:solidFill>
                  <a:schemeClr val="tx1"/>
                </a:solidFill>
              </a:rPr>
              <a:t> in possession of the goods/docs of title…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… with the </a:t>
            </a:r>
            <a:r>
              <a:rPr lang="en-GB" u="sng" dirty="0">
                <a:solidFill>
                  <a:schemeClr val="tx1"/>
                </a:solidFill>
              </a:rPr>
              <a:t>consent of the owner</a:t>
            </a:r>
            <a:r>
              <a:rPr lang="en-GB" dirty="0">
                <a:solidFill>
                  <a:schemeClr val="tx1"/>
                </a:solidFill>
              </a:rPr>
              <a:t>’.</a:t>
            </a:r>
          </a:p>
          <a:p>
            <a:r>
              <a:rPr lang="en-GB" sz="2800" dirty="0">
                <a:solidFill>
                  <a:schemeClr val="tx1"/>
                </a:solidFill>
              </a:rPr>
              <a:t>Does B1 therefore need to meet requirements of FA s.2(1) (e.g. act in ordinary course of business)? </a:t>
            </a:r>
          </a:p>
        </p:txBody>
      </p:sp>
    </p:spTree>
    <p:extLst>
      <p:ext uri="{BB962C8B-B14F-4D97-AF65-F5344CB8AC3E}">
        <p14:creationId xmlns:p14="http://schemas.microsoft.com/office/powerpoint/2010/main" val="1957525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792" y="31567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Effect (II)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79512" y="1484784"/>
            <a:ext cx="8640960" cy="4752528"/>
          </a:xfrm>
        </p:spPr>
        <p:txBody>
          <a:bodyPr>
            <a:noAutofit/>
          </a:bodyPr>
          <a:lstStyle/>
          <a:p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Newtons of Wembley Ltd </a:t>
            </a:r>
            <a:r>
              <a:rPr lang="en-GB" sz="29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Williams </a:t>
            </a:r>
            <a:r>
              <a:rPr lang="en-GB" sz="29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(sale of a car by B1 on an established street market: sale by B1 to B2 treated as in ordinary course of business of MA: s.9 applies; B1 treated </a:t>
            </a:r>
            <a:r>
              <a:rPr lang="en-GB" sz="29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as notional </a:t>
            </a:r>
            <a:r>
              <a:rPr lang="en-GB" sz="29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MA)</a:t>
            </a:r>
            <a:endParaRPr lang="en-GB" sz="2900" i="1" dirty="0">
              <a:solidFill>
                <a:schemeClr val="tx1"/>
              </a:solidFill>
              <a:latin typeface="Garamond" charset="0"/>
              <a:ea typeface="Garamond" charset="0"/>
              <a:cs typeface="Garamond" charset="0"/>
            </a:endParaRPr>
          </a:p>
          <a:p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Lambert </a:t>
            </a:r>
            <a:r>
              <a:rPr lang="en-GB" sz="29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G &amp; C Finance </a:t>
            </a:r>
            <a:r>
              <a:rPr lang="en-GB" sz="29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(sale of a car without logbook: treated as </a:t>
            </a:r>
            <a:r>
              <a:rPr lang="en-GB" sz="29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not</a:t>
            </a:r>
            <a:r>
              <a:rPr lang="en-GB" sz="29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in ordinary course of business of MA</a:t>
            </a:r>
          </a:p>
          <a:p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Langmead </a:t>
            </a:r>
            <a:r>
              <a:rPr lang="en-GB" sz="29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Thyer Rubber </a:t>
            </a:r>
            <a:r>
              <a:rPr lang="en-GB" sz="29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/</a:t>
            </a:r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Jeffcott v. Andre Motors</a:t>
            </a:r>
            <a:r>
              <a:rPr lang="en-GB" sz="29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</a:p>
          <a:p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National Employers' Mutual General Insurance Association </a:t>
            </a:r>
            <a:r>
              <a:rPr lang="en-GB" sz="29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9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Jones </a:t>
            </a:r>
            <a:r>
              <a:rPr lang="en-GB" sz="29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(meaning of ‘consent of the owner’)</a:t>
            </a:r>
            <a:endParaRPr lang="en-GB" sz="2900" i="1" dirty="0">
              <a:solidFill>
                <a:schemeClr val="tx1"/>
              </a:solidFill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577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04664"/>
            <a:ext cx="7772400" cy="1470025"/>
          </a:xfrm>
        </p:spPr>
        <p:txBody>
          <a:bodyPr/>
          <a:lstStyle/>
          <a:p>
            <a:r>
              <a:rPr lang="en-GB" b="1" dirty="0">
                <a:latin typeface="Garamond" charset="0"/>
                <a:ea typeface="Garamond" charset="0"/>
                <a:cs typeface="Garamond" charset="0"/>
              </a:rPr>
              <a:t>HP Act 1964, Part III, s.27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95536" y="1874689"/>
            <a:ext cx="8352928" cy="4074591"/>
          </a:xfrm>
        </p:spPr>
        <p:txBody>
          <a:bodyPr>
            <a:normAutofit fontScale="47500" lnSpcReduction="20000"/>
          </a:bodyPr>
          <a:lstStyle/>
          <a:p>
            <a:r>
              <a:rPr lang="en-GB" dirty="0"/>
              <a:t>‘</a:t>
            </a:r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This section applies where a motor vehicle has been bailed […] under a hire purchase agreement …</a:t>
            </a:r>
          </a:p>
          <a:p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or has been agreed to be sold under a conditional sale agreement …</a:t>
            </a:r>
          </a:p>
          <a:p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and before the property in the vehicle has become vested in the debtor…</a:t>
            </a:r>
          </a:p>
          <a:p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he disposes of the vehicle to another person.</a:t>
            </a:r>
          </a:p>
          <a:p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Where the [above] disposition [...] is to a private purchaser […] in good faith and without notice of […] the relevant agreement…</a:t>
            </a:r>
          </a:p>
          <a:p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that disposition </a:t>
            </a:r>
            <a:r>
              <a:rPr lang="en-GB" sz="51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shall have effect</a:t>
            </a:r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</a:t>
            </a:r>
          </a:p>
          <a:p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… as if the creditor’s title to the vehicle had been vested in the debtor </a:t>
            </a:r>
            <a:r>
              <a:rPr lang="en-GB" sz="5100" u="sng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immediately before that disposition</a:t>
            </a:r>
            <a:r>
              <a:rPr lang="en-GB" sz="51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’  </a:t>
            </a:r>
          </a:p>
        </p:txBody>
      </p:sp>
    </p:spTree>
    <p:extLst>
      <p:ext uri="{BB962C8B-B14F-4D97-AF65-F5344CB8AC3E}">
        <p14:creationId xmlns:p14="http://schemas.microsoft.com/office/powerpoint/2010/main" val="4184556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-61206"/>
            <a:ext cx="7772400" cy="1470025"/>
          </a:xfrm>
        </p:spPr>
        <p:txBody>
          <a:bodyPr/>
          <a:lstStyle/>
          <a:p>
            <a:r>
              <a:rPr lang="en-GB" u="sng" dirty="0">
                <a:latin typeface="Garamond" charset="0"/>
                <a:ea typeface="Garamond" charset="0"/>
                <a:cs typeface="Garamond" charset="0"/>
              </a:rPr>
              <a:t>Example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068" y="1975253"/>
            <a:ext cx="2736850" cy="1727200"/>
          </a:xfrm>
        </p:spPr>
      </p:pic>
      <p:pic>
        <p:nvPicPr>
          <p:cNvPr id="7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540" y="2039341"/>
            <a:ext cx="2736304" cy="1728192"/>
          </a:xfrm>
          <a:prstGeom prst="rect">
            <a:avLst/>
          </a:prstGeom>
        </p:spPr>
      </p:pic>
      <p:pic>
        <p:nvPicPr>
          <p:cNvPr id="8" name="Content Placeholder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4653136"/>
            <a:ext cx="2736304" cy="172819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3142577" y="2498391"/>
            <a:ext cx="2736304" cy="4208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4268240" y="3861048"/>
            <a:ext cx="2103960" cy="9361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905926" y="1703066"/>
            <a:ext cx="147616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Hire-purchase,  or conditional sale, agreement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60779" y="4501569"/>
            <a:ext cx="18362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i="1" dirty="0"/>
              <a:t>Disposition: e.g. sale or hire-purchase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80" y="3844269"/>
            <a:ext cx="2016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PP: </a:t>
            </a:r>
            <a:r>
              <a:rPr lang="en-GB" sz="2200" b="1" dirty="0">
                <a:solidFill>
                  <a:srgbClr val="0070C0"/>
                </a:solidFill>
              </a:rPr>
              <a:t>private purchaser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1505" y="1270690"/>
            <a:ext cx="19310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P1</a:t>
            </a:r>
            <a:r>
              <a:rPr lang="en-GB" sz="2000" b="1" dirty="0">
                <a:solidFill>
                  <a:srgbClr val="0070C0"/>
                </a:solidFill>
              </a:rPr>
              <a:t>: </a:t>
            </a:r>
            <a:r>
              <a:rPr lang="en-GB" sz="2200" b="1" dirty="0">
                <a:solidFill>
                  <a:srgbClr val="0070C0"/>
                </a:solidFill>
              </a:rPr>
              <a:t>creditor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06620" y="1101412"/>
            <a:ext cx="12961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>
                <a:solidFill>
                  <a:srgbClr val="0070C0"/>
                </a:solidFill>
              </a:rPr>
              <a:t>P2: </a:t>
            </a:r>
            <a:r>
              <a:rPr lang="en-GB" sz="2200" b="1" dirty="0">
                <a:solidFill>
                  <a:srgbClr val="0070C0"/>
                </a:solidFill>
              </a:rPr>
              <a:t>debtor</a:t>
            </a:r>
          </a:p>
        </p:txBody>
      </p:sp>
    </p:spTree>
    <p:extLst>
      <p:ext uri="{BB962C8B-B14F-4D97-AF65-F5344CB8AC3E}">
        <p14:creationId xmlns:p14="http://schemas.microsoft.com/office/powerpoint/2010/main" val="23727846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0"/>
            <a:ext cx="7772400" cy="1470025"/>
          </a:xfrm>
        </p:spPr>
        <p:txBody>
          <a:bodyPr/>
          <a:lstStyle/>
          <a:p>
            <a:r>
              <a:rPr lang="en-GB" dirty="0"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95536" y="1470025"/>
            <a:ext cx="8424936" cy="4623271"/>
          </a:xfrm>
        </p:spPr>
        <p:txBody>
          <a:bodyPr>
            <a:normAutofit fontScale="92500" lnSpcReduction="10000"/>
          </a:bodyPr>
          <a:lstStyle/>
          <a:p>
            <a:r>
              <a:rPr lang="en-GB" sz="2800" dirty="0">
                <a:solidFill>
                  <a:schemeClr val="tx1"/>
                </a:solidFill>
              </a:rPr>
              <a:t>Need for a hire purchase agreement or conditional sale agreement</a:t>
            </a:r>
          </a:p>
          <a:p>
            <a:pPr lvl="1"/>
            <a:r>
              <a:rPr lang="en-GB" dirty="0">
                <a:solidFill>
                  <a:schemeClr val="tx1"/>
                </a:solidFill>
              </a:rPr>
              <a:t>If HP agreement is void, or voidable and avoided before the disposition, s.27 will not apply. See </a:t>
            </a:r>
            <a:r>
              <a:rPr lang="en-GB" i="1" dirty="0">
                <a:solidFill>
                  <a:schemeClr val="tx1"/>
                </a:solidFill>
              </a:rPr>
              <a:t>Shogun Finance Ltd </a:t>
            </a:r>
            <a:r>
              <a:rPr lang="en-GB" dirty="0">
                <a:solidFill>
                  <a:schemeClr val="tx1"/>
                </a:solidFill>
              </a:rPr>
              <a:t>v</a:t>
            </a:r>
            <a:r>
              <a:rPr lang="en-GB" i="1" dirty="0">
                <a:solidFill>
                  <a:schemeClr val="tx1"/>
                </a:solidFill>
              </a:rPr>
              <a:t> Hudson </a:t>
            </a:r>
            <a:r>
              <a:rPr lang="en-GB" dirty="0">
                <a:solidFill>
                  <a:schemeClr val="tx1"/>
                </a:solidFill>
              </a:rPr>
              <a:t>(hire purchase agreement void on grounds of mistake of identity) </a:t>
            </a:r>
          </a:p>
          <a:p>
            <a:r>
              <a:rPr lang="en-GB" sz="2800" dirty="0">
                <a:solidFill>
                  <a:schemeClr val="tx1"/>
                </a:solidFill>
              </a:rPr>
              <a:t>Need for a disposition between P2 and PP: includes sale, contract of sale (including conditional sale agreement), letting under HP agreement (HPA  s.29(1))</a:t>
            </a:r>
          </a:p>
          <a:p>
            <a:r>
              <a:rPr lang="en-GB" sz="2800" dirty="0">
                <a:solidFill>
                  <a:schemeClr val="tx1"/>
                </a:solidFill>
              </a:rPr>
              <a:t>Applies to motor vehicles only: ‘mechanically propelled vehicles intended or adapted for use on roads to which the public has access’ (HPA s.29(1))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3182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5079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Is HP 1964, s.27 applicable?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20" y="1961266"/>
            <a:ext cx="2160588" cy="2233612"/>
          </a:xfrm>
        </p:spPr>
      </p:pic>
      <p:pic>
        <p:nvPicPr>
          <p:cNvPr id="7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081" y="4475211"/>
            <a:ext cx="2160240" cy="2016224"/>
          </a:xfrm>
          <a:prstGeom prst="rect">
            <a:avLst/>
          </a:prstGeo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2073823"/>
            <a:ext cx="2160240" cy="207984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598279" y="2777017"/>
            <a:ext cx="4129860" cy="42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239273" y="3696252"/>
            <a:ext cx="2376264" cy="19325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02650" y="1765099"/>
            <a:ext cx="503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P1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00137" y="4244379"/>
            <a:ext cx="563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PP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54024" y="18429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P2</a:t>
            </a:r>
            <a:endParaRPr lang="en-GB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25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5473" y="144622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Is HP 1964, s.27 applicable?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4294967295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488" y="1939676"/>
            <a:ext cx="2160588" cy="2233612"/>
          </a:xfrm>
        </p:spPr>
      </p:pic>
      <p:pic>
        <p:nvPicPr>
          <p:cNvPr id="7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0017" y="4593622"/>
            <a:ext cx="2160240" cy="2016224"/>
          </a:xfrm>
          <a:prstGeom prst="rect">
            <a:avLst/>
          </a:prstGeom>
        </p:spPr>
      </p:pic>
      <p:pic>
        <p:nvPicPr>
          <p:cNvPr id="8" name="Content Placeholder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2073823"/>
            <a:ext cx="2160240" cy="2079848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2598279" y="2777017"/>
            <a:ext cx="4129860" cy="422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040717" y="3404820"/>
            <a:ext cx="2376264" cy="193251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1502650" y="1765099"/>
            <a:ext cx="50366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P1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100137" y="4244379"/>
            <a:ext cx="5630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PP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54024" y="1842991"/>
            <a:ext cx="503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2400" b="1" dirty="0">
                <a:solidFill>
                  <a:srgbClr val="0070C0"/>
                </a:solidFill>
              </a:rPr>
              <a:t>P2</a:t>
            </a:r>
            <a:endParaRPr lang="en-GB" b="1" dirty="0">
              <a:solidFill>
                <a:srgbClr val="0070C0"/>
              </a:solidFill>
            </a:endParaRPr>
          </a:p>
        </p:txBody>
      </p:sp>
      <p:sp>
        <p:nvSpPr>
          <p:cNvPr id="20" name="Multiply 19"/>
          <p:cNvSpPr/>
          <p:nvPr/>
        </p:nvSpPr>
        <p:spPr>
          <a:xfrm>
            <a:off x="927194" y="846138"/>
            <a:ext cx="7461230" cy="5790740"/>
          </a:xfrm>
          <a:prstGeom prst="mathMultiply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1776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2656"/>
            <a:ext cx="7772400" cy="1470025"/>
          </a:xfrm>
        </p:spPr>
        <p:txBody>
          <a:bodyPr/>
          <a:lstStyle/>
          <a:p>
            <a:r>
              <a:rPr lang="en-GB" dirty="0">
                <a:latin typeface="Garamond" charset="0"/>
                <a:ea typeface="Garamond" charset="0"/>
                <a:cs typeface="Garamond" charset="0"/>
              </a:rPr>
              <a:t>Requirements (II)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0" y="1802681"/>
            <a:ext cx="8784468" cy="4442048"/>
          </a:xfrm>
        </p:spPr>
        <p:txBody>
          <a:bodyPr>
            <a:noAutofit/>
          </a:bodyPr>
          <a:lstStyle/>
          <a:p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Meaning of private purchaser (HPA s.29(2))</a:t>
            </a:r>
          </a:p>
          <a:p>
            <a:pPr lvl="1"/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Excludes 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motor dealer 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(purchasing motor vehicle to offer / expose them for sale) and 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finance companies 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(providing finance by purchasing vehicles and bailing them under HP agreement or agreeing to sell them under conditional sale agreement)</a:t>
            </a:r>
          </a:p>
          <a:p>
            <a:pPr lvl="1"/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G E Capital Bank Ltd 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Rushton </a:t>
            </a:r>
          </a:p>
          <a:p>
            <a:pPr lvl="1"/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Stevenson 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Beverley </a:t>
            </a:r>
          </a:p>
          <a:p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PP must be in good faith and without notice</a:t>
            </a:r>
          </a:p>
          <a:p>
            <a:pPr lvl="1"/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Barker </a:t>
            </a:r>
            <a:r>
              <a:rPr lang="en-GB" sz="2400" b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Bell </a:t>
            </a:r>
            <a:r>
              <a:rPr lang="en-GB" sz="2400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(fact that PP knows that vehicle was let on H-P does not matter IF thinks that finance company paid off)</a:t>
            </a:r>
            <a:endParaRPr lang="en-GB" sz="2400" i="1" dirty="0">
              <a:solidFill>
                <a:schemeClr val="tx1"/>
              </a:solidFill>
              <a:latin typeface="Garamond" charset="0"/>
              <a:ea typeface="Garamond" charset="0"/>
              <a:cs typeface="Garamond" charset="0"/>
            </a:endParaRPr>
          </a:p>
          <a:p>
            <a:pPr lvl="1"/>
            <a:r>
              <a:rPr lang="en-GB" sz="2400" b="1" i="1" dirty="0" err="1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Dodds</a:t>
            </a:r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</a:t>
            </a:r>
            <a:r>
              <a:rPr lang="en-GB" sz="2400" b="1" dirty="0" err="1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v</a:t>
            </a:r>
            <a:r>
              <a:rPr lang="en-GB" sz="2400" b="1" i="1" dirty="0">
                <a:solidFill>
                  <a:schemeClr val="tx1"/>
                </a:solidFill>
                <a:latin typeface="Garamond" charset="0"/>
                <a:ea typeface="Garamond" charset="0"/>
                <a:cs typeface="Garamond" charset="0"/>
              </a:rPr>
              <a:t> Yorkshire Bank </a:t>
            </a:r>
            <a:endParaRPr lang="en-GB" sz="2400" b="1" dirty="0">
              <a:solidFill>
                <a:schemeClr val="tx1"/>
              </a:solidFill>
              <a:latin typeface="Garamond" charset="0"/>
              <a:ea typeface="Garamond" charset="0"/>
              <a:cs typeface="Garamon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9778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cc0b812-7f7d-4aca-acca-000f424f7da7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A4B24C251BCD4291F2C2F3A608C810" ma:contentTypeVersion="11" ma:contentTypeDescription="Create a new document." ma:contentTypeScope="" ma:versionID="83699b3271963520812641aaaa6ca2c4">
  <xsd:schema xmlns:xsd="http://www.w3.org/2001/XMLSchema" xmlns:xs="http://www.w3.org/2001/XMLSchema" xmlns:p="http://schemas.microsoft.com/office/2006/metadata/properties" xmlns:ns3="3cc0b812-7f7d-4aca-acca-000f424f7da7" xmlns:ns4="6bff29df-e80b-4a73-953f-e802c634e429" targetNamespace="http://schemas.microsoft.com/office/2006/metadata/properties" ma:root="true" ma:fieldsID="d7bdb9edf9b87b139097dc501a0a3627" ns3:_="" ns4:_="">
    <xsd:import namespace="3cc0b812-7f7d-4aca-acca-000f424f7da7"/>
    <xsd:import namespace="6bff29df-e80b-4a73-953f-e802c634e42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ObjectDetectorVersions" minOccurs="0"/>
                <xsd:element ref="ns3:_activity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c0b812-7f7d-4aca-acca-000f424f7da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ff29df-e80b-4a73-953f-e802c634e42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F46B7EE-943C-48BA-A8C9-AEA4568061DD}">
  <ds:schemaRefs>
    <ds:schemaRef ds:uri="http://schemas.microsoft.com/office/2006/documentManagement/types"/>
    <ds:schemaRef ds:uri="http://purl.org/dc/dcmitype/"/>
    <ds:schemaRef ds:uri="http://purl.org/dc/terms/"/>
    <ds:schemaRef ds:uri="http://schemas.microsoft.com/office/2006/metadata/properties"/>
    <ds:schemaRef ds:uri="6bff29df-e80b-4a73-953f-e802c634e429"/>
    <ds:schemaRef ds:uri="http://schemas.microsoft.com/office/infopath/2007/PartnerControls"/>
    <ds:schemaRef ds:uri="http://schemas.openxmlformats.org/package/2006/metadata/core-properties"/>
    <ds:schemaRef ds:uri="3cc0b812-7f7d-4aca-acca-000f424f7da7"/>
    <ds:schemaRef ds:uri="http://www.w3.org/XML/1998/namespace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B90DF9A7-2FF6-4167-A734-05C670134DE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332BEFB-3019-439E-8B79-30BD13E003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c0b812-7f7d-4aca-acca-000f424f7da7"/>
    <ds:schemaRef ds:uri="6bff29df-e80b-4a73-953f-e802c634e4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13239</TotalTime>
  <Words>1192</Words>
  <Application>Microsoft Office PowerPoint</Application>
  <PresentationFormat>On-screen Show (4:3)</PresentationFormat>
  <Paragraphs>116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Garamond</vt:lpstr>
      <vt:lpstr>Office Theme</vt:lpstr>
      <vt:lpstr>Nemo dat quod non habet and its exceptions</vt:lpstr>
      <vt:lpstr>FA 1889 s. 9 (SGA 1979 s.25) – B in possession</vt:lpstr>
      <vt:lpstr>Example – Buyer in possession</vt:lpstr>
      <vt:lpstr>B1 ‘having bought or agreed to buy goods’ (II)</vt:lpstr>
      <vt:lpstr>B1 ‘having bought or agreed to buy goods’ (III)</vt:lpstr>
      <vt:lpstr>B1 in possession of goods (docs of title) ‘with consent of the seller’</vt:lpstr>
      <vt:lpstr>B1 in possession of the goods</vt:lpstr>
      <vt:lpstr>B1 in possession of goods (II)</vt:lpstr>
      <vt:lpstr>‘Delivery or transfer’</vt:lpstr>
      <vt:lpstr>Delivery or transfer (II) </vt:lpstr>
      <vt:lpstr>Effect of FA, s. 9 (SGA s.25)</vt:lpstr>
      <vt:lpstr>Effect (II) </vt:lpstr>
      <vt:lpstr>HP Act 1964, Part III, s.27</vt:lpstr>
      <vt:lpstr>Example</vt:lpstr>
      <vt:lpstr>Requirements</vt:lpstr>
      <vt:lpstr>Is HP 1964, s.27 applicable?</vt:lpstr>
      <vt:lpstr>Is HP 1964, s.27 applicable?</vt:lpstr>
      <vt:lpstr>Requirements (II)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Nemo dat quod non habet and its exceptions</dc:title>
  <dc:subject/>
  <dc:creator/>
  <cp:keywords/>
  <dc:description/>
  <cp:lastModifiedBy>AVERY, RACHEL J.</cp:lastModifiedBy>
  <cp:revision>240</cp:revision>
  <cp:lastPrinted>2016-02-03T12:33:59Z</cp:lastPrinted>
  <dcterms:created xsi:type="dcterms:W3CDTF">2013-02-04T15:22:51Z</dcterms:created>
  <dcterms:modified xsi:type="dcterms:W3CDTF">2025-01-07T11:01:30Z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0x01010009A4B24C251BCD4291F2C2F3A608C810</vt:lpwstr>
  </property>
</Properties>
</file>