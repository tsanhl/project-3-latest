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2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5" r:id="rId15"/>
    <p:sldId id="267" r:id="rId16"/>
    <p:sldId id="268" r:id="rId17"/>
    <p:sldId id="269" r:id="rId18"/>
    <p:sldId id="276" r:id="rId19"/>
    <p:sldId id="270" r:id="rId20"/>
    <p:sldId id="271" r:id="rId21"/>
    <p:sldId id="272" r:id="rId22"/>
    <p:sldId id="274" r:id="rId2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864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958F7C1-D56D-44F1-91D3-80054C2317E1}" type="datetimeFigureOut">
              <a:rPr lang="en-GB"/>
              <a:pPr>
                <a:defRPr/>
              </a:pPr>
              <a:t>10/09/2024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A32486A-BC3C-4432-9BE3-F72B268041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265719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5516563"/>
          </a:xfrm>
          <a:prstGeom prst="rect">
            <a:avLst/>
          </a:prstGeom>
          <a:solidFill>
            <a:srgbClr val="663366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663366"/>
              </a:solidFill>
              <a:latin typeface="+mn-lt"/>
            </a:endParaRPr>
          </a:p>
        </p:txBody>
      </p:sp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" y="5843588"/>
            <a:ext cx="1943100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03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755650" y="476250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204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827088" y="2420938"/>
            <a:ext cx="7561262" cy="1752600"/>
          </a:xfrm>
        </p:spPr>
        <p:txBody>
          <a:bodyPr/>
          <a:lstStyle>
            <a:lvl1pPr marL="0" indent="0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53B0E5-1C1B-4303-90A2-809A278FFE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C9B3EB-6B8C-44E4-8937-2BD7D45D853C}" type="datetime1">
              <a:rPr lang="en-US"/>
              <a:pPr>
                <a:defRPr/>
              </a:pPr>
              <a:t>9/10/2024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FCF61C-C454-4151-8936-8D1B696D56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3D3993-193D-4259-8DF4-8DB26DDBA672}" type="datetime1">
              <a:rPr lang="en-US"/>
              <a:pPr>
                <a:defRPr/>
              </a:pPr>
              <a:t>9/10/2024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F413C5-A438-41D7-B795-0E908F6419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3" y="1989138"/>
            <a:ext cx="3810000" cy="3816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989138"/>
            <a:ext cx="3810000" cy="3816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88E83C-7924-4FA1-8025-5591B621C13E}" type="datetime1">
              <a:rPr lang="en-US"/>
              <a:pPr>
                <a:defRPr/>
              </a:pPr>
              <a:t>9/10/2024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345D5E-FF8B-4F4A-87FF-2547B1CF3F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B6FB19-A6E5-49B8-A164-4BCC4CEF7DE2}" type="datetime1">
              <a:rPr lang="en-US"/>
              <a:pPr>
                <a:defRPr/>
              </a:pPr>
              <a:t>9/10/2024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7DDD9C-868B-4161-A0A1-FFF8861B8D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9C062B-0D42-4359-864A-3DC501ABDC4F}" type="datetime1">
              <a:rPr lang="en-US"/>
              <a:pPr>
                <a:defRPr/>
              </a:pPr>
              <a:t>9/10/2024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6CB266-86F1-4DEE-9C7B-047E49768F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3AEBB3-B28C-4E1B-BB44-D1F6C84DC5A4}" type="datetime1">
              <a:rPr lang="en-US"/>
              <a:pPr>
                <a:defRPr/>
              </a:pPr>
              <a:t>9/10/2024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5A499A-C663-4CE3-A4B2-9C3793738E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CE6A2E-699F-4E82-A549-C28650C5AD8A}" type="datetime1">
              <a:rPr lang="en-US"/>
              <a:pPr>
                <a:defRPr/>
              </a:pPr>
              <a:t>9/10/2024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191AA0-9B8B-4DD7-8EC1-43C5F1B71A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230DE-E942-45CA-8AF8-42F3C9D41F57}" type="datetime1">
              <a:rPr lang="en-US"/>
              <a:pPr>
                <a:defRPr/>
              </a:pPr>
              <a:t>9/10/2024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A9B8AA-04BF-478B-81EB-15334D5F0A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A9E74D-036F-4B0A-8DEA-4DB0AD27AA6B}" type="datetime1">
              <a:rPr lang="en-US"/>
              <a:pPr>
                <a:defRPr/>
              </a:pPr>
              <a:t>9/10/2024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4209EC-F8AE-4202-BC2F-7538DAAD44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195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4213" y="609600"/>
            <a:ext cx="5678487" cy="5195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60C1FA-172B-4B32-8F4A-A61FF8D38122}" type="datetime1">
              <a:rPr lang="en-US"/>
              <a:pPr>
                <a:defRPr/>
              </a:pPr>
              <a:t>9/10/2024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89B8E-9B14-46A1-BF67-6C195F8A3D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0"/>
            <a:ext cx="9140825" cy="6873875"/>
          </a:xfrm>
          <a:prstGeom prst="rect">
            <a:avLst/>
          </a:prstGeom>
          <a:solidFill>
            <a:srgbClr val="663366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>
                <a:solidFill>
                  <a:srgbClr val="663366"/>
                </a:solidFill>
                <a:latin typeface="+mn-lt"/>
              </a:rPr>
              <a:t>∂</a:t>
            </a: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107950" y="107950"/>
            <a:ext cx="8924925" cy="66579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663366"/>
              </a:solidFill>
              <a:latin typeface="+mn-lt"/>
            </a:endParaRP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Heading style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989138"/>
            <a:ext cx="7772400" cy="381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F82F23FE-2B38-4433-8B51-AE63443E8A4B}" type="datetime1">
              <a:rPr lang="en-US"/>
              <a:pPr>
                <a:defRPr/>
              </a:pPr>
              <a:t>9/10/2024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3E57B239-427D-47E0-9DE0-6CFD595A2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790575" y="611188"/>
            <a:ext cx="8024813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44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790575" y="1798638"/>
            <a:ext cx="8024813" cy="381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endParaRPr lang="en-US" b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66700" y="5843588"/>
            <a:ext cx="1943100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2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GB" b="1" dirty="0"/>
              <a:t>Commercial Law</a:t>
            </a:r>
            <a:br>
              <a:rPr lang="en-GB" b="1" dirty="0"/>
            </a:br>
            <a:r>
              <a:rPr lang="en-GB" b="1" dirty="0"/>
              <a:t>(Law 2241)</a:t>
            </a:r>
          </a:p>
        </p:txBody>
      </p:sp>
      <p:sp>
        <p:nvSpPr>
          <p:cNvPr id="3075" name="Subtitle 2"/>
          <p:cNvSpPr>
            <a:spLocks noGrp="1"/>
          </p:cNvSpPr>
          <p:nvPr>
            <p:ph type="subTitle" sz="quarter" idx="1"/>
          </p:nvPr>
        </p:nvSpPr>
        <p:spPr>
          <a:xfrm>
            <a:off x="827088" y="2420938"/>
            <a:ext cx="8012112" cy="3065462"/>
          </a:xfrm>
        </p:spPr>
        <p:txBody>
          <a:bodyPr/>
          <a:lstStyle/>
          <a:p>
            <a:r>
              <a:rPr lang="en-GB" sz="2400" dirty="0"/>
              <a:t>Introduction to Commercial Law </a:t>
            </a:r>
          </a:p>
          <a:p>
            <a:endParaRPr lang="en-GB" sz="2400" dirty="0"/>
          </a:p>
          <a:p>
            <a:r>
              <a:rPr lang="en-GB" sz="2400" dirty="0"/>
              <a:t>Rachel Avery</a:t>
            </a:r>
          </a:p>
          <a:p>
            <a:endParaRPr lang="en-GB" sz="2400" dirty="0"/>
          </a:p>
          <a:p>
            <a:r>
              <a:rPr lang="en-GB" sz="2400" dirty="0"/>
              <a:t>Rachel.Avery@durham.ac.uk</a:t>
            </a:r>
          </a:p>
        </p:txBody>
      </p:sp>
      <p:sp>
        <p:nvSpPr>
          <p:cNvPr id="307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608E79-30CE-42C1-956C-6997F71887CF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20482" name="AutoShape 2" descr="Image result for commercial law pictur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0484" name="AutoShape 4" descr="Image result for commercial law pictur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0486" name="Picture 6" descr="Image result for commercial law picture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29250" y="4419600"/>
            <a:ext cx="3714750" cy="2438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GB">
                <a:solidFill>
                  <a:srgbClr val="7030A0"/>
                </a:solidFill>
                <a:latin typeface="Palatino Linotype" pitchFamily="18" charset="0"/>
              </a:rPr>
              <a:t>GENERAL INFORMATION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684213" y="1989138"/>
            <a:ext cx="7772400" cy="4564062"/>
          </a:xfrm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GB" sz="2000" dirty="0">
                <a:latin typeface="Palatino Linotype" pitchFamily="18" charset="0"/>
              </a:rPr>
              <a:t>Module leader</a:t>
            </a:r>
          </a:p>
          <a:p>
            <a:pPr lvl="1" eaLnBrk="1" hangingPunct="1"/>
            <a:r>
              <a:rPr lang="en-GB" sz="1800" dirty="0">
                <a:latin typeface="Palatino Linotype" pitchFamily="18" charset="0"/>
              </a:rPr>
              <a:t>Other staff members: Professor Lei Chen, Professor </a:t>
            </a:r>
            <a:r>
              <a:rPr lang="en-GB" sz="1800" dirty="0" err="1">
                <a:latin typeface="Palatino Linotype" pitchFamily="18" charset="0"/>
              </a:rPr>
              <a:t>Lupo</a:t>
            </a:r>
            <a:r>
              <a:rPr lang="en-GB" sz="1800" dirty="0">
                <a:latin typeface="Palatino Linotype" pitchFamily="18" charset="0"/>
              </a:rPr>
              <a:t> </a:t>
            </a:r>
            <a:r>
              <a:rPr lang="en-GB" sz="1800" dirty="0" err="1">
                <a:latin typeface="Palatino Linotype" pitchFamily="18" charset="0"/>
              </a:rPr>
              <a:t>Pasini</a:t>
            </a:r>
            <a:r>
              <a:rPr lang="en-GB" sz="1800" dirty="0">
                <a:latin typeface="Palatino Linotype" pitchFamily="18" charset="0"/>
              </a:rPr>
              <a:t>, Dr Ronan Feehily and Dr </a:t>
            </a:r>
            <a:r>
              <a:rPr lang="en-GB" sz="1800" dirty="0" err="1">
                <a:latin typeface="Palatino Linotype" pitchFamily="18" charset="0"/>
              </a:rPr>
              <a:t>Adefolake</a:t>
            </a:r>
            <a:r>
              <a:rPr lang="en-GB" sz="1800" dirty="0">
                <a:latin typeface="Palatino Linotype" pitchFamily="18" charset="0"/>
              </a:rPr>
              <a:t> </a:t>
            </a:r>
            <a:r>
              <a:rPr lang="en-GB" sz="1800" dirty="0" err="1">
                <a:latin typeface="Palatino Linotype" pitchFamily="18" charset="0"/>
              </a:rPr>
              <a:t>Adeyeye</a:t>
            </a:r>
            <a:r>
              <a:rPr lang="en-GB" sz="1800" dirty="0">
                <a:latin typeface="Palatino Linotype" pitchFamily="18" charset="0"/>
              </a:rPr>
              <a:t>.</a:t>
            </a:r>
          </a:p>
          <a:p>
            <a:pPr marL="457200" lvl="1" indent="0" eaLnBrk="1" hangingPunct="1">
              <a:buNone/>
            </a:pPr>
            <a:endParaRPr lang="en-GB" sz="1800" dirty="0">
              <a:latin typeface="Palatino Linotype" pitchFamily="18" charset="0"/>
            </a:endParaRPr>
          </a:p>
          <a:p>
            <a:pPr eaLnBrk="1" hangingPunct="1">
              <a:buFontTx/>
              <a:buChar char="•"/>
            </a:pPr>
            <a:r>
              <a:rPr lang="en-GB" sz="2000" dirty="0">
                <a:latin typeface="Palatino Linotype" pitchFamily="18" charset="0"/>
              </a:rPr>
              <a:t>Office hours:  </a:t>
            </a:r>
            <a:r>
              <a:rPr lang="en-GB" sz="2000" b="1" dirty="0">
                <a:solidFill>
                  <a:srgbClr val="FF0000"/>
                </a:solidFill>
                <a:latin typeface="Palatino Linotype" pitchFamily="18" charset="0"/>
              </a:rPr>
              <a:t>Monday 9-11am in PCL191 (or at a mutually convenient time  I will try to be as available as I can be for queries/concerns etc).  </a:t>
            </a:r>
            <a:r>
              <a:rPr lang="en-GB" sz="2000" dirty="0">
                <a:latin typeface="Palatino Linotype" pitchFamily="18" charset="0"/>
              </a:rPr>
              <a:t>My</a:t>
            </a:r>
            <a:r>
              <a:rPr lang="en-GB" sz="2000" b="1" dirty="0">
                <a:latin typeface="Palatino Linotype" pitchFamily="18" charset="0"/>
              </a:rPr>
              <a:t> </a:t>
            </a:r>
            <a:r>
              <a:rPr lang="en-GB" sz="2000" dirty="0">
                <a:latin typeface="Palatino Linotype" pitchFamily="18" charset="0"/>
              </a:rPr>
              <a:t>office is PCL191 but also very happy for you to email me to arrange a Zoom/Teams/Telephone call at other times. </a:t>
            </a:r>
          </a:p>
          <a:p>
            <a:pPr eaLnBrk="1" hangingPunct="1"/>
            <a:endParaRPr lang="en-GB" sz="2000" dirty="0">
              <a:latin typeface="Palatino Linotype" pitchFamily="18" charset="0"/>
            </a:endParaRPr>
          </a:p>
          <a:p>
            <a:pPr eaLnBrk="1" hangingPunct="1">
              <a:buFontTx/>
              <a:buChar char="•"/>
            </a:pPr>
            <a:r>
              <a:rPr lang="en-GB" sz="2000" dirty="0">
                <a:latin typeface="Palatino Linotype" pitchFamily="18" charset="0"/>
              </a:rPr>
              <a:t>All necessary information on Learn Ultra and handbook/handouts including tutorial questions and breakdown of topics to be covered this term.  </a:t>
            </a:r>
            <a:r>
              <a:rPr lang="en-GB" sz="2000" dirty="0">
                <a:highlight>
                  <a:srgbClr val="FFFF00"/>
                </a:highlight>
                <a:latin typeface="Palatino Linotype" pitchFamily="18" charset="0"/>
              </a:rPr>
              <a:t>Any questions, please get in touch.</a:t>
            </a:r>
          </a:p>
          <a:p>
            <a:pPr eaLnBrk="1" hangingPunct="1"/>
            <a:endParaRPr lang="en-GB" sz="2000" dirty="0"/>
          </a:p>
        </p:txBody>
      </p:sp>
      <p:sp>
        <p:nvSpPr>
          <p:cNvPr id="410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718261B-E59C-400A-90C9-A0E68B903D11}" type="slidenum">
              <a:rPr lang="en-US" sz="1100" smtClean="0">
                <a:latin typeface="Palatino Linotype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>
              <a:latin typeface="Palatino Linotype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GB">
                <a:solidFill>
                  <a:srgbClr val="7030A0"/>
                </a:solidFill>
                <a:latin typeface="Palatino Linotype" pitchFamily="18" charset="0"/>
              </a:rPr>
              <a:t>GENERAL INFORMATION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684212" y="1524000"/>
            <a:ext cx="7850187" cy="4724400"/>
          </a:xfrm>
        </p:spPr>
        <p:txBody>
          <a:bodyPr/>
          <a:lstStyle/>
          <a:p>
            <a:pPr eaLnBrk="1" hangingPunct="1"/>
            <a:r>
              <a:rPr lang="en-GB" sz="2000" b="1" i="1" u="sng" dirty="0">
                <a:solidFill>
                  <a:srgbClr val="FF0000"/>
                </a:solidFill>
                <a:latin typeface="Palatino Linotype" pitchFamily="18" charset="0"/>
              </a:rPr>
              <a:t>Reading List</a:t>
            </a:r>
          </a:p>
          <a:p>
            <a:pPr lvl="1" eaLnBrk="1" hangingPunct="1"/>
            <a:r>
              <a:rPr lang="en-GB" sz="2000" b="1" i="1" dirty="0">
                <a:solidFill>
                  <a:srgbClr val="FF0000"/>
                </a:solidFill>
                <a:highlight>
                  <a:srgbClr val="FFFF00"/>
                </a:highlight>
                <a:latin typeface="Palatino Linotype" pitchFamily="18" charset="0"/>
              </a:rPr>
              <a:t>Main texts</a:t>
            </a:r>
            <a:r>
              <a:rPr lang="en-GB" sz="2000" i="1" dirty="0">
                <a:solidFill>
                  <a:srgbClr val="FF0000"/>
                </a:solidFill>
                <a:highlight>
                  <a:srgbClr val="FFFF00"/>
                </a:highlight>
                <a:latin typeface="Palatino Linotype" pitchFamily="18" charset="0"/>
              </a:rPr>
              <a:t>:</a:t>
            </a:r>
          </a:p>
          <a:p>
            <a:pPr lvl="2" eaLnBrk="1" hangingPunct="1"/>
            <a:r>
              <a:rPr lang="en-GB" sz="1800" dirty="0">
                <a:solidFill>
                  <a:srgbClr val="FF0000"/>
                </a:solidFill>
                <a:latin typeface="Palatino Linotype" pitchFamily="18" charset="0"/>
              </a:rPr>
              <a:t>Twigg-</a:t>
            </a:r>
            <a:r>
              <a:rPr lang="en-GB" sz="1800" dirty="0" err="1">
                <a:solidFill>
                  <a:srgbClr val="FF0000"/>
                </a:solidFill>
                <a:latin typeface="Palatino Linotype" pitchFamily="18" charset="0"/>
              </a:rPr>
              <a:t>Flesner</a:t>
            </a:r>
            <a:r>
              <a:rPr lang="en-GB" sz="1800" dirty="0">
                <a:solidFill>
                  <a:srgbClr val="FF0000"/>
                </a:solidFill>
                <a:latin typeface="Palatino Linotype" pitchFamily="18" charset="0"/>
              </a:rPr>
              <a:t>, Canavan and MacQueen, </a:t>
            </a:r>
            <a:r>
              <a:rPr lang="en-GB" sz="1800" i="1" dirty="0" err="1">
                <a:solidFill>
                  <a:srgbClr val="FF0000"/>
                </a:solidFill>
                <a:latin typeface="Palatino Linotype" pitchFamily="18" charset="0"/>
              </a:rPr>
              <a:t>Atiyah</a:t>
            </a:r>
            <a:r>
              <a:rPr lang="en-GB" sz="1800" i="1" dirty="0">
                <a:solidFill>
                  <a:srgbClr val="FF0000"/>
                </a:solidFill>
                <a:latin typeface="Palatino Linotype" pitchFamily="18" charset="0"/>
              </a:rPr>
              <a:t> and  Adams’ Sale of Goods</a:t>
            </a:r>
            <a:r>
              <a:rPr lang="en-GB" sz="1800" dirty="0">
                <a:solidFill>
                  <a:srgbClr val="FF0000"/>
                </a:solidFill>
                <a:latin typeface="Palatino Linotype" pitchFamily="18" charset="0"/>
              </a:rPr>
              <a:t> (14th ed. 2020)</a:t>
            </a:r>
          </a:p>
          <a:p>
            <a:pPr lvl="2" eaLnBrk="1" hangingPunct="1"/>
            <a:r>
              <a:rPr lang="en-GB" sz="1800" dirty="0">
                <a:solidFill>
                  <a:srgbClr val="FF0000"/>
                </a:solidFill>
                <a:latin typeface="Palatino Linotype" pitchFamily="18" charset="0"/>
              </a:rPr>
              <a:t>McKendrick, </a:t>
            </a:r>
            <a:r>
              <a:rPr lang="en-GB" sz="1800" i="1" dirty="0">
                <a:solidFill>
                  <a:srgbClr val="FF0000"/>
                </a:solidFill>
                <a:latin typeface="Palatino Linotype" pitchFamily="18" charset="0"/>
              </a:rPr>
              <a:t>Goode and McKendrick on Commercial Law </a:t>
            </a:r>
            <a:r>
              <a:rPr lang="en-GB" sz="1800" dirty="0">
                <a:solidFill>
                  <a:srgbClr val="FF0000"/>
                </a:solidFill>
                <a:latin typeface="Palatino Linotype" pitchFamily="18" charset="0"/>
              </a:rPr>
              <a:t>(6th ed. 2020). </a:t>
            </a:r>
          </a:p>
          <a:p>
            <a:pPr lvl="2" eaLnBrk="1" hangingPunct="1"/>
            <a:r>
              <a:rPr lang="en-GB" sz="1800" dirty="0">
                <a:solidFill>
                  <a:srgbClr val="FF0000"/>
                </a:solidFill>
                <a:latin typeface="Palatino Linotype" pitchFamily="18" charset="0"/>
              </a:rPr>
              <a:t>Fox et al, </a:t>
            </a:r>
            <a:r>
              <a:rPr lang="en-GB" sz="1800" i="1" dirty="0">
                <a:solidFill>
                  <a:srgbClr val="FF0000"/>
                </a:solidFill>
                <a:latin typeface="Palatino Linotype" pitchFamily="18" charset="0"/>
              </a:rPr>
              <a:t>Sealy and Hooley’s Commercial Law Text, Cases and Materials </a:t>
            </a:r>
            <a:r>
              <a:rPr lang="en-GB" sz="1800" dirty="0">
                <a:solidFill>
                  <a:srgbClr val="FF0000"/>
                </a:solidFill>
                <a:latin typeface="Palatino Linotype" pitchFamily="18" charset="0"/>
              </a:rPr>
              <a:t>(6th ed. 2020)</a:t>
            </a:r>
          </a:p>
          <a:p>
            <a:pPr lvl="1" eaLnBrk="1" hangingPunct="1"/>
            <a:r>
              <a:rPr lang="en-GB" sz="2000" b="1" i="1" dirty="0">
                <a:highlight>
                  <a:srgbClr val="FFFF00"/>
                </a:highlight>
                <a:latin typeface="Palatino Linotype" pitchFamily="18" charset="0"/>
              </a:rPr>
              <a:t>Supplementary</a:t>
            </a:r>
            <a:r>
              <a:rPr lang="en-GB" sz="2000" dirty="0">
                <a:highlight>
                  <a:srgbClr val="FFFF00"/>
                </a:highlight>
                <a:latin typeface="Palatino Linotype" pitchFamily="18" charset="0"/>
              </a:rPr>
              <a:t>:</a:t>
            </a:r>
            <a:endParaRPr lang="en-GB" sz="2000" b="1" i="1" dirty="0">
              <a:highlight>
                <a:srgbClr val="FFFF00"/>
              </a:highlight>
              <a:latin typeface="Palatino Linotype" pitchFamily="18" charset="0"/>
            </a:endParaRPr>
          </a:p>
          <a:p>
            <a:pPr lvl="2" eaLnBrk="1" hangingPunct="1"/>
            <a:r>
              <a:rPr lang="en-GB" sz="1800" dirty="0">
                <a:latin typeface="Palatino Linotype" pitchFamily="18" charset="0"/>
              </a:rPr>
              <a:t>Benjamin, Sale of Goods (10th ed with 2</a:t>
            </a:r>
            <a:r>
              <a:rPr lang="en-GB" sz="1800" baseline="30000" dirty="0">
                <a:latin typeface="Palatino Linotype" pitchFamily="18" charset="0"/>
              </a:rPr>
              <a:t>nd</a:t>
            </a:r>
            <a:r>
              <a:rPr lang="en-GB" sz="1800" dirty="0">
                <a:latin typeface="Palatino Linotype" pitchFamily="18" charset="0"/>
              </a:rPr>
              <a:t> supp 2019) </a:t>
            </a:r>
          </a:p>
          <a:p>
            <a:pPr lvl="2" eaLnBrk="1" hangingPunct="1"/>
            <a:r>
              <a:rPr lang="en-GB" sz="1800" dirty="0">
                <a:latin typeface="Palatino Linotype" pitchFamily="18" charset="0"/>
              </a:rPr>
              <a:t>M. Bridge, Personal Property Law (4th </a:t>
            </a:r>
            <a:r>
              <a:rPr lang="en-GB" sz="1800" dirty="0" err="1">
                <a:latin typeface="Palatino Linotype" pitchFamily="18" charset="0"/>
              </a:rPr>
              <a:t>ed</a:t>
            </a:r>
            <a:r>
              <a:rPr lang="en-GB" sz="1800" dirty="0">
                <a:latin typeface="Palatino Linotype" pitchFamily="18" charset="0"/>
              </a:rPr>
              <a:t> 2015) </a:t>
            </a:r>
          </a:p>
          <a:p>
            <a:pPr lvl="2" eaLnBrk="1" hangingPunct="1"/>
            <a:r>
              <a:rPr lang="en-GB" sz="1800" dirty="0">
                <a:latin typeface="Palatino Linotype" pitchFamily="18" charset="0"/>
              </a:rPr>
              <a:t>M. Bridge, Sale of Goods (3rd </a:t>
            </a:r>
            <a:r>
              <a:rPr lang="en-GB" sz="1800" dirty="0" err="1">
                <a:latin typeface="Palatino Linotype" pitchFamily="18" charset="0"/>
              </a:rPr>
              <a:t>ed</a:t>
            </a:r>
            <a:r>
              <a:rPr lang="en-GB" sz="1800" dirty="0">
                <a:latin typeface="Palatino Linotype" pitchFamily="18" charset="0"/>
              </a:rPr>
              <a:t> 2014) </a:t>
            </a:r>
          </a:p>
          <a:p>
            <a:pPr lvl="2" eaLnBrk="1" hangingPunct="1"/>
            <a:r>
              <a:rPr lang="en-GB" sz="1800" dirty="0" err="1">
                <a:latin typeface="Palatino Linotype" pitchFamily="18" charset="0"/>
              </a:rPr>
              <a:t>Baskind</a:t>
            </a:r>
            <a:r>
              <a:rPr lang="en-GB" sz="1800" dirty="0">
                <a:latin typeface="Palatino Linotype" pitchFamily="18" charset="0"/>
              </a:rPr>
              <a:t>, Osborne and Roach, Commercial Law (3</a:t>
            </a:r>
            <a:r>
              <a:rPr lang="en-GB" sz="1800" baseline="30000" dirty="0">
                <a:latin typeface="Palatino Linotype" pitchFamily="18" charset="0"/>
              </a:rPr>
              <a:t>rd</a:t>
            </a:r>
            <a:r>
              <a:rPr lang="en-GB" sz="1800" dirty="0">
                <a:latin typeface="Palatino Linotype" pitchFamily="18" charset="0"/>
              </a:rPr>
              <a:t> ed, 2019)</a:t>
            </a:r>
          </a:p>
          <a:p>
            <a:pPr lvl="2" eaLnBrk="1" hangingPunct="1"/>
            <a:endParaRPr lang="en-GB" i="1" dirty="0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802035B-E999-485B-9BD6-F4FBAA2A6C96}" type="slidenum">
              <a:rPr lang="en-US" sz="1100" smtClean="0">
                <a:latin typeface="Palatino Linotype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>
              <a:latin typeface="Palatino Linotype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GB">
                <a:solidFill>
                  <a:srgbClr val="7030A0"/>
                </a:solidFill>
                <a:latin typeface="Palatino Linotype" pitchFamily="18" charset="0"/>
              </a:rPr>
              <a:t>GENERAL INFORMATION</a:t>
            </a:r>
            <a:endParaRPr lang="en-GB">
              <a:solidFill>
                <a:srgbClr val="7030A0"/>
              </a:solidFill>
            </a:endParaRP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 eaLnBrk="1" hangingPunct="1"/>
            <a:r>
              <a:rPr lang="en-GB" dirty="0">
                <a:latin typeface="Palatino Linotype" pitchFamily="18" charset="0"/>
              </a:rPr>
              <a:t>R. Cranston (ed.), </a:t>
            </a:r>
            <a:r>
              <a:rPr lang="en-GB" i="1" dirty="0">
                <a:latin typeface="Palatino Linotype" pitchFamily="18" charset="0"/>
              </a:rPr>
              <a:t>Making Commercial Law: Essays in Honour of Roy Goode</a:t>
            </a:r>
            <a:r>
              <a:rPr lang="en-GB" dirty="0">
                <a:latin typeface="Palatino Linotype" pitchFamily="18" charset="0"/>
              </a:rPr>
              <a:t>, (OUP, Oxford, 1997)</a:t>
            </a:r>
          </a:p>
          <a:p>
            <a:pPr lvl="2" eaLnBrk="1" hangingPunct="1"/>
            <a:r>
              <a:rPr lang="en-GB" dirty="0">
                <a:latin typeface="Palatino Linotype" pitchFamily="18" charset="0"/>
              </a:rPr>
              <a:t>M. Bridge, </a:t>
            </a:r>
            <a:r>
              <a:rPr lang="en-GB" i="1" dirty="0">
                <a:latin typeface="Palatino Linotype" pitchFamily="18" charset="0"/>
              </a:rPr>
              <a:t>The International Sale of Goods: Law &amp; Practice</a:t>
            </a:r>
            <a:r>
              <a:rPr lang="en-GB" dirty="0">
                <a:latin typeface="Palatino Linotype" pitchFamily="18" charset="0"/>
              </a:rPr>
              <a:t>, 4</a:t>
            </a:r>
            <a:r>
              <a:rPr lang="en-GB" baseline="30000" dirty="0">
                <a:latin typeface="Palatino Linotype" pitchFamily="18" charset="0"/>
              </a:rPr>
              <a:t>th</a:t>
            </a:r>
            <a:r>
              <a:rPr lang="en-GB" dirty="0">
                <a:latin typeface="Palatino Linotype" pitchFamily="18" charset="0"/>
              </a:rPr>
              <a:t> edition (OUP, Oxford, 2017)</a:t>
            </a:r>
          </a:p>
          <a:p>
            <a:pPr lvl="2" eaLnBrk="1" hangingPunct="1">
              <a:buNone/>
            </a:pPr>
            <a:endParaRPr lang="en-GB" dirty="0">
              <a:latin typeface="Palatino Linotype" pitchFamily="18" charset="0"/>
            </a:endParaRPr>
          </a:p>
          <a:p>
            <a:pPr eaLnBrk="1" hangingPunct="1"/>
            <a:endParaRPr lang="en-GB" dirty="0">
              <a:latin typeface="Palatino Linotype" pitchFamily="18" charset="0"/>
            </a:endParaRPr>
          </a:p>
          <a:p>
            <a:pPr eaLnBrk="1" hangingPunct="1"/>
            <a:r>
              <a:rPr lang="en-GB" b="1" dirty="0">
                <a:latin typeface="Palatino Linotype" pitchFamily="18" charset="0"/>
              </a:rPr>
              <a:t>Statute Book</a:t>
            </a:r>
            <a:r>
              <a:rPr lang="en-GB" dirty="0">
                <a:latin typeface="Palatino Linotype" pitchFamily="18" charset="0"/>
              </a:rPr>
              <a:t>:</a:t>
            </a:r>
            <a:endParaRPr lang="en-GB" b="1" dirty="0">
              <a:latin typeface="Palatino Linotype" pitchFamily="18" charset="0"/>
            </a:endParaRPr>
          </a:p>
          <a:p>
            <a:pPr eaLnBrk="1" hangingPunct="1"/>
            <a:endParaRPr lang="en-GB" dirty="0">
              <a:latin typeface="Palatino Linotype" pitchFamily="18" charset="0"/>
            </a:endParaRPr>
          </a:p>
          <a:p>
            <a:pPr lvl="1" eaLnBrk="1" hangingPunct="1">
              <a:buFont typeface="Arial" charset="0"/>
              <a:buChar char="•"/>
            </a:pPr>
            <a:r>
              <a:rPr lang="en-US" dirty="0">
                <a:highlight>
                  <a:srgbClr val="FFFF00"/>
                </a:highlight>
                <a:latin typeface="Palatino Linotype" pitchFamily="18" charset="0"/>
              </a:rPr>
              <a:t>Blackstone’s Statutes on Commercial and Consumer Law, 31st</a:t>
            </a:r>
          </a:p>
          <a:p>
            <a:pPr marL="457200" lvl="1" indent="0" eaLnBrk="1" hangingPunct="1">
              <a:buNone/>
            </a:pPr>
            <a:r>
              <a:rPr lang="en-US" dirty="0">
                <a:latin typeface="Palatino Linotype" pitchFamily="18" charset="0"/>
              </a:rPr>
              <a:t>     </a:t>
            </a:r>
            <a:r>
              <a:rPr lang="en-US" dirty="0">
                <a:highlight>
                  <a:srgbClr val="FFFF00"/>
                </a:highlight>
                <a:latin typeface="Palatino Linotype" pitchFamily="18" charset="0"/>
              </a:rPr>
              <a:t>Edition, OUP (edited by F. Rose). </a:t>
            </a:r>
            <a:endParaRPr lang="en-GB" b="1" dirty="0">
              <a:highlight>
                <a:srgbClr val="FFFF00"/>
              </a:highlight>
              <a:latin typeface="Palatino Linotype" pitchFamily="18" charset="0"/>
            </a:endParaRPr>
          </a:p>
          <a:p>
            <a:pPr lvl="1" eaLnBrk="1" hangingPunct="1">
              <a:buFontTx/>
              <a:buNone/>
            </a:pPr>
            <a:endParaRPr lang="en-GB" dirty="0">
              <a:latin typeface="Palatino Linotype" pitchFamily="18" charset="0"/>
            </a:endParaRPr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BB4F4E8-4D55-4157-B3C8-76EF999940EE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762000" y="685800"/>
            <a:ext cx="7772400" cy="1143000"/>
          </a:xfrm>
        </p:spPr>
        <p:txBody>
          <a:bodyPr/>
          <a:lstStyle/>
          <a:p>
            <a:pPr eaLnBrk="1" hangingPunct="1"/>
            <a:r>
              <a:rPr lang="en-GB">
                <a:solidFill>
                  <a:srgbClr val="7030A0"/>
                </a:solidFill>
                <a:latin typeface="Palatino Linotype" pitchFamily="18" charset="0"/>
              </a:rPr>
              <a:t>GENERAL INFORMATION</a:t>
            </a:r>
            <a:endParaRPr lang="en-GB">
              <a:solidFill>
                <a:srgbClr val="7030A0"/>
              </a:solidFill>
            </a:endParaRP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684213" y="1524000"/>
            <a:ext cx="7772400" cy="4495800"/>
          </a:xfrm>
        </p:spPr>
        <p:txBody>
          <a:bodyPr/>
          <a:lstStyle/>
          <a:p>
            <a:pPr eaLnBrk="1" hangingPunct="1"/>
            <a:r>
              <a:rPr lang="en-GB" sz="2400" b="1" u="sng" dirty="0">
                <a:latin typeface="Palatino Linotype" pitchFamily="18" charset="0"/>
              </a:rPr>
              <a:t>Assessments </a:t>
            </a:r>
          </a:p>
          <a:p>
            <a:pPr eaLnBrk="1" hangingPunct="1">
              <a:buFontTx/>
              <a:buChar char="•"/>
            </a:pPr>
            <a:r>
              <a:rPr lang="en-GB" sz="2400" b="1" dirty="0">
                <a:latin typeface="Palatino Linotype" pitchFamily="18" charset="0"/>
              </a:rPr>
              <a:t>1 formative essay </a:t>
            </a:r>
            <a:r>
              <a:rPr lang="en-GB" sz="2400" b="1" dirty="0">
                <a:highlight>
                  <a:srgbClr val="FFFF00"/>
                </a:highlight>
                <a:latin typeface="Palatino Linotype" pitchFamily="18" charset="0"/>
              </a:rPr>
              <a:t>(optional)</a:t>
            </a:r>
          </a:p>
          <a:p>
            <a:pPr lvl="1" eaLnBrk="1" hangingPunct="1">
              <a:buFont typeface="Arial" charset="0"/>
              <a:buChar char="•"/>
            </a:pPr>
            <a:endParaRPr lang="en-GB" sz="1800" dirty="0">
              <a:latin typeface="Palatino Linotype" pitchFamily="18" charset="0"/>
            </a:endParaRPr>
          </a:p>
          <a:p>
            <a:pPr lvl="1" eaLnBrk="1" hangingPunct="1">
              <a:buFont typeface="Arial" charset="0"/>
              <a:buChar char="•"/>
            </a:pPr>
            <a:r>
              <a:rPr lang="en-GB" sz="1800" dirty="0">
                <a:latin typeface="Palatino Linotype" pitchFamily="18" charset="0"/>
              </a:rPr>
              <a:t>Deadline for this essay is </a:t>
            </a:r>
            <a:r>
              <a:rPr lang="en-GB" sz="1800" u="sng" dirty="0">
                <a:highlight>
                  <a:srgbClr val="FFFF00"/>
                </a:highlight>
                <a:latin typeface="Palatino Linotype" pitchFamily="18" charset="0"/>
              </a:rPr>
              <a:t>Tuesday 7</a:t>
            </a:r>
            <a:r>
              <a:rPr lang="en-GB" sz="1800" u="sng" baseline="30000" dirty="0">
                <a:highlight>
                  <a:srgbClr val="FFFF00"/>
                </a:highlight>
                <a:latin typeface="Palatino Linotype" pitchFamily="18" charset="0"/>
              </a:rPr>
              <a:t>th</a:t>
            </a:r>
            <a:r>
              <a:rPr lang="en-GB" sz="1800" u="sng" dirty="0">
                <a:highlight>
                  <a:srgbClr val="FFFF00"/>
                </a:highlight>
                <a:latin typeface="Palatino Linotype" pitchFamily="18" charset="0"/>
              </a:rPr>
              <a:t> January 2025</a:t>
            </a:r>
          </a:p>
          <a:p>
            <a:pPr lvl="1" eaLnBrk="1" hangingPunct="1">
              <a:buFontTx/>
              <a:buNone/>
            </a:pPr>
            <a:endParaRPr lang="en-GB" sz="1800" dirty="0">
              <a:latin typeface="Palatino Linotype" pitchFamily="18" charset="0"/>
            </a:endParaRPr>
          </a:p>
          <a:p>
            <a:pPr eaLnBrk="1" hangingPunct="1">
              <a:buFontTx/>
              <a:buChar char="•"/>
            </a:pPr>
            <a:r>
              <a:rPr lang="en-GB" sz="2400" b="1" dirty="0">
                <a:latin typeface="Palatino Linotype" pitchFamily="18" charset="0"/>
              </a:rPr>
              <a:t>Summative Assessment:</a:t>
            </a:r>
          </a:p>
          <a:p>
            <a:pPr lvl="1" eaLnBrk="1" hangingPunct="1">
              <a:buFontTx/>
              <a:buNone/>
            </a:pPr>
            <a:endParaRPr lang="en-GB" dirty="0">
              <a:latin typeface="Palatino Linotype" pitchFamily="18" charset="0"/>
            </a:endParaRPr>
          </a:p>
          <a:p>
            <a:pPr lvl="1" eaLnBrk="1" hangingPunct="1">
              <a:buFont typeface="Arial" charset="0"/>
              <a:buChar char="•"/>
            </a:pPr>
            <a:r>
              <a:rPr lang="en-GB" dirty="0">
                <a:latin typeface="Palatino Linotype" pitchFamily="18" charset="0"/>
              </a:rPr>
              <a:t>Written summative assessment due Epiphany term (worth 20% of final mark).  Tutorial 3 will be preparation for this assessment.</a:t>
            </a:r>
          </a:p>
          <a:p>
            <a:pPr marL="457200" lvl="1" indent="0" eaLnBrk="1" hangingPunct="1">
              <a:buNone/>
            </a:pPr>
            <a:endParaRPr lang="en-GB" dirty="0">
              <a:latin typeface="Palatino Linotype" pitchFamily="18" charset="0"/>
            </a:endParaRPr>
          </a:p>
          <a:p>
            <a:pPr lvl="1" eaLnBrk="1" hangingPunct="1">
              <a:buFont typeface="Arial" charset="0"/>
              <a:buChar char="•"/>
            </a:pPr>
            <a:r>
              <a:rPr lang="en-GB" dirty="0">
                <a:latin typeface="Palatino Linotype" pitchFamily="18" charset="0"/>
              </a:rPr>
              <a:t>Exam (worth 80% of final mark)</a:t>
            </a:r>
          </a:p>
          <a:p>
            <a:pPr marL="457200" lvl="1" indent="0" eaLnBrk="1" hangingPunct="1">
              <a:buNone/>
            </a:pPr>
            <a:endParaRPr lang="en-GB" dirty="0">
              <a:latin typeface="Palatino Linotype" pitchFamily="18" charset="0"/>
            </a:endParaRPr>
          </a:p>
          <a:p>
            <a:pPr eaLnBrk="1" hangingPunct="1">
              <a:buFontTx/>
              <a:buChar char="•"/>
            </a:pPr>
            <a:r>
              <a:rPr lang="en-GB" dirty="0">
                <a:latin typeface="Palatino Linotype" pitchFamily="18" charset="0"/>
              </a:rPr>
              <a:t>Questions?</a:t>
            </a:r>
          </a:p>
          <a:p>
            <a:pPr lvl="1" eaLnBrk="1" hangingPunct="1">
              <a:buFont typeface="Arial" charset="0"/>
              <a:buChar char="•"/>
            </a:pPr>
            <a:endParaRPr lang="en-GB" sz="1800" dirty="0">
              <a:latin typeface="Palatino Linotype" pitchFamily="18" charset="0"/>
            </a:endParaRPr>
          </a:p>
          <a:p>
            <a:pPr lvl="1" eaLnBrk="1" hangingPunct="1">
              <a:buFont typeface="Arial" charset="0"/>
              <a:buChar char="•"/>
            </a:pPr>
            <a:endParaRPr lang="en-GB" dirty="0">
              <a:latin typeface="Palatino Linotype" pitchFamily="18" charset="0"/>
            </a:endParaRPr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70913CA-7BC4-429E-BF14-B965554F727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GB" sz="4000">
                <a:solidFill>
                  <a:srgbClr val="7030A0"/>
                </a:solidFill>
                <a:latin typeface="Palatino Linotype" pitchFamily="18" charset="0"/>
              </a:rPr>
              <a:t>Overview of topics to be </a:t>
            </a:r>
            <a:br>
              <a:rPr lang="en-GB" sz="4000">
                <a:solidFill>
                  <a:srgbClr val="7030A0"/>
                </a:solidFill>
                <a:latin typeface="Palatino Linotype" pitchFamily="18" charset="0"/>
              </a:rPr>
            </a:br>
            <a:r>
              <a:rPr lang="en-GB" sz="4000">
                <a:solidFill>
                  <a:srgbClr val="7030A0"/>
                </a:solidFill>
                <a:latin typeface="Palatino Linotype" pitchFamily="18" charset="0"/>
              </a:rPr>
              <a:t>covered this year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684213" y="1752600"/>
            <a:ext cx="7772400" cy="4495800"/>
          </a:xfrm>
        </p:spPr>
        <p:txBody>
          <a:bodyPr/>
          <a:lstStyle/>
          <a:p>
            <a:pPr eaLnBrk="1" hangingPunct="1"/>
            <a:r>
              <a:rPr lang="en-GB" b="1" u="sng" dirty="0"/>
              <a:t>1</a:t>
            </a:r>
            <a:r>
              <a:rPr lang="en-GB" b="1" u="sng" baseline="30000" dirty="0"/>
              <a:t>st</a:t>
            </a:r>
            <a:r>
              <a:rPr lang="en-GB" b="1" u="sng" dirty="0"/>
              <a:t> term</a:t>
            </a:r>
            <a:r>
              <a:rPr lang="en-GB" dirty="0"/>
              <a:t>:</a:t>
            </a:r>
          </a:p>
          <a:p>
            <a:pPr eaLnBrk="1" hangingPunct="1"/>
            <a:r>
              <a:rPr lang="en-GB" dirty="0"/>
              <a:t>General introduction to commercial law; Scope of the Sale of Goods Act </a:t>
            </a:r>
          </a:p>
          <a:p>
            <a:pPr eaLnBrk="1" hangingPunct="1"/>
            <a:r>
              <a:rPr lang="en-GB" dirty="0"/>
              <a:t>1979 and overlap with Consumer Rights Act 2015; Delivery and Payment;</a:t>
            </a:r>
          </a:p>
          <a:p>
            <a:pPr eaLnBrk="1" hangingPunct="1"/>
            <a:r>
              <a:rPr lang="en-GB" dirty="0"/>
              <a:t>Meaning and Significance of Property and Risk; Non-Existent Goods at the</a:t>
            </a:r>
          </a:p>
          <a:p>
            <a:pPr eaLnBrk="1" hangingPunct="1"/>
            <a:r>
              <a:rPr lang="en-GB" dirty="0"/>
              <a:t>Date of the Contract; Post Contractual Loss of Goods and Other Forms of</a:t>
            </a:r>
          </a:p>
          <a:p>
            <a:pPr eaLnBrk="1" hangingPunct="1"/>
            <a:r>
              <a:rPr lang="en-GB" dirty="0"/>
              <a:t>Subsequent Impossibility; The Passing of Property; </a:t>
            </a:r>
            <a:r>
              <a:rPr lang="en-GB" i="1" dirty="0" err="1"/>
              <a:t>Nemo</a:t>
            </a:r>
            <a:r>
              <a:rPr lang="en-GB" i="1" dirty="0"/>
              <a:t> </a:t>
            </a:r>
            <a:r>
              <a:rPr lang="en-GB" i="1" dirty="0" err="1"/>
              <a:t>Dat</a:t>
            </a:r>
            <a:r>
              <a:rPr lang="en-GB" i="1" dirty="0"/>
              <a:t> Quod non</a:t>
            </a:r>
          </a:p>
          <a:p>
            <a:pPr eaLnBrk="1" hangingPunct="1"/>
            <a:r>
              <a:rPr lang="en-GB" i="1" dirty="0" err="1"/>
              <a:t>Habet</a:t>
            </a:r>
            <a:r>
              <a:rPr lang="en-GB" dirty="0"/>
              <a:t> and the exceptions to that principle. </a:t>
            </a:r>
            <a:r>
              <a:rPr lang="en-GB" b="1" dirty="0"/>
              <a:t>(Lectured by RJA and FLP)</a:t>
            </a:r>
          </a:p>
          <a:p>
            <a:pPr eaLnBrk="1" hangingPunct="1"/>
            <a:endParaRPr lang="en-GB" dirty="0"/>
          </a:p>
          <a:p>
            <a:pPr eaLnBrk="1" hangingPunct="1"/>
            <a:r>
              <a:rPr lang="en-GB" b="1" u="sng" dirty="0"/>
              <a:t>2</a:t>
            </a:r>
            <a:r>
              <a:rPr lang="en-GB" b="1" u="sng" baseline="30000" dirty="0"/>
              <a:t>nd</a:t>
            </a:r>
            <a:r>
              <a:rPr lang="en-GB" b="1" u="sng" dirty="0"/>
              <a:t> term</a:t>
            </a:r>
            <a:r>
              <a:rPr lang="en-GB" dirty="0"/>
              <a:t>:</a:t>
            </a:r>
          </a:p>
          <a:p>
            <a:pPr eaLnBrk="1" hangingPunct="1"/>
            <a:r>
              <a:rPr lang="en-GB" i="1" dirty="0"/>
              <a:t>Nemo </a:t>
            </a:r>
            <a:r>
              <a:rPr lang="en-GB" i="1" dirty="0" err="1"/>
              <a:t>Dat</a:t>
            </a:r>
            <a:r>
              <a:rPr lang="en-GB" i="1" dirty="0"/>
              <a:t> Quod non </a:t>
            </a:r>
            <a:r>
              <a:rPr lang="en-GB" i="1" dirty="0" err="1"/>
              <a:t>Habet</a:t>
            </a:r>
            <a:r>
              <a:rPr lang="en-GB" dirty="0"/>
              <a:t> and the exceptions to that principle; Terms </a:t>
            </a:r>
          </a:p>
          <a:p>
            <a:pPr eaLnBrk="1" hangingPunct="1"/>
            <a:r>
              <a:rPr lang="en-GB" dirty="0"/>
              <a:t>Implied by ss. 12-15 SGA 1979; Exclusion and Limitation </a:t>
            </a:r>
          </a:p>
          <a:p>
            <a:pPr eaLnBrk="1" hangingPunct="1"/>
            <a:r>
              <a:rPr lang="en-GB" dirty="0"/>
              <a:t>Clauses; The Remedies of the Buyer and the Seller.  </a:t>
            </a:r>
            <a:r>
              <a:rPr lang="en-GB" b="1" dirty="0"/>
              <a:t>(Lectured by RJA and LC)</a:t>
            </a:r>
          </a:p>
          <a:p>
            <a:pPr eaLnBrk="1" hangingPunct="1"/>
            <a:endParaRPr lang="en-GB" b="1" u="sng" dirty="0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0AEBE0F-E281-4F95-869D-97A583F0A10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GB">
                <a:solidFill>
                  <a:srgbClr val="7030A0"/>
                </a:solidFill>
              </a:rPr>
              <a:t>Today’s lecture subject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b="1" u="sng" dirty="0">
                <a:solidFill>
                  <a:srgbClr val="FF0000"/>
                </a:solidFill>
              </a:rPr>
              <a:t>Introduction to Commercial Law:</a:t>
            </a:r>
          </a:p>
          <a:p>
            <a:pPr eaLnBrk="1" hangingPunct="1"/>
            <a:endParaRPr lang="en-GB" b="1" dirty="0"/>
          </a:p>
          <a:p>
            <a:pPr eaLnBrk="1" hangingPunct="1">
              <a:buFontTx/>
              <a:buChar char="•"/>
            </a:pPr>
            <a:r>
              <a:rPr lang="en-GB" b="1" i="1" dirty="0"/>
              <a:t>Lex </a:t>
            </a:r>
            <a:r>
              <a:rPr lang="en-GB" b="1" i="1" dirty="0" err="1"/>
              <a:t>Mercatoria</a:t>
            </a:r>
            <a:r>
              <a:rPr lang="en-GB" b="1" i="1" dirty="0"/>
              <a:t> and English Commercial Law</a:t>
            </a:r>
          </a:p>
          <a:p>
            <a:pPr marL="0" indent="0" eaLnBrk="1" hangingPunct="1"/>
            <a:endParaRPr lang="en-GB" b="1" i="1" dirty="0"/>
          </a:p>
          <a:p>
            <a:pPr eaLnBrk="1" hangingPunct="1">
              <a:buFontTx/>
              <a:buChar char="•"/>
            </a:pPr>
            <a:r>
              <a:rPr lang="en-GB" b="1" i="1" dirty="0"/>
              <a:t>Principles of commercial law </a:t>
            </a:r>
            <a:endParaRPr lang="en-GB" i="1" dirty="0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B848C46-7144-460B-9EBD-56FC92B0AF7A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>
                <a:solidFill>
                  <a:srgbClr val="7030A0"/>
                </a:solidFill>
              </a:rPr>
              <a:t>Introduction to commercial law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684213" y="1524000"/>
            <a:ext cx="7772400" cy="4724400"/>
          </a:xfrm>
        </p:spPr>
        <p:txBody>
          <a:bodyPr/>
          <a:lstStyle/>
          <a:p>
            <a:pPr eaLnBrk="1" hangingPunct="1"/>
            <a:r>
              <a:rPr lang="en-GB" dirty="0"/>
              <a:t>1</a:t>
            </a:r>
            <a:r>
              <a:rPr lang="en-GB" u="sng" dirty="0"/>
              <a:t>. What is it?</a:t>
            </a:r>
          </a:p>
          <a:p>
            <a:pPr lvl="1" eaLnBrk="1" hangingPunct="1">
              <a:buFont typeface="Arial" charset="0"/>
              <a:buChar char="•"/>
            </a:pPr>
            <a:r>
              <a:rPr lang="en-GB" dirty="0"/>
              <a:t>A set of rules and principles that apply between merchants for contracts and relationships that are </a:t>
            </a:r>
            <a:r>
              <a:rPr lang="en-GB" u="sng" dirty="0">
                <a:solidFill>
                  <a:srgbClr val="FF0000"/>
                </a:solidFill>
              </a:rPr>
              <a:t>purely commercial in nature</a:t>
            </a:r>
            <a:r>
              <a:rPr lang="en-GB" dirty="0">
                <a:solidFill>
                  <a:srgbClr val="FF0000"/>
                </a:solidFill>
              </a:rPr>
              <a:t>.</a:t>
            </a:r>
          </a:p>
          <a:p>
            <a:pPr lvl="1" eaLnBrk="1" hangingPunct="1">
              <a:buFont typeface="Arial" charset="0"/>
              <a:buChar char="•"/>
            </a:pPr>
            <a:r>
              <a:rPr lang="en-GB" dirty="0"/>
              <a:t>It  deals with the rights and duties arising from the supply of goods and services in the way of trade.</a:t>
            </a:r>
          </a:p>
          <a:p>
            <a:pPr lvl="2" eaLnBrk="1" hangingPunct="1"/>
            <a:r>
              <a:rPr lang="en-GB" dirty="0"/>
              <a:t>For example, if a merchant purchases a TV for his household use, it is a consumer transaction. </a:t>
            </a:r>
          </a:p>
          <a:p>
            <a:pPr lvl="2" eaLnBrk="1" hangingPunct="1">
              <a:buFontTx/>
              <a:buNone/>
            </a:pPr>
            <a:endParaRPr lang="en-GB" dirty="0"/>
          </a:p>
          <a:p>
            <a:pPr eaLnBrk="1" hangingPunct="1"/>
            <a:r>
              <a:rPr lang="en-GB" dirty="0"/>
              <a:t>2</a:t>
            </a:r>
            <a:r>
              <a:rPr lang="en-GB" u="sng" dirty="0"/>
              <a:t>. Does it only encompass sale of goods?</a:t>
            </a:r>
          </a:p>
          <a:p>
            <a:pPr eaLnBrk="1" hangingPunct="1">
              <a:buFontTx/>
              <a:buChar char="•"/>
            </a:pPr>
            <a:r>
              <a:rPr lang="en-GB" dirty="0"/>
              <a:t>No, it also encompasses commercial agency, negotiable instruments (bills of exchange, bills of lading, cheques, promissory notes etc.), secured financing (security interests, fixed and floating charges etc.), conditional sale, hire-purchase, leasing, guarantees, factoring, carriage of goods by sea, rail or air, conflict of laws, international sales, arbitration. </a:t>
            </a:r>
          </a:p>
          <a:p>
            <a:pPr eaLnBrk="1" hangingPunct="1"/>
            <a:r>
              <a:rPr lang="en-GB" dirty="0"/>
              <a:t>3. Why is it important?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C2433E-4470-440D-B84A-A6DF0340324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i="1">
                <a:solidFill>
                  <a:srgbClr val="7030A0"/>
                </a:solidFill>
              </a:rPr>
              <a:t>Lex Mercatoria and English Commercial law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684213" y="1989138"/>
            <a:ext cx="7772400" cy="3954462"/>
          </a:xfrm>
        </p:spPr>
        <p:txBody>
          <a:bodyPr/>
          <a:lstStyle/>
          <a:p>
            <a:pPr eaLnBrk="1" hangingPunct="1"/>
            <a:r>
              <a:rPr lang="en-GB" dirty="0"/>
              <a:t>4</a:t>
            </a:r>
            <a:r>
              <a:rPr lang="en-GB" u="sng" dirty="0"/>
              <a:t>. </a:t>
            </a:r>
            <a:r>
              <a:rPr lang="en-GB" i="1" u="sng" dirty="0"/>
              <a:t>Law of Merchants </a:t>
            </a:r>
            <a:r>
              <a:rPr lang="en-GB" u="sng" dirty="0"/>
              <a:t>or </a:t>
            </a:r>
            <a:r>
              <a:rPr lang="en-GB" i="1" u="sng" dirty="0"/>
              <a:t>Law Merchant </a:t>
            </a:r>
          </a:p>
          <a:p>
            <a:pPr eaLnBrk="1" hangingPunct="1"/>
            <a:endParaRPr lang="en-GB" i="1" dirty="0"/>
          </a:p>
          <a:p>
            <a:pPr eaLnBrk="1" hangingPunct="1">
              <a:buFontTx/>
              <a:buChar char="•"/>
            </a:pPr>
            <a:r>
              <a:rPr lang="en-GB" dirty="0"/>
              <a:t>Customary dealings of merchants throughout Europe. Disputes between merchants from different towns, cities and countries were adjudicated in special courts in which judge and jury were also merchants. </a:t>
            </a:r>
          </a:p>
          <a:p>
            <a:pPr eaLnBrk="1" hangingPunct="1">
              <a:buFontTx/>
              <a:buChar char="•"/>
            </a:pPr>
            <a:r>
              <a:rPr lang="en-GB" dirty="0"/>
              <a:t>International trade law of the medieval ages.</a:t>
            </a:r>
          </a:p>
          <a:p>
            <a:pPr eaLnBrk="1" hangingPunct="1">
              <a:buFontTx/>
              <a:buChar char="•"/>
            </a:pPr>
            <a:r>
              <a:rPr lang="en-GB" dirty="0"/>
              <a:t>Rules were set by the merchants evolving from customs and trade usages. </a:t>
            </a:r>
          </a:p>
          <a:p>
            <a:pPr eaLnBrk="1" hangingPunct="1">
              <a:buFontTx/>
              <a:buChar char="•"/>
            </a:pPr>
            <a:r>
              <a:rPr lang="en-GB" dirty="0"/>
              <a:t>There was a reasonable degree of uniformity in the application of the law to merchants.</a:t>
            </a:r>
          </a:p>
          <a:p>
            <a:pPr eaLnBrk="1" hangingPunct="1">
              <a:buFontTx/>
              <a:buChar char="•"/>
            </a:pPr>
            <a:r>
              <a:rPr lang="en-GB" dirty="0"/>
              <a:t>There were merchant federations e.g. </a:t>
            </a:r>
            <a:r>
              <a:rPr lang="en-GB" i="1" dirty="0"/>
              <a:t>Hanseatic League (middle/modern age)</a:t>
            </a:r>
            <a:endParaRPr lang="en-GB" dirty="0"/>
          </a:p>
          <a:p>
            <a:pPr eaLnBrk="1" hangingPunct="1"/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D627D6-9B77-4919-8CAB-3829A5E6367A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i="1">
                <a:solidFill>
                  <a:srgbClr val="7030A0"/>
                </a:solidFill>
              </a:rPr>
              <a:t>Lex Mercatoria and English Commercial law</a:t>
            </a:r>
            <a:endParaRPr lang="en-GB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905000"/>
            <a:ext cx="7696200" cy="3962400"/>
          </a:xfrm>
        </p:spPr>
        <p:txBody>
          <a:bodyPr/>
          <a:lstStyle/>
          <a:p>
            <a:pPr>
              <a:defRPr/>
            </a:pPr>
            <a:endParaRPr lang="en-GB" dirty="0"/>
          </a:p>
          <a:p>
            <a:pPr>
              <a:defRPr/>
            </a:pPr>
            <a:r>
              <a:rPr lang="en-GB" dirty="0"/>
              <a:t>Reasons for </a:t>
            </a:r>
            <a:r>
              <a:rPr lang="en-GB" i="1" dirty="0"/>
              <a:t>lex mercatoria:</a:t>
            </a:r>
          </a:p>
          <a:p>
            <a:pPr>
              <a:defRPr/>
            </a:pPr>
            <a:r>
              <a:rPr lang="en-GB" i="1" dirty="0"/>
              <a:t>	a) trade was international;</a:t>
            </a:r>
          </a:p>
          <a:p>
            <a:pPr>
              <a:defRPr/>
            </a:pPr>
            <a:r>
              <a:rPr lang="en-GB" i="1" dirty="0"/>
              <a:t>	b) creation of fairs and markets which developed compatible laws throughout Europe</a:t>
            </a:r>
          </a:p>
          <a:p>
            <a:pPr>
              <a:defRPr/>
            </a:pPr>
            <a:endParaRPr lang="en-GB" i="1" dirty="0"/>
          </a:p>
          <a:p>
            <a:pPr>
              <a:defRPr/>
            </a:pPr>
            <a:endParaRPr lang="en-GB" i="1" dirty="0"/>
          </a:p>
          <a:p>
            <a:pPr>
              <a:defRPr/>
            </a:pPr>
            <a:r>
              <a:rPr lang="en-GB" dirty="0"/>
              <a:t>Common law principles differed from those of the </a:t>
            </a:r>
            <a:r>
              <a:rPr lang="en-GB" i="1" dirty="0"/>
              <a:t>lex mercatoria.</a:t>
            </a:r>
          </a:p>
          <a:p>
            <a:pPr lvl="1">
              <a:defRPr/>
            </a:pPr>
            <a:r>
              <a:rPr lang="en-GB" dirty="0">
                <a:ea typeface="+mn-ea"/>
                <a:cs typeface="+mn-cs"/>
              </a:rPr>
              <a:t>Consider the following: the bills of lading and bills of exchange (an order by one person to another to pay money) derived from lex </a:t>
            </a:r>
            <a:r>
              <a:rPr lang="en-GB" dirty="0" err="1">
                <a:ea typeface="+mn-ea"/>
                <a:cs typeface="+mn-cs"/>
              </a:rPr>
              <a:t>mercatoria</a:t>
            </a:r>
            <a:r>
              <a:rPr lang="en-GB" dirty="0">
                <a:ea typeface="+mn-ea"/>
                <a:cs typeface="+mn-cs"/>
              </a:rPr>
              <a:t> and was  incorporated by Holt and Mansfield JJ.  On the other hand, the rule that consideration for a promise should not be past consideration did not derive from lex </a:t>
            </a:r>
            <a:r>
              <a:rPr lang="en-GB" dirty="0" err="1">
                <a:ea typeface="+mn-ea"/>
                <a:cs typeface="+mn-cs"/>
              </a:rPr>
              <a:t>mercatoria</a:t>
            </a:r>
            <a:r>
              <a:rPr lang="en-GB" dirty="0">
                <a:ea typeface="+mn-ea"/>
                <a:cs typeface="+mn-cs"/>
              </a:rPr>
              <a:t> - it is a common law principle.</a:t>
            </a:r>
            <a:r>
              <a:rPr lang="en-GB" dirty="0"/>
              <a:t> </a:t>
            </a:r>
          </a:p>
          <a:p>
            <a:pPr lvl="1"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809BF3-81A8-497F-8F01-D758D51BA17D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4E9F96-B64D-40F7-A12D-3A215A6A474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13315" name="Rectangle 2"/>
          <p:cNvSpPr>
            <a:spLocks noChangeArrowheads="1"/>
          </p:cNvSpPr>
          <p:nvPr/>
        </p:nvSpPr>
        <p:spPr bwMode="auto">
          <a:xfrm>
            <a:off x="914400" y="1981200"/>
            <a:ext cx="7543800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u="sng" dirty="0"/>
              <a:t>15</a:t>
            </a:r>
            <a:r>
              <a:rPr lang="en-GB" u="sng" baseline="30000" dirty="0"/>
              <a:t>th</a:t>
            </a:r>
            <a:r>
              <a:rPr lang="en-GB" u="sng" dirty="0"/>
              <a:t> century statutes </a:t>
            </a:r>
            <a:r>
              <a:rPr lang="en-GB" dirty="0"/>
              <a:t>narrowed the jurisdiction of the special merchant </a:t>
            </a:r>
          </a:p>
          <a:p>
            <a:r>
              <a:rPr lang="en-GB" dirty="0"/>
              <a:t>courts to the area within the market and fairground.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In the </a:t>
            </a:r>
            <a:r>
              <a:rPr lang="en-GB" u="sng" dirty="0"/>
              <a:t>17</a:t>
            </a:r>
            <a:r>
              <a:rPr lang="en-GB" u="sng" baseline="30000" dirty="0"/>
              <a:t>th</a:t>
            </a:r>
            <a:r>
              <a:rPr lang="en-GB" u="sng" dirty="0"/>
              <a:t> century </a:t>
            </a:r>
            <a:r>
              <a:rPr lang="en-GB" dirty="0"/>
              <a:t>Coke LCJ brought all law under the control of common law courts. These courts did not adopt </a:t>
            </a:r>
            <a:r>
              <a:rPr lang="en-GB" i="1" dirty="0" err="1"/>
              <a:t>lex</a:t>
            </a:r>
            <a:r>
              <a:rPr lang="en-GB" i="1" dirty="0"/>
              <a:t> </a:t>
            </a:r>
            <a:r>
              <a:rPr lang="en-GB" i="1" dirty="0" err="1"/>
              <a:t>mercatoria</a:t>
            </a:r>
            <a:r>
              <a:rPr lang="en-GB" dirty="0"/>
              <a:t> rules.</a:t>
            </a:r>
          </a:p>
        </p:txBody>
      </p:sp>
      <p:sp>
        <p:nvSpPr>
          <p:cNvPr id="13316" name="Rectangle 3"/>
          <p:cNvSpPr>
            <a:spLocks noChangeArrowheads="1"/>
          </p:cNvSpPr>
          <p:nvPr/>
        </p:nvSpPr>
        <p:spPr bwMode="auto">
          <a:xfrm>
            <a:off x="914400" y="457200"/>
            <a:ext cx="7010400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4000" i="1">
                <a:solidFill>
                  <a:srgbClr val="7030A0"/>
                </a:solidFill>
              </a:rPr>
              <a:t>Lex Mercatoria and English Commercial law</a:t>
            </a:r>
            <a:endParaRPr lang="en-GB" sz="400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i="1">
                <a:solidFill>
                  <a:srgbClr val="7030A0"/>
                </a:solidFill>
              </a:rPr>
              <a:t>Lex Mercatoria and English Commercial law</a:t>
            </a:r>
            <a:endParaRPr lang="en-GB">
              <a:solidFill>
                <a:srgbClr val="7030A0"/>
              </a:solidFill>
            </a:endParaRP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684213" y="1828800"/>
            <a:ext cx="7772400" cy="3976688"/>
          </a:xfrm>
        </p:spPr>
        <p:txBody>
          <a:bodyPr/>
          <a:lstStyle/>
          <a:p>
            <a:pPr algn="just">
              <a:buFontTx/>
              <a:buChar char="•"/>
            </a:pPr>
            <a:r>
              <a:rPr lang="en-GB" dirty="0"/>
              <a:t>Common law courts were not satisfactory in resolving specialist merchant disputes hence the creation of specialist dispute resolution mechanisms.</a:t>
            </a:r>
          </a:p>
          <a:p>
            <a:pPr algn="just"/>
            <a:endParaRPr lang="en-GB" dirty="0"/>
          </a:p>
          <a:p>
            <a:pPr algn="just">
              <a:buFontTx/>
              <a:buChar char="•"/>
            </a:pPr>
            <a:r>
              <a:rPr lang="en-GB" dirty="0"/>
              <a:t>Holt and Mansfield LCJ developed a coherent body of law which incorporated </a:t>
            </a:r>
            <a:r>
              <a:rPr lang="en-GB" i="1" dirty="0" err="1"/>
              <a:t>lex</a:t>
            </a:r>
            <a:r>
              <a:rPr lang="en-GB" i="1" dirty="0"/>
              <a:t> </a:t>
            </a:r>
            <a:r>
              <a:rPr lang="en-GB" i="1" dirty="0" err="1"/>
              <a:t>mercatoria</a:t>
            </a:r>
            <a:r>
              <a:rPr lang="en-GB" i="1" dirty="0"/>
              <a:t> </a:t>
            </a:r>
            <a:r>
              <a:rPr lang="en-GB" dirty="0"/>
              <a:t>rules into the common law. Special courts and juries were established from merchants who were knowledgeable in customs and trade usages of merchants. Trade usages were accepted as evidence.</a:t>
            </a:r>
          </a:p>
          <a:p>
            <a:pPr algn="just"/>
            <a:endParaRPr lang="en-GB" dirty="0"/>
          </a:p>
          <a:p>
            <a:pPr algn="just">
              <a:buFontTx/>
              <a:buChar char="•"/>
            </a:pPr>
            <a:r>
              <a:rPr lang="en-GB" dirty="0"/>
              <a:t>In the </a:t>
            </a:r>
            <a:r>
              <a:rPr lang="en-GB" u="sng" dirty="0"/>
              <a:t>19</a:t>
            </a:r>
            <a:r>
              <a:rPr lang="en-GB" u="sng" baseline="30000" dirty="0"/>
              <a:t>th</a:t>
            </a:r>
            <a:r>
              <a:rPr lang="en-GB" u="sng" dirty="0"/>
              <a:t> century </a:t>
            </a:r>
            <a:r>
              <a:rPr lang="en-GB" dirty="0"/>
              <a:t>customs, trade usages and mercantile usage became an aspect of the contract. They came to represent the intention of the parties.</a:t>
            </a:r>
          </a:p>
          <a:p>
            <a:pPr algn="just">
              <a:buFontTx/>
              <a:buChar char="•"/>
            </a:pP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D9D136-F1FB-4503-949C-15AFB7ED7B1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i="1">
                <a:solidFill>
                  <a:srgbClr val="7030A0"/>
                </a:solidFill>
              </a:rPr>
              <a:t>Lex Mercatoria and English Commercial law</a:t>
            </a:r>
            <a:endParaRPr lang="en-GB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  <a:defRPr/>
            </a:pPr>
            <a:r>
              <a:rPr lang="en-GB" dirty="0"/>
              <a:t>The synthesis of English Common Law and </a:t>
            </a:r>
            <a:r>
              <a:rPr lang="en-GB" i="1" dirty="0"/>
              <a:t>Lex Mercatoria</a:t>
            </a:r>
            <a:r>
              <a:rPr lang="en-GB" dirty="0"/>
              <a:t> was completed at the end of 19</a:t>
            </a:r>
            <a:r>
              <a:rPr lang="en-GB" baseline="30000" dirty="0"/>
              <a:t>th</a:t>
            </a:r>
            <a:r>
              <a:rPr lang="en-GB" dirty="0"/>
              <a:t> century and Sale of Goods Act 1893 is a product of this synthesis. This is also reflected in the SGA 1979: </a:t>
            </a:r>
            <a:r>
              <a:rPr lang="en-GB" i="1" dirty="0"/>
              <a:t>see   </a:t>
            </a:r>
            <a:r>
              <a:rPr lang="en-GB" dirty="0">
                <a:solidFill>
                  <a:srgbClr val="FF0000"/>
                </a:solidFill>
              </a:rPr>
              <a:t>s. 62(2)</a:t>
            </a:r>
            <a:r>
              <a:rPr lang="en-GB" dirty="0"/>
              <a:t>.</a:t>
            </a:r>
          </a:p>
          <a:p>
            <a:pPr>
              <a:defRPr/>
            </a:pPr>
            <a:endParaRPr lang="en-GB" dirty="0"/>
          </a:p>
          <a:p>
            <a:pPr>
              <a:buFont typeface="Arial" pitchFamily="34" charset="0"/>
              <a:buChar char="•"/>
              <a:defRPr/>
            </a:pPr>
            <a:r>
              <a:rPr lang="en-GB" dirty="0"/>
              <a:t>20</a:t>
            </a:r>
            <a:r>
              <a:rPr lang="en-GB" baseline="30000" dirty="0"/>
              <a:t>th</a:t>
            </a:r>
            <a:r>
              <a:rPr lang="en-GB" dirty="0"/>
              <a:t> century </a:t>
            </a:r>
            <a:r>
              <a:rPr lang="en-GB" i="1" dirty="0"/>
              <a:t>lex mercatoria</a:t>
            </a:r>
            <a:r>
              <a:rPr lang="en-GB" dirty="0"/>
              <a:t>: UNCITRAL, Unidroit and other international agencies’ conventions and principles. For example,  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GB" dirty="0">
                <a:ea typeface="+mn-ea"/>
                <a:cs typeface="+mn-cs"/>
              </a:rPr>
              <a:t>Convention on Contracts for the International Sale of Goods (Vienna Sales Convention)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GB" dirty="0">
                <a:ea typeface="+mn-ea"/>
                <a:cs typeface="+mn-cs"/>
              </a:rPr>
              <a:t>Principles of European Contract Law (PECL)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GB" dirty="0">
                <a:ea typeface="+mn-ea"/>
                <a:cs typeface="+mn-cs"/>
              </a:rPr>
              <a:t>Unidroit Principles of International Commercial Contracts </a:t>
            </a:r>
          </a:p>
          <a:p>
            <a:pPr lvl="1">
              <a:buFont typeface="Arial" pitchFamily="34" charset="0"/>
              <a:buChar char="•"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C42AF-6E9D-4784-8300-8E07E86E9307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7030A0"/>
                </a:solidFill>
              </a:rPr>
              <a:t>Principles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684213" y="1676400"/>
            <a:ext cx="7772400" cy="4129088"/>
          </a:xfrm>
        </p:spPr>
        <p:txBody>
          <a:bodyPr/>
          <a:lstStyle/>
          <a:p>
            <a:pPr>
              <a:buFontTx/>
              <a:buAutoNum type="arabicPeriod" startAt="5"/>
            </a:pPr>
            <a:r>
              <a:rPr lang="en-GB" dirty="0"/>
              <a:t>Commercial law focuses on the commercial sense and awareness of the parties to a commercial contract. Thus the rules and principles reflect the needs of the business community.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It is important to have clearly defined rules so that they can influence the </a:t>
            </a:r>
          </a:p>
          <a:p>
            <a:r>
              <a:rPr lang="en-GB" dirty="0"/>
              <a:t>behaviour of different parties to the process. Thus it is important to adopt a </a:t>
            </a:r>
          </a:p>
          <a:p>
            <a:r>
              <a:rPr lang="en-GB" dirty="0"/>
              <a:t>transactional rather than bilateral contractual approach. 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BFEB8B-1BE9-4122-BB48-B2BF36B78539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2057400" y="609600"/>
            <a:ext cx="9448800" cy="198438"/>
          </a:xfrm>
        </p:spPr>
        <p:txBody>
          <a:bodyPr/>
          <a:lstStyle/>
          <a:p>
            <a:r>
              <a:rPr lang="en-GB">
                <a:solidFill>
                  <a:srgbClr val="7030A0"/>
                </a:solidFill>
              </a:rPr>
              <a:t>Principles (continued)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684213" y="1066800"/>
            <a:ext cx="7772400" cy="4953000"/>
          </a:xfrm>
        </p:spPr>
        <p:txBody>
          <a:bodyPr/>
          <a:lstStyle/>
          <a:p>
            <a:r>
              <a:rPr lang="en-GB" u="sng" dirty="0"/>
              <a:t>Sanctity of contract</a:t>
            </a:r>
          </a:p>
          <a:p>
            <a:endParaRPr lang="en-GB" sz="1400" u="sng" dirty="0"/>
          </a:p>
          <a:p>
            <a:pPr lvl="2"/>
            <a:r>
              <a:rPr lang="en-GB" dirty="0"/>
              <a:t>A party to a commercial contract should be entitled to the benefit of his bargain and to the strict performance of the conditions of the contract.</a:t>
            </a:r>
          </a:p>
          <a:p>
            <a:pPr lvl="2">
              <a:buFontTx/>
              <a:buNone/>
            </a:pPr>
            <a:endParaRPr lang="en-GB" dirty="0"/>
          </a:p>
          <a:p>
            <a:pPr lvl="2">
              <a:buFontTx/>
              <a:buNone/>
            </a:pPr>
            <a:r>
              <a:rPr lang="en-GB" b="1" u="sng" dirty="0"/>
              <a:t>BUT:</a:t>
            </a:r>
          </a:p>
          <a:p>
            <a:pPr lvl="3"/>
            <a:r>
              <a:rPr lang="en-GB" sz="1400" i="1" dirty="0"/>
              <a:t>Cf. </a:t>
            </a:r>
            <a:r>
              <a:rPr lang="en-GB" sz="1400" dirty="0"/>
              <a:t>Consumer Credit Act 1974, Unfair Contract Terms Act 1977 – contractual terms may not be strictly enforced if the contract contains unfair terms.</a:t>
            </a:r>
          </a:p>
          <a:p>
            <a:pPr lvl="3">
              <a:buFontTx/>
              <a:buNone/>
            </a:pPr>
            <a:endParaRPr lang="en-GB" sz="1400" dirty="0"/>
          </a:p>
          <a:p>
            <a:pPr lvl="3"/>
            <a:r>
              <a:rPr lang="en-GB" sz="1400" dirty="0"/>
              <a:t>Privity of contract prevents enforcement of a benefit by a 3</a:t>
            </a:r>
            <a:r>
              <a:rPr lang="en-GB" sz="1400" baseline="30000" dirty="0"/>
              <a:t>rd</a:t>
            </a:r>
            <a:r>
              <a:rPr lang="en-GB" sz="1400" dirty="0"/>
              <a:t> party beneficiary but it is inconsistent with financial leasing for example.  So,  it is now possible for parties to insert a simple clause into the contract giving the 3</a:t>
            </a:r>
            <a:r>
              <a:rPr lang="en-GB" sz="1400" baseline="30000" dirty="0"/>
              <a:t>rd</a:t>
            </a:r>
            <a:r>
              <a:rPr lang="en-GB" sz="1400" dirty="0"/>
              <a:t> party a right of action. </a:t>
            </a:r>
          </a:p>
          <a:p>
            <a:endParaRPr lang="en-GB" sz="1400" dirty="0"/>
          </a:p>
          <a:p>
            <a:r>
              <a:rPr lang="en-GB" u="sng" dirty="0"/>
              <a:t>Good faith</a:t>
            </a:r>
          </a:p>
          <a:p>
            <a:endParaRPr lang="en-GB" sz="1400" u="sng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dirty="0"/>
              <a:t>Mainly a civil law concept. But it can also be found in the  American Uniform Commercial Code (‘</a:t>
            </a:r>
            <a:r>
              <a:rPr lang="en-GB" sz="1400" i="1" dirty="0"/>
              <a:t>good faith’, ‘commercial reasonableness’, unconscionability’) </a:t>
            </a:r>
          </a:p>
          <a:p>
            <a:pPr lvl="2"/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FA54DF-38D7-4E9D-B61C-BC23A436AC75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>
                <a:solidFill>
                  <a:srgbClr val="7030A0"/>
                </a:solidFill>
              </a:rPr>
              <a:t>Principles (continued)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u="sng" dirty="0"/>
              <a:t>Facilitation of the creation of security interests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Rules on the creation of security interests over the assets of the borrower (debtor) need to be clear. This is beneficial for both the lenders (creditors) and borrowers (debtors). </a:t>
            </a:r>
          </a:p>
          <a:p>
            <a:r>
              <a:rPr lang="en-GB" dirty="0"/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Secured credit expands the credit available to the debtor (banks lend to businesses). The debtor may be able to use this credit to expand the business – this is good for commerce more generally.</a:t>
            </a:r>
            <a:endParaRPr lang="en-GB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5F7D29-9353-4222-ADA6-9175A9324FF4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>
                <a:solidFill>
                  <a:srgbClr val="7030A0"/>
                </a:solidFill>
              </a:rPr>
              <a:t>Principles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3" y="1524000"/>
            <a:ext cx="7772400" cy="4800600"/>
          </a:xfrm>
        </p:spPr>
        <p:txBody>
          <a:bodyPr/>
          <a:lstStyle/>
          <a:p>
            <a:pPr>
              <a:defRPr/>
            </a:pPr>
            <a:r>
              <a:rPr lang="en-GB" u="sng" dirty="0"/>
              <a:t>The </a:t>
            </a:r>
            <a:r>
              <a:rPr lang="en-GB" u="sng" dirty="0" err="1"/>
              <a:t>Conveyancing</a:t>
            </a:r>
            <a:r>
              <a:rPr lang="en-GB" u="sng" dirty="0"/>
              <a:t> principles and ordering of priorities</a:t>
            </a:r>
          </a:p>
          <a:p>
            <a:pPr>
              <a:defRPr/>
            </a:pPr>
            <a:r>
              <a:rPr lang="en-GB" dirty="0"/>
              <a:t>Three principles prevail between competing claimants: security of property, </a:t>
            </a:r>
          </a:p>
          <a:p>
            <a:pPr>
              <a:defRPr/>
            </a:pPr>
            <a:r>
              <a:rPr lang="en-GB" dirty="0"/>
              <a:t>good faith purchase, and ostensible ownership. </a:t>
            </a:r>
          </a:p>
          <a:p>
            <a:pPr>
              <a:defRPr/>
            </a:pPr>
            <a:endParaRPr lang="en-GB" dirty="0"/>
          </a:p>
          <a:p>
            <a:pPr>
              <a:buFont typeface="Arial" pitchFamily="34" charset="0"/>
              <a:buChar char="•"/>
              <a:defRPr/>
            </a:pPr>
            <a:r>
              <a:rPr lang="en-GB" b="1" dirty="0"/>
              <a:t>Security of property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GB" dirty="0">
                <a:ea typeface="+mn-ea"/>
                <a:cs typeface="+mn-cs"/>
              </a:rPr>
              <a:t>First in time rule at law (</a:t>
            </a:r>
            <a:r>
              <a:rPr lang="en-GB" i="1" dirty="0" err="1">
                <a:ea typeface="+mn-ea"/>
                <a:cs typeface="+mn-cs"/>
              </a:rPr>
              <a:t>Nemo</a:t>
            </a:r>
            <a:r>
              <a:rPr lang="en-GB" i="1" dirty="0">
                <a:ea typeface="+mn-ea"/>
                <a:cs typeface="+mn-cs"/>
              </a:rPr>
              <a:t> </a:t>
            </a:r>
            <a:r>
              <a:rPr lang="en-GB" i="1" dirty="0" err="1">
                <a:ea typeface="+mn-ea"/>
                <a:cs typeface="+mn-cs"/>
              </a:rPr>
              <a:t>dat</a:t>
            </a:r>
            <a:r>
              <a:rPr lang="en-GB" i="1" dirty="0">
                <a:ea typeface="+mn-ea"/>
                <a:cs typeface="+mn-cs"/>
              </a:rPr>
              <a:t> quod non </a:t>
            </a:r>
            <a:r>
              <a:rPr lang="en-GB" i="1" dirty="0" err="1">
                <a:ea typeface="+mn-ea"/>
                <a:cs typeface="+mn-cs"/>
              </a:rPr>
              <a:t>habet</a:t>
            </a:r>
            <a:r>
              <a:rPr lang="en-GB" i="1" dirty="0">
                <a:ea typeface="+mn-ea"/>
                <a:cs typeface="+mn-cs"/>
              </a:rPr>
              <a:t>) </a:t>
            </a:r>
            <a:r>
              <a:rPr lang="en-GB" dirty="0">
                <a:ea typeface="+mn-ea"/>
                <a:cs typeface="+mn-cs"/>
              </a:rPr>
              <a:t>has an equitable partner that is </a:t>
            </a:r>
            <a:r>
              <a:rPr lang="en-GB" i="1" dirty="0">
                <a:ea typeface="+mn-ea"/>
                <a:cs typeface="+mn-cs"/>
              </a:rPr>
              <a:t>qui prior </a:t>
            </a:r>
            <a:r>
              <a:rPr lang="en-GB" i="1" dirty="0" err="1">
                <a:ea typeface="+mn-ea"/>
                <a:cs typeface="+mn-cs"/>
              </a:rPr>
              <a:t>est</a:t>
            </a:r>
            <a:r>
              <a:rPr lang="en-GB" i="1" dirty="0">
                <a:ea typeface="+mn-ea"/>
                <a:cs typeface="+mn-cs"/>
              </a:rPr>
              <a:t> tempore </a:t>
            </a:r>
            <a:r>
              <a:rPr lang="en-GB" i="1" dirty="0" err="1">
                <a:ea typeface="+mn-ea"/>
                <a:cs typeface="+mn-cs"/>
              </a:rPr>
              <a:t>potior</a:t>
            </a:r>
            <a:r>
              <a:rPr lang="en-GB" i="1" dirty="0">
                <a:ea typeface="+mn-ea"/>
                <a:cs typeface="+mn-cs"/>
              </a:rPr>
              <a:t> </a:t>
            </a:r>
            <a:r>
              <a:rPr lang="en-GB" i="1" dirty="0" err="1">
                <a:ea typeface="+mn-ea"/>
                <a:cs typeface="+mn-cs"/>
              </a:rPr>
              <a:t>est</a:t>
            </a:r>
            <a:r>
              <a:rPr lang="en-GB" i="1" dirty="0">
                <a:ea typeface="+mn-ea"/>
                <a:cs typeface="+mn-cs"/>
              </a:rPr>
              <a:t> jure. </a:t>
            </a:r>
            <a:endParaRPr lang="en-GB" dirty="0">
              <a:ea typeface="+mn-ea"/>
              <a:cs typeface="+mn-cs"/>
            </a:endParaRPr>
          </a:p>
          <a:p>
            <a:pPr>
              <a:defRPr/>
            </a:pPr>
            <a:r>
              <a:rPr lang="en-GB" i="1" dirty="0"/>
              <a:t>		Phillips v Phillips </a:t>
            </a:r>
            <a:r>
              <a:rPr lang="en-GB" dirty="0"/>
              <a:t>(1861) 4 De G F &amp; J208, at 215: the transferor 	disposes of only that to which he is justly entitled.</a:t>
            </a:r>
          </a:p>
          <a:p>
            <a:pPr>
              <a:defRPr/>
            </a:pPr>
            <a:endParaRPr lang="en-GB" b="1" dirty="0"/>
          </a:p>
          <a:p>
            <a:pPr>
              <a:buFont typeface="Arial" pitchFamily="34" charset="0"/>
              <a:buChar char="•"/>
              <a:defRPr/>
            </a:pPr>
            <a:r>
              <a:rPr lang="x-none" b="1" dirty="0"/>
              <a:t>The good faith purchaser</a:t>
            </a:r>
            <a:endParaRPr lang="en-GB" b="1" dirty="0"/>
          </a:p>
          <a:p>
            <a:pPr lvl="1">
              <a:buFont typeface="Arial" pitchFamily="34" charset="0"/>
              <a:buChar char="•"/>
              <a:defRPr/>
            </a:pPr>
            <a:r>
              <a:rPr lang="en-GB" dirty="0"/>
              <a:t>Statutory exceptions to the </a:t>
            </a:r>
            <a:r>
              <a:rPr lang="en-GB" i="1" dirty="0" err="1"/>
              <a:t>Nemo</a:t>
            </a:r>
            <a:r>
              <a:rPr lang="en-GB" i="1" dirty="0"/>
              <a:t> </a:t>
            </a:r>
            <a:r>
              <a:rPr lang="en-GB" i="1" dirty="0" err="1"/>
              <a:t>Dat</a:t>
            </a:r>
            <a:r>
              <a:rPr lang="en-GB" i="1" dirty="0"/>
              <a:t> </a:t>
            </a:r>
            <a:r>
              <a:rPr lang="en-GB" dirty="0"/>
              <a:t>rule (</a:t>
            </a:r>
            <a:r>
              <a:rPr lang="en-GB" i="1" dirty="0"/>
              <a:t>i.e. </a:t>
            </a:r>
            <a:r>
              <a:rPr lang="en-GB" dirty="0"/>
              <a:t>dispositions by a mercantile agent, by a seller or buyer in possession and by a buyer or hirer holding a motor vehicle under a hire purchase or conditional sale agreement).</a:t>
            </a:r>
            <a:endParaRPr lang="en-GB" dirty="0">
              <a:ea typeface="+mn-ea"/>
              <a:cs typeface="+mn-cs"/>
            </a:endParaRPr>
          </a:p>
          <a:p>
            <a:pPr>
              <a:defRPr/>
            </a:pPr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5ADB89-4508-4F9A-B6C1-81CA7504B297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algn="ctr"/>
            <a:r>
              <a:rPr lang="en-GB" dirty="0">
                <a:solidFill>
                  <a:srgbClr val="7030A0"/>
                </a:solidFill>
              </a:rPr>
              <a:t>Principles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3" y="1295400"/>
            <a:ext cx="7772400" cy="4876800"/>
          </a:xfrm>
        </p:spPr>
        <p:txBody>
          <a:bodyPr/>
          <a:lstStyle/>
          <a:p>
            <a:pPr lvl="1">
              <a:buNone/>
              <a:defRPr/>
            </a:pPr>
            <a:r>
              <a:rPr lang="en-GB" sz="2400" b="1" u="sng" dirty="0">
                <a:ea typeface="+mn-ea"/>
                <a:cs typeface="+mn-cs"/>
              </a:rPr>
              <a:t>Ostensible ownership</a:t>
            </a:r>
          </a:p>
          <a:p>
            <a:pPr lvl="1">
              <a:buNone/>
              <a:defRPr/>
            </a:pPr>
            <a:endParaRPr lang="en-GB" sz="2400" b="1" dirty="0">
              <a:ea typeface="+mn-ea"/>
              <a:cs typeface="+mn-cs"/>
            </a:endParaRPr>
          </a:p>
          <a:p>
            <a:pPr lvl="1">
              <a:buFont typeface="Arial" pitchFamily="34" charset="0"/>
              <a:buChar char="•"/>
              <a:defRPr/>
            </a:pPr>
            <a:r>
              <a:rPr lang="x-none" sz="2400" b="1" dirty="0">
                <a:ea typeface="+mn-ea"/>
                <a:cs typeface="+mn-cs"/>
              </a:rPr>
              <a:t>Estoppel</a:t>
            </a:r>
            <a:endParaRPr lang="en-GB" sz="2400" b="1" dirty="0">
              <a:ea typeface="+mn-ea"/>
              <a:cs typeface="+mn-cs"/>
            </a:endParaRPr>
          </a:p>
          <a:p>
            <a:pPr>
              <a:defRPr/>
            </a:pPr>
            <a:r>
              <a:rPr lang="en-GB" sz="2400" dirty="0"/>
              <a:t>	This is a representation made by the owner to the third party that the non-owner may lawfully make the disposition in question. The non-owner is acting within his authority as agent. </a:t>
            </a:r>
            <a:r>
              <a:rPr lang="en-GB" sz="2400" dirty="0">
                <a:solidFill>
                  <a:srgbClr val="FF0000"/>
                </a:solidFill>
              </a:rPr>
              <a:t>(</a:t>
            </a:r>
            <a:r>
              <a:rPr lang="en-GB" sz="2400" b="1" dirty="0">
                <a:solidFill>
                  <a:srgbClr val="FF0000"/>
                </a:solidFill>
              </a:rPr>
              <a:t>s. 21 SGA 1979</a:t>
            </a:r>
            <a:r>
              <a:rPr lang="en-GB" sz="2400" dirty="0">
                <a:solidFill>
                  <a:srgbClr val="FF0000"/>
                </a:solidFill>
              </a:rPr>
              <a:t>)</a:t>
            </a:r>
          </a:p>
          <a:p>
            <a:pPr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A35841-121B-4D6A-8874-71DDC3AE070B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u="sng" dirty="0">
                <a:solidFill>
                  <a:srgbClr val="7030A0"/>
                </a:solidFill>
              </a:rPr>
              <a:t>Next week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	</a:t>
            </a:r>
            <a:r>
              <a:rPr lang="en-GB" sz="2800" b="1" dirty="0"/>
              <a:t>Legislation, Basic Concepts:  The Scope of the Sale of Goods Act 1979 and an overview of the Consumer Rights Act 2015</a:t>
            </a:r>
            <a:endParaRPr lang="en-GB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27E694-B481-47E2-9F67-A67C354F49F2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A4B24C251BCD4291F2C2F3A608C810" ma:contentTypeVersion="9" ma:contentTypeDescription="Create a new document." ma:contentTypeScope="" ma:versionID="72b3ce0b9445f479dcd63669a849f70a">
  <xsd:schema xmlns:xsd="http://www.w3.org/2001/XMLSchema" xmlns:xs="http://www.w3.org/2001/XMLSchema" xmlns:p="http://schemas.microsoft.com/office/2006/metadata/properties" xmlns:ns3="3cc0b812-7f7d-4aca-acca-000f424f7da7" xmlns:ns4="6bff29df-e80b-4a73-953f-e802c634e429" targetNamespace="http://schemas.microsoft.com/office/2006/metadata/properties" ma:root="true" ma:fieldsID="90c94a25cb4c1a2cd21c07d5eefe7aa2" ns3:_="" ns4:_="">
    <xsd:import namespace="3cc0b812-7f7d-4aca-acca-000f424f7da7"/>
    <xsd:import namespace="6bff29df-e80b-4a73-953f-e802c634e42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c0b812-7f7d-4aca-acca-000f424f7d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f29df-e80b-4a73-953f-e802c634e42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F9F1382-D74D-4006-8B4E-8DC70F546B9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67F995B-F11C-438F-8295-C947998296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cc0b812-7f7d-4aca-acca-000f424f7da7"/>
    <ds:schemaRef ds:uri="6bff29df-e80b-4a73-953f-e802c634e42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667DB81-5F05-47DC-956D-484DA1D50EB8}">
  <ds:schemaRefs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6bff29df-e80b-4a73-953f-e802c634e429"/>
    <ds:schemaRef ds:uri="http://www.w3.org/XML/1998/namespace"/>
    <ds:schemaRef ds:uri="http://schemas.microsoft.com/office/2006/documentManagement/types"/>
    <ds:schemaRef ds:uri="3cc0b812-7f7d-4aca-acca-000f424f7da7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536</TotalTime>
  <Words>1670</Words>
  <Application>Microsoft Office PowerPoint</Application>
  <PresentationFormat>On-screen Show (4:3)</PresentationFormat>
  <Paragraphs>174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Palatino Linotype</vt:lpstr>
      <vt:lpstr>Times</vt:lpstr>
      <vt:lpstr>Theme1</vt:lpstr>
      <vt:lpstr>Commercial Law (Law 2241)</vt:lpstr>
      <vt:lpstr>GENERAL INFORMATION</vt:lpstr>
      <vt:lpstr>GENERAL INFORMATION</vt:lpstr>
      <vt:lpstr>GENERAL INFORMATION</vt:lpstr>
      <vt:lpstr>GENERAL INFORMATION</vt:lpstr>
      <vt:lpstr>Overview of topics to be  covered this year</vt:lpstr>
      <vt:lpstr>Today’s lecture subject</vt:lpstr>
      <vt:lpstr>Introduction to commercial law</vt:lpstr>
      <vt:lpstr>Lex Mercatoria and English Commercial law</vt:lpstr>
      <vt:lpstr>Lex Mercatoria and English Commercial law</vt:lpstr>
      <vt:lpstr>PowerPoint Presentation</vt:lpstr>
      <vt:lpstr>Lex Mercatoria and English Commercial law</vt:lpstr>
      <vt:lpstr>Lex Mercatoria and English Commercial law</vt:lpstr>
      <vt:lpstr>Principles</vt:lpstr>
      <vt:lpstr>Principles (continued)</vt:lpstr>
      <vt:lpstr>Principles (continued)</vt:lpstr>
      <vt:lpstr>Principles (continued)</vt:lpstr>
      <vt:lpstr>Principles (continued)</vt:lpstr>
      <vt:lpstr>Next week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Rachel</dc:creator>
  <cp:lastModifiedBy>AVERY, RACHEL J.</cp:lastModifiedBy>
  <cp:revision>135</cp:revision>
  <dcterms:created xsi:type="dcterms:W3CDTF">2006-08-16T00:00:00Z</dcterms:created>
  <dcterms:modified xsi:type="dcterms:W3CDTF">2024-09-10T14:57:06Z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0x01010009A4B24C251BCD4291F2C2F3A608C810</vt:lpwstr>
  </property>
</Properties>
</file>