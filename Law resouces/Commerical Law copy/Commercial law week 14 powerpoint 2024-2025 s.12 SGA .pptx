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8" r:id="rId6"/>
    <p:sldId id="273" r:id="rId7"/>
    <p:sldId id="262" r:id="rId8"/>
    <p:sldId id="263" r:id="rId9"/>
    <p:sldId id="265" r:id="rId10"/>
    <p:sldId id="266" r:id="rId11"/>
    <p:sldId id="268" r:id="rId12"/>
    <p:sldId id="270" r:id="rId13"/>
    <p:sldId id="271" r:id="rId14"/>
    <p:sldId id="272" r:id="rId15"/>
    <p:sldId id="274" r:id="rId16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3447" autoAdjust="0"/>
  </p:normalViewPr>
  <p:slideViewPr>
    <p:cSldViewPr>
      <p:cViewPr varScale="1">
        <p:scale>
          <a:sx n="63" d="100"/>
          <a:sy n="63" d="100"/>
        </p:scale>
        <p:origin x="186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C01AB-3768-4EE7-9A8F-A31939E0E365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67C21-5DE1-46E5-8980-9DCA67AEA3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858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67C21-5DE1-46E5-8980-9DCA67AEA325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9768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67C21-5DE1-46E5-8980-9DCA67AEA32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720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67C21-5DE1-46E5-8980-9DCA67AEA32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486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67C21-5DE1-46E5-8980-9DCA67AEA32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451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67C21-5DE1-46E5-8980-9DCA67AEA32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727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67C21-5DE1-46E5-8980-9DCA67AEA325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997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67C21-5DE1-46E5-8980-9DCA67AEA325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230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67C21-5DE1-46E5-8980-9DCA67AEA325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176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67C21-5DE1-46E5-8980-9DCA67AEA325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95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67C21-5DE1-46E5-8980-9DCA67AEA325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251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67C21-5DE1-46E5-8980-9DCA67AEA325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356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67C21-5DE1-46E5-8980-9DCA67AEA325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339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771B7-A684-4537-9673-9E80BE68154E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32B5-451E-4C2B-93BF-7B455DECF1F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09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3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771B7-A684-4537-9673-9E80BE68154E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32B5-451E-4C2B-93BF-7B455DECF1F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8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1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55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771B7-A684-4537-9673-9E80BE68154E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A32B5-451E-4C2B-93BF-7B455DECF1F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50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62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2761940"/>
            <a:ext cx="7772400" cy="1470025"/>
          </a:xfrm>
        </p:spPr>
        <p:txBody>
          <a:bodyPr/>
          <a:lstStyle/>
          <a:p>
            <a:r>
              <a:rPr lang="en-GB" dirty="0">
                <a:solidFill>
                  <a:srgbClr val="0070C0"/>
                </a:solidFill>
                <a:latin typeface="Garamond" charset="0"/>
                <a:ea typeface="Garamond" charset="0"/>
                <a:cs typeface="Garamond" charset="0"/>
              </a:rPr>
              <a:t>Terms implied by SGA 1979, s.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3728" y="678195"/>
            <a:ext cx="4572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4400" dirty="0">
                <a:latin typeface="Garamond" charset="0"/>
                <a:ea typeface="Garamond" charset="0"/>
                <a:cs typeface="Garamond" charset="0"/>
              </a:rPr>
              <a:t>Commercial Law</a:t>
            </a:r>
          </a:p>
          <a:p>
            <a:pPr algn="ctr"/>
            <a:r>
              <a:rPr lang="en-GB" sz="4400" dirty="0">
                <a:latin typeface="Garamond" charset="0"/>
                <a:ea typeface="Garamond" charset="0"/>
                <a:cs typeface="Garamond" charset="0"/>
              </a:rPr>
              <a:t>Lecture 14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B010618-22E8-D9D1-3887-B66A3CC16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Rachel Avery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1225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70C0"/>
                </a:solidFill>
                <a:latin typeface="Garamond" charset="0"/>
                <a:ea typeface="Garamond" charset="0"/>
                <a:cs typeface="Garamond" charset="0"/>
              </a:rPr>
              <a:t>Introduction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Differentiate terms</a:t>
            </a:r>
          </a:p>
          <a:p>
            <a:pPr lvl="1"/>
            <a:r>
              <a:rPr lang="en-GB" dirty="0">
                <a:latin typeface="Garamond" charset="0"/>
                <a:ea typeface="Garamond" charset="0"/>
                <a:cs typeface="Garamond" charset="0"/>
              </a:rPr>
              <a:t>Condition</a:t>
            </a:r>
          </a:p>
          <a:p>
            <a:pPr lvl="1"/>
            <a:r>
              <a:rPr lang="en-GB" dirty="0">
                <a:latin typeface="Garamond" charset="0"/>
                <a:ea typeface="Garamond" charset="0"/>
                <a:cs typeface="Garamond" charset="0"/>
              </a:rPr>
              <a:t>Warranty</a:t>
            </a:r>
          </a:p>
          <a:p>
            <a:pPr lvl="1"/>
            <a:r>
              <a:rPr lang="en-GB" dirty="0">
                <a:latin typeface="Garamond" charset="0"/>
                <a:ea typeface="Garamond" charset="0"/>
                <a:cs typeface="Garamond" charset="0"/>
              </a:rPr>
              <a:t>Innominate Term</a:t>
            </a:r>
          </a:p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Terms implied by SGA: condition or warranties</a:t>
            </a:r>
          </a:p>
          <a:p>
            <a:pPr lvl="1"/>
            <a:r>
              <a:rPr lang="en-GB" dirty="0">
                <a:latin typeface="Garamond" charset="0"/>
                <a:ea typeface="Garamond" charset="0"/>
                <a:cs typeface="Garamond" charset="0"/>
              </a:rPr>
              <a:t>Breach of a condition: right to treat contract as repudiated (SGA, s.11(3))</a:t>
            </a:r>
          </a:p>
          <a:p>
            <a:pPr lvl="1"/>
            <a:r>
              <a:rPr lang="en-GB" dirty="0">
                <a:latin typeface="Garamond" charset="0"/>
                <a:ea typeface="Garamond" charset="0"/>
                <a:cs typeface="Garamond" charset="0"/>
              </a:rPr>
              <a:t>Breach of a warranty: damages, but no right to reject goods (SGA s.11(3)). </a:t>
            </a:r>
          </a:p>
          <a:p>
            <a:pPr lvl="1">
              <a:buNone/>
            </a:pPr>
            <a:endParaRPr lang="en-GB" dirty="0">
              <a:latin typeface="Garamond" charset="0"/>
              <a:ea typeface="Garamond" charset="0"/>
              <a:cs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409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70C0"/>
                </a:solidFill>
                <a:latin typeface="Garamond" charset="0"/>
                <a:ea typeface="Garamond" charset="0"/>
                <a:cs typeface="Garamond" charset="0"/>
              </a:rPr>
              <a:t>Implied terms under SGA s.12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dirty="0">
                <a:latin typeface="Garamond" charset="0"/>
                <a:ea typeface="Garamond" charset="0"/>
                <a:cs typeface="Garamond" charset="0"/>
              </a:rPr>
              <a:t>Terms as to title under s. 12:</a:t>
            </a:r>
          </a:p>
          <a:p>
            <a:pPr lvl="1"/>
            <a:r>
              <a:rPr lang="en-GB" dirty="0">
                <a:latin typeface="Garamond" charset="0"/>
                <a:ea typeface="Garamond" charset="0"/>
                <a:cs typeface="Garamond" charset="0"/>
              </a:rPr>
              <a:t>Condition that seller has </a:t>
            </a:r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right to sell goods:          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(s. 12(1))</a:t>
            </a:r>
          </a:p>
          <a:p>
            <a:pPr lvl="2"/>
            <a:r>
              <a:rPr lang="en-GB" sz="2800" dirty="0">
                <a:latin typeface="Garamond" charset="0"/>
                <a:ea typeface="Garamond" charset="0"/>
                <a:cs typeface="Garamond" charset="0"/>
              </a:rPr>
              <a:t>s. 12(1) also covers agreement to sell</a:t>
            </a:r>
          </a:p>
          <a:p>
            <a:pPr lvl="1"/>
            <a:r>
              <a:rPr lang="en-GB" dirty="0">
                <a:latin typeface="Garamond" charset="0"/>
                <a:ea typeface="Garamond" charset="0"/>
                <a:cs typeface="Garamond" charset="0"/>
              </a:rPr>
              <a:t>Warranty that goods are </a:t>
            </a:r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free from charge or encumbrance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 (s.12(2)(a))</a:t>
            </a:r>
          </a:p>
          <a:p>
            <a:pPr lvl="1"/>
            <a:r>
              <a:rPr lang="en-GB" dirty="0">
                <a:latin typeface="Garamond" charset="0"/>
                <a:ea typeface="Garamond" charset="0"/>
                <a:cs typeface="Garamond" charset="0"/>
              </a:rPr>
              <a:t>Warranty that buyer will enjoy </a:t>
            </a:r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quiet possession of goods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 (s.12(2)(b)) </a:t>
            </a:r>
          </a:p>
          <a:p>
            <a:pPr lvl="1"/>
            <a:endParaRPr lang="en-GB" dirty="0">
              <a:latin typeface="Garamond" charset="0"/>
              <a:ea typeface="Garamond" charset="0"/>
              <a:cs typeface="Garamond" charset="0"/>
            </a:endParaRPr>
          </a:p>
          <a:p>
            <a:pPr lvl="1">
              <a:buNone/>
            </a:pPr>
            <a:r>
              <a:rPr lang="en-GB" dirty="0">
                <a:latin typeface="Garamond" charset="0"/>
                <a:ea typeface="Garamond" charset="0"/>
                <a:cs typeface="Garamond" charset="0"/>
                <a:sym typeface="Wingdings" pitchFamily="2" charset="2"/>
              </a:rPr>
              <a:t>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s.12(5A) – classification of terms</a:t>
            </a:r>
          </a:p>
          <a:p>
            <a:pPr lvl="1">
              <a:buNone/>
            </a:pPr>
            <a:endParaRPr lang="en-GB" dirty="0">
              <a:latin typeface="Garamond" charset="0"/>
              <a:ea typeface="Garamond" charset="0"/>
              <a:cs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99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70C0"/>
                </a:solidFill>
                <a:latin typeface="Garamond" charset="0"/>
                <a:ea typeface="Garamond" charset="0"/>
                <a:cs typeface="Garamond" charset="0"/>
              </a:rPr>
              <a:t>s.12(1) – right to sell: 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GB" sz="3100" dirty="0">
                <a:latin typeface="Garamond" charset="0"/>
                <a:ea typeface="Garamond" charset="0"/>
                <a:cs typeface="Garamond" charset="0"/>
              </a:rPr>
              <a:t>What if title is not in S? Breach of s.12(1)?</a:t>
            </a:r>
          </a:p>
          <a:p>
            <a:pPr lvl="1">
              <a:lnSpc>
                <a:spcPct val="120000"/>
              </a:lnSpc>
            </a:pPr>
            <a:r>
              <a:rPr lang="en-GB" sz="3100" dirty="0">
                <a:latin typeface="Garamond" charset="0"/>
                <a:ea typeface="Garamond" charset="0"/>
                <a:cs typeface="Garamond" charset="0"/>
              </a:rPr>
              <a:t>‘[a] contract of sale can perfectly well be performed by a seller who never has title at any time, by causing a third party to transfer it directly to the buyer’ (</a:t>
            </a:r>
            <a:r>
              <a:rPr lang="en-GB" sz="3100" b="1" i="1" dirty="0">
                <a:latin typeface="Garamond" charset="0"/>
                <a:ea typeface="Garamond" charset="0"/>
                <a:cs typeface="Garamond" charset="0"/>
              </a:rPr>
              <a:t>The </a:t>
            </a:r>
            <a:r>
              <a:rPr lang="en-GB" sz="3100" b="1" i="1" dirty="0" err="1">
                <a:latin typeface="Garamond" charset="0"/>
                <a:ea typeface="Garamond" charset="0"/>
                <a:cs typeface="Garamond" charset="0"/>
              </a:rPr>
              <a:t>Elafi</a:t>
            </a:r>
            <a:r>
              <a:rPr lang="en-GB" sz="3100" i="1" dirty="0">
                <a:latin typeface="Garamond" charset="0"/>
                <a:ea typeface="Garamond" charset="0"/>
                <a:cs typeface="Garamond" charset="0"/>
              </a:rPr>
              <a:t>,</a:t>
            </a:r>
            <a:r>
              <a:rPr lang="en-GB" sz="3100" dirty="0">
                <a:latin typeface="Garamond" charset="0"/>
                <a:ea typeface="Garamond" charset="0"/>
                <a:cs typeface="Garamond" charset="0"/>
              </a:rPr>
              <a:t> per </a:t>
            </a:r>
            <a:r>
              <a:rPr lang="en-GB" sz="3100" dirty="0" err="1">
                <a:latin typeface="Garamond" charset="0"/>
                <a:ea typeface="Garamond" charset="0"/>
                <a:cs typeface="Garamond" charset="0"/>
              </a:rPr>
              <a:t>Mustill</a:t>
            </a:r>
            <a:r>
              <a:rPr lang="en-GB" sz="3100" dirty="0">
                <a:latin typeface="Garamond" charset="0"/>
                <a:ea typeface="Garamond" charset="0"/>
                <a:cs typeface="Garamond" charset="0"/>
              </a:rPr>
              <a:t> J</a:t>
            </a:r>
            <a:r>
              <a:rPr lang="en-GB" sz="3100" i="1" dirty="0">
                <a:latin typeface="Garamond" charset="0"/>
                <a:ea typeface="Garamond" charset="0"/>
                <a:cs typeface="Garamond" charset="0"/>
              </a:rPr>
              <a:t>)</a:t>
            </a:r>
            <a:r>
              <a:rPr lang="en-GB" sz="3100" dirty="0">
                <a:latin typeface="Garamond" charset="0"/>
                <a:ea typeface="Garamond" charset="0"/>
                <a:cs typeface="Garamond" charset="0"/>
              </a:rPr>
              <a:t> .</a:t>
            </a:r>
          </a:p>
          <a:p>
            <a:pPr lvl="1">
              <a:lnSpc>
                <a:spcPct val="120000"/>
              </a:lnSpc>
            </a:pPr>
            <a:r>
              <a:rPr lang="en-GB" sz="3100" dirty="0">
                <a:latin typeface="Garamond" charset="0"/>
                <a:ea typeface="Garamond" charset="0"/>
                <a:cs typeface="Garamond" charset="0"/>
              </a:rPr>
              <a:t>What if exception to </a:t>
            </a:r>
            <a:r>
              <a:rPr lang="en-GB" sz="3100" dirty="0" err="1">
                <a:latin typeface="Garamond" charset="0"/>
                <a:ea typeface="Garamond" charset="0"/>
                <a:cs typeface="Garamond" charset="0"/>
              </a:rPr>
              <a:t>nemo</a:t>
            </a:r>
            <a:r>
              <a:rPr lang="en-GB" sz="3100" dirty="0">
                <a:latin typeface="Garamond" charset="0"/>
                <a:ea typeface="Garamond" charset="0"/>
                <a:cs typeface="Garamond" charset="0"/>
              </a:rPr>
              <a:t> </a:t>
            </a:r>
            <a:r>
              <a:rPr lang="en-GB" sz="3100" dirty="0" err="1">
                <a:latin typeface="Garamond" charset="0"/>
                <a:ea typeface="Garamond" charset="0"/>
                <a:cs typeface="Garamond" charset="0"/>
              </a:rPr>
              <a:t>dat</a:t>
            </a:r>
            <a:r>
              <a:rPr lang="en-GB" sz="3100" dirty="0">
                <a:latin typeface="Garamond" charset="0"/>
                <a:ea typeface="Garamond" charset="0"/>
                <a:cs typeface="Garamond" charset="0"/>
              </a:rPr>
              <a:t> rule applies?</a:t>
            </a:r>
          </a:p>
          <a:p>
            <a:pPr>
              <a:lnSpc>
                <a:spcPct val="120000"/>
              </a:lnSpc>
            </a:pPr>
            <a:r>
              <a:rPr lang="en-GB" sz="3100" dirty="0">
                <a:latin typeface="Garamond" charset="0"/>
                <a:ea typeface="Garamond" charset="0"/>
                <a:cs typeface="Garamond" charset="0"/>
              </a:rPr>
              <a:t>Even if person owns goods, he might be in breach of s.12(1)</a:t>
            </a:r>
            <a:r>
              <a:rPr lang="en-GB" sz="3100" i="1" dirty="0">
                <a:latin typeface="Garamond" charset="0"/>
                <a:ea typeface="Garamond" charset="0"/>
                <a:cs typeface="Garamond" charset="0"/>
              </a:rPr>
              <a:t> </a:t>
            </a:r>
          </a:p>
          <a:p>
            <a:pPr lvl="1">
              <a:lnSpc>
                <a:spcPct val="120000"/>
              </a:lnSpc>
            </a:pPr>
            <a:r>
              <a:rPr lang="en-GB" sz="3100" b="1" i="1" dirty="0">
                <a:latin typeface="Garamond" charset="0"/>
                <a:ea typeface="Garamond" charset="0"/>
                <a:cs typeface="Garamond" charset="0"/>
              </a:rPr>
              <a:t>Niblett </a:t>
            </a:r>
            <a:r>
              <a:rPr lang="en-GB" sz="3100" b="1" dirty="0"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sz="3100" b="1" i="1" dirty="0">
                <a:latin typeface="Garamond" charset="0"/>
                <a:ea typeface="Garamond" charset="0"/>
                <a:cs typeface="Garamond" charset="0"/>
              </a:rPr>
              <a:t> Confectioners’ Materials </a:t>
            </a:r>
            <a:r>
              <a:rPr lang="en-GB" sz="3100" dirty="0">
                <a:latin typeface="Garamond" charset="0"/>
                <a:ea typeface="Garamond" charset="0"/>
                <a:cs typeface="Garamond" charset="0"/>
              </a:rPr>
              <a:t>(S sells condensed milk labelled ‘</a:t>
            </a:r>
            <a:r>
              <a:rPr lang="en-GB" sz="3100" dirty="0" err="1">
                <a:latin typeface="Garamond" charset="0"/>
                <a:ea typeface="Garamond" charset="0"/>
                <a:cs typeface="Garamond" charset="0"/>
              </a:rPr>
              <a:t>Nissly</a:t>
            </a:r>
            <a:r>
              <a:rPr lang="en-GB" sz="3100" dirty="0">
                <a:latin typeface="Garamond" charset="0"/>
                <a:ea typeface="Garamond" charset="0"/>
                <a:cs typeface="Garamond" charset="0"/>
              </a:rPr>
              <a:t>’ to B; infringement of Nestle copyright which would have entitled Nestle to obtain injunction to restrain sale; action by B against S for breach of s.12(1)) </a:t>
            </a:r>
          </a:p>
          <a:p>
            <a:pPr lvl="1"/>
            <a:endParaRPr lang="en-GB" dirty="0">
              <a:latin typeface="Garamond" charset="0"/>
              <a:ea typeface="Garamond" charset="0"/>
              <a:cs typeface="Garamond" charset="0"/>
            </a:endParaRPr>
          </a:p>
          <a:p>
            <a:pPr lvl="1"/>
            <a:endParaRPr lang="en-GB" dirty="0">
              <a:latin typeface="Garamond" charset="0"/>
              <a:ea typeface="Garamond" charset="0"/>
              <a:cs typeface="Garamond" charset="0"/>
            </a:endParaRPr>
          </a:p>
          <a:p>
            <a:endParaRPr lang="en-GB" dirty="0">
              <a:latin typeface="Garamond" charset="0"/>
              <a:ea typeface="Garamond" charset="0"/>
              <a:cs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63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70C0"/>
                </a:solidFill>
                <a:latin typeface="Garamond" charset="0"/>
                <a:ea typeface="Garamond" charset="0"/>
                <a:cs typeface="Garamond" charset="0"/>
              </a:rPr>
              <a:t>Effect of breach of s.12(1)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Remedies for breach </a:t>
            </a:r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(</a:t>
            </a:r>
            <a:r>
              <a:rPr lang="en-GB" b="1" i="1" dirty="0">
                <a:latin typeface="Garamond" charset="0"/>
                <a:ea typeface="Garamond" charset="0"/>
                <a:cs typeface="Garamond" charset="0"/>
              </a:rPr>
              <a:t>Rowland </a:t>
            </a:r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b="1" i="1" dirty="0">
                <a:latin typeface="Garamond" charset="0"/>
                <a:ea typeface="Garamond" charset="0"/>
                <a:cs typeface="Garamond" charset="0"/>
              </a:rPr>
              <a:t> </a:t>
            </a:r>
            <a:r>
              <a:rPr lang="en-GB" b="1" i="1" dirty="0" err="1">
                <a:latin typeface="Garamond" charset="0"/>
                <a:ea typeface="Garamond" charset="0"/>
                <a:cs typeface="Garamond" charset="0"/>
              </a:rPr>
              <a:t>Divall</a:t>
            </a:r>
            <a:r>
              <a:rPr lang="en-GB" b="1" i="1" dirty="0">
                <a:latin typeface="Garamond" charset="0"/>
                <a:ea typeface="Garamond" charset="0"/>
                <a:cs typeface="Garamond" charset="0"/>
              </a:rPr>
              <a:t>)</a:t>
            </a:r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 </a:t>
            </a:r>
          </a:p>
        </p:txBody>
      </p:sp>
      <p:sp>
        <p:nvSpPr>
          <p:cNvPr id="4" name="Oval 3"/>
          <p:cNvSpPr/>
          <p:nvPr/>
        </p:nvSpPr>
        <p:spPr>
          <a:xfrm>
            <a:off x="2634512" y="4027718"/>
            <a:ext cx="1440160" cy="13681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5" name="Oval 4"/>
          <p:cNvSpPr/>
          <p:nvPr/>
        </p:nvSpPr>
        <p:spPr>
          <a:xfrm>
            <a:off x="4427984" y="2323728"/>
            <a:ext cx="1440160" cy="13681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Owner</a:t>
            </a:r>
          </a:p>
        </p:txBody>
      </p:sp>
      <p:sp>
        <p:nvSpPr>
          <p:cNvPr id="6" name="Oval 5"/>
          <p:cNvSpPr/>
          <p:nvPr/>
        </p:nvSpPr>
        <p:spPr>
          <a:xfrm>
            <a:off x="2634512" y="4027718"/>
            <a:ext cx="1440160" cy="13681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 (no right to sell)</a:t>
            </a:r>
          </a:p>
        </p:txBody>
      </p:sp>
      <p:sp>
        <p:nvSpPr>
          <p:cNvPr id="8" name="Oval 7"/>
          <p:cNvSpPr/>
          <p:nvPr/>
        </p:nvSpPr>
        <p:spPr>
          <a:xfrm>
            <a:off x="6120172" y="4615239"/>
            <a:ext cx="1440160" cy="13681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  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171619" y="4795591"/>
            <a:ext cx="1872208" cy="2138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5724128" y="3573016"/>
            <a:ext cx="792088" cy="864096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119791" y="4615239"/>
            <a:ext cx="1440160" cy="13681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  sues S for price paid</a:t>
            </a:r>
          </a:p>
        </p:txBody>
      </p:sp>
      <p:pic>
        <p:nvPicPr>
          <p:cNvPr id="11" name="Content Placeholder 3"/>
          <p:cNvPicPr>
            <a:picLocks noGrp="1"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3551168"/>
            <a:ext cx="1368152" cy="61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12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70C0"/>
                </a:solidFill>
                <a:latin typeface="Garamond" charset="0"/>
                <a:ea typeface="Garamond" charset="0"/>
                <a:cs typeface="Garamond" charset="0"/>
              </a:rPr>
              <a:t>Effect of breach of s.12(1)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i="1" dirty="0">
                <a:latin typeface="Garamond" charset="0"/>
                <a:ea typeface="Garamond" charset="0"/>
                <a:cs typeface="Garamond" charset="0"/>
              </a:rPr>
              <a:t>Butterworth </a:t>
            </a:r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b="1" i="1" dirty="0">
                <a:latin typeface="Garamond" charset="0"/>
                <a:ea typeface="Garamond" charset="0"/>
                <a:cs typeface="Garamond" charset="0"/>
              </a:rPr>
              <a:t> Kingsway Motors</a:t>
            </a:r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 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(car let by O on hire-purchase to A; A sells car while still having to pay instalments (no right to sell); car re-sold to D; re-sold to P; O claims car back from P; P sues D for purchase price, even though A settles balance of H-P price within week with O</a:t>
            </a:r>
          </a:p>
          <a:p>
            <a:pPr lvl="1"/>
            <a:r>
              <a:rPr lang="en-GB" dirty="0">
                <a:latin typeface="Garamond" charset="0"/>
                <a:ea typeface="Garamond" charset="0"/>
                <a:cs typeface="Garamond" charset="0"/>
              </a:rPr>
              <a:t>Held: D guilty of breach of s.12(1); P can recover full purchase price, even though extensive use of car  </a:t>
            </a:r>
          </a:p>
        </p:txBody>
      </p:sp>
    </p:spTree>
    <p:extLst>
      <p:ext uri="{BB962C8B-B14F-4D97-AF65-F5344CB8AC3E}">
        <p14:creationId xmlns:p14="http://schemas.microsoft.com/office/powerpoint/2010/main" val="333353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70C0"/>
                </a:solidFill>
                <a:latin typeface="Garamond" charset="0"/>
                <a:ea typeface="Garamond" charset="0"/>
                <a:cs typeface="Garamond" charset="0"/>
              </a:rPr>
              <a:t>s.12(2)(a) and (b)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‘In a contract of sale, other than one to which subsection (3) below applies …</a:t>
            </a:r>
          </a:p>
          <a:p>
            <a:pPr>
              <a:lnSpc>
                <a:spcPct val="120000"/>
              </a:lnSpc>
            </a:pPr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… there is also an implied term that …</a:t>
            </a:r>
          </a:p>
          <a:p>
            <a:pPr>
              <a:lnSpc>
                <a:spcPct val="120000"/>
              </a:lnSpc>
            </a:pPr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… (a) the goods are free, and will remain free until the time when the property is to pass, </a:t>
            </a:r>
            <a:r>
              <a:rPr lang="en-GB" sz="2200" b="1" dirty="0">
                <a:latin typeface="Garamond" charset="0"/>
                <a:ea typeface="Garamond" charset="0"/>
                <a:cs typeface="Garamond" charset="0"/>
              </a:rPr>
              <a:t>from any charge or encumbrance </a:t>
            </a:r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not disclosed or known to the buyer before the contract is made, ….</a:t>
            </a:r>
          </a:p>
          <a:p>
            <a:pPr>
              <a:lnSpc>
                <a:spcPct val="120000"/>
              </a:lnSpc>
            </a:pPr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… and ….</a:t>
            </a:r>
          </a:p>
          <a:p>
            <a:pPr>
              <a:lnSpc>
                <a:spcPct val="120000"/>
              </a:lnSpc>
            </a:pPr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…. (b) the buyer will enjoy </a:t>
            </a:r>
            <a:r>
              <a:rPr lang="en-GB" sz="2200" b="1" dirty="0">
                <a:latin typeface="Garamond" charset="0"/>
                <a:ea typeface="Garamond" charset="0"/>
                <a:cs typeface="Garamond" charset="0"/>
              </a:rPr>
              <a:t>quiet possession </a:t>
            </a:r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of the goods except so far as it may be disturbed by the owner or other person entitled to the benefit of any charge or encumbrance so disclosed or known’.</a:t>
            </a:r>
          </a:p>
        </p:txBody>
      </p:sp>
    </p:spTree>
    <p:extLst>
      <p:ext uri="{BB962C8B-B14F-4D97-AF65-F5344CB8AC3E}">
        <p14:creationId xmlns:p14="http://schemas.microsoft.com/office/powerpoint/2010/main" val="38823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70C0"/>
                </a:solidFill>
                <a:latin typeface="Garamond" charset="0"/>
                <a:ea typeface="Garamond" charset="0"/>
                <a:cs typeface="Garamond" charset="0"/>
              </a:rPr>
              <a:t>Case law – quiet possession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Relationship between SGA s. 12(1) and 12(2)(b)</a:t>
            </a:r>
          </a:p>
          <a:p>
            <a:pPr lvl="1"/>
            <a:r>
              <a:rPr lang="en-GB" b="1" i="1" dirty="0">
                <a:latin typeface="Garamond" charset="0"/>
                <a:ea typeface="Garamond" charset="0"/>
                <a:cs typeface="Garamond" charset="0"/>
              </a:rPr>
              <a:t>Mason </a:t>
            </a:r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b="1" i="1" dirty="0">
                <a:latin typeface="Garamond" charset="0"/>
                <a:ea typeface="Garamond" charset="0"/>
                <a:cs typeface="Garamond" charset="0"/>
              </a:rPr>
              <a:t> </a:t>
            </a:r>
            <a:r>
              <a:rPr lang="en-GB" b="1" i="1" dirty="0" err="1">
                <a:latin typeface="Garamond" charset="0"/>
                <a:ea typeface="Garamond" charset="0"/>
                <a:cs typeface="Garamond" charset="0"/>
              </a:rPr>
              <a:t>Burningham</a:t>
            </a:r>
            <a:r>
              <a:rPr lang="en-GB" b="1" i="1" dirty="0">
                <a:latin typeface="Garamond" charset="0"/>
                <a:ea typeface="Garamond" charset="0"/>
                <a:cs typeface="Garamond" charset="0"/>
              </a:rPr>
              <a:t> 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(re. </a:t>
            </a:r>
            <a:r>
              <a:rPr lang="en-GB" i="1" dirty="0">
                <a:latin typeface="Garamond" charset="0"/>
                <a:ea typeface="Garamond" charset="0"/>
                <a:cs typeface="Garamond" charset="0"/>
              </a:rPr>
              <a:t>overlap between sections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: sale of a stolen type-writer; S no right to sell; B sues under s.12(2)(b))</a:t>
            </a:r>
          </a:p>
          <a:p>
            <a:pPr lvl="1"/>
            <a:r>
              <a:rPr lang="en-GB" b="1" i="1" dirty="0">
                <a:latin typeface="Garamond" charset="0"/>
                <a:ea typeface="Garamond" charset="0"/>
                <a:cs typeface="Garamond" charset="0"/>
              </a:rPr>
              <a:t>Rubicon Computer Systems </a:t>
            </a:r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b="1" i="1" dirty="0">
                <a:latin typeface="Garamond" charset="0"/>
                <a:ea typeface="Garamond" charset="0"/>
                <a:cs typeface="Garamond" charset="0"/>
              </a:rPr>
              <a:t> United Paints Ltd 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(R installs computer system for U; dispute as to scope of R’s obligations; R installs time-lock without U’s knowledge; computer unusable; U claims breach of s.12(2)(b)).</a:t>
            </a:r>
          </a:p>
          <a:p>
            <a:pPr lvl="1"/>
            <a:endParaRPr lang="en-GB" dirty="0">
              <a:latin typeface="Garamond" charset="0"/>
              <a:ea typeface="Garamond" charset="0"/>
              <a:cs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56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70C0"/>
                </a:solidFill>
                <a:latin typeface="Garamond" charset="0"/>
                <a:ea typeface="Garamond" charset="0"/>
                <a:cs typeface="Garamond" charset="0"/>
              </a:rPr>
              <a:t>Quiet possession – scope of S’s obligation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B protected against wrongful disturbance by S:</a:t>
            </a:r>
          </a:p>
          <a:p>
            <a:pPr lvl="1"/>
            <a:r>
              <a:rPr lang="en-GB" b="1" i="1" dirty="0">
                <a:latin typeface="Garamond" charset="0"/>
                <a:ea typeface="Garamond" charset="0"/>
                <a:cs typeface="Garamond" charset="0"/>
              </a:rPr>
              <a:t>The Playa </a:t>
            </a:r>
            <a:r>
              <a:rPr lang="en-GB" b="1" i="1" dirty="0" err="1">
                <a:latin typeface="Garamond" charset="0"/>
                <a:ea typeface="Garamond" charset="0"/>
                <a:cs typeface="Garamond" charset="0"/>
              </a:rPr>
              <a:t>Larga</a:t>
            </a:r>
            <a:r>
              <a:rPr lang="en-GB" b="1" i="1" dirty="0">
                <a:latin typeface="Garamond" charset="0"/>
                <a:ea typeface="Garamond" charset="0"/>
                <a:cs typeface="Garamond" charset="0"/>
              </a:rPr>
              <a:t> 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(Sale of sugar; S orders ship delivering sugar not to unload sugar; breach of s. 12(2)(b))</a:t>
            </a:r>
          </a:p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B protected against </a:t>
            </a:r>
            <a:r>
              <a:rPr lang="en-GB" u="sng" dirty="0">
                <a:latin typeface="Garamond" charset="0"/>
                <a:ea typeface="Garamond" charset="0"/>
                <a:cs typeface="Garamond" charset="0"/>
              </a:rPr>
              <a:t>lawful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 disturbance by 3</a:t>
            </a:r>
            <a:r>
              <a:rPr lang="en-GB" baseline="30000" dirty="0">
                <a:latin typeface="Garamond" charset="0"/>
                <a:ea typeface="Garamond" charset="0"/>
                <a:cs typeface="Garamond" charset="0"/>
              </a:rPr>
              <a:t>rd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 party, if due to S’s fault or a 3</a:t>
            </a:r>
            <a:r>
              <a:rPr lang="en-GB" baseline="30000" dirty="0">
                <a:latin typeface="Garamond" charset="0"/>
                <a:ea typeface="Garamond" charset="0"/>
                <a:cs typeface="Garamond" charset="0"/>
              </a:rPr>
              <a:t>rd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 party’s superior right impairing B’s title or freedom to possess </a:t>
            </a:r>
          </a:p>
          <a:p>
            <a:pPr lvl="1"/>
            <a:r>
              <a:rPr lang="en-GB" b="1" dirty="0" err="1">
                <a:latin typeface="Garamond" charset="0"/>
                <a:ea typeface="Garamond" charset="0"/>
                <a:cs typeface="Garamond" charset="0"/>
              </a:rPr>
              <a:t>Microbeads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 case </a:t>
            </a:r>
          </a:p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B </a:t>
            </a:r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not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 protected against </a:t>
            </a:r>
            <a:r>
              <a:rPr lang="en-GB" u="sng" dirty="0">
                <a:latin typeface="Garamond" charset="0"/>
                <a:ea typeface="Garamond" charset="0"/>
                <a:cs typeface="Garamond" charset="0"/>
              </a:rPr>
              <a:t>unlawful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 disturbance by 3</a:t>
            </a:r>
            <a:r>
              <a:rPr lang="en-GB" baseline="30000" dirty="0">
                <a:latin typeface="Garamond" charset="0"/>
                <a:ea typeface="Garamond" charset="0"/>
                <a:cs typeface="Garamond" charset="0"/>
              </a:rPr>
              <a:t>rd</a:t>
            </a:r>
            <a:r>
              <a:rPr lang="en-GB" dirty="0">
                <a:latin typeface="Garamond" charset="0"/>
                <a:ea typeface="Garamond" charset="0"/>
                <a:cs typeface="Garamond" charset="0"/>
              </a:rPr>
              <a:t> party (e.g. trespasser)</a:t>
            </a:r>
          </a:p>
        </p:txBody>
      </p:sp>
    </p:spTree>
    <p:extLst>
      <p:ext uri="{BB962C8B-B14F-4D97-AF65-F5344CB8AC3E}">
        <p14:creationId xmlns:p14="http://schemas.microsoft.com/office/powerpoint/2010/main" val="1738918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solidFill>
                  <a:srgbClr val="0070C0"/>
                </a:solidFill>
                <a:latin typeface="Garamond" charset="0"/>
                <a:ea typeface="Garamond" charset="0"/>
                <a:cs typeface="Garamond" charset="0"/>
              </a:rPr>
              <a:t>Microbeads</a:t>
            </a:r>
            <a:r>
              <a:rPr lang="en-GB" b="1" dirty="0">
                <a:solidFill>
                  <a:srgbClr val="0070C0"/>
                </a:solidFill>
                <a:latin typeface="Garamond" charset="0"/>
                <a:ea typeface="Garamond" charset="0"/>
                <a:cs typeface="Garamond" charset="0"/>
              </a:rPr>
              <a:t>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800" u="sng" dirty="0">
                <a:latin typeface="Garamond" charset="0"/>
                <a:ea typeface="Garamond" charset="0"/>
                <a:cs typeface="Garamond" charset="0"/>
              </a:rPr>
              <a:t>Facts: </a:t>
            </a:r>
            <a:r>
              <a:rPr lang="en-GB" sz="2800" dirty="0">
                <a:latin typeface="Garamond" charset="0"/>
                <a:ea typeface="Garamond" charset="0"/>
                <a:cs typeface="Garamond" charset="0"/>
              </a:rPr>
              <a:t>sale of road marking machines from P Co. to D Co; X Co has patent applications pending on similar machines at time of “sale P Co.-D Co.”; patents granted after “sale P Co.-D Co.”; D Co. alleges breach of s.12(1) and (2)</a:t>
            </a:r>
          </a:p>
          <a:p>
            <a:r>
              <a:rPr lang="en-GB" sz="2800" u="sng" dirty="0">
                <a:latin typeface="Garamond" charset="0"/>
                <a:ea typeface="Garamond" charset="0"/>
                <a:cs typeface="Garamond" charset="0"/>
              </a:rPr>
              <a:t>Held: </a:t>
            </a:r>
            <a:r>
              <a:rPr lang="en-GB" sz="2800" dirty="0">
                <a:latin typeface="Garamond" charset="0"/>
                <a:ea typeface="Garamond" charset="0"/>
                <a:cs typeface="Garamond" charset="0"/>
              </a:rPr>
              <a:t>no breach of s.12(1) BUT breach of s.12(2)(b): ‘sellers could be in breach if buyers' possession and enjoyment of the machines </a:t>
            </a:r>
            <a:r>
              <a:rPr lang="en-GB" sz="2800" i="1" dirty="0">
                <a:latin typeface="Garamond" charset="0"/>
                <a:ea typeface="Garamond" charset="0"/>
                <a:cs typeface="Garamond" charset="0"/>
              </a:rPr>
              <a:t>were disturbed at a date subsequent to the sale by reason of publication of the patent specification</a:t>
            </a:r>
            <a:r>
              <a:rPr lang="en-GB" sz="2800" dirty="0">
                <a:latin typeface="Garamond" charset="0"/>
                <a:ea typeface="Garamond" charset="0"/>
                <a:cs typeface="Garamond" charset="0"/>
              </a:rPr>
              <a:t> ‘</a:t>
            </a:r>
          </a:p>
        </p:txBody>
      </p:sp>
    </p:spTree>
    <p:extLst>
      <p:ext uri="{BB962C8B-B14F-4D97-AF65-F5344CB8AC3E}">
        <p14:creationId xmlns:p14="http://schemas.microsoft.com/office/powerpoint/2010/main" val="1828660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70C0"/>
                </a:solidFill>
                <a:latin typeface="Garamond" charset="0"/>
                <a:ea typeface="Garamond" charset="0"/>
                <a:cs typeface="Garamond" charset="0"/>
              </a:rPr>
              <a:t>s.12(3) – s.12(5)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200" b="1" u="sng" dirty="0">
                <a:latin typeface="Garamond" charset="0"/>
                <a:ea typeface="Garamond" charset="0"/>
                <a:cs typeface="Garamond" charset="0"/>
              </a:rPr>
              <a:t>s.12(3) sale of a limited title</a:t>
            </a:r>
          </a:p>
          <a:p>
            <a:pPr lvl="1"/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Allows S to transfer such title to goods as S or a third person has (e.g. “finder’s title” =&gt; “possessory” title)</a:t>
            </a:r>
          </a:p>
          <a:p>
            <a:pPr lvl="2"/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Intention must appear from sales contract or be inferred from its circumstances</a:t>
            </a:r>
          </a:p>
          <a:p>
            <a:pPr lvl="1"/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Implied term that </a:t>
            </a:r>
            <a:r>
              <a:rPr lang="en-GB" sz="2200" b="1" dirty="0">
                <a:latin typeface="Garamond" charset="0"/>
                <a:ea typeface="Garamond" charset="0"/>
                <a:cs typeface="Garamond" charset="0"/>
              </a:rPr>
              <a:t>charges/encumbrances</a:t>
            </a:r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 known to S and unknown to B have been disclosed to B before contract is made</a:t>
            </a:r>
          </a:p>
          <a:p>
            <a:pPr lvl="1"/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Implied term that none of the following will disturb B’s </a:t>
            </a:r>
            <a:r>
              <a:rPr lang="en-GB" sz="2200" b="1" dirty="0">
                <a:latin typeface="Garamond" charset="0"/>
                <a:ea typeface="Garamond" charset="0"/>
                <a:cs typeface="Garamond" charset="0"/>
              </a:rPr>
              <a:t>quiet possession</a:t>
            </a:r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: </a:t>
            </a:r>
          </a:p>
          <a:p>
            <a:pPr lvl="2"/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S</a:t>
            </a:r>
          </a:p>
          <a:p>
            <a:pPr lvl="2"/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Third party (where third person’s title was to be transferred)</a:t>
            </a:r>
          </a:p>
          <a:p>
            <a:pPr lvl="2"/>
            <a:r>
              <a:rPr lang="en-GB" sz="2200" dirty="0">
                <a:latin typeface="Garamond" charset="0"/>
                <a:ea typeface="Garamond" charset="0"/>
                <a:cs typeface="Garamond" charset="0"/>
              </a:rPr>
              <a:t>Anyone claiming under S or third person </a:t>
            </a:r>
          </a:p>
        </p:txBody>
      </p:sp>
    </p:spTree>
    <p:extLst>
      <p:ext uri="{BB962C8B-B14F-4D97-AF65-F5344CB8AC3E}">
        <p14:creationId xmlns:p14="http://schemas.microsoft.com/office/powerpoint/2010/main" val="3228068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70C0"/>
                </a:solidFill>
                <a:latin typeface="Garamond" charset="0"/>
                <a:ea typeface="Garamond" charset="0"/>
                <a:cs typeface="Garamond" charset="0"/>
              </a:rPr>
              <a:t>Consumer Rights Act 2015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20000"/>
          </a:bodyPr>
          <a:lstStyle/>
          <a:p>
            <a:r>
              <a:rPr lang="en-GB" sz="2400" dirty="0">
                <a:latin typeface="Garamond" charset="0"/>
                <a:ea typeface="Garamond" charset="0"/>
                <a:cs typeface="Garamond" charset="0"/>
              </a:rPr>
              <a:t>Applies to contract for a ‘trader’ to supply goods to a ‘consumer’ </a:t>
            </a:r>
            <a:r>
              <a:rPr lang="en-GB" sz="2400" b="1" dirty="0">
                <a:latin typeface="Garamond" charset="0"/>
                <a:ea typeface="Garamond" charset="0"/>
                <a:cs typeface="Garamond" charset="0"/>
              </a:rPr>
              <a:t>(CRA 2015 s. 3(1))</a:t>
            </a:r>
          </a:p>
          <a:p>
            <a:pPr lvl="1"/>
            <a:r>
              <a:rPr lang="en-GB" sz="2400" dirty="0">
                <a:latin typeface="Garamond" charset="0"/>
                <a:ea typeface="Garamond" charset="0"/>
                <a:cs typeface="Garamond" charset="0"/>
              </a:rPr>
              <a:t>Includes contract of sale</a:t>
            </a:r>
          </a:p>
          <a:p>
            <a:pPr lvl="1"/>
            <a:r>
              <a:rPr lang="en-GB" sz="2400" dirty="0">
                <a:latin typeface="Garamond" charset="0"/>
                <a:ea typeface="Garamond" charset="0"/>
                <a:cs typeface="Garamond" charset="0"/>
              </a:rPr>
              <a:t>Trader/consumer defined in CRA 2015, </a:t>
            </a:r>
            <a:r>
              <a:rPr lang="en-GB" sz="2400" b="1" dirty="0">
                <a:latin typeface="Garamond" charset="0"/>
                <a:ea typeface="Garamond" charset="0"/>
                <a:cs typeface="Garamond" charset="0"/>
              </a:rPr>
              <a:t>s. 2</a:t>
            </a:r>
          </a:p>
          <a:p>
            <a:r>
              <a:rPr lang="en-GB" sz="2400" dirty="0">
                <a:latin typeface="Garamond" charset="0"/>
                <a:ea typeface="Garamond" charset="0"/>
                <a:cs typeface="Garamond" charset="0"/>
              </a:rPr>
              <a:t>SGA, s. 12 does not apply to such contracts (see </a:t>
            </a:r>
            <a:r>
              <a:rPr lang="en-GB" sz="2400" b="1" dirty="0">
                <a:latin typeface="Garamond" charset="0"/>
                <a:ea typeface="Garamond" charset="0"/>
                <a:cs typeface="Garamond" charset="0"/>
              </a:rPr>
              <a:t>SGA s. 12(7)</a:t>
            </a:r>
            <a:r>
              <a:rPr lang="en-GB" sz="2400" dirty="0">
                <a:latin typeface="Garamond" charset="0"/>
                <a:ea typeface="Garamond" charset="0"/>
                <a:cs typeface="Garamond" charset="0"/>
              </a:rPr>
              <a:t>)</a:t>
            </a:r>
          </a:p>
          <a:p>
            <a:r>
              <a:rPr lang="en-GB" sz="2400" b="1" dirty="0">
                <a:latin typeface="Garamond" charset="0"/>
                <a:ea typeface="Garamond" charset="0"/>
                <a:cs typeface="Garamond" charset="0"/>
              </a:rPr>
              <a:t>CRA 2015, s.17 </a:t>
            </a:r>
            <a:r>
              <a:rPr lang="en-GB" sz="2400" dirty="0">
                <a:latin typeface="Garamond" charset="0"/>
                <a:ea typeface="Garamond" charset="0"/>
                <a:cs typeface="Garamond" charset="0"/>
              </a:rPr>
              <a:t>applies instead</a:t>
            </a:r>
          </a:p>
          <a:p>
            <a:pPr lvl="1"/>
            <a:r>
              <a:rPr lang="en-GB" sz="2400" dirty="0">
                <a:latin typeface="Garamond" charset="0"/>
                <a:ea typeface="Garamond" charset="0"/>
                <a:cs typeface="Garamond" charset="0"/>
              </a:rPr>
              <a:t>equivalent to SGA s. 12</a:t>
            </a:r>
          </a:p>
          <a:p>
            <a:pPr lvl="1"/>
            <a:r>
              <a:rPr lang="en-GB" sz="2400" dirty="0">
                <a:latin typeface="Garamond" charset="0"/>
                <a:ea typeface="Garamond" charset="0"/>
                <a:cs typeface="Garamond" charset="0"/>
              </a:rPr>
              <a:t>contract treated as including term that trader has right to sell</a:t>
            </a:r>
          </a:p>
          <a:p>
            <a:pPr lvl="1"/>
            <a:r>
              <a:rPr lang="en-GB" sz="2400" dirty="0">
                <a:latin typeface="Garamond" charset="0"/>
                <a:ea typeface="Garamond" charset="0"/>
                <a:cs typeface="Garamond" charset="0"/>
              </a:rPr>
              <a:t>contract treated as including term that goods are free from any encumbrance/charge</a:t>
            </a:r>
          </a:p>
          <a:p>
            <a:pPr lvl="1"/>
            <a:r>
              <a:rPr lang="en-GB" sz="2400" dirty="0">
                <a:latin typeface="Garamond" charset="0"/>
                <a:ea typeface="Garamond" charset="0"/>
                <a:cs typeface="Garamond" charset="0"/>
              </a:rPr>
              <a:t>contract treated as including term that consumer will enjoy quiet possession </a:t>
            </a:r>
          </a:p>
          <a:p>
            <a:pPr lvl="1"/>
            <a:r>
              <a:rPr lang="en-GB" sz="2400" dirty="0">
                <a:latin typeface="Garamond" charset="0"/>
                <a:ea typeface="Garamond" charset="0"/>
                <a:cs typeface="Garamond" charset="0"/>
              </a:rPr>
              <a:t>s.17 also includes equivalent to ‘sale of a limited title’ provision in SGA </a:t>
            </a:r>
            <a:r>
              <a:rPr lang="en-GB" sz="2400" b="1" dirty="0">
                <a:latin typeface="Garamond" charset="0"/>
                <a:ea typeface="Garamond" charset="0"/>
                <a:cs typeface="Garamond" charset="0"/>
              </a:rPr>
              <a:t>s. 12 </a:t>
            </a:r>
          </a:p>
          <a:p>
            <a:pPr lvl="1"/>
            <a:r>
              <a:rPr lang="en-GB" sz="2400" b="1" dirty="0">
                <a:latin typeface="Garamond" charset="0"/>
                <a:ea typeface="Garamond" charset="0"/>
                <a:cs typeface="Garamond" charset="0"/>
              </a:rPr>
              <a:t>s.31 </a:t>
            </a:r>
            <a:r>
              <a:rPr lang="en-GB" sz="2400" dirty="0">
                <a:latin typeface="Garamond" charset="0"/>
                <a:ea typeface="Garamond" charset="0"/>
                <a:cs typeface="Garamond" charset="0"/>
              </a:rPr>
              <a:t>– liability arising under s.17 cannot be excluded or restricted.</a:t>
            </a:r>
          </a:p>
          <a:p>
            <a:pPr lvl="1"/>
            <a:endParaRPr lang="en-GB" sz="2400" dirty="0">
              <a:latin typeface="Garamond" charset="0"/>
              <a:ea typeface="Garamond" charset="0"/>
              <a:cs typeface="Garamond" charset="0"/>
            </a:endParaRPr>
          </a:p>
          <a:p>
            <a:pPr lvl="1">
              <a:buNone/>
            </a:pPr>
            <a:endParaRPr lang="en-GB" sz="2000" dirty="0">
              <a:solidFill>
                <a:srgbClr val="FF0000"/>
              </a:solidFill>
              <a:latin typeface="Garamond" charset="0"/>
              <a:ea typeface="Garamond" charset="0"/>
              <a:cs typeface="Garamond" charset="0"/>
            </a:endParaRPr>
          </a:p>
          <a:p>
            <a:endParaRPr lang="en-GB" dirty="0">
              <a:latin typeface="Garamond" charset="0"/>
              <a:ea typeface="Garamond" charset="0"/>
              <a:cs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889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A4B24C251BCD4291F2C2F3A608C810" ma:contentTypeVersion="11" ma:contentTypeDescription="Create a new document." ma:contentTypeScope="" ma:versionID="83699b3271963520812641aaaa6ca2c4">
  <xsd:schema xmlns:xsd="http://www.w3.org/2001/XMLSchema" xmlns:xs="http://www.w3.org/2001/XMLSchema" xmlns:p="http://schemas.microsoft.com/office/2006/metadata/properties" xmlns:ns3="3cc0b812-7f7d-4aca-acca-000f424f7da7" xmlns:ns4="6bff29df-e80b-4a73-953f-e802c634e429" targetNamespace="http://schemas.microsoft.com/office/2006/metadata/properties" ma:root="true" ma:fieldsID="d7bdb9edf9b87b139097dc501a0a3627" ns3:_="" ns4:_="">
    <xsd:import namespace="3cc0b812-7f7d-4aca-acca-000f424f7da7"/>
    <xsd:import namespace="6bff29df-e80b-4a73-953f-e802c634e42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ObjectDetectorVersions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c0b812-7f7d-4aca-acca-000f424f7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f29df-e80b-4a73-953f-e802c634e42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cc0b812-7f7d-4aca-acca-000f424f7da7" xsi:nil="true"/>
  </documentManagement>
</p:properties>
</file>

<file path=customXml/itemProps1.xml><?xml version="1.0" encoding="utf-8"?>
<ds:datastoreItem xmlns:ds="http://schemas.openxmlformats.org/officeDocument/2006/customXml" ds:itemID="{020046ED-FC17-4763-85B9-BF66B017B5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c0b812-7f7d-4aca-acca-000f424f7da7"/>
    <ds:schemaRef ds:uri="6bff29df-e80b-4a73-953f-e802c634e4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6C4173-F66F-44B1-B43F-26B3D27A44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1D6757-8B9C-4C61-B233-892458B2CCDC}">
  <ds:schemaRefs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6bff29df-e80b-4a73-953f-e802c634e429"/>
    <ds:schemaRef ds:uri="3cc0b812-7f7d-4aca-acca-000f424f7da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1940</TotalTime>
  <Words>1103</Words>
  <Application>Microsoft Office PowerPoint</Application>
  <PresentationFormat>On-screen Show (4:3)</PresentationFormat>
  <Paragraphs>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Garamond</vt:lpstr>
      <vt:lpstr>Office Theme</vt:lpstr>
      <vt:lpstr>Terms implied by SGA 1979, s. 12</vt:lpstr>
      <vt:lpstr>Introduction (I)</vt:lpstr>
      <vt:lpstr>Implied terms under SGA s.12</vt:lpstr>
      <vt:lpstr>s.12(1) – right to sell: complications</vt:lpstr>
      <vt:lpstr>Effect of breach of s.12(1)</vt:lpstr>
      <vt:lpstr>Effect of breach of s.12(1)</vt:lpstr>
      <vt:lpstr>s.12(2)(a) and (b)</vt:lpstr>
      <vt:lpstr>Case law – quiet possession</vt:lpstr>
      <vt:lpstr>Quiet possession – scope of S’s obligation </vt:lpstr>
      <vt:lpstr>Microbeads case</vt:lpstr>
      <vt:lpstr>s.12(3) – s.12(5)</vt:lpstr>
      <vt:lpstr>Consumer Rights Act 2015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Terms implied by SGA 1979, s. 12</dc:title>
  <dc:subject/>
  <dc:creator>ADEYEYE, ADEFOLAKE O.</dc:creator>
  <cp:keywords/>
  <dc:description/>
  <cp:lastModifiedBy>AVERY, RACHEL J.</cp:lastModifiedBy>
  <cp:revision>123</cp:revision>
  <cp:lastPrinted>2015-02-04T12:10:52Z</cp:lastPrinted>
  <dcterms:created xsi:type="dcterms:W3CDTF">2013-02-04T16:03:44Z</dcterms:created>
  <dcterms:modified xsi:type="dcterms:W3CDTF">2025-01-07T09:28:28Z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0x01010009A4B24C251BCD4291F2C2F3A608C810</vt:lpwstr>
  </property>
</Properties>
</file>