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4"/>
  </p:sldMasterIdLst>
  <p:notesMasterIdLst>
    <p:notesMasterId r:id="rId26"/>
  </p:notesMasterIdLst>
  <p:sldIdLst>
    <p:sldId id="256" r:id="rId5"/>
    <p:sldId id="257" r:id="rId6"/>
    <p:sldId id="258" r:id="rId7"/>
    <p:sldId id="259" r:id="rId8"/>
    <p:sldId id="260" r:id="rId9"/>
    <p:sldId id="274" r:id="rId10"/>
    <p:sldId id="261" r:id="rId11"/>
    <p:sldId id="264" r:id="rId12"/>
    <p:sldId id="275" r:id="rId13"/>
    <p:sldId id="262" r:id="rId14"/>
    <p:sldId id="265" r:id="rId15"/>
    <p:sldId id="276" r:id="rId16"/>
    <p:sldId id="266" r:id="rId17"/>
    <p:sldId id="267" r:id="rId18"/>
    <p:sldId id="268" r:id="rId19"/>
    <p:sldId id="269" r:id="rId20"/>
    <p:sldId id="270" r:id="rId21"/>
    <p:sldId id="271" r:id="rId22"/>
    <p:sldId id="278" r:id="rId23"/>
    <p:sldId id="272" r:id="rId24"/>
    <p:sldId id="277"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entury Gothic" panose="020B0502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entury Gothic" panose="020B0502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entury Gothic" panose="020B0502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entury Gothic" panose="020B0502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entury Gothic" panose="020B0502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entury Gothic" panose="020B0502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entury Gothic" panose="020B0502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entury Gothic" panose="020B0502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entury Gothic" panose="020B0502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63" d="100"/>
          <a:sy n="63" d="100"/>
        </p:scale>
        <p:origin x="1864"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82766-59C8-4AD5-BCDB-9217CD70774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Arial" charset="0"/>
              </a:defRPr>
            </a:lvl1pPr>
          </a:lstStyle>
          <a:p>
            <a:pPr>
              <a:defRPr/>
            </a:pPr>
            <a:endParaRPr lang="en-GB"/>
          </a:p>
        </p:txBody>
      </p:sp>
      <p:sp>
        <p:nvSpPr>
          <p:cNvPr id="3" name="Date Placeholder 2">
            <a:extLst>
              <a:ext uri="{FF2B5EF4-FFF2-40B4-BE49-F238E27FC236}">
                <a16:creationId xmlns:a16="http://schemas.microsoft.com/office/drawing/2014/main" id="{0E443BC3-1658-4F62-8BCE-A256B9951290}"/>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cs typeface="Arial" charset="0"/>
              </a:defRPr>
            </a:lvl1pPr>
          </a:lstStyle>
          <a:p>
            <a:pPr>
              <a:defRPr/>
            </a:pPr>
            <a:fld id="{95A6F588-C2CA-48C1-853C-E11577B82F1D}" type="datetimeFigureOut">
              <a:rPr lang="en-GB"/>
              <a:pPr>
                <a:defRPr/>
              </a:pPr>
              <a:t>10/09/2024</a:t>
            </a:fld>
            <a:endParaRPr lang="en-GB"/>
          </a:p>
        </p:txBody>
      </p:sp>
      <p:sp>
        <p:nvSpPr>
          <p:cNvPr id="4" name="Slide Image Placeholder 3">
            <a:extLst>
              <a:ext uri="{FF2B5EF4-FFF2-40B4-BE49-F238E27FC236}">
                <a16:creationId xmlns:a16="http://schemas.microsoft.com/office/drawing/2014/main" id="{BBCEB9C5-BF1B-470A-9B33-02F355184D1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72F82B6C-E0FD-4F69-BC88-A853F9CE7B19}"/>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7336D63E-E0E2-43B2-B337-D556FB79564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Arial" charset="0"/>
              </a:defRPr>
            </a:lvl1pPr>
          </a:lstStyle>
          <a:p>
            <a:pPr>
              <a:defRPr/>
            </a:pPr>
            <a:endParaRPr lang="en-GB"/>
          </a:p>
        </p:txBody>
      </p:sp>
      <p:sp>
        <p:nvSpPr>
          <p:cNvPr id="7" name="Slide Number Placeholder 6">
            <a:extLst>
              <a:ext uri="{FF2B5EF4-FFF2-40B4-BE49-F238E27FC236}">
                <a16:creationId xmlns:a16="http://schemas.microsoft.com/office/drawing/2014/main" id="{BF068B7F-EEE9-479B-8A3E-5DEDBD99D75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511F9A41-CDEB-4072-BDF0-D8A6C4FD3F2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12D16C-E07B-4BE2-A05F-4C808533D798}"/>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0B011751-56F9-43A6-B4EE-46475AC0876C}"/>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EB696B4D-0F47-422F-B3F3-34499480512B}"/>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D43A3540-76AB-4C3F-9F88-1A39A578DC6C}"/>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Straight Connector 9">
            <a:extLst>
              <a:ext uri="{FF2B5EF4-FFF2-40B4-BE49-F238E27FC236}">
                <a16:creationId xmlns:a16="http://schemas.microsoft.com/office/drawing/2014/main" id="{0E2D3F61-D8CE-4D47-AED1-173D0742738D}"/>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cs typeface="Arial" charset="0"/>
            </a:endParaRPr>
          </a:p>
        </p:txBody>
      </p:sp>
      <p:sp>
        <p:nvSpPr>
          <p:cNvPr id="11" name="Straight Connector 10">
            <a:extLst>
              <a:ext uri="{FF2B5EF4-FFF2-40B4-BE49-F238E27FC236}">
                <a16:creationId xmlns:a16="http://schemas.microsoft.com/office/drawing/2014/main" id="{D73DC9C5-57EB-4528-9B96-0468B7033763}"/>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cs typeface="Arial" charset="0"/>
            </a:endParaRPr>
          </a:p>
        </p:txBody>
      </p:sp>
      <p:sp>
        <p:nvSpPr>
          <p:cNvPr id="12" name="Straight Connector 11">
            <a:extLst>
              <a:ext uri="{FF2B5EF4-FFF2-40B4-BE49-F238E27FC236}">
                <a16:creationId xmlns:a16="http://schemas.microsoft.com/office/drawing/2014/main" id="{EAB89369-565E-443E-956A-3E10EA8E6114}"/>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13" name="Straight Connector 12">
            <a:extLst>
              <a:ext uri="{FF2B5EF4-FFF2-40B4-BE49-F238E27FC236}">
                <a16:creationId xmlns:a16="http://schemas.microsoft.com/office/drawing/2014/main" id="{E0CF2208-BC00-4306-B582-E746BC661C02}"/>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cs typeface="Arial" charset="0"/>
            </a:endParaRPr>
          </a:p>
        </p:txBody>
      </p:sp>
      <p:sp>
        <p:nvSpPr>
          <p:cNvPr id="14" name="Straight Connector 13">
            <a:extLst>
              <a:ext uri="{FF2B5EF4-FFF2-40B4-BE49-F238E27FC236}">
                <a16:creationId xmlns:a16="http://schemas.microsoft.com/office/drawing/2014/main" id="{FC6FBE1B-CAA0-4AFB-BC0E-58F2551374D8}"/>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15" name="Straight Connector 14">
            <a:extLst>
              <a:ext uri="{FF2B5EF4-FFF2-40B4-BE49-F238E27FC236}">
                <a16:creationId xmlns:a16="http://schemas.microsoft.com/office/drawing/2014/main" id="{0385412C-1289-49D6-99C9-816D7630937D}"/>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16" name="Rectangle 15">
            <a:extLst>
              <a:ext uri="{FF2B5EF4-FFF2-40B4-BE49-F238E27FC236}">
                <a16:creationId xmlns:a16="http://schemas.microsoft.com/office/drawing/2014/main" id="{50159650-F211-4067-B5FE-4576BD36AF43}"/>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a:extLst>
              <a:ext uri="{FF2B5EF4-FFF2-40B4-BE49-F238E27FC236}">
                <a16:creationId xmlns:a16="http://schemas.microsoft.com/office/drawing/2014/main" id="{13837351-1EE3-42A2-BF05-6CE4A989E597}"/>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a:extLst>
              <a:ext uri="{FF2B5EF4-FFF2-40B4-BE49-F238E27FC236}">
                <a16:creationId xmlns:a16="http://schemas.microsoft.com/office/drawing/2014/main" id="{A0739128-47E1-4FA8-A9BC-9AA2E4A3EE43}"/>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Oval 18">
            <a:extLst>
              <a:ext uri="{FF2B5EF4-FFF2-40B4-BE49-F238E27FC236}">
                <a16:creationId xmlns:a16="http://schemas.microsoft.com/office/drawing/2014/main" id="{6ABC4F98-B605-4E61-A24D-B010E3665CD9}"/>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0" name="Oval 19">
            <a:extLst>
              <a:ext uri="{FF2B5EF4-FFF2-40B4-BE49-F238E27FC236}">
                <a16:creationId xmlns:a16="http://schemas.microsoft.com/office/drawing/2014/main" id="{2C31595C-5D24-4B2D-98C3-BCA2876A6088}"/>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1" name="Oval 20">
            <a:extLst>
              <a:ext uri="{FF2B5EF4-FFF2-40B4-BE49-F238E27FC236}">
                <a16:creationId xmlns:a16="http://schemas.microsoft.com/office/drawing/2014/main" id="{55316470-7931-44D2-A056-6AB76738198B}"/>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a:extLst>
              <a:ext uri="{FF2B5EF4-FFF2-40B4-BE49-F238E27FC236}">
                <a16:creationId xmlns:a16="http://schemas.microsoft.com/office/drawing/2014/main" id="{110821D1-818F-40AE-A69C-3481415EE87F}"/>
              </a:ext>
            </a:extLst>
          </p:cNvPr>
          <p:cNvSpPr>
            <a:spLocks noGrp="1"/>
          </p:cNvSpPr>
          <p:nvPr>
            <p:ph type="dt" sz="half" idx="10"/>
          </p:nvPr>
        </p:nvSpPr>
        <p:spPr bwMode="auto">
          <a:xfrm rot="5400000">
            <a:off x="7764463" y="1174750"/>
            <a:ext cx="2286000" cy="381000"/>
          </a:xfrm>
        </p:spPr>
        <p:txBody>
          <a:bodyPr/>
          <a:lstStyle>
            <a:lvl1pPr>
              <a:defRPr/>
            </a:lvl1pPr>
          </a:lstStyle>
          <a:p>
            <a:pPr>
              <a:defRPr/>
            </a:pPr>
            <a:fld id="{D9280DCB-0CED-4429-A0EA-CD89824307C9}" type="datetime1">
              <a:rPr lang="en-US"/>
              <a:pPr>
                <a:defRPr/>
              </a:pPr>
              <a:t>9/10/2024</a:t>
            </a:fld>
            <a:endParaRPr lang="en-US"/>
          </a:p>
        </p:txBody>
      </p:sp>
      <p:sp>
        <p:nvSpPr>
          <p:cNvPr id="23" name="Footer Placeholder 16">
            <a:extLst>
              <a:ext uri="{FF2B5EF4-FFF2-40B4-BE49-F238E27FC236}">
                <a16:creationId xmlns:a16="http://schemas.microsoft.com/office/drawing/2014/main" id="{D9B67E8C-3775-4D04-9040-B99A18098E14}"/>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a:extLst>
              <a:ext uri="{FF2B5EF4-FFF2-40B4-BE49-F238E27FC236}">
                <a16:creationId xmlns:a16="http://schemas.microsoft.com/office/drawing/2014/main" id="{F28BB459-4749-4CB0-B5B5-B814D45874F7}"/>
              </a:ext>
            </a:extLst>
          </p:cNvPr>
          <p:cNvSpPr>
            <a:spLocks noGrp="1"/>
          </p:cNvSpPr>
          <p:nvPr>
            <p:ph type="sldNum" sz="quarter" idx="12"/>
          </p:nvPr>
        </p:nvSpPr>
        <p:spPr bwMode="auto">
          <a:xfrm>
            <a:off x="1325563" y="4929188"/>
            <a:ext cx="609600" cy="517525"/>
          </a:xfrm>
        </p:spPr>
        <p:txBody>
          <a:bodyPr/>
          <a:lstStyle>
            <a:lvl1pPr>
              <a:defRPr/>
            </a:lvl1pPr>
          </a:lstStyle>
          <a:p>
            <a:fld id="{9BBEF0C5-8D57-4EA4-951C-A87D3989950D}" type="slidenum">
              <a:rPr lang="en-US" altLang="en-US"/>
              <a:pPr/>
              <a:t>‹#›</a:t>
            </a:fld>
            <a:endParaRPr lang="en-US" altLang="en-US"/>
          </a:p>
        </p:txBody>
      </p:sp>
    </p:spTree>
    <p:extLst>
      <p:ext uri="{BB962C8B-B14F-4D97-AF65-F5344CB8AC3E}">
        <p14:creationId xmlns:p14="http://schemas.microsoft.com/office/powerpoint/2010/main" val="365774363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4957C64E-5568-4A44-860B-1DDA3472FB72}"/>
              </a:ext>
            </a:extLst>
          </p:cNvPr>
          <p:cNvSpPr>
            <a:spLocks noGrp="1"/>
          </p:cNvSpPr>
          <p:nvPr>
            <p:ph type="dt" sz="half" idx="10"/>
          </p:nvPr>
        </p:nvSpPr>
        <p:spPr/>
        <p:txBody>
          <a:bodyPr rtlCol="0"/>
          <a:lstStyle>
            <a:lvl1pPr>
              <a:defRPr/>
            </a:lvl1pPr>
          </a:lstStyle>
          <a:p>
            <a:pPr>
              <a:defRPr/>
            </a:pPr>
            <a:fld id="{1D969E0C-4875-4C79-9941-DEA0DA7672BB}" type="datetime1">
              <a:rPr lang="en-US"/>
              <a:pPr>
                <a:defRPr/>
              </a:pPr>
              <a:t>9/10/2024</a:t>
            </a:fld>
            <a:endParaRPr lang="en-US"/>
          </a:p>
        </p:txBody>
      </p:sp>
      <p:sp>
        <p:nvSpPr>
          <p:cNvPr id="5" name="Slide Number Placeholder 8">
            <a:extLst>
              <a:ext uri="{FF2B5EF4-FFF2-40B4-BE49-F238E27FC236}">
                <a16:creationId xmlns:a16="http://schemas.microsoft.com/office/drawing/2014/main" id="{3F76DC6B-751F-4D22-B6FF-400357E5561F}"/>
              </a:ext>
            </a:extLst>
          </p:cNvPr>
          <p:cNvSpPr>
            <a:spLocks noGrp="1"/>
          </p:cNvSpPr>
          <p:nvPr>
            <p:ph type="sldNum" sz="quarter" idx="11"/>
          </p:nvPr>
        </p:nvSpPr>
        <p:spPr/>
        <p:txBody>
          <a:bodyPr/>
          <a:lstStyle>
            <a:lvl1pPr>
              <a:defRPr/>
            </a:lvl1pPr>
          </a:lstStyle>
          <a:p>
            <a:fld id="{C30B2CCA-7FE8-4DB5-80C8-8F8F039FA7F7}" type="slidenum">
              <a:rPr lang="en-US" altLang="en-US"/>
              <a:pPr/>
              <a:t>‹#›</a:t>
            </a:fld>
            <a:endParaRPr lang="en-US" altLang="en-US"/>
          </a:p>
        </p:txBody>
      </p:sp>
      <p:sp>
        <p:nvSpPr>
          <p:cNvPr id="6" name="Footer Placeholder 9">
            <a:extLst>
              <a:ext uri="{FF2B5EF4-FFF2-40B4-BE49-F238E27FC236}">
                <a16:creationId xmlns:a16="http://schemas.microsoft.com/office/drawing/2014/main" id="{3B4297D5-89EE-4E70-926A-86B71B6795AB}"/>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34690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E42298-77D5-4FD9-A34E-BB160D21CEE4}"/>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4C4D4AEF-0588-4A6A-807E-4E5D99104B53}"/>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319698F4-1631-4364-A6EB-FC82FBF6B1E5}"/>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35181929-0D03-4FBC-AAD6-0E6EE34FB6A7}"/>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Straight Connector 7">
            <a:extLst>
              <a:ext uri="{FF2B5EF4-FFF2-40B4-BE49-F238E27FC236}">
                <a16:creationId xmlns:a16="http://schemas.microsoft.com/office/drawing/2014/main" id="{D3303410-0BE2-42A4-9F2E-CD75A53C7AFB}"/>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cs typeface="Arial" charset="0"/>
            </a:endParaRPr>
          </a:p>
        </p:txBody>
      </p:sp>
      <p:sp>
        <p:nvSpPr>
          <p:cNvPr id="9" name="Straight Connector 8">
            <a:extLst>
              <a:ext uri="{FF2B5EF4-FFF2-40B4-BE49-F238E27FC236}">
                <a16:creationId xmlns:a16="http://schemas.microsoft.com/office/drawing/2014/main" id="{B3FE2008-FE13-4F3D-99FC-ED3FA6D290C3}"/>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cs typeface="Arial" charset="0"/>
            </a:endParaRPr>
          </a:p>
        </p:txBody>
      </p:sp>
      <p:sp>
        <p:nvSpPr>
          <p:cNvPr id="10" name="Straight Connector 9">
            <a:extLst>
              <a:ext uri="{FF2B5EF4-FFF2-40B4-BE49-F238E27FC236}">
                <a16:creationId xmlns:a16="http://schemas.microsoft.com/office/drawing/2014/main" id="{4B3B7EDD-04BC-461C-B131-6234E373120E}"/>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11" name="Straight Connector 10">
            <a:extLst>
              <a:ext uri="{FF2B5EF4-FFF2-40B4-BE49-F238E27FC236}">
                <a16:creationId xmlns:a16="http://schemas.microsoft.com/office/drawing/2014/main" id="{33EB1A83-C1F1-48B6-A61B-6303C2871FC1}"/>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cs typeface="Arial" charset="0"/>
            </a:endParaRPr>
          </a:p>
        </p:txBody>
      </p:sp>
      <p:sp>
        <p:nvSpPr>
          <p:cNvPr id="12" name="Straight Connector 11">
            <a:extLst>
              <a:ext uri="{FF2B5EF4-FFF2-40B4-BE49-F238E27FC236}">
                <a16:creationId xmlns:a16="http://schemas.microsoft.com/office/drawing/2014/main" id="{8249445F-2091-420B-87CA-8312CF305424}"/>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13" name="Rectangle 12">
            <a:extLst>
              <a:ext uri="{FF2B5EF4-FFF2-40B4-BE49-F238E27FC236}">
                <a16:creationId xmlns:a16="http://schemas.microsoft.com/office/drawing/2014/main" id="{8B42ADF5-BD0D-4494-9551-2322ED52A0D2}"/>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4" name="Oval 13">
            <a:extLst>
              <a:ext uri="{FF2B5EF4-FFF2-40B4-BE49-F238E27FC236}">
                <a16:creationId xmlns:a16="http://schemas.microsoft.com/office/drawing/2014/main" id="{DE7AA5A2-0544-4EE7-8A54-7F32ECDA70AD}"/>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5" name="Oval 14">
            <a:extLst>
              <a:ext uri="{FF2B5EF4-FFF2-40B4-BE49-F238E27FC236}">
                <a16:creationId xmlns:a16="http://schemas.microsoft.com/office/drawing/2014/main" id="{CAB3DD2A-4DB4-4EBE-B15A-DEDED3885949}"/>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Oval 15">
            <a:extLst>
              <a:ext uri="{FF2B5EF4-FFF2-40B4-BE49-F238E27FC236}">
                <a16:creationId xmlns:a16="http://schemas.microsoft.com/office/drawing/2014/main" id="{BEBC9496-24F0-4453-9373-2E29D1A5FCE2}"/>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a:extLst>
              <a:ext uri="{FF2B5EF4-FFF2-40B4-BE49-F238E27FC236}">
                <a16:creationId xmlns:a16="http://schemas.microsoft.com/office/drawing/2014/main" id="{94E7CD0F-79C6-4F43-B7EB-08933400E912}"/>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a:extLst>
              <a:ext uri="{FF2B5EF4-FFF2-40B4-BE49-F238E27FC236}">
                <a16:creationId xmlns:a16="http://schemas.microsoft.com/office/drawing/2014/main" id="{27F71CDC-0E66-4272-B533-7B3DF3C37C11}"/>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Straight Connector 18">
            <a:extLst>
              <a:ext uri="{FF2B5EF4-FFF2-40B4-BE49-F238E27FC236}">
                <a16:creationId xmlns:a16="http://schemas.microsoft.com/office/drawing/2014/main" id="{F2C2EF7B-3E78-4867-9B3D-0A86D08881C3}"/>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a:extLst>
              <a:ext uri="{FF2B5EF4-FFF2-40B4-BE49-F238E27FC236}">
                <a16:creationId xmlns:a16="http://schemas.microsoft.com/office/drawing/2014/main" id="{9226D95B-0704-4C01-A128-8AF9DFC9671A}"/>
              </a:ext>
            </a:extLst>
          </p:cNvPr>
          <p:cNvSpPr>
            <a:spLocks noGrp="1"/>
          </p:cNvSpPr>
          <p:nvPr>
            <p:ph type="dt" sz="half" idx="10"/>
          </p:nvPr>
        </p:nvSpPr>
        <p:spPr bwMode="auto">
          <a:xfrm rot="5400000">
            <a:off x="7762875" y="1169988"/>
            <a:ext cx="2286000" cy="381000"/>
          </a:xfrm>
        </p:spPr>
        <p:txBody>
          <a:bodyPr/>
          <a:lstStyle>
            <a:lvl1pPr>
              <a:defRPr/>
            </a:lvl1pPr>
          </a:lstStyle>
          <a:p>
            <a:pPr>
              <a:defRPr/>
            </a:pPr>
            <a:fld id="{945AB8A4-050D-4153-A404-FCF782C4D748}" type="datetime1">
              <a:rPr lang="en-US"/>
              <a:pPr>
                <a:defRPr/>
              </a:pPr>
              <a:t>9/10/2024</a:t>
            </a:fld>
            <a:endParaRPr lang="en-US"/>
          </a:p>
        </p:txBody>
      </p:sp>
      <p:sp>
        <p:nvSpPr>
          <p:cNvPr id="21" name="Footer Placeholder 4">
            <a:extLst>
              <a:ext uri="{FF2B5EF4-FFF2-40B4-BE49-F238E27FC236}">
                <a16:creationId xmlns:a16="http://schemas.microsoft.com/office/drawing/2014/main" id="{34D5AC08-BCB1-4272-9993-D0A999832481}"/>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a:extLst>
              <a:ext uri="{FF2B5EF4-FFF2-40B4-BE49-F238E27FC236}">
                <a16:creationId xmlns:a16="http://schemas.microsoft.com/office/drawing/2014/main" id="{8954A1F0-9AD6-4B8B-AA90-D2AC87E80CA1}"/>
              </a:ext>
            </a:extLst>
          </p:cNvPr>
          <p:cNvSpPr>
            <a:spLocks noGrp="1"/>
          </p:cNvSpPr>
          <p:nvPr>
            <p:ph type="sldNum" sz="quarter" idx="12"/>
          </p:nvPr>
        </p:nvSpPr>
        <p:spPr bwMode="auto">
          <a:xfrm>
            <a:off x="1339850" y="4929188"/>
            <a:ext cx="609600" cy="517525"/>
          </a:xfrm>
        </p:spPr>
        <p:txBody>
          <a:bodyPr/>
          <a:lstStyle>
            <a:lvl1pPr>
              <a:defRPr/>
            </a:lvl1pPr>
          </a:lstStyle>
          <a:p>
            <a:fld id="{7DF6C0C3-F969-4F47-BBB3-DE616F7CF0BA}" type="slidenum">
              <a:rPr lang="en-US" altLang="en-US"/>
              <a:pPr/>
              <a:t>‹#›</a:t>
            </a:fld>
            <a:endParaRPr lang="en-US" altLang="en-US"/>
          </a:p>
        </p:txBody>
      </p:sp>
    </p:spTree>
    <p:extLst>
      <p:ext uri="{BB962C8B-B14F-4D97-AF65-F5344CB8AC3E}">
        <p14:creationId xmlns:p14="http://schemas.microsoft.com/office/powerpoint/2010/main" val="238259895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CB006E3-357D-47EF-8F7B-EEAAF3FBB171}"/>
              </a:ext>
            </a:extLst>
          </p:cNvPr>
          <p:cNvSpPr>
            <a:spLocks noGrp="1"/>
          </p:cNvSpPr>
          <p:nvPr>
            <p:ph type="dt" sz="half" idx="10"/>
          </p:nvPr>
        </p:nvSpPr>
        <p:spPr/>
        <p:txBody>
          <a:bodyPr/>
          <a:lstStyle>
            <a:lvl1pPr>
              <a:defRPr/>
            </a:lvl1pPr>
          </a:lstStyle>
          <a:p>
            <a:pPr>
              <a:defRPr/>
            </a:pPr>
            <a:fld id="{812E6604-62A5-4DB0-B50A-EC9130CA9D83}" type="datetime1">
              <a:rPr lang="en-US"/>
              <a:pPr>
                <a:defRPr/>
              </a:pPr>
              <a:t>9/10/2024</a:t>
            </a:fld>
            <a:endParaRPr lang="en-US"/>
          </a:p>
        </p:txBody>
      </p:sp>
      <p:sp>
        <p:nvSpPr>
          <p:cNvPr id="6" name="Footer Placeholder 2">
            <a:extLst>
              <a:ext uri="{FF2B5EF4-FFF2-40B4-BE49-F238E27FC236}">
                <a16:creationId xmlns:a16="http://schemas.microsoft.com/office/drawing/2014/main" id="{55B28143-E19B-4850-990B-24746C47351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498713AC-2CB2-45E7-BFA8-DA89298ACA4B}"/>
              </a:ext>
            </a:extLst>
          </p:cNvPr>
          <p:cNvSpPr>
            <a:spLocks noGrp="1"/>
          </p:cNvSpPr>
          <p:nvPr>
            <p:ph type="sldNum" sz="quarter" idx="12"/>
          </p:nvPr>
        </p:nvSpPr>
        <p:spPr/>
        <p:txBody>
          <a:bodyPr/>
          <a:lstStyle>
            <a:lvl1pPr>
              <a:defRPr/>
            </a:lvl1pPr>
          </a:lstStyle>
          <a:p>
            <a:fld id="{05D66989-B629-4BBB-A53C-EA22A41ECD61}" type="slidenum">
              <a:rPr lang="en-US" altLang="en-US"/>
              <a:pPr/>
              <a:t>‹#›</a:t>
            </a:fld>
            <a:endParaRPr lang="en-US" altLang="en-US"/>
          </a:p>
        </p:txBody>
      </p:sp>
    </p:spTree>
    <p:extLst>
      <p:ext uri="{BB962C8B-B14F-4D97-AF65-F5344CB8AC3E}">
        <p14:creationId xmlns:p14="http://schemas.microsoft.com/office/powerpoint/2010/main" val="174569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a:extLst>
              <a:ext uri="{FF2B5EF4-FFF2-40B4-BE49-F238E27FC236}">
                <a16:creationId xmlns:a16="http://schemas.microsoft.com/office/drawing/2014/main" id="{9D4BB2A4-DDBB-4C96-A0B4-751C035570FB}"/>
              </a:ext>
            </a:extLst>
          </p:cNvPr>
          <p:cNvSpPr>
            <a:spLocks noGrp="1"/>
          </p:cNvSpPr>
          <p:nvPr>
            <p:ph type="dt" sz="half" idx="10"/>
          </p:nvPr>
        </p:nvSpPr>
        <p:spPr/>
        <p:txBody>
          <a:bodyPr/>
          <a:lstStyle>
            <a:lvl1pPr>
              <a:defRPr/>
            </a:lvl1pPr>
          </a:lstStyle>
          <a:p>
            <a:pPr>
              <a:defRPr/>
            </a:pPr>
            <a:fld id="{5F848871-7ADB-4AC4-A8C9-35177361449A}" type="datetime1">
              <a:rPr lang="en-US"/>
              <a:pPr>
                <a:defRPr/>
              </a:pPr>
              <a:t>9/10/2024</a:t>
            </a:fld>
            <a:endParaRPr lang="en-US"/>
          </a:p>
        </p:txBody>
      </p:sp>
      <p:sp>
        <p:nvSpPr>
          <p:cNvPr id="8" name="Footer Placeholder 2">
            <a:extLst>
              <a:ext uri="{FF2B5EF4-FFF2-40B4-BE49-F238E27FC236}">
                <a16:creationId xmlns:a16="http://schemas.microsoft.com/office/drawing/2014/main" id="{055F2DFE-C36C-4E24-BBE4-9F9DF15A71A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3CDF99A6-9817-4F05-8AA7-FAF0E3F3A46D}"/>
              </a:ext>
            </a:extLst>
          </p:cNvPr>
          <p:cNvSpPr>
            <a:spLocks noGrp="1"/>
          </p:cNvSpPr>
          <p:nvPr>
            <p:ph type="sldNum" sz="quarter" idx="12"/>
          </p:nvPr>
        </p:nvSpPr>
        <p:spPr/>
        <p:txBody>
          <a:bodyPr/>
          <a:lstStyle>
            <a:lvl1pPr>
              <a:defRPr/>
            </a:lvl1pPr>
          </a:lstStyle>
          <a:p>
            <a:fld id="{D7A8F37B-8CB6-4281-B405-90799D962701}" type="slidenum">
              <a:rPr lang="en-US" altLang="en-US"/>
              <a:pPr/>
              <a:t>‹#›</a:t>
            </a:fld>
            <a:endParaRPr lang="en-US" altLang="en-US"/>
          </a:p>
        </p:txBody>
      </p:sp>
    </p:spTree>
    <p:extLst>
      <p:ext uri="{BB962C8B-B14F-4D97-AF65-F5344CB8AC3E}">
        <p14:creationId xmlns:p14="http://schemas.microsoft.com/office/powerpoint/2010/main" val="1202919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a:extLst>
              <a:ext uri="{FF2B5EF4-FFF2-40B4-BE49-F238E27FC236}">
                <a16:creationId xmlns:a16="http://schemas.microsoft.com/office/drawing/2014/main" id="{FB45CB80-844E-4D00-9BAA-3A62A8CDCB4F}"/>
              </a:ext>
            </a:extLst>
          </p:cNvPr>
          <p:cNvSpPr>
            <a:spLocks noGrp="1"/>
          </p:cNvSpPr>
          <p:nvPr>
            <p:ph type="dt" sz="half" idx="10"/>
          </p:nvPr>
        </p:nvSpPr>
        <p:spPr/>
        <p:txBody>
          <a:bodyPr rtlCol="0"/>
          <a:lstStyle>
            <a:lvl1pPr>
              <a:defRPr/>
            </a:lvl1pPr>
          </a:lstStyle>
          <a:p>
            <a:pPr>
              <a:defRPr/>
            </a:pPr>
            <a:fld id="{1CC6B96D-E281-4938-B0B1-4B77FF2AB7D0}" type="datetime1">
              <a:rPr lang="en-US"/>
              <a:pPr>
                <a:defRPr/>
              </a:pPr>
              <a:t>9/10/2024</a:t>
            </a:fld>
            <a:endParaRPr lang="en-US"/>
          </a:p>
        </p:txBody>
      </p:sp>
      <p:sp>
        <p:nvSpPr>
          <p:cNvPr id="4" name="Slide Number Placeholder 6">
            <a:extLst>
              <a:ext uri="{FF2B5EF4-FFF2-40B4-BE49-F238E27FC236}">
                <a16:creationId xmlns:a16="http://schemas.microsoft.com/office/drawing/2014/main" id="{48E07772-BBBA-483D-9384-EB804F807865}"/>
              </a:ext>
            </a:extLst>
          </p:cNvPr>
          <p:cNvSpPr>
            <a:spLocks noGrp="1"/>
          </p:cNvSpPr>
          <p:nvPr>
            <p:ph type="sldNum" sz="quarter" idx="11"/>
          </p:nvPr>
        </p:nvSpPr>
        <p:spPr/>
        <p:txBody>
          <a:bodyPr/>
          <a:lstStyle>
            <a:lvl1pPr>
              <a:defRPr/>
            </a:lvl1pPr>
          </a:lstStyle>
          <a:p>
            <a:fld id="{EA74F8DB-7238-45F8-B974-1B2A9E8C67A5}" type="slidenum">
              <a:rPr lang="en-US" altLang="en-US"/>
              <a:pPr/>
              <a:t>‹#›</a:t>
            </a:fld>
            <a:endParaRPr lang="en-US" altLang="en-US"/>
          </a:p>
        </p:txBody>
      </p:sp>
      <p:sp>
        <p:nvSpPr>
          <p:cNvPr id="5" name="Footer Placeholder 7">
            <a:extLst>
              <a:ext uri="{FF2B5EF4-FFF2-40B4-BE49-F238E27FC236}">
                <a16:creationId xmlns:a16="http://schemas.microsoft.com/office/drawing/2014/main" id="{46C7F8E4-D897-4D88-B667-94358B5A143E}"/>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10345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A22010C5-FCFC-4162-91A7-6D3B8386117B}"/>
              </a:ext>
            </a:extLst>
          </p:cNvPr>
          <p:cNvSpPr>
            <a:spLocks noGrp="1"/>
          </p:cNvSpPr>
          <p:nvPr>
            <p:ph type="dt" sz="half" idx="10"/>
          </p:nvPr>
        </p:nvSpPr>
        <p:spPr/>
        <p:txBody>
          <a:bodyPr/>
          <a:lstStyle>
            <a:lvl1pPr>
              <a:defRPr/>
            </a:lvl1pPr>
          </a:lstStyle>
          <a:p>
            <a:pPr>
              <a:defRPr/>
            </a:pPr>
            <a:fld id="{A3F6D5CC-D8D8-43DC-AEE5-1CCCCAA2674F}" type="datetime1">
              <a:rPr lang="en-US"/>
              <a:pPr>
                <a:defRPr/>
              </a:pPr>
              <a:t>9/10/2024</a:t>
            </a:fld>
            <a:endParaRPr lang="en-US"/>
          </a:p>
        </p:txBody>
      </p:sp>
      <p:sp>
        <p:nvSpPr>
          <p:cNvPr id="3" name="Footer Placeholder 2">
            <a:extLst>
              <a:ext uri="{FF2B5EF4-FFF2-40B4-BE49-F238E27FC236}">
                <a16:creationId xmlns:a16="http://schemas.microsoft.com/office/drawing/2014/main" id="{520154B4-5E50-45A7-A86B-ACCECC2AA8B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2C3DD585-5FFB-4FB0-9474-EA782071EA11}"/>
              </a:ext>
            </a:extLst>
          </p:cNvPr>
          <p:cNvSpPr>
            <a:spLocks noGrp="1"/>
          </p:cNvSpPr>
          <p:nvPr>
            <p:ph type="sldNum" sz="quarter" idx="12"/>
          </p:nvPr>
        </p:nvSpPr>
        <p:spPr/>
        <p:txBody>
          <a:bodyPr/>
          <a:lstStyle>
            <a:lvl1pPr>
              <a:defRPr/>
            </a:lvl1pPr>
          </a:lstStyle>
          <a:p>
            <a:fld id="{0EEB763E-5C9A-402E-9136-A7EFACBDF8DF}" type="slidenum">
              <a:rPr lang="en-US" altLang="en-US"/>
              <a:pPr/>
              <a:t>‹#›</a:t>
            </a:fld>
            <a:endParaRPr lang="en-US" altLang="en-US"/>
          </a:p>
        </p:txBody>
      </p:sp>
    </p:spTree>
    <p:extLst>
      <p:ext uri="{BB962C8B-B14F-4D97-AF65-F5344CB8AC3E}">
        <p14:creationId xmlns:p14="http://schemas.microsoft.com/office/powerpoint/2010/main" val="4024542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905DE57E-3AE6-4EEE-8972-130AA5738562}"/>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cs typeface="Arial" charset="0"/>
            </a:endParaRPr>
          </a:p>
        </p:txBody>
      </p:sp>
      <p:sp>
        <p:nvSpPr>
          <p:cNvPr id="6" name="Straight Connector 5">
            <a:extLst>
              <a:ext uri="{FF2B5EF4-FFF2-40B4-BE49-F238E27FC236}">
                <a16:creationId xmlns:a16="http://schemas.microsoft.com/office/drawing/2014/main" id="{CBC90E44-EAFF-4713-A81B-8FA55D12650C}"/>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cs typeface="Arial" charset="0"/>
            </a:endParaRPr>
          </a:p>
        </p:txBody>
      </p:sp>
      <p:sp>
        <p:nvSpPr>
          <p:cNvPr id="7" name="Straight Connector 17">
            <a:extLst>
              <a:ext uri="{FF2B5EF4-FFF2-40B4-BE49-F238E27FC236}">
                <a16:creationId xmlns:a16="http://schemas.microsoft.com/office/drawing/2014/main" id="{F3C9D7CA-ECAD-4D89-81E9-83FBA398592D}"/>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p:spPr>
        <p:txBody>
          <a:bodyPr/>
          <a:lstStyle/>
          <a:p>
            <a:pPr>
              <a:defRPr/>
            </a:pPr>
            <a:endParaRPr lang="en-GB">
              <a:cs typeface="Arial" charset="0"/>
            </a:endParaRPr>
          </a:p>
        </p:txBody>
      </p:sp>
      <p:sp>
        <p:nvSpPr>
          <p:cNvPr id="8" name="Straight Connector 18">
            <a:extLst>
              <a:ext uri="{FF2B5EF4-FFF2-40B4-BE49-F238E27FC236}">
                <a16:creationId xmlns:a16="http://schemas.microsoft.com/office/drawing/2014/main" id="{B1C491D7-7884-4050-995C-F33D809A3EAE}"/>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p:spPr>
        <p:txBody>
          <a:bodyPr/>
          <a:lstStyle/>
          <a:p>
            <a:pPr>
              <a:defRPr/>
            </a:pPr>
            <a:endParaRPr lang="en-GB">
              <a:cs typeface="Arial" charset="0"/>
            </a:endParaRPr>
          </a:p>
        </p:txBody>
      </p:sp>
      <p:sp>
        <p:nvSpPr>
          <p:cNvPr id="9" name="Rectangle 8">
            <a:extLst>
              <a:ext uri="{FF2B5EF4-FFF2-40B4-BE49-F238E27FC236}">
                <a16:creationId xmlns:a16="http://schemas.microsoft.com/office/drawing/2014/main" id="{DBAD1217-944D-4194-A2A1-C5AEED343B5E}"/>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Straight Connector 20">
            <a:extLst>
              <a:ext uri="{FF2B5EF4-FFF2-40B4-BE49-F238E27FC236}">
                <a16:creationId xmlns:a16="http://schemas.microsoft.com/office/drawing/2014/main" id="{52850133-C612-4C11-85C5-7196D539AED7}"/>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p:spPr>
        <p:txBody>
          <a:bodyPr/>
          <a:lstStyle/>
          <a:p>
            <a:pPr>
              <a:defRPr/>
            </a:pPr>
            <a:endParaRPr lang="en-GB">
              <a:cs typeface="Arial" charset="0"/>
            </a:endParaRPr>
          </a:p>
        </p:txBody>
      </p:sp>
      <p:sp>
        <p:nvSpPr>
          <p:cNvPr id="11" name="Oval 10">
            <a:extLst>
              <a:ext uri="{FF2B5EF4-FFF2-40B4-BE49-F238E27FC236}">
                <a16:creationId xmlns:a16="http://schemas.microsoft.com/office/drawing/2014/main" id="{FD48212B-7D68-47FF-9C28-7A94E2AD9F46}"/>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a:extLst>
              <a:ext uri="{FF2B5EF4-FFF2-40B4-BE49-F238E27FC236}">
                <a16:creationId xmlns:a16="http://schemas.microsoft.com/office/drawing/2014/main" id="{015D37D5-C58B-4432-A674-2146CDF0DF6A}"/>
              </a:ext>
            </a:extLst>
          </p:cNvPr>
          <p:cNvSpPr>
            <a:spLocks noGrp="1"/>
          </p:cNvSpPr>
          <p:nvPr>
            <p:ph type="dt" sz="half" idx="10"/>
          </p:nvPr>
        </p:nvSpPr>
        <p:spPr/>
        <p:txBody>
          <a:bodyPr rtlCol="0"/>
          <a:lstStyle>
            <a:lvl1pPr>
              <a:defRPr/>
            </a:lvl1pPr>
          </a:lstStyle>
          <a:p>
            <a:pPr>
              <a:defRPr/>
            </a:pPr>
            <a:fld id="{8C5297FF-4504-45EE-B032-8F25C5BADBAC}" type="datetime1">
              <a:rPr lang="en-US"/>
              <a:pPr>
                <a:defRPr/>
              </a:pPr>
              <a:t>9/10/2024</a:t>
            </a:fld>
            <a:endParaRPr lang="en-US"/>
          </a:p>
        </p:txBody>
      </p:sp>
      <p:sp>
        <p:nvSpPr>
          <p:cNvPr id="13" name="Slide Number Placeholder 21">
            <a:extLst>
              <a:ext uri="{FF2B5EF4-FFF2-40B4-BE49-F238E27FC236}">
                <a16:creationId xmlns:a16="http://schemas.microsoft.com/office/drawing/2014/main" id="{5E567EA8-2855-4324-9986-E749C152400F}"/>
              </a:ext>
            </a:extLst>
          </p:cNvPr>
          <p:cNvSpPr>
            <a:spLocks noGrp="1"/>
          </p:cNvSpPr>
          <p:nvPr>
            <p:ph type="sldNum" sz="quarter" idx="11"/>
          </p:nvPr>
        </p:nvSpPr>
        <p:spPr/>
        <p:txBody>
          <a:bodyPr/>
          <a:lstStyle>
            <a:lvl1pPr>
              <a:defRPr/>
            </a:lvl1pPr>
          </a:lstStyle>
          <a:p>
            <a:fld id="{353D060F-4273-43C0-8F4C-5F203177C094}" type="slidenum">
              <a:rPr lang="en-US" altLang="en-US"/>
              <a:pPr/>
              <a:t>‹#›</a:t>
            </a:fld>
            <a:endParaRPr lang="en-US" altLang="en-US"/>
          </a:p>
        </p:txBody>
      </p:sp>
      <p:sp>
        <p:nvSpPr>
          <p:cNvPr id="14" name="Footer Placeholder 22">
            <a:extLst>
              <a:ext uri="{FF2B5EF4-FFF2-40B4-BE49-F238E27FC236}">
                <a16:creationId xmlns:a16="http://schemas.microsoft.com/office/drawing/2014/main" id="{6A4A77F2-5107-4112-850A-1018028B7E30}"/>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12376242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D6E627E9-50CE-4500-94FC-D5FD87980B62}"/>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6" name="Oval 5">
            <a:extLst>
              <a:ext uri="{FF2B5EF4-FFF2-40B4-BE49-F238E27FC236}">
                <a16:creationId xmlns:a16="http://schemas.microsoft.com/office/drawing/2014/main" id="{0360D347-826F-42F5-8D16-BB3E87EB0F07}"/>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Straight Connector 17">
            <a:extLst>
              <a:ext uri="{FF2B5EF4-FFF2-40B4-BE49-F238E27FC236}">
                <a16:creationId xmlns:a16="http://schemas.microsoft.com/office/drawing/2014/main" id="{ED8798C4-5CB5-4343-982D-EC9CAA948405}"/>
              </a:ext>
            </a:extLst>
          </p:cNvPr>
          <p:cNvSpPr>
            <a:spLocks noChangeShapeType="1"/>
          </p:cNvSpPr>
          <p:nvPr/>
        </p:nvSpPr>
        <p:spPr bwMode="auto">
          <a:xfrm>
            <a:off x="8991600" y="0"/>
            <a:ext cx="0" cy="6858000"/>
          </a:xfrm>
          <a:prstGeom prst="line">
            <a:avLst/>
          </a:prstGeom>
          <a:noFill/>
          <a:ln w="9525" algn="ctr">
            <a:solidFill>
              <a:schemeClr val="tx1"/>
            </a:solidFill>
            <a:round/>
            <a:headEnd/>
            <a:tailEnd/>
          </a:ln>
        </p:spPr>
        <p:txBody>
          <a:bodyPr/>
          <a:lstStyle/>
          <a:p>
            <a:pPr>
              <a:defRPr/>
            </a:pPr>
            <a:endParaRPr lang="en-GB">
              <a:cs typeface="Arial" charset="0"/>
            </a:endParaRPr>
          </a:p>
        </p:txBody>
      </p:sp>
      <p:sp>
        <p:nvSpPr>
          <p:cNvPr id="8" name="Rectangle 7">
            <a:extLst>
              <a:ext uri="{FF2B5EF4-FFF2-40B4-BE49-F238E27FC236}">
                <a16:creationId xmlns:a16="http://schemas.microsoft.com/office/drawing/2014/main" id="{2D8FB017-B94F-4560-9F29-52D84A9205ED}"/>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traight Connector 19">
            <a:extLst>
              <a:ext uri="{FF2B5EF4-FFF2-40B4-BE49-F238E27FC236}">
                <a16:creationId xmlns:a16="http://schemas.microsoft.com/office/drawing/2014/main" id="{A7F3F940-D65A-4037-A482-F84CAFFC04B6}"/>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p:spPr>
        <p:txBody>
          <a:bodyPr/>
          <a:lstStyle/>
          <a:p>
            <a:pPr>
              <a:defRPr/>
            </a:pPr>
            <a:endParaRPr lang="en-GB">
              <a:cs typeface="Arial" charset="0"/>
            </a:endParaRPr>
          </a:p>
        </p:txBody>
      </p:sp>
      <p:sp>
        <p:nvSpPr>
          <p:cNvPr id="10" name="Straight Connector 9">
            <a:extLst>
              <a:ext uri="{FF2B5EF4-FFF2-40B4-BE49-F238E27FC236}">
                <a16:creationId xmlns:a16="http://schemas.microsoft.com/office/drawing/2014/main" id="{39EED558-8C1E-490A-90BF-089B892FA37F}"/>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cs typeface="Arial" charset="0"/>
            </a:endParaRPr>
          </a:p>
        </p:txBody>
      </p:sp>
      <p:sp>
        <p:nvSpPr>
          <p:cNvPr id="11" name="Straight Connector 23">
            <a:extLst>
              <a:ext uri="{FF2B5EF4-FFF2-40B4-BE49-F238E27FC236}">
                <a16:creationId xmlns:a16="http://schemas.microsoft.com/office/drawing/2014/main" id="{0818F889-C749-453F-8D79-D2170DD3F5D1}"/>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p:spPr>
        <p:txBody>
          <a:bodyPr/>
          <a:lstStyle/>
          <a:p>
            <a:pPr>
              <a:defRPr/>
            </a:pPr>
            <a:endParaRPr lang="en-GB">
              <a:cs typeface="Arial" charset="0"/>
            </a:endParaRPr>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a:extLst>
              <a:ext uri="{FF2B5EF4-FFF2-40B4-BE49-F238E27FC236}">
                <a16:creationId xmlns:a16="http://schemas.microsoft.com/office/drawing/2014/main" id="{8F202848-75A5-4BF6-B2BF-A1BB500B7651}"/>
              </a:ext>
            </a:extLst>
          </p:cNvPr>
          <p:cNvSpPr>
            <a:spLocks noGrp="1"/>
          </p:cNvSpPr>
          <p:nvPr>
            <p:ph type="dt" sz="half" idx="10"/>
          </p:nvPr>
        </p:nvSpPr>
        <p:spPr/>
        <p:txBody>
          <a:bodyPr rtlCol="0"/>
          <a:lstStyle>
            <a:lvl1pPr>
              <a:defRPr/>
            </a:lvl1pPr>
          </a:lstStyle>
          <a:p>
            <a:pPr>
              <a:defRPr/>
            </a:pPr>
            <a:fld id="{4E2EF27B-669C-486C-B399-22563E042C18}" type="datetime1">
              <a:rPr lang="en-US"/>
              <a:pPr>
                <a:defRPr/>
              </a:pPr>
              <a:t>9/10/2024</a:t>
            </a:fld>
            <a:endParaRPr lang="en-US"/>
          </a:p>
        </p:txBody>
      </p:sp>
      <p:sp>
        <p:nvSpPr>
          <p:cNvPr id="13" name="Slide Number Placeholder 17">
            <a:extLst>
              <a:ext uri="{FF2B5EF4-FFF2-40B4-BE49-F238E27FC236}">
                <a16:creationId xmlns:a16="http://schemas.microsoft.com/office/drawing/2014/main" id="{433F5506-A9CD-465E-B6AA-2DBC28097E31}"/>
              </a:ext>
            </a:extLst>
          </p:cNvPr>
          <p:cNvSpPr>
            <a:spLocks noGrp="1"/>
          </p:cNvSpPr>
          <p:nvPr>
            <p:ph type="sldNum" sz="quarter" idx="11"/>
          </p:nvPr>
        </p:nvSpPr>
        <p:spPr/>
        <p:txBody>
          <a:bodyPr/>
          <a:lstStyle>
            <a:lvl1pPr>
              <a:defRPr/>
            </a:lvl1pPr>
          </a:lstStyle>
          <a:p>
            <a:fld id="{E5639151-6C84-47C1-AA79-A901C70B2EBB}" type="slidenum">
              <a:rPr lang="en-US" altLang="en-US"/>
              <a:pPr/>
              <a:t>‹#›</a:t>
            </a:fld>
            <a:endParaRPr lang="en-US" altLang="en-US"/>
          </a:p>
        </p:txBody>
      </p:sp>
      <p:sp>
        <p:nvSpPr>
          <p:cNvPr id="14" name="Footer Placeholder 20">
            <a:extLst>
              <a:ext uri="{FF2B5EF4-FFF2-40B4-BE49-F238E27FC236}">
                <a16:creationId xmlns:a16="http://schemas.microsoft.com/office/drawing/2014/main" id="{E618D281-FD0B-4841-A454-BE7A2C93A4CA}"/>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896807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A0975023-2156-47F1-8A34-B98620E47E7E}"/>
              </a:ext>
            </a:extLst>
          </p:cNvPr>
          <p:cNvSpPr>
            <a:spLocks noGrp="1"/>
          </p:cNvSpPr>
          <p:nvPr>
            <p:ph type="dt" sz="half" idx="10"/>
          </p:nvPr>
        </p:nvSpPr>
        <p:spPr/>
        <p:txBody>
          <a:bodyPr/>
          <a:lstStyle>
            <a:lvl1pPr>
              <a:defRPr/>
            </a:lvl1pPr>
          </a:lstStyle>
          <a:p>
            <a:pPr>
              <a:defRPr/>
            </a:pPr>
            <a:fld id="{CDF5CC4E-B62E-48BC-9D59-F233C6B1F4AC}" type="datetime1">
              <a:rPr lang="en-US"/>
              <a:pPr>
                <a:defRPr/>
              </a:pPr>
              <a:t>9/10/2024</a:t>
            </a:fld>
            <a:endParaRPr lang="en-US"/>
          </a:p>
        </p:txBody>
      </p:sp>
      <p:sp>
        <p:nvSpPr>
          <p:cNvPr id="5" name="Footer Placeholder 2">
            <a:extLst>
              <a:ext uri="{FF2B5EF4-FFF2-40B4-BE49-F238E27FC236}">
                <a16:creationId xmlns:a16="http://schemas.microsoft.com/office/drawing/2014/main" id="{508AD40D-83EE-4764-9577-10B2B3489BF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61E53BC7-1871-4CF0-92B2-AF1AC0029319}"/>
              </a:ext>
            </a:extLst>
          </p:cNvPr>
          <p:cNvSpPr>
            <a:spLocks noGrp="1"/>
          </p:cNvSpPr>
          <p:nvPr>
            <p:ph type="sldNum" sz="quarter" idx="12"/>
          </p:nvPr>
        </p:nvSpPr>
        <p:spPr/>
        <p:txBody>
          <a:bodyPr/>
          <a:lstStyle>
            <a:lvl1pPr>
              <a:defRPr/>
            </a:lvl1pPr>
          </a:lstStyle>
          <a:p>
            <a:fld id="{85EBB822-2D42-48E3-B0FD-EA166E268A65}" type="slidenum">
              <a:rPr lang="en-US" altLang="en-US"/>
              <a:pPr/>
              <a:t>‹#›</a:t>
            </a:fld>
            <a:endParaRPr lang="en-US" altLang="en-US"/>
          </a:p>
        </p:txBody>
      </p:sp>
    </p:spTree>
    <p:extLst>
      <p:ext uri="{BB962C8B-B14F-4D97-AF65-F5344CB8AC3E}">
        <p14:creationId xmlns:p14="http://schemas.microsoft.com/office/powerpoint/2010/main" val="1297906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FC470AD-13CE-4818-83C5-9BE48CC57A16}"/>
              </a:ext>
            </a:extLst>
          </p:cNvPr>
          <p:cNvSpPr>
            <a:spLocks noGrp="1"/>
          </p:cNvSpPr>
          <p:nvPr>
            <p:ph type="dt" sz="half" idx="10"/>
          </p:nvPr>
        </p:nvSpPr>
        <p:spPr/>
        <p:txBody>
          <a:bodyPr/>
          <a:lstStyle>
            <a:lvl1pPr>
              <a:defRPr/>
            </a:lvl1pPr>
          </a:lstStyle>
          <a:p>
            <a:pPr>
              <a:defRPr/>
            </a:pPr>
            <a:fld id="{F03CB28C-5CB3-4AE9-B338-EF311F582BB9}" type="datetime1">
              <a:rPr lang="en-US"/>
              <a:pPr>
                <a:defRPr/>
              </a:pPr>
              <a:t>9/10/2024</a:t>
            </a:fld>
            <a:endParaRPr lang="en-US"/>
          </a:p>
        </p:txBody>
      </p:sp>
      <p:sp>
        <p:nvSpPr>
          <p:cNvPr id="5" name="Footer Placeholder 2">
            <a:extLst>
              <a:ext uri="{FF2B5EF4-FFF2-40B4-BE49-F238E27FC236}">
                <a16:creationId xmlns:a16="http://schemas.microsoft.com/office/drawing/2014/main" id="{31EDF861-F054-4949-A3A0-0FFF3559F2C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C3A0150C-2A82-4D90-A480-577994B90BF5}"/>
              </a:ext>
            </a:extLst>
          </p:cNvPr>
          <p:cNvSpPr>
            <a:spLocks noGrp="1"/>
          </p:cNvSpPr>
          <p:nvPr>
            <p:ph type="sldNum" sz="quarter" idx="12"/>
          </p:nvPr>
        </p:nvSpPr>
        <p:spPr/>
        <p:txBody>
          <a:bodyPr/>
          <a:lstStyle>
            <a:lvl1pPr>
              <a:defRPr/>
            </a:lvl1pPr>
          </a:lstStyle>
          <a:p>
            <a:fld id="{F9B72A4F-9ADE-4A10-993F-C7958ECF4606}" type="slidenum">
              <a:rPr lang="en-US" altLang="en-US"/>
              <a:pPr/>
              <a:t>‹#›</a:t>
            </a:fld>
            <a:endParaRPr lang="en-US" altLang="en-US"/>
          </a:p>
        </p:txBody>
      </p:sp>
    </p:spTree>
    <p:extLst>
      <p:ext uri="{BB962C8B-B14F-4D97-AF65-F5344CB8AC3E}">
        <p14:creationId xmlns:p14="http://schemas.microsoft.com/office/powerpoint/2010/main" val="835985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8A1DBD41-DE91-48A7-BEB0-8DCB18AA8EBB}"/>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cs typeface="Arial" charset="0"/>
            </a:endParaRPr>
          </a:p>
        </p:txBody>
      </p:sp>
      <p:sp>
        <p:nvSpPr>
          <p:cNvPr id="22" name="Title Placeholder 21">
            <a:extLst>
              <a:ext uri="{FF2B5EF4-FFF2-40B4-BE49-F238E27FC236}">
                <a16:creationId xmlns:a16="http://schemas.microsoft.com/office/drawing/2014/main" id="{9569AFC9-A1E3-428E-A4E6-B9C38E5ACF9D}"/>
              </a:ext>
            </a:extLst>
          </p:cNvPr>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a:extLst>
              <a:ext uri="{FF2B5EF4-FFF2-40B4-BE49-F238E27FC236}">
                <a16:creationId xmlns:a16="http://schemas.microsoft.com/office/drawing/2014/main" id="{3B2FC57F-9020-4397-8700-BF7EA91C7089}"/>
              </a:ext>
            </a:extLst>
          </p:cNvPr>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BAA15C2A-190E-4E20-BA07-243CF653F820}"/>
              </a:ext>
            </a:extLst>
          </p:cNvPr>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cs typeface="Arial" charset="0"/>
              </a:defRPr>
            </a:lvl1pPr>
          </a:lstStyle>
          <a:p>
            <a:pPr>
              <a:defRPr/>
            </a:pPr>
            <a:fld id="{FA12533A-0064-4480-A757-423665FEE986}" type="datetime1">
              <a:rPr lang="en-US"/>
              <a:pPr>
                <a:defRPr/>
              </a:pPr>
              <a:t>9/10/2024</a:t>
            </a:fld>
            <a:endParaRPr lang="en-US"/>
          </a:p>
        </p:txBody>
      </p:sp>
      <p:sp>
        <p:nvSpPr>
          <p:cNvPr id="3" name="Footer Placeholder 2">
            <a:extLst>
              <a:ext uri="{FF2B5EF4-FFF2-40B4-BE49-F238E27FC236}">
                <a16:creationId xmlns:a16="http://schemas.microsoft.com/office/drawing/2014/main" id="{797E77DC-444D-40D6-84A5-3A252C58F4B9}"/>
              </a:ext>
            </a:extLst>
          </p:cNvPr>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cs typeface="Arial" charset="0"/>
              </a:defRPr>
            </a:lvl1pPr>
          </a:lstStyle>
          <a:p>
            <a:pPr>
              <a:defRPr/>
            </a:pPr>
            <a:endParaRPr lang="en-US"/>
          </a:p>
        </p:txBody>
      </p:sp>
      <p:sp>
        <p:nvSpPr>
          <p:cNvPr id="7" name="Straight Connector 6">
            <a:extLst>
              <a:ext uri="{FF2B5EF4-FFF2-40B4-BE49-F238E27FC236}">
                <a16:creationId xmlns:a16="http://schemas.microsoft.com/office/drawing/2014/main" id="{9C1F6BB5-70A5-4324-AE67-14F0C80BA1DA}"/>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cs typeface="Arial" charset="0"/>
            </a:endParaRPr>
          </a:p>
        </p:txBody>
      </p:sp>
      <p:sp>
        <p:nvSpPr>
          <p:cNvPr id="1032" name="Straight Connector 8">
            <a:extLst>
              <a:ext uri="{FF2B5EF4-FFF2-40B4-BE49-F238E27FC236}">
                <a16:creationId xmlns:a16="http://schemas.microsoft.com/office/drawing/2014/main" id="{0B29D659-752B-441E-87D2-D28555AF1099}"/>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p:spPr>
        <p:txBody>
          <a:bodyPr/>
          <a:lstStyle/>
          <a:p>
            <a:pPr>
              <a:defRPr/>
            </a:pPr>
            <a:endParaRPr lang="en-GB">
              <a:cs typeface="Arial" charset="0"/>
            </a:endParaRPr>
          </a:p>
        </p:txBody>
      </p:sp>
      <p:sp>
        <p:nvSpPr>
          <p:cNvPr id="10" name="Rectangle 9">
            <a:extLst>
              <a:ext uri="{FF2B5EF4-FFF2-40B4-BE49-F238E27FC236}">
                <a16:creationId xmlns:a16="http://schemas.microsoft.com/office/drawing/2014/main" id="{85B0B796-A314-42EB-B18B-A46025124647}"/>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34" name="Straight Connector 10">
            <a:extLst>
              <a:ext uri="{FF2B5EF4-FFF2-40B4-BE49-F238E27FC236}">
                <a16:creationId xmlns:a16="http://schemas.microsoft.com/office/drawing/2014/main" id="{45B2CB51-1ED5-4E05-A882-7E5ECB421576}"/>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p:spPr>
        <p:txBody>
          <a:bodyPr/>
          <a:lstStyle/>
          <a:p>
            <a:pPr>
              <a:defRPr/>
            </a:pPr>
            <a:endParaRPr lang="en-GB">
              <a:cs typeface="Arial" charset="0"/>
            </a:endParaRPr>
          </a:p>
        </p:txBody>
      </p:sp>
      <p:sp>
        <p:nvSpPr>
          <p:cNvPr id="12" name="Oval 11">
            <a:extLst>
              <a:ext uri="{FF2B5EF4-FFF2-40B4-BE49-F238E27FC236}">
                <a16:creationId xmlns:a16="http://schemas.microsoft.com/office/drawing/2014/main" id="{32CBEEF4-9094-4342-968C-F24D2461528B}"/>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3" name="Slide Number Placeholder 22">
            <a:extLst>
              <a:ext uri="{FF2B5EF4-FFF2-40B4-BE49-F238E27FC236}">
                <a16:creationId xmlns:a16="http://schemas.microsoft.com/office/drawing/2014/main" id="{9AFAF6C7-C5CB-437E-9EFE-2A325B8FCFFE}"/>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a:defRPr sz="1400" b="1">
                <a:solidFill>
                  <a:srgbClr val="FFFFFF"/>
                </a:solidFill>
              </a:defRPr>
            </a:lvl1pPr>
          </a:lstStyle>
          <a:p>
            <a:fld id="{DE6E941F-68E8-464E-97BD-4A48E3A8B4C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64" r:id="rId4"/>
    <p:sldLayoutId id="2147483865" r:id="rId5"/>
    <p:sldLayoutId id="2147483872" r:id="rId6"/>
    <p:sldLayoutId id="2147483866" r:id="rId7"/>
    <p:sldLayoutId id="2147483873" r:id="rId8"/>
    <p:sldLayoutId id="2147483874" r:id="rId9"/>
    <p:sldLayoutId id="2147483867" r:id="rId10"/>
    <p:sldLayoutId id="2147483868" r:id="rId11"/>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1408A-426D-437A-B850-F22BE68D5A4F}"/>
              </a:ext>
            </a:extLst>
          </p:cNvPr>
          <p:cNvSpPr>
            <a:spLocks noGrp="1"/>
          </p:cNvSpPr>
          <p:nvPr>
            <p:ph type="title"/>
          </p:nvPr>
        </p:nvSpPr>
        <p:spPr>
          <a:xfrm>
            <a:off x="1949450" y="1"/>
            <a:ext cx="2851150" cy="4267200"/>
          </a:xfrm>
        </p:spPr>
        <p:txBody>
          <a:bodyPr rtlCol="0">
            <a:normAutofit fontScale="90000"/>
          </a:bodyPr>
          <a:lstStyle/>
          <a:p>
            <a:pPr eaLnBrk="1" fontAlgn="auto" hangingPunct="1">
              <a:spcAft>
                <a:spcPts val="0"/>
              </a:spcAft>
              <a:defRPr/>
            </a:pPr>
            <a:r>
              <a:rPr lang="en-GB" dirty="0">
                <a:solidFill>
                  <a:schemeClr val="bg1"/>
                </a:solidFill>
              </a:rPr>
              <a:t>Commercial Law</a:t>
            </a:r>
            <a:br>
              <a:rPr lang="en-GB" dirty="0">
                <a:solidFill>
                  <a:schemeClr val="bg1"/>
                </a:solidFill>
              </a:rPr>
            </a:br>
            <a:r>
              <a:rPr lang="en-GB" dirty="0">
                <a:solidFill>
                  <a:schemeClr val="bg1"/>
                </a:solidFill>
              </a:rPr>
              <a:t>(Law 2241)</a:t>
            </a:r>
            <a:br>
              <a:rPr lang="en-GB" dirty="0">
                <a:solidFill>
                  <a:schemeClr val="bg1"/>
                </a:solidFill>
              </a:rPr>
            </a:br>
            <a:br>
              <a:rPr lang="en-GB" dirty="0">
                <a:solidFill>
                  <a:schemeClr val="bg1"/>
                </a:solidFill>
              </a:rPr>
            </a:br>
            <a:br>
              <a:rPr lang="en-GB" dirty="0">
                <a:solidFill>
                  <a:schemeClr val="bg1"/>
                </a:solidFill>
              </a:rPr>
            </a:br>
            <a:r>
              <a:rPr lang="en-GB" sz="3200" dirty="0">
                <a:solidFill>
                  <a:schemeClr val="bg1"/>
                </a:solidFill>
              </a:rPr>
              <a:t>The nemo </a:t>
            </a:r>
            <a:r>
              <a:rPr lang="en-GB" sz="3200" dirty="0" err="1">
                <a:solidFill>
                  <a:schemeClr val="bg1"/>
                </a:solidFill>
              </a:rPr>
              <a:t>dat</a:t>
            </a:r>
            <a:r>
              <a:rPr lang="en-GB" sz="3200" dirty="0">
                <a:solidFill>
                  <a:schemeClr val="bg1"/>
                </a:solidFill>
              </a:rPr>
              <a:t> rule (exceptions 1-3)</a:t>
            </a:r>
          </a:p>
        </p:txBody>
      </p:sp>
      <p:sp>
        <p:nvSpPr>
          <p:cNvPr id="8195" name="Subtitle 2">
            <a:extLst>
              <a:ext uri="{FF2B5EF4-FFF2-40B4-BE49-F238E27FC236}">
                <a16:creationId xmlns:a16="http://schemas.microsoft.com/office/drawing/2014/main" id="{C5B0089A-9048-452D-95E7-2F41A0CBB9AC}"/>
              </a:ext>
            </a:extLst>
          </p:cNvPr>
          <p:cNvSpPr>
            <a:spLocks noGrp="1"/>
          </p:cNvSpPr>
          <p:nvPr>
            <p:ph type="body" idx="1"/>
          </p:nvPr>
        </p:nvSpPr>
        <p:spPr/>
        <p:txBody>
          <a:bodyPr/>
          <a:lstStyle/>
          <a:p>
            <a:pPr eaLnBrk="1" hangingPunct="1"/>
            <a:endParaRPr lang="en-GB" altLang="en-US" dirty="0"/>
          </a:p>
          <a:p>
            <a:pPr eaLnBrk="1" hangingPunct="1"/>
            <a:r>
              <a:rPr lang="en-GB" altLang="en-US" sz="2400" dirty="0">
                <a:solidFill>
                  <a:schemeClr val="bg1"/>
                </a:solidFill>
              </a:rPr>
              <a:t>Rachel Avery</a:t>
            </a:r>
          </a:p>
        </p:txBody>
      </p:sp>
      <p:sp>
        <p:nvSpPr>
          <p:cNvPr id="8196" name="Slide Number Placeholder 2">
            <a:extLst>
              <a:ext uri="{FF2B5EF4-FFF2-40B4-BE49-F238E27FC236}">
                <a16:creationId xmlns:a16="http://schemas.microsoft.com/office/drawing/2014/main" id="{7E289D4F-98FA-440F-B311-C936C2C9981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C65291C2-CC8F-45E3-8FE3-D0CCAC3481A5}" type="slidenum">
              <a:rPr lang="en-US" altLang="en-US" smtClean="0">
                <a:solidFill>
                  <a:srgbClr val="FFFFFF"/>
                </a:solidFill>
              </a:rPr>
              <a:pPr eaLnBrk="1" hangingPunct="1"/>
              <a:t>1</a:t>
            </a:fld>
            <a:endParaRPr lang="en-US" altLang="en-US" dirty="0">
              <a:solidFill>
                <a:srgbClr val="FFFFFF"/>
              </a:solidFill>
            </a:endParaRPr>
          </a:p>
        </p:txBody>
      </p:sp>
      <p:pic>
        <p:nvPicPr>
          <p:cNvPr id="22530" name="Picture 2" descr="Image result for nemo dat rule picture"/>
          <p:cNvPicPr>
            <a:picLocks noChangeAspect="1" noChangeArrowheads="1"/>
          </p:cNvPicPr>
          <p:nvPr/>
        </p:nvPicPr>
        <p:blipFill>
          <a:blip r:embed="rId2" cstate="print"/>
          <a:srcRect/>
          <a:stretch>
            <a:fillRect/>
          </a:stretch>
        </p:blipFill>
        <p:spPr bwMode="auto">
          <a:xfrm>
            <a:off x="4800600" y="0"/>
            <a:ext cx="4185138" cy="38862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1D556C4-6546-4802-946A-B980FA45CF9E}"/>
              </a:ext>
            </a:extLst>
          </p:cNvPr>
          <p:cNvSpPr>
            <a:spLocks noGrp="1"/>
          </p:cNvSpPr>
          <p:nvPr>
            <p:ph type="title"/>
          </p:nvPr>
        </p:nvSpPr>
        <p:spPr/>
        <p:txBody>
          <a:bodyPr/>
          <a:lstStyle/>
          <a:p>
            <a:pPr eaLnBrk="1" fontAlgn="auto" hangingPunct="1">
              <a:spcAft>
                <a:spcPts val="0"/>
              </a:spcAft>
              <a:defRPr/>
            </a:pPr>
            <a:r>
              <a:rPr lang="en-GB" u="sng" dirty="0">
                <a:solidFill>
                  <a:schemeClr val="tx1"/>
                </a:solidFill>
              </a:rPr>
              <a:t>Today</a:t>
            </a:r>
            <a:r>
              <a:rPr lang="en-GB" dirty="0"/>
              <a:t>	</a:t>
            </a:r>
          </a:p>
        </p:txBody>
      </p:sp>
      <p:sp>
        <p:nvSpPr>
          <p:cNvPr id="9219" name="Content Placeholder 2">
            <a:extLst>
              <a:ext uri="{FF2B5EF4-FFF2-40B4-BE49-F238E27FC236}">
                <a16:creationId xmlns:a16="http://schemas.microsoft.com/office/drawing/2014/main" id="{69042788-3EAA-4F6D-A928-14E2F6A0B9C6}"/>
              </a:ext>
            </a:extLst>
          </p:cNvPr>
          <p:cNvSpPr>
            <a:spLocks noGrp="1"/>
          </p:cNvSpPr>
          <p:nvPr>
            <p:ph sz="quarter" idx="1"/>
          </p:nvPr>
        </p:nvSpPr>
        <p:spPr>
          <a:xfrm>
            <a:off x="457200" y="1600200"/>
            <a:ext cx="7467600" cy="4873625"/>
          </a:xfrm>
        </p:spPr>
        <p:txBody>
          <a:bodyPr/>
          <a:lstStyle/>
          <a:p>
            <a:pPr eaLnBrk="1" hangingPunct="1"/>
            <a:r>
              <a:rPr lang="en-GB" altLang="en-US" sz="3200" b="1" dirty="0" err="1">
                <a:solidFill>
                  <a:srgbClr val="FF0000"/>
                </a:solidFill>
                <a:highlight>
                  <a:srgbClr val="FFFF00"/>
                </a:highlight>
              </a:rPr>
              <a:t>Nemo</a:t>
            </a:r>
            <a:r>
              <a:rPr lang="en-GB" altLang="en-US" sz="3200" b="1" dirty="0">
                <a:solidFill>
                  <a:srgbClr val="FF0000"/>
                </a:solidFill>
                <a:highlight>
                  <a:srgbClr val="FFFF00"/>
                </a:highlight>
              </a:rPr>
              <a:t> </a:t>
            </a:r>
            <a:r>
              <a:rPr lang="en-GB" altLang="en-US" sz="3200" b="1" dirty="0" err="1">
                <a:solidFill>
                  <a:srgbClr val="FF0000"/>
                </a:solidFill>
                <a:highlight>
                  <a:srgbClr val="FFFF00"/>
                </a:highlight>
              </a:rPr>
              <a:t>dat</a:t>
            </a:r>
            <a:r>
              <a:rPr lang="en-GB" altLang="en-US" sz="3200" b="1" dirty="0">
                <a:solidFill>
                  <a:srgbClr val="FF0000"/>
                </a:solidFill>
                <a:highlight>
                  <a:srgbClr val="FFFF00"/>
                </a:highlight>
              </a:rPr>
              <a:t> quod non </a:t>
            </a:r>
            <a:r>
              <a:rPr lang="en-GB" altLang="en-US" sz="3200" b="1" dirty="0" err="1">
                <a:solidFill>
                  <a:srgbClr val="FF0000"/>
                </a:solidFill>
                <a:highlight>
                  <a:srgbClr val="FFFF00"/>
                </a:highlight>
              </a:rPr>
              <a:t>habet</a:t>
            </a:r>
            <a:endParaRPr lang="en-GB" altLang="en-US" sz="3200" b="1" dirty="0">
              <a:solidFill>
                <a:srgbClr val="FF0000"/>
              </a:solidFill>
              <a:highlight>
                <a:srgbClr val="FFFF00"/>
              </a:highlight>
            </a:endParaRPr>
          </a:p>
          <a:p>
            <a:pPr eaLnBrk="1" hangingPunct="1">
              <a:buFont typeface="Wingdings" panose="05000000000000000000" pitchFamily="2" charset="2"/>
              <a:buNone/>
            </a:pPr>
            <a:endParaRPr lang="en-GB" altLang="en-US" dirty="0"/>
          </a:p>
          <a:p>
            <a:pPr lvl="1" eaLnBrk="1" hangingPunct="1"/>
            <a:r>
              <a:rPr lang="en-GB" altLang="en-US" sz="2000" u="sng" dirty="0"/>
              <a:t>Exceptions we will cover today:</a:t>
            </a:r>
          </a:p>
          <a:p>
            <a:pPr lvl="1" eaLnBrk="1" hangingPunct="1">
              <a:buFont typeface="Wingdings 2" panose="05020102010507070707" pitchFamily="18" charset="2"/>
              <a:buNone/>
            </a:pPr>
            <a:r>
              <a:rPr lang="en-GB" altLang="en-US" sz="2000" dirty="0"/>
              <a:t>	</a:t>
            </a:r>
          </a:p>
          <a:p>
            <a:pPr lvl="2" eaLnBrk="1" hangingPunct="1"/>
            <a:r>
              <a:rPr lang="en-GB" altLang="en-US" sz="2000" dirty="0"/>
              <a:t>Authority/Consent</a:t>
            </a:r>
          </a:p>
          <a:p>
            <a:pPr lvl="2" eaLnBrk="1" hangingPunct="1"/>
            <a:r>
              <a:rPr lang="en-GB" altLang="en-US" sz="2000" dirty="0" err="1"/>
              <a:t>Estoppel</a:t>
            </a:r>
            <a:endParaRPr lang="en-GB" altLang="en-US" sz="2000" dirty="0"/>
          </a:p>
          <a:p>
            <a:pPr lvl="2" eaLnBrk="1" hangingPunct="1"/>
            <a:r>
              <a:rPr lang="en-GB" altLang="en-US" sz="2000" dirty="0"/>
              <a:t>Special Powers of Sale</a:t>
            </a:r>
          </a:p>
        </p:txBody>
      </p:sp>
      <p:sp>
        <p:nvSpPr>
          <p:cNvPr id="9220" name="Slide Number Placeholder 1">
            <a:extLst>
              <a:ext uri="{FF2B5EF4-FFF2-40B4-BE49-F238E27FC236}">
                <a16:creationId xmlns:a16="http://schemas.microsoft.com/office/drawing/2014/main" id="{7785CE16-34C1-4C2D-951B-ADC9ECE7559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9130BCFF-C376-4348-9309-3F9F67CE1FA6}" type="slidenum">
              <a:rPr lang="en-US" altLang="en-US">
                <a:solidFill>
                  <a:srgbClr val="FFFFFF"/>
                </a:solidFill>
              </a:rPr>
              <a:pPr eaLnBrk="1" hangingPunct="1"/>
              <a:t>2</a:t>
            </a:fld>
            <a:endParaRPr lang="en-US" altLang="en-US">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4B1678C6-97B2-4E8E-A6C7-F162F510C7B3}"/>
              </a:ext>
            </a:extLst>
          </p:cNvPr>
          <p:cNvSpPr>
            <a:spLocks noGrp="1"/>
          </p:cNvSpPr>
          <p:nvPr>
            <p:ph type="title"/>
          </p:nvPr>
        </p:nvSpPr>
        <p:spPr>
          <a:xfrm>
            <a:off x="762000" y="762000"/>
            <a:ext cx="7329488" cy="762000"/>
          </a:xfrm>
        </p:spPr>
        <p:txBody>
          <a:bodyPr>
            <a:normAutofit/>
          </a:bodyPr>
          <a:lstStyle/>
          <a:p>
            <a:pPr eaLnBrk="1" fontAlgn="auto" hangingPunct="1">
              <a:spcAft>
                <a:spcPts val="0"/>
              </a:spcAft>
              <a:defRPr/>
            </a:pPr>
            <a:r>
              <a:rPr lang="en-GB" b="1" u="sng" dirty="0" err="1">
                <a:solidFill>
                  <a:srgbClr val="FF0000"/>
                </a:solidFill>
              </a:rPr>
              <a:t>Nemo</a:t>
            </a:r>
            <a:r>
              <a:rPr lang="en-GB" b="1" u="sng" dirty="0">
                <a:solidFill>
                  <a:srgbClr val="FF0000"/>
                </a:solidFill>
              </a:rPr>
              <a:t> </a:t>
            </a:r>
            <a:r>
              <a:rPr lang="en-GB" b="1" u="sng" dirty="0" err="1">
                <a:solidFill>
                  <a:srgbClr val="FF0000"/>
                </a:solidFill>
              </a:rPr>
              <a:t>Dat</a:t>
            </a:r>
            <a:r>
              <a:rPr lang="en-GB" b="1" u="sng" dirty="0">
                <a:solidFill>
                  <a:srgbClr val="FF0000"/>
                </a:solidFill>
              </a:rPr>
              <a:t> NON QUOD HABET</a:t>
            </a:r>
          </a:p>
        </p:txBody>
      </p:sp>
      <p:sp>
        <p:nvSpPr>
          <p:cNvPr id="7171" name="Content Placeholder 2">
            <a:extLst>
              <a:ext uri="{FF2B5EF4-FFF2-40B4-BE49-F238E27FC236}">
                <a16:creationId xmlns:a16="http://schemas.microsoft.com/office/drawing/2014/main" id="{4FBCC597-7099-4663-9EC5-0732F00848B8}"/>
              </a:ext>
            </a:extLst>
          </p:cNvPr>
          <p:cNvSpPr>
            <a:spLocks noGrp="1"/>
          </p:cNvSpPr>
          <p:nvPr>
            <p:ph sz="quarter" idx="1"/>
          </p:nvPr>
        </p:nvSpPr>
        <p:spPr>
          <a:xfrm>
            <a:off x="685800" y="1524000"/>
            <a:ext cx="7772400" cy="4648200"/>
          </a:xfrm>
        </p:spPr>
        <p:txBody>
          <a:bodyPr>
            <a:normAutofit fontScale="85000" lnSpcReduction="10000"/>
          </a:bodyPr>
          <a:lstStyle/>
          <a:p>
            <a:pPr marL="274320" indent="-274320" eaLnBrk="1" fontAlgn="auto" hangingPunct="1">
              <a:spcAft>
                <a:spcPts val="0"/>
              </a:spcAft>
              <a:buFont typeface="Wingdings"/>
              <a:buChar char=""/>
              <a:defRPr/>
            </a:pPr>
            <a:r>
              <a:rPr lang="en-GB" dirty="0">
                <a:solidFill>
                  <a:srgbClr val="FF0000"/>
                </a:solidFill>
              </a:rPr>
              <a:t>Essence of the rule: S with no ownership rights in the goods may pass a good title to a 3</a:t>
            </a:r>
            <a:r>
              <a:rPr lang="en-GB" baseline="30000" dirty="0">
                <a:solidFill>
                  <a:srgbClr val="FF0000"/>
                </a:solidFill>
              </a:rPr>
              <a:t>rd</a:t>
            </a:r>
            <a:r>
              <a:rPr lang="en-GB" dirty="0">
                <a:solidFill>
                  <a:srgbClr val="FF0000"/>
                </a:solidFill>
              </a:rPr>
              <a:t> party.</a:t>
            </a:r>
          </a:p>
          <a:p>
            <a:pPr marL="0" indent="0" eaLnBrk="1" fontAlgn="auto" hangingPunct="1">
              <a:spcAft>
                <a:spcPts val="0"/>
              </a:spcAft>
              <a:buNone/>
              <a:defRPr/>
            </a:pPr>
            <a:endParaRPr lang="en-GB" dirty="0">
              <a:solidFill>
                <a:srgbClr val="FF0000"/>
              </a:solidFill>
            </a:endParaRPr>
          </a:p>
          <a:p>
            <a:pPr marL="640080" lvl="1" indent="-274320" eaLnBrk="1" fontAlgn="auto" hangingPunct="1">
              <a:spcAft>
                <a:spcPts val="0"/>
              </a:spcAft>
              <a:buFont typeface="Wingdings 2"/>
              <a:buChar char=""/>
              <a:defRPr/>
            </a:pPr>
            <a:r>
              <a:rPr lang="en-GB" dirty="0"/>
              <a:t>T steals goods, sells to B who buys in good faith and for value</a:t>
            </a:r>
          </a:p>
          <a:p>
            <a:pPr marL="640080" lvl="1" indent="-274320" eaLnBrk="1" fontAlgn="auto" hangingPunct="1">
              <a:spcAft>
                <a:spcPts val="0"/>
              </a:spcAft>
              <a:buFont typeface="Wingdings 2"/>
              <a:buChar char=""/>
              <a:defRPr/>
            </a:pPr>
            <a:r>
              <a:rPr lang="en-GB" dirty="0"/>
              <a:t>P hands goods to A, A sells them without authority and disposes of the proceeds.</a:t>
            </a:r>
          </a:p>
          <a:p>
            <a:pPr marL="640080" lvl="1" indent="-274320" eaLnBrk="1" fontAlgn="auto" hangingPunct="1">
              <a:spcAft>
                <a:spcPts val="0"/>
              </a:spcAft>
              <a:buFont typeface="Wingdings 2"/>
              <a:buChar char=""/>
              <a:defRPr/>
            </a:pPr>
            <a:r>
              <a:rPr lang="en-GB" dirty="0"/>
              <a:t>S retains possession and then resells the goods to a 3</a:t>
            </a:r>
            <a:r>
              <a:rPr lang="en-GB" baseline="30000" dirty="0"/>
              <a:t>rd</a:t>
            </a:r>
            <a:r>
              <a:rPr lang="en-GB" dirty="0"/>
              <a:t> party.</a:t>
            </a:r>
          </a:p>
          <a:p>
            <a:pPr marL="640080" lvl="1" indent="-274320" eaLnBrk="1" fontAlgn="auto" hangingPunct="1">
              <a:spcAft>
                <a:spcPts val="0"/>
              </a:spcAft>
              <a:buFont typeface="Wingdings 2" panose="05020102010507070707" pitchFamily="18" charset="2"/>
              <a:buNone/>
              <a:defRPr/>
            </a:pPr>
            <a:endParaRPr lang="en-GB" dirty="0"/>
          </a:p>
          <a:p>
            <a:pPr marL="274320" indent="-274320" eaLnBrk="1" fontAlgn="auto" hangingPunct="1">
              <a:spcAft>
                <a:spcPts val="0"/>
              </a:spcAft>
              <a:buFont typeface="Wingdings"/>
              <a:buChar char=""/>
              <a:defRPr/>
            </a:pPr>
            <a:r>
              <a:rPr lang="en-GB" b="1" u="sng" dirty="0">
                <a:highlight>
                  <a:srgbClr val="FFFF00"/>
                </a:highlight>
              </a:rPr>
              <a:t>Problem</a:t>
            </a:r>
            <a:r>
              <a:rPr lang="en-GB" b="1" dirty="0">
                <a:highlight>
                  <a:srgbClr val="FFFF00"/>
                </a:highlight>
              </a:rPr>
              <a:t>: upholding the rights of the owner OR the purchaser who buys with good faith and for value?</a:t>
            </a:r>
          </a:p>
          <a:p>
            <a:pPr marL="274320" indent="-274320" eaLnBrk="1" fontAlgn="auto" hangingPunct="1">
              <a:spcAft>
                <a:spcPts val="0"/>
              </a:spcAft>
              <a:buFont typeface="Wingdings" panose="05000000000000000000" pitchFamily="2" charset="2"/>
              <a:buNone/>
              <a:defRPr/>
            </a:pPr>
            <a:endParaRPr lang="en-GB" dirty="0"/>
          </a:p>
          <a:p>
            <a:pPr marL="274320" indent="-274320" eaLnBrk="1" fontAlgn="auto" hangingPunct="1">
              <a:spcAft>
                <a:spcPts val="0"/>
              </a:spcAft>
              <a:buFont typeface="Wingdings"/>
              <a:buChar char=""/>
              <a:defRPr/>
            </a:pPr>
            <a:r>
              <a:rPr lang="en-GB" dirty="0"/>
              <a:t>It is sufficient if the party seeking protection against the original owner (the 3</a:t>
            </a:r>
            <a:r>
              <a:rPr lang="en-GB" baseline="30000" dirty="0"/>
              <a:t>rd</a:t>
            </a:r>
            <a:r>
              <a:rPr lang="en-GB" dirty="0"/>
              <a:t> party purchaser of the goods) brings the case under one of the exceptions to the nemo </a:t>
            </a:r>
            <a:r>
              <a:rPr lang="en-GB" dirty="0" err="1"/>
              <a:t>dat</a:t>
            </a:r>
            <a:r>
              <a:rPr lang="en-GB" dirty="0"/>
              <a:t> rule.</a:t>
            </a:r>
          </a:p>
        </p:txBody>
      </p:sp>
      <p:sp>
        <p:nvSpPr>
          <p:cNvPr id="10244" name="Slide Number Placeholder 1">
            <a:extLst>
              <a:ext uri="{FF2B5EF4-FFF2-40B4-BE49-F238E27FC236}">
                <a16:creationId xmlns:a16="http://schemas.microsoft.com/office/drawing/2014/main" id="{6DCAF2A7-2E74-40C2-9DD0-77BC5EE9FF4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007EF3E7-2E04-4CDE-822F-0D482AA42D60}" type="slidenum">
              <a:rPr lang="en-US" altLang="en-US">
                <a:solidFill>
                  <a:srgbClr val="FFFFFF"/>
                </a:solidFill>
              </a:rPr>
              <a:pPr eaLnBrk="1" hangingPunct="1"/>
              <a:t>3</a:t>
            </a:fld>
            <a:endParaRPr lang="en-US" altLang="en-US">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0944-C828-40F3-B62A-64F65A1D75A5}"/>
              </a:ext>
            </a:extLst>
          </p:cNvPr>
          <p:cNvSpPr>
            <a:spLocks noGrp="1"/>
          </p:cNvSpPr>
          <p:nvPr>
            <p:ph type="title"/>
          </p:nvPr>
        </p:nvSpPr>
        <p:spPr>
          <a:xfrm>
            <a:off x="457200" y="152400"/>
            <a:ext cx="8229600" cy="914400"/>
          </a:xfrm>
        </p:spPr>
        <p:txBody>
          <a:bodyPr/>
          <a:lstStyle/>
          <a:p>
            <a:pPr eaLnBrk="1" fontAlgn="auto" hangingPunct="1">
              <a:spcAft>
                <a:spcPts val="0"/>
              </a:spcAft>
              <a:defRPr/>
            </a:pPr>
            <a:r>
              <a:rPr lang="en-GB" dirty="0" err="1">
                <a:solidFill>
                  <a:schemeClr val="tx1"/>
                </a:solidFill>
              </a:rPr>
              <a:t>Nemo</a:t>
            </a:r>
            <a:r>
              <a:rPr lang="en-GB" dirty="0">
                <a:solidFill>
                  <a:schemeClr val="tx1"/>
                </a:solidFill>
              </a:rPr>
              <a:t> </a:t>
            </a:r>
            <a:r>
              <a:rPr lang="en-GB" dirty="0" err="1">
                <a:solidFill>
                  <a:schemeClr val="tx1"/>
                </a:solidFill>
              </a:rPr>
              <a:t>Dat</a:t>
            </a:r>
            <a:endParaRPr lang="en-GB" dirty="0">
              <a:solidFill>
                <a:schemeClr val="tx1"/>
              </a:solidFill>
            </a:endParaRPr>
          </a:p>
        </p:txBody>
      </p:sp>
      <p:sp>
        <p:nvSpPr>
          <p:cNvPr id="11267" name="Content Placeholder 2">
            <a:extLst>
              <a:ext uri="{FF2B5EF4-FFF2-40B4-BE49-F238E27FC236}">
                <a16:creationId xmlns:a16="http://schemas.microsoft.com/office/drawing/2014/main" id="{B761D74D-B15E-4984-86DE-5EB114294366}"/>
              </a:ext>
            </a:extLst>
          </p:cNvPr>
          <p:cNvSpPr>
            <a:spLocks noGrp="1"/>
          </p:cNvSpPr>
          <p:nvPr>
            <p:ph sz="quarter" idx="1"/>
          </p:nvPr>
        </p:nvSpPr>
        <p:spPr>
          <a:xfrm>
            <a:off x="457200" y="1371600"/>
            <a:ext cx="8305800" cy="5181600"/>
          </a:xfrm>
        </p:spPr>
        <p:txBody>
          <a:bodyPr/>
          <a:lstStyle/>
          <a:p>
            <a:pPr eaLnBrk="1" hangingPunct="1"/>
            <a:r>
              <a:rPr lang="en-GB" altLang="en-US" b="1" i="1" u="sng" dirty="0"/>
              <a:t>Bishopsgate Motor Finance Corp </a:t>
            </a:r>
            <a:r>
              <a:rPr lang="en-GB" altLang="en-US" b="1" u="sng" dirty="0"/>
              <a:t>v</a:t>
            </a:r>
            <a:r>
              <a:rPr lang="en-GB" altLang="en-US" b="1" i="1" u="sng" dirty="0"/>
              <a:t> Transport Brakes</a:t>
            </a:r>
          </a:p>
          <a:p>
            <a:pPr eaLnBrk="1" hangingPunct="1">
              <a:buNone/>
            </a:pPr>
            <a:endParaRPr lang="en-GB" altLang="en-US" b="1" i="1" dirty="0"/>
          </a:p>
          <a:p>
            <a:pPr marL="639445" lvl="1" eaLnBrk="1" hangingPunct="1"/>
            <a:r>
              <a:rPr lang="en-GB" altLang="en-US" dirty="0"/>
              <a:t>“In the development of our law, </a:t>
            </a:r>
            <a:r>
              <a:rPr lang="en-GB" altLang="en-US" b="1" u="sng" dirty="0"/>
              <a:t>two principles </a:t>
            </a:r>
            <a:r>
              <a:rPr lang="en-GB" altLang="en-US" dirty="0"/>
              <a:t>have striven for mastery.  The </a:t>
            </a:r>
            <a:r>
              <a:rPr lang="en-GB" altLang="en-US" b="1" u="sng" dirty="0"/>
              <a:t>first</a:t>
            </a:r>
            <a:r>
              <a:rPr lang="en-GB" altLang="en-US" dirty="0"/>
              <a:t> is the </a:t>
            </a:r>
            <a:r>
              <a:rPr lang="en-GB" altLang="en-US" b="1" i="1" u="sng" dirty="0">
                <a:solidFill>
                  <a:srgbClr val="FF0000"/>
                </a:solidFill>
                <a:highlight>
                  <a:srgbClr val="FFFF00"/>
                </a:highlight>
              </a:rPr>
              <a:t>protection of property:  </a:t>
            </a:r>
            <a:r>
              <a:rPr lang="en-GB" altLang="en-US" b="1" i="1" u="sng" dirty="0">
                <a:solidFill>
                  <a:srgbClr val="FF0000"/>
                </a:solidFill>
              </a:rPr>
              <a:t>no one can give a better title than he himself possesses</a:t>
            </a:r>
            <a:r>
              <a:rPr lang="en-GB" altLang="en-US" dirty="0">
                <a:solidFill>
                  <a:srgbClr val="FF0000"/>
                </a:solidFill>
              </a:rPr>
              <a:t>. </a:t>
            </a:r>
            <a:r>
              <a:rPr lang="en-GB" altLang="en-US" dirty="0"/>
              <a:t> The </a:t>
            </a:r>
            <a:r>
              <a:rPr lang="en-GB" altLang="en-US" b="1" u="sng" dirty="0"/>
              <a:t>second</a:t>
            </a:r>
            <a:r>
              <a:rPr lang="en-GB" altLang="en-US" dirty="0"/>
              <a:t> is for the </a:t>
            </a:r>
            <a:r>
              <a:rPr lang="en-GB" altLang="en-US" b="1" i="1" u="sng" dirty="0">
                <a:solidFill>
                  <a:srgbClr val="FF0000"/>
                </a:solidFill>
                <a:highlight>
                  <a:srgbClr val="FFFF00"/>
                </a:highlight>
              </a:rPr>
              <a:t>protection of commercial transactions:  </a:t>
            </a:r>
            <a:r>
              <a:rPr lang="en-GB" altLang="en-US" b="1" i="1" u="sng" dirty="0">
                <a:solidFill>
                  <a:srgbClr val="FF0000"/>
                </a:solidFill>
              </a:rPr>
              <a:t>the person who takes in good faith and for value without notice should get better title</a:t>
            </a:r>
            <a:r>
              <a:rPr lang="en-GB" altLang="en-US" dirty="0"/>
              <a:t>.  The </a:t>
            </a:r>
            <a:r>
              <a:rPr lang="en-GB" altLang="en-US" b="1" u="sng" dirty="0"/>
              <a:t>first</a:t>
            </a:r>
            <a:r>
              <a:rPr lang="en-GB" altLang="en-US" dirty="0"/>
              <a:t> principle has held sway for a long time, but it has been </a:t>
            </a:r>
            <a:r>
              <a:rPr lang="en-GB" altLang="en-US" b="1" u="sng" dirty="0"/>
              <a:t>modified by the common law </a:t>
            </a:r>
            <a:r>
              <a:rPr lang="en-GB" altLang="en-US" dirty="0"/>
              <a:t>itself and </a:t>
            </a:r>
            <a:r>
              <a:rPr lang="en-GB" altLang="en-US" b="1" u="sng" dirty="0"/>
              <a:t>by statute </a:t>
            </a:r>
            <a:r>
              <a:rPr lang="en-GB" altLang="en-US" dirty="0"/>
              <a:t>so to </a:t>
            </a:r>
            <a:r>
              <a:rPr lang="en-GB" altLang="en-US" b="1" u="sng" dirty="0"/>
              <a:t>meet the needs </a:t>
            </a:r>
            <a:r>
              <a:rPr lang="en-GB" altLang="en-US" dirty="0"/>
              <a:t>of our times.” (per Lord Denning)(emphasis added)</a:t>
            </a:r>
          </a:p>
        </p:txBody>
      </p:sp>
      <p:sp>
        <p:nvSpPr>
          <p:cNvPr id="11268" name="Slide Number Placeholder 3">
            <a:extLst>
              <a:ext uri="{FF2B5EF4-FFF2-40B4-BE49-F238E27FC236}">
                <a16:creationId xmlns:a16="http://schemas.microsoft.com/office/drawing/2014/main" id="{EB9F9F95-AE09-43BE-B7AE-D957BB7346C6}"/>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57E48D35-F9C6-4E21-B34F-1BA962050928}" type="slidenum">
              <a:rPr lang="en-US" altLang="en-US">
                <a:solidFill>
                  <a:srgbClr val="FFFFFF"/>
                </a:solidFill>
              </a:rPr>
              <a:pPr eaLnBrk="1" hangingPunct="1"/>
              <a:t>4</a:t>
            </a:fld>
            <a:endParaRPr lang="en-US" altLang="en-US">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18D19F-4D91-45BB-9166-718E7974FBA3}"/>
              </a:ext>
            </a:extLst>
          </p:cNvPr>
          <p:cNvSpPr>
            <a:spLocks noGrp="1"/>
          </p:cNvSpPr>
          <p:nvPr>
            <p:ph type="title"/>
          </p:nvPr>
        </p:nvSpPr>
        <p:spPr/>
        <p:txBody>
          <a:bodyPr/>
          <a:lstStyle/>
          <a:p>
            <a:pPr eaLnBrk="1" fontAlgn="auto" hangingPunct="1">
              <a:spcAft>
                <a:spcPts val="0"/>
              </a:spcAft>
              <a:defRPr/>
            </a:pPr>
            <a:r>
              <a:rPr lang="en-GB" dirty="0" err="1">
                <a:solidFill>
                  <a:schemeClr val="tx1"/>
                </a:solidFill>
              </a:rPr>
              <a:t>Nemo</a:t>
            </a:r>
            <a:r>
              <a:rPr lang="en-GB" dirty="0">
                <a:solidFill>
                  <a:schemeClr val="tx1"/>
                </a:solidFill>
              </a:rPr>
              <a:t> </a:t>
            </a:r>
            <a:r>
              <a:rPr lang="en-GB" dirty="0" err="1">
                <a:solidFill>
                  <a:schemeClr val="tx1"/>
                </a:solidFill>
              </a:rPr>
              <a:t>Dat</a:t>
            </a:r>
            <a:endParaRPr lang="en-GB" dirty="0">
              <a:solidFill>
                <a:schemeClr val="tx1"/>
              </a:solidFill>
            </a:endParaRPr>
          </a:p>
        </p:txBody>
      </p:sp>
      <p:sp>
        <p:nvSpPr>
          <p:cNvPr id="2" name="Content Placeholder 1">
            <a:extLst>
              <a:ext uri="{FF2B5EF4-FFF2-40B4-BE49-F238E27FC236}">
                <a16:creationId xmlns:a16="http://schemas.microsoft.com/office/drawing/2014/main" id="{BE3887CE-EF6C-4754-AA12-0FDF912D3FE7}"/>
              </a:ext>
            </a:extLst>
          </p:cNvPr>
          <p:cNvSpPr>
            <a:spLocks noGrp="1"/>
          </p:cNvSpPr>
          <p:nvPr>
            <p:ph sz="quarter" idx="1"/>
          </p:nvPr>
        </p:nvSpPr>
        <p:spPr>
          <a:xfrm>
            <a:off x="457200" y="1524000"/>
            <a:ext cx="8229600" cy="4876800"/>
          </a:xfrm>
        </p:spPr>
        <p:txBody>
          <a:bodyPr>
            <a:normAutofit/>
          </a:bodyPr>
          <a:lstStyle/>
          <a:p>
            <a:pPr marL="274320" indent="-274320" eaLnBrk="1" fontAlgn="auto" hangingPunct="1">
              <a:spcAft>
                <a:spcPts val="0"/>
              </a:spcAft>
              <a:buFont typeface="Wingdings"/>
              <a:buChar char=""/>
              <a:defRPr/>
            </a:pPr>
            <a:r>
              <a:rPr lang="en-GB" u="sng" dirty="0"/>
              <a:t>Nemo Dat rule:</a:t>
            </a:r>
          </a:p>
          <a:p>
            <a:pPr marL="274320" indent="-274320" eaLnBrk="1" fontAlgn="auto" hangingPunct="1">
              <a:spcAft>
                <a:spcPts val="0"/>
              </a:spcAft>
              <a:buFont typeface="Wingdings" panose="05000000000000000000" pitchFamily="2" charset="2"/>
              <a:buNone/>
              <a:defRPr/>
            </a:pPr>
            <a:endParaRPr lang="en-GB" dirty="0"/>
          </a:p>
          <a:p>
            <a:pPr marL="640080" lvl="1" indent="-274320" eaLnBrk="1" fontAlgn="auto" hangingPunct="1">
              <a:spcAft>
                <a:spcPts val="0"/>
              </a:spcAft>
              <a:buFont typeface="Wingdings 2"/>
              <a:buChar char=""/>
              <a:defRPr/>
            </a:pPr>
            <a:r>
              <a:rPr lang="en-GB" b="1" u="sng" dirty="0">
                <a:solidFill>
                  <a:srgbClr val="FF0000"/>
                </a:solidFill>
                <a:highlight>
                  <a:srgbClr val="FFFF00"/>
                </a:highlight>
              </a:rPr>
              <a:t>S. 21(1) </a:t>
            </a:r>
            <a:r>
              <a:rPr lang="en-GB" dirty="0"/>
              <a:t>reflects the first principle: protection of property:  no one can give a better title than he himself possesses.</a:t>
            </a:r>
          </a:p>
          <a:p>
            <a:pPr marL="640080" lvl="1" indent="-274320" eaLnBrk="1" fontAlgn="auto" hangingPunct="1">
              <a:spcAft>
                <a:spcPts val="0"/>
              </a:spcAft>
              <a:buFont typeface="Wingdings 2" panose="05020102010507070707" pitchFamily="18" charset="2"/>
              <a:buNone/>
              <a:defRPr/>
            </a:pPr>
            <a:endParaRPr lang="en-GB" dirty="0"/>
          </a:p>
          <a:p>
            <a:pPr marL="640080" lvl="1" indent="-274320" eaLnBrk="1" fontAlgn="auto" hangingPunct="1">
              <a:spcAft>
                <a:spcPts val="0"/>
              </a:spcAft>
              <a:buFont typeface="Wingdings 2"/>
              <a:buChar char=""/>
              <a:defRPr/>
            </a:pPr>
            <a:r>
              <a:rPr lang="en-GB" b="1" u="sng" dirty="0"/>
              <a:t>Two problematic phrases in s.21: </a:t>
            </a:r>
          </a:p>
          <a:p>
            <a:pPr marL="640080" lvl="1" indent="-274320" eaLnBrk="1" fontAlgn="auto" hangingPunct="1">
              <a:spcAft>
                <a:spcPts val="0"/>
              </a:spcAft>
              <a:buNone/>
              <a:defRPr/>
            </a:pPr>
            <a:r>
              <a:rPr lang="en-GB" dirty="0"/>
              <a:t>	(1) “…where goods are sold…” </a:t>
            </a:r>
            <a:r>
              <a:rPr lang="en-GB" b="1" dirty="0"/>
              <a:t>AND</a:t>
            </a:r>
            <a:r>
              <a:rPr lang="en-GB" dirty="0"/>
              <a:t> </a:t>
            </a:r>
          </a:p>
          <a:p>
            <a:pPr marL="640080" lvl="1" indent="-274320" eaLnBrk="1" fontAlgn="auto" hangingPunct="1">
              <a:spcAft>
                <a:spcPts val="0"/>
              </a:spcAft>
              <a:buNone/>
              <a:defRPr/>
            </a:pPr>
            <a:r>
              <a:rPr lang="en-GB" dirty="0"/>
              <a:t>	(2) “…consent of the owner…”</a:t>
            </a:r>
          </a:p>
          <a:p>
            <a:pPr marL="640080" lvl="1" indent="-274320" eaLnBrk="1" fontAlgn="auto" hangingPunct="1">
              <a:spcAft>
                <a:spcPts val="0"/>
              </a:spcAft>
              <a:buFont typeface="Wingdings 2" panose="05020102010507070707" pitchFamily="18" charset="2"/>
              <a:buNone/>
              <a:defRPr/>
            </a:pPr>
            <a:endParaRPr lang="en-GB" dirty="0"/>
          </a:p>
          <a:p>
            <a:pPr marL="640080" lvl="1" indent="-274320" eaLnBrk="1" fontAlgn="auto" hangingPunct="1">
              <a:spcAft>
                <a:spcPts val="0"/>
              </a:spcAft>
              <a:buFont typeface="Wingdings 2"/>
              <a:buChar char=""/>
              <a:defRPr/>
            </a:pPr>
            <a:r>
              <a:rPr lang="en-GB" dirty="0"/>
              <a:t>The first of these should not be understood as mere agreement to sell:</a:t>
            </a:r>
          </a:p>
          <a:p>
            <a:pPr lvl="2" indent="-182880" eaLnBrk="1" fontAlgn="auto" hangingPunct="1">
              <a:spcAft>
                <a:spcPts val="0"/>
              </a:spcAft>
              <a:buClr>
                <a:schemeClr val="accent1">
                  <a:shade val="75000"/>
                </a:schemeClr>
              </a:buClr>
              <a:buFont typeface="Wingdings"/>
              <a:buChar char=""/>
              <a:defRPr/>
            </a:pPr>
            <a:r>
              <a:rPr lang="en-GB" b="1" i="1" dirty="0">
                <a:solidFill>
                  <a:srgbClr val="0070C0"/>
                </a:solidFill>
              </a:rPr>
              <a:t>Shaw </a:t>
            </a:r>
            <a:r>
              <a:rPr lang="en-GB" b="1" dirty="0">
                <a:solidFill>
                  <a:srgbClr val="0070C0"/>
                </a:solidFill>
              </a:rPr>
              <a:t>v</a:t>
            </a:r>
            <a:r>
              <a:rPr lang="en-GB" b="1" i="1" dirty="0">
                <a:solidFill>
                  <a:srgbClr val="0070C0"/>
                </a:solidFill>
              </a:rPr>
              <a:t> Commissioner of Met. Police</a:t>
            </a:r>
          </a:p>
          <a:p>
            <a:pPr lvl="2" indent="-182880" eaLnBrk="1" fontAlgn="auto" hangingPunct="1">
              <a:spcAft>
                <a:spcPts val="0"/>
              </a:spcAft>
              <a:buClr>
                <a:schemeClr val="accent1">
                  <a:shade val="75000"/>
                </a:schemeClr>
              </a:buClr>
              <a:buFont typeface="Wingdings"/>
              <a:buChar char=""/>
              <a:defRPr/>
            </a:pPr>
            <a:endParaRPr lang="en-GB" i="1" dirty="0"/>
          </a:p>
          <a:p>
            <a:pPr marL="274320" indent="-274320" eaLnBrk="1" fontAlgn="auto" hangingPunct="1">
              <a:spcAft>
                <a:spcPts val="0"/>
              </a:spcAft>
              <a:buFont typeface="Wingdings"/>
              <a:buChar char=""/>
              <a:defRPr/>
            </a:pPr>
            <a:endParaRPr lang="en-GB" dirty="0"/>
          </a:p>
        </p:txBody>
      </p:sp>
      <p:sp>
        <p:nvSpPr>
          <p:cNvPr id="12292" name="Slide Number Placeholder 2">
            <a:extLst>
              <a:ext uri="{FF2B5EF4-FFF2-40B4-BE49-F238E27FC236}">
                <a16:creationId xmlns:a16="http://schemas.microsoft.com/office/drawing/2014/main" id="{CBD5E781-2AEF-48F1-9C09-FCAF9C7C7166}"/>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6B0273F1-B2B1-4B9E-8040-45D7FB8AC349}" type="slidenum">
              <a:rPr lang="en-US" altLang="en-US">
                <a:solidFill>
                  <a:srgbClr val="FFFFFF"/>
                </a:solidFill>
              </a:rPr>
              <a:pPr eaLnBrk="1" hangingPunct="1"/>
              <a:t>5</a:t>
            </a:fld>
            <a:endParaRPr lang="en-US" altLang="en-US">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81A7A-FA22-4509-9D2F-F21D2A4780C0}"/>
              </a:ext>
            </a:extLst>
          </p:cNvPr>
          <p:cNvSpPr>
            <a:spLocks noGrp="1"/>
          </p:cNvSpPr>
          <p:nvPr>
            <p:ph type="title"/>
          </p:nvPr>
        </p:nvSpPr>
        <p:spPr/>
        <p:txBody>
          <a:bodyPr/>
          <a:lstStyle/>
          <a:p>
            <a:pPr>
              <a:defRPr/>
            </a:pPr>
            <a:r>
              <a:rPr lang="en-GB" dirty="0">
                <a:solidFill>
                  <a:schemeClr val="tx1"/>
                </a:solidFill>
              </a:rPr>
              <a:t>NEMO DAT</a:t>
            </a:r>
          </a:p>
        </p:txBody>
      </p:sp>
      <p:sp>
        <p:nvSpPr>
          <p:cNvPr id="3" name="Content Placeholder 2">
            <a:extLst>
              <a:ext uri="{FF2B5EF4-FFF2-40B4-BE49-F238E27FC236}">
                <a16:creationId xmlns:a16="http://schemas.microsoft.com/office/drawing/2014/main" id="{9346BD71-6DF6-4DD1-8E0A-AF98854BAD80}"/>
              </a:ext>
            </a:extLst>
          </p:cNvPr>
          <p:cNvSpPr>
            <a:spLocks noGrp="1"/>
          </p:cNvSpPr>
          <p:nvPr>
            <p:ph sz="quarter" idx="1"/>
          </p:nvPr>
        </p:nvSpPr>
        <p:spPr>
          <a:xfrm>
            <a:off x="457200" y="1600200"/>
            <a:ext cx="7467600" cy="4873625"/>
          </a:xfrm>
        </p:spPr>
        <p:txBody>
          <a:bodyPr/>
          <a:lstStyle/>
          <a:p>
            <a:pPr marL="640080" lvl="1" indent="-274320" eaLnBrk="1" fontAlgn="auto" hangingPunct="1">
              <a:spcAft>
                <a:spcPts val="0"/>
              </a:spcAft>
              <a:buFont typeface="Wingdings 2"/>
              <a:buChar char=""/>
              <a:defRPr/>
            </a:pPr>
            <a:r>
              <a:rPr lang="en-GB" u="sng" dirty="0">
                <a:solidFill>
                  <a:srgbClr val="0070C0"/>
                </a:solidFill>
              </a:rPr>
              <a:t>Negative Part </a:t>
            </a:r>
            <a:r>
              <a:rPr lang="en-GB" dirty="0"/>
              <a:t>– a non-owner cannot pass title (just like with an agreement to sell)</a:t>
            </a:r>
          </a:p>
          <a:p>
            <a:pPr marL="640080" lvl="1" indent="-274320" eaLnBrk="1" fontAlgn="auto" hangingPunct="1">
              <a:spcAft>
                <a:spcPts val="0"/>
              </a:spcAft>
              <a:buFont typeface="Wingdings 2" panose="05020102010507070707" pitchFamily="18" charset="2"/>
              <a:buNone/>
              <a:defRPr/>
            </a:pPr>
            <a:endParaRPr lang="en-GB" dirty="0"/>
          </a:p>
          <a:p>
            <a:pPr marL="640080" lvl="1" indent="-274320" eaLnBrk="1" fontAlgn="auto" hangingPunct="1">
              <a:spcAft>
                <a:spcPts val="0"/>
              </a:spcAft>
              <a:buFont typeface="Wingdings 2"/>
              <a:buChar char=""/>
              <a:defRPr/>
            </a:pPr>
            <a:r>
              <a:rPr lang="en-GB" u="sng" dirty="0">
                <a:solidFill>
                  <a:srgbClr val="0070C0"/>
                </a:solidFill>
              </a:rPr>
              <a:t>Positive Part </a:t>
            </a:r>
            <a:r>
              <a:rPr lang="en-GB" dirty="0"/>
              <a:t>– a non-owner is enabled to pass a good title (</a:t>
            </a:r>
            <a:r>
              <a:rPr lang="en-GB" dirty="0">
                <a:solidFill>
                  <a:srgbClr val="FF0000"/>
                </a:solidFill>
              </a:rPr>
              <a:t>restatement of the doctrine of estoppel</a:t>
            </a:r>
            <a:r>
              <a:rPr lang="en-GB" dirty="0"/>
              <a:t>)</a:t>
            </a:r>
          </a:p>
          <a:p>
            <a:pPr marL="640080" lvl="1" indent="-274320" eaLnBrk="1" fontAlgn="auto" hangingPunct="1">
              <a:spcAft>
                <a:spcPts val="0"/>
              </a:spcAft>
              <a:buFont typeface="Wingdings 2" panose="05020102010507070707" pitchFamily="18" charset="2"/>
              <a:buNone/>
              <a:defRPr/>
            </a:pPr>
            <a:endParaRPr lang="en-GB" dirty="0"/>
          </a:p>
          <a:p>
            <a:pPr lvl="2" indent="-182880" eaLnBrk="1" fontAlgn="auto" hangingPunct="1">
              <a:spcAft>
                <a:spcPts val="0"/>
              </a:spcAft>
              <a:buClr>
                <a:schemeClr val="accent1">
                  <a:shade val="75000"/>
                </a:schemeClr>
              </a:buClr>
              <a:buFont typeface="Wingdings"/>
              <a:buChar char=""/>
              <a:defRPr/>
            </a:pPr>
            <a:r>
              <a:rPr lang="en-GB" dirty="0"/>
              <a:t>“…unless the owner of the goods is by his conduct precluded from denying the seller's authority to sell."</a:t>
            </a:r>
          </a:p>
          <a:p>
            <a:pPr>
              <a:defRPr/>
            </a:pPr>
            <a:endParaRPr lang="en-GB" dirty="0"/>
          </a:p>
        </p:txBody>
      </p:sp>
      <p:sp>
        <p:nvSpPr>
          <p:cNvPr id="13316" name="Slide Number Placeholder 3">
            <a:extLst>
              <a:ext uri="{FF2B5EF4-FFF2-40B4-BE49-F238E27FC236}">
                <a16:creationId xmlns:a16="http://schemas.microsoft.com/office/drawing/2014/main" id="{F2D306F7-DAAF-4755-B825-B7DF35901E8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106FAB21-085A-4E21-A36D-A82A8CC4E231}" type="slidenum">
              <a:rPr lang="en-US" altLang="en-US">
                <a:solidFill>
                  <a:srgbClr val="FFFFFF"/>
                </a:solidFill>
              </a:rPr>
              <a:pPr eaLnBrk="1" hangingPunct="1"/>
              <a:t>6</a:t>
            </a:fld>
            <a:endParaRPr lang="en-US" altLang="en-US">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D8440E-620E-44F8-A06A-06A82DD2BB7C}"/>
              </a:ext>
            </a:extLst>
          </p:cNvPr>
          <p:cNvSpPr>
            <a:spLocks noGrp="1"/>
          </p:cNvSpPr>
          <p:nvPr>
            <p:ph type="title"/>
          </p:nvPr>
        </p:nvSpPr>
        <p:spPr/>
        <p:txBody>
          <a:bodyPr/>
          <a:lstStyle/>
          <a:p>
            <a:pPr eaLnBrk="1" fontAlgn="auto" hangingPunct="1">
              <a:spcAft>
                <a:spcPts val="0"/>
              </a:spcAft>
              <a:defRPr/>
            </a:pPr>
            <a:r>
              <a:rPr lang="en-GB" b="1" u="sng" dirty="0">
                <a:solidFill>
                  <a:srgbClr val="FF0000"/>
                </a:solidFill>
              </a:rPr>
              <a:t>Consent of the owner</a:t>
            </a:r>
          </a:p>
        </p:txBody>
      </p:sp>
      <p:sp>
        <p:nvSpPr>
          <p:cNvPr id="14339" name="Content Placeholder 1">
            <a:extLst>
              <a:ext uri="{FF2B5EF4-FFF2-40B4-BE49-F238E27FC236}">
                <a16:creationId xmlns:a16="http://schemas.microsoft.com/office/drawing/2014/main" id="{742CE248-075A-41C6-A9A2-7FFA270360DF}"/>
              </a:ext>
            </a:extLst>
          </p:cNvPr>
          <p:cNvSpPr>
            <a:spLocks noGrp="1"/>
          </p:cNvSpPr>
          <p:nvPr>
            <p:ph sz="quarter" idx="1"/>
          </p:nvPr>
        </p:nvSpPr>
        <p:spPr>
          <a:xfrm>
            <a:off x="457200" y="1524000"/>
            <a:ext cx="8229600" cy="4800600"/>
          </a:xfrm>
        </p:spPr>
        <p:txBody>
          <a:bodyPr/>
          <a:lstStyle/>
          <a:p>
            <a:pPr eaLnBrk="1" hangingPunct="1"/>
            <a:r>
              <a:rPr lang="en-GB" altLang="en-US" dirty="0"/>
              <a:t>Goods may be sold with the express authority of the S. Agency rules apply.</a:t>
            </a:r>
          </a:p>
          <a:p>
            <a:pPr eaLnBrk="1" hangingPunct="1">
              <a:buFont typeface="Wingdings" panose="05000000000000000000" pitchFamily="2" charset="2"/>
              <a:buNone/>
            </a:pPr>
            <a:endParaRPr lang="en-GB" altLang="en-US" dirty="0"/>
          </a:p>
          <a:p>
            <a:pPr marL="639445" lvl="1" eaLnBrk="1" hangingPunct="1"/>
            <a:r>
              <a:rPr lang="en-GB" altLang="en-US" dirty="0"/>
              <a:t>But what about the </a:t>
            </a:r>
            <a:r>
              <a:rPr lang="en-GB" altLang="en-US" b="1" dirty="0">
                <a:solidFill>
                  <a:srgbClr val="0070C0"/>
                </a:solidFill>
              </a:rPr>
              <a:t>“consent of the owner”</a:t>
            </a:r>
          </a:p>
          <a:p>
            <a:pPr marL="639445" lvl="1" eaLnBrk="1" hangingPunct="1">
              <a:buFont typeface="Wingdings 2" panose="05020102010507070707" pitchFamily="18" charset="2"/>
              <a:buNone/>
            </a:pPr>
            <a:endParaRPr lang="en-GB" altLang="en-US" b="1" dirty="0"/>
          </a:p>
          <a:p>
            <a:pPr marL="639445" lvl="1" eaLnBrk="1" hangingPunct="1"/>
            <a:r>
              <a:rPr lang="en-GB" altLang="en-US" b="1" dirty="0">
                <a:solidFill>
                  <a:srgbClr val="FF0000"/>
                </a:solidFill>
              </a:rPr>
              <a:t>S. 47(1)(sub-sale by B):</a:t>
            </a:r>
          </a:p>
          <a:p>
            <a:pPr marL="639445" lvl="1" eaLnBrk="1" hangingPunct="1">
              <a:buFont typeface="Wingdings 2" panose="05020102010507070707" pitchFamily="18" charset="2"/>
              <a:buNone/>
            </a:pPr>
            <a:endParaRPr lang="en-GB" altLang="en-US" dirty="0"/>
          </a:p>
          <a:p>
            <a:pPr lvl="2" indent="-182245" eaLnBrk="1" hangingPunct="1"/>
            <a:r>
              <a:rPr lang="en-GB" altLang="en-US" dirty="0"/>
              <a:t>B not in possession resells the goods and the S assents, the Sub-B obtains good title from the first S’s lien or right of stoppage in transit.</a:t>
            </a:r>
          </a:p>
          <a:p>
            <a:pPr lvl="2" indent="-182245" eaLnBrk="1" hangingPunct="1">
              <a:buFont typeface="Wingdings" panose="05000000000000000000" pitchFamily="2" charset="2"/>
              <a:buNone/>
            </a:pPr>
            <a:endParaRPr lang="en-GB" altLang="en-US" dirty="0"/>
          </a:p>
          <a:p>
            <a:pPr lvl="2" indent="-182245" eaLnBrk="1" hangingPunct="1"/>
            <a:r>
              <a:rPr lang="en-GB" altLang="en-US" dirty="0"/>
              <a:t>Stoppage is similar to estoppel.  But </a:t>
            </a:r>
            <a:r>
              <a:rPr lang="en-GB" altLang="en-US" u="sng" dirty="0"/>
              <a:t>estoppel needs to be communicated to  the Sub-B whereas the S under s.47(1) may assent to the resale by only communicating his assent to the B.</a:t>
            </a:r>
          </a:p>
        </p:txBody>
      </p:sp>
      <p:sp>
        <p:nvSpPr>
          <p:cNvPr id="14340" name="Slide Number Placeholder 2">
            <a:extLst>
              <a:ext uri="{FF2B5EF4-FFF2-40B4-BE49-F238E27FC236}">
                <a16:creationId xmlns:a16="http://schemas.microsoft.com/office/drawing/2014/main" id="{99E60024-0815-4507-B566-F6F4FBBB50C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E6C10B14-7D0D-47B1-8899-F2F22B2D3B52}" type="slidenum">
              <a:rPr lang="en-US" altLang="en-US">
                <a:solidFill>
                  <a:srgbClr val="FFFFFF"/>
                </a:solidFill>
              </a:rPr>
              <a:pPr eaLnBrk="1" hangingPunct="1"/>
              <a:t>7</a:t>
            </a:fld>
            <a:endParaRPr lang="en-US" altLang="en-US">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1703D-A5CD-47E0-B9AA-182DD4A9D44D}"/>
              </a:ext>
            </a:extLst>
          </p:cNvPr>
          <p:cNvSpPr>
            <a:spLocks noGrp="1"/>
          </p:cNvSpPr>
          <p:nvPr>
            <p:ph type="title"/>
          </p:nvPr>
        </p:nvSpPr>
        <p:spPr>
          <a:xfrm>
            <a:off x="457200" y="274638"/>
            <a:ext cx="7467600" cy="715962"/>
          </a:xfrm>
        </p:spPr>
        <p:txBody>
          <a:bodyPr/>
          <a:lstStyle/>
          <a:p>
            <a:pPr eaLnBrk="1" fontAlgn="auto" hangingPunct="1">
              <a:spcAft>
                <a:spcPts val="0"/>
              </a:spcAft>
              <a:defRPr/>
            </a:pPr>
            <a:r>
              <a:rPr lang="en-GB" dirty="0">
                <a:solidFill>
                  <a:schemeClr val="tx1"/>
                </a:solidFill>
              </a:rPr>
              <a:t>Consent of the owner</a:t>
            </a:r>
          </a:p>
        </p:txBody>
      </p:sp>
      <p:sp>
        <p:nvSpPr>
          <p:cNvPr id="3" name="Content Placeholder 2">
            <a:extLst>
              <a:ext uri="{FF2B5EF4-FFF2-40B4-BE49-F238E27FC236}">
                <a16:creationId xmlns:a16="http://schemas.microsoft.com/office/drawing/2014/main" id="{F9000169-F69C-439D-9B1D-E7DD3C597D13}"/>
              </a:ext>
            </a:extLst>
          </p:cNvPr>
          <p:cNvSpPr>
            <a:spLocks noGrp="1"/>
          </p:cNvSpPr>
          <p:nvPr>
            <p:ph sz="quarter" idx="1"/>
          </p:nvPr>
        </p:nvSpPr>
        <p:spPr>
          <a:xfrm>
            <a:off x="457200" y="990600"/>
            <a:ext cx="7924800" cy="5483225"/>
          </a:xfrm>
        </p:spPr>
        <p:txBody>
          <a:bodyPr>
            <a:normAutofit fontScale="92500" lnSpcReduction="20000"/>
          </a:bodyPr>
          <a:lstStyle/>
          <a:p>
            <a:pPr marL="274320" indent="-274320" eaLnBrk="1" fontAlgn="auto" hangingPunct="1">
              <a:spcAft>
                <a:spcPts val="0"/>
              </a:spcAft>
              <a:buFont typeface="Wingdings"/>
              <a:buChar char=""/>
              <a:defRPr/>
            </a:pPr>
            <a:endParaRPr lang="en-GB" dirty="0"/>
          </a:p>
          <a:p>
            <a:pPr marL="274320" indent="-274320" eaLnBrk="1" fontAlgn="auto" hangingPunct="1">
              <a:spcAft>
                <a:spcPts val="0"/>
              </a:spcAft>
              <a:buFont typeface="Wingdings"/>
              <a:buChar char=""/>
              <a:defRPr/>
            </a:pPr>
            <a:r>
              <a:rPr lang="en-GB" dirty="0">
                <a:solidFill>
                  <a:srgbClr val="0070C0"/>
                </a:solidFill>
              </a:rPr>
              <a:t>Nemo </a:t>
            </a:r>
            <a:r>
              <a:rPr lang="en-GB" dirty="0" err="1">
                <a:solidFill>
                  <a:srgbClr val="0070C0"/>
                </a:solidFill>
              </a:rPr>
              <a:t>dat</a:t>
            </a:r>
            <a:r>
              <a:rPr lang="en-GB" dirty="0">
                <a:solidFill>
                  <a:srgbClr val="0070C0"/>
                </a:solidFill>
              </a:rPr>
              <a:t> has a </a:t>
            </a:r>
            <a:r>
              <a:rPr lang="en-GB" b="1" u="sng" dirty="0">
                <a:solidFill>
                  <a:srgbClr val="0070C0"/>
                </a:solidFill>
              </a:rPr>
              <a:t>wider application than s. 21:</a:t>
            </a:r>
          </a:p>
          <a:p>
            <a:pPr marL="274320" indent="-274320" eaLnBrk="1" fontAlgn="auto" hangingPunct="1">
              <a:spcAft>
                <a:spcPts val="0"/>
              </a:spcAft>
              <a:buFont typeface="Wingdings" panose="05000000000000000000" pitchFamily="2" charset="2"/>
              <a:buNone/>
              <a:defRPr/>
            </a:pPr>
            <a:endParaRPr lang="en-GB" dirty="0">
              <a:solidFill>
                <a:srgbClr val="0070C0"/>
              </a:solidFill>
            </a:endParaRPr>
          </a:p>
          <a:p>
            <a:pPr marL="640080" lvl="1" indent="-274320" eaLnBrk="1" fontAlgn="auto" hangingPunct="1">
              <a:spcAft>
                <a:spcPts val="0"/>
              </a:spcAft>
              <a:buFont typeface="Wingdings 2"/>
              <a:buChar char=""/>
              <a:defRPr/>
            </a:pPr>
            <a:r>
              <a:rPr lang="en-GB" u="sng" dirty="0"/>
              <a:t>S. 21 only applies to a sale of goods by a non-owner.</a:t>
            </a:r>
          </a:p>
          <a:p>
            <a:pPr marL="640080" lvl="1" indent="-274320" eaLnBrk="1" fontAlgn="auto" hangingPunct="1">
              <a:spcAft>
                <a:spcPts val="0"/>
              </a:spcAft>
              <a:buFont typeface="Wingdings 2" panose="05020102010507070707" pitchFamily="18" charset="2"/>
              <a:buNone/>
              <a:defRPr/>
            </a:pPr>
            <a:endParaRPr lang="en-GB" dirty="0"/>
          </a:p>
          <a:p>
            <a:pPr marL="640080" lvl="1" indent="-274320" eaLnBrk="1" fontAlgn="auto" hangingPunct="1">
              <a:spcAft>
                <a:spcPts val="0"/>
              </a:spcAft>
              <a:buFont typeface="Wingdings 2"/>
              <a:buChar char=""/>
              <a:defRPr/>
            </a:pPr>
            <a:r>
              <a:rPr lang="en-GB" u="sng" dirty="0"/>
              <a:t>Nemo </a:t>
            </a:r>
            <a:r>
              <a:rPr lang="en-GB" u="sng" dirty="0" err="1"/>
              <a:t>dat</a:t>
            </a:r>
            <a:r>
              <a:rPr lang="en-GB" u="sng" dirty="0"/>
              <a:t> covers all those cases where an owner sells goods but is unable to sell them free from some encumbrance/charge existing in favour of a 3</a:t>
            </a:r>
            <a:r>
              <a:rPr lang="en-GB" u="sng" baseline="30000" dirty="0"/>
              <a:t>rd</a:t>
            </a:r>
            <a:r>
              <a:rPr lang="en-GB" u="sng" dirty="0"/>
              <a:t> party. – much wider than ambit of s.21.</a:t>
            </a:r>
          </a:p>
          <a:p>
            <a:pPr lvl="2" indent="-182880" eaLnBrk="1" fontAlgn="auto" hangingPunct="1">
              <a:spcAft>
                <a:spcPts val="0"/>
              </a:spcAft>
              <a:buClr>
                <a:schemeClr val="accent1">
                  <a:shade val="75000"/>
                </a:schemeClr>
              </a:buClr>
              <a:buFont typeface="Wingdings"/>
              <a:buChar char=""/>
              <a:defRPr/>
            </a:pPr>
            <a:r>
              <a:rPr lang="en-GB" dirty="0"/>
              <a:t>Equitable rights are subject to those of a good faith purchaser for value without notice ("equity's darling").</a:t>
            </a:r>
          </a:p>
          <a:p>
            <a:pPr lvl="2" indent="-182880" eaLnBrk="1" fontAlgn="auto" hangingPunct="1">
              <a:spcAft>
                <a:spcPts val="0"/>
              </a:spcAft>
              <a:buClr>
                <a:schemeClr val="accent1">
                  <a:shade val="75000"/>
                </a:schemeClr>
              </a:buClr>
              <a:buFont typeface="Wingdings" panose="05000000000000000000" pitchFamily="2" charset="2"/>
              <a:buNone/>
              <a:defRPr/>
            </a:pPr>
            <a:endParaRPr lang="en-GB" dirty="0"/>
          </a:p>
          <a:p>
            <a:pPr marL="640080" lvl="1" indent="-274320" eaLnBrk="1" fontAlgn="auto" hangingPunct="1">
              <a:spcAft>
                <a:spcPts val="0"/>
              </a:spcAft>
              <a:buFont typeface="Wingdings 2"/>
              <a:buChar char=""/>
              <a:defRPr/>
            </a:pPr>
            <a:r>
              <a:rPr lang="en-GB" dirty="0"/>
              <a:t>One situation where an encumbrance binds 3</a:t>
            </a:r>
            <a:r>
              <a:rPr lang="en-GB" baseline="30000" dirty="0"/>
              <a:t>rd</a:t>
            </a:r>
            <a:r>
              <a:rPr lang="en-GB" dirty="0"/>
              <a:t> party:</a:t>
            </a:r>
          </a:p>
          <a:p>
            <a:pPr lvl="2" indent="-182880" eaLnBrk="1" fontAlgn="auto" hangingPunct="1">
              <a:spcAft>
                <a:spcPts val="0"/>
              </a:spcAft>
              <a:buClr>
                <a:schemeClr val="accent1">
                  <a:shade val="75000"/>
                </a:schemeClr>
              </a:buClr>
              <a:buFont typeface="Wingdings"/>
              <a:buChar char=""/>
              <a:defRPr/>
            </a:pPr>
            <a:r>
              <a:rPr lang="en-GB" dirty="0"/>
              <a:t>A (pledgor) pledges goods to B (pledgee). B returns goods to A to obtain clearance from the warehouse. Any unauthorised disposition by A during this process will not prejudice the rights of B. </a:t>
            </a:r>
          </a:p>
          <a:p>
            <a:pPr marL="1188720" lvl="3" indent="-182880" eaLnBrk="1" fontAlgn="auto" hangingPunct="1">
              <a:spcAft>
                <a:spcPts val="0"/>
              </a:spcAft>
              <a:buClr>
                <a:schemeClr val="accent1">
                  <a:tint val="60000"/>
                </a:schemeClr>
              </a:buClr>
              <a:buFont typeface="Wingdings"/>
              <a:buChar char=""/>
              <a:defRPr/>
            </a:pPr>
            <a:r>
              <a:rPr lang="en-GB" dirty="0"/>
              <a:t>Return of the goods to A by B does not transfer possession because it is for a specific purpose (clearance from the warehouse). B has limited property rights over the goods.</a:t>
            </a:r>
          </a:p>
          <a:p>
            <a:pPr marL="1188720" lvl="3" indent="-182880" eaLnBrk="1" fontAlgn="auto" hangingPunct="1">
              <a:spcAft>
                <a:spcPts val="0"/>
              </a:spcAft>
              <a:buClr>
                <a:schemeClr val="accent1">
                  <a:tint val="60000"/>
                </a:schemeClr>
              </a:buClr>
              <a:buFont typeface="Wingdings"/>
              <a:buChar char=""/>
              <a:defRPr/>
            </a:pPr>
            <a:r>
              <a:rPr lang="en-GB" dirty="0"/>
              <a:t>When A sells to an innocent 3</a:t>
            </a:r>
            <a:r>
              <a:rPr lang="en-GB" baseline="30000" dirty="0"/>
              <a:t>rd</a:t>
            </a:r>
            <a:r>
              <a:rPr lang="en-GB" dirty="0"/>
              <a:t> party there will be hardship for the latter.</a:t>
            </a:r>
          </a:p>
          <a:p>
            <a:pPr marL="1188720" lvl="3" indent="-182880" eaLnBrk="1" fontAlgn="auto" hangingPunct="1">
              <a:spcAft>
                <a:spcPts val="0"/>
              </a:spcAft>
              <a:buClr>
                <a:schemeClr val="accent1">
                  <a:tint val="60000"/>
                </a:schemeClr>
              </a:buClr>
              <a:buFont typeface="Wingdings" panose="05000000000000000000" pitchFamily="2" charset="2"/>
              <a:buNone/>
              <a:defRPr/>
            </a:pPr>
            <a:endParaRPr lang="en-GB" dirty="0"/>
          </a:p>
        </p:txBody>
      </p:sp>
      <p:sp>
        <p:nvSpPr>
          <p:cNvPr id="16388" name="Slide Number Placeholder 3">
            <a:extLst>
              <a:ext uri="{FF2B5EF4-FFF2-40B4-BE49-F238E27FC236}">
                <a16:creationId xmlns:a16="http://schemas.microsoft.com/office/drawing/2014/main" id="{26DE4B7F-6C43-4917-B77D-57CAABF2084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E23090A4-2A36-4B93-A21A-18DE53B00036}" type="slidenum">
              <a:rPr lang="en-US" altLang="en-US">
                <a:solidFill>
                  <a:srgbClr val="FFFFFF"/>
                </a:solidFill>
              </a:rPr>
              <a:pPr eaLnBrk="1" hangingPunct="1"/>
              <a:t>8</a:t>
            </a:fld>
            <a:endParaRPr lang="en-US" altLang="en-US">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3FC79-9597-4592-9130-98953B894D59}"/>
              </a:ext>
            </a:extLst>
          </p:cNvPr>
          <p:cNvSpPr>
            <a:spLocks noGrp="1"/>
          </p:cNvSpPr>
          <p:nvPr>
            <p:ph type="title"/>
          </p:nvPr>
        </p:nvSpPr>
        <p:spPr/>
        <p:txBody>
          <a:bodyPr/>
          <a:lstStyle/>
          <a:p>
            <a:pPr>
              <a:defRPr/>
            </a:pPr>
            <a:r>
              <a:rPr lang="en-GB" dirty="0">
                <a:solidFill>
                  <a:schemeClr val="tx1"/>
                </a:solidFill>
              </a:rPr>
              <a:t>CONSENT OF THE OWNER</a:t>
            </a:r>
          </a:p>
        </p:txBody>
      </p:sp>
      <p:sp>
        <p:nvSpPr>
          <p:cNvPr id="3" name="Content Placeholder 2">
            <a:extLst>
              <a:ext uri="{FF2B5EF4-FFF2-40B4-BE49-F238E27FC236}">
                <a16:creationId xmlns:a16="http://schemas.microsoft.com/office/drawing/2014/main" id="{3A197DCC-AB8D-4926-8EC2-445F7BFD3FF9}"/>
              </a:ext>
            </a:extLst>
          </p:cNvPr>
          <p:cNvSpPr>
            <a:spLocks noGrp="1"/>
          </p:cNvSpPr>
          <p:nvPr>
            <p:ph sz="quarter" idx="1"/>
          </p:nvPr>
        </p:nvSpPr>
        <p:spPr>
          <a:xfrm>
            <a:off x="457200" y="1600200"/>
            <a:ext cx="7467600" cy="4873625"/>
          </a:xfrm>
        </p:spPr>
        <p:txBody>
          <a:bodyPr/>
          <a:lstStyle/>
          <a:p>
            <a:pPr lvl="2" indent="-182880" eaLnBrk="1" fontAlgn="auto" hangingPunct="1">
              <a:spcAft>
                <a:spcPts val="0"/>
              </a:spcAft>
              <a:buClr>
                <a:schemeClr val="accent1">
                  <a:shade val="75000"/>
                </a:schemeClr>
              </a:buClr>
              <a:buFont typeface="Wingdings"/>
              <a:buChar char=""/>
              <a:defRPr/>
            </a:pPr>
            <a:r>
              <a:rPr lang="en-GB" sz="2000" u="sng" dirty="0">
                <a:solidFill>
                  <a:srgbClr val="FF0000"/>
                </a:solidFill>
              </a:rPr>
              <a:t>Two limitations to Nemo </a:t>
            </a:r>
            <a:r>
              <a:rPr lang="en-GB" sz="2000" u="sng" dirty="0" err="1">
                <a:solidFill>
                  <a:srgbClr val="FF0000"/>
                </a:solidFill>
              </a:rPr>
              <a:t>dat</a:t>
            </a:r>
            <a:r>
              <a:rPr lang="en-GB" sz="2000" u="sng" dirty="0">
                <a:solidFill>
                  <a:srgbClr val="FF0000"/>
                </a:solidFill>
              </a:rPr>
              <a:t>:</a:t>
            </a:r>
          </a:p>
          <a:p>
            <a:pPr lvl="2" indent="-182880" eaLnBrk="1" fontAlgn="auto" hangingPunct="1">
              <a:spcAft>
                <a:spcPts val="0"/>
              </a:spcAft>
              <a:buClr>
                <a:schemeClr val="accent1">
                  <a:shade val="75000"/>
                </a:schemeClr>
              </a:buClr>
              <a:buFont typeface="Wingdings" panose="05000000000000000000" pitchFamily="2" charset="2"/>
              <a:buNone/>
              <a:defRPr/>
            </a:pPr>
            <a:endParaRPr lang="en-GB" dirty="0"/>
          </a:p>
          <a:p>
            <a:pPr marL="1188720" lvl="3" indent="-182880" eaLnBrk="1" fontAlgn="auto" hangingPunct="1">
              <a:spcAft>
                <a:spcPts val="0"/>
              </a:spcAft>
              <a:buClr>
                <a:schemeClr val="accent1">
                  <a:tint val="60000"/>
                </a:schemeClr>
              </a:buClr>
              <a:buFont typeface="Wingdings"/>
              <a:buChar char=""/>
              <a:defRPr/>
            </a:pPr>
            <a:r>
              <a:rPr lang="en-GB" dirty="0"/>
              <a:t>(1)  B returns the goods to A with an unrestricted authority to sell. Innocent 3</a:t>
            </a:r>
            <a:r>
              <a:rPr lang="en-GB" baseline="30000" dirty="0"/>
              <a:t>rd</a:t>
            </a:r>
            <a:r>
              <a:rPr lang="en-GB" dirty="0"/>
              <a:t> party then gets good title. </a:t>
            </a:r>
          </a:p>
          <a:p>
            <a:pPr marL="1188720" lvl="3" indent="-182880" eaLnBrk="1" fontAlgn="auto" hangingPunct="1">
              <a:spcAft>
                <a:spcPts val="0"/>
              </a:spcAft>
              <a:buClr>
                <a:schemeClr val="accent1">
                  <a:tint val="60000"/>
                </a:schemeClr>
              </a:buClr>
              <a:buFont typeface="Wingdings" panose="05000000000000000000" pitchFamily="2" charset="2"/>
              <a:buNone/>
              <a:defRPr/>
            </a:pPr>
            <a:endParaRPr lang="en-GB" dirty="0"/>
          </a:p>
          <a:p>
            <a:pPr marL="1188720" lvl="3" indent="-182880" eaLnBrk="1" fontAlgn="auto" hangingPunct="1">
              <a:spcAft>
                <a:spcPts val="0"/>
              </a:spcAft>
              <a:buClr>
                <a:schemeClr val="accent1">
                  <a:tint val="60000"/>
                </a:schemeClr>
              </a:buClr>
              <a:buFont typeface="Wingdings"/>
              <a:buChar char=""/>
              <a:defRPr/>
            </a:pPr>
            <a:r>
              <a:rPr lang="en-GB" dirty="0"/>
              <a:t>(2)  If A is a mercantile agent the return of the goods to him by B will enable the 3</a:t>
            </a:r>
            <a:r>
              <a:rPr lang="en-GB" baseline="30000" dirty="0"/>
              <a:t>rd</a:t>
            </a:r>
            <a:r>
              <a:rPr lang="en-GB" dirty="0"/>
              <a:t> party to argue that A was in possession with the consent of owner and the 3</a:t>
            </a:r>
            <a:r>
              <a:rPr lang="en-GB" baseline="30000" dirty="0"/>
              <a:t>rd</a:t>
            </a:r>
            <a:r>
              <a:rPr lang="en-GB" dirty="0"/>
              <a:t> party will be protected under s. 2(1) Factors Act 1889.</a:t>
            </a:r>
          </a:p>
          <a:p>
            <a:pPr>
              <a:defRPr/>
            </a:pPr>
            <a:endParaRPr lang="en-GB" dirty="0"/>
          </a:p>
        </p:txBody>
      </p:sp>
      <p:sp>
        <p:nvSpPr>
          <p:cNvPr id="17412" name="Slide Number Placeholder 3">
            <a:extLst>
              <a:ext uri="{FF2B5EF4-FFF2-40B4-BE49-F238E27FC236}">
                <a16:creationId xmlns:a16="http://schemas.microsoft.com/office/drawing/2014/main" id="{7C36216A-22B4-4BE0-8907-0178F4AF5C4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5718FB8F-CCBE-45B1-AA14-7D5CAB97001E}" type="slidenum">
              <a:rPr lang="en-US" altLang="en-US">
                <a:solidFill>
                  <a:srgbClr val="FFFFFF"/>
                </a:solidFill>
              </a:rPr>
              <a:pPr eaLnBrk="1" hangingPunct="1"/>
              <a:t>9</a:t>
            </a:fld>
            <a:endParaRPr lang="en-US" altLang="en-US">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26392C-7AFD-4D2B-9E36-25EFB0562EF4}"/>
              </a:ext>
            </a:extLst>
          </p:cNvPr>
          <p:cNvSpPr>
            <a:spLocks noGrp="1"/>
          </p:cNvSpPr>
          <p:nvPr>
            <p:ph type="title"/>
          </p:nvPr>
        </p:nvSpPr>
        <p:spPr/>
        <p:txBody>
          <a:bodyPr/>
          <a:lstStyle/>
          <a:p>
            <a:pPr eaLnBrk="1" fontAlgn="auto" hangingPunct="1">
              <a:spcAft>
                <a:spcPts val="0"/>
              </a:spcAft>
              <a:defRPr/>
            </a:pPr>
            <a:r>
              <a:rPr lang="en-GB" b="1" u="sng" dirty="0">
                <a:solidFill>
                  <a:srgbClr val="FF0000"/>
                </a:solidFill>
                <a:highlight>
                  <a:srgbClr val="FFFF00"/>
                </a:highlight>
              </a:rPr>
              <a:t>Estoppel</a:t>
            </a:r>
          </a:p>
        </p:txBody>
      </p:sp>
      <p:sp>
        <p:nvSpPr>
          <p:cNvPr id="2" name="Content Placeholder 1">
            <a:extLst>
              <a:ext uri="{FF2B5EF4-FFF2-40B4-BE49-F238E27FC236}">
                <a16:creationId xmlns:a16="http://schemas.microsoft.com/office/drawing/2014/main" id="{2A938D21-A46F-434F-BC7E-634B5F7F2FE5}"/>
              </a:ext>
            </a:extLst>
          </p:cNvPr>
          <p:cNvSpPr>
            <a:spLocks noGrp="1"/>
          </p:cNvSpPr>
          <p:nvPr>
            <p:ph sz="quarter" idx="1"/>
          </p:nvPr>
        </p:nvSpPr>
        <p:spPr>
          <a:xfrm>
            <a:off x="457200" y="1600200"/>
            <a:ext cx="8001000" cy="4873625"/>
          </a:xfrm>
        </p:spPr>
        <p:txBody>
          <a:bodyPr>
            <a:normAutofit fontScale="92500" lnSpcReduction="10000"/>
          </a:bodyPr>
          <a:lstStyle/>
          <a:p>
            <a:pPr marL="274320" indent="-274320" eaLnBrk="1" fontAlgn="auto" hangingPunct="1">
              <a:spcAft>
                <a:spcPts val="0"/>
              </a:spcAft>
              <a:buFont typeface="Wingdings"/>
              <a:buChar char=""/>
              <a:defRPr/>
            </a:pPr>
            <a:r>
              <a:rPr lang="en-GB" b="1" u="sng" dirty="0">
                <a:solidFill>
                  <a:srgbClr val="FF0000"/>
                </a:solidFill>
              </a:rPr>
              <a:t>Can a person who has merely agreed to buy the goods rely on the doctrine of estoppel?</a:t>
            </a:r>
          </a:p>
          <a:p>
            <a:pPr marL="274320" indent="-274320" eaLnBrk="1" fontAlgn="auto" hangingPunct="1">
              <a:spcAft>
                <a:spcPts val="0"/>
              </a:spcAft>
              <a:buFont typeface="Wingdings" panose="05000000000000000000" pitchFamily="2" charset="2"/>
              <a:buNone/>
              <a:defRPr/>
            </a:pPr>
            <a:endParaRPr lang="en-GB" dirty="0"/>
          </a:p>
          <a:p>
            <a:pPr marL="640080" lvl="1" indent="-274320" eaLnBrk="1" fontAlgn="auto" hangingPunct="1">
              <a:spcAft>
                <a:spcPts val="0"/>
              </a:spcAft>
              <a:buFont typeface="Wingdings 2"/>
              <a:buChar char=""/>
              <a:defRPr/>
            </a:pPr>
            <a:r>
              <a:rPr lang="en-GB" b="1" u="sng" dirty="0">
                <a:solidFill>
                  <a:srgbClr val="0070C0"/>
                </a:solidFill>
              </a:rPr>
              <a:t>S. 21(1) -  conduct </a:t>
            </a:r>
            <a:r>
              <a:rPr lang="en-GB" u="sng" dirty="0"/>
              <a:t>– no clarity as to when the owner by his conduct is precluded from the denying the S’s authority to sell.</a:t>
            </a:r>
          </a:p>
          <a:p>
            <a:pPr marL="640080" lvl="1" indent="-274320" eaLnBrk="1" fontAlgn="auto" hangingPunct="1">
              <a:spcAft>
                <a:spcPts val="0"/>
              </a:spcAft>
              <a:buFont typeface="Wingdings 2" panose="05020102010507070707" pitchFamily="18" charset="2"/>
              <a:buNone/>
              <a:defRPr/>
            </a:pPr>
            <a:endParaRPr lang="en-GB" dirty="0"/>
          </a:p>
          <a:p>
            <a:pPr marL="640080" lvl="1" indent="-274320" eaLnBrk="1" fontAlgn="auto" hangingPunct="1">
              <a:spcAft>
                <a:spcPts val="0"/>
              </a:spcAft>
              <a:buFont typeface="Wingdings 2"/>
              <a:buChar char=""/>
              <a:defRPr/>
            </a:pPr>
            <a:r>
              <a:rPr lang="en-GB" u="sng" dirty="0"/>
              <a:t>Two cases:</a:t>
            </a:r>
          </a:p>
          <a:p>
            <a:pPr lvl="2" indent="-182880" eaLnBrk="1" fontAlgn="auto" hangingPunct="1">
              <a:spcAft>
                <a:spcPts val="0"/>
              </a:spcAft>
              <a:buClr>
                <a:schemeClr val="accent1">
                  <a:shade val="75000"/>
                </a:schemeClr>
              </a:buClr>
              <a:buFont typeface="Wingdings"/>
              <a:buChar char=""/>
              <a:defRPr/>
            </a:pPr>
            <a:r>
              <a:rPr lang="en-GB" dirty="0"/>
              <a:t>Where the owner by his words or conduct represents to B that S is the true owner – </a:t>
            </a:r>
            <a:r>
              <a:rPr lang="en-GB" i="1" dirty="0">
                <a:solidFill>
                  <a:srgbClr val="FF0000"/>
                </a:solidFill>
                <a:highlight>
                  <a:srgbClr val="FFFF00"/>
                </a:highlight>
              </a:rPr>
              <a:t>estoppel by representation</a:t>
            </a:r>
          </a:p>
          <a:p>
            <a:pPr lvl="2" indent="-182880" eaLnBrk="1" fontAlgn="auto" hangingPunct="1">
              <a:spcAft>
                <a:spcPts val="0"/>
              </a:spcAft>
              <a:buClr>
                <a:schemeClr val="accent1">
                  <a:shade val="75000"/>
                </a:schemeClr>
              </a:buClr>
              <a:buFont typeface="Wingdings" panose="05000000000000000000" pitchFamily="2" charset="2"/>
              <a:buNone/>
              <a:defRPr/>
            </a:pPr>
            <a:endParaRPr lang="en-GB" i="1" dirty="0"/>
          </a:p>
          <a:p>
            <a:pPr lvl="2" indent="-182880" eaLnBrk="1" fontAlgn="auto" hangingPunct="1">
              <a:spcAft>
                <a:spcPts val="0"/>
              </a:spcAft>
              <a:buClr>
                <a:schemeClr val="accent1">
                  <a:shade val="75000"/>
                </a:schemeClr>
              </a:buClr>
              <a:buFont typeface="Wingdings"/>
              <a:buChar char=""/>
              <a:defRPr/>
            </a:pPr>
            <a:r>
              <a:rPr lang="en-GB" dirty="0"/>
              <a:t>Where the owner by negligent failure to act allows the S to appear as the owner or have the owner’s authority to sell – </a:t>
            </a:r>
            <a:r>
              <a:rPr lang="en-GB" i="1" dirty="0">
                <a:solidFill>
                  <a:srgbClr val="FF0000"/>
                </a:solidFill>
                <a:highlight>
                  <a:srgbClr val="FFFF00"/>
                </a:highlight>
              </a:rPr>
              <a:t>estoppel by negligence</a:t>
            </a:r>
          </a:p>
          <a:p>
            <a:pPr marL="1188720" lvl="3" indent="-182880" eaLnBrk="1" fontAlgn="auto" hangingPunct="1">
              <a:spcAft>
                <a:spcPts val="0"/>
              </a:spcAft>
              <a:buClr>
                <a:schemeClr val="accent1">
                  <a:tint val="60000"/>
                </a:schemeClr>
              </a:buClr>
              <a:buFont typeface="Wingdings"/>
              <a:buChar char=""/>
              <a:defRPr/>
            </a:pPr>
            <a:r>
              <a:rPr lang="en-GB" dirty="0"/>
              <a:t>How can there be a representation by negligence? Representation through omission. One party omits to inform the other of certain facts or omission to correct a misrepresentation made by a 3</a:t>
            </a:r>
            <a:r>
              <a:rPr lang="en-GB" baseline="30000" dirty="0"/>
              <a:t>rd</a:t>
            </a:r>
            <a:r>
              <a:rPr lang="en-GB" dirty="0"/>
              <a:t> party.</a:t>
            </a:r>
          </a:p>
          <a:p>
            <a:pPr marL="274320" indent="-274320" eaLnBrk="1" fontAlgn="auto" hangingPunct="1">
              <a:spcAft>
                <a:spcPts val="0"/>
              </a:spcAft>
              <a:buFont typeface="Wingdings"/>
              <a:buChar char=""/>
              <a:defRPr/>
            </a:pPr>
            <a:endParaRPr lang="en-GB" dirty="0"/>
          </a:p>
        </p:txBody>
      </p:sp>
      <p:sp>
        <p:nvSpPr>
          <p:cNvPr id="18436" name="Slide Number Placeholder 2">
            <a:extLst>
              <a:ext uri="{FF2B5EF4-FFF2-40B4-BE49-F238E27FC236}">
                <a16:creationId xmlns:a16="http://schemas.microsoft.com/office/drawing/2014/main" id="{B292CE83-5436-40CB-8A94-60DD5980ED4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3C3A64E8-F6DC-4031-B48E-776C2BF8A505}" type="slidenum">
              <a:rPr lang="en-US" altLang="en-US">
                <a:solidFill>
                  <a:srgbClr val="FFFFFF"/>
                </a:solidFill>
              </a:rPr>
              <a:pPr eaLnBrk="1" hangingPunct="1"/>
              <a:t>10</a:t>
            </a:fld>
            <a:endParaRPr lang="en-US" altLang="en-US">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9048B-0B25-4389-A9CE-7F885DE1A3A8}"/>
              </a:ext>
            </a:extLst>
          </p:cNvPr>
          <p:cNvSpPr>
            <a:spLocks noGrp="1"/>
          </p:cNvSpPr>
          <p:nvPr>
            <p:ph type="title"/>
          </p:nvPr>
        </p:nvSpPr>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D9592989-CEFB-4FB0-9BD1-677BCAB1EF50}"/>
              </a:ext>
            </a:extLst>
          </p:cNvPr>
          <p:cNvSpPr>
            <a:spLocks noGrp="1"/>
          </p:cNvSpPr>
          <p:nvPr>
            <p:ph sz="quarter" idx="1"/>
          </p:nvPr>
        </p:nvSpPr>
        <p:spPr>
          <a:xfrm>
            <a:off x="457200" y="1371600"/>
            <a:ext cx="8077200" cy="5102225"/>
          </a:xfrm>
        </p:spPr>
        <p:txBody>
          <a:bodyPr>
            <a:normAutofit/>
          </a:bodyPr>
          <a:lstStyle/>
          <a:p>
            <a:pPr marL="274320" indent="-274320" eaLnBrk="1" fontAlgn="auto" hangingPunct="1">
              <a:spcAft>
                <a:spcPts val="0"/>
              </a:spcAft>
              <a:buFont typeface="Wingdings"/>
              <a:buChar char=""/>
              <a:defRPr/>
            </a:pPr>
            <a:endParaRPr lang="en-GB" dirty="0"/>
          </a:p>
          <a:p>
            <a:pPr marL="274320" indent="-274320" eaLnBrk="1" fontAlgn="auto" hangingPunct="1">
              <a:spcAft>
                <a:spcPts val="0"/>
              </a:spcAft>
              <a:buFont typeface="Wingdings"/>
              <a:buChar char=""/>
              <a:defRPr/>
            </a:pPr>
            <a:r>
              <a:rPr lang="en-GB" b="1" u="sng" dirty="0" err="1">
                <a:solidFill>
                  <a:srgbClr val="FF0000"/>
                </a:solidFill>
              </a:rPr>
              <a:t>Estoppel</a:t>
            </a:r>
            <a:r>
              <a:rPr lang="en-GB" b="1" u="sng" dirty="0">
                <a:solidFill>
                  <a:srgbClr val="FF0000"/>
                </a:solidFill>
              </a:rPr>
              <a:t> by Representation</a:t>
            </a:r>
          </a:p>
          <a:p>
            <a:pPr marL="274320" indent="-274320" eaLnBrk="1" fontAlgn="auto" hangingPunct="1">
              <a:spcAft>
                <a:spcPts val="0"/>
              </a:spcAft>
              <a:buFont typeface="Wingdings" panose="05000000000000000000" pitchFamily="2" charset="2"/>
              <a:buNone/>
              <a:defRPr/>
            </a:pPr>
            <a:endParaRPr lang="en-GB" dirty="0"/>
          </a:p>
          <a:p>
            <a:pPr marL="640080" lvl="1" indent="-274320" eaLnBrk="1" fontAlgn="auto" hangingPunct="1">
              <a:spcAft>
                <a:spcPts val="0"/>
              </a:spcAft>
              <a:buFont typeface="Wingdings 2"/>
              <a:buChar char=""/>
              <a:defRPr/>
            </a:pPr>
            <a:r>
              <a:rPr lang="en-GB" u="sng" dirty="0"/>
              <a:t>Words or Conduct </a:t>
            </a:r>
            <a:r>
              <a:rPr lang="en-GB" dirty="0"/>
              <a:t>– no need to show fraud or an intent to deceive.</a:t>
            </a:r>
          </a:p>
          <a:p>
            <a:pPr marL="640080" lvl="1" indent="-274320" eaLnBrk="1" fontAlgn="auto" hangingPunct="1">
              <a:spcAft>
                <a:spcPts val="0"/>
              </a:spcAft>
              <a:buFont typeface="Wingdings 2" panose="05020102010507070707" pitchFamily="18" charset="2"/>
              <a:buNone/>
              <a:defRPr/>
            </a:pPr>
            <a:endParaRPr lang="en-GB" dirty="0"/>
          </a:p>
          <a:p>
            <a:pPr marL="640080" lvl="1" indent="-274320" eaLnBrk="1" fontAlgn="auto" hangingPunct="1">
              <a:spcAft>
                <a:spcPts val="0"/>
              </a:spcAft>
              <a:buFont typeface="Wingdings 2"/>
              <a:buChar char=""/>
              <a:defRPr/>
            </a:pPr>
            <a:r>
              <a:rPr lang="en-GB" u="sng" dirty="0"/>
              <a:t>Negligent omission </a:t>
            </a:r>
            <a:r>
              <a:rPr lang="en-GB" dirty="0"/>
              <a:t>– breach of care of duty must be proved.</a:t>
            </a:r>
          </a:p>
          <a:p>
            <a:pPr lvl="2" indent="-182880" eaLnBrk="1" fontAlgn="auto" hangingPunct="1">
              <a:spcAft>
                <a:spcPts val="0"/>
              </a:spcAft>
              <a:buClr>
                <a:schemeClr val="accent1">
                  <a:shade val="75000"/>
                </a:schemeClr>
              </a:buClr>
              <a:buFont typeface="Wingdings"/>
              <a:buChar char=""/>
              <a:defRPr/>
            </a:pPr>
            <a:r>
              <a:rPr lang="en-GB" dirty="0"/>
              <a:t>A does not correct a misleading statement by a 3</a:t>
            </a:r>
            <a:r>
              <a:rPr lang="en-GB" baseline="30000" dirty="0"/>
              <a:t>rd</a:t>
            </a:r>
            <a:r>
              <a:rPr lang="en-GB" dirty="0"/>
              <a:t> party which is the basis of the estoppel.  It must be proved that A has a duty to correct the misstatement.</a:t>
            </a:r>
          </a:p>
        </p:txBody>
      </p:sp>
      <p:sp>
        <p:nvSpPr>
          <p:cNvPr id="19460" name="Slide Number Placeholder 3">
            <a:extLst>
              <a:ext uri="{FF2B5EF4-FFF2-40B4-BE49-F238E27FC236}">
                <a16:creationId xmlns:a16="http://schemas.microsoft.com/office/drawing/2014/main" id="{4D8B059E-B057-4C02-9CF7-A8AB3823300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9FAAFC5F-B37A-46D9-9C5C-B31BA65E0D60}" type="slidenum">
              <a:rPr lang="en-US" altLang="en-US">
                <a:solidFill>
                  <a:srgbClr val="FFFFFF"/>
                </a:solidFill>
              </a:rPr>
              <a:pPr eaLnBrk="1" hangingPunct="1"/>
              <a:t>11</a:t>
            </a:fld>
            <a:endParaRPr lang="en-US" altLang="en-US">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12094-DD4A-4126-978C-81C36A2C6B65}"/>
              </a:ext>
            </a:extLst>
          </p:cNvPr>
          <p:cNvSpPr>
            <a:spLocks noGrp="1"/>
          </p:cNvSpPr>
          <p:nvPr>
            <p:ph type="title"/>
          </p:nvPr>
        </p:nvSpPr>
        <p:spPr/>
        <p:txBody>
          <a:bodyPr/>
          <a:lstStyle/>
          <a:p>
            <a:pPr>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B37305B2-9226-4300-B8D8-77374C198860}"/>
              </a:ext>
            </a:extLst>
          </p:cNvPr>
          <p:cNvSpPr>
            <a:spLocks noGrp="1"/>
          </p:cNvSpPr>
          <p:nvPr>
            <p:ph sz="quarter" idx="1"/>
          </p:nvPr>
        </p:nvSpPr>
        <p:spPr>
          <a:xfrm>
            <a:off x="457200" y="1600200"/>
            <a:ext cx="7467600" cy="4873625"/>
          </a:xfrm>
        </p:spPr>
        <p:txBody>
          <a:bodyPr/>
          <a:lstStyle/>
          <a:p>
            <a:pPr marL="271463" lvl="2" indent="0" eaLnBrk="1" fontAlgn="auto" hangingPunct="1">
              <a:spcAft>
                <a:spcPts val="0"/>
              </a:spcAft>
              <a:buClr>
                <a:schemeClr val="accent1">
                  <a:shade val="75000"/>
                </a:schemeClr>
              </a:buClr>
              <a:buNone/>
              <a:defRPr/>
            </a:pPr>
            <a:r>
              <a:rPr lang="en-GB" sz="2400" b="1" u="sng" dirty="0">
                <a:highlight>
                  <a:srgbClr val="FFFF00"/>
                </a:highlight>
              </a:rPr>
              <a:t>Requirements common to all estoppels</a:t>
            </a:r>
            <a:r>
              <a:rPr lang="en-GB" sz="2400" b="1" dirty="0">
                <a:highlight>
                  <a:srgbClr val="FFFF00"/>
                </a:highlight>
              </a:rPr>
              <a:t>  </a:t>
            </a:r>
          </a:p>
          <a:p>
            <a:pPr marL="271463" lvl="2" indent="0" eaLnBrk="1" fontAlgn="auto" hangingPunct="1">
              <a:spcAft>
                <a:spcPts val="0"/>
              </a:spcAft>
              <a:buClr>
                <a:schemeClr val="accent1">
                  <a:shade val="75000"/>
                </a:schemeClr>
              </a:buClr>
              <a:buNone/>
              <a:defRPr/>
            </a:pPr>
            <a:endParaRPr lang="en-GB" sz="2400" dirty="0">
              <a:highlight>
                <a:srgbClr val="FFFF00"/>
              </a:highlight>
            </a:endParaRPr>
          </a:p>
          <a:p>
            <a:pPr marL="0" indent="0" eaLnBrk="1" fontAlgn="auto" hangingPunct="1">
              <a:spcAft>
                <a:spcPts val="0"/>
              </a:spcAft>
              <a:buNone/>
              <a:defRPr/>
            </a:pPr>
            <a:r>
              <a:rPr lang="en-GB" dirty="0"/>
              <a:t>    </a:t>
            </a:r>
            <a:r>
              <a:rPr lang="en-GB" u="sng" dirty="0"/>
              <a:t>The representation</a:t>
            </a:r>
            <a:r>
              <a:rPr lang="en-GB" dirty="0"/>
              <a:t>:</a:t>
            </a:r>
          </a:p>
          <a:p>
            <a:pPr marL="640080" lvl="1" indent="-274320" eaLnBrk="1" fontAlgn="auto" hangingPunct="1">
              <a:spcAft>
                <a:spcPts val="0"/>
              </a:spcAft>
              <a:buFont typeface="Wingdings 2"/>
              <a:buChar char=""/>
              <a:defRPr/>
            </a:pPr>
            <a:r>
              <a:rPr lang="en-GB" sz="2400" dirty="0"/>
              <a:t>Must be one of fact</a:t>
            </a:r>
          </a:p>
          <a:p>
            <a:pPr marL="640080" lvl="1" indent="-274320" eaLnBrk="1" fontAlgn="auto" hangingPunct="1">
              <a:spcAft>
                <a:spcPts val="0"/>
              </a:spcAft>
              <a:buFont typeface="Wingdings 2"/>
              <a:buChar char=""/>
              <a:defRPr/>
            </a:pPr>
            <a:r>
              <a:rPr lang="en-GB" sz="2400" dirty="0"/>
              <a:t>Unambiguous</a:t>
            </a:r>
          </a:p>
          <a:p>
            <a:pPr marL="640080" lvl="1" indent="-274320" eaLnBrk="1" fontAlgn="auto" hangingPunct="1">
              <a:spcAft>
                <a:spcPts val="0"/>
              </a:spcAft>
              <a:buFont typeface="Wingdings 2"/>
              <a:buChar char=""/>
              <a:defRPr/>
            </a:pPr>
            <a:r>
              <a:rPr lang="en-GB" sz="2400" dirty="0"/>
              <a:t>Acted upon</a:t>
            </a:r>
          </a:p>
          <a:p>
            <a:pPr marL="640080" lvl="1" indent="-274320" eaLnBrk="1" fontAlgn="auto" hangingPunct="1">
              <a:spcAft>
                <a:spcPts val="0"/>
              </a:spcAft>
              <a:buFont typeface="Wingdings 2"/>
              <a:buChar char=""/>
              <a:defRPr/>
            </a:pPr>
            <a:r>
              <a:rPr lang="en-GB" sz="2400" dirty="0"/>
              <a:t>Voluntary</a:t>
            </a:r>
          </a:p>
          <a:p>
            <a:pPr lvl="2" indent="-182880" eaLnBrk="1" fontAlgn="auto" hangingPunct="1">
              <a:spcAft>
                <a:spcPts val="0"/>
              </a:spcAft>
              <a:buClr>
                <a:schemeClr val="accent1">
                  <a:shade val="75000"/>
                </a:schemeClr>
              </a:buClr>
              <a:buFont typeface="Wingdings"/>
              <a:buChar char=""/>
              <a:defRPr/>
            </a:pPr>
            <a:r>
              <a:rPr lang="en-GB" sz="2400" dirty="0"/>
              <a:t>Representation under duress does not count even though a third party relied on it</a:t>
            </a:r>
          </a:p>
          <a:p>
            <a:pPr marL="1188720" lvl="3" indent="-182880" eaLnBrk="1" fontAlgn="auto" hangingPunct="1">
              <a:spcAft>
                <a:spcPts val="0"/>
              </a:spcAft>
              <a:buClr>
                <a:schemeClr val="accent1">
                  <a:tint val="60000"/>
                </a:schemeClr>
              </a:buClr>
              <a:buFont typeface="Wingdings"/>
              <a:buChar char=""/>
              <a:defRPr/>
            </a:pPr>
            <a:r>
              <a:rPr lang="en-GB" sz="2400" b="1" i="1" dirty="0">
                <a:solidFill>
                  <a:srgbClr val="0070C0"/>
                </a:solidFill>
              </a:rPr>
              <a:t>Debs </a:t>
            </a:r>
            <a:r>
              <a:rPr lang="en-GB" sz="2400" b="1" dirty="0">
                <a:solidFill>
                  <a:srgbClr val="0070C0"/>
                </a:solidFill>
              </a:rPr>
              <a:t>v </a:t>
            </a:r>
            <a:r>
              <a:rPr lang="en-GB" sz="2400" b="1" i="1" dirty="0" err="1">
                <a:solidFill>
                  <a:srgbClr val="0070C0"/>
                </a:solidFill>
              </a:rPr>
              <a:t>Sibec</a:t>
            </a:r>
            <a:r>
              <a:rPr lang="en-GB" sz="2400" b="1" i="1" dirty="0">
                <a:solidFill>
                  <a:srgbClr val="0070C0"/>
                </a:solidFill>
              </a:rPr>
              <a:t> Developments</a:t>
            </a:r>
            <a:endParaRPr lang="en-GB" sz="2400" b="1" dirty="0">
              <a:solidFill>
                <a:srgbClr val="0070C0"/>
              </a:solidFill>
            </a:endParaRPr>
          </a:p>
          <a:p>
            <a:pPr>
              <a:defRPr/>
            </a:pPr>
            <a:endParaRPr lang="en-GB" dirty="0"/>
          </a:p>
        </p:txBody>
      </p:sp>
      <p:sp>
        <p:nvSpPr>
          <p:cNvPr id="20484" name="Slide Number Placeholder 3">
            <a:extLst>
              <a:ext uri="{FF2B5EF4-FFF2-40B4-BE49-F238E27FC236}">
                <a16:creationId xmlns:a16="http://schemas.microsoft.com/office/drawing/2014/main" id="{ED7B18E0-3D19-4A59-B367-D7E2DF706677}"/>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4D986B27-2EB6-4387-B21E-6CE606D70666}" type="slidenum">
              <a:rPr lang="en-US" altLang="en-US">
                <a:solidFill>
                  <a:srgbClr val="FFFFFF"/>
                </a:solidFill>
              </a:rPr>
              <a:pPr eaLnBrk="1" hangingPunct="1"/>
              <a:t>12</a:t>
            </a:fld>
            <a:endParaRPr lang="en-US" altLang="en-US">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1755E-2011-43BB-B836-D22140C183B9}"/>
              </a:ext>
            </a:extLst>
          </p:cNvPr>
          <p:cNvSpPr>
            <a:spLocks noGrp="1"/>
          </p:cNvSpPr>
          <p:nvPr>
            <p:ph type="title"/>
          </p:nvPr>
        </p:nvSpPr>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1CDEBCD4-9857-4621-B968-93DDD7E9E10B}"/>
              </a:ext>
            </a:extLst>
          </p:cNvPr>
          <p:cNvSpPr>
            <a:spLocks noGrp="1"/>
          </p:cNvSpPr>
          <p:nvPr>
            <p:ph sz="quarter" idx="1"/>
          </p:nvPr>
        </p:nvSpPr>
        <p:spPr>
          <a:xfrm>
            <a:off x="457200" y="1600200"/>
            <a:ext cx="7467600" cy="4873625"/>
          </a:xfrm>
        </p:spPr>
        <p:txBody>
          <a:bodyPr>
            <a:normAutofit/>
          </a:bodyPr>
          <a:lstStyle/>
          <a:p>
            <a:pPr marL="274320" indent="-274320" eaLnBrk="1" fontAlgn="auto" hangingPunct="1">
              <a:spcAft>
                <a:spcPts val="0"/>
              </a:spcAft>
              <a:buFont typeface="Wingdings"/>
              <a:buChar char=""/>
              <a:defRPr/>
            </a:pPr>
            <a:r>
              <a:rPr lang="en-GB" b="1" u="sng" dirty="0"/>
              <a:t>By words</a:t>
            </a:r>
          </a:p>
          <a:p>
            <a:pPr marL="640080" lvl="1" indent="-274320" eaLnBrk="1" fontAlgn="auto" hangingPunct="1">
              <a:spcAft>
                <a:spcPts val="0"/>
              </a:spcAft>
              <a:buFont typeface="Wingdings 2"/>
              <a:buChar char=""/>
              <a:defRPr/>
            </a:pPr>
            <a:r>
              <a:rPr lang="en-GB" b="1" dirty="0">
                <a:solidFill>
                  <a:srgbClr val="0070C0"/>
                </a:solidFill>
              </a:rPr>
              <a:t>Henderson &amp; Co v Williams</a:t>
            </a:r>
          </a:p>
          <a:p>
            <a:pPr lvl="2" indent="-182880" eaLnBrk="1" fontAlgn="auto" hangingPunct="1">
              <a:spcAft>
                <a:spcPts val="0"/>
              </a:spcAft>
              <a:buClr>
                <a:schemeClr val="accent1">
                  <a:shade val="75000"/>
                </a:schemeClr>
              </a:buClr>
              <a:buFont typeface="Wingdings"/>
              <a:buChar char=""/>
              <a:defRPr/>
            </a:pPr>
            <a:r>
              <a:rPr lang="en-GB" b="1" i="1" dirty="0"/>
              <a:t>Held: </a:t>
            </a:r>
            <a:r>
              <a:rPr lang="en-GB" i="1" dirty="0"/>
              <a:t>G &amp; Co were estopped from denying the Plaintiff’s right to the goods. </a:t>
            </a:r>
          </a:p>
          <a:p>
            <a:pPr lvl="2" indent="-182880" eaLnBrk="1" fontAlgn="auto" hangingPunct="1">
              <a:spcAft>
                <a:spcPts val="0"/>
              </a:spcAft>
              <a:buClr>
                <a:schemeClr val="accent1">
                  <a:shade val="75000"/>
                </a:schemeClr>
              </a:buClr>
              <a:buFont typeface="Wingdings" panose="05000000000000000000" pitchFamily="2" charset="2"/>
              <a:buNone/>
              <a:defRPr/>
            </a:pPr>
            <a:endParaRPr lang="en-GB" dirty="0"/>
          </a:p>
          <a:p>
            <a:pPr marL="640080" lvl="1" indent="-274320" eaLnBrk="1" fontAlgn="auto" hangingPunct="1">
              <a:spcAft>
                <a:spcPts val="0"/>
              </a:spcAft>
              <a:buFont typeface="Wingdings 2"/>
              <a:buChar char=""/>
              <a:defRPr/>
            </a:pPr>
            <a:r>
              <a:rPr lang="en-GB" b="1" dirty="0">
                <a:solidFill>
                  <a:srgbClr val="0070C0"/>
                </a:solidFill>
              </a:rPr>
              <a:t>Shaw v Commissioner of Met. Police </a:t>
            </a:r>
          </a:p>
          <a:p>
            <a:pPr marL="731520" lvl="2" indent="0" eaLnBrk="1" fontAlgn="auto" hangingPunct="1">
              <a:spcAft>
                <a:spcPts val="0"/>
              </a:spcAft>
              <a:buClr>
                <a:schemeClr val="accent1">
                  <a:shade val="75000"/>
                </a:schemeClr>
              </a:buClr>
              <a:buFont typeface="Wingdings"/>
              <a:buNone/>
              <a:defRPr/>
            </a:pPr>
            <a:r>
              <a:rPr lang="en-GB" i="1" dirty="0"/>
              <a:t>True owner	L	Shaw</a:t>
            </a:r>
          </a:p>
          <a:p>
            <a:pPr lvl="2" indent="-182880" eaLnBrk="1" fontAlgn="auto" hangingPunct="1">
              <a:spcAft>
                <a:spcPts val="0"/>
              </a:spcAft>
              <a:buClr>
                <a:schemeClr val="accent1">
                  <a:shade val="75000"/>
                </a:schemeClr>
              </a:buClr>
              <a:buFont typeface="Wingdings"/>
              <a:buChar char=""/>
              <a:defRPr/>
            </a:pPr>
            <a:r>
              <a:rPr lang="en-GB" b="1" i="1" dirty="0"/>
              <a:t>Held (CA): </a:t>
            </a:r>
            <a:r>
              <a:rPr lang="en-GB" dirty="0"/>
              <a:t>The CA rejected C’s claim that s. 21 did not apply where the B had merely agreed to buy the goods but only applied where he had bought them. </a:t>
            </a:r>
          </a:p>
          <a:p>
            <a:pPr lvl="2" indent="-182880" eaLnBrk="1" fontAlgn="auto" hangingPunct="1">
              <a:spcAft>
                <a:spcPts val="0"/>
              </a:spcAft>
              <a:buClr>
                <a:schemeClr val="accent1">
                  <a:shade val="75000"/>
                </a:schemeClr>
              </a:buClr>
              <a:buFont typeface="Wingdings"/>
              <a:buChar char=""/>
              <a:defRPr/>
            </a:pPr>
            <a:r>
              <a:rPr lang="en-GB" dirty="0"/>
              <a:t>Not a convincing argument: s. 21 is a mirror of common law estoppel and should protect anyone who has acted to his detriment on the representation. </a:t>
            </a:r>
          </a:p>
          <a:p>
            <a:pPr lvl="2" indent="-182880" eaLnBrk="1" fontAlgn="auto" hangingPunct="1">
              <a:spcAft>
                <a:spcPts val="0"/>
              </a:spcAft>
              <a:buClr>
                <a:schemeClr val="accent1">
                  <a:shade val="75000"/>
                </a:schemeClr>
              </a:buClr>
              <a:buFont typeface="Wingdings"/>
              <a:buChar char=""/>
              <a:defRPr/>
            </a:pPr>
            <a:r>
              <a:rPr lang="en-GB" dirty="0"/>
              <a:t>C’s claim should instead have failed because they had not paid the price and thus not acted to their detriment.</a:t>
            </a:r>
          </a:p>
        </p:txBody>
      </p:sp>
      <p:sp>
        <p:nvSpPr>
          <p:cNvPr id="21508" name="Slide Number Placeholder 3">
            <a:extLst>
              <a:ext uri="{FF2B5EF4-FFF2-40B4-BE49-F238E27FC236}">
                <a16:creationId xmlns:a16="http://schemas.microsoft.com/office/drawing/2014/main" id="{4131F841-3348-421D-8954-B72E2E22EB4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3456C2A5-462D-4CD3-AC07-1A2761D876A4}" type="slidenum">
              <a:rPr lang="en-US" altLang="en-US">
                <a:solidFill>
                  <a:srgbClr val="FFFFFF"/>
                </a:solidFill>
              </a:rPr>
              <a:pPr eaLnBrk="1" hangingPunct="1"/>
              <a:t>13</a:t>
            </a:fld>
            <a:endParaRPr lang="en-US" altLang="en-US">
              <a:solidFill>
                <a:srgbClr val="FFFFFF"/>
              </a:solidFill>
            </a:endParaRPr>
          </a:p>
        </p:txBody>
      </p:sp>
      <p:cxnSp>
        <p:nvCxnSpPr>
          <p:cNvPr id="8" name="Straight Arrow Connector 7">
            <a:extLst>
              <a:ext uri="{FF2B5EF4-FFF2-40B4-BE49-F238E27FC236}">
                <a16:creationId xmlns:a16="http://schemas.microsoft.com/office/drawing/2014/main" id="{CBC83FD8-61FB-4AA3-9DD4-EE16E950BAC6}"/>
              </a:ext>
            </a:extLst>
          </p:cNvPr>
          <p:cNvCxnSpPr/>
          <p:nvPr/>
        </p:nvCxnSpPr>
        <p:spPr>
          <a:xfrm>
            <a:off x="2590800" y="3886200"/>
            <a:ext cx="533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0F8090F-5B42-48BD-AC57-4B01356439C9}"/>
              </a:ext>
            </a:extLst>
          </p:cNvPr>
          <p:cNvCxnSpPr/>
          <p:nvPr/>
        </p:nvCxnSpPr>
        <p:spPr>
          <a:xfrm>
            <a:off x="3657600" y="3886200"/>
            <a:ext cx="457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4796-768A-430E-8BA5-779407DEE78F}"/>
              </a:ext>
            </a:extLst>
          </p:cNvPr>
          <p:cNvSpPr>
            <a:spLocks noGrp="1"/>
          </p:cNvSpPr>
          <p:nvPr>
            <p:ph type="title"/>
          </p:nvPr>
        </p:nvSpPr>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86486309-239D-4EA6-94B1-32432A19E11D}"/>
              </a:ext>
            </a:extLst>
          </p:cNvPr>
          <p:cNvSpPr>
            <a:spLocks noGrp="1"/>
          </p:cNvSpPr>
          <p:nvPr>
            <p:ph sz="quarter" idx="1"/>
          </p:nvPr>
        </p:nvSpPr>
        <p:spPr>
          <a:xfrm>
            <a:off x="457200" y="1417638"/>
            <a:ext cx="7467600" cy="5440362"/>
          </a:xfrm>
        </p:spPr>
        <p:txBody>
          <a:bodyPr>
            <a:normAutofit fontScale="92500" lnSpcReduction="10000"/>
          </a:bodyPr>
          <a:lstStyle/>
          <a:p>
            <a:pPr marL="274320" indent="-274320" eaLnBrk="1" fontAlgn="auto" hangingPunct="1">
              <a:spcAft>
                <a:spcPts val="0"/>
              </a:spcAft>
              <a:buFont typeface="Wingdings"/>
              <a:buChar char=""/>
              <a:defRPr/>
            </a:pPr>
            <a:r>
              <a:rPr lang="en-GB" b="1" u="sng" dirty="0"/>
              <a:t>By conduct</a:t>
            </a:r>
          </a:p>
          <a:p>
            <a:pPr marL="640080" lvl="1" indent="-274320" eaLnBrk="1" fontAlgn="auto" hangingPunct="1">
              <a:spcAft>
                <a:spcPts val="0"/>
              </a:spcAft>
              <a:buFont typeface="Wingdings 2"/>
              <a:buChar char=""/>
              <a:defRPr/>
            </a:pPr>
            <a:r>
              <a:rPr lang="en-GB" b="1" dirty="0">
                <a:solidFill>
                  <a:srgbClr val="0070C0"/>
                </a:solidFill>
              </a:rPr>
              <a:t>Farquharson Bros v King </a:t>
            </a:r>
          </a:p>
          <a:p>
            <a:pPr marL="365760" lvl="1" indent="0" algn="ctr" eaLnBrk="1" fontAlgn="auto" hangingPunct="1">
              <a:spcAft>
                <a:spcPts val="0"/>
              </a:spcAft>
              <a:buFont typeface="Wingdings 2"/>
              <a:buNone/>
              <a:defRPr/>
            </a:pPr>
            <a:r>
              <a:rPr lang="en-GB" dirty="0"/>
              <a:t>P(F)		  A		3</a:t>
            </a:r>
            <a:r>
              <a:rPr lang="en-GB" baseline="30000" dirty="0"/>
              <a:t>rd</a:t>
            </a:r>
            <a:r>
              <a:rPr lang="en-GB" dirty="0"/>
              <a:t> party(K)</a:t>
            </a:r>
          </a:p>
          <a:p>
            <a:pPr lvl="2" indent="-182880" eaLnBrk="1" fontAlgn="auto" hangingPunct="1">
              <a:spcAft>
                <a:spcPts val="0"/>
              </a:spcAft>
              <a:buClr>
                <a:schemeClr val="accent1">
                  <a:shade val="75000"/>
                </a:schemeClr>
              </a:buClr>
              <a:buFont typeface="Wingdings"/>
              <a:buChar char=""/>
              <a:defRPr/>
            </a:pPr>
            <a:r>
              <a:rPr lang="en-GB" b="1" dirty="0"/>
              <a:t>Held: </a:t>
            </a:r>
            <a:r>
              <a:rPr lang="en-GB" dirty="0"/>
              <a:t>defence of estoppel failed because K had not acted on any representation made by F concerning the authority of A.</a:t>
            </a:r>
          </a:p>
          <a:p>
            <a:pPr lvl="2" indent="-182880" eaLnBrk="1" fontAlgn="auto" hangingPunct="1">
              <a:spcAft>
                <a:spcPts val="0"/>
              </a:spcAft>
              <a:buClr>
                <a:schemeClr val="accent1">
                  <a:shade val="75000"/>
                </a:schemeClr>
              </a:buClr>
              <a:buFont typeface="Wingdings"/>
              <a:buChar char=""/>
              <a:defRPr/>
            </a:pPr>
            <a:endParaRPr lang="en-GB" dirty="0"/>
          </a:p>
          <a:p>
            <a:pPr marL="274320" indent="-274320" eaLnBrk="1" fontAlgn="auto" hangingPunct="1">
              <a:spcAft>
                <a:spcPts val="0"/>
              </a:spcAft>
              <a:buFont typeface="Wingdings"/>
              <a:buChar char=""/>
              <a:defRPr/>
            </a:pPr>
            <a:r>
              <a:rPr lang="en-GB" b="1" dirty="0">
                <a:solidFill>
                  <a:srgbClr val="FF0000"/>
                </a:solidFill>
              </a:rPr>
              <a:t>Merely allowing another person to have possession of goods which he does not own is not by itself enough to operate the doctrine of estoppel.</a:t>
            </a:r>
          </a:p>
          <a:p>
            <a:pPr marL="274320" indent="-274320" eaLnBrk="1" fontAlgn="auto" hangingPunct="1">
              <a:spcAft>
                <a:spcPts val="0"/>
              </a:spcAft>
              <a:buFont typeface="Wingdings"/>
              <a:buChar char=""/>
              <a:defRPr/>
            </a:pPr>
            <a:endParaRPr lang="en-GB" b="1" dirty="0">
              <a:solidFill>
                <a:srgbClr val="FF0000"/>
              </a:solidFill>
            </a:endParaRPr>
          </a:p>
          <a:p>
            <a:pPr marL="640080" lvl="1" indent="-274320" eaLnBrk="1" fontAlgn="auto" hangingPunct="1">
              <a:spcAft>
                <a:spcPts val="0"/>
              </a:spcAft>
              <a:buFont typeface="Wingdings 2"/>
              <a:buChar char=""/>
              <a:defRPr/>
            </a:pPr>
            <a:r>
              <a:rPr lang="en-GB" b="1" dirty="0">
                <a:solidFill>
                  <a:srgbClr val="0070C0"/>
                </a:solidFill>
              </a:rPr>
              <a:t>Mercantile Bank of India Ltd v Central Bank of India </a:t>
            </a:r>
          </a:p>
          <a:p>
            <a:pPr marL="365760" lvl="1" indent="0" eaLnBrk="1" fontAlgn="auto" hangingPunct="1">
              <a:spcAft>
                <a:spcPts val="0"/>
              </a:spcAft>
              <a:buNone/>
              <a:defRPr/>
            </a:pPr>
            <a:r>
              <a:rPr lang="en-GB" dirty="0"/>
              <a:t>	MB   </a:t>
            </a:r>
            <a:r>
              <a:rPr lang="en-GB" i="1" dirty="0" err="1"/>
              <a:t>repledged</a:t>
            </a:r>
            <a:r>
              <a:rPr lang="en-GB" dirty="0"/>
              <a:t>	  X    </a:t>
            </a:r>
            <a:r>
              <a:rPr lang="en-GB" i="1" dirty="0"/>
              <a:t>pledged</a:t>
            </a:r>
            <a:r>
              <a:rPr lang="en-GB" dirty="0"/>
              <a:t>	CB</a:t>
            </a:r>
          </a:p>
          <a:p>
            <a:pPr marL="731520" lvl="2" indent="0" eaLnBrk="1" fontAlgn="auto" hangingPunct="1">
              <a:spcAft>
                <a:spcPts val="0"/>
              </a:spcAft>
              <a:buClr>
                <a:schemeClr val="accent1">
                  <a:shade val="75000"/>
                </a:schemeClr>
              </a:buClr>
              <a:buFont typeface="Wingdings"/>
              <a:buNone/>
              <a:defRPr/>
            </a:pPr>
            <a:r>
              <a:rPr lang="en-GB" b="1" i="1" dirty="0"/>
              <a:t>Held: </a:t>
            </a:r>
            <a:r>
              <a:rPr lang="en-GB" dirty="0"/>
              <a:t>No estoppel because possession of the railway receipts no more conveyed a representation that the merchants (X) were entitled to dispose of the property than the actual possession of the goods themselves would have done.</a:t>
            </a:r>
            <a:endParaRPr lang="en-GB" i="1" dirty="0"/>
          </a:p>
        </p:txBody>
      </p:sp>
      <p:sp>
        <p:nvSpPr>
          <p:cNvPr id="22532" name="Slide Number Placeholder 3">
            <a:extLst>
              <a:ext uri="{FF2B5EF4-FFF2-40B4-BE49-F238E27FC236}">
                <a16:creationId xmlns:a16="http://schemas.microsoft.com/office/drawing/2014/main" id="{EF7D57B7-2409-4C21-813C-575415A46DD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0940B2F2-9139-4C38-B795-46591BA61F4B}" type="slidenum">
              <a:rPr lang="en-US" altLang="en-US">
                <a:solidFill>
                  <a:srgbClr val="FFFFFF"/>
                </a:solidFill>
              </a:rPr>
              <a:pPr eaLnBrk="1" hangingPunct="1"/>
              <a:t>14</a:t>
            </a:fld>
            <a:endParaRPr lang="en-US" altLang="en-US">
              <a:solidFill>
                <a:srgbClr val="FFFFFF"/>
              </a:solidFill>
            </a:endParaRPr>
          </a:p>
        </p:txBody>
      </p:sp>
      <p:cxnSp>
        <p:nvCxnSpPr>
          <p:cNvPr id="6" name="Straight Arrow Connector 5">
            <a:extLst>
              <a:ext uri="{FF2B5EF4-FFF2-40B4-BE49-F238E27FC236}">
                <a16:creationId xmlns:a16="http://schemas.microsoft.com/office/drawing/2014/main" id="{81A76488-53C5-482A-B91B-037A1C826AFA}"/>
              </a:ext>
            </a:extLst>
          </p:cNvPr>
          <p:cNvCxnSpPr/>
          <p:nvPr/>
        </p:nvCxnSpPr>
        <p:spPr>
          <a:xfrm>
            <a:off x="2743200" y="2667000"/>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685A235-4571-499C-9074-9EF6E19CE8EB}"/>
              </a:ext>
            </a:extLst>
          </p:cNvPr>
          <p:cNvCxnSpPr/>
          <p:nvPr/>
        </p:nvCxnSpPr>
        <p:spPr>
          <a:xfrm>
            <a:off x="4038600" y="2667000"/>
            <a:ext cx="1143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Left Arrow 15">
            <a:extLst>
              <a:ext uri="{FF2B5EF4-FFF2-40B4-BE49-F238E27FC236}">
                <a16:creationId xmlns:a16="http://schemas.microsoft.com/office/drawing/2014/main" id="{7F1879E1-4F1C-444C-ACE3-5A03FD245898}"/>
              </a:ext>
            </a:extLst>
          </p:cNvPr>
          <p:cNvSpPr/>
          <p:nvPr/>
        </p:nvSpPr>
        <p:spPr>
          <a:xfrm>
            <a:off x="1981200" y="5334000"/>
            <a:ext cx="1143000" cy="460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7" name="Right Arrow 16">
            <a:extLst>
              <a:ext uri="{FF2B5EF4-FFF2-40B4-BE49-F238E27FC236}">
                <a16:creationId xmlns:a16="http://schemas.microsoft.com/office/drawing/2014/main" id="{A18522D4-ABD5-4606-8BE8-95BB352390AF}"/>
              </a:ext>
            </a:extLst>
          </p:cNvPr>
          <p:cNvSpPr/>
          <p:nvPr/>
        </p:nvSpPr>
        <p:spPr>
          <a:xfrm>
            <a:off x="3733800" y="5334000"/>
            <a:ext cx="1143000" cy="58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F15D3-D6CC-42F1-A3F4-9447BCDF2F06}"/>
              </a:ext>
            </a:extLst>
          </p:cNvPr>
          <p:cNvSpPr>
            <a:spLocks noGrp="1"/>
          </p:cNvSpPr>
          <p:nvPr>
            <p:ph type="title"/>
          </p:nvPr>
        </p:nvSpPr>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E7ECD081-E37E-4652-8352-9354A34C2930}"/>
              </a:ext>
            </a:extLst>
          </p:cNvPr>
          <p:cNvSpPr>
            <a:spLocks noGrp="1"/>
          </p:cNvSpPr>
          <p:nvPr>
            <p:ph sz="quarter" idx="1"/>
          </p:nvPr>
        </p:nvSpPr>
        <p:spPr>
          <a:xfrm>
            <a:off x="457200" y="1600200"/>
            <a:ext cx="7467600" cy="4873625"/>
          </a:xfrm>
        </p:spPr>
        <p:txBody>
          <a:bodyPr>
            <a:normAutofit fontScale="92500" lnSpcReduction="10000"/>
          </a:bodyPr>
          <a:lstStyle/>
          <a:p>
            <a:pPr marL="274320" indent="-274320" eaLnBrk="1" fontAlgn="auto" hangingPunct="1">
              <a:spcAft>
                <a:spcPts val="0"/>
              </a:spcAft>
              <a:buFont typeface="Wingdings"/>
              <a:buChar char=""/>
              <a:defRPr/>
            </a:pPr>
            <a:r>
              <a:rPr lang="en-GB" b="1" dirty="0">
                <a:highlight>
                  <a:srgbClr val="FFFF00"/>
                </a:highlight>
              </a:rPr>
              <a:t>If estoppel by conduct is to be invoked there must be some act which positively misleads the 3</a:t>
            </a:r>
            <a:r>
              <a:rPr lang="en-GB" b="1" baseline="30000" dirty="0">
                <a:highlight>
                  <a:srgbClr val="FFFF00"/>
                </a:highlight>
              </a:rPr>
              <a:t>rd</a:t>
            </a:r>
            <a:r>
              <a:rPr lang="en-GB" b="1" dirty="0">
                <a:highlight>
                  <a:srgbClr val="FFFF00"/>
                </a:highlight>
              </a:rPr>
              <a:t> party beyond merely allowing a non-owner to have possession of the goods.</a:t>
            </a:r>
          </a:p>
          <a:p>
            <a:pPr marL="274320" indent="-274320" eaLnBrk="1" fontAlgn="auto" hangingPunct="1">
              <a:spcAft>
                <a:spcPts val="0"/>
              </a:spcAft>
              <a:buNone/>
              <a:defRPr/>
            </a:pPr>
            <a:endParaRPr lang="en-GB" dirty="0"/>
          </a:p>
          <a:p>
            <a:pPr marL="640080" lvl="1" indent="-274320" eaLnBrk="1" fontAlgn="auto" hangingPunct="1">
              <a:spcAft>
                <a:spcPts val="0"/>
              </a:spcAft>
              <a:buFont typeface="Wingdings 2"/>
              <a:buChar char=""/>
              <a:defRPr/>
            </a:pPr>
            <a:r>
              <a:rPr lang="en-GB" b="1" u="sng" dirty="0">
                <a:solidFill>
                  <a:srgbClr val="0070C0"/>
                </a:solidFill>
              </a:rPr>
              <a:t>Central Newbury Car Auctions v Unity Finance </a:t>
            </a:r>
          </a:p>
          <a:p>
            <a:pPr marL="365760" lvl="1" indent="0" eaLnBrk="1" fontAlgn="auto" hangingPunct="1">
              <a:spcAft>
                <a:spcPts val="0"/>
              </a:spcAft>
              <a:buFont typeface="Wingdings 2"/>
              <a:buNone/>
              <a:defRPr/>
            </a:pPr>
            <a:r>
              <a:rPr lang="en-GB" dirty="0"/>
              <a:t>CNA          </a:t>
            </a:r>
            <a:r>
              <a:rPr lang="en-GB" b="1" dirty="0"/>
              <a:t>sold</a:t>
            </a:r>
            <a:r>
              <a:rPr lang="en-GB" dirty="0"/>
              <a:t>	UF      </a:t>
            </a:r>
            <a:r>
              <a:rPr lang="en-GB" b="1" dirty="0"/>
              <a:t>hired</a:t>
            </a:r>
            <a:r>
              <a:rPr lang="en-GB" dirty="0"/>
              <a:t>	S</a:t>
            </a:r>
          </a:p>
          <a:p>
            <a:pPr marL="365760" lvl="1" indent="0" eaLnBrk="1" fontAlgn="auto" hangingPunct="1">
              <a:spcAft>
                <a:spcPts val="0"/>
              </a:spcAft>
              <a:buFont typeface="Wingdings 2"/>
              <a:buNone/>
              <a:defRPr/>
            </a:pPr>
            <a:endParaRPr lang="en-GB" dirty="0"/>
          </a:p>
          <a:p>
            <a:pPr marL="365760" lvl="1" indent="0" eaLnBrk="1" fontAlgn="auto" hangingPunct="1">
              <a:spcAft>
                <a:spcPts val="0"/>
              </a:spcAft>
              <a:buFont typeface="Wingdings 2"/>
              <a:buNone/>
              <a:defRPr/>
            </a:pPr>
            <a:endParaRPr lang="en-GB" dirty="0"/>
          </a:p>
          <a:p>
            <a:pPr lvl="2" indent="-182880" eaLnBrk="1" fontAlgn="auto" hangingPunct="1">
              <a:spcAft>
                <a:spcPts val="0"/>
              </a:spcAft>
              <a:buClr>
                <a:schemeClr val="accent1">
                  <a:shade val="75000"/>
                </a:schemeClr>
              </a:buClr>
              <a:buFont typeface="Wingdings"/>
              <a:buChar char=""/>
              <a:defRPr/>
            </a:pPr>
            <a:r>
              <a:rPr lang="en-GB" b="1" dirty="0"/>
              <a:t>Held (CA): </a:t>
            </a:r>
            <a:r>
              <a:rPr lang="en-GB" dirty="0"/>
              <a:t>no estoppel.  The Claimants were entitled to recover the car. The registration book is not a document of title and only a warning that the person whose name on it may not be the owner. </a:t>
            </a:r>
          </a:p>
          <a:p>
            <a:pPr marL="640080" lvl="1" indent="-274320" eaLnBrk="1" fontAlgn="auto" hangingPunct="1">
              <a:spcAft>
                <a:spcPts val="0"/>
              </a:spcAft>
              <a:buFont typeface="Wingdings 2"/>
              <a:buChar char=""/>
              <a:defRPr/>
            </a:pPr>
            <a:r>
              <a:rPr lang="en-GB" dirty="0"/>
              <a:t>The case for invoking estoppel was based on the fact that the owner entrusted possession of the goods to another party and this is not sufficient to raise an estoppel. </a:t>
            </a:r>
          </a:p>
        </p:txBody>
      </p:sp>
      <p:sp>
        <p:nvSpPr>
          <p:cNvPr id="23556" name="Slide Number Placeholder 3">
            <a:extLst>
              <a:ext uri="{FF2B5EF4-FFF2-40B4-BE49-F238E27FC236}">
                <a16:creationId xmlns:a16="http://schemas.microsoft.com/office/drawing/2014/main" id="{649FFA07-BA53-4787-89B8-806DA08FD056}"/>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7182BA6B-CEFB-42D3-9003-C54DBDE31C09}" type="slidenum">
              <a:rPr lang="en-US" altLang="en-US">
                <a:solidFill>
                  <a:srgbClr val="FFFFFF"/>
                </a:solidFill>
              </a:rPr>
              <a:pPr eaLnBrk="1" hangingPunct="1"/>
              <a:t>15</a:t>
            </a:fld>
            <a:endParaRPr lang="en-US" altLang="en-US">
              <a:solidFill>
                <a:srgbClr val="FFFFFF"/>
              </a:solidFill>
            </a:endParaRPr>
          </a:p>
        </p:txBody>
      </p:sp>
      <p:sp>
        <p:nvSpPr>
          <p:cNvPr id="5" name="Right Arrow 4">
            <a:extLst>
              <a:ext uri="{FF2B5EF4-FFF2-40B4-BE49-F238E27FC236}">
                <a16:creationId xmlns:a16="http://schemas.microsoft.com/office/drawing/2014/main" id="{9823F910-3586-4D06-82FA-1013146BFF9B}"/>
              </a:ext>
            </a:extLst>
          </p:cNvPr>
          <p:cNvSpPr/>
          <p:nvPr/>
        </p:nvSpPr>
        <p:spPr>
          <a:xfrm>
            <a:off x="1828800" y="3962400"/>
            <a:ext cx="1219200" cy="46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b="1" dirty="0"/>
          </a:p>
        </p:txBody>
      </p:sp>
      <p:sp>
        <p:nvSpPr>
          <p:cNvPr id="6" name="Right Arrow 5">
            <a:extLst>
              <a:ext uri="{FF2B5EF4-FFF2-40B4-BE49-F238E27FC236}">
                <a16:creationId xmlns:a16="http://schemas.microsoft.com/office/drawing/2014/main" id="{89479A50-4CF3-4DE1-8CA8-002273886313}"/>
              </a:ext>
            </a:extLst>
          </p:cNvPr>
          <p:cNvSpPr/>
          <p:nvPr/>
        </p:nvSpPr>
        <p:spPr>
          <a:xfrm>
            <a:off x="3733800" y="4000500"/>
            <a:ext cx="1219200" cy="46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3A1FE-BF07-480B-B5E9-143F9162F155}"/>
              </a:ext>
            </a:extLst>
          </p:cNvPr>
          <p:cNvSpPr>
            <a:spLocks noGrp="1"/>
          </p:cNvSpPr>
          <p:nvPr>
            <p:ph type="title"/>
          </p:nvPr>
        </p:nvSpPr>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FF19A7F2-6296-4747-84CE-8C3A7E7E61D5}"/>
              </a:ext>
            </a:extLst>
          </p:cNvPr>
          <p:cNvSpPr>
            <a:spLocks noGrp="1"/>
          </p:cNvSpPr>
          <p:nvPr>
            <p:ph sz="quarter" idx="1"/>
          </p:nvPr>
        </p:nvSpPr>
        <p:spPr>
          <a:xfrm>
            <a:off x="457200" y="1600200"/>
            <a:ext cx="7848600" cy="4873625"/>
          </a:xfrm>
        </p:spPr>
        <p:txBody>
          <a:bodyPr>
            <a:normAutofit fontScale="92500"/>
          </a:bodyPr>
          <a:lstStyle/>
          <a:p>
            <a:pPr marL="274320" indent="-274320" eaLnBrk="1" fontAlgn="auto" hangingPunct="1">
              <a:spcAft>
                <a:spcPts val="0"/>
              </a:spcAft>
              <a:buFont typeface="Wingdings"/>
              <a:buChar char=""/>
              <a:defRPr/>
            </a:pPr>
            <a:r>
              <a:rPr lang="en-GB" b="1" i="1" u="sng" dirty="0">
                <a:solidFill>
                  <a:srgbClr val="0070C0"/>
                </a:solidFill>
              </a:rPr>
              <a:t>Eastern Distributors </a:t>
            </a:r>
            <a:r>
              <a:rPr lang="en-GB" b="1" u="sng" dirty="0">
                <a:solidFill>
                  <a:srgbClr val="0070C0"/>
                </a:solidFill>
              </a:rPr>
              <a:t>v</a:t>
            </a:r>
            <a:r>
              <a:rPr lang="en-GB" b="1" i="1" u="sng" dirty="0">
                <a:solidFill>
                  <a:srgbClr val="0070C0"/>
                </a:solidFill>
              </a:rPr>
              <a:t> Goldring </a:t>
            </a:r>
          </a:p>
          <a:p>
            <a:pPr marL="640080" lvl="1" indent="-274320" eaLnBrk="1" fontAlgn="auto" hangingPunct="1">
              <a:spcAft>
                <a:spcPts val="0"/>
              </a:spcAft>
              <a:buFont typeface="Wingdings 2"/>
              <a:buChar char=""/>
              <a:defRPr/>
            </a:pPr>
            <a:r>
              <a:rPr lang="en-GB" b="1" i="1" dirty="0"/>
              <a:t>Held (CA): </a:t>
            </a:r>
            <a:r>
              <a:rPr lang="en-GB" dirty="0"/>
              <a:t>a</a:t>
            </a:r>
            <a:r>
              <a:rPr lang="en-GB" b="1" i="1" dirty="0"/>
              <a:t> </a:t>
            </a:r>
            <a:r>
              <a:rPr lang="en-GB" dirty="0"/>
              <a:t>fraudster was estopped from setting up his title against the Claimants who had bought the car from his partner. Estoppel operated to pass a good title to the Claimants not only against the fraudster but also against 3</a:t>
            </a:r>
            <a:r>
              <a:rPr lang="en-GB" baseline="30000" dirty="0"/>
              <a:t>rd</a:t>
            </a:r>
            <a:r>
              <a:rPr lang="en-GB" dirty="0"/>
              <a:t> party buyers in good faith who bought from the fraudster.</a:t>
            </a:r>
          </a:p>
          <a:p>
            <a:pPr marL="640080" lvl="1" indent="-274320" eaLnBrk="1" fontAlgn="auto" hangingPunct="1">
              <a:spcAft>
                <a:spcPts val="0"/>
              </a:spcAft>
              <a:buFont typeface="Wingdings 2" panose="05020102010507070707" pitchFamily="18" charset="2"/>
              <a:buNone/>
              <a:defRPr/>
            </a:pPr>
            <a:endParaRPr lang="en-GB" i="1" dirty="0"/>
          </a:p>
          <a:p>
            <a:pPr marL="274320" indent="-274320" eaLnBrk="1" fontAlgn="auto" hangingPunct="1">
              <a:spcAft>
                <a:spcPts val="0"/>
              </a:spcAft>
              <a:buFont typeface="Wingdings"/>
              <a:buChar char=""/>
              <a:defRPr/>
            </a:pPr>
            <a:r>
              <a:rPr lang="en-GB" b="1" i="1" u="sng" dirty="0">
                <a:solidFill>
                  <a:srgbClr val="0070C0"/>
                </a:solidFill>
              </a:rPr>
              <a:t>Lloyds &amp; Scottish Finance Ltd </a:t>
            </a:r>
            <a:r>
              <a:rPr lang="en-GB" b="1" u="sng" dirty="0">
                <a:solidFill>
                  <a:srgbClr val="0070C0"/>
                </a:solidFill>
              </a:rPr>
              <a:t>v</a:t>
            </a:r>
            <a:r>
              <a:rPr lang="en-GB" b="1" i="1" u="sng" dirty="0">
                <a:solidFill>
                  <a:srgbClr val="0070C0"/>
                </a:solidFill>
              </a:rPr>
              <a:t> Williamson</a:t>
            </a:r>
            <a:r>
              <a:rPr lang="en-GB" b="1" u="sng" dirty="0">
                <a:solidFill>
                  <a:srgbClr val="0070C0"/>
                </a:solidFill>
              </a:rPr>
              <a:t> </a:t>
            </a:r>
          </a:p>
          <a:p>
            <a:pPr marL="274320" lvl="1" indent="-274320" eaLnBrk="1" fontAlgn="auto" hangingPunct="1">
              <a:spcBef>
                <a:spcPts val="600"/>
              </a:spcBef>
              <a:spcAft>
                <a:spcPts val="0"/>
              </a:spcAft>
              <a:buSzPct val="70000"/>
              <a:buFont typeface="Wingdings"/>
              <a:buChar char=""/>
              <a:defRPr/>
            </a:pPr>
            <a:endParaRPr lang="en-GB" i="1" dirty="0"/>
          </a:p>
          <a:p>
            <a:pPr marL="274320" lvl="1" indent="-274320" eaLnBrk="1" fontAlgn="auto" hangingPunct="1">
              <a:spcBef>
                <a:spcPts val="600"/>
              </a:spcBef>
              <a:spcAft>
                <a:spcPts val="0"/>
              </a:spcAft>
              <a:buSzPct val="70000"/>
              <a:buFont typeface="Wingdings"/>
              <a:buChar char=""/>
              <a:defRPr/>
            </a:pPr>
            <a:r>
              <a:rPr lang="en-GB" i="1" dirty="0"/>
              <a:t>Ostensible agency case: owner (P) authorises an A to sell as A only </a:t>
            </a:r>
            <a:r>
              <a:rPr lang="en-GB" i="1" u="sng" dirty="0"/>
              <a:t>or</a:t>
            </a:r>
            <a:r>
              <a:rPr lang="en-GB" i="1" dirty="0"/>
              <a:t> the B knows that the A is not himself the owner and acts on the assumption that he is an A only.  Then there will be no estoppel.</a:t>
            </a:r>
          </a:p>
          <a:p>
            <a:pPr marL="640080" lvl="1" indent="-274320" eaLnBrk="1" fontAlgn="auto" hangingPunct="1">
              <a:spcAft>
                <a:spcPts val="0"/>
              </a:spcAft>
              <a:buFont typeface="Wingdings 2"/>
              <a:buChar char=""/>
              <a:defRPr/>
            </a:pPr>
            <a:r>
              <a:rPr lang="en-GB" b="1" i="1" u="sng" dirty="0">
                <a:solidFill>
                  <a:srgbClr val="0070C0"/>
                </a:solidFill>
              </a:rPr>
              <a:t>Motor Credits </a:t>
            </a:r>
            <a:r>
              <a:rPr lang="en-GB" b="1" u="sng" dirty="0">
                <a:solidFill>
                  <a:srgbClr val="0070C0"/>
                </a:solidFill>
              </a:rPr>
              <a:t>v</a:t>
            </a:r>
            <a:r>
              <a:rPr lang="en-GB" b="1" i="1" u="sng" dirty="0">
                <a:solidFill>
                  <a:srgbClr val="0070C0"/>
                </a:solidFill>
              </a:rPr>
              <a:t> Pacific Motor</a:t>
            </a:r>
          </a:p>
        </p:txBody>
      </p:sp>
      <p:sp>
        <p:nvSpPr>
          <p:cNvPr id="24580" name="Slide Number Placeholder 3">
            <a:extLst>
              <a:ext uri="{FF2B5EF4-FFF2-40B4-BE49-F238E27FC236}">
                <a16:creationId xmlns:a16="http://schemas.microsoft.com/office/drawing/2014/main" id="{2CE4E684-84CB-4976-80B5-E51C272A8F57}"/>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1A380E66-838F-4456-B833-676346FB896D}" type="slidenum">
              <a:rPr lang="en-US" altLang="en-US">
                <a:solidFill>
                  <a:srgbClr val="FFFFFF"/>
                </a:solidFill>
              </a:rPr>
              <a:pPr eaLnBrk="1" hangingPunct="1"/>
              <a:t>16</a:t>
            </a:fld>
            <a:endParaRPr lang="en-US" altLang="en-US">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E4BE5-477E-4098-8E75-2EF3CBB3CCC4}"/>
              </a:ext>
            </a:extLst>
          </p:cNvPr>
          <p:cNvSpPr>
            <a:spLocks noGrp="1"/>
          </p:cNvSpPr>
          <p:nvPr>
            <p:ph type="title"/>
          </p:nvPr>
        </p:nvSpPr>
        <p:spPr>
          <a:xfrm>
            <a:off x="457200" y="274638"/>
            <a:ext cx="7467600" cy="868362"/>
          </a:xfrm>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6200412C-FF08-41E9-A88A-CEBE17FE0F45}"/>
              </a:ext>
            </a:extLst>
          </p:cNvPr>
          <p:cNvSpPr>
            <a:spLocks noGrp="1"/>
          </p:cNvSpPr>
          <p:nvPr>
            <p:ph sz="quarter" idx="1"/>
          </p:nvPr>
        </p:nvSpPr>
        <p:spPr>
          <a:xfrm>
            <a:off x="457200" y="1143000"/>
            <a:ext cx="7467600" cy="5562600"/>
          </a:xfrm>
        </p:spPr>
        <p:txBody>
          <a:bodyPr>
            <a:normAutofit fontScale="92500" lnSpcReduction="20000"/>
          </a:bodyPr>
          <a:lstStyle/>
          <a:p>
            <a:pPr marL="274320" indent="-274320" eaLnBrk="1" fontAlgn="auto" hangingPunct="1">
              <a:spcAft>
                <a:spcPts val="0"/>
              </a:spcAft>
              <a:buFont typeface="Wingdings"/>
              <a:buChar char=""/>
              <a:defRPr/>
            </a:pPr>
            <a:r>
              <a:rPr lang="en-GB" sz="3000" b="1" u="sng" dirty="0">
                <a:solidFill>
                  <a:srgbClr val="FF0000"/>
                </a:solidFill>
              </a:rPr>
              <a:t>By negligence</a:t>
            </a:r>
          </a:p>
          <a:p>
            <a:pPr marL="274320" indent="-274320" eaLnBrk="1" fontAlgn="auto" hangingPunct="1">
              <a:spcAft>
                <a:spcPts val="0"/>
              </a:spcAft>
              <a:buNone/>
              <a:defRPr/>
            </a:pPr>
            <a:endParaRPr lang="en-GB" sz="3000" b="1" u="sng" dirty="0">
              <a:solidFill>
                <a:srgbClr val="FF0000"/>
              </a:solidFill>
            </a:endParaRPr>
          </a:p>
          <a:p>
            <a:pPr marL="640080" lvl="1" indent="-274320" eaLnBrk="1" fontAlgn="auto" hangingPunct="1">
              <a:spcAft>
                <a:spcPts val="0"/>
              </a:spcAft>
              <a:buFont typeface="Wingdings 2"/>
              <a:buChar char=""/>
              <a:defRPr/>
            </a:pPr>
            <a:r>
              <a:rPr lang="en-GB" b="1" dirty="0"/>
              <a:t>Where the owner of goods has allowed 3</a:t>
            </a:r>
            <a:r>
              <a:rPr lang="en-GB" b="1" baseline="30000" dirty="0"/>
              <a:t>rd</a:t>
            </a:r>
            <a:r>
              <a:rPr lang="en-GB" b="1" dirty="0"/>
              <a:t> party to represent himself as owner or as having the owner’s authority to sell. </a:t>
            </a:r>
          </a:p>
          <a:p>
            <a:pPr marL="640080" lvl="1" indent="-274320" eaLnBrk="1" fontAlgn="auto" hangingPunct="1">
              <a:spcAft>
                <a:spcPts val="0"/>
              </a:spcAft>
              <a:buFont typeface="Wingdings 2"/>
              <a:buChar char=""/>
              <a:defRPr/>
            </a:pPr>
            <a:r>
              <a:rPr lang="en-GB" dirty="0"/>
              <a:t>Severely restricted. </a:t>
            </a:r>
          </a:p>
          <a:p>
            <a:pPr marL="640080" lvl="1" indent="-274320" eaLnBrk="1" fontAlgn="auto" hangingPunct="1">
              <a:spcAft>
                <a:spcPts val="0"/>
              </a:spcAft>
              <a:buFont typeface="Wingdings 2"/>
              <a:buChar char=""/>
              <a:defRPr/>
            </a:pPr>
            <a:r>
              <a:rPr lang="en-GB" dirty="0">
                <a:solidFill>
                  <a:srgbClr val="FF0000"/>
                </a:solidFill>
                <a:highlight>
                  <a:srgbClr val="FFFF00"/>
                </a:highlight>
              </a:rPr>
              <a:t>No negligence unless there is a </a:t>
            </a:r>
            <a:r>
              <a:rPr lang="en-GB" b="1" dirty="0">
                <a:solidFill>
                  <a:srgbClr val="FF0000"/>
                </a:solidFill>
                <a:highlight>
                  <a:srgbClr val="FFFF00"/>
                </a:highlight>
              </a:rPr>
              <a:t>duty to take care.</a:t>
            </a:r>
          </a:p>
          <a:p>
            <a:pPr marL="640080" lvl="1" indent="-274320" eaLnBrk="1" fontAlgn="auto" hangingPunct="1">
              <a:spcAft>
                <a:spcPts val="0"/>
              </a:spcAft>
              <a:buFont typeface="Wingdings 2"/>
              <a:buChar char=""/>
              <a:defRPr/>
            </a:pPr>
            <a:r>
              <a:rPr lang="en-GB" dirty="0"/>
              <a:t>The necessity for establishing a duty of care precludes the operation of estoppel where the owner is induced to part with goods to a buyer under a contract void for mistake. Owner can claim goods from a bona fide purchaser and a bona fide purchaser cannot defend himself by saying it was the owner’s negligence. </a:t>
            </a:r>
          </a:p>
          <a:p>
            <a:pPr marL="640080" lvl="1" indent="-274320" eaLnBrk="1" fontAlgn="auto" hangingPunct="1">
              <a:spcAft>
                <a:spcPts val="0"/>
              </a:spcAft>
              <a:buFont typeface="Wingdings 2" panose="05020102010507070707" pitchFamily="18" charset="2"/>
              <a:buNone/>
              <a:defRPr/>
            </a:pPr>
            <a:endParaRPr lang="en-GB" dirty="0"/>
          </a:p>
          <a:p>
            <a:pPr marL="274320" indent="-274320" eaLnBrk="1" fontAlgn="auto" hangingPunct="1">
              <a:spcAft>
                <a:spcPts val="0"/>
              </a:spcAft>
              <a:buFont typeface="Wingdings"/>
              <a:buChar char=""/>
              <a:defRPr/>
            </a:pPr>
            <a:r>
              <a:rPr lang="en-GB" b="1" u="sng" dirty="0">
                <a:solidFill>
                  <a:srgbClr val="0070C0"/>
                </a:solidFill>
              </a:rPr>
              <a:t>Mercantile Credit v Hamblin </a:t>
            </a:r>
          </a:p>
          <a:p>
            <a:pPr marL="640080" lvl="1" indent="-274320" eaLnBrk="1" fontAlgn="auto" hangingPunct="1">
              <a:spcAft>
                <a:spcPts val="0"/>
              </a:spcAft>
              <a:buFont typeface="Wingdings 2"/>
              <a:buChar char=""/>
              <a:defRPr/>
            </a:pPr>
            <a:r>
              <a:rPr lang="en-GB" b="1" i="1" dirty="0"/>
              <a:t>Held (CA): </a:t>
            </a:r>
            <a:r>
              <a:rPr lang="en-GB" i="1" dirty="0"/>
              <a:t>Mrs. Hamblin was not bound by the agreement because she had not in fact authorised the dealer to make any offer to MC and was not estopped from denying that she had done so. </a:t>
            </a:r>
          </a:p>
        </p:txBody>
      </p:sp>
      <p:sp>
        <p:nvSpPr>
          <p:cNvPr id="25604" name="Slide Number Placeholder 3">
            <a:extLst>
              <a:ext uri="{FF2B5EF4-FFF2-40B4-BE49-F238E27FC236}">
                <a16:creationId xmlns:a16="http://schemas.microsoft.com/office/drawing/2014/main" id="{660869C6-1F9A-47AE-AAB8-2E5C5B52A39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B5D78FB6-DF9D-4F4E-8DFD-B8C0BF491467}" type="slidenum">
              <a:rPr lang="en-US" altLang="en-US">
                <a:solidFill>
                  <a:srgbClr val="FFFFFF"/>
                </a:solidFill>
              </a:rPr>
              <a:pPr eaLnBrk="1" hangingPunct="1"/>
              <a:t>17</a:t>
            </a:fld>
            <a:endParaRPr lang="en-US" altLang="en-US">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DFDA-A4D7-40A6-99C1-D8F7F79A0546}"/>
              </a:ext>
            </a:extLst>
          </p:cNvPr>
          <p:cNvSpPr>
            <a:spLocks noGrp="1"/>
          </p:cNvSpPr>
          <p:nvPr>
            <p:ph type="title"/>
          </p:nvPr>
        </p:nvSpPr>
        <p:spPr/>
        <p:txBody>
          <a:bodyPr/>
          <a:lstStyle/>
          <a:p>
            <a:pPr eaLnBrk="1" fontAlgn="auto" hangingPunct="1">
              <a:spcAft>
                <a:spcPts val="0"/>
              </a:spcAft>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641B8B90-A279-4301-BEAB-F58E394D7084}"/>
              </a:ext>
            </a:extLst>
          </p:cNvPr>
          <p:cNvSpPr>
            <a:spLocks noGrp="1"/>
          </p:cNvSpPr>
          <p:nvPr>
            <p:ph sz="quarter" idx="1"/>
          </p:nvPr>
        </p:nvSpPr>
        <p:spPr>
          <a:xfrm>
            <a:off x="457200" y="1600200"/>
            <a:ext cx="7467600" cy="4873625"/>
          </a:xfrm>
        </p:spPr>
        <p:txBody>
          <a:bodyPr>
            <a:normAutofit/>
          </a:bodyPr>
          <a:lstStyle/>
          <a:p>
            <a:pPr marL="274320" indent="-274320" eaLnBrk="1" fontAlgn="auto" hangingPunct="1">
              <a:spcAft>
                <a:spcPts val="0"/>
              </a:spcAft>
              <a:buFont typeface="Wingdings"/>
              <a:buChar char=""/>
              <a:defRPr/>
            </a:pPr>
            <a:r>
              <a:rPr lang="en-GB" b="1" u="sng" dirty="0">
                <a:solidFill>
                  <a:srgbClr val="0070C0"/>
                </a:solidFill>
              </a:rPr>
              <a:t>Moorgate Mercantile Co v </a:t>
            </a:r>
            <a:r>
              <a:rPr lang="en-GB" b="1" u="sng" dirty="0" err="1">
                <a:solidFill>
                  <a:srgbClr val="0070C0"/>
                </a:solidFill>
              </a:rPr>
              <a:t>Twitchings</a:t>
            </a:r>
            <a:r>
              <a:rPr lang="en-GB" b="1" u="sng" dirty="0">
                <a:solidFill>
                  <a:srgbClr val="0070C0"/>
                </a:solidFill>
              </a:rPr>
              <a:t> </a:t>
            </a:r>
          </a:p>
          <a:p>
            <a:pPr marL="274320" indent="-274320" eaLnBrk="1" fontAlgn="auto" hangingPunct="1">
              <a:spcAft>
                <a:spcPts val="0"/>
              </a:spcAft>
              <a:buFont typeface="Wingdings" panose="05000000000000000000" pitchFamily="2" charset="2"/>
              <a:buNone/>
              <a:defRPr/>
            </a:pPr>
            <a:endParaRPr lang="en-GB" b="1" dirty="0"/>
          </a:p>
          <a:p>
            <a:pPr marL="640080" lvl="1" indent="-274320" eaLnBrk="1" fontAlgn="auto" hangingPunct="1">
              <a:spcAft>
                <a:spcPts val="0"/>
              </a:spcAft>
              <a:buFont typeface="Wingdings 2"/>
              <a:buChar char=""/>
              <a:defRPr/>
            </a:pPr>
            <a:r>
              <a:rPr lang="en-GB" dirty="0"/>
              <a:t>Careless failure to register a hire purchase agreement did not give rise to estoppel.</a:t>
            </a:r>
          </a:p>
          <a:p>
            <a:pPr marL="640080" lvl="1" indent="-274320" eaLnBrk="1" fontAlgn="auto" hangingPunct="1">
              <a:spcAft>
                <a:spcPts val="0"/>
              </a:spcAft>
              <a:buFont typeface="Wingdings 2" panose="05020102010507070707" pitchFamily="18" charset="2"/>
              <a:buNone/>
              <a:defRPr/>
            </a:pPr>
            <a:endParaRPr lang="en-GB" dirty="0"/>
          </a:p>
          <a:p>
            <a:pPr lvl="2" indent="-182880" eaLnBrk="1" fontAlgn="auto" hangingPunct="1">
              <a:spcAft>
                <a:spcPts val="0"/>
              </a:spcAft>
              <a:buClr>
                <a:schemeClr val="accent1">
                  <a:shade val="75000"/>
                </a:schemeClr>
              </a:buClr>
              <a:buFont typeface="Wingdings"/>
              <a:buChar char=""/>
              <a:defRPr/>
            </a:pPr>
            <a:r>
              <a:rPr lang="x-none" dirty="0"/>
              <a:t>"The owner of property is entitled to be careless with it if he likes, and even </a:t>
            </a:r>
            <a:r>
              <a:rPr lang="x-none" b="1" dirty="0"/>
              <a:t>extreme carelessness </a:t>
            </a:r>
            <a:r>
              <a:rPr lang="x-none" dirty="0"/>
              <a:t>with his own property </a:t>
            </a:r>
            <a:r>
              <a:rPr lang="x-none" b="1" dirty="0"/>
              <a:t>will not preclude him from recovering </a:t>
            </a:r>
            <a:r>
              <a:rPr lang="x-none" dirty="0"/>
              <a:t>it from a person who has bought it </a:t>
            </a:r>
            <a:r>
              <a:rPr lang="x-none" b="1" dirty="0"/>
              <a:t>from someone who dishonestly purported to sell it</a:t>
            </a:r>
            <a:r>
              <a:rPr lang="x-none" dirty="0"/>
              <a:t>“</a:t>
            </a:r>
            <a:r>
              <a:rPr lang="en-GB" dirty="0"/>
              <a:t>  (per Lord Fraser)</a:t>
            </a:r>
          </a:p>
          <a:p>
            <a:pPr marL="274320" indent="-274320" eaLnBrk="1" fontAlgn="auto" hangingPunct="1">
              <a:spcAft>
                <a:spcPts val="0"/>
              </a:spcAft>
              <a:buFont typeface="Wingdings"/>
              <a:buChar char=""/>
              <a:defRPr/>
            </a:pPr>
            <a:endParaRPr lang="en-GB" dirty="0"/>
          </a:p>
          <a:p>
            <a:pPr marL="640080" lvl="1" indent="-274320" eaLnBrk="1" fontAlgn="auto" hangingPunct="1">
              <a:spcAft>
                <a:spcPts val="0"/>
              </a:spcAft>
              <a:buFont typeface="Wingdings 2"/>
              <a:buChar char=""/>
              <a:defRPr/>
            </a:pPr>
            <a:endParaRPr lang="en-GB" dirty="0"/>
          </a:p>
        </p:txBody>
      </p:sp>
      <p:sp>
        <p:nvSpPr>
          <p:cNvPr id="26628" name="Slide Number Placeholder 3">
            <a:extLst>
              <a:ext uri="{FF2B5EF4-FFF2-40B4-BE49-F238E27FC236}">
                <a16:creationId xmlns:a16="http://schemas.microsoft.com/office/drawing/2014/main" id="{386EE45A-6F30-4043-9FBB-5E99A241F8D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320E5004-896F-481F-A29B-892B7B436CFA}" type="slidenum">
              <a:rPr lang="en-US" altLang="en-US">
                <a:solidFill>
                  <a:srgbClr val="FFFFFF"/>
                </a:solidFill>
              </a:rPr>
              <a:pPr eaLnBrk="1" hangingPunct="1"/>
              <a:t>18</a:t>
            </a:fld>
            <a:endParaRPr lang="en-US" altLang="en-US">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08705-1101-42C6-B90C-61B5AB971F38}"/>
              </a:ext>
            </a:extLst>
          </p:cNvPr>
          <p:cNvSpPr>
            <a:spLocks noGrp="1"/>
          </p:cNvSpPr>
          <p:nvPr>
            <p:ph type="title"/>
          </p:nvPr>
        </p:nvSpPr>
        <p:spPr/>
        <p:txBody>
          <a:bodyPr/>
          <a:lstStyle/>
          <a:p>
            <a:pPr>
              <a:defRPr/>
            </a:pPr>
            <a:r>
              <a:rPr lang="en-GB" dirty="0">
                <a:solidFill>
                  <a:schemeClr val="tx1"/>
                </a:solidFill>
              </a:rPr>
              <a:t>ESTOPPEL</a:t>
            </a:r>
          </a:p>
        </p:txBody>
      </p:sp>
      <p:sp>
        <p:nvSpPr>
          <p:cNvPr id="3" name="Content Placeholder 2">
            <a:extLst>
              <a:ext uri="{FF2B5EF4-FFF2-40B4-BE49-F238E27FC236}">
                <a16:creationId xmlns:a16="http://schemas.microsoft.com/office/drawing/2014/main" id="{92426FD4-430C-4B3D-9FBA-65C0F5CF7F92}"/>
              </a:ext>
            </a:extLst>
          </p:cNvPr>
          <p:cNvSpPr>
            <a:spLocks noGrp="1"/>
          </p:cNvSpPr>
          <p:nvPr>
            <p:ph sz="quarter" idx="1"/>
          </p:nvPr>
        </p:nvSpPr>
        <p:spPr>
          <a:xfrm>
            <a:off x="457200" y="1417638"/>
            <a:ext cx="7467600" cy="5440362"/>
          </a:xfrm>
        </p:spPr>
        <p:txBody>
          <a:bodyPr/>
          <a:lstStyle/>
          <a:p>
            <a:pPr lvl="2" indent="-182880" eaLnBrk="1" fontAlgn="auto" hangingPunct="1">
              <a:spcAft>
                <a:spcPts val="0"/>
              </a:spcAft>
              <a:buClr>
                <a:schemeClr val="accent1">
                  <a:shade val="75000"/>
                </a:schemeClr>
              </a:buClr>
              <a:buFont typeface="Wingdings" panose="05000000000000000000" pitchFamily="2" charset="2"/>
              <a:buNone/>
              <a:defRPr/>
            </a:pPr>
            <a:endParaRPr lang="en-GB" b="1" i="1" dirty="0"/>
          </a:p>
          <a:p>
            <a:pPr lvl="2" indent="-182880" eaLnBrk="1" fontAlgn="auto" hangingPunct="1">
              <a:spcAft>
                <a:spcPts val="0"/>
              </a:spcAft>
              <a:buClr>
                <a:schemeClr val="accent1">
                  <a:shade val="75000"/>
                </a:schemeClr>
              </a:buClr>
              <a:buFont typeface="Wingdings" panose="05000000000000000000" pitchFamily="2" charset="2"/>
              <a:buNone/>
              <a:defRPr/>
            </a:pPr>
            <a:endParaRPr lang="en-GB" sz="2000" b="1" i="1" dirty="0"/>
          </a:p>
          <a:p>
            <a:pPr lvl="2" indent="-182880" algn="just" eaLnBrk="1" fontAlgn="auto" hangingPunct="1">
              <a:spcAft>
                <a:spcPts val="0"/>
              </a:spcAft>
              <a:buClr>
                <a:schemeClr val="accent1">
                  <a:shade val="75000"/>
                </a:schemeClr>
              </a:buClr>
              <a:buFont typeface="Wingdings"/>
              <a:buChar char=""/>
              <a:defRPr/>
            </a:pPr>
            <a:r>
              <a:rPr lang="en-GB" sz="2000" dirty="0"/>
              <a:t>“[the owner] </a:t>
            </a:r>
            <a:r>
              <a:rPr lang="en-GB" sz="2000" b="1" dirty="0"/>
              <a:t>is not estopped from asserting his title by mere inaction or silence</a:t>
            </a:r>
            <a:r>
              <a:rPr lang="en-GB" sz="2000" dirty="0"/>
              <a:t>, because inaction or silence, by contrast with positive conduct or statement, is colourless:  it cannot influence a person to act to his detriment unless it acquires a positive content such that that person is entitled to rely on it.  </a:t>
            </a:r>
            <a:r>
              <a:rPr lang="en-GB" sz="2000" b="1" dirty="0"/>
              <a:t>In order that silence or inaction may acquire a positive content it is usually said that there must be a duty to speak or to act in a particular way</a:t>
            </a:r>
            <a:r>
              <a:rPr lang="en-GB" sz="2000" dirty="0"/>
              <a:t>, owed to the person prejudiced, or to the public or to a class of the public of which he in the event turns out to be one...”   (per Lord Wilberforce) (emphasis added)</a:t>
            </a:r>
          </a:p>
          <a:p>
            <a:pPr>
              <a:defRPr/>
            </a:pPr>
            <a:endParaRPr lang="en-GB" dirty="0"/>
          </a:p>
        </p:txBody>
      </p:sp>
      <p:sp>
        <p:nvSpPr>
          <p:cNvPr id="27652" name="Slide Number Placeholder 3">
            <a:extLst>
              <a:ext uri="{FF2B5EF4-FFF2-40B4-BE49-F238E27FC236}">
                <a16:creationId xmlns:a16="http://schemas.microsoft.com/office/drawing/2014/main" id="{EBFA932B-5B7A-4143-A67B-614266A8B7C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893B5B4A-9057-48BF-9E9D-2076AD2B2898}" type="slidenum">
              <a:rPr lang="en-US" altLang="en-US">
                <a:solidFill>
                  <a:srgbClr val="FFFFFF"/>
                </a:solidFill>
              </a:rPr>
              <a:pPr eaLnBrk="1" hangingPunct="1"/>
              <a:t>19</a:t>
            </a:fld>
            <a:endParaRPr lang="en-US" altLang="en-US">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DEBB2-194B-4582-A19F-525F8B67757E}"/>
              </a:ext>
            </a:extLst>
          </p:cNvPr>
          <p:cNvSpPr>
            <a:spLocks noGrp="1"/>
          </p:cNvSpPr>
          <p:nvPr>
            <p:ph type="title"/>
          </p:nvPr>
        </p:nvSpPr>
        <p:spPr/>
        <p:txBody>
          <a:bodyPr/>
          <a:lstStyle/>
          <a:p>
            <a:pPr eaLnBrk="1" fontAlgn="auto" hangingPunct="1">
              <a:spcAft>
                <a:spcPts val="0"/>
              </a:spcAft>
              <a:defRPr/>
            </a:pPr>
            <a:r>
              <a:rPr lang="en-GB" b="1" u="sng" dirty="0">
                <a:solidFill>
                  <a:srgbClr val="FF0000"/>
                </a:solidFill>
              </a:rPr>
              <a:t>SPECIAL POWERS OF SALE</a:t>
            </a:r>
          </a:p>
        </p:txBody>
      </p:sp>
      <p:sp>
        <p:nvSpPr>
          <p:cNvPr id="28675" name="Content Placeholder 2">
            <a:extLst>
              <a:ext uri="{FF2B5EF4-FFF2-40B4-BE49-F238E27FC236}">
                <a16:creationId xmlns:a16="http://schemas.microsoft.com/office/drawing/2014/main" id="{54F1CEBA-9B0A-424C-B0D3-59A41FC983AA}"/>
              </a:ext>
            </a:extLst>
          </p:cNvPr>
          <p:cNvSpPr>
            <a:spLocks noGrp="1"/>
          </p:cNvSpPr>
          <p:nvPr>
            <p:ph sz="quarter" idx="1"/>
          </p:nvPr>
        </p:nvSpPr>
        <p:spPr>
          <a:xfrm>
            <a:off x="457200" y="1600200"/>
            <a:ext cx="7467600" cy="5181600"/>
          </a:xfrm>
        </p:spPr>
        <p:txBody>
          <a:bodyPr/>
          <a:lstStyle/>
          <a:p>
            <a:pPr eaLnBrk="1" hangingPunct="1"/>
            <a:r>
              <a:rPr lang="en-GB" altLang="en-US" b="1" dirty="0">
                <a:solidFill>
                  <a:srgbClr val="FF0000"/>
                </a:solidFill>
                <a:highlight>
                  <a:srgbClr val="FFFF00"/>
                </a:highlight>
              </a:rPr>
              <a:t>S. 21(2)(b):</a:t>
            </a:r>
          </a:p>
          <a:p>
            <a:pPr eaLnBrk="1" hangingPunct="1">
              <a:buFont typeface="Wingdings" panose="05000000000000000000" pitchFamily="2" charset="2"/>
              <a:buNone/>
            </a:pPr>
            <a:endParaRPr lang="en-GB" altLang="en-US" b="1" dirty="0"/>
          </a:p>
          <a:p>
            <a:pPr marL="639445" lvl="1" eaLnBrk="1" hangingPunct="1"/>
            <a:r>
              <a:rPr lang="en-GB" altLang="en-US" dirty="0"/>
              <a:t>Non-owner may pass a good title to goods under the following circumstances:</a:t>
            </a:r>
          </a:p>
          <a:p>
            <a:pPr marL="639445" lvl="1" eaLnBrk="1" hangingPunct="1">
              <a:buFont typeface="Wingdings 2" panose="05020102010507070707" pitchFamily="18" charset="2"/>
              <a:buNone/>
            </a:pPr>
            <a:endParaRPr lang="en-GB" altLang="en-US" dirty="0">
              <a:solidFill>
                <a:srgbClr val="FF0000"/>
              </a:solidFill>
            </a:endParaRPr>
          </a:p>
          <a:p>
            <a:pPr lvl="2" indent="-182245" eaLnBrk="1" hangingPunct="1"/>
            <a:r>
              <a:rPr lang="en-GB" altLang="en-US" sz="2000" u="sng" dirty="0">
                <a:solidFill>
                  <a:srgbClr val="FF0000"/>
                </a:solidFill>
              </a:rPr>
              <a:t>Common law powers</a:t>
            </a:r>
            <a:r>
              <a:rPr lang="en-GB" altLang="en-US" sz="2000" dirty="0">
                <a:solidFill>
                  <a:srgbClr val="FF0000"/>
                </a:solidFill>
              </a:rPr>
              <a:t>: </a:t>
            </a:r>
            <a:r>
              <a:rPr lang="en-GB" altLang="en-US" sz="2000" dirty="0"/>
              <a:t>power of sale of a pledgee but if the pledge is made under a regulated agreement the credit institution takes it from the consumer. This can be done under CCA 1974.</a:t>
            </a:r>
          </a:p>
          <a:p>
            <a:pPr lvl="2" indent="-182245" eaLnBrk="1" hangingPunct="1"/>
            <a:r>
              <a:rPr lang="en-GB" altLang="en-US" sz="2000" u="sng" dirty="0">
                <a:solidFill>
                  <a:srgbClr val="FF0000"/>
                </a:solidFill>
              </a:rPr>
              <a:t>Statutory powers:</a:t>
            </a:r>
            <a:r>
              <a:rPr lang="en-GB" altLang="en-US" sz="2000" dirty="0">
                <a:solidFill>
                  <a:srgbClr val="FF0000"/>
                </a:solidFill>
              </a:rPr>
              <a:t> </a:t>
            </a:r>
            <a:r>
              <a:rPr lang="en-GB" altLang="en-US" sz="2000" dirty="0"/>
              <a:t>Power of law enforcement offices to sell goods seized under a writ of execution.</a:t>
            </a:r>
          </a:p>
          <a:p>
            <a:pPr lvl="2" indent="-182245" eaLnBrk="1" hangingPunct="1"/>
            <a:r>
              <a:rPr lang="en-GB" altLang="en-US" sz="2000" u="sng" dirty="0">
                <a:solidFill>
                  <a:srgbClr val="FF0000"/>
                </a:solidFill>
              </a:rPr>
              <a:t>Sale by order of the court</a:t>
            </a:r>
            <a:r>
              <a:rPr lang="en-GB" altLang="en-US" sz="2000" u="sng" dirty="0"/>
              <a:t>:</a:t>
            </a:r>
            <a:r>
              <a:rPr lang="en-GB" altLang="en-US" sz="2000" dirty="0"/>
              <a:t> CPR 1998 - “for any just and sufficient reason it may be desirable to have sold at once”. e.g. Perishable goods, market failure.</a:t>
            </a:r>
            <a:endParaRPr lang="en-GB" altLang="en-US" sz="2000" u="sng" dirty="0"/>
          </a:p>
          <a:p>
            <a:pPr lvl="2" indent="-182245" eaLnBrk="1" hangingPunct="1"/>
            <a:endParaRPr lang="en-GB" altLang="en-US" u="sng" dirty="0"/>
          </a:p>
        </p:txBody>
      </p:sp>
      <p:sp>
        <p:nvSpPr>
          <p:cNvPr id="28676" name="Slide Number Placeholder 3">
            <a:extLst>
              <a:ext uri="{FF2B5EF4-FFF2-40B4-BE49-F238E27FC236}">
                <a16:creationId xmlns:a16="http://schemas.microsoft.com/office/drawing/2014/main" id="{A9BE3CD3-D576-47EF-99C3-8DA5F6AB2A14}"/>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Gothic" panose="020B0502020202020204" pitchFamily="34" charset="0"/>
                <a:cs typeface="Arial" panose="020B0604020202020204" pitchFamily="34" charset="0"/>
              </a:defRPr>
            </a:lvl1pPr>
            <a:lvl2pPr marL="742950" indent="-285750" eaLnBrk="0" hangingPunct="0">
              <a:defRPr>
                <a:solidFill>
                  <a:schemeClr val="tx1"/>
                </a:solidFill>
                <a:latin typeface="Century Gothic" panose="020B0502020202020204" pitchFamily="34" charset="0"/>
                <a:cs typeface="Arial" panose="020B0604020202020204" pitchFamily="34" charset="0"/>
              </a:defRPr>
            </a:lvl2pPr>
            <a:lvl3pPr marL="1143000" indent="-228600" eaLnBrk="0" hangingPunct="0">
              <a:defRPr>
                <a:solidFill>
                  <a:schemeClr val="tx1"/>
                </a:solidFill>
                <a:latin typeface="Century Gothic" panose="020B0502020202020204" pitchFamily="34" charset="0"/>
                <a:cs typeface="Arial" panose="020B0604020202020204" pitchFamily="34" charset="0"/>
              </a:defRPr>
            </a:lvl3pPr>
            <a:lvl4pPr marL="1600200" indent="-228600" eaLnBrk="0" hangingPunct="0">
              <a:defRPr>
                <a:solidFill>
                  <a:schemeClr val="tx1"/>
                </a:solidFill>
                <a:latin typeface="Century Gothic" panose="020B0502020202020204" pitchFamily="34" charset="0"/>
                <a:cs typeface="Arial" panose="020B0604020202020204" pitchFamily="34" charset="0"/>
              </a:defRPr>
            </a:lvl4pPr>
            <a:lvl5pPr marL="2057400" indent="-228600" eaLnBrk="0" hangingPunct="0">
              <a:defRPr>
                <a:solidFill>
                  <a:schemeClr val="tx1"/>
                </a:solidFill>
                <a:latin typeface="Century Gothic" panose="020B0502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cs typeface="Arial" panose="020B0604020202020204" pitchFamily="34" charset="0"/>
              </a:defRPr>
            </a:lvl9pPr>
          </a:lstStyle>
          <a:p>
            <a:pPr eaLnBrk="1" hangingPunct="1"/>
            <a:fld id="{0BDB12F6-7F46-41EE-AE8B-62922C6DAA33}" type="slidenum">
              <a:rPr lang="en-US" altLang="en-US">
                <a:solidFill>
                  <a:srgbClr val="FFFFFF"/>
                </a:solidFill>
              </a:rPr>
              <a:pPr eaLnBrk="1" hangingPunct="1"/>
              <a:t>20</a:t>
            </a:fld>
            <a:endParaRPr lang="en-US" altLang="en-US">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CC7D8-4264-44B2-A316-E0E4769744B8}"/>
              </a:ext>
            </a:extLst>
          </p:cNvPr>
          <p:cNvSpPr>
            <a:spLocks noGrp="1"/>
          </p:cNvSpPr>
          <p:nvPr>
            <p:ph type="title"/>
          </p:nvPr>
        </p:nvSpPr>
        <p:spPr/>
        <p:txBody>
          <a:bodyPr/>
          <a:lstStyle/>
          <a:p>
            <a:pPr>
              <a:defRPr/>
            </a:pPr>
            <a:r>
              <a:rPr lang="en-GB" b="1" i="1" dirty="0">
                <a:solidFill>
                  <a:srgbClr val="FF0000"/>
                </a:solidFill>
              </a:rPr>
              <a:t>... Happy holidays!</a:t>
            </a:r>
          </a:p>
        </p:txBody>
      </p:sp>
      <p:pic>
        <p:nvPicPr>
          <p:cNvPr id="29699" name="Picture 2" descr="C:\Users\Jessica\AppData\Local\Microsoft\Windows\Temporary Internet Files\Content.IE5\DG9G0LPP\MCj04397790000[1].png">
            <a:extLst>
              <a:ext uri="{FF2B5EF4-FFF2-40B4-BE49-F238E27FC236}">
                <a16:creationId xmlns:a16="http://schemas.microsoft.com/office/drawing/2014/main" id="{ACB0700F-BE58-45C9-8810-D42EB059211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362200" y="1439863"/>
            <a:ext cx="4724400" cy="4724400"/>
          </a:xfrm>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72b3ce0b9445f479dcd63669a849f70a">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90c94a25cb4c1a2cd21c07d5eefe7aa2"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DADF0D-AE73-4231-8B53-955310DDB74B}">
  <ds:schemaRefs>
    <ds:schemaRef ds:uri="3cc0b812-7f7d-4aca-acca-000f424f7da7"/>
    <ds:schemaRef ds:uri="http://purl.org/dc/elements/1.1/"/>
    <ds:schemaRef ds:uri="http://schemas.microsoft.com/office/2006/documentManagement/types"/>
    <ds:schemaRef ds:uri="http://purl.org/dc/terms/"/>
    <ds:schemaRef ds:uri="http://purl.org/dc/dcmitype/"/>
    <ds:schemaRef ds:uri="6bff29df-e80b-4a73-953f-e802c634e429"/>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BF82EB53-4B44-4434-B5DE-12405EF2BDFF}">
  <ds:schemaRefs>
    <ds:schemaRef ds:uri="http://schemas.microsoft.com/sharepoint/v3/contenttype/forms"/>
  </ds:schemaRefs>
</ds:datastoreItem>
</file>

<file path=customXml/itemProps3.xml><?xml version="1.0" encoding="utf-8"?>
<ds:datastoreItem xmlns:ds="http://schemas.openxmlformats.org/officeDocument/2006/customXml" ds:itemID="{99F2D6A9-0DD7-4915-B9E3-8873FE2BE1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Oriel</Template>
  <TotalTime>871</TotalTime>
  <Words>2005</Words>
  <Application>Microsoft Office PowerPoint</Application>
  <PresentationFormat>On-screen Show (4:3)</PresentationFormat>
  <Paragraphs>186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 Gothic</vt:lpstr>
      <vt:lpstr>Century Schoolbook</vt:lpstr>
      <vt:lpstr>Wingdings</vt:lpstr>
      <vt:lpstr>Wingdings 2</vt:lpstr>
      <vt:lpstr>Oriel</vt:lpstr>
      <vt:lpstr>Commercial Law (Law 2241)   The nemo dat rule (exceptions 1-3)</vt:lpstr>
      <vt:lpstr>Today </vt:lpstr>
      <vt:lpstr>Nemo Dat NON QUOD HABET</vt:lpstr>
      <vt:lpstr>Nemo Dat</vt:lpstr>
      <vt:lpstr>Nemo Dat</vt:lpstr>
      <vt:lpstr>NEMO DAT</vt:lpstr>
      <vt:lpstr>Consent of the owner</vt:lpstr>
      <vt:lpstr>Consent of the owner</vt:lpstr>
      <vt:lpstr>CONSENT OF THE OWNER</vt:lpstr>
      <vt:lpstr>Estoppel</vt:lpstr>
      <vt:lpstr>Estoppel</vt:lpstr>
      <vt:lpstr>ESTOPPEL</vt:lpstr>
      <vt:lpstr>estoppel</vt:lpstr>
      <vt:lpstr>Estoppel</vt:lpstr>
      <vt:lpstr>Estoppel</vt:lpstr>
      <vt:lpstr>Estoppel</vt:lpstr>
      <vt:lpstr>Estoppel</vt:lpstr>
      <vt:lpstr>estoppel</vt:lpstr>
      <vt:lpstr>ESTOPPEL</vt:lpstr>
      <vt:lpstr>SPECIAL POWERS OF SALE</vt:lpstr>
      <vt:lpstr>... Happy holidays!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AKSELI N.O.</dc:creator>
  <cp:lastModifiedBy>AVERY, RACHEL J.</cp:lastModifiedBy>
  <cp:revision>112</cp:revision>
  <dcterms:created xsi:type="dcterms:W3CDTF">2006-08-16T00:00:00Z</dcterms:created>
  <dcterms:modified xsi:type="dcterms:W3CDTF">2024-09-10T14:09:29Z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