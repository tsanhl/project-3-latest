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4"/>
  </p:sldMasterIdLst>
  <p:notesMasterIdLst>
    <p:notesMasterId r:id="rId35"/>
  </p:notesMasterIdLst>
  <p:sldIdLst>
    <p:sldId id="256" r:id="rId5"/>
    <p:sldId id="257" r:id="rId6"/>
    <p:sldId id="258" r:id="rId7"/>
    <p:sldId id="280" r:id="rId8"/>
    <p:sldId id="271" r:id="rId9"/>
    <p:sldId id="274" r:id="rId10"/>
    <p:sldId id="282" r:id="rId11"/>
    <p:sldId id="272" r:id="rId12"/>
    <p:sldId id="281" r:id="rId13"/>
    <p:sldId id="262" r:id="rId14"/>
    <p:sldId id="259" r:id="rId15"/>
    <p:sldId id="260" r:id="rId16"/>
    <p:sldId id="275" r:id="rId17"/>
    <p:sldId id="263" r:id="rId18"/>
    <p:sldId id="264" r:id="rId19"/>
    <p:sldId id="265" r:id="rId20"/>
    <p:sldId id="270" r:id="rId21"/>
    <p:sldId id="266" r:id="rId22"/>
    <p:sldId id="283" r:id="rId23"/>
    <p:sldId id="277" r:id="rId24"/>
    <p:sldId id="278" r:id="rId25"/>
    <p:sldId id="276" r:id="rId26"/>
    <p:sldId id="268" r:id="rId27"/>
    <p:sldId id="269" r:id="rId28"/>
    <p:sldId id="285" r:id="rId29"/>
    <p:sldId id="286" r:id="rId30"/>
    <p:sldId id="287" r:id="rId31"/>
    <p:sldId id="273" r:id="rId32"/>
    <p:sldId id="284" r:id="rId33"/>
    <p:sldId id="279" r:id="rId3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varScale="1">
        <p:scale>
          <a:sx n="63" d="100"/>
          <a:sy n="63" d="100"/>
        </p:scale>
        <p:origin x="1864"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2F86F8F4-BBAD-4596-9F1B-C5B90EFE9665}" type="datetimeFigureOut">
              <a:rPr lang="en-GB"/>
              <a:pPr>
                <a:defRPr/>
              </a:pPr>
              <a:t>10/09/2024</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E29B499B-30C3-491D-9546-CEA907BEECE2}" type="slidenum">
              <a:rPr lang="en-GB"/>
              <a:pPr>
                <a:defRPr/>
              </a:pPr>
              <a:t>‹#›</a:t>
            </a:fld>
            <a:endParaRPr lang="en-GB"/>
          </a:p>
        </p:txBody>
      </p:sp>
    </p:spTree>
    <p:extLst>
      <p:ext uri="{BB962C8B-B14F-4D97-AF65-F5344CB8AC3E}">
        <p14:creationId xmlns:p14="http://schemas.microsoft.com/office/powerpoint/2010/main" val="13996949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4" name="Rectangle 3"/>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5" name="Rectangle 4"/>
          <p:cNvSpPr>
            <a:spLocks noChangeArrowheads="1"/>
          </p:cNvSpPr>
          <p:nvPr/>
        </p:nvSpPr>
        <p:spPr bwMode="white">
          <a:xfrm>
            <a:off x="8991600" y="3175"/>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6" name="Rectangle 5"/>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7" name="Rectangle 6"/>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0" name="Rectangle 9"/>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1" name="Straight Connector 10"/>
          <p:cNvSpPr>
            <a:spLocks noChangeShapeType="1"/>
          </p:cNvSpPr>
          <p:nvPr/>
        </p:nvSpPr>
        <p:spPr bwMode="auto">
          <a:xfrm>
            <a:off x="155575" y="241935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p>
        </p:txBody>
      </p:sp>
      <p:sp>
        <p:nvSpPr>
          <p:cNvPr id="12" name="Rectangle 11"/>
          <p:cNvSpPr>
            <a:spLocks noChangeArrowheads="1"/>
          </p:cNvSpPr>
          <p:nvPr/>
        </p:nvSpPr>
        <p:spPr bwMode="auto">
          <a:xfrm>
            <a:off x="152400" y="15240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13" name="Oval 12"/>
          <p:cNvSpPr/>
          <p:nvPr/>
        </p:nvSpPr>
        <p:spPr>
          <a:xfrm>
            <a:off x="4267200" y="211455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Oval 13"/>
          <p:cNvSpPr/>
          <p:nvPr/>
        </p:nvSpPr>
        <p:spPr>
          <a:xfrm>
            <a:off x="4362450" y="2209800"/>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685800" y="381000"/>
            <a:ext cx="7772400" cy="1752600"/>
          </a:xfrm>
        </p:spPr>
        <p:txBody>
          <a:bodyPr/>
          <a:lstStyle>
            <a:lvl1pPr>
              <a:defRPr sz="4200">
                <a:solidFill>
                  <a:schemeClr val="accent1"/>
                </a:solidFill>
              </a:defRPr>
            </a:lvl1pPr>
          </a:lstStyle>
          <a:p>
            <a:r>
              <a:rPr lang="en-US"/>
              <a:t>Click to edit Master title style</a:t>
            </a:r>
          </a:p>
        </p:txBody>
      </p:sp>
      <p:sp>
        <p:nvSpPr>
          <p:cNvPr id="15" name="Date Placeholder 27"/>
          <p:cNvSpPr>
            <a:spLocks noGrp="1"/>
          </p:cNvSpPr>
          <p:nvPr>
            <p:ph type="dt" sz="half" idx="10"/>
          </p:nvPr>
        </p:nvSpPr>
        <p:spPr/>
        <p:txBody>
          <a:bodyPr/>
          <a:lstStyle>
            <a:lvl1pPr>
              <a:defRPr/>
            </a:lvl1pPr>
          </a:lstStyle>
          <a:p>
            <a:pPr>
              <a:defRPr/>
            </a:pPr>
            <a:fld id="{DF8B21AD-5D01-4E22-A742-A0A59AEE1AF4}" type="datetime1">
              <a:rPr lang="en-US"/>
              <a:pPr>
                <a:defRPr/>
              </a:pPr>
              <a:t>9/10/2024</a:t>
            </a:fld>
            <a:endParaRPr lang="en-US"/>
          </a:p>
        </p:txBody>
      </p:sp>
      <p:sp>
        <p:nvSpPr>
          <p:cNvPr id="16" name="Footer Placeholder 16"/>
          <p:cNvSpPr>
            <a:spLocks noGrp="1"/>
          </p:cNvSpPr>
          <p:nvPr>
            <p:ph type="ftr" sz="quarter" idx="11"/>
          </p:nvPr>
        </p:nvSpPr>
        <p:spPr/>
        <p:txBody>
          <a:bodyPr/>
          <a:lstStyle>
            <a:lvl1pPr>
              <a:defRPr/>
            </a:lvl1pPr>
          </a:lstStyle>
          <a:p>
            <a:pPr>
              <a:defRPr/>
            </a:pPr>
            <a:endParaRPr lang="en-US"/>
          </a:p>
        </p:txBody>
      </p:sp>
      <p:sp>
        <p:nvSpPr>
          <p:cNvPr id="17" name="Slide Number Placeholder 28"/>
          <p:cNvSpPr>
            <a:spLocks noGrp="1"/>
          </p:cNvSpPr>
          <p:nvPr>
            <p:ph type="sldNum" sz="quarter" idx="12"/>
          </p:nvPr>
        </p:nvSpPr>
        <p:spPr>
          <a:xfrm>
            <a:off x="4343400" y="2198688"/>
            <a:ext cx="457200" cy="441325"/>
          </a:xfrm>
        </p:spPr>
        <p:txBody>
          <a:bodyPr/>
          <a:lstStyle>
            <a:lvl1pPr>
              <a:defRPr>
                <a:solidFill>
                  <a:schemeClr val="accent3">
                    <a:shade val="75000"/>
                  </a:schemeClr>
                </a:solidFill>
              </a:defRPr>
            </a:lvl1pPr>
          </a:lstStyle>
          <a:p>
            <a:pPr>
              <a:defRPr/>
            </a:pPr>
            <a:fld id="{58838C8B-71F4-4702-B087-DB9630BD7AAF}"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lang="en-US"/>
              <a:t>Click to edit Master title style</a:t>
            </a:r>
          </a:p>
        </p:txBody>
      </p:sp>
      <p:sp>
        <p:nvSpPr>
          <p:cNvPr id="8" name="Content Placeholder 7"/>
          <p:cNvSpPr>
            <a:spLocks noGrp="1"/>
          </p:cNvSpPr>
          <p:nvPr>
            <p:ph sz="quarter" idx="1"/>
          </p:nvPr>
        </p:nvSpPr>
        <p:spPr>
          <a:xfrm>
            <a:off x="301752" y="1527048"/>
            <a:ext cx="85039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B34B73E-D49F-4FE2-8D37-8F3EF6488C9E}" type="datetime1">
              <a:rPr lang="en-US"/>
              <a:pPr>
                <a:defRPr/>
              </a:pPr>
              <a:t>9/10/2024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4362450" y="1027113"/>
            <a:ext cx="457200" cy="441325"/>
          </a:xfrm>
        </p:spPr>
        <p:txBody>
          <a:bodyPr/>
          <a:lstStyle>
            <a:lvl1pPr>
              <a:defRPr/>
            </a:lvl1pPr>
          </a:lstStyle>
          <a:p>
            <a:pPr>
              <a:defRPr/>
            </a:pPr>
            <a:fld id="{69DE1868-B615-4049-95A0-7A7C57E7F0E8}"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5" name="Rectangle 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6" name="Rectangle 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7" name="Rectangle 6"/>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8" name="Rectangle 7"/>
          <p:cNvSpPr>
            <a:spLocks noChangeArrowheads="1"/>
          </p:cNvSpPr>
          <p:nvPr/>
        </p:nvSpPr>
        <p:spPr bwMode="white">
          <a:xfrm>
            <a:off x="152400" y="2286000"/>
            <a:ext cx="8832850" cy="3048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9" name="Rectangle 8"/>
          <p:cNvSpPr>
            <a:spLocks noChangeArrowheads="1"/>
          </p:cNvSpPr>
          <p:nvPr/>
        </p:nvSpPr>
        <p:spPr bwMode="auto">
          <a:xfrm>
            <a:off x="155575" y="142875"/>
            <a:ext cx="8832850" cy="2139950"/>
          </a:xfrm>
          <a:prstGeom prst="rect">
            <a:avLst/>
          </a:prstGeom>
          <a:solidFill>
            <a:schemeClr val="accent1"/>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0" name="Rectangle 9"/>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1" name="Rectangle 10"/>
          <p:cNvSpPr>
            <a:spLocks noChangeArrowheads="1"/>
          </p:cNvSpPr>
          <p:nvPr/>
        </p:nvSpPr>
        <p:spPr bwMode="auto">
          <a:xfrm>
            <a:off x="152400" y="15240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12" name="Straight Connector 11"/>
          <p:cNvSpPr>
            <a:spLocks noChangeShapeType="1"/>
          </p:cNvSpPr>
          <p:nvPr/>
        </p:nvSpPr>
        <p:spPr bwMode="auto">
          <a:xfrm>
            <a:off x="152400" y="243840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p>
        </p:txBody>
      </p:sp>
      <p:sp>
        <p:nvSpPr>
          <p:cNvPr id="13" name="Oval 12"/>
          <p:cNvSpPr/>
          <p:nvPr/>
        </p:nvSpPr>
        <p:spPr>
          <a:xfrm>
            <a:off x="4267200" y="211455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Oval 13"/>
          <p:cNvSpPr/>
          <p:nvPr/>
        </p:nvSpPr>
        <p:spPr>
          <a:xfrm>
            <a:off x="4362450" y="2209800"/>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1368426" y="2743200"/>
            <a:ext cx="6480174" cy="1673225"/>
          </a:xfrm>
        </p:spPr>
        <p:txBody>
          <a:bodyPr/>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722313" y="533400"/>
            <a:ext cx="7772400" cy="1524000"/>
          </a:xfrm>
        </p:spPr>
        <p:txBody>
          <a:bodyPr/>
          <a:lstStyle>
            <a:lvl1pPr algn="ctr">
              <a:buNone/>
              <a:defRPr sz="4200" b="0" cap="none" baseline="0">
                <a:solidFill>
                  <a:srgbClr val="FFFFFF"/>
                </a:solidFill>
              </a:defRPr>
            </a:lvl1pPr>
          </a:lstStyle>
          <a:p>
            <a:r>
              <a:rPr lang="en-US"/>
              <a:t>Click to edit Master title style</a:t>
            </a:r>
          </a:p>
        </p:txBody>
      </p:sp>
      <p:sp>
        <p:nvSpPr>
          <p:cNvPr id="15" name="Footer Placeholder 4"/>
          <p:cNvSpPr>
            <a:spLocks noGrp="1"/>
          </p:cNvSpPr>
          <p:nvPr>
            <p:ph type="ftr" sz="quarter" idx="10"/>
          </p:nvPr>
        </p:nvSpPr>
        <p:spPr/>
        <p:txBody>
          <a:bodyPr/>
          <a:lstStyle>
            <a:lvl1pPr>
              <a:defRPr/>
            </a:lvl1pPr>
          </a:lstStyle>
          <a:p>
            <a:pPr>
              <a:defRPr/>
            </a:pPr>
            <a:endParaRPr lang="en-US"/>
          </a:p>
        </p:txBody>
      </p:sp>
      <p:sp>
        <p:nvSpPr>
          <p:cNvPr id="16" name="Date Placeholder 3"/>
          <p:cNvSpPr>
            <a:spLocks noGrp="1"/>
          </p:cNvSpPr>
          <p:nvPr>
            <p:ph type="dt" sz="half" idx="11"/>
          </p:nvPr>
        </p:nvSpPr>
        <p:spPr/>
        <p:txBody>
          <a:bodyPr/>
          <a:lstStyle>
            <a:lvl1pPr>
              <a:defRPr/>
            </a:lvl1pPr>
          </a:lstStyle>
          <a:p>
            <a:pPr>
              <a:defRPr/>
            </a:pPr>
            <a:fld id="{E6D3A1E7-8B51-4428-9F2E-9847404FC02B}" type="datetime1">
              <a:rPr lang="en-US"/>
              <a:pPr>
                <a:defRPr/>
              </a:pPr>
              <a:t>9/10/2024</a:t>
            </a:fld>
            <a:endParaRPr lang="en-US"/>
          </a:p>
        </p:txBody>
      </p:sp>
      <p:sp>
        <p:nvSpPr>
          <p:cNvPr id="17" name="Slide Number Placeholder 5"/>
          <p:cNvSpPr>
            <a:spLocks noGrp="1"/>
          </p:cNvSpPr>
          <p:nvPr>
            <p:ph type="sldNum" sz="quarter" idx="12"/>
          </p:nvPr>
        </p:nvSpPr>
        <p:spPr>
          <a:xfrm>
            <a:off x="4343400" y="2198688"/>
            <a:ext cx="457200" cy="441325"/>
          </a:xfrm>
        </p:spPr>
        <p:txBody>
          <a:bodyPr/>
          <a:lstStyle>
            <a:lvl1pPr>
              <a:defRPr>
                <a:solidFill>
                  <a:schemeClr val="accent3">
                    <a:shade val="75000"/>
                  </a:schemeClr>
                </a:solidFill>
              </a:defRPr>
            </a:lvl1pPr>
          </a:lstStyle>
          <a:p>
            <a:pPr>
              <a:defRPr/>
            </a:pPr>
            <a:fld id="{C8CA0D3E-D4F0-4F4E-81D3-B47209BABF65}"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chemeClr val="bg2"/>
        </a:solidFill>
        <a:effectLst/>
      </p:bgPr>
    </p:bg>
    <p:spTree>
      <p:nvGrpSpPr>
        <p:cNvPr id="1" name=""/>
        <p:cNvGrpSpPr/>
        <p:nvPr/>
      </p:nvGrpSpPr>
      <p:grpSpPr>
        <a:xfrm>
          <a:off x="0" y="0"/>
          <a:ext cx="0" cy="0"/>
          <a:chOff x="0" y="0"/>
          <a:chExt cx="0" cy="0"/>
        </a:xfrm>
      </p:grpSpPr>
      <p:sp>
        <p:nvSpPr>
          <p:cNvPr id="5" name="Straight Connector 4"/>
          <p:cNvSpPr>
            <a:spLocks noChangeShapeType="1"/>
          </p:cNvSpPr>
          <p:nvPr/>
        </p:nvSpPr>
        <p:spPr bwMode="auto">
          <a:xfrm flipV="1">
            <a:off x="4562475" y="1576388"/>
            <a:ext cx="9525" cy="4818062"/>
          </a:xfrm>
          <a:prstGeom prst="line">
            <a:avLst/>
          </a:prstGeom>
          <a:noFill/>
          <a:ln w="9525" cap="flat" cmpd="sng" algn="ctr">
            <a:solidFill>
              <a:schemeClr val="tx2"/>
            </a:solidFill>
            <a:prstDash val="sysDash"/>
            <a:round/>
            <a:headEnd type="none" w="med" len="med"/>
            <a:tailEnd type="none" w="med" len="med"/>
          </a:ln>
          <a:effectLst/>
        </p:spPr>
        <p:txBody>
          <a:bodyPr wrap="none" anchor="ctr"/>
          <a:lstStyle/>
          <a:p>
            <a:pPr>
              <a:defRPr/>
            </a:pPr>
            <a:endParaRPr lang="en-US"/>
          </a:p>
        </p:txBody>
      </p:sp>
      <p:sp>
        <p:nvSpPr>
          <p:cNvPr id="2" name="Title 1"/>
          <p:cNvSpPr>
            <a:spLocks noGrp="1"/>
          </p:cNvSpPr>
          <p:nvPr>
            <p:ph type="title"/>
          </p:nvPr>
        </p:nvSpPr>
        <p:spPr>
          <a:xfrm>
            <a:off x="301752" y="228600"/>
            <a:ext cx="8534400" cy="758952"/>
          </a:xfrm>
        </p:spPr>
        <p:txBody>
          <a:bodyPr/>
          <a:lstStyle/>
          <a:p>
            <a:r>
              <a:rPr lang="en-US"/>
              <a:t>Click to edit Master title style</a:t>
            </a:r>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p:cNvSpPr>
            <a:spLocks noGrp="1"/>
          </p:cNvSpPr>
          <p:nvPr>
            <p:ph type="dt" sz="half" idx="10"/>
          </p:nvPr>
        </p:nvSpPr>
        <p:spPr>
          <a:xfrm>
            <a:off x="5791200" y="6410325"/>
            <a:ext cx="3044825" cy="365125"/>
          </a:xfrm>
        </p:spPr>
        <p:txBody>
          <a:bodyPr/>
          <a:lstStyle>
            <a:lvl1pPr>
              <a:defRPr/>
            </a:lvl1pPr>
          </a:lstStyle>
          <a:p>
            <a:pPr>
              <a:defRPr/>
            </a:pPr>
            <a:fld id="{A3BCA546-2B64-4F4E-8700-3C22EF77CD3F}" type="datetime1">
              <a:rPr lang="en-US"/>
              <a:pPr>
                <a:defRPr/>
              </a:pPr>
              <a:t>9/10/2024</a:t>
            </a:fld>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6A3F799A-32C5-4627-B789-ECCA2D5D147D}"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solidFill>
          <a:schemeClr val="bg2"/>
        </a:solidFill>
        <a:effectLst/>
      </p:bgPr>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flipV="1">
            <a:off x="4572000" y="2200275"/>
            <a:ext cx="0" cy="4187825"/>
          </a:xfrm>
          <a:prstGeom prst="line">
            <a:avLst/>
          </a:prstGeom>
          <a:noFill/>
          <a:ln w="9525" cap="flat" cmpd="sng" algn="ctr">
            <a:solidFill>
              <a:schemeClr val="tx2"/>
            </a:solidFill>
            <a:prstDash val="sysDash"/>
            <a:round/>
            <a:headEnd type="none" w="med" len="med"/>
            <a:tailEnd type="none" w="med" len="med"/>
          </a:ln>
          <a:effectLst/>
        </p:spPr>
        <p:txBody>
          <a:bodyPr wrap="none" anchor="ctr"/>
          <a:lstStyle/>
          <a:p>
            <a:pPr>
              <a:defRPr/>
            </a:pPr>
            <a:endParaRPr lang="en-US"/>
          </a:p>
        </p:txBody>
      </p:sp>
      <p:sp>
        <p:nvSpPr>
          <p:cNvPr id="8" name="Rectangle 7"/>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9" name="Rectangle 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1" name="Rectangle 10"/>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2" name="Rectangle 11"/>
          <p:cNvSpPr/>
          <p:nvPr/>
        </p:nvSpPr>
        <p:spPr>
          <a:xfrm>
            <a:off x="152400" y="1371600"/>
            <a:ext cx="8832850"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3" name="Rectangle 12"/>
          <p:cNvSpPr>
            <a:spLocks noChangeArrowheads="1"/>
          </p:cNvSpPr>
          <p:nvPr/>
        </p:nvSpPr>
        <p:spPr bwMode="auto">
          <a:xfrm>
            <a:off x="146050" y="6391275"/>
            <a:ext cx="8832850" cy="31115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4" name="Straight Connector 13"/>
          <p:cNvSpPr>
            <a:spLocks noChangeShapeType="1"/>
          </p:cNvSpPr>
          <p:nvPr/>
        </p:nvSpPr>
        <p:spPr bwMode="auto">
          <a:xfrm>
            <a:off x="152400" y="1279525"/>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p>
        </p:txBody>
      </p:sp>
      <p:sp>
        <p:nvSpPr>
          <p:cNvPr id="15" name="Rectangle 14"/>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16" name="Oval 15"/>
          <p:cNvSpPr/>
          <p:nvPr/>
        </p:nvSpPr>
        <p:spPr>
          <a:xfrm>
            <a:off x="4267200" y="955675"/>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7" name="Oval 16"/>
          <p:cNvSpPr/>
          <p:nvPr/>
        </p:nvSpPr>
        <p:spPr>
          <a:xfrm>
            <a:off x="4362450" y="1050925"/>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24" name="Content Placeholder 23"/>
          <p:cNvSpPr>
            <a:spLocks noGrp="1"/>
          </p:cNvSpPr>
          <p:nvPr>
            <p:ph sz="quarter" idx="2"/>
          </p:nvPr>
        </p:nvSpPr>
        <p:spPr>
          <a:xfrm>
            <a:off x="301752" y="2471383"/>
            <a:ext cx="4041648" cy="38184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p:cNvSpPr>
            <a:spLocks noGrp="1"/>
          </p:cNvSpPr>
          <p:nvPr>
            <p:ph sz="quarter" idx="4"/>
          </p:nvPr>
        </p:nvSpPr>
        <p:spPr>
          <a:xfrm>
            <a:off x="4800600" y="2471383"/>
            <a:ext cx="4038600" cy="3822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22"/>
          <p:cNvSpPr>
            <a:spLocks noGrp="1"/>
          </p:cNvSpPr>
          <p:nvPr>
            <p:ph type="title"/>
          </p:nvPr>
        </p:nvSpPr>
        <p:spPr/>
        <p:txBody>
          <a:bodyPr rtlCol="0"/>
          <a:lstStyle/>
          <a:p>
            <a:r>
              <a:rPr lang="en-US"/>
              <a:t>Click to edit Master title style</a:t>
            </a:r>
          </a:p>
        </p:txBody>
      </p:sp>
      <p:sp>
        <p:nvSpPr>
          <p:cNvPr id="18" name="Date Placeholder 6"/>
          <p:cNvSpPr>
            <a:spLocks noGrp="1"/>
          </p:cNvSpPr>
          <p:nvPr>
            <p:ph type="dt" sz="half" idx="10"/>
          </p:nvPr>
        </p:nvSpPr>
        <p:spPr/>
        <p:txBody>
          <a:bodyPr/>
          <a:lstStyle>
            <a:lvl1pPr>
              <a:defRPr/>
            </a:lvl1pPr>
          </a:lstStyle>
          <a:p>
            <a:pPr>
              <a:defRPr/>
            </a:pPr>
            <a:fld id="{52C188F8-3AF7-49F2-80C0-4C54F01A6616}" type="datetime1">
              <a:rPr lang="en-US"/>
              <a:pPr>
                <a:defRPr/>
              </a:pPr>
              <a:t>9/10/2024</a:t>
            </a:fld>
            <a:endParaRPr lang="en-US"/>
          </a:p>
        </p:txBody>
      </p:sp>
      <p:sp>
        <p:nvSpPr>
          <p:cNvPr id="19" name="Footer Placeholder 7"/>
          <p:cNvSpPr>
            <a:spLocks noGrp="1"/>
          </p:cNvSpPr>
          <p:nvPr>
            <p:ph type="ftr" sz="quarter" idx="11"/>
          </p:nvPr>
        </p:nvSpPr>
        <p:spPr>
          <a:xfrm>
            <a:off x="304800" y="6410325"/>
            <a:ext cx="3581400" cy="365125"/>
          </a:xfrm>
        </p:spPr>
        <p:txBody>
          <a:bodyPr/>
          <a:lstStyle>
            <a:lvl1pPr>
              <a:defRPr/>
            </a:lvl1pPr>
          </a:lstStyle>
          <a:p>
            <a:pPr>
              <a:defRPr/>
            </a:pPr>
            <a:endParaRPr lang="en-US"/>
          </a:p>
        </p:txBody>
      </p:sp>
      <p:sp>
        <p:nvSpPr>
          <p:cNvPr id="20" name="Slide Number Placeholder 8"/>
          <p:cNvSpPr>
            <a:spLocks noGrp="1"/>
          </p:cNvSpPr>
          <p:nvPr>
            <p:ph type="sldNum" sz="quarter" idx="12"/>
          </p:nvPr>
        </p:nvSpPr>
        <p:spPr>
          <a:xfrm>
            <a:off x="4343400" y="1042988"/>
            <a:ext cx="457200" cy="441325"/>
          </a:xfrm>
        </p:spPr>
        <p:txBody>
          <a:bodyPr/>
          <a:lstStyle>
            <a:lvl1pPr algn="ctr">
              <a:defRPr/>
            </a:lvl1pPr>
          </a:lstStyle>
          <a:p>
            <a:pPr>
              <a:defRPr/>
            </a:pPr>
            <a:fld id="{C83CE7AB-531A-4EDA-A833-9FA1866490A4}"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fld id="{B9831D88-FD7B-4858-AA5B-B12BEBB57342}" type="datetime1">
              <a:rPr lang="en-US"/>
              <a:pPr>
                <a:defRPr/>
              </a:pPr>
              <a:t>9/10/2024</a:t>
            </a:fld>
            <a:endParaRPr lang="en-US"/>
          </a:p>
        </p:txBody>
      </p:sp>
      <p:sp>
        <p:nvSpPr>
          <p:cNvPr id="4" name="Footer Placeholder 3"/>
          <p:cNvSpPr>
            <a:spLocks noGrp="1"/>
          </p:cNvSpPr>
          <p:nvPr>
            <p:ph type="ftr" sz="quarter" idx="11"/>
          </p:nvPr>
        </p:nvSpPr>
        <p:spPr/>
        <p:txBody>
          <a:bodyPr/>
          <a:lstStyle>
            <a:lvl1pPr>
              <a:defRPr/>
            </a:lvl1pPr>
          </a:lstStyle>
          <a:p>
            <a:pPr>
              <a:defRPr/>
            </a:pPr>
            <a:endParaRPr lang="en-US"/>
          </a:p>
        </p:txBody>
      </p:sp>
      <p:sp>
        <p:nvSpPr>
          <p:cNvPr id="5" name="Slide Number Placeholder 4"/>
          <p:cNvSpPr>
            <a:spLocks noGrp="1"/>
          </p:cNvSpPr>
          <p:nvPr>
            <p:ph type="sldNum" sz="quarter" idx="12"/>
          </p:nvPr>
        </p:nvSpPr>
        <p:spPr>
          <a:xfrm>
            <a:off x="4343400" y="1036638"/>
            <a:ext cx="457200" cy="441325"/>
          </a:xfrm>
        </p:spPr>
        <p:txBody>
          <a:bodyPr/>
          <a:lstStyle>
            <a:lvl1pPr>
              <a:defRPr/>
            </a:lvl1pPr>
          </a:lstStyle>
          <a:p>
            <a:pPr>
              <a:defRPr/>
            </a:pPr>
            <a:fld id="{62D8A537-A7BC-4B36-B186-0290DD2B96C5}"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3" name="Rectangle 2"/>
          <p:cNvSpPr>
            <a:spLocks noChangeArrowheads="1"/>
          </p:cNvSpPr>
          <p:nvPr/>
        </p:nvSpPr>
        <p:spPr bwMode="white">
          <a:xfrm>
            <a:off x="0" y="0"/>
            <a:ext cx="9144000" cy="155575"/>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4" name="Rectangle 3"/>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5" name="Rectangle 4"/>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6" name="Rectangle 5"/>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7" name="Rectangle 6"/>
          <p:cNvSpPr>
            <a:spLocks noChangeArrowheads="1"/>
          </p:cNvSpPr>
          <p:nvPr/>
        </p:nvSpPr>
        <p:spPr bwMode="auto">
          <a:xfrm>
            <a:off x="152400" y="15875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8" name="Date Placeholder 1"/>
          <p:cNvSpPr>
            <a:spLocks noGrp="1"/>
          </p:cNvSpPr>
          <p:nvPr>
            <p:ph type="dt" sz="half" idx="10"/>
          </p:nvPr>
        </p:nvSpPr>
        <p:spPr/>
        <p:txBody>
          <a:bodyPr/>
          <a:lstStyle>
            <a:lvl1pPr>
              <a:defRPr/>
            </a:lvl1pPr>
          </a:lstStyle>
          <a:p>
            <a:pPr>
              <a:defRPr/>
            </a:pPr>
            <a:fld id="{0FD70030-2871-45DD-B1AB-F132BB3ACD07}" type="datetime1">
              <a:rPr lang="en-US"/>
              <a:pPr>
                <a:defRPr/>
              </a:pPr>
              <a:t>9/10/2024</a:t>
            </a:fld>
            <a:endParaRPr lang="en-US"/>
          </a:p>
        </p:txBody>
      </p:sp>
      <p:sp>
        <p:nvSpPr>
          <p:cNvPr id="9" name="Footer Placeholder 2"/>
          <p:cNvSpPr>
            <a:spLocks noGrp="1"/>
          </p:cNvSpPr>
          <p:nvPr>
            <p:ph type="ftr" sz="quarter" idx="11"/>
          </p:nvPr>
        </p:nvSpPr>
        <p:spPr/>
        <p:txBody>
          <a:bodyPr/>
          <a:lstStyle>
            <a:lvl1pPr>
              <a:defRPr/>
            </a:lvl1pPr>
          </a:lstStyle>
          <a:p>
            <a:pPr>
              <a:defRPr/>
            </a:pPr>
            <a:endParaRPr lang="en-US"/>
          </a:p>
        </p:txBody>
      </p:sp>
      <p:sp>
        <p:nvSpPr>
          <p:cNvPr id="10" name="Slide Number Placeholder 3"/>
          <p:cNvSpPr>
            <a:spLocks noGrp="1"/>
          </p:cNvSpPr>
          <p:nvPr>
            <p:ph type="sldNum" sz="quarter" idx="12"/>
          </p:nvPr>
        </p:nvSpPr>
        <p:spPr>
          <a:xfrm>
            <a:off x="4267200" y="6324600"/>
            <a:ext cx="609600" cy="441325"/>
          </a:xfrm>
        </p:spPr>
        <p:txBody>
          <a:bodyPr/>
          <a:lstStyle>
            <a:lvl1pPr>
              <a:defRPr>
                <a:solidFill>
                  <a:srgbClr val="FFFFFF"/>
                </a:solidFill>
              </a:defRPr>
            </a:lvl1pPr>
          </a:lstStyle>
          <a:p>
            <a:pPr>
              <a:defRPr/>
            </a:pPr>
            <a:fld id="{1806D9DA-B3B5-4E25-8A18-4E18F0CC2C2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p:cNvSpPr>
            <a:spLocks noChangeArrowheads="1"/>
          </p:cNvSpPr>
          <p:nvPr/>
        </p:nvSpPr>
        <p:spPr bwMode="auto">
          <a:xfrm>
            <a:off x="152400" y="152400"/>
            <a:ext cx="8832850" cy="30480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6" name="Rectangle 5"/>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7" name="Rectangle 6"/>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8" name="Rectangle 7"/>
          <p:cNvSpPr>
            <a:spLocks noChangeArrowheads="1"/>
          </p:cNvSpPr>
          <p:nvPr/>
        </p:nvSpPr>
        <p:spPr bwMode="white">
          <a:xfrm>
            <a:off x="0" y="0"/>
            <a:ext cx="9144000" cy="119063"/>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0" name="Rectangle 9"/>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1" name="Rectangle 10"/>
          <p:cNvSpPr>
            <a:spLocks noChangeArrowheads="1"/>
          </p:cNvSpPr>
          <p:nvPr/>
        </p:nvSpPr>
        <p:spPr bwMode="auto">
          <a:xfrm>
            <a:off x="152400" y="15240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12" name="Straight Connector 11"/>
          <p:cNvSpPr>
            <a:spLocks noChangeShapeType="1"/>
          </p:cNvSpPr>
          <p:nvPr/>
        </p:nvSpPr>
        <p:spPr bwMode="auto">
          <a:xfrm>
            <a:off x="152400" y="53340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p>
        </p:txBody>
      </p:sp>
      <p:sp>
        <p:nvSpPr>
          <p:cNvPr id="13" name="Oval 12"/>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Oval 13"/>
          <p:cNvSpPr/>
          <p:nvPr/>
        </p:nvSpPr>
        <p:spPr>
          <a:xfrm>
            <a:off x="1390650" y="323850"/>
            <a:ext cx="41910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5" name="Rectangle 14"/>
          <p:cNvSpPr>
            <a:spLocks noChangeArrowheads="1"/>
          </p:cNvSpPr>
          <p:nvPr/>
        </p:nvSpPr>
        <p:spPr bwMode="auto">
          <a:xfrm>
            <a:off x="149225" y="6388100"/>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2" name="Title 1"/>
          <p:cNvSpPr>
            <a:spLocks noGrp="1"/>
          </p:cNvSpPr>
          <p:nvPr>
            <p:ph type="title"/>
          </p:nvPr>
        </p:nvSpPr>
        <p:spPr>
          <a:xfrm>
            <a:off x="381000" y="914400"/>
            <a:ext cx="2362200" cy="990600"/>
          </a:xfrm>
        </p:spPr>
        <p:txBody>
          <a:bodyPr>
            <a:noAutofit/>
          </a:bodyPr>
          <a:lstStyle>
            <a:lvl1pPr algn="l">
              <a:buNone/>
              <a:defRPr sz="2200" b="1">
                <a:solidFill>
                  <a:srgbClr val="FFFFFF"/>
                </a:solidFill>
              </a:defRPr>
            </a:lvl1pPr>
          </a:lstStyle>
          <a:p>
            <a:r>
              <a:rPr lang="en-US"/>
              <a:t>Click to edit Master title style</a:t>
            </a:r>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20" name="Content Placeholder 19"/>
          <p:cNvSpPr>
            <a:spLocks noGrp="1"/>
          </p:cNvSpPr>
          <p:nvPr>
            <p:ph sz="quarter" idx="1"/>
          </p:nvPr>
        </p:nvSpPr>
        <p:spPr>
          <a:xfrm>
            <a:off x="3124200" y="685800"/>
            <a:ext cx="56388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Slide Number Placeholder 6"/>
          <p:cNvSpPr>
            <a:spLocks noGrp="1"/>
          </p:cNvSpPr>
          <p:nvPr>
            <p:ph type="sldNum" sz="quarter" idx="10"/>
          </p:nvPr>
        </p:nvSpPr>
        <p:spPr>
          <a:xfrm>
            <a:off x="1371600" y="312738"/>
            <a:ext cx="457200" cy="441325"/>
          </a:xfrm>
        </p:spPr>
        <p:txBody>
          <a:bodyPr/>
          <a:lstStyle>
            <a:lvl1pPr>
              <a:defRPr>
                <a:solidFill>
                  <a:schemeClr val="accent3">
                    <a:shade val="75000"/>
                  </a:schemeClr>
                </a:solidFill>
              </a:defRPr>
            </a:lvl1pPr>
          </a:lstStyle>
          <a:p>
            <a:pPr>
              <a:defRPr/>
            </a:pPr>
            <a:fld id="{CEABF33B-CD36-4446-A02A-6B81FBD01737}" type="slidenum">
              <a:rPr lang="en-US"/>
              <a:pPr>
                <a:defRPr/>
              </a:pPr>
              <a:t>‹#›</a:t>
            </a:fld>
            <a:endParaRPr lang="en-US"/>
          </a:p>
        </p:txBody>
      </p:sp>
      <p:sp>
        <p:nvSpPr>
          <p:cNvPr id="17" name="Date Placeholder 4"/>
          <p:cNvSpPr>
            <a:spLocks noGrp="1"/>
          </p:cNvSpPr>
          <p:nvPr>
            <p:ph type="dt" sz="half" idx="11"/>
          </p:nvPr>
        </p:nvSpPr>
        <p:spPr/>
        <p:txBody>
          <a:bodyPr/>
          <a:lstStyle>
            <a:lvl1pPr>
              <a:defRPr/>
            </a:lvl1pPr>
          </a:lstStyle>
          <a:p>
            <a:pPr>
              <a:defRPr/>
            </a:pPr>
            <a:fld id="{C73FAF8B-7884-42D7-A539-D2DE26D8317D}" type="datetime1">
              <a:rPr lang="en-US"/>
              <a:pPr>
                <a:defRPr/>
              </a:pPr>
              <a:t>9/10/2024</a:t>
            </a:fld>
            <a:endParaRPr lang="en-US"/>
          </a:p>
        </p:txBody>
      </p:sp>
      <p:sp>
        <p:nvSpPr>
          <p:cNvPr id="18" name="Footer Placeholder 5"/>
          <p:cNvSpPr>
            <a:spLocks noGrp="1"/>
          </p:cNvSpPr>
          <p:nvPr>
            <p:ph type="ftr" sz="quarter" idx="12"/>
          </p:nvPr>
        </p:nvSpPr>
        <p:spPr>
          <a:xfrm>
            <a:off x="301625" y="6410325"/>
            <a:ext cx="3382963" cy="366713"/>
          </a:xfrm>
        </p:spPr>
        <p:txBody>
          <a:bodyPr/>
          <a:lstStyle>
            <a:lvl1pPr>
              <a:defRPr/>
            </a:lvl1pPr>
          </a:lstStyle>
          <a:p>
            <a:pPr>
              <a:defRPr/>
            </a:pP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152400" y="53340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p>
        </p:txBody>
      </p:sp>
      <p:sp>
        <p:nvSpPr>
          <p:cNvPr id="6" name="Rectangle 5"/>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7" name="Rectangle 6"/>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8" name="Rectangle 7"/>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dirty="0"/>
          </a:p>
        </p:txBody>
      </p:sp>
      <p:sp>
        <p:nvSpPr>
          <p:cNvPr id="10" name="Rectangle 9"/>
          <p:cNvSpPr>
            <a:spLocks noChangeArrowheads="1"/>
          </p:cNvSpPr>
          <p:nvPr/>
        </p:nvSpPr>
        <p:spPr bwMode="auto">
          <a:xfrm>
            <a:off x="152400" y="152400"/>
            <a:ext cx="8832850" cy="301625"/>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1" name="Rectangle 10"/>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2" name="Rectangle 11"/>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13" name="Oval 12"/>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Oval 13"/>
          <p:cNvSpPr/>
          <p:nvPr/>
        </p:nvSpPr>
        <p:spPr>
          <a:xfrm>
            <a:off x="1390650" y="323850"/>
            <a:ext cx="41910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5" name="Rectangle 14"/>
          <p:cNvSpPr>
            <a:spLocks noChangeArrowheads="1"/>
          </p:cNvSpPr>
          <p:nvPr/>
        </p:nvSpPr>
        <p:spPr bwMode="auto">
          <a:xfrm>
            <a:off x="149225" y="6388100"/>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lang="en-US"/>
              <a:t>Click to edit Master title style</a:t>
            </a:r>
          </a:p>
        </p:txBody>
      </p:sp>
      <p:sp>
        <p:nvSpPr>
          <p:cNvPr id="3" name="Picture Placeholder 2"/>
          <p:cNvSpPr>
            <a:spLocks noGrp="1"/>
          </p:cNvSpPr>
          <p:nvPr>
            <p:ph type="pic" idx="1"/>
          </p:nvPr>
        </p:nvSpPr>
        <p:spPr>
          <a:xfrm>
            <a:off x="3000375" y="609600"/>
            <a:ext cx="5867400" cy="4267200"/>
          </a:xfrm>
        </p:spPr>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a:r>
              <a:rPr lang="en-US"/>
              <a:t>Click to edit Master text styles</a:t>
            </a:r>
          </a:p>
        </p:txBody>
      </p:sp>
      <p:sp>
        <p:nvSpPr>
          <p:cNvPr id="16" name="Slide Number Placeholder 6"/>
          <p:cNvSpPr>
            <a:spLocks noGrp="1"/>
          </p:cNvSpPr>
          <p:nvPr>
            <p:ph type="sldNum" sz="quarter" idx="10"/>
          </p:nvPr>
        </p:nvSpPr>
        <p:spPr>
          <a:xfrm>
            <a:off x="1371600" y="312738"/>
            <a:ext cx="457200" cy="441325"/>
          </a:xfrm>
        </p:spPr>
        <p:txBody>
          <a:bodyPr/>
          <a:lstStyle>
            <a:lvl1pPr>
              <a:defRPr/>
            </a:lvl1pPr>
          </a:lstStyle>
          <a:p>
            <a:pPr>
              <a:defRPr/>
            </a:pPr>
            <a:fld id="{FA899233-64F1-48F7-B4A9-4547CE8C25A3}" type="slidenum">
              <a:rPr lang="en-US"/>
              <a:pPr>
                <a:defRPr/>
              </a:pPr>
              <a:t>‹#›</a:t>
            </a:fld>
            <a:endParaRPr lang="en-US"/>
          </a:p>
        </p:txBody>
      </p:sp>
      <p:sp>
        <p:nvSpPr>
          <p:cNvPr id="17" name="Date Placeholder 4"/>
          <p:cNvSpPr>
            <a:spLocks noGrp="1"/>
          </p:cNvSpPr>
          <p:nvPr>
            <p:ph type="dt" sz="half" idx="11"/>
          </p:nvPr>
        </p:nvSpPr>
        <p:spPr>
          <a:xfrm>
            <a:off x="5788025" y="6405563"/>
            <a:ext cx="3044825" cy="365125"/>
          </a:xfrm>
        </p:spPr>
        <p:txBody>
          <a:bodyPr/>
          <a:lstStyle>
            <a:lvl1pPr>
              <a:defRPr/>
            </a:lvl1pPr>
          </a:lstStyle>
          <a:p>
            <a:pPr>
              <a:defRPr/>
            </a:pPr>
            <a:fld id="{978353EF-0018-40CE-9D3C-EBF3EEB27B9F}" type="datetime1">
              <a:rPr lang="en-US"/>
              <a:pPr>
                <a:defRPr/>
              </a:pPr>
              <a:t>9/10/2024</a:t>
            </a:fld>
            <a:endParaRPr lang="en-US"/>
          </a:p>
        </p:txBody>
      </p:sp>
      <p:sp>
        <p:nvSpPr>
          <p:cNvPr id="18" name="Footer Placeholder 5"/>
          <p:cNvSpPr>
            <a:spLocks noGrp="1"/>
          </p:cNvSpPr>
          <p:nvPr>
            <p:ph type="ftr" sz="quarter" idx="12"/>
          </p:nvPr>
        </p:nvSpPr>
        <p:spPr>
          <a:xfrm>
            <a:off x="301625" y="6410325"/>
            <a:ext cx="3584575" cy="366713"/>
          </a:xfrm>
        </p:spPr>
        <p:txBody>
          <a:bodyPr/>
          <a:lstStyle>
            <a:lvl1pPr>
              <a:defRPr/>
            </a:lvl1pPr>
          </a:lstStyle>
          <a:p>
            <a:pPr>
              <a:defRPr/>
            </a:pP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EF6A326-38B3-4168-B52D-88F8F262DECE}" type="datetime1">
              <a:rPr lang="en-US"/>
              <a:pPr>
                <a:defRPr/>
              </a:pPr>
              <a:t>9/10/2024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487B777-1626-46F6-AA77-879C335E94F8}"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Pr>
        <a:solidFill>
          <a:schemeClr val="bg2"/>
        </a:solidFill>
        <a:effectLst/>
      </p:bgPr>
    </p:bg>
    <p:spTree>
      <p:nvGrpSpPr>
        <p:cNvPr id="1" name=""/>
        <p:cNvGrpSpPr/>
        <p:nvPr/>
      </p:nvGrpSpPr>
      <p:grpSpPr>
        <a:xfrm>
          <a:off x="0" y="0"/>
          <a:ext cx="0" cy="0"/>
          <a:chOff x="0" y="0"/>
          <a:chExt cx="0" cy="0"/>
        </a:xfrm>
      </p:grpSpPr>
      <p:sp>
        <p:nvSpPr>
          <p:cNvPr id="4" name="Rectangle 3"/>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5" name="Rectangle 4"/>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6" name="Rectangle 5"/>
          <p:cNvSpPr>
            <a:spLocks noChangeArrowheads="1"/>
          </p:cNvSpPr>
          <p:nvPr/>
        </p:nvSpPr>
        <p:spPr bwMode="white">
          <a:xfrm>
            <a:off x="0" y="0"/>
            <a:ext cx="9144000" cy="155575"/>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7" name="Rectangle 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8" name="Rectangle 7"/>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9" name="Rectangle 8"/>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10" name="Straight Connector 9"/>
          <p:cNvSpPr>
            <a:spLocks noChangeShapeType="1"/>
          </p:cNvSpPr>
          <p:nvPr/>
        </p:nvSpPr>
        <p:spPr bwMode="auto">
          <a:xfrm rot="5400000">
            <a:off x="4021137" y="3278188"/>
            <a:ext cx="6245225"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p>
        </p:txBody>
      </p:sp>
      <p:sp>
        <p:nvSpPr>
          <p:cNvPr id="11" name="Oval 10"/>
          <p:cNvSpPr/>
          <p:nvPr/>
        </p:nvSpPr>
        <p:spPr>
          <a:xfrm>
            <a:off x="6838950"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2" name="Oval 11"/>
          <p:cNvSpPr/>
          <p:nvPr/>
        </p:nvSpPr>
        <p:spPr>
          <a:xfrm>
            <a:off x="6934200" y="3021013"/>
            <a:ext cx="420688"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a:off x="7391400" y="304801"/>
            <a:ext cx="1447800" cy="5851525"/>
          </a:xfrm>
        </p:spPr>
        <p:txBody>
          <a:bodyPr vert="eaVert"/>
          <a:lstStyle/>
          <a:p>
            <a:r>
              <a:rPr lang="en-US"/>
              <a:t>Click to edit Master title style</a:t>
            </a:r>
          </a:p>
        </p:txBody>
      </p:sp>
      <p:sp>
        <p:nvSpPr>
          <p:cNvPr id="13" name="Slide Number Placeholder 5"/>
          <p:cNvSpPr>
            <a:spLocks noGrp="1"/>
          </p:cNvSpPr>
          <p:nvPr>
            <p:ph type="sldNum" sz="quarter" idx="10"/>
          </p:nvPr>
        </p:nvSpPr>
        <p:spPr>
          <a:xfrm>
            <a:off x="6915150" y="3009900"/>
            <a:ext cx="457200" cy="441325"/>
          </a:xfrm>
        </p:spPr>
        <p:txBody>
          <a:bodyPr/>
          <a:lstStyle>
            <a:lvl1pPr>
              <a:defRPr/>
            </a:lvl1pPr>
          </a:lstStyle>
          <a:p>
            <a:pPr>
              <a:defRPr/>
            </a:pPr>
            <a:fld id="{B9757CE2-90CB-4644-88FA-1E713AE64A60}" type="slidenum">
              <a:rPr lang="en-US"/>
              <a:pPr>
                <a:defRPr/>
              </a:pPr>
              <a:t>‹#›</a:t>
            </a:fld>
            <a:endParaRPr lang="en-US"/>
          </a:p>
        </p:txBody>
      </p:sp>
      <p:sp>
        <p:nvSpPr>
          <p:cNvPr id="14" name="Date Placeholder 3"/>
          <p:cNvSpPr>
            <a:spLocks noGrp="1"/>
          </p:cNvSpPr>
          <p:nvPr>
            <p:ph type="dt" sz="half" idx="11"/>
          </p:nvPr>
        </p:nvSpPr>
        <p:spPr/>
        <p:txBody>
          <a:bodyPr/>
          <a:lstStyle>
            <a:lvl1pPr>
              <a:defRPr/>
            </a:lvl1pPr>
          </a:lstStyle>
          <a:p>
            <a:pPr>
              <a:defRPr/>
            </a:pPr>
            <a:fld id="{0DDF3072-911E-4511-B1E9-2917AFA3DF3A}" type="datetime1">
              <a:rPr lang="en-US"/>
              <a:pPr>
                <a:defRPr/>
              </a:pPr>
              <a:t>9/10/2024</a:t>
            </a:fld>
            <a:endParaRPr lang="en-US"/>
          </a:p>
        </p:txBody>
      </p:sp>
      <p:sp>
        <p:nvSpPr>
          <p:cNvPr id="15" name="Footer Placeholder 4"/>
          <p:cNvSpPr>
            <a:spLocks noGrp="1"/>
          </p:cNvSpPr>
          <p:nvPr>
            <p:ph type="ftr" sz="quarter" idx="12"/>
          </p:nvPr>
        </p:nvSpPr>
        <p:spPr/>
        <p:txBody>
          <a:bodyPr/>
          <a:lstStyle>
            <a:lvl1pPr>
              <a:defRPr/>
            </a:lvl1pPr>
          </a:lstStyle>
          <a:p>
            <a:pPr>
              <a:defRPr/>
            </a:pPr>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6" name="Rectangle 15"/>
          <p:cNvSpPr>
            <a:spLocks noChangeArrowheads="1"/>
          </p:cNvSpPr>
          <p:nvPr/>
        </p:nvSpPr>
        <p:spPr bwMode="white">
          <a:xfrm>
            <a:off x="0" y="0"/>
            <a:ext cx="9144000" cy="1393825"/>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9" name="Rectangle 8"/>
          <p:cNvSpPr>
            <a:spLocks noChangeArrowheads="1"/>
          </p:cNvSpPr>
          <p:nvPr/>
        </p:nvSpPr>
        <p:spPr bwMode="auto">
          <a:xfrm>
            <a:off x="149225" y="6388100"/>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p>
        </p:txBody>
      </p:sp>
      <p:sp>
        <p:nvSpPr>
          <p:cNvPr id="14" name="Date Placeholder 13"/>
          <p:cNvSpPr>
            <a:spLocks noGrp="1"/>
          </p:cNvSpPr>
          <p:nvPr>
            <p:ph type="dt" sz="half" idx="2"/>
          </p:nvPr>
        </p:nvSpPr>
        <p:spPr>
          <a:xfrm>
            <a:off x="5791200" y="6405563"/>
            <a:ext cx="3044825" cy="365125"/>
          </a:xfrm>
          <a:prstGeom prst="rect">
            <a:avLst/>
          </a:prstGeom>
        </p:spPr>
        <p:txBody>
          <a:bodyPr vert="horz"/>
          <a:lstStyle>
            <a:lvl1pPr algn="r" eaLnBrk="1" latinLnBrk="0" hangingPunct="1">
              <a:defRPr kumimoji="0" sz="1400">
                <a:solidFill>
                  <a:srgbClr val="FFFFFF"/>
                </a:solidFill>
              </a:defRPr>
            </a:lvl1pPr>
          </a:lstStyle>
          <a:p>
            <a:pPr>
              <a:defRPr/>
            </a:pPr>
            <a:fld id="{B4D35F4A-341A-4216-9AAC-14E0B3E30DAC}" type="datetime1">
              <a:rPr lang="en-US"/>
              <a:pPr>
                <a:defRPr/>
              </a:pPr>
              <a:t>9/10/2024</a:t>
            </a:fld>
            <a:endParaRPr lang="en-US"/>
          </a:p>
        </p:txBody>
      </p:sp>
      <p:sp>
        <p:nvSpPr>
          <p:cNvPr id="3" name="Footer Placeholder 2"/>
          <p:cNvSpPr>
            <a:spLocks noGrp="1"/>
          </p:cNvSpPr>
          <p:nvPr>
            <p:ph type="ftr" sz="quarter" idx="3"/>
          </p:nvPr>
        </p:nvSpPr>
        <p:spPr>
          <a:xfrm>
            <a:off x="304800" y="6410325"/>
            <a:ext cx="3581400" cy="366713"/>
          </a:xfrm>
          <a:prstGeom prst="rect">
            <a:avLst/>
          </a:prstGeom>
        </p:spPr>
        <p:txBody>
          <a:bodyPr vert="horz"/>
          <a:lstStyle>
            <a:lvl1pPr algn="l" eaLnBrk="1" latinLnBrk="0" hangingPunct="1">
              <a:defRPr kumimoji="0" sz="1200">
                <a:solidFill>
                  <a:srgbClr val="FFFFFF"/>
                </a:solidFill>
              </a:defRPr>
            </a:lvl1pPr>
          </a:lstStyle>
          <a:p>
            <a:pPr>
              <a:defRPr/>
            </a:pPr>
            <a:endParaRPr lang="en-US"/>
          </a:p>
        </p:txBody>
      </p:sp>
      <p:sp>
        <p:nvSpPr>
          <p:cNvPr id="8" name="Rectangle 7"/>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p>
        </p:txBody>
      </p:sp>
      <p:sp>
        <p:nvSpPr>
          <p:cNvPr id="10" name="Straight Connector 9"/>
          <p:cNvSpPr>
            <a:spLocks noChangeShapeType="1"/>
          </p:cNvSpPr>
          <p:nvPr/>
        </p:nvSpPr>
        <p:spPr bwMode="auto">
          <a:xfrm>
            <a:off x="152400" y="1276350"/>
            <a:ext cx="8832850"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p>
        </p:txBody>
      </p:sp>
      <p:sp>
        <p:nvSpPr>
          <p:cNvPr id="12" name="Oval 11"/>
          <p:cNvSpPr/>
          <p:nvPr/>
        </p:nvSpPr>
        <p:spPr>
          <a:xfrm>
            <a:off x="4267200" y="955675"/>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5" name="Oval 14"/>
          <p:cNvSpPr/>
          <p:nvPr/>
        </p:nvSpPr>
        <p:spPr>
          <a:xfrm>
            <a:off x="4362450" y="1050925"/>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Slide Number Placeholder 22"/>
          <p:cNvSpPr>
            <a:spLocks noGrp="1"/>
          </p:cNvSpPr>
          <p:nvPr>
            <p:ph type="sldNum" sz="quarter" idx="4"/>
          </p:nvPr>
        </p:nvSpPr>
        <p:spPr>
          <a:xfrm>
            <a:off x="4343400" y="1039813"/>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defRPr/>
            </a:pPr>
            <a:fld id="{CF06E346-E4CC-4342-8AB4-E154D98A741C}" type="slidenum">
              <a:rPr lang="en-US"/>
              <a:pPr>
                <a:defRPr/>
              </a:pPr>
              <a:t>‹#›</a:t>
            </a:fld>
            <a:endParaRPr lang="en-US"/>
          </a:p>
        </p:txBody>
      </p:sp>
      <p:sp>
        <p:nvSpPr>
          <p:cNvPr id="1038" name="Title Placeholder 21"/>
          <p:cNvSpPr>
            <a:spLocks noGrp="1"/>
          </p:cNvSpPr>
          <p:nvPr>
            <p:ph type="title"/>
          </p:nvPr>
        </p:nvSpPr>
        <p:spPr bwMode="auto">
          <a:xfrm>
            <a:off x="301625" y="228600"/>
            <a:ext cx="8534400" cy="758825"/>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39" name="Text Placeholder 12"/>
          <p:cNvSpPr>
            <a:spLocks noGrp="1"/>
          </p:cNvSpPr>
          <p:nvPr>
            <p:ph type="body" idx="1"/>
          </p:nvPr>
        </p:nvSpPr>
        <p:spPr bwMode="auto">
          <a:xfrm>
            <a:off x="301625" y="1524000"/>
            <a:ext cx="8534400" cy="45989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hf hdr="0" ftr="0" dt="0"/>
  <p:txStyles>
    <p:titleStyle>
      <a:lvl1pPr algn="ctr" rtl="0" eaLnBrk="0" fontAlgn="base" hangingPunct="0">
        <a:spcBef>
          <a:spcPct val="0"/>
        </a:spcBef>
        <a:spcAft>
          <a:spcPct val="0"/>
        </a:spcAft>
        <a:defRPr sz="3300" kern="1200">
          <a:solidFill>
            <a:srgbClr val="7B9899"/>
          </a:solidFill>
          <a:latin typeface="+mj-lt"/>
          <a:ea typeface="+mj-ea"/>
          <a:cs typeface="+mj-cs"/>
        </a:defRPr>
      </a:lvl1pPr>
      <a:lvl2pPr algn="ctr" rtl="0" eaLnBrk="0" fontAlgn="base" hangingPunct="0">
        <a:spcBef>
          <a:spcPct val="0"/>
        </a:spcBef>
        <a:spcAft>
          <a:spcPct val="0"/>
        </a:spcAft>
        <a:defRPr sz="3300">
          <a:solidFill>
            <a:srgbClr val="7B9899"/>
          </a:solidFill>
          <a:latin typeface="Georgia" pitchFamily="18" charset="0"/>
        </a:defRPr>
      </a:lvl2pPr>
      <a:lvl3pPr algn="ctr" rtl="0" eaLnBrk="0" fontAlgn="base" hangingPunct="0">
        <a:spcBef>
          <a:spcPct val="0"/>
        </a:spcBef>
        <a:spcAft>
          <a:spcPct val="0"/>
        </a:spcAft>
        <a:defRPr sz="3300">
          <a:solidFill>
            <a:srgbClr val="7B9899"/>
          </a:solidFill>
          <a:latin typeface="Georgia" pitchFamily="18" charset="0"/>
        </a:defRPr>
      </a:lvl3pPr>
      <a:lvl4pPr algn="ctr" rtl="0" eaLnBrk="0" fontAlgn="base" hangingPunct="0">
        <a:spcBef>
          <a:spcPct val="0"/>
        </a:spcBef>
        <a:spcAft>
          <a:spcPct val="0"/>
        </a:spcAft>
        <a:defRPr sz="3300">
          <a:solidFill>
            <a:srgbClr val="7B9899"/>
          </a:solidFill>
          <a:latin typeface="Georgia" pitchFamily="18" charset="0"/>
        </a:defRPr>
      </a:lvl4pPr>
      <a:lvl5pPr algn="ctr" rtl="0" eaLnBrk="0" fontAlgn="base" hangingPunct="0">
        <a:spcBef>
          <a:spcPct val="0"/>
        </a:spcBef>
        <a:spcAft>
          <a:spcPct val="0"/>
        </a:spcAft>
        <a:defRPr sz="3300">
          <a:solidFill>
            <a:srgbClr val="7B9899"/>
          </a:solidFill>
          <a:latin typeface="Georgia" pitchFamily="18" charset="0"/>
        </a:defRPr>
      </a:lvl5pPr>
      <a:lvl6pPr marL="457200" algn="ctr" rtl="0" fontAlgn="base">
        <a:spcBef>
          <a:spcPct val="0"/>
        </a:spcBef>
        <a:spcAft>
          <a:spcPct val="0"/>
        </a:spcAft>
        <a:defRPr sz="3300">
          <a:solidFill>
            <a:srgbClr val="7B9899"/>
          </a:solidFill>
          <a:latin typeface="Georgia" pitchFamily="18" charset="0"/>
        </a:defRPr>
      </a:lvl6pPr>
      <a:lvl7pPr marL="914400" algn="ctr" rtl="0" fontAlgn="base">
        <a:spcBef>
          <a:spcPct val="0"/>
        </a:spcBef>
        <a:spcAft>
          <a:spcPct val="0"/>
        </a:spcAft>
        <a:defRPr sz="3300">
          <a:solidFill>
            <a:srgbClr val="7B9899"/>
          </a:solidFill>
          <a:latin typeface="Georgia" pitchFamily="18" charset="0"/>
        </a:defRPr>
      </a:lvl7pPr>
      <a:lvl8pPr marL="1371600" algn="ctr" rtl="0" fontAlgn="base">
        <a:spcBef>
          <a:spcPct val="0"/>
        </a:spcBef>
        <a:spcAft>
          <a:spcPct val="0"/>
        </a:spcAft>
        <a:defRPr sz="3300">
          <a:solidFill>
            <a:srgbClr val="7B9899"/>
          </a:solidFill>
          <a:latin typeface="Georgia" pitchFamily="18" charset="0"/>
        </a:defRPr>
      </a:lvl8pPr>
      <a:lvl9pPr marL="1828800" algn="ctr" rtl="0" fontAlgn="base">
        <a:spcBef>
          <a:spcPct val="0"/>
        </a:spcBef>
        <a:spcAft>
          <a:spcPct val="0"/>
        </a:spcAft>
        <a:defRPr sz="3300">
          <a:solidFill>
            <a:srgbClr val="7B9899"/>
          </a:solidFill>
          <a:latin typeface="Georgia" pitchFamily="18" charset="0"/>
        </a:defRPr>
      </a:lvl9pPr>
    </p:titleStyle>
    <p:bodyStyle>
      <a:lvl1pPr marL="273050" indent="-273050" algn="l" rtl="0" eaLnBrk="0" fontAlgn="base" hangingPunct="0">
        <a:spcBef>
          <a:spcPct val="20000"/>
        </a:spcBef>
        <a:spcAft>
          <a:spcPct val="0"/>
        </a:spcAft>
        <a:buClr>
          <a:schemeClr val="accent1"/>
        </a:buClr>
        <a:buSzPct val="85000"/>
        <a:buFont typeface="Wingdings 2" pitchFamily="18" charset="2"/>
        <a:buChar char=""/>
        <a:defRPr sz="2700" kern="1200">
          <a:solidFill>
            <a:schemeClr val="tx1"/>
          </a:solidFill>
          <a:latin typeface="+mn-lt"/>
          <a:ea typeface="+mn-ea"/>
          <a:cs typeface="+mn-cs"/>
        </a:defRPr>
      </a:lvl1pPr>
      <a:lvl2pPr marL="547688" indent="-273050" algn="l" rtl="0" eaLnBrk="0" fontAlgn="base" hangingPunct="0">
        <a:spcBef>
          <a:spcPct val="20000"/>
        </a:spcBef>
        <a:spcAft>
          <a:spcPct val="0"/>
        </a:spcAft>
        <a:buClr>
          <a:schemeClr val="accent2"/>
        </a:buClr>
        <a:buSzPct val="70000"/>
        <a:buFont typeface="Wingdings" pitchFamily="2" charset="2"/>
        <a:buChar char=""/>
        <a:defRPr sz="2200" kern="1200">
          <a:solidFill>
            <a:schemeClr val="tx2"/>
          </a:solidFill>
          <a:latin typeface="+mn-lt"/>
          <a:ea typeface="+mn-ea"/>
          <a:cs typeface="+mn-cs"/>
        </a:defRPr>
      </a:lvl2pPr>
      <a:lvl3pPr marL="822325" indent="-228600" algn="l" rtl="0" eaLnBrk="0" fontAlgn="base" hangingPunct="0">
        <a:spcBef>
          <a:spcPct val="20000"/>
        </a:spcBef>
        <a:spcAft>
          <a:spcPct val="0"/>
        </a:spcAft>
        <a:buClr>
          <a:srgbClr val="8CADAE"/>
        </a:buClr>
        <a:buSzPct val="75000"/>
        <a:buFont typeface="Wingdings 2" pitchFamily="18" charset="2"/>
        <a:buChar char=""/>
        <a:defRPr sz="2000" kern="1200">
          <a:solidFill>
            <a:schemeClr val="tx1"/>
          </a:solidFill>
          <a:latin typeface="+mn-lt"/>
          <a:ea typeface="+mn-ea"/>
          <a:cs typeface="+mn-cs"/>
        </a:defRPr>
      </a:lvl3pPr>
      <a:lvl4pPr marL="1096963" indent="-228600" algn="l" rtl="0" eaLnBrk="0" fontAlgn="base" hangingPunct="0">
        <a:spcBef>
          <a:spcPct val="20000"/>
        </a:spcBef>
        <a:spcAft>
          <a:spcPct val="0"/>
        </a:spcAft>
        <a:buClr>
          <a:srgbClr val="8C7B70"/>
        </a:buClr>
        <a:buSzPct val="70000"/>
        <a:buFont typeface="Wingdings" pitchFamily="2" charset="2"/>
        <a:buChar char=""/>
        <a:defRPr sz="2000" kern="1200">
          <a:solidFill>
            <a:schemeClr val="tx2"/>
          </a:solidFill>
          <a:latin typeface="+mn-lt"/>
          <a:ea typeface="+mn-ea"/>
          <a:cs typeface="+mn-cs"/>
        </a:defRPr>
      </a:lvl4pPr>
      <a:lvl5pPr marL="1371600" indent="-228600" algn="l" rtl="0" eaLnBrk="0" fontAlgn="base" hangingPunct="0">
        <a:spcBef>
          <a:spcPct val="20000"/>
        </a:spcBef>
        <a:spcAft>
          <a:spcPct val="0"/>
        </a:spcAft>
        <a:buClr>
          <a:srgbClr val="8FB08C"/>
        </a:buClr>
        <a:buChar char="•"/>
        <a:defRPr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rtlCol="0">
            <a:normAutofit/>
          </a:bodyPr>
          <a:lstStyle/>
          <a:p>
            <a:pPr eaLnBrk="1" fontAlgn="auto" hangingPunct="1">
              <a:spcAft>
                <a:spcPts val="0"/>
              </a:spcAft>
              <a:buFont typeface="Wingdings 2"/>
              <a:buNone/>
              <a:defRPr/>
            </a:pPr>
            <a:endParaRPr lang="en-GB" dirty="0">
              <a:solidFill>
                <a:schemeClr val="tx1"/>
              </a:solidFill>
            </a:endParaRPr>
          </a:p>
          <a:p>
            <a:pPr eaLnBrk="1" fontAlgn="auto" hangingPunct="1">
              <a:spcAft>
                <a:spcPts val="0"/>
              </a:spcAft>
              <a:buFont typeface="Wingdings 2"/>
              <a:buNone/>
              <a:defRPr/>
            </a:pPr>
            <a:r>
              <a:rPr lang="en-GB" dirty="0">
                <a:solidFill>
                  <a:schemeClr val="tx1"/>
                </a:solidFill>
              </a:rPr>
              <a:t>RACHEL AVERY</a:t>
            </a:r>
          </a:p>
        </p:txBody>
      </p:sp>
      <p:sp>
        <p:nvSpPr>
          <p:cNvPr id="13315" name="Title 1"/>
          <p:cNvSpPr>
            <a:spLocks noGrp="1"/>
          </p:cNvSpPr>
          <p:nvPr>
            <p:ph type="ctrTitle"/>
          </p:nvPr>
        </p:nvSpPr>
        <p:spPr/>
        <p:txBody>
          <a:bodyPr/>
          <a:lstStyle/>
          <a:p>
            <a:pPr eaLnBrk="1" hangingPunct="1"/>
            <a:r>
              <a:rPr lang="en-GB" dirty="0"/>
              <a:t>Commercial Law</a:t>
            </a:r>
            <a:br>
              <a:rPr lang="en-GB" dirty="0"/>
            </a:br>
            <a:r>
              <a:rPr lang="en-GB" dirty="0"/>
              <a:t>(Law 2241)</a:t>
            </a:r>
          </a:p>
        </p:txBody>
      </p:sp>
      <p:sp>
        <p:nvSpPr>
          <p:cNvPr id="4" name="Slide Number Placeholder 3"/>
          <p:cNvSpPr>
            <a:spLocks noGrp="1"/>
          </p:cNvSpPr>
          <p:nvPr>
            <p:ph type="sldNum" sz="quarter" idx="12"/>
          </p:nvPr>
        </p:nvSpPr>
        <p:spPr/>
        <p:txBody>
          <a:bodyPr/>
          <a:lstStyle/>
          <a:p>
            <a:pPr>
              <a:defRPr/>
            </a:pPr>
            <a:fld id="{3D16CFEF-8300-4830-9FB2-B4CB09C2A4DB}" type="slidenum">
              <a:rPr lang="en-US"/>
              <a:pPr>
                <a:defRPr/>
              </a:pPr>
              <a:t>1</a:t>
            </a:fld>
            <a:endParaRPr lang="en-US"/>
          </a:p>
        </p:txBody>
      </p:sp>
      <p:pic>
        <p:nvPicPr>
          <p:cNvPr id="29698" name="Picture 2" descr="Image result for commercial law pictures"/>
          <p:cNvPicPr>
            <a:picLocks noChangeAspect="1" noChangeArrowheads="1"/>
          </p:cNvPicPr>
          <p:nvPr/>
        </p:nvPicPr>
        <p:blipFill>
          <a:blip r:embed="rId2" cstate="print"/>
          <a:srcRect/>
          <a:stretch>
            <a:fillRect/>
          </a:stretch>
        </p:blipFill>
        <p:spPr bwMode="auto">
          <a:xfrm>
            <a:off x="1676400" y="3810000"/>
            <a:ext cx="6400800" cy="30480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2"/>
          <p:cNvSpPr>
            <a:spLocks noGrp="1"/>
          </p:cNvSpPr>
          <p:nvPr>
            <p:ph type="title"/>
          </p:nvPr>
        </p:nvSpPr>
        <p:spPr/>
        <p:txBody>
          <a:bodyPr/>
          <a:lstStyle/>
          <a:p>
            <a:pPr eaLnBrk="1" hangingPunct="1"/>
            <a:r>
              <a:rPr lang="en-GB" b="1" dirty="0">
                <a:solidFill>
                  <a:schemeClr val="tx1"/>
                </a:solidFill>
              </a:rPr>
              <a:t>Today…. </a:t>
            </a:r>
            <a:r>
              <a:rPr lang="en-GB" dirty="0">
                <a:solidFill>
                  <a:schemeClr val="tx1"/>
                </a:solidFill>
              </a:rPr>
              <a:t>	</a:t>
            </a:r>
          </a:p>
        </p:txBody>
      </p:sp>
      <p:sp>
        <p:nvSpPr>
          <p:cNvPr id="14339" name="Content Placeholder 1"/>
          <p:cNvSpPr>
            <a:spLocks noGrp="1"/>
          </p:cNvSpPr>
          <p:nvPr>
            <p:ph sz="quarter" idx="1"/>
          </p:nvPr>
        </p:nvSpPr>
        <p:spPr>
          <a:xfrm>
            <a:off x="301625" y="1527175"/>
            <a:ext cx="8504238" cy="4572000"/>
          </a:xfrm>
        </p:spPr>
        <p:txBody>
          <a:bodyPr/>
          <a:lstStyle/>
          <a:p>
            <a:pPr eaLnBrk="1" hangingPunct="1"/>
            <a:r>
              <a:rPr lang="en-GB" b="1" dirty="0">
                <a:solidFill>
                  <a:srgbClr val="FF0000"/>
                </a:solidFill>
              </a:rPr>
              <a:t>Meaning and significance of Property and Risk</a:t>
            </a:r>
          </a:p>
          <a:p>
            <a:pPr eaLnBrk="1" hangingPunct="1">
              <a:buFont typeface="Wingdings 2" pitchFamily="18" charset="2"/>
              <a:buNone/>
            </a:pPr>
            <a:endParaRPr lang="en-GB" dirty="0"/>
          </a:p>
          <a:p>
            <a:pPr lvl="1" eaLnBrk="1" hangingPunct="1"/>
            <a:r>
              <a:rPr lang="en-GB" dirty="0">
                <a:solidFill>
                  <a:schemeClr val="tx1"/>
                </a:solidFill>
              </a:rPr>
              <a:t>Meaning of property</a:t>
            </a:r>
          </a:p>
          <a:p>
            <a:pPr lvl="1" eaLnBrk="1" hangingPunct="1">
              <a:buFont typeface="Wingdings" pitchFamily="2" charset="2"/>
              <a:buNone/>
            </a:pPr>
            <a:endParaRPr lang="en-GB" dirty="0">
              <a:solidFill>
                <a:schemeClr val="tx1"/>
              </a:solidFill>
            </a:endParaRPr>
          </a:p>
          <a:p>
            <a:pPr lvl="1" eaLnBrk="1" hangingPunct="1"/>
            <a:r>
              <a:rPr lang="en-GB" dirty="0">
                <a:solidFill>
                  <a:schemeClr val="tx1"/>
                </a:solidFill>
              </a:rPr>
              <a:t>Consequences of the passing of property:</a:t>
            </a:r>
          </a:p>
          <a:p>
            <a:pPr lvl="1" eaLnBrk="1" hangingPunct="1">
              <a:buFont typeface="Wingdings" pitchFamily="2" charset="2"/>
              <a:buNone/>
            </a:pPr>
            <a:endParaRPr lang="en-GB" dirty="0">
              <a:solidFill>
                <a:schemeClr val="tx1"/>
              </a:solidFill>
            </a:endParaRPr>
          </a:p>
          <a:p>
            <a:pPr lvl="2" eaLnBrk="1" hangingPunct="1"/>
            <a:r>
              <a:rPr lang="en-GB" dirty="0"/>
              <a:t>Risk</a:t>
            </a:r>
          </a:p>
          <a:p>
            <a:pPr lvl="2" eaLnBrk="1" hangingPunct="1"/>
            <a:r>
              <a:rPr lang="en-GB" dirty="0"/>
              <a:t>Action for price</a:t>
            </a:r>
          </a:p>
          <a:p>
            <a:pPr lvl="2" eaLnBrk="1" hangingPunct="1"/>
            <a:r>
              <a:rPr lang="en-GB" dirty="0"/>
              <a:t>Insolvency</a:t>
            </a:r>
          </a:p>
          <a:p>
            <a:pPr lvl="2" eaLnBrk="1" hangingPunct="1"/>
            <a:r>
              <a:rPr lang="en-GB" dirty="0"/>
              <a:t>Frustration</a:t>
            </a:r>
          </a:p>
          <a:p>
            <a:pPr lvl="2" eaLnBrk="1" hangingPunct="1"/>
            <a:endParaRPr lang="en-GB" dirty="0"/>
          </a:p>
        </p:txBody>
      </p:sp>
      <p:sp>
        <p:nvSpPr>
          <p:cNvPr id="4" name="Slide Number Placeholder 3"/>
          <p:cNvSpPr>
            <a:spLocks noGrp="1"/>
          </p:cNvSpPr>
          <p:nvPr>
            <p:ph type="sldNum" sz="quarter" idx="12"/>
          </p:nvPr>
        </p:nvSpPr>
        <p:spPr/>
        <p:txBody>
          <a:bodyPr/>
          <a:lstStyle/>
          <a:p>
            <a:pPr>
              <a:defRPr/>
            </a:pPr>
            <a:fld id="{D31CAEF1-743B-4D28-9D1B-E3F566E07C09}" type="slidenum">
              <a:rPr lang="en-US"/>
              <a:pPr>
                <a:defRPr/>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2"/>
          <p:cNvSpPr>
            <a:spLocks noGrp="1"/>
          </p:cNvSpPr>
          <p:nvPr>
            <p:ph type="title"/>
          </p:nvPr>
        </p:nvSpPr>
        <p:spPr/>
        <p:txBody>
          <a:bodyPr/>
          <a:lstStyle/>
          <a:p>
            <a:pPr eaLnBrk="1" hangingPunct="1"/>
            <a:r>
              <a:rPr lang="en-GB" dirty="0">
                <a:solidFill>
                  <a:schemeClr val="tx1"/>
                </a:solidFill>
              </a:rPr>
              <a:t>Meaning of Property</a:t>
            </a:r>
          </a:p>
        </p:txBody>
      </p:sp>
      <p:sp>
        <p:nvSpPr>
          <p:cNvPr id="9218" name="Content Placeholder 1"/>
          <p:cNvSpPr>
            <a:spLocks noGrp="1"/>
          </p:cNvSpPr>
          <p:nvPr>
            <p:ph sz="quarter" idx="1"/>
          </p:nvPr>
        </p:nvSpPr>
        <p:spPr>
          <a:xfrm>
            <a:off x="457200" y="1371600"/>
            <a:ext cx="8229600" cy="5334000"/>
          </a:xfrm>
        </p:spPr>
        <p:txBody>
          <a:bodyPr rtlCol="0">
            <a:normAutofit fontScale="92500"/>
          </a:bodyPr>
          <a:lstStyle/>
          <a:p>
            <a:pPr marL="274320" indent="-274320" eaLnBrk="1" fontAlgn="auto" hangingPunct="1">
              <a:spcAft>
                <a:spcPts val="0"/>
              </a:spcAft>
              <a:buFont typeface="Arial" pitchFamily="34" charset="0"/>
              <a:buChar char="•"/>
              <a:defRPr/>
            </a:pPr>
            <a:r>
              <a:rPr lang="en-GB" b="1" dirty="0"/>
              <a:t>S. 61 </a:t>
            </a:r>
            <a:r>
              <a:rPr lang="en-GB" dirty="0"/>
              <a:t>–</a:t>
            </a:r>
            <a:r>
              <a:rPr lang="en-GB" dirty="0">
                <a:solidFill>
                  <a:srgbClr val="FF0000"/>
                </a:solidFill>
              </a:rPr>
              <a:t> ‘general property in goods’</a:t>
            </a:r>
          </a:p>
          <a:p>
            <a:pPr marL="0" indent="0" eaLnBrk="1" fontAlgn="auto" hangingPunct="1">
              <a:spcAft>
                <a:spcPts val="0"/>
              </a:spcAft>
              <a:buNone/>
              <a:defRPr/>
            </a:pPr>
            <a:endParaRPr lang="en-GB" dirty="0"/>
          </a:p>
          <a:p>
            <a:pPr marL="548640" lvl="1" indent="-274320" eaLnBrk="1" fontAlgn="auto" hangingPunct="1">
              <a:spcAft>
                <a:spcPts val="0"/>
              </a:spcAft>
              <a:buFont typeface="Arial" pitchFamily="34" charset="0"/>
              <a:buChar char="–"/>
              <a:defRPr/>
            </a:pPr>
            <a:r>
              <a:rPr lang="en-GB" dirty="0">
                <a:solidFill>
                  <a:schemeClr val="tx1"/>
                </a:solidFill>
              </a:rPr>
              <a:t>Used to denote </a:t>
            </a:r>
            <a:r>
              <a:rPr lang="en-GB" b="1" dirty="0">
                <a:solidFill>
                  <a:schemeClr val="tx1"/>
                </a:solidFill>
              </a:rPr>
              <a:t>‘Title’ or ‘Ownership’</a:t>
            </a:r>
          </a:p>
          <a:p>
            <a:pPr marL="548640" lvl="1" indent="-274320" eaLnBrk="1" fontAlgn="auto" hangingPunct="1">
              <a:spcAft>
                <a:spcPts val="0"/>
              </a:spcAft>
              <a:buFont typeface="Wingdings" pitchFamily="2" charset="2"/>
              <a:buNone/>
              <a:defRPr/>
            </a:pPr>
            <a:endParaRPr lang="en-GB" dirty="0">
              <a:solidFill>
                <a:schemeClr val="tx1"/>
              </a:solidFill>
            </a:endParaRPr>
          </a:p>
          <a:p>
            <a:pPr marL="548640" lvl="1" indent="-274320" eaLnBrk="1" fontAlgn="auto" hangingPunct="1">
              <a:spcAft>
                <a:spcPts val="0"/>
              </a:spcAft>
              <a:buFont typeface="Arial" pitchFamily="34" charset="0"/>
              <a:buChar char="–"/>
              <a:defRPr/>
            </a:pPr>
            <a:r>
              <a:rPr lang="en-GB" dirty="0">
                <a:solidFill>
                  <a:schemeClr val="tx1"/>
                </a:solidFill>
              </a:rPr>
              <a:t>SGA talks of a transfer of property as between the S and B and contrasts this with the transfer of title. </a:t>
            </a:r>
          </a:p>
          <a:p>
            <a:pPr marL="548640" lvl="1" indent="-274320" eaLnBrk="1" fontAlgn="auto" hangingPunct="1">
              <a:spcAft>
                <a:spcPts val="0"/>
              </a:spcAft>
              <a:buFont typeface="Wingdings" pitchFamily="2" charset="2"/>
              <a:buNone/>
              <a:defRPr/>
            </a:pPr>
            <a:endParaRPr lang="en-GB" dirty="0">
              <a:solidFill>
                <a:schemeClr val="tx1"/>
              </a:solidFill>
            </a:endParaRPr>
          </a:p>
          <a:p>
            <a:pPr marL="548640" lvl="1" indent="-274320" eaLnBrk="1" fontAlgn="auto" hangingPunct="1">
              <a:spcAft>
                <a:spcPts val="0"/>
              </a:spcAft>
              <a:buFont typeface="Arial" pitchFamily="34" charset="0"/>
              <a:buChar char="–"/>
              <a:defRPr/>
            </a:pPr>
            <a:r>
              <a:rPr lang="en-GB" dirty="0">
                <a:solidFill>
                  <a:schemeClr val="tx1"/>
                </a:solidFill>
              </a:rPr>
              <a:t>Passing of property is the event upon which the S ceases to be the owner and B becomes the owner of the goods.</a:t>
            </a:r>
          </a:p>
          <a:p>
            <a:pPr marL="822960" lvl="2" eaLnBrk="1" fontAlgn="auto" hangingPunct="1">
              <a:spcAft>
                <a:spcPts val="0"/>
              </a:spcAft>
              <a:buClr>
                <a:schemeClr val="accent3"/>
              </a:buClr>
              <a:buFont typeface="Arial" pitchFamily="34" charset="0"/>
              <a:buChar char="–"/>
              <a:defRPr/>
            </a:pPr>
            <a:r>
              <a:rPr lang="en-GB" dirty="0">
                <a:solidFill>
                  <a:srgbClr val="FF0000"/>
                </a:solidFill>
              </a:rPr>
              <a:t>Property in the goods is what the buyer bargains for when he enters into a sales contract; not the possession or use of the goods.</a:t>
            </a:r>
          </a:p>
          <a:p>
            <a:pPr marL="822960" lvl="2" eaLnBrk="1" fontAlgn="auto" hangingPunct="1">
              <a:spcAft>
                <a:spcPts val="0"/>
              </a:spcAft>
              <a:buClr>
                <a:schemeClr val="accent3"/>
              </a:buClr>
              <a:buFont typeface="Arial" pitchFamily="34" charset="0"/>
              <a:buChar char="–"/>
              <a:defRPr/>
            </a:pPr>
            <a:endParaRPr lang="en-GB" dirty="0"/>
          </a:p>
          <a:p>
            <a:pPr marL="548640" lvl="1" indent="-274320" eaLnBrk="1" fontAlgn="auto" hangingPunct="1">
              <a:spcAft>
                <a:spcPts val="0"/>
              </a:spcAft>
              <a:buFont typeface="Arial" pitchFamily="34" charset="0"/>
              <a:buChar char="–"/>
              <a:defRPr/>
            </a:pPr>
            <a:r>
              <a:rPr lang="en-GB" b="1" dirty="0">
                <a:solidFill>
                  <a:schemeClr val="tx1"/>
                </a:solidFill>
              </a:rPr>
              <a:t>Property rights binds both the contractual parties and third parties, whereas contractual rights only bind parties to the contract.</a:t>
            </a:r>
          </a:p>
        </p:txBody>
      </p:sp>
      <p:sp>
        <p:nvSpPr>
          <p:cNvPr id="4" name="Slide Number Placeholder 3"/>
          <p:cNvSpPr>
            <a:spLocks noGrp="1"/>
          </p:cNvSpPr>
          <p:nvPr>
            <p:ph type="sldNum" sz="quarter" idx="12"/>
          </p:nvPr>
        </p:nvSpPr>
        <p:spPr/>
        <p:txBody>
          <a:bodyPr/>
          <a:lstStyle/>
          <a:p>
            <a:pPr>
              <a:defRPr/>
            </a:pPr>
            <a:fld id="{10E3CA10-438E-4FF7-9BC6-6AEAFED906BA}" type="slidenum">
              <a:rPr lang="en-US"/>
              <a:pPr>
                <a:defRPr/>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GB" dirty="0">
                <a:solidFill>
                  <a:schemeClr val="tx1"/>
                </a:solidFill>
              </a:rPr>
              <a:t>Meaning of Property</a:t>
            </a:r>
          </a:p>
        </p:txBody>
      </p:sp>
      <p:sp>
        <p:nvSpPr>
          <p:cNvPr id="3" name="Content Placeholder 2"/>
          <p:cNvSpPr>
            <a:spLocks noGrp="1"/>
          </p:cNvSpPr>
          <p:nvPr>
            <p:ph sz="quarter" idx="1"/>
          </p:nvPr>
        </p:nvSpPr>
        <p:spPr>
          <a:xfrm>
            <a:off x="301625" y="1527175"/>
            <a:ext cx="8504238" cy="4572000"/>
          </a:xfrm>
        </p:spPr>
        <p:txBody>
          <a:bodyPr/>
          <a:lstStyle/>
          <a:p>
            <a:pPr marL="274320" indent="-274320" eaLnBrk="1" fontAlgn="auto" hangingPunct="1">
              <a:spcAft>
                <a:spcPts val="0"/>
              </a:spcAft>
              <a:buFont typeface="Arial" pitchFamily="34" charset="0"/>
              <a:buChar char="•"/>
              <a:defRPr/>
            </a:pPr>
            <a:endParaRPr lang="en-GB" dirty="0"/>
          </a:p>
          <a:p>
            <a:pPr marL="274320" indent="-274320" eaLnBrk="1" fontAlgn="auto" hangingPunct="1">
              <a:spcAft>
                <a:spcPts val="0"/>
              </a:spcAft>
              <a:buFont typeface="Arial" pitchFamily="34" charset="0"/>
              <a:buChar char="•"/>
              <a:defRPr/>
            </a:pPr>
            <a:r>
              <a:rPr lang="en-GB" sz="3200" u="sng" dirty="0"/>
              <a:t>3 points to consider:</a:t>
            </a:r>
          </a:p>
          <a:p>
            <a:pPr marL="274320" indent="-274320" eaLnBrk="1" fontAlgn="auto" hangingPunct="1">
              <a:spcAft>
                <a:spcPts val="0"/>
              </a:spcAft>
              <a:buFont typeface="Wingdings 2" pitchFamily="18" charset="2"/>
              <a:buNone/>
              <a:defRPr/>
            </a:pPr>
            <a:endParaRPr lang="en-GB" sz="3200" dirty="0"/>
          </a:p>
          <a:p>
            <a:pPr marL="514350" indent="-514350" eaLnBrk="1" fontAlgn="auto" hangingPunct="1">
              <a:spcAft>
                <a:spcPts val="0"/>
              </a:spcAft>
              <a:buFont typeface="Arial" charset="0"/>
              <a:buAutoNum type="arabicPeriod"/>
              <a:defRPr/>
            </a:pPr>
            <a:r>
              <a:rPr lang="en-GB" sz="3200" dirty="0"/>
              <a:t>The object of the sale; i.e. the goods</a:t>
            </a:r>
          </a:p>
          <a:p>
            <a:pPr marL="514350" indent="-514350" eaLnBrk="1" fontAlgn="auto" hangingPunct="1">
              <a:spcAft>
                <a:spcPts val="0"/>
              </a:spcAft>
              <a:buFont typeface="Arial" charset="0"/>
              <a:buAutoNum type="arabicPeriod"/>
              <a:defRPr/>
            </a:pPr>
            <a:r>
              <a:rPr lang="en-GB" sz="3200" dirty="0"/>
              <a:t>The right to immediate control; i.e. possession</a:t>
            </a:r>
          </a:p>
          <a:p>
            <a:pPr marL="514350" indent="-514350" eaLnBrk="1" fontAlgn="auto" hangingPunct="1">
              <a:spcAft>
                <a:spcPts val="0"/>
              </a:spcAft>
              <a:buFont typeface="Arial" charset="0"/>
              <a:buAutoNum type="arabicPeriod"/>
              <a:defRPr/>
            </a:pPr>
            <a:r>
              <a:rPr lang="en-GB" sz="3200" dirty="0"/>
              <a:t>The general interest; i.e. ownership?</a:t>
            </a:r>
          </a:p>
          <a:p>
            <a:pPr eaLnBrk="1" hangingPunct="1">
              <a:defRPr/>
            </a:pPr>
            <a:endParaRPr lang="en-GB" dirty="0"/>
          </a:p>
        </p:txBody>
      </p:sp>
      <p:sp>
        <p:nvSpPr>
          <p:cNvPr id="4" name="Slide Number Placeholder 3"/>
          <p:cNvSpPr>
            <a:spLocks noGrp="1"/>
          </p:cNvSpPr>
          <p:nvPr>
            <p:ph type="sldNum" sz="quarter" idx="12"/>
          </p:nvPr>
        </p:nvSpPr>
        <p:spPr/>
        <p:txBody>
          <a:bodyPr/>
          <a:lstStyle/>
          <a:p>
            <a:pPr>
              <a:defRPr/>
            </a:pPr>
            <a:fld id="{0CCC40EB-9A45-476D-9D14-6D3C647FFC05}" type="slidenum">
              <a:rPr lang="en-US" smtClean="0"/>
              <a:pPr>
                <a:defRPr/>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GB" dirty="0">
                <a:solidFill>
                  <a:schemeClr val="tx1"/>
                </a:solidFill>
              </a:rPr>
              <a:t>Meaning of Property</a:t>
            </a:r>
          </a:p>
        </p:txBody>
      </p:sp>
      <p:sp>
        <p:nvSpPr>
          <p:cNvPr id="17411" name="Content Placeholder 2"/>
          <p:cNvSpPr>
            <a:spLocks noGrp="1"/>
          </p:cNvSpPr>
          <p:nvPr>
            <p:ph sz="quarter" idx="1"/>
          </p:nvPr>
        </p:nvSpPr>
        <p:spPr>
          <a:xfrm>
            <a:off x="301625" y="1527175"/>
            <a:ext cx="8504238" cy="4572000"/>
          </a:xfrm>
        </p:spPr>
        <p:txBody>
          <a:bodyPr/>
          <a:lstStyle/>
          <a:p>
            <a:pPr marL="0" indent="0" eaLnBrk="1" hangingPunct="1">
              <a:buNone/>
            </a:pPr>
            <a:r>
              <a:rPr lang="en-GB" u="sng" dirty="0">
                <a:solidFill>
                  <a:srgbClr val="FF0000"/>
                </a:solidFill>
              </a:rPr>
              <a:t>2 important types of commercial contract are:</a:t>
            </a:r>
          </a:p>
          <a:p>
            <a:pPr eaLnBrk="1" hangingPunct="1"/>
            <a:endParaRPr lang="en-GB" u="sng" dirty="0">
              <a:solidFill>
                <a:srgbClr val="FF0000"/>
              </a:solidFill>
            </a:endParaRPr>
          </a:p>
          <a:p>
            <a:pPr eaLnBrk="1" hangingPunct="1"/>
            <a:r>
              <a:rPr lang="en-GB" u="sng" dirty="0">
                <a:solidFill>
                  <a:srgbClr val="FF0000"/>
                </a:solidFill>
              </a:rPr>
              <a:t>A </a:t>
            </a:r>
            <a:r>
              <a:rPr lang="en-GB" i="1" u="sng" dirty="0">
                <a:solidFill>
                  <a:srgbClr val="FF0000"/>
                </a:solidFill>
              </a:rPr>
              <a:t>sale </a:t>
            </a:r>
            <a:r>
              <a:rPr lang="en-GB" i="1" dirty="0"/>
              <a:t>– </a:t>
            </a:r>
            <a:r>
              <a:rPr lang="en-GB" dirty="0"/>
              <a:t>property is transferred to the B under the contract of sale</a:t>
            </a:r>
          </a:p>
          <a:p>
            <a:pPr eaLnBrk="1" hangingPunct="1">
              <a:buFont typeface="Wingdings 2" pitchFamily="18" charset="2"/>
              <a:buNone/>
            </a:pPr>
            <a:endParaRPr lang="en-GB" dirty="0"/>
          </a:p>
          <a:p>
            <a:pPr eaLnBrk="1" hangingPunct="1"/>
            <a:r>
              <a:rPr lang="en-GB" i="1" u="sng" dirty="0">
                <a:solidFill>
                  <a:srgbClr val="FF0000"/>
                </a:solidFill>
              </a:rPr>
              <a:t>Agreement to sell </a:t>
            </a:r>
            <a:r>
              <a:rPr lang="en-GB" i="1" dirty="0"/>
              <a:t>– </a:t>
            </a:r>
            <a:r>
              <a:rPr lang="en-GB" dirty="0"/>
              <a:t>the property is to be transferred </a:t>
            </a:r>
            <a:r>
              <a:rPr lang="en-GB" u="sng" dirty="0"/>
              <a:t>some time after </a:t>
            </a:r>
            <a:r>
              <a:rPr lang="en-GB" dirty="0"/>
              <a:t>the making of the contract. Property remains with the S.</a:t>
            </a:r>
          </a:p>
          <a:p>
            <a:pPr lvl="1" eaLnBrk="1" hangingPunct="1"/>
            <a:r>
              <a:rPr lang="en-GB" dirty="0"/>
              <a:t>When does an agreement to sell become a sale?  See </a:t>
            </a:r>
            <a:r>
              <a:rPr lang="en-GB" b="1" u="sng" dirty="0">
                <a:solidFill>
                  <a:srgbClr val="FF0000"/>
                </a:solidFill>
              </a:rPr>
              <a:t>s.2(6)</a:t>
            </a:r>
          </a:p>
        </p:txBody>
      </p:sp>
      <p:sp>
        <p:nvSpPr>
          <p:cNvPr id="4" name="Slide Number Placeholder 3"/>
          <p:cNvSpPr>
            <a:spLocks noGrp="1"/>
          </p:cNvSpPr>
          <p:nvPr>
            <p:ph type="sldNum" sz="quarter" idx="12"/>
          </p:nvPr>
        </p:nvSpPr>
        <p:spPr/>
        <p:txBody>
          <a:bodyPr/>
          <a:lstStyle/>
          <a:p>
            <a:pPr>
              <a:defRPr/>
            </a:pPr>
            <a:fld id="{320A37E2-F5C1-4D15-9B3C-D95AC9981D0A}" type="slidenum">
              <a:rPr lang="en-US"/>
              <a:pPr>
                <a:defRPr/>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GB" dirty="0">
                <a:solidFill>
                  <a:schemeClr val="tx1"/>
                </a:solidFill>
              </a:rPr>
              <a:t>Meaning of Property</a:t>
            </a:r>
          </a:p>
        </p:txBody>
      </p:sp>
      <p:sp>
        <p:nvSpPr>
          <p:cNvPr id="3" name="Slide Number Placeholder 2"/>
          <p:cNvSpPr>
            <a:spLocks noGrp="1"/>
          </p:cNvSpPr>
          <p:nvPr>
            <p:ph type="sldNum" sz="quarter" idx="12"/>
          </p:nvPr>
        </p:nvSpPr>
        <p:spPr/>
        <p:txBody>
          <a:bodyPr/>
          <a:lstStyle/>
          <a:p>
            <a:pPr>
              <a:defRPr/>
            </a:pPr>
            <a:fld id="{7C788114-8F21-4FAC-8EB7-296F38FAE669}" type="slidenum">
              <a:rPr lang="en-US"/>
              <a:pPr>
                <a:defRPr/>
              </a:pPr>
              <a:t>6</a:t>
            </a:fld>
            <a:endParaRPr lang="en-US"/>
          </a:p>
        </p:txBody>
      </p:sp>
      <p:sp>
        <p:nvSpPr>
          <p:cNvPr id="4" name="Content Placeholder 3"/>
          <p:cNvSpPr>
            <a:spLocks noGrp="1"/>
          </p:cNvSpPr>
          <p:nvPr>
            <p:ph sz="quarter" idx="1"/>
          </p:nvPr>
        </p:nvSpPr>
        <p:spPr>
          <a:xfrm>
            <a:off x="301625" y="1527175"/>
            <a:ext cx="8504238" cy="4949825"/>
          </a:xfrm>
        </p:spPr>
        <p:txBody>
          <a:bodyPr>
            <a:normAutofit fontScale="70000" lnSpcReduction="20000"/>
          </a:bodyPr>
          <a:lstStyle/>
          <a:p>
            <a:pPr marL="274320" indent="-274320" eaLnBrk="1" fontAlgn="auto" hangingPunct="1">
              <a:spcAft>
                <a:spcPts val="0"/>
              </a:spcAft>
              <a:buFont typeface="Wingdings 2"/>
              <a:buChar char=""/>
              <a:defRPr/>
            </a:pPr>
            <a:r>
              <a:rPr lang="en-GB" sz="4600" i="1" u="sng" dirty="0">
                <a:solidFill>
                  <a:srgbClr val="FF0000"/>
                </a:solidFill>
              </a:rPr>
              <a:t>Sale</a:t>
            </a:r>
            <a:r>
              <a:rPr lang="en-GB" sz="4600" u="sng" dirty="0">
                <a:solidFill>
                  <a:srgbClr val="FF0000"/>
                </a:solidFill>
              </a:rPr>
              <a:t> </a:t>
            </a:r>
          </a:p>
          <a:p>
            <a:pPr marL="274320" indent="-274320" eaLnBrk="1" fontAlgn="auto" hangingPunct="1">
              <a:spcAft>
                <a:spcPts val="0"/>
              </a:spcAft>
              <a:buFont typeface="Wingdings 2" pitchFamily="18" charset="2"/>
              <a:buNone/>
              <a:defRPr/>
            </a:pPr>
            <a:endParaRPr lang="en-GB" dirty="0"/>
          </a:p>
          <a:p>
            <a:pPr marL="548640" lvl="1" indent="-274320" eaLnBrk="1" fontAlgn="auto" hangingPunct="1">
              <a:spcAft>
                <a:spcPts val="0"/>
              </a:spcAft>
              <a:buFont typeface="Wingdings"/>
              <a:buChar char=""/>
              <a:defRPr/>
            </a:pPr>
            <a:r>
              <a:rPr lang="en-GB" sz="2600" dirty="0">
                <a:solidFill>
                  <a:schemeClr val="tx1"/>
                </a:solidFill>
              </a:rPr>
              <a:t>Contract is </a:t>
            </a:r>
            <a:r>
              <a:rPr lang="en-GB" sz="2600" dirty="0">
                <a:solidFill>
                  <a:srgbClr val="FF0000"/>
                </a:solidFill>
              </a:rPr>
              <a:t>executed</a:t>
            </a:r>
          </a:p>
          <a:p>
            <a:pPr marL="548640" lvl="1" indent="-274320" eaLnBrk="1" fontAlgn="auto" hangingPunct="1">
              <a:spcAft>
                <a:spcPts val="0"/>
              </a:spcAft>
              <a:buFont typeface="Wingdings" pitchFamily="2" charset="2"/>
              <a:buNone/>
              <a:defRPr/>
            </a:pPr>
            <a:endParaRPr lang="en-GB" sz="2600" dirty="0">
              <a:solidFill>
                <a:schemeClr val="tx1"/>
              </a:solidFill>
            </a:endParaRPr>
          </a:p>
          <a:p>
            <a:pPr marL="548640" lvl="1" indent="-274320" eaLnBrk="1" fontAlgn="auto" hangingPunct="1">
              <a:spcAft>
                <a:spcPts val="0"/>
              </a:spcAft>
              <a:buFont typeface="Wingdings"/>
              <a:buChar char=""/>
              <a:defRPr/>
            </a:pPr>
            <a:r>
              <a:rPr lang="en-GB" sz="2600" dirty="0">
                <a:solidFill>
                  <a:schemeClr val="tx1"/>
                </a:solidFill>
              </a:rPr>
              <a:t>B has </a:t>
            </a:r>
            <a:r>
              <a:rPr lang="en-GB" sz="2600" dirty="0">
                <a:solidFill>
                  <a:srgbClr val="FF0000"/>
                </a:solidFill>
              </a:rPr>
              <a:t>rights </a:t>
            </a:r>
            <a:r>
              <a:rPr lang="en-GB" sz="2600" i="1" dirty="0">
                <a:solidFill>
                  <a:srgbClr val="FF0000"/>
                </a:solidFill>
              </a:rPr>
              <a:t>in </a:t>
            </a:r>
            <a:r>
              <a:rPr lang="en-GB" sz="2600" i="1" dirty="0" err="1">
                <a:solidFill>
                  <a:srgbClr val="FF0000"/>
                </a:solidFill>
              </a:rPr>
              <a:t>rem</a:t>
            </a:r>
            <a:r>
              <a:rPr lang="en-GB" sz="2600" i="1" dirty="0">
                <a:solidFill>
                  <a:srgbClr val="FF0000"/>
                </a:solidFill>
              </a:rPr>
              <a:t> </a:t>
            </a:r>
            <a:r>
              <a:rPr lang="en-GB" sz="2600" dirty="0">
                <a:solidFill>
                  <a:schemeClr val="tx1"/>
                </a:solidFill>
              </a:rPr>
              <a:t>against the S. B can sue 3</a:t>
            </a:r>
            <a:r>
              <a:rPr lang="en-GB" sz="2600" baseline="30000" dirty="0">
                <a:solidFill>
                  <a:schemeClr val="tx1"/>
                </a:solidFill>
              </a:rPr>
              <a:t>rd</a:t>
            </a:r>
            <a:r>
              <a:rPr lang="en-GB" sz="2600" dirty="0">
                <a:solidFill>
                  <a:schemeClr val="tx1"/>
                </a:solidFill>
              </a:rPr>
              <a:t> parties.</a:t>
            </a:r>
          </a:p>
          <a:p>
            <a:pPr marL="548640" lvl="1" indent="-274320" eaLnBrk="1" fontAlgn="auto" hangingPunct="1">
              <a:spcAft>
                <a:spcPts val="0"/>
              </a:spcAft>
              <a:buFont typeface="Wingdings" pitchFamily="2" charset="2"/>
              <a:buNone/>
              <a:defRPr/>
            </a:pPr>
            <a:endParaRPr lang="en-GB" sz="2600" dirty="0">
              <a:solidFill>
                <a:schemeClr val="tx1"/>
              </a:solidFill>
            </a:endParaRPr>
          </a:p>
          <a:p>
            <a:pPr marL="548640" lvl="1" indent="-274320" eaLnBrk="1" fontAlgn="auto" hangingPunct="1">
              <a:spcAft>
                <a:spcPts val="0"/>
              </a:spcAft>
              <a:buFont typeface="Wingdings"/>
              <a:buChar char=""/>
              <a:defRPr/>
            </a:pPr>
            <a:r>
              <a:rPr lang="en-GB" sz="2600" dirty="0">
                <a:solidFill>
                  <a:schemeClr val="tx1"/>
                </a:solidFill>
              </a:rPr>
              <a:t>B’s remedy against the S is in </a:t>
            </a:r>
            <a:r>
              <a:rPr lang="en-GB" sz="2600" dirty="0">
                <a:solidFill>
                  <a:srgbClr val="FF0000"/>
                </a:solidFill>
              </a:rPr>
              <a:t>breach of contract (damages for non-delivery), but also in tort </a:t>
            </a:r>
            <a:r>
              <a:rPr lang="en-GB" sz="2600" b="1" dirty="0">
                <a:solidFill>
                  <a:srgbClr val="FF0000"/>
                </a:solidFill>
              </a:rPr>
              <a:t>(s.51)</a:t>
            </a:r>
            <a:r>
              <a:rPr lang="en-GB" sz="2600" b="1" dirty="0">
                <a:solidFill>
                  <a:schemeClr val="tx1"/>
                </a:solidFill>
              </a:rPr>
              <a:t>.</a:t>
            </a:r>
          </a:p>
          <a:p>
            <a:pPr marL="548640" lvl="1" indent="-274320" eaLnBrk="1" fontAlgn="auto" hangingPunct="1">
              <a:spcAft>
                <a:spcPts val="0"/>
              </a:spcAft>
              <a:buFont typeface="Wingdings" pitchFamily="2" charset="2"/>
              <a:buNone/>
              <a:defRPr/>
            </a:pPr>
            <a:endParaRPr lang="en-GB" sz="2600" dirty="0">
              <a:solidFill>
                <a:schemeClr val="tx1"/>
              </a:solidFill>
            </a:endParaRPr>
          </a:p>
          <a:p>
            <a:pPr marL="548640" lvl="1" indent="-274320" eaLnBrk="1" fontAlgn="auto" hangingPunct="1">
              <a:spcAft>
                <a:spcPts val="0"/>
              </a:spcAft>
              <a:buFont typeface="Wingdings"/>
              <a:buChar char=""/>
              <a:defRPr/>
            </a:pPr>
            <a:r>
              <a:rPr lang="en-GB" sz="2600" dirty="0">
                <a:solidFill>
                  <a:schemeClr val="tx1"/>
                </a:solidFill>
              </a:rPr>
              <a:t>S’s remedy against the B is </a:t>
            </a:r>
            <a:r>
              <a:rPr lang="en-GB" sz="2600" dirty="0">
                <a:solidFill>
                  <a:srgbClr val="FF0000"/>
                </a:solidFill>
              </a:rPr>
              <a:t>damages for non-acceptance </a:t>
            </a:r>
            <a:r>
              <a:rPr lang="en-GB" sz="2600" b="1" dirty="0">
                <a:solidFill>
                  <a:srgbClr val="FF0000"/>
                </a:solidFill>
              </a:rPr>
              <a:t>(s. 50)</a:t>
            </a:r>
            <a:r>
              <a:rPr lang="en-GB" sz="2600" dirty="0">
                <a:solidFill>
                  <a:schemeClr val="tx1"/>
                </a:solidFill>
              </a:rPr>
              <a:t>, but also for the  </a:t>
            </a:r>
            <a:r>
              <a:rPr lang="en-GB" sz="2600" dirty="0">
                <a:solidFill>
                  <a:srgbClr val="FF0000"/>
                </a:solidFill>
              </a:rPr>
              <a:t>contract price as the property has passed </a:t>
            </a:r>
            <a:r>
              <a:rPr lang="en-GB" sz="2600" b="1" dirty="0">
                <a:solidFill>
                  <a:srgbClr val="FF0000"/>
                </a:solidFill>
              </a:rPr>
              <a:t>(s. 49)</a:t>
            </a:r>
            <a:r>
              <a:rPr lang="en-GB" sz="2600" dirty="0">
                <a:solidFill>
                  <a:schemeClr val="tx1"/>
                </a:solidFill>
              </a:rPr>
              <a:t>. B has responsibilities in relation to the goods. </a:t>
            </a:r>
          </a:p>
          <a:p>
            <a:pPr marL="548640" lvl="1" indent="-274320" eaLnBrk="1" fontAlgn="auto" hangingPunct="1">
              <a:spcAft>
                <a:spcPts val="0"/>
              </a:spcAft>
              <a:buFont typeface="Wingdings" pitchFamily="2" charset="2"/>
              <a:buNone/>
              <a:defRPr/>
            </a:pPr>
            <a:endParaRPr lang="en-GB" sz="2600" dirty="0">
              <a:solidFill>
                <a:schemeClr val="tx1"/>
              </a:solidFill>
            </a:endParaRPr>
          </a:p>
          <a:p>
            <a:pPr marL="548640" lvl="1" indent="-274320" eaLnBrk="1" fontAlgn="auto" hangingPunct="1">
              <a:spcAft>
                <a:spcPts val="0"/>
              </a:spcAft>
              <a:buFont typeface="Wingdings"/>
              <a:buChar char=""/>
              <a:defRPr/>
            </a:pPr>
            <a:r>
              <a:rPr lang="en-GB" sz="2600" dirty="0">
                <a:solidFill>
                  <a:schemeClr val="tx1"/>
                </a:solidFill>
              </a:rPr>
              <a:t>S cannot sell the goods to a 3</a:t>
            </a:r>
            <a:r>
              <a:rPr lang="en-GB" sz="2600" baseline="30000" dirty="0">
                <a:solidFill>
                  <a:schemeClr val="tx1"/>
                </a:solidFill>
              </a:rPr>
              <a:t>rd</a:t>
            </a:r>
            <a:r>
              <a:rPr lang="en-GB" sz="2600" dirty="0">
                <a:solidFill>
                  <a:schemeClr val="tx1"/>
                </a:solidFill>
              </a:rPr>
              <a:t> party and pass a good title. Because he has no property rights over the goods.  But the B can sell (as he has property rights) with good title.</a:t>
            </a:r>
          </a:p>
          <a:p>
            <a:pPr marL="548640" lvl="1" indent="-274320" eaLnBrk="1" fontAlgn="auto" hangingPunct="1">
              <a:spcAft>
                <a:spcPts val="0"/>
              </a:spcAft>
              <a:buFont typeface="Wingdings" pitchFamily="2" charset="2"/>
              <a:buNone/>
              <a:defRPr/>
            </a:pPr>
            <a:endParaRPr lang="en-GB" sz="2600" dirty="0">
              <a:solidFill>
                <a:schemeClr val="tx1"/>
              </a:solidFill>
            </a:endParaRPr>
          </a:p>
          <a:p>
            <a:pPr marL="548640" lvl="1" indent="-274320" eaLnBrk="1" fontAlgn="auto" hangingPunct="1">
              <a:spcAft>
                <a:spcPts val="0"/>
              </a:spcAft>
              <a:buFont typeface="Wingdings"/>
              <a:buChar char=""/>
              <a:defRPr/>
            </a:pPr>
            <a:r>
              <a:rPr lang="en-GB" sz="2600" dirty="0">
                <a:solidFill>
                  <a:srgbClr val="FF0000"/>
                </a:solidFill>
              </a:rPr>
              <a:t>Risk of loss with the B </a:t>
            </a:r>
            <a:r>
              <a:rPr lang="en-GB" sz="2600" b="1" dirty="0">
                <a:solidFill>
                  <a:srgbClr val="FF0000"/>
                </a:solidFill>
              </a:rPr>
              <a:t>(s. 20)</a:t>
            </a:r>
            <a:r>
              <a:rPr lang="en-GB" sz="2600" b="1" dirty="0">
                <a:solidFill>
                  <a:schemeClr val="tx1"/>
                </a:solidFill>
              </a:rPr>
              <a:t>.</a:t>
            </a:r>
          </a:p>
          <a:p>
            <a:pPr marL="548640" lvl="1" indent="-274320" eaLnBrk="1" fontAlgn="auto" hangingPunct="1">
              <a:spcAft>
                <a:spcPts val="0"/>
              </a:spcAft>
              <a:buFont typeface="Wingdings"/>
              <a:buChar char=""/>
              <a:defRPr/>
            </a:pPr>
            <a:endParaRPr lang="en-GB"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GB" dirty="0">
                <a:solidFill>
                  <a:schemeClr val="tx1"/>
                </a:solidFill>
              </a:rPr>
              <a:t>Meaning of Property	</a:t>
            </a:r>
          </a:p>
        </p:txBody>
      </p:sp>
      <p:sp>
        <p:nvSpPr>
          <p:cNvPr id="21507" name="Content Placeholder 2"/>
          <p:cNvSpPr>
            <a:spLocks noGrp="1"/>
          </p:cNvSpPr>
          <p:nvPr>
            <p:ph sz="quarter" idx="1"/>
          </p:nvPr>
        </p:nvSpPr>
        <p:spPr>
          <a:xfrm>
            <a:off x="301625" y="1527174"/>
            <a:ext cx="8504238" cy="5026026"/>
          </a:xfrm>
        </p:spPr>
        <p:txBody>
          <a:bodyPr/>
          <a:lstStyle/>
          <a:p>
            <a:pPr lvl="1" eaLnBrk="1" hangingPunct="1"/>
            <a:r>
              <a:rPr lang="en-GB" sz="2000" dirty="0">
                <a:solidFill>
                  <a:schemeClr val="tx1"/>
                </a:solidFill>
              </a:rPr>
              <a:t>Contract is </a:t>
            </a:r>
            <a:r>
              <a:rPr lang="en-GB" sz="2000" dirty="0">
                <a:solidFill>
                  <a:srgbClr val="FF0000"/>
                </a:solidFill>
              </a:rPr>
              <a:t>not frustrated if the goods perish after the contract is concluded. </a:t>
            </a:r>
            <a:r>
              <a:rPr lang="en-GB" sz="2000" dirty="0">
                <a:solidFill>
                  <a:schemeClr val="tx1"/>
                </a:solidFill>
              </a:rPr>
              <a:t>Why??</a:t>
            </a:r>
          </a:p>
          <a:p>
            <a:pPr lvl="1" eaLnBrk="1" hangingPunct="1">
              <a:buFont typeface="Wingdings" pitchFamily="2" charset="2"/>
              <a:buNone/>
            </a:pPr>
            <a:endParaRPr lang="en-GB" sz="2000" dirty="0">
              <a:solidFill>
                <a:srgbClr val="FF0000"/>
              </a:solidFill>
            </a:endParaRPr>
          </a:p>
          <a:p>
            <a:pPr lvl="1" eaLnBrk="1" hangingPunct="1"/>
            <a:r>
              <a:rPr lang="en-GB" sz="2000" dirty="0">
                <a:solidFill>
                  <a:schemeClr val="tx1"/>
                </a:solidFill>
              </a:rPr>
              <a:t>If goods are requisitioned loss is borne by the B, damage/compensation payable to the B.</a:t>
            </a:r>
          </a:p>
          <a:p>
            <a:pPr lvl="1" eaLnBrk="1" hangingPunct="1">
              <a:buFont typeface="Wingdings" pitchFamily="2" charset="2"/>
              <a:buNone/>
            </a:pPr>
            <a:endParaRPr lang="en-GB" sz="2000" dirty="0">
              <a:solidFill>
                <a:schemeClr val="tx1"/>
              </a:solidFill>
            </a:endParaRPr>
          </a:p>
          <a:p>
            <a:pPr lvl="1" eaLnBrk="1" hangingPunct="1"/>
            <a:r>
              <a:rPr lang="en-GB" sz="2000" dirty="0">
                <a:solidFill>
                  <a:schemeClr val="tx1"/>
                </a:solidFill>
              </a:rPr>
              <a:t>S’s insolvency, the B may claim the goods.</a:t>
            </a:r>
          </a:p>
          <a:p>
            <a:pPr lvl="1" eaLnBrk="1" hangingPunct="1">
              <a:buFont typeface="Wingdings" pitchFamily="2" charset="2"/>
              <a:buNone/>
            </a:pPr>
            <a:endParaRPr lang="en-GB" sz="2000" dirty="0">
              <a:solidFill>
                <a:schemeClr val="tx1"/>
              </a:solidFill>
            </a:endParaRPr>
          </a:p>
          <a:p>
            <a:pPr lvl="1" eaLnBrk="1" hangingPunct="1"/>
            <a:r>
              <a:rPr lang="en-GB" sz="2000" dirty="0">
                <a:solidFill>
                  <a:schemeClr val="tx1"/>
                </a:solidFill>
              </a:rPr>
              <a:t>B’s insolvency, the S cannot claim back the goods but can claim the outstanding amount of the price.</a:t>
            </a:r>
          </a:p>
          <a:p>
            <a:pPr lvl="1" eaLnBrk="1" hangingPunct="1"/>
            <a:endParaRPr lang="en-GB" sz="2000" dirty="0">
              <a:solidFill>
                <a:schemeClr val="tx1"/>
              </a:solidFill>
            </a:endParaRPr>
          </a:p>
          <a:p>
            <a:pPr lvl="1" eaLnBrk="1" hangingPunct="1"/>
            <a:r>
              <a:rPr lang="en-GB" sz="2000" dirty="0">
                <a:solidFill>
                  <a:schemeClr val="tx1"/>
                </a:solidFill>
              </a:rPr>
              <a:t>Profits or increase in value belong to the </a:t>
            </a:r>
            <a:r>
              <a:rPr lang="en-GB" sz="2000" b="1" dirty="0">
                <a:solidFill>
                  <a:schemeClr val="tx1"/>
                </a:solidFill>
              </a:rPr>
              <a:t>????</a:t>
            </a:r>
          </a:p>
        </p:txBody>
      </p:sp>
      <p:sp>
        <p:nvSpPr>
          <p:cNvPr id="4" name="Slide Number Placeholder 3"/>
          <p:cNvSpPr>
            <a:spLocks noGrp="1"/>
          </p:cNvSpPr>
          <p:nvPr>
            <p:ph type="sldNum" sz="quarter" idx="12"/>
          </p:nvPr>
        </p:nvSpPr>
        <p:spPr/>
        <p:txBody>
          <a:bodyPr/>
          <a:lstStyle/>
          <a:p>
            <a:pPr>
              <a:defRPr/>
            </a:pPr>
            <a:fld id="{3A9CC228-162E-4841-A3A3-9A7914E1B453}" type="slidenum">
              <a:rPr lang="en-US" smtClean="0"/>
              <a:pPr>
                <a:defRPr/>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GB" dirty="0">
                <a:solidFill>
                  <a:schemeClr val="tx1"/>
                </a:solidFill>
              </a:rPr>
              <a:t>Meaning of Property</a:t>
            </a:r>
          </a:p>
        </p:txBody>
      </p:sp>
      <p:sp>
        <p:nvSpPr>
          <p:cNvPr id="3" name="Content Placeholder 2"/>
          <p:cNvSpPr>
            <a:spLocks noGrp="1"/>
          </p:cNvSpPr>
          <p:nvPr>
            <p:ph sz="quarter" idx="1"/>
          </p:nvPr>
        </p:nvSpPr>
        <p:spPr>
          <a:xfrm>
            <a:off x="301625" y="1527175"/>
            <a:ext cx="8504238" cy="4949825"/>
          </a:xfrm>
        </p:spPr>
        <p:txBody>
          <a:bodyPr>
            <a:normAutofit lnSpcReduction="10000"/>
          </a:bodyPr>
          <a:lstStyle/>
          <a:p>
            <a:pPr marL="274320" indent="-274320" eaLnBrk="1" fontAlgn="auto" hangingPunct="1">
              <a:spcAft>
                <a:spcPts val="0"/>
              </a:spcAft>
              <a:buFont typeface="Wingdings 2"/>
              <a:buChar char=""/>
              <a:defRPr/>
            </a:pPr>
            <a:r>
              <a:rPr lang="en-GB" sz="3200" i="1" u="sng" dirty="0">
                <a:solidFill>
                  <a:srgbClr val="FF0000"/>
                </a:solidFill>
              </a:rPr>
              <a:t>Agreement to sell</a:t>
            </a:r>
          </a:p>
          <a:p>
            <a:pPr marL="274320" indent="-274320" eaLnBrk="1" fontAlgn="auto" hangingPunct="1">
              <a:spcAft>
                <a:spcPts val="0"/>
              </a:spcAft>
              <a:buFont typeface="Wingdings 2" pitchFamily="18" charset="2"/>
              <a:buNone/>
              <a:defRPr/>
            </a:pPr>
            <a:endParaRPr lang="en-GB" i="1" dirty="0"/>
          </a:p>
          <a:p>
            <a:pPr marL="548640" lvl="1" indent="-274320" eaLnBrk="1" fontAlgn="auto" hangingPunct="1">
              <a:spcAft>
                <a:spcPts val="0"/>
              </a:spcAft>
              <a:buFont typeface="Wingdings"/>
              <a:buChar char=""/>
              <a:defRPr/>
            </a:pPr>
            <a:r>
              <a:rPr lang="en-GB" sz="1800" dirty="0">
                <a:solidFill>
                  <a:schemeClr val="tx1"/>
                </a:solidFill>
              </a:rPr>
              <a:t>Contract is still </a:t>
            </a:r>
            <a:r>
              <a:rPr lang="en-GB" sz="1800" dirty="0" err="1">
                <a:solidFill>
                  <a:srgbClr val="FF0000"/>
                </a:solidFill>
              </a:rPr>
              <a:t>executory</a:t>
            </a:r>
            <a:endParaRPr lang="en-GB" sz="1800" dirty="0">
              <a:solidFill>
                <a:srgbClr val="FF0000"/>
              </a:solidFill>
            </a:endParaRPr>
          </a:p>
          <a:p>
            <a:pPr marL="548640" lvl="1" indent="-274320" eaLnBrk="1" fontAlgn="auto" hangingPunct="1">
              <a:spcAft>
                <a:spcPts val="0"/>
              </a:spcAft>
              <a:buFont typeface="Wingdings" pitchFamily="2" charset="2"/>
              <a:buNone/>
              <a:defRPr/>
            </a:pPr>
            <a:endParaRPr lang="en-GB" sz="1800" dirty="0">
              <a:solidFill>
                <a:schemeClr val="tx1"/>
              </a:solidFill>
            </a:endParaRPr>
          </a:p>
          <a:p>
            <a:pPr marL="548640" lvl="1" indent="-274320" eaLnBrk="1" fontAlgn="auto" hangingPunct="1">
              <a:spcAft>
                <a:spcPts val="0"/>
              </a:spcAft>
              <a:buFont typeface="Wingdings"/>
              <a:buChar char=""/>
              <a:defRPr/>
            </a:pPr>
            <a:r>
              <a:rPr lang="en-GB" sz="1800" dirty="0">
                <a:solidFill>
                  <a:schemeClr val="tx1"/>
                </a:solidFill>
              </a:rPr>
              <a:t>B has rights </a:t>
            </a:r>
            <a:r>
              <a:rPr lang="en-GB" sz="1800" dirty="0">
                <a:solidFill>
                  <a:srgbClr val="FF0000"/>
                </a:solidFill>
              </a:rPr>
              <a:t>in </a:t>
            </a:r>
            <a:r>
              <a:rPr lang="en-GB" sz="1800" dirty="0" err="1">
                <a:solidFill>
                  <a:srgbClr val="FF0000"/>
                </a:solidFill>
              </a:rPr>
              <a:t>personam</a:t>
            </a:r>
            <a:r>
              <a:rPr lang="en-GB" sz="1800" dirty="0">
                <a:solidFill>
                  <a:srgbClr val="FF0000"/>
                </a:solidFill>
              </a:rPr>
              <a:t> </a:t>
            </a:r>
            <a:r>
              <a:rPr lang="en-GB" sz="1800" dirty="0">
                <a:solidFill>
                  <a:schemeClr val="tx1"/>
                </a:solidFill>
              </a:rPr>
              <a:t>against the S. Only the S can sue 3</a:t>
            </a:r>
            <a:r>
              <a:rPr lang="en-GB" sz="1800" baseline="30000" dirty="0">
                <a:solidFill>
                  <a:schemeClr val="tx1"/>
                </a:solidFill>
              </a:rPr>
              <a:t>rd</a:t>
            </a:r>
            <a:r>
              <a:rPr lang="en-GB" sz="1800" dirty="0">
                <a:solidFill>
                  <a:schemeClr val="tx1"/>
                </a:solidFill>
              </a:rPr>
              <a:t> parties.</a:t>
            </a:r>
          </a:p>
          <a:p>
            <a:pPr marL="548640" lvl="1" indent="-274320" eaLnBrk="1" fontAlgn="auto" hangingPunct="1">
              <a:spcAft>
                <a:spcPts val="0"/>
              </a:spcAft>
              <a:buFont typeface="Wingdings" pitchFamily="2" charset="2"/>
              <a:buNone/>
              <a:defRPr/>
            </a:pPr>
            <a:endParaRPr lang="en-GB" sz="1800" dirty="0">
              <a:solidFill>
                <a:schemeClr val="tx1"/>
              </a:solidFill>
            </a:endParaRPr>
          </a:p>
          <a:p>
            <a:pPr marL="548640" lvl="1" indent="-274320" eaLnBrk="1" fontAlgn="auto" hangingPunct="1">
              <a:spcAft>
                <a:spcPts val="0"/>
              </a:spcAft>
              <a:buFont typeface="Wingdings"/>
              <a:buChar char=""/>
              <a:defRPr/>
            </a:pPr>
            <a:r>
              <a:rPr lang="en-GB" sz="1800" dirty="0">
                <a:solidFill>
                  <a:schemeClr val="tx1"/>
                </a:solidFill>
              </a:rPr>
              <a:t>B’s remedy against the S is </a:t>
            </a:r>
            <a:r>
              <a:rPr lang="en-GB" sz="1800" dirty="0">
                <a:solidFill>
                  <a:srgbClr val="FF0000"/>
                </a:solidFill>
              </a:rPr>
              <a:t>damages for non-delivery </a:t>
            </a:r>
            <a:r>
              <a:rPr lang="en-GB" sz="1800" b="1" dirty="0">
                <a:solidFill>
                  <a:srgbClr val="FF0000"/>
                </a:solidFill>
              </a:rPr>
              <a:t>(s.51)</a:t>
            </a:r>
          </a:p>
          <a:p>
            <a:pPr marL="548640" lvl="1" indent="-274320" eaLnBrk="1" fontAlgn="auto" hangingPunct="1">
              <a:spcAft>
                <a:spcPts val="0"/>
              </a:spcAft>
              <a:buFont typeface="Wingdings" pitchFamily="2" charset="2"/>
              <a:buNone/>
              <a:defRPr/>
            </a:pPr>
            <a:endParaRPr lang="en-GB" sz="1800" b="1" dirty="0">
              <a:solidFill>
                <a:srgbClr val="FF0000"/>
              </a:solidFill>
            </a:endParaRPr>
          </a:p>
          <a:p>
            <a:pPr marL="548640" lvl="1" indent="-274320" eaLnBrk="1" fontAlgn="auto" hangingPunct="1">
              <a:spcAft>
                <a:spcPts val="0"/>
              </a:spcAft>
              <a:buFont typeface="Wingdings"/>
              <a:buChar char=""/>
              <a:defRPr/>
            </a:pPr>
            <a:r>
              <a:rPr lang="en-GB" sz="1800" dirty="0">
                <a:solidFill>
                  <a:schemeClr val="tx1"/>
                </a:solidFill>
              </a:rPr>
              <a:t>S’s remedy against the B is damages for </a:t>
            </a:r>
            <a:r>
              <a:rPr lang="en-GB" sz="1800" dirty="0">
                <a:solidFill>
                  <a:srgbClr val="FF0000"/>
                </a:solidFill>
              </a:rPr>
              <a:t>non-acceptance </a:t>
            </a:r>
            <a:r>
              <a:rPr lang="en-GB" sz="1800" b="1" dirty="0">
                <a:solidFill>
                  <a:srgbClr val="FF0000"/>
                </a:solidFill>
              </a:rPr>
              <a:t>(s. 50)</a:t>
            </a:r>
            <a:r>
              <a:rPr lang="en-GB" sz="1800" dirty="0">
                <a:solidFill>
                  <a:schemeClr val="tx1"/>
                </a:solidFill>
              </a:rPr>
              <a:t>, the S continues to be responsible for the goods (storage, disposal etc.)</a:t>
            </a:r>
          </a:p>
          <a:p>
            <a:pPr marL="548640" lvl="1" indent="-274320" eaLnBrk="1" fontAlgn="auto" hangingPunct="1">
              <a:spcAft>
                <a:spcPts val="0"/>
              </a:spcAft>
              <a:buFont typeface="Wingdings" pitchFamily="2" charset="2"/>
              <a:buNone/>
              <a:defRPr/>
            </a:pPr>
            <a:endParaRPr lang="en-GB" sz="1800" dirty="0">
              <a:solidFill>
                <a:schemeClr val="tx1"/>
              </a:solidFill>
            </a:endParaRPr>
          </a:p>
          <a:p>
            <a:pPr marL="548640" lvl="1" indent="-274320" eaLnBrk="1" fontAlgn="auto" hangingPunct="1">
              <a:spcAft>
                <a:spcPts val="0"/>
              </a:spcAft>
              <a:buFont typeface="Wingdings"/>
              <a:buChar char=""/>
              <a:defRPr/>
            </a:pPr>
            <a:r>
              <a:rPr lang="en-GB" sz="1800" dirty="0">
                <a:solidFill>
                  <a:schemeClr val="tx1"/>
                </a:solidFill>
              </a:rPr>
              <a:t>S can sell the goods to a 3</a:t>
            </a:r>
            <a:r>
              <a:rPr lang="en-GB" sz="1800" baseline="30000" dirty="0">
                <a:solidFill>
                  <a:schemeClr val="tx1"/>
                </a:solidFill>
              </a:rPr>
              <a:t>rd</a:t>
            </a:r>
            <a:r>
              <a:rPr lang="en-GB" sz="1800" dirty="0">
                <a:solidFill>
                  <a:schemeClr val="tx1"/>
                </a:solidFill>
              </a:rPr>
              <a:t> party and pass a good title, but the B cannot sell (as he has no property rights) but can only agree to sell to a 3</a:t>
            </a:r>
            <a:r>
              <a:rPr lang="en-GB" sz="1800" baseline="30000" dirty="0">
                <a:solidFill>
                  <a:schemeClr val="tx1"/>
                </a:solidFill>
              </a:rPr>
              <a:t>rd</a:t>
            </a:r>
            <a:r>
              <a:rPr lang="en-GB" sz="1800" dirty="0">
                <a:solidFill>
                  <a:schemeClr val="tx1"/>
                </a:solidFill>
              </a:rPr>
              <a:t> party.</a:t>
            </a:r>
          </a:p>
          <a:p>
            <a:pPr marL="548640" lvl="1" indent="-274320" eaLnBrk="1" fontAlgn="auto" hangingPunct="1">
              <a:spcAft>
                <a:spcPts val="0"/>
              </a:spcAft>
              <a:buFont typeface="Wingdings" pitchFamily="2" charset="2"/>
              <a:buNone/>
              <a:defRPr/>
            </a:pPr>
            <a:endParaRPr lang="en-GB" sz="1800" dirty="0">
              <a:solidFill>
                <a:schemeClr val="tx1"/>
              </a:solidFill>
            </a:endParaRPr>
          </a:p>
          <a:p>
            <a:pPr marL="548640" lvl="1" indent="-274320" eaLnBrk="1" fontAlgn="auto" hangingPunct="1">
              <a:spcAft>
                <a:spcPts val="0"/>
              </a:spcAft>
              <a:buFont typeface="Wingdings"/>
              <a:buChar char=""/>
              <a:defRPr/>
            </a:pPr>
            <a:r>
              <a:rPr lang="en-GB" sz="1800" dirty="0">
                <a:solidFill>
                  <a:srgbClr val="FF0000"/>
                </a:solidFill>
              </a:rPr>
              <a:t>Risk of loss with the S </a:t>
            </a:r>
            <a:r>
              <a:rPr lang="en-GB" sz="1800" b="1" dirty="0">
                <a:solidFill>
                  <a:srgbClr val="FF0000"/>
                </a:solidFill>
              </a:rPr>
              <a:t>(s. 20)</a:t>
            </a:r>
            <a:r>
              <a:rPr lang="en-GB" sz="1800" dirty="0">
                <a:solidFill>
                  <a:srgbClr val="FF0000"/>
                </a:solidFill>
              </a:rPr>
              <a:t>.</a:t>
            </a:r>
          </a:p>
        </p:txBody>
      </p:sp>
      <p:sp>
        <p:nvSpPr>
          <p:cNvPr id="4" name="Slide Number Placeholder 3"/>
          <p:cNvSpPr>
            <a:spLocks noGrp="1"/>
          </p:cNvSpPr>
          <p:nvPr>
            <p:ph type="sldNum" sz="quarter" idx="12"/>
          </p:nvPr>
        </p:nvSpPr>
        <p:spPr/>
        <p:txBody>
          <a:bodyPr/>
          <a:lstStyle/>
          <a:p>
            <a:pPr>
              <a:defRPr/>
            </a:pPr>
            <a:fld id="{8634CCAF-147E-42B4-9A1B-611226C9D67C}" type="slidenum">
              <a:rPr lang="en-US"/>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GB" dirty="0">
                <a:solidFill>
                  <a:schemeClr val="tx1"/>
                </a:solidFill>
              </a:rPr>
              <a:t>Meaning of Property</a:t>
            </a:r>
          </a:p>
        </p:txBody>
      </p:sp>
      <p:sp>
        <p:nvSpPr>
          <p:cNvPr id="19459" name="Content Placeholder 2"/>
          <p:cNvSpPr>
            <a:spLocks noGrp="1"/>
          </p:cNvSpPr>
          <p:nvPr>
            <p:ph sz="quarter" idx="1"/>
          </p:nvPr>
        </p:nvSpPr>
        <p:spPr>
          <a:xfrm>
            <a:off x="301625" y="1527175"/>
            <a:ext cx="8504238" cy="4572000"/>
          </a:xfrm>
        </p:spPr>
        <p:txBody>
          <a:bodyPr/>
          <a:lstStyle/>
          <a:p>
            <a:pPr lvl="1" eaLnBrk="1" hangingPunct="1"/>
            <a:r>
              <a:rPr lang="en-GB" sz="2000" dirty="0">
                <a:solidFill>
                  <a:schemeClr val="tx1"/>
                </a:solidFill>
              </a:rPr>
              <a:t>Contract </a:t>
            </a:r>
            <a:r>
              <a:rPr lang="en-GB" sz="2000" dirty="0">
                <a:solidFill>
                  <a:srgbClr val="FF0000"/>
                </a:solidFill>
              </a:rPr>
              <a:t>may be frustrated if the goods perish </a:t>
            </a:r>
            <a:r>
              <a:rPr lang="en-GB" sz="2000" b="1" dirty="0">
                <a:solidFill>
                  <a:srgbClr val="FF0000"/>
                </a:solidFill>
              </a:rPr>
              <a:t>(s. 7)</a:t>
            </a:r>
          </a:p>
          <a:p>
            <a:pPr lvl="1" eaLnBrk="1" hangingPunct="1">
              <a:buFont typeface="Wingdings" pitchFamily="2" charset="2"/>
              <a:buNone/>
            </a:pPr>
            <a:endParaRPr lang="en-GB" sz="2000" b="1" dirty="0">
              <a:solidFill>
                <a:schemeClr val="tx1"/>
              </a:solidFill>
            </a:endParaRPr>
          </a:p>
          <a:p>
            <a:pPr lvl="1" eaLnBrk="1" hangingPunct="1"/>
            <a:r>
              <a:rPr lang="en-GB" sz="2000" dirty="0">
                <a:solidFill>
                  <a:schemeClr val="tx1"/>
                </a:solidFill>
              </a:rPr>
              <a:t>If goods are requisitioned loss is borne by the S, damage/compensation payable to the S.</a:t>
            </a:r>
          </a:p>
          <a:p>
            <a:pPr lvl="1" eaLnBrk="1" hangingPunct="1">
              <a:buFont typeface="Wingdings" pitchFamily="2" charset="2"/>
              <a:buNone/>
            </a:pPr>
            <a:endParaRPr lang="en-GB" sz="2000" dirty="0">
              <a:solidFill>
                <a:schemeClr val="tx1"/>
              </a:solidFill>
            </a:endParaRPr>
          </a:p>
          <a:p>
            <a:pPr lvl="1" eaLnBrk="1" hangingPunct="1"/>
            <a:r>
              <a:rPr lang="en-GB" sz="2000" dirty="0">
                <a:solidFill>
                  <a:schemeClr val="tx1"/>
                </a:solidFill>
              </a:rPr>
              <a:t>S’s insolvency, the B has no right to the goods, but only to the monies already paid towards the full price and for damages suffered.</a:t>
            </a:r>
          </a:p>
          <a:p>
            <a:pPr lvl="1" eaLnBrk="1" hangingPunct="1">
              <a:buFont typeface="Wingdings" pitchFamily="2" charset="2"/>
              <a:buNone/>
            </a:pPr>
            <a:endParaRPr lang="en-GB" sz="2000" dirty="0">
              <a:solidFill>
                <a:schemeClr val="tx1"/>
              </a:solidFill>
            </a:endParaRPr>
          </a:p>
          <a:p>
            <a:pPr lvl="1" eaLnBrk="1" hangingPunct="1"/>
            <a:r>
              <a:rPr lang="en-GB" sz="2000" dirty="0">
                <a:solidFill>
                  <a:schemeClr val="tx1"/>
                </a:solidFill>
              </a:rPr>
              <a:t>B’s insolvency, the S can claim back the goods even though they have been delivered </a:t>
            </a:r>
          </a:p>
          <a:p>
            <a:pPr lvl="1" eaLnBrk="1" hangingPunct="1">
              <a:buFont typeface="Wingdings" pitchFamily="2" charset="2"/>
              <a:buNone/>
            </a:pPr>
            <a:endParaRPr lang="en-GB" sz="2000" dirty="0">
              <a:solidFill>
                <a:schemeClr val="tx1"/>
              </a:solidFill>
            </a:endParaRPr>
          </a:p>
          <a:p>
            <a:pPr lvl="1" eaLnBrk="1" hangingPunct="1"/>
            <a:r>
              <a:rPr lang="en-GB" sz="2000" dirty="0">
                <a:solidFill>
                  <a:schemeClr val="tx1"/>
                </a:solidFill>
              </a:rPr>
              <a:t>Profits or increase in value belong to the </a:t>
            </a:r>
            <a:r>
              <a:rPr lang="en-GB" sz="2000" b="1" dirty="0">
                <a:solidFill>
                  <a:schemeClr val="tx1"/>
                </a:solidFill>
              </a:rPr>
              <a:t>????</a:t>
            </a:r>
          </a:p>
        </p:txBody>
      </p:sp>
      <p:sp>
        <p:nvSpPr>
          <p:cNvPr id="4" name="Slide Number Placeholder 3"/>
          <p:cNvSpPr>
            <a:spLocks noGrp="1"/>
          </p:cNvSpPr>
          <p:nvPr>
            <p:ph type="sldNum" sz="quarter" idx="12"/>
          </p:nvPr>
        </p:nvSpPr>
        <p:spPr/>
        <p:txBody>
          <a:bodyPr/>
          <a:lstStyle/>
          <a:p>
            <a:pPr>
              <a:defRPr/>
            </a:pPr>
            <a:fld id="{FE978803-6ECB-445F-B635-FC90C48176D2}" type="slidenum">
              <a:rPr lang="en-US" smtClean="0"/>
              <a:pPr>
                <a:defRPr/>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GB" dirty="0">
                <a:solidFill>
                  <a:schemeClr val="tx1"/>
                </a:solidFill>
              </a:rPr>
              <a:t>Meaning of Property</a:t>
            </a:r>
          </a:p>
        </p:txBody>
      </p:sp>
      <p:sp>
        <p:nvSpPr>
          <p:cNvPr id="22531" name="Content Placeholder 2"/>
          <p:cNvSpPr>
            <a:spLocks noGrp="1"/>
          </p:cNvSpPr>
          <p:nvPr>
            <p:ph sz="quarter" idx="1"/>
          </p:nvPr>
        </p:nvSpPr>
        <p:spPr>
          <a:xfrm>
            <a:off x="301625" y="1527175"/>
            <a:ext cx="8504238" cy="4572000"/>
          </a:xfrm>
        </p:spPr>
        <p:txBody>
          <a:bodyPr/>
          <a:lstStyle/>
          <a:p>
            <a:pPr eaLnBrk="1" hangingPunct="1"/>
            <a:r>
              <a:rPr lang="en-GB" sz="2800" dirty="0"/>
              <a:t>Transfer of property as between the B and S?</a:t>
            </a:r>
          </a:p>
          <a:p>
            <a:pPr lvl="1" eaLnBrk="1" hangingPunct="1"/>
            <a:r>
              <a:rPr lang="en-GB" sz="2800" dirty="0">
                <a:solidFill>
                  <a:schemeClr val="tx1"/>
                </a:solidFill>
              </a:rPr>
              <a:t>Transfer of rights and duties from S to B, </a:t>
            </a:r>
            <a:r>
              <a:rPr lang="en-GB" sz="2800" u="sng" dirty="0">
                <a:solidFill>
                  <a:schemeClr val="tx1"/>
                </a:solidFill>
              </a:rPr>
              <a:t>or</a:t>
            </a:r>
          </a:p>
          <a:p>
            <a:pPr lvl="1" eaLnBrk="1" hangingPunct="1"/>
            <a:r>
              <a:rPr lang="en-GB" sz="2800" dirty="0">
                <a:solidFill>
                  <a:schemeClr val="tx1"/>
                </a:solidFill>
              </a:rPr>
              <a:t>Transfer of property which affects the whole world.</a:t>
            </a:r>
          </a:p>
          <a:p>
            <a:pPr lvl="1" eaLnBrk="1" hangingPunct="1"/>
            <a:endParaRPr lang="en-GB" sz="2800" dirty="0"/>
          </a:p>
          <a:p>
            <a:pPr eaLnBrk="1" hangingPunct="1"/>
            <a:r>
              <a:rPr lang="en-GB" sz="2800" dirty="0"/>
              <a:t>Under SGA B’s right to possession depends on either:</a:t>
            </a:r>
          </a:p>
          <a:p>
            <a:pPr lvl="1" eaLnBrk="1" hangingPunct="1"/>
            <a:r>
              <a:rPr lang="en-GB" sz="2800" dirty="0">
                <a:solidFill>
                  <a:schemeClr val="tx1"/>
                </a:solidFill>
              </a:rPr>
              <a:t>Payment of the price or granting of credit</a:t>
            </a:r>
          </a:p>
          <a:p>
            <a:pPr lvl="1" eaLnBrk="1" hangingPunct="1"/>
            <a:r>
              <a:rPr lang="en-GB" sz="2800" b="1" dirty="0">
                <a:solidFill>
                  <a:schemeClr val="tx1"/>
                </a:solidFill>
              </a:rPr>
              <a:t>Not on the passing of property</a:t>
            </a:r>
          </a:p>
        </p:txBody>
      </p:sp>
      <p:sp>
        <p:nvSpPr>
          <p:cNvPr id="4" name="Slide Number Placeholder 3"/>
          <p:cNvSpPr>
            <a:spLocks noGrp="1"/>
          </p:cNvSpPr>
          <p:nvPr>
            <p:ph type="sldNum" sz="quarter" idx="12"/>
          </p:nvPr>
        </p:nvSpPr>
        <p:spPr/>
        <p:txBody>
          <a:bodyPr/>
          <a:lstStyle/>
          <a:p>
            <a:pPr>
              <a:defRPr/>
            </a:pPr>
            <a:fld id="{B1764E1F-F539-419A-B3A7-CBC3950A5D24}" type="slidenum">
              <a:rPr lang="en-US"/>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2"/>
          <p:cNvSpPr>
            <a:spLocks noGrp="1"/>
          </p:cNvSpPr>
          <p:nvPr>
            <p:ph type="title"/>
          </p:nvPr>
        </p:nvSpPr>
        <p:spPr/>
        <p:txBody>
          <a:bodyPr/>
          <a:lstStyle/>
          <a:p>
            <a:pPr eaLnBrk="1" hangingPunct="1"/>
            <a:r>
              <a:rPr lang="en-GB" dirty="0">
                <a:solidFill>
                  <a:schemeClr val="tx1"/>
                </a:solidFill>
              </a:rPr>
              <a:t>Meaning of Property</a:t>
            </a:r>
          </a:p>
        </p:txBody>
      </p:sp>
      <p:sp>
        <p:nvSpPr>
          <p:cNvPr id="23555" name="Content Placeholder 1"/>
          <p:cNvSpPr>
            <a:spLocks noGrp="1"/>
          </p:cNvSpPr>
          <p:nvPr>
            <p:ph sz="quarter" idx="1"/>
          </p:nvPr>
        </p:nvSpPr>
        <p:spPr>
          <a:xfrm>
            <a:off x="457200" y="1447800"/>
            <a:ext cx="8229600" cy="5029200"/>
          </a:xfrm>
        </p:spPr>
        <p:txBody>
          <a:bodyPr/>
          <a:lstStyle/>
          <a:p>
            <a:pPr eaLnBrk="1" hangingPunct="1"/>
            <a:r>
              <a:rPr lang="en-GB" dirty="0"/>
              <a:t>The mere fact that the property in the goods has passed to the buyer </a:t>
            </a:r>
            <a:r>
              <a:rPr lang="en-GB" b="1" dirty="0"/>
              <a:t>does not confer on him a title good against the whole world nor does it confer on him the right to possession as against the seller</a:t>
            </a:r>
            <a:r>
              <a:rPr lang="en-GB" dirty="0"/>
              <a:t>. </a:t>
            </a:r>
          </a:p>
          <a:p>
            <a:pPr eaLnBrk="1" hangingPunct="1">
              <a:buFont typeface="Wingdings 2" pitchFamily="18" charset="2"/>
              <a:buNone/>
            </a:pPr>
            <a:endParaRPr lang="en-GB" dirty="0"/>
          </a:p>
          <a:p>
            <a:pPr eaLnBrk="1" hangingPunct="1"/>
            <a:r>
              <a:rPr lang="en-GB" dirty="0"/>
              <a:t>The optimal method to understand the property in goods is to look at the consequences of passing of property. </a:t>
            </a:r>
          </a:p>
          <a:p>
            <a:pPr lvl="1" eaLnBrk="1" hangingPunct="1"/>
            <a:r>
              <a:rPr lang="en-GB" i="1" dirty="0">
                <a:solidFill>
                  <a:schemeClr val="tx1"/>
                </a:solidFill>
              </a:rPr>
              <a:t>i.e. </a:t>
            </a:r>
            <a:r>
              <a:rPr lang="en-GB" dirty="0">
                <a:solidFill>
                  <a:schemeClr val="tx1"/>
                </a:solidFill>
              </a:rPr>
              <a:t>rights given to the B with the passing of property.</a:t>
            </a:r>
          </a:p>
        </p:txBody>
      </p:sp>
      <p:sp>
        <p:nvSpPr>
          <p:cNvPr id="4" name="Slide Number Placeholder 3"/>
          <p:cNvSpPr>
            <a:spLocks noGrp="1"/>
          </p:cNvSpPr>
          <p:nvPr>
            <p:ph type="sldNum" sz="quarter" idx="12"/>
          </p:nvPr>
        </p:nvSpPr>
        <p:spPr/>
        <p:txBody>
          <a:bodyPr/>
          <a:lstStyle/>
          <a:p>
            <a:pPr>
              <a:defRPr/>
            </a:pPr>
            <a:fld id="{326A364C-7472-42A2-AA74-69CD96014376}" type="slidenum">
              <a:rPr lang="en-US"/>
              <a:pPr>
                <a:defRPr/>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2"/>
          <p:cNvSpPr>
            <a:spLocks noGrp="1"/>
          </p:cNvSpPr>
          <p:nvPr>
            <p:ph type="title"/>
          </p:nvPr>
        </p:nvSpPr>
        <p:spPr/>
        <p:txBody>
          <a:bodyPr/>
          <a:lstStyle/>
          <a:p>
            <a:pPr eaLnBrk="1" hangingPunct="1"/>
            <a:r>
              <a:rPr lang="en-GB" dirty="0">
                <a:solidFill>
                  <a:schemeClr val="tx1"/>
                </a:solidFill>
              </a:rPr>
              <a:t>Meaning of Property</a:t>
            </a:r>
          </a:p>
        </p:txBody>
      </p:sp>
      <p:sp>
        <p:nvSpPr>
          <p:cNvPr id="2" name="Content Placeholder 1"/>
          <p:cNvSpPr>
            <a:spLocks noGrp="1"/>
          </p:cNvSpPr>
          <p:nvPr>
            <p:ph sz="quarter" idx="1"/>
          </p:nvPr>
        </p:nvSpPr>
        <p:spPr>
          <a:xfrm>
            <a:off x="457200" y="1371600"/>
            <a:ext cx="8229600" cy="5029200"/>
          </a:xfrm>
        </p:spPr>
        <p:txBody>
          <a:bodyPr rtlCol="0">
            <a:normAutofit fontScale="92500" lnSpcReduction="20000"/>
          </a:bodyPr>
          <a:lstStyle/>
          <a:p>
            <a:pPr marL="274320" indent="-274320" eaLnBrk="1" fontAlgn="auto" hangingPunct="1">
              <a:spcAft>
                <a:spcPts val="0"/>
              </a:spcAft>
              <a:buFont typeface="Arial" pitchFamily="34" charset="0"/>
              <a:buChar char="•"/>
              <a:defRPr/>
            </a:pPr>
            <a:r>
              <a:rPr lang="en-GB" sz="2800" dirty="0">
                <a:solidFill>
                  <a:srgbClr val="FF0000"/>
                </a:solidFill>
              </a:rPr>
              <a:t>To obtain possession buyer needs to pay the price of the goods or the seller grant him a credit (retention of title).</a:t>
            </a:r>
          </a:p>
          <a:p>
            <a:pPr marL="548640" lvl="1" indent="-274320" eaLnBrk="1" fontAlgn="auto" hangingPunct="1">
              <a:spcAft>
                <a:spcPts val="0"/>
              </a:spcAft>
              <a:buFont typeface="Arial" pitchFamily="34" charset="0"/>
              <a:buChar char="–"/>
              <a:defRPr/>
            </a:pPr>
            <a:r>
              <a:rPr lang="en-GB" sz="2400" b="1" dirty="0">
                <a:solidFill>
                  <a:srgbClr val="FF0000"/>
                </a:solidFill>
              </a:rPr>
              <a:t>S. 28 </a:t>
            </a:r>
            <a:r>
              <a:rPr lang="en-GB" sz="2400" b="1" dirty="0">
                <a:solidFill>
                  <a:schemeClr val="tx1"/>
                </a:solidFill>
              </a:rPr>
              <a:t>delivery conditional on payment of the price</a:t>
            </a:r>
          </a:p>
          <a:p>
            <a:pPr marL="548640" lvl="1" indent="-274320" eaLnBrk="1" fontAlgn="auto" hangingPunct="1">
              <a:spcAft>
                <a:spcPts val="0"/>
              </a:spcAft>
              <a:buFont typeface="Arial" pitchFamily="34" charset="0"/>
              <a:buChar char="–"/>
              <a:defRPr/>
            </a:pPr>
            <a:r>
              <a:rPr lang="en-GB" sz="2400" dirty="0">
                <a:solidFill>
                  <a:schemeClr val="tx1"/>
                </a:solidFill>
              </a:rPr>
              <a:t>Without payment of price immediate right to possession is not possible. </a:t>
            </a:r>
          </a:p>
          <a:p>
            <a:pPr marL="548640" lvl="1" indent="-274320" eaLnBrk="1" fontAlgn="auto" hangingPunct="1">
              <a:spcAft>
                <a:spcPts val="0"/>
              </a:spcAft>
              <a:buFont typeface="Wingdings" pitchFamily="2" charset="2"/>
              <a:buNone/>
              <a:defRPr/>
            </a:pPr>
            <a:endParaRPr lang="en-GB" sz="2400" dirty="0">
              <a:solidFill>
                <a:schemeClr val="tx1"/>
              </a:solidFill>
            </a:endParaRPr>
          </a:p>
          <a:p>
            <a:pPr marL="274320" indent="-274320" eaLnBrk="1" fontAlgn="auto" hangingPunct="1">
              <a:spcAft>
                <a:spcPts val="0"/>
              </a:spcAft>
              <a:buFont typeface="Arial" pitchFamily="34" charset="0"/>
              <a:buChar char="•"/>
              <a:defRPr/>
            </a:pPr>
            <a:r>
              <a:rPr lang="en-GB" sz="2800" dirty="0"/>
              <a:t>If the buyer resells the goods before obtaining possession, the </a:t>
            </a:r>
            <a:r>
              <a:rPr lang="en-GB" sz="2800" b="1" dirty="0"/>
              <a:t>sub-buyer’s right will be the same as the original buyer</a:t>
            </a:r>
            <a:r>
              <a:rPr lang="en-GB" sz="2800" dirty="0"/>
              <a:t>. </a:t>
            </a:r>
          </a:p>
          <a:p>
            <a:pPr marL="548640" lvl="1" indent="-274320" eaLnBrk="1" fontAlgn="auto" hangingPunct="1">
              <a:spcAft>
                <a:spcPts val="0"/>
              </a:spcAft>
              <a:buFont typeface="Arial" pitchFamily="34" charset="0"/>
              <a:buChar char="–"/>
              <a:defRPr/>
            </a:pPr>
            <a:r>
              <a:rPr lang="en-GB" sz="2400" dirty="0">
                <a:solidFill>
                  <a:schemeClr val="tx1"/>
                </a:solidFill>
              </a:rPr>
              <a:t>Depends on the payment of price </a:t>
            </a:r>
          </a:p>
          <a:p>
            <a:pPr marL="548640" lvl="1" indent="-274320" eaLnBrk="1" fontAlgn="auto" hangingPunct="1">
              <a:spcAft>
                <a:spcPts val="0"/>
              </a:spcAft>
              <a:buFont typeface="Arial" pitchFamily="34" charset="0"/>
              <a:buChar char="–"/>
              <a:defRPr/>
            </a:pPr>
            <a:r>
              <a:rPr lang="en-GB" sz="2400" dirty="0">
                <a:solidFill>
                  <a:schemeClr val="tx1"/>
                </a:solidFill>
              </a:rPr>
              <a:t>But if the B has passed the </a:t>
            </a:r>
            <a:r>
              <a:rPr lang="en-GB" sz="2400" u="sng" dirty="0">
                <a:solidFill>
                  <a:schemeClr val="tx1"/>
                </a:solidFill>
              </a:rPr>
              <a:t>documents of title </a:t>
            </a:r>
            <a:r>
              <a:rPr lang="en-GB" sz="2400" dirty="0">
                <a:solidFill>
                  <a:schemeClr val="tx1"/>
                </a:solidFill>
              </a:rPr>
              <a:t>to the 3</a:t>
            </a:r>
            <a:r>
              <a:rPr lang="en-GB" sz="2400" baseline="30000" dirty="0">
                <a:solidFill>
                  <a:schemeClr val="tx1"/>
                </a:solidFill>
              </a:rPr>
              <a:t>rd</a:t>
            </a:r>
            <a:r>
              <a:rPr lang="en-GB" sz="2400" dirty="0">
                <a:solidFill>
                  <a:schemeClr val="tx1"/>
                </a:solidFill>
              </a:rPr>
              <a:t> Party, the seller’s rights are defeated.</a:t>
            </a:r>
          </a:p>
          <a:p>
            <a:pPr marL="822960" lvl="2" eaLnBrk="1" fontAlgn="auto" hangingPunct="1">
              <a:spcAft>
                <a:spcPts val="0"/>
              </a:spcAft>
              <a:buClr>
                <a:schemeClr val="accent3"/>
              </a:buClr>
              <a:buFont typeface="Arial" pitchFamily="34" charset="0"/>
              <a:buChar char="•"/>
              <a:defRPr/>
            </a:pPr>
            <a:r>
              <a:rPr lang="en-GB" dirty="0"/>
              <a:t>Why?</a:t>
            </a:r>
          </a:p>
        </p:txBody>
      </p:sp>
      <p:sp>
        <p:nvSpPr>
          <p:cNvPr id="4" name="Slide Number Placeholder 3"/>
          <p:cNvSpPr>
            <a:spLocks noGrp="1"/>
          </p:cNvSpPr>
          <p:nvPr>
            <p:ph type="sldNum" sz="quarter" idx="12"/>
          </p:nvPr>
        </p:nvSpPr>
        <p:spPr/>
        <p:txBody>
          <a:bodyPr/>
          <a:lstStyle/>
          <a:p>
            <a:pPr>
              <a:defRPr/>
            </a:pPr>
            <a:fld id="{DF365229-04F4-40B3-AD00-83F5BD51F193}" type="slidenum">
              <a:rPr lang="en-US"/>
              <a:pPr>
                <a:defRPr/>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GB" dirty="0">
                <a:solidFill>
                  <a:schemeClr val="tx1"/>
                </a:solidFill>
              </a:rPr>
              <a:t>Meaning of Property</a:t>
            </a:r>
          </a:p>
        </p:txBody>
      </p:sp>
      <p:sp>
        <p:nvSpPr>
          <p:cNvPr id="3" name="Slide Number Placeholder 2"/>
          <p:cNvSpPr>
            <a:spLocks noGrp="1"/>
          </p:cNvSpPr>
          <p:nvPr>
            <p:ph type="sldNum" sz="quarter" idx="12"/>
          </p:nvPr>
        </p:nvSpPr>
        <p:spPr/>
        <p:txBody>
          <a:bodyPr/>
          <a:lstStyle/>
          <a:p>
            <a:pPr>
              <a:defRPr/>
            </a:pPr>
            <a:fld id="{AF536711-1AA5-4FA1-958C-C3999994D6C0}" type="slidenum">
              <a:rPr lang="en-US"/>
              <a:pPr>
                <a:defRPr/>
              </a:pPr>
              <a:t>13</a:t>
            </a:fld>
            <a:endParaRPr lang="en-US"/>
          </a:p>
        </p:txBody>
      </p:sp>
      <p:sp>
        <p:nvSpPr>
          <p:cNvPr id="25604" name="Content Placeholder 3"/>
          <p:cNvSpPr>
            <a:spLocks noGrp="1"/>
          </p:cNvSpPr>
          <p:nvPr>
            <p:ph sz="quarter" idx="1"/>
          </p:nvPr>
        </p:nvSpPr>
        <p:spPr>
          <a:xfrm>
            <a:off x="301625" y="1527175"/>
            <a:ext cx="8504238" cy="4572000"/>
          </a:xfrm>
        </p:spPr>
        <p:txBody>
          <a:bodyPr/>
          <a:lstStyle/>
          <a:p>
            <a:pPr eaLnBrk="1" hangingPunct="1"/>
            <a:r>
              <a:rPr lang="en-GB" dirty="0"/>
              <a:t>Key point showing how important ownership is under the Act:</a:t>
            </a:r>
          </a:p>
          <a:p>
            <a:pPr marL="0" indent="0" eaLnBrk="1" hangingPunct="1">
              <a:buNone/>
            </a:pPr>
            <a:endParaRPr lang="en-GB" dirty="0"/>
          </a:p>
          <a:p>
            <a:pPr marL="0" indent="0" eaLnBrk="1" hangingPunct="1">
              <a:buNone/>
            </a:pPr>
            <a:r>
              <a:rPr lang="en-GB" dirty="0"/>
              <a:t>	If the B does not get the </a:t>
            </a:r>
            <a:r>
              <a:rPr lang="en-GB" b="1" dirty="0">
                <a:solidFill>
                  <a:srgbClr val="FF0000"/>
                </a:solidFill>
              </a:rPr>
              <a:t>ownership</a:t>
            </a:r>
            <a:r>
              <a:rPr lang="en-GB" dirty="0"/>
              <a:t> that he has 	bargained for, B can recover the whole price that 	he has paid as </a:t>
            </a:r>
            <a:r>
              <a:rPr lang="en-GB" b="1" dirty="0">
                <a:solidFill>
                  <a:srgbClr val="FF0000"/>
                </a:solidFill>
              </a:rPr>
              <a:t>total failure of consideration, 	</a:t>
            </a:r>
            <a:r>
              <a:rPr lang="en-GB" dirty="0"/>
              <a:t>even after possession and use of the goods for a 	considerable time.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eaLnBrk="1" hangingPunct="1"/>
            <a:r>
              <a:rPr lang="en-GB" dirty="0">
                <a:solidFill>
                  <a:schemeClr val="tx1"/>
                </a:solidFill>
              </a:rPr>
              <a:t>Meaning of Property</a:t>
            </a:r>
          </a:p>
        </p:txBody>
      </p:sp>
      <p:sp>
        <p:nvSpPr>
          <p:cNvPr id="27651" name="Content Placeholder 2"/>
          <p:cNvSpPr>
            <a:spLocks noGrp="1"/>
          </p:cNvSpPr>
          <p:nvPr>
            <p:ph sz="quarter" idx="1"/>
          </p:nvPr>
        </p:nvSpPr>
        <p:spPr>
          <a:xfrm>
            <a:off x="301625" y="1527175"/>
            <a:ext cx="8504238" cy="4572000"/>
          </a:xfrm>
        </p:spPr>
        <p:txBody>
          <a:bodyPr/>
          <a:lstStyle/>
          <a:p>
            <a:pPr eaLnBrk="1" hangingPunct="1">
              <a:buNone/>
            </a:pPr>
            <a:r>
              <a:rPr lang="en-GB" b="1" u="sng" dirty="0"/>
              <a:t>Looking at a few practical scenarios......</a:t>
            </a:r>
          </a:p>
          <a:p>
            <a:pPr eaLnBrk="1" hangingPunct="1"/>
            <a:endParaRPr lang="en-GB" dirty="0"/>
          </a:p>
          <a:p>
            <a:pPr eaLnBrk="1" hangingPunct="1">
              <a:buNone/>
            </a:pPr>
            <a:r>
              <a:rPr lang="en-GB" dirty="0"/>
              <a:t>1) With the incorporation of </a:t>
            </a:r>
            <a:r>
              <a:rPr lang="en-GB" dirty="0" err="1">
                <a:solidFill>
                  <a:srgbClr val="FF0000"/>
                </a:solidFill>
              </a:rPr>
              <a:t>RoT</a:t>
            </a:r>
            <a:r>
              <a:rPr lang="en-GB" dirty="0">
                <a:solidFill>
                  <a:srgbClr val="FF0000"/>
                </a:solidFill>
              </a:rPr>
              <a:t> clauses </a:t>
            </a:r>
            <a:r>
              <a:rPr lang="en-GB" dirty="0"/>
              <a:t>in contracts, passing of property is subject to </a:t>
            </a:r>
            <a:r>
              <a:rPr lang="en-GB" dirty="0" err="1"/>
              <a:t>RoT</a:t>
            </a:r>
            <a:r>
              <a:rPr lang="en-GB" dirty="0"/>
              <a:t> clauses. </a:t>
            </a:r>
          </a:p>
          <a:p>
            <a:pPr lvl="1" eaLnBrk="1" hangingPunct="1"/>
            <a:r>
              <a:rPr lang="en-GB" dirty="0">
                <a:solidFill>
                  <a:schemeClr val="tx1"/>
                </a:solidFill>
              </a:rPr>
              <a:t>Some become void unless registered under the </a:t>
            </a:r>
            <a:r>
              <a:rPr lang="en-GB" b="1" dirty="0">
                <a:solidFill>
                  <a:srgbClr val="FF0000"/>
                </a:solidFill>
              </a:rPr>
              <a:t>CA 2006, </a:t>
            </a:r>
          </a:p>
          <a:p>
            <a:pPr marL="274638" lvl="1" indent="0" eaLnBrk="1" hangingPunct="1">
              <a:buNone/>
            </a:pPr>
            <a:r>
              <a:rPr lang="en-GB" b="1" dirty="0">
                <a:solidFill>
                  <a:srgbClr val="FF0000"/>
                </a:solidFill>
              </a:rPr>
              <a:t>    s. 859A</a:t>
            </a:r>
          </a:p>
          <a:p>
            <a:pPr lvl="2" eaLnBrk="1" hangingPunct="1"/>
            <a:r>
              <a:rPr lang="en-GB" dirty="0"/>
              <a:t>Why?	</a:t>
            </a:r>
          </a:p>
          <a:p>
            <a:pPr lvl="3" eaLnBrk="1" hangingPunct="1"/>
            <a:r>
              <a:rPr lang="en-GB" dirty="0">
                <a:solidFill>
                  <a:schemeClr val="tx1"/>
                </a:solidFill>
              </a:rPr>
              <a:t>Because they become a charge (security interest) by the buyer to the seller and without registration under the </a:t>
            </a:r>
            <a:r>
              <a:rPr lang="en-GB" b="1" dirty="0">
                <a:solidFill>
                  <a:schemeClr val="tx1"/>
                </a:solidFill>
              </a:rPr>
              <a:t>CA 2006, s. 859A </a:t>
            </a:r>
            <a:r>
              <a:rPr lang="en-GB" dirty="0">
                <a:solidFill>
                  <a:schemeClr val="tx1"/>
                </a:solidFill>
              </a:rPr>
              <a:t>to the Companies House, they become void.</a:t>
            </a:r>
          </a:p>
        </p:txBody>
      </p:sp>
      <p:sp>
        <p:nvSpPr>
          <p:cNvPr id="4" name="Slide Number Placeholder 3"/>
          <p:cNvSpPr>
            <a:spLocks noGrp="1"/>
          </p:cNvSpPr>
          <p:nvPr>
            <p:ph type="sldNum" sz="quarter" idx="12"/>
          </p:nvPr>
        </p:nvSpPr>
        <p:spPr/>
        <p:txBody>
          <a:bodyPr/>
          <a:lstStyle/>
          <a:p>
            <a:pPr>
              <a:defRPr/>
            </a:pPr>
            <a:fld id="{4D5E1BE3-5BD8-4807-8671-1F9CAF3ED5E1}" type="slidenum">
              <a:rPr lang="en-US"/>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GB" dirty="0">
                <a:solidFill>
                  <a:schemeClr val="tx1"/>
                </a:solidFill>
              </a:rPr>
              <a:t>Meaning of Property</a:t>
            </a:r>
          </a:p>
        </p:txBody>
      </p:sp>
      <p:sp>
        <p:nvSpPr>
          <p:cNvPr id="28675" name="Content Placeholder 2"/>
          <p:cNvSpPr>
            <a:spLocks noGrp="1"/>
          </p:cNvSpPr>
          <p:nvPr>
            <p:ph sz="quarter" idx="1"/>
          </p:nvPr>
        </p:nvSpPr>
        <p:spPr>
          <a:xfrm>
            <a:off x="301625" y="1527175"/>
            <a:ext cx="8504238" cy="4572000"/>
          </a:xfrm>
        </p:spPr>
        <p:txBody>
          <a:bodyPr/>
          <a:lstStyle/>
          <a:p>
            <a:pPr marL="514350" indent="-514350" eaLnBrk="1" hangingPunct="1">
              <a:buAutoNum type="arabicParenR" startAt="2"/>
            </a:pPr>
            <a:r>
              <a:rPr lang="en-GB" b="1" dirty="0"/>
              <a:t>What happens when the S, in possession of the goods, resells them to a 3</a:t>
            </a:r>
            <a:r>
              <a:rPr lang="en-GB" b="1" baseline="30000" dirty="0"/>
              <a:t>rd</a:t>
            </a:r>
            <a:r>
              <a:rPr lang="en-GB" b="1" dirty="0"/>
              <a:t> P?</a:t>
            </a:r>
          </a:p>
          <a:p>
            <a:pPr lvl="1" eaLnBrk="1" hangingPunct="1"/>
            <a:r>
              <a:rPr lang="en-GB" b="1" dirty="0">
                <a:solidFill>
                  <a:srgbClr val="FF0000"/>
                </a:solidFill>
              </a:rPr>
              <a:t>S. 24 </a:t>
            </a:r>
            <a:r>
              <a:rPr lang="en-GB" dirty="0">
                <a:solidFill>
                  <a:schemeClr val="tx1"/>
                </a:solidFill>
              </a:rPr>
              <a:t>– S, who has possession, can pass a good title to a </a:t>
            </a:r>
            <a:r>
              <a:rPr lang="en-GB" i="1" dirty="0">
                <a:solidFill>
                  <a:schemeClr val="tx1"/>
                </a:solidFill>
              </a:rPr>
              <a:t>bona fide </a:t>
            </a:r>
            <a:r>
              <a:rPr lang="en-GB" dirty="0">
                <a:solidFill>
                  <a:schemeClr val="tx1"/>
                </a:solidFill>
              </a:rPr>
              <a:t>transferee. It may be wrongful to the B but it is valid.</a:t>
            </a:r>
          </a:p>
          <a:p>
            <a:pPr lvl="2" eaLnBrk="1" hangingPunct="1"/>
            <a:r>
              <a:rPr lang="en-GB" i="1" dirty="0"/>
              <a:t>Pacific Motor </a:t>
            </a:r>
            <a:r>
              <a:rPr lang="en-GB" dirty="0"/>
              <a:t>v</a:t>
            </a:r>
            <a:r>
              <a:rPr lang="en-GB" i="1" dirty="0"/>
              <a:t> Motor Credits.  See also:  Worcester Works Finance Ltd </a:t>
            </a:r>
            <a:r>
              <a:rPr lang="en-GB" dirty="0"/>
              <a:t>v</a:t>
            </a:r>
            <a:r>
              <a:rPr lang="en-GB" i="1" dirty="0"/>
              <a:t> </a:t>
            </a:r>
            <a:r>
              <a:rPr lang="en-GB" i="1" dirty="0" err="1"/>
              <a:t>Cooden</a:t>
            </a:r>
            <a:r>
              <a:rPr lang="en-GB" i="1" dirty="0"/>
              <a:t> Engineering Co Ltd [1972] 1 QB 210: </a:t>
            </a:r>
            <a:r>
              <a:rPr lang="en-GB" i="1" dirty="0">
                <a:solidFill>
                  <a:schemeClr val="tx1"/>
                </a:solidFill>
              </a:rPr>
              <a:t>Immaterial in what capacity the seller retains possession.</a:t>
            </a:r>
          </a:p>
          <a:p>
            <a:pPr lvl="2" eaLnBrk="1" hangingPunct="1"/>
            <a:endParaRPr lang="en-GB" i="1" dirty="0">
              <a:solidFill>
                <a:schemeClr val="tx1"/>
              </a:solidFill>
            </a:endParaRPr>
          </a:p>
          <a:p>
            <a:pPr lvl="1" eaLnBrk="1" hangingPunct="1"/>
            <a:r>
              <a:rPr lang="en-GB" dirty="0">
                <a:solidFill>
                  <a:schemeClr val="tx1"/>
                </a:solidFill>
              </a:rPr>
              <a:t>But the S cannot pass a good title to a 3</a:t>
            </a:r>
            <a:r>
              <a:rPr lang="en-GB" baseline="30000" dirty="0">
                <a:solidFill>
                  <a:schemeClr val="tx1"/>
                </a:solidFill>
              </a:rPr>
              <a:t>rd</a:t>
            </a:r>
            <a:r>
              <a:rPr lang="en-GB" dirty="0">
                <a:solidFill>
                  <a:schemeClr val="tx1"/>
                </a:solidFill>
              </a:rPr>
              <a:t> Party if the goods were in possession of the B and then returned to the S to hold as a bailee.</a:t>
            </a:r>
          </a:p>
          <a:p>
            <a:pPr lvl="2" eaLnBrk="1" hangingPunct="1"/>
            <a:r>
              <a:rPr lang="en-GB" i="1" dirty="0"/>
              <a:t>Why? Because the </a:t>
            </a:r>
            <a:r>
              <a:rPr lang="en-GB" i="1" dirty="0" err="1"/>
              <a:t>bailee</a:t>
            </a:r>
            <a:r>
              <a:rPr lang="en-GB" i="1" dirty="0"/>
              <a:t> has limited property rights. </a:t>
            </a:r>
            <a:r>
              <a:rPr lang="en-GB" dirty="0"/>
              <a:t> </a:t>
            </a:r>
          </a:p>
        </p:txBody>
      </p:sp>
      <p:sp>
        <p:nvSpPr>
          <p:cNvPr id="4" name="Slide Number Placeholder 3"/>
          <p:cNvSpPr>
            <a:spLocks noGrp="1"/>
          </p:cNvSpPr>
          <p:nvPr>
            <p:ph type="sldNum" sz="quarter" idx="12"/>
          </p:nvPr>
        </p:nvSpPr>
        <p:spPr/>
        <p:txBody>
          <a:bodyPr/>
          <a:lstStyle/>
          <a:p>
            <a:pPr>
              <a:defRPr/>
            </a:pPr>
            <a:fld id="{AC1AED05-8130-4FD6-B282-CF1AD6CC8691}" type="slidenum">
              <a:rPr lang="en-US"/>
              <a:pPr>
                <a:defRPr/>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GB" dirty="0">
                <a:solidFill>
                  <a:schemeClr val="tx1"/>
                </a:solidFill>
              </a:rPr>
              <a:t>Meaning of Property</a:t>
            </a:r>
          </a:p>
        </p:txBody>
      </p:sp>
      <p:sp>
        <p:nvSpPr>
          <p:cNvPr id="3" name="Content Placeholder 2"/>
          <p:cNvSpPr>
            <a:spLocks noGrp="1"/>
          </p:cNvSpPr>
          <p:nvPr>
            <p:ph sz="quarter" idx="1"/>
          </p:nvPr>
        </p:nvSpPr>
        <p:spPr>
          <a:xfrm>
            <a:off x="301625" y="1527175"/>
            <a:ext cx="8504238" cy="4572000"/>
          </a:xfrm>
        </p:spPr>
        <p:txBody>
          <a:bodyPr>
            <a:normAutofit fontScale="92500" lnSpcReduction="10000"/>
          </a:bodyPr>
          <a:lstStyle/>
          <a:p>
            <a:pPr marL="274320" indent="-274320" eaLnBrk="1" fontAlgn="auto" hangingPunct="1">
              <a:spcAft>
                <a:spcPts val="0"/>
              </a:spcAft>
              <a:buNone/>
              <a:defRPr/>
            </a:pPr>
            <a:r>
              <a:rPr lang="en-GB" b="1" dirty="0"/>
              <a:t>3)  Seller’s insolvency:</a:t>
            </a:r>
          </a:p>
          <a:p>
            <a:pPr marL="548640" lvl="1" indent="-274320" eaLnBrk="1" fontAlgn="auto" hangingPunct="1">
              <a:spcAft>
                <a:spcPts val="0"/>
              </a:spcAft>
              <a:buFont typeface="Wingdings"/>
              <a:buChar char=""/>
              <a:defRPr/>
            </a:pPr>
            <a:r>
              <a:rPr lang="en-GB" u="sng" dirty="0">
                <a:solidFill>
                  <a:schemeClr val="tx1"/>
                </a:solidFill>
              </a:rPr>
              <a:t>Goods are sold, property has passed to the B and S remained in possession.</a:t>
            </a:r>
          </a:p>
          <a:p>
            <a:pPr marL="548640" lvl="1" indent="-274320" eaLnBrk="1" fontAlgn="auto" hangingPunct="1">
              <a:spcAft>
                <a:spcPts val="0"/>
              </a:spcAft>
              <a:buFont typeface="Wingdings" pitchFamily="2" charset="2"/>
              <a:buNone/>
              <a:defRPr/>
            </a:pPr>
            <a:endParaRPr lang="en-GB" dirty="0">
              <a:solidFill>
                <a:schemeClr val="tx1"/>
              </a:solidFill>
            </a:endParaRPr>
          </a:p>
          <a:p>
            <a:pPr marL="548640" lvl="1" indent="-274320" eaLnBrk="1" fontAlgn="auto" hangingPunct="1">
              <a:spcAft>
                <a:spcPts val="0"/>
              </a:spcAft>
              <a:buFont typeface="Wingdings"/>
              <a:buChar char=""/>
              <a:defRPr/>
            </a:pPr>
            <a:r>
              <a:rPr lang="en-GB" dirty="0">
                <a:solidFill>
                  <a:schemeClr val="tx1"/>
                </a:solidFill>
              </a:rPr>
              <a:t>B has rights against the S or Receiver/Liquidator, but depending on what S is (individual or a company) Bills of Sale Acts or CA 2006 may operate to invalidate the sale or the buyer’s rights.</a:t>
            </a:r>
          </a:p>
          <a:p>
            <a:pPr marL="548640" lvl="1" indent="-274320" eaLnBrk="1" fontAlgn="auto" hangingPunct="1">
              <a:spcAft>
                <a:spcPts val="0"/>
              </a:spcAft>
              <a:buFont typeface="Wingdings" pitchFamily="2" charset="2"/>
              <a:buNone/>
              <a:defRPr/>
            </a:pPr>
            <a:endParaRPr lang="en-GB" dirty="0">
              <a:solidFill>
                <a:schemeClr val="tx1"/>
              </a:solidFill>
            </a:endParaRPr>
          </a:p>
          <a:p>
            <a:pPr marL="822960" lvl="2" eaLnBrk="1" fontAlgn="auto" hangingPunct="1">
              <a:spcAft>
                <a:spcPts val="0"/>
              </a:spcAft>
              <a:buClr>
                <a:schemeClr val="accent3"/>
              </a:buClr>
              <a:buFont typeface="Wingdings 2"/>
              <a:buChar char=""/>
              <a:defRPr/>
            </a:pPr>
            <a:r>
              <a:rPr lang="en-GB" dirty="0"/>
              <a:t>If the S is a company, B’s property must be registered s.859A CA 2006 as a charge on goods (B becomes a chargeholder and has better rights in the S’s insolvency).</a:t>
            </a:r>
          </a:p>
          <a:p>
            <a:pPr marL="822960" lvl="2" eaLnBrk="1" fontAlgn="auto" hangingPunct="1">
              <a:spcAft>
                <a:spcPts val="0"/>
              </a:spcAft>
              <a:buClr>
                <a:schemeClr val="accent3"/>
              </a:buClr>
              <a:buFont typeface="Wingdings 2"/>
              <a:buChar char=""/>
              <a:defRPr/>
            </a:pPr>
            <a:endParaRPr lang="en-GB" dirty="0"/>
          </a:p>
          <a:p>
            <a:pPr marL="548640" lvl="1" indent="-274320" eaLnBrk="1" fontAlgn="auto" hangingPunct="1">
              <a:spcAft>
                <a:spcPts val="0"/>
              </a:spcAft>
              <a:buFont typeface="Wingdings"/>
              <a:buChar char=""/>
              <a:defRPr/>
            </a:pPr>
            <a:r>
              <a:rPr lang="en-GB" dirty="0">
                <a:solidFill>
                  <a:schemeClr val="tx1"/>
                </a:solidFill>
              </a:rPr>
              <a:t>B’s right to goods when he is the undisputed owner will be enforced against the S who proposes to convert them and pay damages in lieu.</a:t>
            </a:r>
          </a:p>
        </p:txBody>
      </p:sp>
      <p:sp>
        <p:nvSpPr>
          <p:cNvPr id="4" name="Slide Number Placeholder 3"/>
          <p:cNvSpPr>
            <a:spLocks noGrp="1"/>
          </p:cNvSpPr>
          <p:nvPr>
            <p:ph type="sldNum" sz="quarter" idx="12"/>
          </p:nvPr>
        </p:nvSpPr>
        <p:spPr/>
        <p:txBody>
          <a:bodyPr/>
          <a:lstStyle/>
          <a:p>
            <a:pPr>
              <a:defRPr/>
            </a:pPr>
            <a:fld id="{225351F0-BD21-4136-A2B0-91A328BB364D}" type="slidenum">
              <a:rPr lang="en-US"/>
              <a:pPr>
                <a:defRPr/>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GB" b="1" u="sng" dirty="0">
                <a:solidFill>
                  <a:schemeClr val="tx1"/>
                </a:solidFill>
              </a:rPr>
              <a:t>Consequences (Summary Slide)</a:t>
            </a:r>
          </a:p>
        </p:txBody>
      </p:sp>
      <p:sp>
        <p:nvSpPr>
          <p:cNvPr id="30723" name="Content Placeholder 2"/>
          <p:cNvSpPr>
            <a:spLocks noGrp="1"/>
          </p:cNvSpPr>
          <p:nvPr>
            <p:ph sz="quarter" idx="1"/>
          </p:nvPr>
        </p:nvSpPr>
        <p:spPr>
          <a:xfrm>
            <a:off x="301625" y="1371601"/>
            <a:ext cx="8504238" cy="5334000"/>
          </a:xfrm>
        </p:spPr>
        <p:txBody>
          <a:bodyPr/>
          <a:lstStyle/>
          <a:p>
            <a:pPr eaLnBrk="1" hangingPunct="1"/>
            <a:r>
              <a:rPr lang="en-GB" u="sng" dirty="0">
                <a:solidFill>
                  <a:srgbClr val="FF0000"/>
                </a:solidFill>
              </a:rPr>
              <a:t>Consequences of property passing</a:t>
            </a:r>
          </a:p>
          <a:p>
            <a:pPr eaLnBrk="1" hangingPunct="1">
              <a:buFont typeface="Wingdings 2" pitchFamily="18" charset="2"/>
              <a:buNone/>
            </a:pPr>
            <a:endParaRPr lang="en-GB" sz="2000" dirty="0"/>
          </a:p>
          <a:p>
            <a:pPr lvl="1" eaLnBrk="1" hangingPunct="1"/>
            <a:r>
              <a:rPr lang="en-GB" sz="2000" dirty="0">
                <a:solidFill>
                  <a:schemeClr val="tx1"/>
                </a:solidFill>
              </a:rPr>
              <a:t>B has the property, B has good title in S’s insolvency if the goods were in S’s possession at the time [</a:t>
            </a:r>
            <a:r>
              <a:rPr lang="en-GB" sz="2000" u="sng" dirty="0">
                <a:solidFill>
                  <a:schemeClr val="tx1"/>
                </a:solidFill>
              </a:rPr>
              <a:t>affects 3</a:t>
            </a:r>
            <a:r>
              <a:rPr lang="en-GB" sz="2000" u="sng" baseline="30000" dirty="0">
                <a:solidFill>
                  <a:schemeClr val="tx1"/>
                </a:solidFill>
              </a:rPr>
              <a:t>rd</a:t>
            </a:r>
            <a:r>
              <a:rPr lang="en-GB" sz="2000" u="sng" dirty="0">
                <a:solidFill>
                  <a:schemeClr val="tx1"/>
                </a:solidFill>
              </a:rPr>
              <a:t> Parties</a:t>
            </a:r>
            <a:r>
              <a:rPr lang="en-GB" sz="2000" dirty="0">
                <a:solidFill>
                  <a:schemeClr val="tx1"/>
                </a:solidFill>
              </a:rPr>
              <a:t>]</a:t>
            </a:r>
          </a:p>
          <a:p>
            <a:pPr lvl="1" eaLnBrk="1" hangingPunct="1">
              <a:buFont typeface="Wingdings" pitchFamily="2" charset="2"/>
              <a:buNone/>
            </a:pPr>
            <a:endParaRPr lang="en-GB" sz="2000" dirty="0">
              <a:solidFill>
                <a:schemeClr val="tx1"/>
              </a:solidFill>
            </a:endParaRPr>
          </a:p>
          <a:p>
            <a:pPr lvl="1" eaLnBrk="1" hangingPunct="1"/>
            <a:r>
              <a:rPr lang="en-GB" sz="2000" dirty="0">
                <a:solidFill>
                  <a:schemeClr val="tx1"/>
                </a:solidFill>
              </a:rPr>
              <a:t>When there is </a:t>
            </a:r>
            <a:r>
              <a:rPr lang="en-GB" sz="2000" dirty="0" err="1">
                <a:solidFill>
                  <a:schemeClr val="tx1"/>
                </a:solidFill>
              </a:rPr>
              <a:t>RoT</a:t>
            </a:r>
            <a:r>
              <a:rPr lang="en-GB" sz="2000" dirty="0">
                <a:solidFill>
                  <a:schemeClr val="tx1"/>
                </a:solidFill>
              </a:rPr>
              <a:t>, the S may have good title to the goods if B becomes insolvent [</a:t>
            </a:r>
            <a:r>
              <a:rPr lang="en-GB" sz="2000" u="sng" dirty="0">
                <a:solidFill>
                  <a:schemeClr val="tx1"/>
                </a:solidFill>
              </a:rPr>
              <a:t>affects 3</a:t>
            </a:r>
            <a:r>
              <a:rPr lang="en-GB" sz="2000" u="sng" baseline="30000" dirty="0">
                <a:solidFill>
                  <a:schemeClr val="tx1"/>
                </a:solidFill>
              </a:rPr>
              <a:t>rd</a:t>
            </a:r>
            <a:r>
              <a:rPr lang="en-GB" sz="2000" u="sng" dirty="0">
                <a:solidFill>
                  <a:schemeClr val="tx1"/>
                </a:solidFill>
              </a:rPr>
              <a:t> Parties</a:t>
            </a:r>
            <a:r>
              <a:rPr lang="en-GB" sz="2000" dirty="0">
                <a:solidFill>
                  <a:schemeClr val="tx1"/>
                </a:solidFill>
              </a:rPr>
              <a:t>]</a:t>
            </a:r>
          </a:p>
          <a:p>
            <a:pPr lvl="1" eaLnBrk="1" hangingPunct="1">
              <a:buFont typeface="Wingdings" pitchFamily="2" charset="2"/>
              <a:buNone/>
            </a:pPr>
            <a:endParaRPr lang="en-GB" sz="2000" dirty="0">
              <a:solidFill>
                <a:schemeClr val="tx1"/>
              </a:solidFill>
            </a:endParaRPr>
          </a:p>
          <a:p>
            <a:pPr lvl="1" eaLnBrk="1" hangingPunct="1"/>
            <a:r>
              <a:rPr lang="en-GB" sz="2000" dirty="0">
                <a:solidFill>
                  <a:schemeClr val="tx1"/>
                </a:solidFill>
              </a:rPr>
              <a:t>The right to sue a 3</a:t>
            </a:r>
            <a:r>
              <a:rPr lang="en-GB" sz="2000" baseline="30000" dirty="0">
                <a:solidFill>
                  <a:schemeClr val="tx1"/>
                </a:solidFill>
              </a:rPr>
              <a:t>rd</a:t>
            </a:r>
            <a:r>
              <a:rPr lang="en-GB" sz="2000" dirty="0">
                <a:solidFill>
                  <a:schemeClr val="tx1"/>
                </a:solidFill>
              </a:rPr>
              <a:t> Party for damage to/loss of goods will depend on who has the property [</a:t>
            </a:r>
            <a:r>
              <a:rPr lang="en-GB" sz="2000" u="sng" dirty="0">
                <a:solidFill>
                  <a:schemeClr val="tx1"/>
                </a:solidFill>
              </a:rPr>
              <a:t>affects 3</a:t>
            </a:r>
            <a:r>
              <a:rPr lang="en-GB" sz="2000" u="sng" baseline="30000" dirty="0">
                <a:solidFill>
                  <a:schemeClr val="tx1"/>
                </a:solidFill>
              </a:rPr>
              <a:t>rd</a:t>
            </a:r>
            <a:r>
              <a:rPr lang="en-GB" sz="2000" u="sng" dirty="0">
                <a:solidFill>
                  <a:schemeClr val="tx1"/>
                </a:solidFill>
              </a:rPr>
              <a:t> Parties</a:t>
            </a:r>
            <a:r>
              <a:rPr lang="en-GB" sz="2000" dirty="0">
                <a:solidFill>
                  <a:schemeClr val="tx1"/>
                </a:solidFill>
              </a:rPr>
              <a:t>]</a:t>
            </a:r>
          </a:p>
          <a:p>
            <a:pPr lvl="1" eaLnBrk="1" hangingPunct="1"/>
            <a:endParaRPr lang="en-GB" sz="2000" dirty="0">
              <a:solidFill>
                <a:schemeClr val="tx1"/>
              </a:solidFill>
            </a:endParaRPr>
          </a:p>
          <a:p>
            <a:pPr lvl="1" eaLnBrk="1" hangingPunct="1"/>
            <a:r>
              <a:rPr lang="en-GB" sz="2000" b="1" dirty="0">
                <a:solidFill>
                  <a:srgbClr val="FF0000"/>
                </a:solidFill>
              </a:rPr>
              <a:t>Risk passes when the property passes</a:t>
            </a:r>
            <a:r>
              <a:rPr lang="en-GB" sz="2000" dirty="0">
                <a:solidFill>
                  <a:schemeClr val="tx1"/>
                </a:solidFill>
              </a:rPr>
              <a:t>.</a:t>
            </a:r>
          </a:p>
          <a:p>
            <a:pPr lvl="1" eaLnBrk="1" hangingPunct="1"/>
            <a:endParaRPr lang="en-GB" sz="2000" dirty="0">
              <a:solidFill>
                <a:schemeClr val="tx1"/>
              </a:solidFill>
            </a:endParaRPr>
          </a:p>
          <a:p>
            <a:pPr lvl="1" eaLnBrk="1" hangingPunct="1"/>
            <a:r>
              <a:rPr lang="en-GB" dirty="0">
                <a:solidFill>
                  <a:schemeClr val="tx1"/>
                </a:solidFill>
              </a:rPr>
              <a:t>Seller can only sue for the price if the property has passed.  </a:t>
            </a:r>
          </a:p>
        </p:txBody>
      </p:sp>
      <p:sp>
        <p:nvSpPr>
          <p:cNvPr id="4" name="Slide Number Placeholder 3"/>
          <p:cNvSpPr>
            <a:spLocks noGrp="1"/>
          </p:cNvSpPr>
          <p:nvPr>
            <p:ph type="sldNum" sz="quarter" idx="12"/>
          </p:nvPr>
        </p:nvSpPr>
        <p:spPr/>
        <p:txBody>
          <a:bodyPr/>
          <a:lstStyle/>
          <a:p>
            <a:pPr>
              <a:defRPr/>
            </a:pPr>
            <a:fld id="{98C9AE2F-0162-4D61-9B2C-6D23F25BC69F}" type="slidenum">
              <a:rPr lang="en-US"/>
              <a:pPr>
                <a:defRPr/>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pPr eaLnBrk="1" hangingPunct="1"/>
            <a:r>
              <a:rPr lang="en-GB" dirty="0">
                <a:solidFill>
                  <a:schemeClr val="tx1"/>
                </a:solidFill>
              </a:rPr>
              <a:t>Consequences</a:t>
            </a:r>
          </a:p>
        </p:txBody>
      </p:sp>
      <p:sp>
        <p:nvSpPr>
          <p:cNvPr id="3" name="Content Placeholder 2"/>
          <p:cNvSpPr>
            <a:spLocks noGrp="1"/>
          </p:cNvSpPr>
          <p:nvPr>
            <p:ph sz="quarter" idx="1"/>
          </p:nvPr>
        </p:nvSpPr>
        <p:spPr>
          <a:xfrm>
            <a:off x="301625" y="1527175"/>
            <a:ext cx="8504238" cy="4949825"/>
          </a:xfrm>
        </p:spPr>
        <p:txBody>
          <a:bodyPr>
            <a:normAutofit/>
          </a:bodyPr>
          <a:lstStyle/>
          <a:p>
            <a:pPr marL="274320" indent="-274320" eaLnBrk="1" fontAlgn="auto" hangingPunct="1">
              <a:spcAft>
                <a:spcPts val="0"/>
              </a:spcAft>
              <a:buFont typeface="Wingdings 2"/>
              <a:buChar char=""/>
              <a:defRPr/>
            </a:pPr>
            <a:r>
              <a:rPr lang="en-GB" b="1" u="sng" dirty="0">
                <a:solidFill>
                  <a:srgbClr val="FF0000"/>
                </a:solidFill>
              </a:rPr>
              <a:t>RISK: s. 20(1)</a:t>
            </a:r>
          </a:p>
          <a:p>
            <a:pPr marL="274320" indent="-274320" eaLnBrk="1" fontAlgn="auto" hangingPunct="1">
              <a:spcAft>
                <a:spcPts val="0"/>
              </a:spcAft>
              <a:buFont typeface="Wingdings 2"/>
              <a:buChar char=""/>
              <a:defRPr/>
            </a:pPr>
            <a:endParaRPr lang="en-GB" b="1" dirty="0"/>
          </a:p>
          <a:p>
            <a:pPr marL="548640" lvl="1" indent="-274320" eaLnBrk="1" fontAlgn="auto" hangingPunct="1">
              <a:spcAft>
                <a:spcPts val="0"/>
              </a:spcAft>
              <a:buFont typeface="Wingdings"/>
              <a:buChar char=""/>
              <a:defRPr/>
            </a:pPr>
            <a:r>
              <a:rPr lang="en-GB" b="1" i="1" u="sng" dirty="0">
                <a:solidFill>
                  <a:srgbClr val="FF0000"/>
                </a:solidFill>
              </a:rPr>
              <a:t>Unless agreed otherwise</a:t>
            </a:r>
            <a:r>
              <a:rPr lang="en-GB" dirty="0">
                <a:solidFill>
                  <a:srgbClr val="FF0000"/>
                </a:solidFill>
              </a:rPr>
              <a:t>, goods remain at the S’s risk until the property is transferred to the B. </a:t>
            </a:r>
            <a:r>
              <a:rPr lang="en-GB" dirty="0">
                <a:solidFill>
                  <a:schemeClr val="tx1"/>
                </a:solidFill>
              </a:rPr>
              <a:t>B will have the risk whether or not the delivery has been made to him.</a:t>
            </a:r>
          </a:p>
          <a:p>
            <a:pPr marL="548640" lvl="1" indent="-274320" eaLnBrk="1" fontAlgn="auto" hangingPunct="1">
              <a:spcAft>
                <a:spcPts val="0"/>
              </a:spcAft>
              <a:buFont typeface="Wingdings" pitchFamily="2" charset="2"/>
              <a:buNone/>
              <a:defRPr/>
            </a:pPr>
            <a:endParaRPr lang="en-GB" dirty="0">
              <a:solidFill>
                <a:schemeClr val="tx1"/>
              </a:solidFill>
            </a:endParaRPr>
          </a:p>
          <a:p>
            <a:pPr marL="548640" lvl="1" indent="-274320" eaLnBrk="1" fontAlgn="auto" hangingPunct="1">
              <a:spcAft>
                <a:spcPts val="0"/>
              </a:spcAft>
              <a:buFont typeface="Wingdings"/>
              <a:buChar char=""/>
              <a:defRPr/>
            </a:pPr>
            <a:r>
              <a:rPr lang="en-GB" dirty="0">
                <a:solidFill>
                  <a:schemeClr val="tx1"/>
                </a:solidFill>
              </a:rPr>
              <a:t>Risk of what?</a:t>
            </a:r>
          </a:p>
          <a:p>
            <a:pPr marL="822960" lvl="2" eaLnBrk="1" fontAlgn="auto" hangingPunct="1">
              <a:spcAft>
                <a:spcPts val="0"/>
              </a:spcAft>
              <a:buClr>
                <a:schemeClr val="accent3"/>
              </a:buClr>
              <a:buFont typeface="Wingdings 2"/>
              <a:buChar char=""/>
              <a:defRPr/>
            </a:pPr>
            <a:r>
              <a:rPr lang="en-GB" dirty="0"/>
              <a:t>Risk that the goods will be wholly or partly destroyed or damaged (lost by theft, by fire, flood or by sinking of the ship etc.)</a:t>
            </a:r>
          </a:p>
          <a:p>
            <a:pPr marL="822960" lvl="2" eaLnBrk="1" fontAlgn="auto" hangingPunct="1">
              <a:spcAft>
                <a:spcPts val="0"/>
              </a:spcAft>
              <a:buClr>
                <a:schemeClr val="accent3"/>
              </a:buClr>
              <a:buFont typeface="Wingdings 2" pitchFamily="18" charset="2"/>
              <a:buNone/>
              <a:defRPr/>
            </a:pPr>
            <a:endParaRPr lang="en-GB" dirty="0"/>
          </a:p>
          <a:p>
            <a:pPr marL="822960" lvl="2" eaLnBrk="1" fontAlgn="auto" hangingPunct="1">
              <a:spcAft>
                <a:spcPts val="0"/>
              </a:spcAft>
              <a:buClr>
                <a:schemeClr val="accent3"/>
              </a:buClr>
              <a:buFont typeface="Wingdings 2"/>
              <a:buChar char=""/>
              <a:defRPr/>
            </a:pPr>
            <a:r>
              <a:rPr lang="en-GB" dirty="0"/>
              <a:t>Risk must be linked to the act or fault of either of the parties or must be expressly indicated in the contract (</a:t>
            </a:r>
            <a:r>
              <a:rPr lang="en-GB" i="1" dirty="0"/>
              <a:t>force majeure </a:t>
            </a:r>
            <a:r>
              <a:rPr lang="en-GB" dirty="0"/>
              <a:t>clauses) for s.20(1) not to apply.</a:t>
            </a:r>
          </a:p>
        </p:txBody>
      </p:sp>
      <p:sp>
        <p:nvSpPr>
          <p:cNvPr id="4" name="Slide Number Placeholder 3"/>
          <p:cNvSpPr>
            <a:spLocks noGrp="1"/>
          </p:cNvSpPr>
          <p:nvPr>
            <p:ph type="sldNum" sz="quarter" idx="12"/>
          </p:nvPr>
        </p:nvSpPr>
        <p:spPr/>
        <p:txBody>
          <a:bodyPr/>
          <a:lstStyle/>
          <a:p>
            <a:pPr>
              <a:defRPr/>
            </a:pPr>
            <a:fld id="{42137586-E6D5-40F9-B5F7-316735964EE9}" type="slidenum">
              <a:rPr lang="en-US"/>
              <a:pPr>
                <a:defRPr/>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endParaRPr lang="en-GB"/>
          </a:p>
        </p:txBody>
      </p:sp>
      <p:sp>
        <p:nvSpPr>
          <p:cNvPr id="3" name="Content Placeholder 2"/>
          <p:cNvSpPr>
            <a:spLocks noGrp="1"/>
          </p:cNvSpPr>
          <p:nvPr>
            <p:ph sz="quarter" idx="1"/>
          </p:nvPr>
        </p:nvSpPr>
        <p:spPr>
          <a:xfrm>
            <a:off x="301625" y="1527175"/>
            <a:ext cx="8504238" cy="4572000"/>
          </a:xfrm>
        </p:spPr>
        <p:txBody>
          <a:bodyPr/>
          <a:lstStyle/>
          <a:p>
            <a:pPr marL="822960" lvl="2" eaLnBrk="1" fontAlgn="auto" hangingPunct="1">
              <a:spcAft>
                <a:spcPts val="0"/>
              </a:spcAft>
              <a:buClr>
                <a:schemeClr val="accent3"/>
              </a:buClr>
              <a:buFont typeface="Wingdings 2"/>
              <a:buChar char=""/>
              <a:defRPr/>
            </a:pPr>
            <a:r>
              <a:rPr lang="en-GB" b="1" u="sng" dirty="0"/>
              <a:t>Head v </a:t>
            </a:r>
            <a:r>
              <a:rPr lang="en-GB" b="1" u="sng" dirty="0" err="1"/>
              <a:t>Tattersall</a:t>
            </a:r>
            <a:endParaRPr lang="en-GB" b="1" u="sng" dirty="0"/>
          </a:p>
          <a:p>
            <a:pPr marL="822960" lvl="2" eaLnBrk="1" fontAlgn="auto" hangingPunct="1">
              <a:spcAft>
                <a:spcPts val="0"/>
              </a:spcAft>
              <a:buClr>
                <a:schemeClr val="accent3"/>
              </a:buClr>
              <a:buFont typeface="Wingdings 2" pitchFamily="18" charset="2"/>
              <a:buNone/>
              <a:defRPr/>
            </a:pPr>
            <a:endParaRPr lang="en-GB" b="1" dirty="0"/>
          </a:p>
          <a:p>
            <a:pPr marL="1097280" lvl="3" eaLnBrk="1" fontAlgn="auto" hangingPunct="1">
              <a:spcAft>
                <a:spcPts val="0"/>
              </a:spcAft>
              <a:buClr>
                <a:schemeClr val="accent4"/>
              </a:buClr>
              <a:buFont typeface="Wingdings"/>
              <a:buChar char=""/>
              <a:defRPr/>
            </a:pPr>
            <a:r>
              <a:rPr lang="en-GB" dirty="0">
                <a:solidFill>
                  <a:schemeClr val="tx1"/>
                </a:solidFill>
              </a:rPr>
              <a:t>Horse sold with an incorrect description. The K had a clause requiring the B to return it by a certain time otherwise he was to be responsible for all faults. Horse injured and taken back to the S.</a:t>
            </a:r>
          </a:p>
          <a:p>
            <a:pPr marL="1097280" lvl="3" eaLnBrk="1" fontAlgn="auto" hangingPunct="1">
              <a:spcAft>
                <a:spcPts val="0"/>
              </a:spcAft>
              <a:buClr>
                <a:schemeClr val="accent4"/>
              </a:buClr>
              <a:buFont typeface="Wingdings" pitchFamily="2" charset="2"/>
              <a:buNone/>
              <a:defRPr/>
            </a:pPr>
            <a:r>
              <a:rPr lang="en-GB" dirty="0">
                <a:solidFill>
                  <a:schemeClr val="tx1"/>
                </a:solidFill>
              </a:rPr>
              <a:t>  </a:t>
            </a:r>
          </a:p>
          <a:p>
            <a:pPr marL="1097280" lvl="3" eaLnBrk="1" fontAlgn="auto" hangingPunct="1">
              <a:spcAft>
                <a:spcPts val="0"/>
              </a:spcAft>
              <a:buClr>
                <a:schemeClr val="accent4"/>
              </a:buClr>
              <a:buFont typeface="Wingdings"/>
              <a:buChar char=""/>
              <a:defRPr/>
            </a:pPr>
            <a:r>
              <a:rPr lang="en-GB" i="1" u="sng" dirty="0">
                <a:solidFill>
                  <a:schemeClr val="tx1"/>
                </a:solidFill>
              </a:rPr>
              <a:t>Held: </a:t>
            </a:r>
            <a:r>
              <a:rPr lang="en-GB" i="1" dirty="0">
                <a:solidFill>
                  <a:schemeClr val="tx1"/>
                </a:solidFill>
              </a:rPr>
              <a:t>B (Head) was entitled to take back the horse and claim the whole monies paid back. </a:t>
            </a:r>
          </a:p>
          <a:p>
            <a:pPr marL="1097280" lvl="3" eaLnBrk="1" fontAlgn="auto" hangingPunct="1">
              <a:spcAft>
                <a:spcPts val="0"/>
              </a:spcAft>
              <a:buClr>
                <a:schemeClr val="accent4"/>
              </a:buClr>
              <a:buFont typeface="Wingdings" pitchFamily="2" charset="2"/>
              <a:buNone/>
              <a:defRPr/>
            </a:pPr>
            <a:endParaRPr lang="en-GB" i="1" dirty="0">
              <a:solidFill>
                <a:schemeClr val="tx1"/>
              </a:solidFill>
            </a:endParaRPr>
          </a:p>
          <a:p>
            <a:pPr marL="1097280" lvl="3" eaLnBrk="1" fontAlgn="auto" hangingPunct="1">
              <a:spcAft>
                <a:spcPts val="0"/>
              </a:spcAft>
              <a:buClr>
                <a:schemeClr val="accent4"/>
              </a:buClr>
              <a:buFont typeface="Wingdings"/>
              <a:buChar char=""/>
              <a:defRPr/>
            </a:pPr>
            <a:r>
              <a:rPr lang="en-GB" dirty="0">
                <a:solidFill>
                  <a:schemeClr val="tx1"/>
                </a:solidFill>
              </a:rPr>
              <a:t>Property in horse provisionally vested in the B </a:t>
            </a:r>
            <a:r>
              <a:rPr lang="en-GB" dirty="0">
                <a:solidFill>
                  <a:srgbClr val="FF0000"/>
                </a:solidFill>
              </a:rPr>
              <a:t>(unless otherwise agreed)</a:t>
            </a:r>
            <a:r>
              <a:rPr lang="en-GB" dirty="0">
                <a:solidFill>
                  <a:schemeClr val="tx1"/>
                </a:solidFill>
              </a:rPr>
              <a:t> so he could still take back the horse.</a:t>
            </a:r>
          </a:p>
          <a:p>
            <a:pPr eaLnBrk="1" hangingPunct="1">
              <a:defRPr/>
            </a:pPr>
            <a:endParaRPr lang="en-GB" dirty="0"/>
          </a:p>
        </p:txBody>
      </p:sp>
      <p:sp>
        <p:nvSpPr>
          <p:cNvPr id="4" name="Slide Number Placeholder 3"/>
          <p:cNvSpPr>
            <a:spLocks noGrp="1"/>
          </p:cNvSpPr>
          <p:nvPr>
            <p:ph type="sldNum" sz="quarter" idx="12"/>
          </p:nvPr>
        </p:nvSpPr>
        <p:spPr/>
        <p:txBody>
          <a:bodyPr/>
          <a:lstStyle/>
          <a:p>
            <a:pPr>
              <a:defRPr/>
            </a:pPr>
            <a:fld id="{D3F0C183-AE10-45B5-943B-F450F84A79D5}" type="slidenum">
              <a:rPr lang="en-US" smtClean="0"/>
              <a:pPr>
                <a:defRPr/>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GB" dirty="0">
                <a:solidFill>
                  <a:schemeClr val="tx1"/>
                </a:solidFill>
              </a:rPr>
              <a:t>Consequences</a:t>
            </a:r>
          </a:p>
        </p:txBody>
      </p:sp>
      <p:sp>
        <p:nvSpPr>
          <p:cNvPr id="3" name="Slide Number Placeholder 2"/>
          <p:cNvSpPr>
            <a:spLocks noGrp="1"/>
          </p:cNvSpPr>
          <p:nvPr>
            <p:ph type="sldNum" sz="quarter" idx="12"/>
          </p:nvPr>
        </p:nvSpPr>
        <p:spPr/>
        <p:txBody>
          <a:bodyPr/>
          <a:lstStyle/>
          <a:p>
            <a:pPr>
              <a:defRPr/>
            </a:pPr>
            <a:fld id="{5F22B2D5-38F7-4440-84B9-0AA23D6BF766}" type="slidenum">
              <a:rPr lang="en-US"/>
              <a:pPr>
                <a:defRPr/>
              </a:pPr>
              <a:t>20</a:t>
            </a:fld>
            <a:endParaRPr lang="en-US"/>
          </a:p>
        </p:txBody>
      </p:sp>
      <p:sp>
        <p:nvSpPr>
          <p:cNvPr id="4" name="Content Placeholder 3"/>
          <p:cNvSpPr>
            <a:spLocks noGrp="1"/>
          </p:cNvSpPr>
          <p:nvPr>
            <p:ph sz="quarter" idx="1"/>
          </p:nvPr>
        </p:nvSpPr>
        <p:spPr>
          <a:xfrm>
            <a:off x="301625" y="1527175"/>
            <a:ext cx="8504238" cy="5026025"/>
          </a:xfrm>
        </p:spPr>
        <p:txBody>
          <a:bodyPr>
            <a:normAutofit lnSpcReduction="10000"/>
          </a:bodyPr>
          <a:lstStyle/>
          <a:p>
            <a:pPr marL="274320" indent="-274320" eaLnBrk="1" fontAlgn="auto" hangingPunct="1">
              <a:spcAft>
                <a:spcPts val="0"/>
              </a:spcAft>
              <a:buFont typeface="Wingdings 2"/>
              <a:buChar char=""/>
              <a:defRPr/>
            </a:pPr>
            <a:r>
              <a:rPr lang="en-GB" u="sng" dirty="0"/>
              <a:t>Risk (Continued)</a:t>
            </a:r>
          </a:p>
          <a:p>
            <a:pPr marL="548640" lvl="1" indent="-274320" eaLnBrk="1" fontAlgn="auto" hangingPunct="1">
              <a:spcAft>
                <a:spcPts val="0"/>
              </a:spcAft>
              <a:buFont typeface="Wingdings"/>
              <a:buChar char=""/>
              <a:defRPr/>
            </a:pPr>
            <a:r>
              <a:rPr lang="en-GB" b="1" dirty="0">
                <a:solidFill>
                  <a:srgbClr val="FF0000"/>
                </a:solidFill>
              </a:rPr>
              <a:t>ss. 20(2) and (3):  Fault of either party and liability as a </a:t>
            </a:r>
            <a:r>
              <a:rPr lang="en-GB" b="1" dirty="0" err="1">
                <a:solidFill>
                  <a:srgbClr val="FF0000"/>
                </a:solidFill>
              </a:rPr>
              <a:t>bailee</a:t>
            </a:r>
            <a:r>
              <a:rPr lang="en-GB" b="1" dirty="0">
                <a:solidFill>
                  <a:srgbClr val="FF0000"/>
                </a:solidFill>
              </a:rPr>
              <a:t>.</a:t>
            </a:r>
          </a:p>
          <a:p>
            <a:pPr marL="822960" lvl="2" eaLnBrk="1" fontAlgn="auto" hangingPunct="1">
              <a:spcAft>
                <a:spcPts val="0"/>
              </a:spcAft>
              <a:buClr>
                <a:schemeClr val="accent3"/>
              </a:buClr>
              <a:buFont typeface="Wingdings 2"/>
              <a:buChar char=""/>
              <a:defRPr/>
            </a:pPr>
            <a:r>
              <a:rPr lang="en-GB" b="1" dirty="0"/>
              <a:t>S. 20(2) – fault of either party</a:t>
            </a:r>
          </a:p>
          <a:p>
            <a:pPr marL="1097280" lvl="3" eaLnBrk="1" fontAlgn="auto" hangingPunct="1">
              <a:spcAft>
                <a:spcPts val="0"/>
              </a:spcAft>
              <a:buClr>
                <a:schemeClr val="accent4"/>
              </a:buClr>
              <a:buFont typeface="Wingdings"/>
              <a:buChar char=""/>
              <a:defRPr/>
            </a:pPr>
            <a:r>
              <a:rPr lang="en-GB" i="1" u="sng" dirty="0" err="1">
                <a:solidFill>
                  <a:srgbClr val="0070C0"/>
                </a:solidFill>
              </a:rPr>
              <a:t>Demby</a:t>
            </a:r>
            <a:r>
              <a:rPr lang="en-GB" i="1" u="sng" dirty="0">
                <a:solidFill>
                  <a:srgbClr val="0070C0"/>
                </a:solidFill>
              </a:rPr>
              <a:t> Hamilton </a:t>
            </a:r>
            <a:r>
              <a:rPr lang="en-GB" u="sng" dirty="0">
                <a:solidFill>
                  <a:srgbClr val="0070C0"/>
                </a:solidFill>
              </a:rPr>
              <a:t>v</a:t>
            </a:r>
            <a:r>
              <a:rPr lang="en-GB" i="1" u="sng" dirty="0">
                <a:solidFill>
                  <a:srgbClr val="0070C0"/>
                </a:solidFill>
              </a:rPr>
              <a:t> Barden</a:t>
            </a:r>
          </a:p>
          <a:p>
            <a:pPr lvl="4" eaLnBrk="1" fontAlgn="auto" hangingPunct="1">
              <a:spcAft>
                <a:spcPts val="0"/>
              </a:spcAft>
              <a:buClr>
                <a:schemeClr val="accent5"/>
              </a:buClr>
              <a:defRPr/>
            </a:pPr>
            <a:r>
              <a:rPr lang="en-GB" i="1" dirty="0"/>
              <a:t>30 tons of apple juice to be collected by 3</a:t>
            </a:r>
            <a:r>
              <a:rPr lang="en-GB" i="1" baseline="30000" dirty="0"/>
              <a:t>rd</a:t>
            </a:r>
            <a:r>
              <a:rPr lang="en-GB" i="1" dirty="0"/>
              <a:t> parties as sub-buyers, one truckload per week. Juice was not collected at the specified time, went off and had to be thrown away. </a:t>
            </a:r>
          </a:p>
          <a:p>
            <a:pPr lvl="4" eaLnBrk="1" fontAlgn="auto" hangingPunct="1">
              <a:spcAft>
                <a:spcPts val="0"/>
              </a:spcAft>
              <a:buClr>
                <a:schemeClr val="accent5"/>
              </a:buClr>
              <a:defRPr/>
            </a:pPr>
            <a:r>
              <a:rPr lang="en-GB" i="1" dirty="0"/>
              <a:t>Held: loss lay on the B as the delay in taking delivery was due to B’s fault.</a:t>
            </a:r>
          </a:p>
          <a:p>
            <a:pPr marL="1143000" lvl="4" indent="0" eaLnBrk="1" fontAlgn="auto" hangingPunct="1">
              <a:spcAft>
                <a:spcPts val="0"/>
              </a:spcAft>
              <a:buClr>
                <a:schemeClr val="accent5"/>
              </a:buClr>
              <a:buNone/>
              <a:defRPr/>
            </a:pPr>
            <a:endParaRPr lang="en-GB" i="1" dirty="0">
              <a:solidFill>
                <a:srgbClr val="0070C0"/>
              </a:solidFill>
            </a:endParaRPr>
          </a:p>
          <a:p>
            <a:pPr marL="1097280" lvl="3" eaLnBrk="1" fontAlgn="auto" hangingPunct="1">
              <a:spcAft>
                <a:spcPts val="0"/>
              </a:spcAft>
              <a:buClr>
                <a:schemeClr val="accent4"/>
              </a:buClr>
              <a:buFont typeface="Wingdings"/>
              <a:buChar char=""/>
              <a:defRPr/>
            </a:pPr>
            <a:r>
              <a:rPr lang="en-GB" i="1" u="sng" dirty="0" err="1">
                <a:solidFill>
                  <a:srgbClr val="0070C0"/>
                </a:solidFill>
              </a:rPr>
              <a:t>Wiehe</a:t>
            </a:r>
            <a:r>
              <a:rPr lang="en-GB" i="1" u="sng" dirty="0">
                <a:solidFill>
                  <a:srgbClr val="0070C0"/>
                </a:solidFill>
              </a:rPr>
              <a:t> </a:t>
            </a:r>
            <a:r>
              <a:rPr lang="en-GB" u="sng" dirty="0">
                <a:solidFill>
                  <a:srgbClr val="0070C0"/>
                </a:solidFill>
              </a:rPr>
              <a:t>v</a:t>
            </a:r>
            <a:r>
              <a:rPr lang="en-GB" i="1" u="sng" dirty="0">
                <a:solidFill>
                  <a:srgbClr val="0070C0"/>
                </a:solidFill>
              </a:rPr>
              <a:t> Dennis Bros</a:t>
            </a:r>
          </a:p>
          <a:p>
            <a:pPr lvl="4" eaLnBrk="1" fontAlgn="auto" hangingPunct="1">
              <a:spcAft>
                <a:spcPts val="0"/>
              </a:spcAft>
              <a:buClr>
                <a:schemeClr val="accent5"/>
              </a:buClr>
              <a:defRPr/>
            </a:pPr>
            <a:r>
              <a:rPr lang="en-GB" i="1" dirty="0"/>
              <a:t>B (</a:t>
            </a:r>
            <a:r>
              <a:rPr lang="en-GB" i="1" dirty="0" err="1"/>
              <a:t>Wiehe</a:t>
            </a:r>
            <a:r>
              <a:rPr lang="en-GB" i="1" dirty="0"/>
              <a:t>), contracted to buy a pony. While the pony was in the S’s custody it was injured. </a:t>
            </a:r>
          </a:p>
          <a:p>
            <a:pPr lvl="4" eaLnBrk="1" fontAlgn="auto" hangingPunct="1">
              <a:spcAft>
                <a:spcPts val="0"/>
              </a:spcAft>
              <a:buClr>
                <a:schemeClr val="accent5"/>
              </a:buClr>
              <a:defRPr/>
            </a:pPr>
            <a:r>
              <a:rPr lang="en-GB" i="1" dirty="0"/>
              <a:t>Held: S was liable on the basis that no care was shown while it was a bailee.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GB" dirty="0">
                <a:solidFill>
                  <a:schemeClr val="tx1"/>
                </a:solidFill>
              </a:rPr>
              <a:t>Consequences</a:t>
            </a:r>
          </a:p>
        </p:txBody>
      </p:sp>
      <p:sp>
        <p:nvSpPr>
          <p:cNvPr id="3" name="Slide Number Placeholder 2"/>
          <p:cNvSpPr>
            <a:spLocks noGrp="1"/>
          </p:cNvSpPr>
          <p:nvPr>
            <p:ph type="sldNum" sz="quarter" idx="12"/>
          </p:nvPr>
        </p:nvSpPr>
        <p:spPr/>
        <p:txBody>
          <a:bodyPr/>
          <a:lstStyle/>
          <a:p>
            <a:pPr>
              <a:defRPr/>
            </a:pPr>
            <a:fld id="{5153C8D4-B584-4A81-BDAF-C6771E2E6ED6}" type="slidenum">
              <a:rPr lang="en-US"/>
              <a:pPr>
                <a:defRPr/>
              </a:pPr>
              <a:t>21</a:t>
            </a:fld>
            <a:endParaRPr lang="en-US"/>
          </a:p>
        </p:txBody>
      </p:sp>
      <p:sp>
        <p:nvSpPr>
          <p:cNvPr id="34820" name="Content Placeholder 3"/>
          <p:cNvSpPr>
            <a:spLocks noGrp="1"/>
          </p:cNvSpPr>
          <p:nvPr>
            <p:ph sz="quarter" idx="1"/>
          </p:nvPr>
        </p:nvSpPr>
        <p:spPr>
          <a:xfrm>
            <a:off x="228600" y="1295400"/>
            <a:ext cx="8504238" cy="5562600"/>
          </a:xfrm>
        </p:spPr>
        <p:txBody>
          <a:bodyPr/>
          <a:lstStyle/>
          <a:p>
            <a:pPr eaLnBrk="1" hangingPunct="1"/>
            <a:r>
              <a:rPr lang="en-GB" dirty="0"/>
              <a:t>Risk (Cont’d) Effect as between parties:</a:t>
            </a:r>
          </a:p>
          <a:p>
            <a:pPr lvl="1" eaLnBrk="1" hangingPunct="1"/>
            <a:r>
              <a:rPr lang="en-GB" u="sng" dirty="0">
                <a:solidFill>
                  <a:schemeClr val="tx1"/>
                </a:solidFill>
              </a:rPr>
              <a:t>If the risk has passed, the B will have to pay the full price </a:t>
            </a:r>
            <a:r>
              <a:rPr lang="en-GB" dirty="0">
                <a:solidFill>
                  <a:schemeClr val="tx1"/>
                </a:solidFill>
              </a:rPr>
              <a:t>even though the goods will not be delivered, if the goods have been lost or destroyed. B cannot sue S for damages for failing to make delivery or delivering less than the contracted amount.</a:t>
            </a:r>
          </a:p>
          <a:p>
            <a:pPr lvl="1" eaLnBrk="1" hangingPunct="1">
              <a:buFont typeface="Wingdings" pitchFamily="2" charset="2"/>
              <a:buNone/>
            </a:pPr>
            <a:endParaRPr lang="en-GB" dirty="0">
              <a:solidFill>
                <a:schemeClr val="tx1"/>
              </a:solidFill>
            </a:endParaRPr>
          </a:p>
          <a:p>
            <a:pPr lvl="1" eaLnBrk="1" hangingPunct="1"/>
            <a:r>
              <a:rPr lang="en-GB" dirty="0">
                <a:solidFill>
                  <a:schemeClr val="tx1"/>
                </a:solidFill>
              </a:rPr>
              <a:t>If the risk has not passed when the loss or damage happens, the S cannot compel the B to pay the price or to take delivery of any remains or sue B for refusing to take delivery.</a:t>
            </a:r>
          </a:p>
          <a:p>
            <a:pPr lvl="1" eaLnBrk="1" hangingPunct="1">
              <a:buFont typeface="Wingdings" pitchFamily="2" charset="2"/>
              <a:buNone/>
            </a:pPr>
            <a:endParaRPr lang="en-GB" dirty="0">
              <a:solidFill>
                <a:schemeClr val="tx1"/>
              </a:solidFill>
            </a:endParaRPr>
          </a:p>
          <a:p>
            <a:pPr eaLnBrk="1" hangingPunct="1"/>
            <a:r>
              <a:rPr lang="en-GB" dirty="0">
                <a:solidFill>
                  <a:srgbClr val="FF0000"/>
                </a:solidFill>
              </a:rPr>
              <a:t>The above does not apply to consumer sales. </a:t>
            </a:r>
          </a:p>
          <a:p>
            <a:pPr lvl="1" eaLnBrk="1" hangingPunct="1"/>
            <a:r>
              <a:rPr lang="en-GB" dirty="0">
                <a:solidFill>
                  <a:schemeClr val="tx1"/>
                </a:solidFill>
              </a:rPr>
              <a:t>In consumer sales, </a:t>
            </a:r>
            <a:r>
              <a:rPr lang="en-GB" b="1" dirty="0">
                <a:solidFill>
                  <a:srgbClr val="FF0000"/>
                </a:solidFill>
              </a:rPr>
              <a:t>(s. 29 CRA 2015)</a:t>
            </a:r>
            <a:r>
              <a:rPr lang="en-GB" dirty="0">
                <a:solidFill>
                  <a:srgbClr val="FF0000"/>
                </a:solidFill>
              </a:rPr>
              <a:t> </a:t>
            </a:r>
            <a:r>
              <a:rPr lang="en-GB" dirty="0">
                <a:solidFill>
                  <a:schemeClr val="tx1"/>
                </a:solidFill>
              </a:rPr>
              <a:t>goods remain at the trader’s risk until they come into the </a:t>
            </a:r>
            <a:r>
              <a:rPr lang="en-GB" b="1" dirty="0">
                <a:solidFill>
                  <a:schemeClr val="tx1"/>
                </a:solidFill>
              </a:rPr>
              <a:t>physical possession of the consumer </a:t>
            </a:r>
            <a:r>
              <a:rPr lang="en-GB" dirty="0">
                <a:solidFill>
                  <a:schemeClr val="tx1"/>
                </a:solidFill>
              </a:rPr>
              <a:t>(certain exceptions in s.29(3) CRA 2015).</a:t>
            </a:r>
          </a:p>
          <a:p>
            <a:pPr lvl="1" eaLnBrk="1" hangingPunct="1"/>
            <a:endParaRPr lang="en-GB" dirty="0">
              <a:solidFill>
                <a:schemeClr val="tx1"/>
              </a:solidFill>
            </a:endParaRPr>
          </a:p>
          <a:p>
            <a:pPr lvl="1" eaLnBrk="1" hangingPunct="1"/>
            <a:endParaRPr lang="en-GB"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GB" dirty="0">
                <a:solidFill>
                  <a:schemeClr val="tx1"/>
                </a:solidFill>
              </a:rPr>
              <a:t>Consequences</a:t>
            </a:r>
          </a:p>
        </p:txBody>
      </p:sp>
      <p:sp>
        <p:nvSpPr>
          <p:cNvPr id="3" name="Slide Number Placeholder 2"/>
          <p:cNvSpPr>
            <a:spLocks noGrp="1"/>
          </p:cNvSpPr>
          <p:nvPr>
            <p:ph type="sldNum" sz="quarter" idx="12"/>
          </p:nvPr>
        </p:nvSpPr>
        <p:spPr/>
        <p:txBody>
          <a:bodyPr/>
          <a:lstStyle/>
          <a:p>
            <a:pPr>
              <a:defRPr/>
            </a:pPr>
            <a:fld id="{9DF8440B-C217-44E8-8DCC-E82AB4933650}" type="slidenum">
              <a:rPr lang="en-US"/>
              <a:pPr>
                <a:defRPr/>
              </a:pPr>
              <a:t>22</a:t>
            </a:fld>
            <a:endParaRPr lang="en-US"/>
          </a:p>
        </p:txBody>
      </p:sp>
      <p:sp>
        <p:nvSpPr>
          <p:cNvPr id="4" name="Content Placeholder 3"/>
          <p:cNvSpPr>
            <a:spLocks noGrp="1"/>
          </p:cNvSpPr>
          <p:nvPr>
            <p:ph sz="quarter" idx="1"/>
          </p:nvPr>
        </p:nvSpPr>
        <p:spPr>
          <a:xfrm>
            <a:off x="301625" y="1527175"/>
            <a:ext cx="8504238" cy="4572000"/>
          </a:xfrm>
        </p:spPr>
        <p:txBody>
          <a:bodyPr>
            <a:normAutofit fontScale="92500" lnSpcReduction="20000"/>
          </a:bodyPr>
          <a:lstStyle/>
          <a:p>
            <a:pPr marL="274320" indent="-274320" eaLnBrk="1" fontAlgn="auto" hangingPunct="1">
              <a:spcAft>
                <a:spcPts val="0"/>
              </a:spcAft>
              <a:buFont typeface="Wingdings 2"/>
              <a:buChar char=""/>
              <a:defRPr/>
            </a:pPr>
            <a:r>
              <a:rPr lang="en-GB" u="sng" dirty="0">
                <a:solidFill>
                  <a:srgbClr val="FF0000"/>
                </a:solidFill>
              </a:rPr>
              <a:t>The S is not entitled to sue for the price of the goods unless the property has passed: </a:t>
            </a:r>
            <a:r>
              <a:rPr lang="en-GB" b="1" u="sng" dirty="0">
                <a:solidFill>
                  <a:srgbClr val="FF0000"/>
                </a:solidFill>
              </a:rPr>
              <a:t>(S. 49)</a:t>
            </a:r>
          </a:p>
          <a:p>
            <a:pPr marL="274320" indent="-274320" eaLnBrk="1" fontAlgn="auto" hangingPunct="1">
              <a:spcAft>
                <a:spcPts val="0"/>
              </a:spcAft>
              <a:buFont typeface="Wingdings 2" pitchFamily="18" charset="2"/>
              <a:buNone/>
              <a:defRPr/>
            </a:pPr>
            <a:endParaRPr lang="en-GB" b="1" dirty="0"/>
          </a:p>
          <a:p>
            <a:pPr marL="548640" lvl="1" indent="-274320" eaLnBrk="1" fontAlgn="auto" hangingPunct="1">
              <a:spcAft>
                <a:spcPts val="0"/>
              </a:spcAft>
              <a:buFont typeface="Wingdings"/>
              <a:buChar char=""/>
              <a:defRPr/>
            </a:pPr>
            <a:r>
              <a:rPr lang="en-GB" b="1" dirty="0">
                <a:solidFill>
                  <a:srgbClr val="FF0000"/>
                </a:solidFill>
              </a:rPr>
              <a:t>S. 49(2) </a:t>
            </a:r>
            <a:r>
              <a:rPr lang="en-GB" dirty="0">
                <a:solidFill>
                  <a:schemeClr val="tx1"/>
                </a:solidFill>
              </a:rPr>
              <a:t>– S has the right to sue for the price once the property has passed.</a:t>
            </a:r>
          </a:p>
          <a:p>
            <a:pPr marL="822960" lvl="2" eaLnBrk="1" fontAlgn="auto" hangingPunct="1">
              <a:spcAft>
                <a:spcPts val="0"/>
              </a:spcAft>
              <a:buClr>
                <a:schemeClr val="accent3"/>
              </a:buClr>
              <a:buFont typeface="Wingdings 2"/>
              <a:buChar char=""/>
              <a:defRPr/>
            </a:pPr>
            <a:r>
              <a:rPr lang="en-GB" dirty="0"/>
              <a:t>Condition: </a:t>
            </a:r>
            <a:r>
              <a:rPr lang="en-GB" b="1" dirty="0"/>
              <a:t>s. 28 </a:t>
            </a:r>
            <a:r>
              <a:rPr lang="en-GB" dirty="0"/>
              <a:t>the seller must be ready and willing to deliver the goods in exchange for the price. </a:t>
            </a:r>
          </a:p>
          <a:p>
            <a:pPr marL="1097280" lvl="3" eaLnBrk="1" fontAlgn="auto" hangingPunct="1">
              <a:spcAft>
                <a:spcPts val="0"/>
              </a:spcAft>
              <a:buClr>
                <a:schemeClr val="accent4"/>
              </a:buClr>
              <a:buFont typeface="Wingdings"/>
              <a:buChar char=""/>
              <a:defRPr/>
            </a:pPr>
            <a:r>
              <a:rPr lang="en-GB" dirty="0">
                <a:solidFill>
                  <a:schemeClr val="tx1"/>
                </a:solidFill>
              </a:rPr>
              <a:t>No action for the price if both the property and possession have not passed to the B.</a:t>
            </a:r>
          </a:p>
          <a:p>
            <a:pPr marL="1097280" lvl="3" eaLnBrk="1" fontAlgn="auto" hangingPunct="1">
              <a:spcAft>
                <a:spcPts val="0"/>
              </a:spcAft>
              <a:buClr>
                <a:schemeClr val="accent4"/>
              </a:buClr>
              <a:buFont typeface="Wingdings" pitchFamily="2" charset="2"/>
              <a:buNone/>
              <a:defRPr/>
            </a:pPr>
            <a:endParaRPr lang="en-GB" dirty="0">
              <a:solidFill>
                <a:schemeClr val="tx1"/>
              </a:solidFill>
            </a:endParaRPr>
          </a:p>
          <a:p>
            <a:pPr marL="548640" lvl="1" indent="-274320" eaLnBrk="1" fontAlgn="auto" hangingPunct="1">
              <a:spcAft>
                <a:spcPts val="0"/>
              </a:spcAft>
              <a:buFont typeface="Wingdings"/>
              <a:buChar char=""/>
              <a:defRPr/>
            </a:pPr>
            <a:r>
              <a:rPr lang="en-GB" dirty="0">
                <a:solidFill>
                  <a:schemeClr val="tx1"/>
                </a:solidFill>
              </a:rPr>
              <a:t>If the B repudiates the K before this happens, the S’s remedy is an action for damages for non acceptance.</a:t>
            </a:r>
          </a:p>
          <a:p>
            <a:pPr marL="822960" lvl="2" eaLnBrk="1" fontAlgn="auto" hangingPunct="1">
              <a:spcAft>
                <a:spcPts val="0"/>
              </a:spcAft>
              <a:buClr>
                <a:schemeClr val="accent3"/>
              </a:buClr>
              <a:buFont typeface="Wingdings 2"/>
              <a:buChar char=""/>
              <a:defRPr/>
            </a:pPr>
            <a:r>
              <a:rPr lang="en-GB" b="1" dirty="0"/>
              <a:t>Why? Damages for what?</a:t>
            </a:r>
          </a:p>
          <a:p>
            <a:pPr marL="1097280" lvl="3" eaLnBrk="1" fontAlgn="auto" hangingPunct="1">
              <a:spcAft>
                <a:spcPts val="0"/>
              </a:spcAft>
              <a:buClr>
                <a:schemeClr val="accent4"/>
              </a:buClr>
              <a:buFont typeface="Wingdings"/>
              <a:buChar char=""/>
              <a:defRPr/>
            </a:pPr>
            <a:r>
              <a:rPr lang="en-GB" dirty="0">
                <a:solidFill>
                  <a:schemeClr val="tx1"/>
                </a:solidFill>
              </a:rPr>
              <a:t>S may have entered into contracts with 3</a:t>
            </a:r>
            <a:r>
              <a:rPr lang="en-GB" baseline="30000" dirty="0">
                <a:solidFill>
                  <a:schemeClr val="tx1"/>
                </a:solidFill>
              </a:rPr>
              <a:t>rd</a:t>
            </a:r>
            <a:r>
              <a:rPr lang="en-GB" dirty="0">
                <a:solidFill>
                  <a:schemeClr val="tx1"/>
                </a:solidFill>
              </a:rPr>
              <a:t> parties and there may be losses arising out of those contracts.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eaLnBrk="1" hangingPunct="1"/>
            <a:r>
              <a:rPr lang="en-GB" dirty="0">
                <a:solidFill>
                  <a:schemeClr val="tx1"/>
                </a:solidFill>
              </a:rPr>
              <a:t>Consequences</a:t>
            </a:r>
          </a:p>
        </p:txBody>
      </p:sp>
      <p:sp>
        <p:nvSpPr>
          <p:cNvPr id="3" name="Content Placeholder 2"/>
          <p:cNvSpPr>
            <a:spLocks noGrp="1"/>
          </p:cNvSpPr>
          <p:nvPr>
            <p:ph sz="quarter" idx="1"/>
          </p:nvPr>
        </p:nvSpPr>
        <p:spPr>
          <a:xfrm>
            <a:off x="301625" y="1527175"/>
            <a:ext cx="8504238" cy="4873625"/>
          </a:xfrm>
        </p:spPr>
        <p:txBody>
          <a:bodyPr>
            <a:normAutofit fontScale="92500" lnSpcReduction="10000"/>
          </a:bodyPr>
          <a:lstStyle/>
          <a:p>
            <a:pPr marL="274320" lvl="2" indent="-274320" eaLnBrk="1" fontAlgn="auto" hangingPunct="1">
              <a:spcAft>
                <a:spcPts val="0"/>
              </a:spcAft>
              <a:buClr>
                <a:schemeClr val="accent1"/>
              </a:buClr>
              <a:buSzPct val="85000"/>
              <a:buFont typeface="Wingdings 2"/>
              <a:buChar char=""/>
              <a:defRPr/>
            </a:pPr>
            <a:r>
              <a:rPr lang="en-GB" u="sng" dirty="0"/>
              <a:t>A contractual right without a property right will not enable the Claimant to sue as he will not have suffered damage. </a:t>
            </a:r>
          </a:p>
          <a:p>
            <a:pPr marL="548640" lvl="3" indent="-274320" eaLnBrk="1" fontAlgn="auto" hangingPunct="1">
              <a:spcAft>
                <a:spcPts val="0"/>
              </a:spcAft>
              <a:buClr>
                <a:schemeClr val="accent1"/>
              </a:buClr>
              <a:buSzPct val="85000"/>
              <a:buFont typeface="Wingdings 2"/>
              <a:buChar char=""/>
              <a:defRPr/>
            </a:pPr>
            <a:r>
              <a:rPr lang="en-GB" dirty="0">
                <a:solidFill>
                  <a:schemeClr val="tx1"/>
                </a:solidFill>
              </a:rPr>
              <a:t>A right of property is necessary to establish a cause of action in tort against someone who damaged or destroyed goods. </a:t>
            </a:r>
          </a:p>
          <a:p>
            <a:pPr marL="548640" lvl="3" indent="-274320" eaLnBrk="1" fontAlgn="auto" hangingPunct="1">
              <a:spcAft>
                <a:spcPts val="0"/>
              </a:spcAft>
              <a:buClr>
                <a:schemeClr val="accent1"/>
              </a:buClr>
              <a:buSzPct val="85000"/>
              <a:buFont typeface="Wingdings" pitchFamily="2" charset="2"/>
              <a:buNone/>
              <a:defRPr/>
            </a:pPr>
            <a:endParaRPr lang="en-GB" dirty="0">
              <a:solidFill>
                <a:schemeClr val="tx1"/>
              </a:solidFill>
            </a:endParaRPr>
          </a:p>
          <a:p>
            <a:pPr marL="822960" lvl="4" indent="-274320" eaLnBrk="1" fontAlgn="auto" hangingPunct="1">
              <a:spcAft>
                <a:spcPts val="0"/>
              </a:spcAft>
              <a:buClr>
                <a:schemeClr val="accent1"/>
              </a:buClr>
              <a:buSzPct val="85000"/>
              <a:buFontTx/>
              <a:buNone/>
              <a:defRPr/>
            </a:pPr>
            <a:r>
              <a:rPr lang="en-GB" b="1" i="1" dirty="0"/>
              <a:t>Leigh &amp; </a:t>
            </a:r>
            <a:r>
              <a:rPr lang="en-GB" b="1" i="1" dirty="0" err="1"/>
              <a:t>Sillavan</a:t>
            </a:r>
            <a:r>
              <a:rPr lang="en-GB" b="1" i="1" dirty="0"/>
              <a:t> </a:t>
            </a:r>
            <a:r>
              <a:rPr lang="en-GB" b="1" dirty="0"/>
              <a:t>v</a:t>
            </a:r>
            <a:r>
              <a:rPr lang="en-GB" b="1" i="1" dirty="0"/>
              <a:t> Aliakmon Shipping</a:t>
            </a:r>
          </a:p>
          <a:p>
            <a:pPr marL="822960" lvl="4" indent="-274320" eaLnBrk="1" fontAlgn="auto" hangingPunct="1">
              <a:spcAft>
                <a:spcPts val="0"/>
              </a:spcAft>
              <a:buClr>
                <a:schemeClr val="accent1"/>
              </a:buClr>
              <a:buSzPct val="85000"/>
              <a:buFont typeface="Wingdings 2"/>
              <a:buChar char=""/>
              <a:defRPr/>
            </a:pPr>
            <a:r>
              <a:rPr lang="en-GB" i="1" dirty="0"/>
              <a:t>Parties agreed otherwise</a:t>
            </a:r>
          </a:p>
          <a:p>
            <a:pPr marL="822960" lvl="4" indent="-274320" eaLnBrk="1" fontAlgn="auto" hangingPunct="1">
              <a:spcAft>
                <a:spcPts val="0"/>
              </a:spcAft>
              <a:buClr>
                <a:schemeClr val="accent1"/>
              </a:buClr>
              <a:buSzPct val="85000"/>
              <a:buFont typeface="Wingdings 2"/>
              <a:buChar char=""/>
              <a:defRPr/>
            </a:pPr>
            <a:r>
              <a:rPr lang="en-GB" i="1" dirty="0"/>
              <a:t>Goods were at B’s risk as from shipment, property had not passed, payment of price was necessary. So risk of damage was carried by the B even during the time when the goods remained the S’s property.</a:t>
            </a:r>
            <a:endParaRPr lang="en-GB" dirty="0"/>
          </a:p>
          <a:p>
            <a:pPr marL="822960" lvl="4" indent="-274320" eaLnBrk="1" fontAlgn="auto" hangingPunct="1">
              <a:spcAft>
                <a:spcPts val="0"/>
              </a:spcAft>
              <a:buClr>
                <a:schemeClr val="accent1"/>
              </a:buClr>
              <a:buSzPct val="85000"/>
              <a:buFont typeface="Wingdings 2"/>
              <a:buChar char=""/>
              <a:defRPr/>
            </a:pPr>
            <a:r>
              <a:rPr lang="en-GB" dirty="0"/>
              <a:t>Held: since the goods were not the B’s property at the time when the damage was caused their </a:t>
            </a:r>
            <a:r>
              <a:rPr lang="en-GB" b="1" u="sng" dirty="0"/>
              <a:t>only claim was for economic loss, in respect of which the defendants owe no duty of care.</a:t>
            </a:r>
          </a:p>
          <a:p>
            <a:pPr marL="822960" lvl="4" indent="-274320" eaLnBrk="1" fontAlgn="auto" hangingPunct="1">
              <a:spcAft>
                <a:spcPts val="0"/>
              </a:spcAft>
              <a:buClr>
                <a:schemeClr val="accent1"/>
              </a:buClr>
              <a:buSzPct val="85000"/>
              <a:buFont typeface="Wingdings 2"/>
              <a:buChar char=""/>
              <a:defRPr/>
            </a:pPr>
            <a:r>
              <a:rPr lang="en-GB" i="1" dirty="0"/>
              <a:t>But </a:t>
            </a:r>
            <a:r>
              <a:rPr lang="en-GB" b="1" dirty="0"/>
              <a:t>Carriage of Goods at Sea 1992</a:t>
            </a:r>
            <a:r>
              <a:rPr lang="en-GB" dirty="0"/>
              <a:t>: Now the B has the right to sue the carrier in contract.</a:t>
            </a:r>
          </a:p>
          <a:p>
            <a:pPr marL="822960" lvl="4" indent="-274320" eaLnBrk="1" fontAlgn="auto" hangingPunct="1">
              <a:spcAft>
                <a:spcPts val="0"/>
              </a:spcAft>
              <a:buClr>
                <a:schemeClr val="accent1"/>
              </a:buClr>
              <a:buSzPct val="85000"/>
              <a:buFont typeface="Wingdings 2"/>
              <a:buChar char=""/>
              <a:defRPr/>
            </a:pPr>
            <a:r>
              <a:rPr lang="en-GB" i="1" dirty="0">
                <a:solidFill>
                  <a:srgbClr val="FF0000"/>
                </a:solidFill>
              </a:rPr>
              <a:t>Without the protection of </a:t>
            </a:r>
            <a:r>
              <a:rPr lang="en-GB" i="1" dirty="0" err="1">
                <a:solidFill>
                  <a:srgbClr val="FF0000"/>
                </a:solidFill>
              </a:rPr>
              <a:t>CoGSA</a:t>
            </a:r>
            <a:r>
              <a:rPr lang="en-GB" i="1" dirty="0">
                <a:solidFill>
                  <a:srgbClr val="FF0000"/>
                </a:solidFill>
              </a:rPr>
              <a:t> 1992 where the goods are damaged/lost en route to the B, the B has no right to sue the carrier in tort unless the property has passed to the B before the damage occurred.</a:t>
            </a:r>
            <a:endParaRPr lang="en-GB" dirty="0">
              <a:solidFill>
                <a:srgbClr val="FF0000"/>
              </a:solidFill>
            </a:endParaRPr>
          </a:p>
        </p:txBody>
      </p:sp>
      <p:sp>
        <p:nvSpPr>
          <p:cNvPr id="4" name="Slide Number Placeholder 3"/>
          <p:cNvSpPr>
            <a:spLocks noGrp="1"/>
          </p:cNvSpPr>
          <p:nvPr>
            <p:ph type="sldNum" sz="quarter" idx="12"/>
          </p:nvPr>
        </p:nvSpPr>
        <p:spPr/>
        <p:txBody>
          <a:bodyPr/>
          <a:lstStyle/>
          <a:p>
            <a:pPr>
              <a:defRPr/>
            </a:pPr>
            <a:fld id="{2C7E6156-20C5-44B9-BE3C-21450AA6F70A}" type="slidenum">
              <a:rPr lang="en-US"/>
              <a:pPr>
                <a:defRPr/>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eaLnBrk="1" hangingPunct="1"/>
            <a:r>
              <a:rPr lang="en-GB" dirty="0">
                <a:solidFill>
                  <a:schemeClr val="tx1"/>
                </a:solidFill>
              </a:rPr>
              <a:t>Consequences</a:t>
            </a:r>
          </a:p>
        </p:txBody>
      </p:sp>
      <p:sp>
        <p:nvSpPr>
          <p:cNvPr id="38915" name="Content Placeholder 2"/>
          <p:cNvSpPr>
            <a:spLocks noGrp="1"/>
          </p:cNvSpPr>
          <p:nvPr>
            <p:ph sz="quarter" idx="1"/>
          </p:nvPr>
        </p:nvSpPr>
        <p:spPr>
          <a:xfrm>
            <a:off x="301625" y="1527175"/>
            <a:ext cx="8504238" cy="4572000"/>
          </a:xfrm>
        </p:spPr>
        <p:txBody>
          <a:bodyPr/>
          <a:lstStyle/>
          <a:p>
            <a:pPr eaLnBrk="1" hangingPunct="1"/>
            <a:r>
              <a:rPr lang="en-GB" sz="2400" u="sng" dirty="0"/>
              <a:t>Affecting 3</a:t>
            </a:r>
            <a:r>
              <a:rPr lang="en-GB" sz="2400" u="sng" baseline="30000" dirty="0"/>
              <a:t>rd</a:t>
            </a:r>
            <a:r>
              <a:rPr lang="en-GB" sz="2400" u="sng" dirty="0"/>
              <a:t> parties</a:t>
            </a:r>
          </a:p>
          <a:p>
            <a:pPr eaLnBrk="1" hangingPunct="1"/>
            <a:endParaRPr lang="en-GB" sz="2400" dirty="0"/>
          </a:p>
          <a:p>
            <a:pPr lvl="1" eaLnBrk="1" hangingPunct="1"/>
            <a:r>
              <a:rPr lang="en-GB" sz="2400" dirty="0">
                <a:solidFill>
                  <a:schemeClr val="tx1"/>
                </a:solidFill>
              </a:rPr>
              <a:t>Passing of property is between the B and S, but </a:t>
            </a:r>
            <a:r>
              <a:rPr lang="en-GB" sz="2400" u="sng" dirty="0">
                <a:solidFill>
                  <a:schemeClr val="tx1"/>
                </a:solidFill>
              </a:rPr>
              <a:t>what happens if B or S becomes insolvent?</a:t>
            </a:r>
          </a:p>
          <a:p>
            <a:pPr lvl="1" eaLnBrk="1" hangingPunct="1"/>
            <a:endParaRPr lang="en-GB" sz="2400" dirty="0">
              <a:solidFill>
                <a:schemeClr val="tx1"/>
              </a:solidFill>
            </a:endParaRPr>
          </a:p>
          <a:p>
            <a:pPr lvl="2" eaLnBrk="1" hangingPunct="1"/>
            <a:r>
              <a:rPr lang="en-GB" sz="2400" dirty="0"/>
              <a:t>B or S against the insolvent B or S will have a good title against a liquidator or trustee in bankruptcy claiming through the S or B.</a:t>
            </a:r>
          </a:p>
          <a:p>
            <a:pPr lvl="2" eaLnBrk="1" hangingPunct="1">
              <a:buFont typeface="Wingdings 2" pitchFamily="18" charset="2"/>
              <a:buNone/>
            </a:pPr>
            <a:endParaRPr lang="en-GB" sz="2400" dirty="0"/>
          </a:p>
          <a:p>
            <a:pPr lvl="2" eaLnBrk="1" hangingPunct="1"/>
            <a:r>
              <a:rPr lang="en-GB" sz="2400" dirty="0"/>
              <a:t>Rights of 3rd parties are protected through the registration of charges section under the CA 2006.  </a:t>
            </a:r>
          </a:p>
        </p:txBody>
      </p:sp>
      <p:sp>
        <p:nvSpPr>
          <p:cNvPr id="4" name="Slide Number Placeholder 3"/>
          <p:cNvSpPr>
            <a:spLocks noGrp="1"/>
          </p:cNvSpPr>
          <p:nvPr>
            <p:ph type="sldNum" sz="quarter" idx="12"/>
          </p:nvPr>
        </p:nvSpPr>
        <p:spPr/>
        <p:txBody>
          <a:bodyPr/>
          <a:lstStyle/>
          <a:p>
            <a:pPr>
              <a:defRPr/>
            </a:pPr>
            <a:fld id="{6726F946-2558-48C8-ADB8-681774430BAE}" type="slidenum">
              <a:rPr lang="en-US"/>
              <a:pPr>
                <a:defRPr/>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B56A6-B824-4189-8625-1930F12D2708}"/>
              </a:ext>
            </a:extLst>
          </p:cNvPr>
          <p:cNvSpPr>
            <a:spLocks noGrp="1"/>
          </p:cNvSpPr>
          <p:nvPr>
            <p:ph type="title"/>
          </p:nvPr>
        </p:nvSpPr>
        <p:spPr/>
        <p:txBody>
          <a:bodyPr/>
          <a:lstStyle/>
          <a:p>
            <a:r>
              <a:rPr lang="en-US" sz="4000" b="1" u="sng" dirty="0">
                <a:solidFill>
                  <a:srgbClr val="FF0000"/>
                </a:solidFill>
              </a:rPr>
              <a:t>Frustration</a:t>
            </a:r>
            <a:endParaRPr lang="en-GB" sz="4000" b="1" u="sng" dirty="0">
              <a:solidFill>
                <a:srgbClr val="FF0000"/>
              </a:solidFill>
            </a:endParaRPr>
          </a:p>
        </p:txBody>
      </p:sp>
      <p:sp>
        <p:nvSpPr>
          <p:cNvPr id="3" name="Content Placeholder 2">
            <a:extLst>
              <a:ext uri="{FF2B5EF4-FFF2-40B4-BE49-F238E27FC236}">
                <a16:creationId xmlns:a16="http://schemas.microsoft.com/office/drawing/2014/main" id="{38E1FA00-F9EF-4EFD-AF13-73A328CC29FC}"/>
              </a:ext>
            </a:extLst>
          </p:cNvPr>
          <p:cNvSpPr>
            <a:spLocks noGrp="1"/>
          </p:cNvSpPr>
          <p:nvPr>
            <p:ph sz="quarter" idx="1"/>
          </p:nvPr>
        </p:nvSpPr>
        <p:spPr/>
        <p:txBody>
          <a:bodyPr/>
          <a:lstStyle/>
          <a:p>
            <a:r>
              <a:rPr lang="en-US" u="sng" dirty="0">
                <a:solidFill>
                  <a:srgbClr val="FF0000"/>
                </a:solidFill>
              </a:rPr>
              <a:t>Frustration at common law</a:t>
            </a:r>
            <a:endParaRPr lang="en-US" dirty="0">
              <a:solidFill>
                <a:srgbClr val="FF0000"/>
              </a:solidFill>
            </a:endParaRPr>
          </a:p>
          <a:p>
            <a:endParaRPr lang="en-US" u="sng" dirty="0">
              <a:solidFill>
                <a:srgbClr val="FF0000"/>
              </a:solidFill>
            </a:endParaRPr>
          </a:p>
          <a:p>
            <a:endParaRPr lang="en-GB" u="sng" dirty="0">
              <a:solidFill>
                <a:srgbClr val="FF0000"/>
              </a:solidFill>
            </a:endParaRPr>
          </a:p>
        </p:txBody>
      </p:sp>
      <p:sp>
        <p:nvSpPr>
          <p:cNvPr id="4" name="Slide Number Placeholder 3">
            <a:extLst>
              <a:ext uri="{FF2B5EF4-FFF2-40B4-BE49-F238E27FC236}">
                <a16:creationId xmlns:a16="http://schemas.microsoft.com/office/drawing/2014/main" id="{E0216F28-9091-49F1-AA27-BFF84D788ADB}"/>
              </a:ext>
            </a:extLst>
          </p:cNvPr>
          <p:cNvSpPr>
            <a:spLocks noGrp="1"/>
          </p:cNvSpPr>
          <p:nvPr>
            <p:ph type="sldNum" sz="quarter" idx="12"/>
          </p:nvPr>
        </p:nvSpPr>
        <p:spPr/>
        <p:txBody>
          <a:bodyPr/>
          <a:lstStyle/>
          <a:p>
            <a:pPr>
              <a:defRPr/>
            </a:pPr>
            <a:fld id="{69DE1868-B615-4049-95A0-7A7C57E7F0E8}" type="slidenum">
              <a:rPr lang="en-US" smtClean="0"/>
              <a:pPr>
                <a:defRPr/>
              </a:pPr>
              <a:t>25</a:t>
            </a:fld>
            <a:endParaRPr lang="en-US"/>
          </a:p>
        </p:txBody>
      </p:sp>
      <p:sp>
        <p:nvSpPr>
          <p:cNvPr id="5" name="Rectangle 2">
            <a:extLst>
              <a:ext uri="{FF2B5EF4-FFF2-40B4-BE49-F238E27FC236}">
                <a16:creationId xmlns:a16="http://schemas.microsoft.com/office/drawing/2014/main" id="{2AA3D2A6-826C-4A54-AE4F-A0A1A7FD6195}"/>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6" name="Text Box 2">
            <a:extLst>
              <a:ext uri="{FF2B5EF4-FFF2-40B4-BE49-F238E27FC236}">
                <a16:creationId xmlns:a16="http://schemas.microsoft.com/office/drawing/2014/main" id="{9C62D81E-125F-4A17-9904-840CD15F2398}"/>
              </a:ext>
            </a:extLst>
          </p:cNvPr>
          <p:cNvSpPr txBox="1">
            <a:spLocks noChangeArrowheads="1"/>
          </p:cNvSpPr>
          <p:nvPr/>
        </p:nvSpPr>
        <p:spPr bwMode="auto">
          <a:xfrm rot="10800000" flipV="1">
            <a:off x="838200" y="2476500"/>
            <a:ext cx="7315200" cy="300990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rPr>
              <a:t>What is frustration?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70C0"/>
                </a:solidFill>
                <a:effectLst/>
                <a:latin typeface="Palatino Linotype" panose="02040502050505030304" pitchFamily="18" charset="0"/>
                <a:ea typeface="Calibri" panose="020F0502020204030204" pitchFamily="34" charset="0"/>
                <a:cs typeface="Times New Roman" panose="02020603050405020304" pitchFamily="18" charset="0"/>
              </a:rPr>
              <a:t> “A fundamentally different situation from that originally envisaged”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rPr>
              <a:t> </a:t>
            </a:r>
            <a:r>
              <a:rPr kumimoji="0" lang="en-US" altLang="en-US" sz="2400" b="0" i="1" u="none" strike="noStrike" cap="none" normalizeH="0" baseline="0" dirty="0">
                <a:ln>
                  <a:noFill/>
                </a:ln>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rPr>
              <a:t>British Movietonews </a:t>
            </a:r>
            <a:r>
              <a:rPr kumimoji="0" lang="en-US" altLang="en-US" sz="2400" b="0" i="0" u="none" strike="noStrike" cap="none" normalizeH="0" baseline="0" dirty="0">
                <a:ln>
                  <a:noFill/>
                </a:ln>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rPr>
              <a:t>v </a:t>
            </a:r>
            <a:r>
              <a:rPr kumimoji="0" lang="en-US" altLang="en-US" sz="2400" b="0" i="1" u="none" strike="noStrike" cap="none" normalizeH="0" baseline="0" dirty="0">
                <a:ln>
                  <a:noFill/>
                </a:ln>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rPr>
              <a:t>London and District Cinemas </a:t>
            </a:r>
            <a:r>
              <a:rPr kumimoji="0" lang="en-US" altLang="en-US" sz="2400" b="0" i="0" u="none" strike="noStrike" cap="none" normalizeH="0" baseline="0" dirty="0">
                <a:ln>
                  <a:noFill/>
                </a:ln>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rPr>
              <a:t>[1952] AC 166 at 185 (per Viscount Simon)</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462116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9510A-1463-4086-AEE6-16A493A8987D}"/>
              </a:ext>
            </a:extLst>
          </p:cNvPr>
          <p:cNvSpPr>
            <a:spLocks noGrp="1"/>
          </p:cNvSpPr>
          <p:nvPr>
            <p:ph type="title"/>
          </p:nvPr>
        </p:nvSpPr>
        <p:spPr/>
        <p:txBody>
          <a:bodyPr/>
          <a:lstStyle/>
          <a:p>
            <a:r>
              <a:rPr lang="en-US" u="sng" dirty="0">
                <a:solidFill>
                  <a:srgbClr val="FF0000"/>
                </a:solidFill>
              </a:rPr>
              <a:t>Frustration at common law (continued)</a:t>
            </a:r>
            <a:endParaRPr lang="en-GB" u="sng" dirty="0">
              <a:solidFill>
                <a:srgbClr val="FF0000"/>
              </a:solidFill>
            </a:endParaRPr>
          </a:p>
        </p:txBody>
      </p:sp>
      <p:sp>
        <p:nvSpPr>
          <p:cNvPr id="3" name="Content Placeholder 2">
            <a:extLst>
              <a:ext uri="{FF2B5EF4-FFF2-40B4-BE49-F238E27FC236}">
                <a16:creationId xmlns:a16="http://schemas.microsoft.com/office/drawing/2014/main" id="{6C6E0A89-7AFA-42B5-AF10-5D8425FC46D7}"/>
              </a:ext>
            </a:extLst>
          </p:cNvPr>
          <p:cNvSpPr>
            <a:spLocks noGrp="1"/>
          </p:cNvSpPr>
          <p:nvPr>
            <p:ph sz="quarter" idx="1"/>
          </p:nvPr>
        </p:nvSpPr>
        <p:spPr>
          <a:xfrm>
            <a:off x="301752" y="1527048"/>
            <a:ext cx="8503920" cy="4873752"/>
          </a:xfrm>
        </p:spPr>
        <p:txBody>
          <a:bodyPr/>
          <a:lstStyle/>
          <a:p>
            <a:pPr marL="0" indent="0">
              <a:buNone/>
            </a:pPr>
            <a:r>
              <a:rPr lang="en-GB" sz="2400" dirty="0">
                <a:solidFill>
                  <a:srgbClr val="000000"/>
                </a:solidFill>
                <a:effectLst/>
                <a:latin typeface="Palatino Linotype" panose="02040502050505030304" pitchFamily="18" charset="0"/>
                <a:ea typeface="Calibri" panose="020F0502020204030204" pitchFamily="34" charset="0"/>
                <a:cs typeface="Times New Roman" panose="02020603050405020304" pitchFamily="18" charset="0"/>
              </a:rPr>
              <a:t>The </a:t>
            </a:r>
            <a:r>
              <a:rPr lang="en-GB" sz="2400" dirty="0">
                <a:solidFill>
                  <a:srgbClr val="000000"/>
                </a:solidFill>
                <a:latin typeface="Palatino Linotype" panose="02040502050505030304" pitchFamily="18" charset="0"/>
                <a:ea typeface="Calibri" panose="020F0502020204030204" pitchFamily="34" charset="0"/>
                <a:cs typeface="Times New Roman" panose="02020603050405020304" pitchFamily="18" charset="0"/>
              </a:rPr>
              <a:t>requirements for a contract to be frustrated developed over the years and in </a:t>
            </a:r>
            <a:r>
              <a:rPr lang="en-GB" sz="2400" b="1" i="1" dirty="0">
                <a:solidFill>
                  <a:srgbClr val="000000"/>
                </a:solidFill>
                <a:effectLst/>
                <a:latin typeface="Palatino Linotype" panose="02040502050505030304" pitchFamily="18" charset="0"/>
                <a:ea typeface="Calibri" panose="020F0502020204030204" pitchFamily="34" charset="0"/>
                <a:cs typeface="Times New Roman" panose="02020603050405020304" pitchFamily="18" charset="0"/>
              </a:rPr>
              <a:t>National Carriers Ltd </a:t>
            </a:r>
            <a:r>
              <a:rPr lang="en-GB" sz="2400" b="1" dirty="0">
                <a:solidFill>
                  <a:srgbClr val="000000"/>
                </a:solidFill>
                <a:effectLst/>
                <a:latin typeface="Palatino Linotype" panose="02040502050505030304" pitchFamily="18" charset="0"/>
                <a:ea typeface="Calibri" panose="020F0502020204030204" pitchFamily="34" charset="0"/>
                <a:cs typeface="Times New Roman" panose="02020603050405020304" pitchFamily="18" charset="0"/>
              </a:rPr>
              <a:t>v</a:t>
            </a:r>
            <a:r>
              <a:rPr lang="en-GB" sz="2400" b="1" i="1" dirty="0">
                <a:solidFill>
                  <a:srgbClr val="000000"/>
                </a:solidFill>
                <a:effectLst/>
                <a:latin typeface="Palatino Linotype" panose="02040502050505030304" pitchFamily="18" charset="0"/>
                <a:ea typeface="Calibri" panose="020F0502020204030204" pitchFamily="34" charset="0"/>
                <a:cs typeface="Times New Roman" panose="02020603050405020304" pitchFamily="18" charset="0"/>
              </a:rPr>
              <a:t> Panalpina (Northern) Ltd</a:t>
            </a:r>
            <a:r>
              <a:rPr lang="en-GB" sz="2400" b="1" dirty="0">
                <a:solidFill>
                  <a:srgbClr val="000000"/>
                </a:solidFill>
                <a:effectLst/>
                <a:latin typeface="Palatino Linotype" panose="02040502050505030304" pitchFamily="18" charset="0"/>
                <a:ea typeface="Calibri" panose="020F0502020204030204" pitchFamily="34" charset="0"/>
                <a:cs typeface="Times New Roman" panose="02020603050405020304" pitchFamily="18" charset="0"/>
              </a:rPr>
              <a:t> </a:t>
            </a:r>
            <a:r>
              <a:rPr lang="en-GB" sz="2400" dirty="0">
                <a:solidFill>
                  <a:srgbClr val="000000"/>
                </a:solidFill>
                <a:effectLst/>
                <a:latin typeface="Palatino Linotype" panose="02040502050505030304" pitchFamily="18" charset="0"/>
                <a:ea typeface="Calibri" panose="020F0502020204030204" pitchFamily="34" charset="0"/>
                <a:cs typeface="Times New Roman" panose="02020603050405020304" pitchFamily="18" charset="0"/>
              </a:rPr>
              <a:t>[1981] AC 675 (HL), Lord Simon set out a very helpful list of the elements required in order for there to be frustration at common law:</a:t>
            </a:r>
          </a:p>
          <a:p>
            <a:pPr marL="0" indent="0">
              <a:buNone/>
            </a:pPr>
            <a:endParaRPr lang="en-GB" sz="2400" dirty="0">
              <a:solidFill>
                <a:srgbClr val="000000"/>
              </a:solidFill>
              <a:latin typeface="Palatino Linotype" panose="02040502050505030304" pitchFamily="18" charset="0"/>
              <a:ea typeface="Calibri" panose="020F0502020204030204" pitchFamily="34" charset="0"/>
              <a:cs typeface="Times New Roman" panose="02020603050405020304" pitchFamily="18" charset="0"/>
            </a:endParaRPr>
          </a:p>
          <a:p>
            <a:pPr marL="457200" indent="-457200">
              <a:buFont typeface="+mj-lt"/>
              <a:buAutoNum type="arabicPeriod"/>
            </a:pPr>
            <a:r>
              <a:rPr lang="en-GB" sz="2000" dirty="0">
                <a:solidFill>
                  <a:srgbClr val="000000"/>
                </a:solidFill>
                <a:effectLst/>
                <a:latin typeface="Palatino Linotype" panose="02040502050505030304" pitchFamily="18" charset="0"/>
                <a:ea typeface="Calibri" panose="020F0502020204030204" pitchFamily="34" charset="0"/>
                <a:cs typeface="Times New Roman" panose="02020603050405020304" pitchFamily="18" charset="0"/>
              </a:rPr>
              <a:t>There must be a supervening event that "significantly changes the nature (not merely the expense or onerousness) of the outstanding contractual rights";</a:t>
            </a:r>
            <a:endParaRPr lang="en-GB" sz="2000" dirty="0">
              <a:latin typeface="Palatino Linotype" panose="02040502050505030304" pitchFamily="18" charset="0"/>
              <a:ea typeface="Calibri" panose="020F0502020204030204" pitchFamily="34" charset="0"/>
              <a:cs typeface="Times New Roman" panose="02020603050405020304" pitchFamily="18" charset="0"/>
            </a:endParaRPr>
          </a:p>
          <a:p>
            <a:pPr marL="457200" indent="-457200">
              <a:buFont typeface="+mj-lt"/>
              <a:buAutoNum type="arabicPeriod"/>
            </a:pPr>
            <a:r>
              <a:rPr lang="en-GB" sz="2000" dirty="0">
                <a:solidFill>
                  <a:srgbClr val="000000"/>
                </a:solidFill>
                <a:effectLst/>
                <a:latin typeface="Palatino Linotype" panose="02040502050505030304" pitchFamily="18" charset="0"/>
                <a:ea typeface="Calibri" panose="020F0502020204030204" pitchFamily="34" charset="0"/>
                <a:cs typeface="Times New Roman" panose="02020603050405020304" pitchFamily="18" charset="0"/>
              </a:rPr>
              <a:t>There must be no fault of either party;</a:t>
            </a:r>
            <a:endParaRPr lang="en-GB" sz="2000" dirty="0">
              <a:latin typeface="Palatino Linotype" panose="02040502050505030304" pitchFamily="18" charset="0"/>
              <a:ea typeface="Calibri" panose="020F0502020204030204" pitchFamily="34" charset="0"/>
              <a:cs typeface="Times New Roman" panose="02020603050405020304" pitchFamily="18" charset="0"/>
            </a:endParaRPr>
          </a:p>
          <a:p>
            <a:pPr marL="457200" indent="-457200">
              <a:buFont typeface="+mj-lt"/>
              <a:buAutoNum type="arabicPeriod"/>
            </a:pPr>
            <a:r>
              <a:rPr lang="en-GB" sz="2000" dirty="0">
                <a:solidFill>
                  <a:srgbClr val="000000"/>
                </a:solidFill>
                <a:effectLst/>
                <a:latin typeface="Palatino Linotype" panose="02040502050505030304" pitchFamily="18" charset="0"/>
                <a:ea typeface="Calibri" panose="020F0502020204030204" pitchFamily="34" charset="0"/>
                <a:cs typeface="Times New Roman" panose="02020603050405020304" pitchFamily="18" charset="0"/>
              </a:rPr>
              <a:t>The supervening event must not have been "reasonably contemplated by the parties" at the time of the contract;</a:t>
            </a:r>
            <a:endParaRPr lang="en-GB" sz="2000" dirty="0">
              <a:latin typeface="Palatino Linotype" panose="02040502050505030304" pitchFamily="18" charset="0"/>
              <a:ea typeface="Calibri" panose="020F0502020204030204" pitchFamily="34" charset="0"/>
              <a:cs typeface="Times New Roman" panose="02020603050405020304" pitchFamily="18" charset="0"/>
            </a:endParaRPr>
          </a:p>
          <a:p>
            <a:pPr marL="457200" indent="-457200">
              <a:buFont typeface="+mj-lt"/>
              <a:buAutoNum type="arabicPeriod"/>
            </a:pPr>
            <a:r>
              <a:rPr lang="en-GB" sz="2000" dirty="0">
                <a:solidFill>
                  <a:srgbClr val="000000"/>
                </a:solidFill>
                <a:effectLst/>
                <a:latin typeface="Palatino Linotype" panose="02040502050505030304" pitchFamily="18" charset="0"/>
                <a:ea typeface="Calibri" panose="020F0502020204030204" pitchFamily="34" charset="0"/>
                <a:cs typeface="Times New Roman" panose="02020603050405020304" pitchFamily="18" charset="0"/>
              </a:rPr>
              <a:t>It must be unjust to hold the parties to the original contract.</a:t>
            </a:r>
            <a:endParaRPr lang="en-GB" sz="2000" dirty="0">
              <a:effectLst/>
              <a:latin typeface="Palatino Linotype" panose="02040502050505030304" pitchFamily="18" charset="0"/>
              <a:ea typeface="Calibri" panose="020F0502020204030204" pitchFamily="34" charset="0"/>
              <a:cs typeface="Times New Roman" panose="02020603050405020304" pitchFamily="18" charset="0"/>
            </a:endParaRPr>
          </a:p>
          <a:p>
            <a:endParaRPr lang="en-GB" dirty="0"/>
          </a:p>
        </p:txBody>
      </p:sp>
      <p:sp>
        <p:nvSpPr>
          <p:cNvPr id="4" name="Slide Number Placeholder 3">
            <a:extLst>
              <a:ext uri="{FF2B5EF4-FFF2-40B4-BE49-F238E27FC236}">
                <a16:creationId xmlns:a16="http://schemas.microsoft.com/office/drawing/2014/main" id="{2F026AA5-59B8-4BC2-962C-7FF64A1A5AB7}"/>
              </a:ext>
            </a:extLst>
          </p:cNvPr>
          <p:cNvSpPr>
            <a:spLocks noGrp="1"/>
          </p:cNvSpPr>
          <p:nvPr>
            <p:ph type="sldNum" sz="quarter" idx="12"/>
          </p:nvPr>
        </p:nvSpPr>
        <p:spPr/>
        <p:txBody>
          <a:bodyPr/>
          <a:lstStyle/>
          <a:p>
            <a:pPr>
              <a:defRPr/>
            </a:pPr>
            <a:fld id="{69DE1868-B615-4049-95A0-7A7C57E7F0E8}" type="slidenum">
              <a:rPr lang="en-US" smtClean="0"/>
              <a:pPr>
                <a:defRPr/>
              </a:pPr>
              <a:t>26</a:t>
            </a:fld>
            <a:endParaRPr lang="en-US"/>
          </a:p>
        </p:txBody>
      </p:sp>
    </p:spTree>
    <p:extLst>
      <p:ext uri="{BB962C8B-B14F-4D97-AF65-F5344CB8AC3E}">
        <p14:creationId xmlns:p14="http://schemas.microsoft.com/office/powerpoint/2010/main" val="19759308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7B48CD-3245-4F03-8508-16FB304C01A5}"/>
              </a:ext>
            </a:extLst>
          </p:cNvPr>
          <p:cNvSpPr>
            <a:spLocks noGrp="1"/>
          </p:cNvSpPr>
          <p:nvPr>
            <p:ph sz="quarter" idx="1"/>
          </p:nvPr>
        </p:nvSpPr>
        <p:spPr/>
        <p:txBody>
          <a:bodyPr/>
          <a:lstStyle/>
          <a:p>
            <a:pPr marL="0" indent="0" algn="just">
              <a:buNone/>
            </a:pPr>
            <a:r>
              <a:rPr lang="en-GB" sz="2800" u="sng" dirty="0">
                <a:effectLst/>
                <a:highlight>
                  <a:srgbClr val="FFFF00"/>
                </a:highlight>
                <a:latin typeface="Palatino Linotype" panose="02040502050505030304" pitchFamily="18" charset="0"/>
                <a:ea typeface="Calibri" panose="020F0502020204030204" pitchFamily="34" charset="0"/>
                <a:cs typeface="Times New Roman" panose="02020603050405020304" pitchFamily="18" charset="0"/>
              </a:rPr>
              <a:t>AN IMPORTANT POINT TO REMEMBER:</a:t>
            </a:r>
            <a:endParaRPr lang="en-GB" sz="2800" dirty="0">
              <a:effectLst/>
              <a:latin typeface="Palatino Linotype" panose="02040502050505030304" pitchFamily="18" charset="0"/>
              <a:ea typeface="Calibri" panose="020F0502020204030204" pitchFamily="34" charset="0"/>
              <a:cs typeface="Times New Roman" panose="02020603050405020304" pitchFamily="18" charset="0"/>
            </a:endParaRPr>
          </a:p>
          <a:p>
            <a:pPr marL="0" indent="0" algn="just">
              <a:buNone/>
            </a:pPr>
            <a:r>
              <a:rPr lang="en-GB" sz="2800" dirty="0">
                <a:effectLst/>
                <a:highlight>
                  <a:srgbClr val="FFFF00"/>
                </a:highlight>
                <a:latin typeface="Palatino Linotype" panose="02040502050505030304" pitchFamily="18" charset="0"/>
                <a:ea typeface="Calibri" panose="020F0502020204030204" pitchFamily="34" charset="0"/>
                <a:cs typeface="Times New Roman" panose="02020603050405020304" pitchFamily="18" charset="0"/>
              </a:rPr>
              <a:t> </a:t>
            </a:r>
            <a:endParaRPr lang="en-GB" sz="2800" dirty="0">
              <a:effectLst/>
              <a:latin typeface="Palatino Linotype" panose="02040502050505030304" pitchFamily="18" charset="0"/>
              <a:ea typeface="Calibri" panose="020F0502020204030204" pitchFamily="34" charset="0"/>
              <a:cs typeface="Times New Roman" panose="02020603050405020304" pitchFamily="18" charset="0"/>
            </a:endParaRPr>
          </a:p>
          <a:p>
            <a:pPr marL="0" indent="0" algn="just">
              <a:buNone/>
            </a:pPr>
            <a:r>
              <a:rPr lang="en-GB" sz="2800" dirty="0">
                <a:effectLst/>
                <a:highlight>
                  <a:srgbClr val="FFFF00"/>
                </a:highlight>
                <a:latin typeface="Palatino Linotype" panose="02040502050505030304" pitchFamily="18" charset="0"/>
                <a:ea typeface="Calibri" panose="020F0502020204030204" pitchFamily="34" charset="0"/>
                <a:cs typeface="Times New Roman" panose="02020603050405020304" pitchFamily="18" charset="0"/>
              </a:rPr>
              <a:t>After a contract of sale has been concluded the contract will not be frustrated at common law if the goods perish because the contract has already been executed and risk will have already passed to B</a:t>
            </a:r>
            <a:endParaRPr lang="en-GB" sz="2800" dirty="0">
              <a:effectLst/>
              <a:latin typeface="Palatino Linotype" panose="02040502050505030304" pitchFamily="18" charset="0"/>
              <a:ea typeface="Calibri" panose="020F0502020204030204" pitchFamily="34" charset="0"/>
              <a:cs typeface="Times New Roman" panose="02020603050405020304" pitchFamily="18" charset="0"/>
            </a:endParaRPr>
          </a:p>
          <a:p>
            <a:pPr marL="0" indent="0">
              <a:buNone/>
            </a:pPr>
            <a:r>
              <a:rPr lang="en-GB" sz="2800" dirty="0">
                <a:effectLst/>
                <a:latin typeface="Palatino Linotype" panose="02040502050505030304" pitchFamily="18" charset="0"/>
                <a:ea typeface="Calibri" panose="020F0502020204030204" pitchFamily="34" charset="0"/>
                <a:cs typeface="Times New Roman" panose="02020603050405020304" pitchFamily="18" charset="0"/>
              </a:rPr>
              <a:t> </a:t>
            </a:r>
          </a:p>
          <a:p>
            <a:pPr marL="0" indent="0">
              <a:buNone/>
            </a:pPr>
            <a:endParaRPr lang="en-GB" dirty="0"/>
          </a:p>
        </p:txBody>
      </p:sp>
      <p:sp>
        <p:nvSpPr>
          <p:cNvPr id="4" name="Slide Number Placeholder 3">
            <a:extLst>
              <a:ext uri="{FF2B5EF4-FFF2-40B4-BE49-F238E27FC236}">
                <a16:creationId xmlns:a16="http://schemas.microsoft.com/office/drawing/2014/main" id="{FFE4EE18-8221-4C9B-BF1C-95024B58F025}"/>
              </a:ext>
            </a:extLst>
          </p:cNvPr>
          <p:cNvSpPr>
            <a:spLocks noGrp="1"/>
          </p:cNvSpPr>
          <p:nvPr>
            <p:ph type="sldNum" sz="quarter" idx="12"/>
          </p:nvPr>
        </p:nvSpPr>
        <p:spPr/>
        <p:txBody>
          <a:bodyPr/>
          <a:lstStyle/>
          <a:p>
            <a:pPr>
              <a:defRPr/>
            </a:pPr>
            <a:fld id="{69DE1868-B615-4049-95A0-7A7C57E7F0E8}" type="slidenum">
              <a:rPr lang="en-US" smtClean="0"/>
              <a:pPr>
                <a:defRPr/>
              </a:pPr>
              <a:t>27</a:t>
            </a:fld>
            <a:endParaRPr lang="en-US"/>
          </a:p>
        </p:txBody>
      </p:sp>
    </p:spTree>
    <p:extLst>
      <p:ext uri="{BB962C8B-B14F-4D97-AF65-F5344CB8AC3E}">
        <p14:creationId xmlns:p14="http://schemas.microsoft.com/office/powerpoint/2010/main" val="10252807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pPr eaLnBrk="1" hangingPunct="1"/>
            <a:r>
              <a:rPr lang="en-US" u="sng" dirty="0">
                <a:solidFill>
                  <a:srgbClr val="FF0000"/>
                </a:solidFill>
              </a:rPr>
              <a:t>F</a:t>
            </a:r>
            <a:r>
              <a:rPr lang="en-GB" u="sng" dirty="0" err="1">
                <a:solidFill>
                  <a:srgbClr val="FF0000"/>
                </a:solidFill>
              </a:rPr>
              <a:t>rustration</a:t>
            </a:r>
            <a:r>
              <a:rPr lang="en-GB" u="sng" dirty="0">
                <a:solidFill>
                  <a:srgbClr val="FF0000"/>
                </a:solidFill>
              </a:rPr>
              <a:t> (continued)</a:t>
            </a:r>
          </a:p>
        </p:txBody>
      </p:sp>
      <p:sp>
        <p:nvSpPr>
          <p:cNvPr id="3" name="Slide Number Placeholder 2"/>
          <p:cNvSpPr>
            <a:spLocks noGrp="1"/>
          </p:cNvSpPr>
          <p:nvPr>
            <p:ph type="sldNum" sz="quarter" idx="12"/>
          </p:nvPr>
        </p:nvSpPr>
        <p:spPr/>
        <p:txBody>
          <a:bodyPr/>
          <a:lstStyle/>
          <a:p>
            <a:pPr>
              <a:defRPr/>
            </a:pPr>
            <a:fld id="{EEE51D36-0D66-4716-A598-8D475DE6E5C0}" type="slidenum">
              <a:rPr lang="en-US"/>
              <a:pPr>
                <a:defRPr/>
              </a:pPr>
              <a:t>28</a:t>
            </a:fld>
            <a:endParaRPr lang="en-US"/>
          </a:p>
        </p:txBody>
      </p:sp>
      <p:sp>
        <p:nvSpPr>
          <p:cNvPr id="39940" name="Content Placeholder 3"/>
          <p:cNvSpPr>
            <a:spLocks noGrp="1"/>
          </p:cNvSpPr>
          <p:nvPr>
            <p:ph sz="quarter" idx="1"/>
          </p:nvPr>
        </p:nvSpPr>
        <p:spPr>
          <a:xfrm>
            <a:off x="301625" y="1527175"/>
            <a:ext cx="8504238" cy="4949825"/>
          </a:xfrm>
        </p:spPr>
        <p:txBody>
          <a:bodyPr/>
          <a:lstStyle/>
          <a:p>
            <a:pPr eaLnBrk="1" hangingPunct="1"/>
            <a:r>
              <a:rPr lang="en-GB" sz="2400" b="1" u="sng" dirty="0">
                <a:solidFill>
                  <a:srgbClr val="FF0000"/>
                </a:solidFill>
              </a:rPr>
              <a:t>Frustration</a:t>
            </a:r>
          </a:p>
          <a:p>
            <a:pPr lvl="1" eaLnBrk="1" hangingPunct="1"/>
            <a:r>
              <a:rPr lang="en-GB" sz="2000" b="1" dirty="0">
                <a:solidFill>
                  <a:srgbClr val="FF0000"/>
                </a:solidFill>
              </a:rPr>
              <a:t>S. 7 </a:t>
            </a:r>
          </a:p>
          <a:p>
            <a:pPr lvl="2" eaLnBrk="1" hangingPunct="1"/>
            <a:r>
              <a:rPr lang="en-GB" sz="2400" u="sng" dirty="0"/>
              <a:t>Before the sale </a:t>
            </a:r>
            <a:r>
              <a:rPr lang="en-GB" sz="2400" dirty="0"/>
              <a:t>(during </a:t>
            </a:r>
            <a:r>
              <a:rPr lang="en-GB" sz="2400" i="1" dirty="0">
                <a:solidFill>
                  <a:srgbClr val="FF0000"/>
                </a:solidFill>
              </a:rPr>
              <a:t>agreement to sell</a:t>
            </a:r>
            <a:r>
              <a:rPr lang="en-GB" sz="2400" i="1" dirty="0"/>
              <a:t>)</a:t>
            </a:r>
            <a:r>
              <a:rPr lang="en-GB" sz="2400" dirty="0"/>
              <a:t>, the contract </a:t>
            </a:r>
            <a:r>
              <a:rPr lang="en-GB" sz="2400" dirty="0">
                <a:solidFill>
                  <a:srgbClr val="FF0000"/>
                </a:solidFill>
              </a:rPr>
              <a:t>may be frustrated if the goods perish because the contract is still </a:t>
            </a:r>
            <a:r>
              <a:rPr lang="en-GB" sz="2400" dirty="0" err="1">
                <a:solidFill>
                  <a:srgbClr val="FF0000"/>
                </a:solidFill>
              </a:rPr>
              <a:t>executory</a:t>
            </a:r>
            <a:r>
              <a:rPr lang="en-GB" sz="2400" dirty="0">
                <a:solidFill>
                  <a:srgbClr val="FF0000"/>
                </a:solidFill>
              </a:rPr>
              <a:t> </a:t>
            </a:r>
            <a:r>
              <a:rPr lang="en-GB" sz="2400" dirty="0"/>
              <a:t>(yet to be completed) and property is yet to be passed but without the existence of goods the S cannot pass the property.</a:t>
            </a:r>
          </a:p>
          <a:p>
            <a:pPr lvl="2" eaLnBrk="1" hangingPunct="1">
              <a:buFont typeface="Wingdings 2" pitchFamily="18" charset="2"/>
              <a:buNone/>
            </a:pPr>
            <a:r>
              <a:rPr lang="en-GB" sz="2400" dirty="0"/>
              <a:t> </a:t>
            </a:r>
          </a:p>
          <a:p>
            <a:pPr lvl="2" eaLnBrk="1" hangingPunct="1"/>
            <a:r>
              <a:rPr lang="en-GB" sz="2400" u="sng" dirty="0"/>
              <a:t>After the sale</a:t>
            </a:r>
            <a:r>
              <a:rPr lang="en-GB" sz="2400" dirty="0"/>
              <a:t>, contract is not frustrated if the goods perish, because the </a:t>
            </a:r>
            <a:r>
              <a:rPr lang="en-GB" sz="2400" dirty="0">
                <a:solidFill>
                  <a:srgbClr val="FF0000"/>
                </a:solidFill>
              </a:rPr>
              <a:t>contract is now executed and the risk is with the B</a:t>
            </a:r>
            <a:r>
              <a:rPr lang="en-GB" sz="2400" dirty="0"/>
              <a:t>.</a:t>
            </a:r>
          </a:p>
          <a:p>
            <a:pPr lvl="2" eaLnBrk="1" hangingPunct="1"/>
            <a:endParaRPr lang="en-GB"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GB" dirty="0">
                <a:solidFill>
                  <a:schemeClr val="tx1"/>
                </a:solidFill>
              </a:rPr>
              <a:t>Consequences</a:t>
            </a:r>
          </a:p>
        </p:txBody>
      </p:sp>
      <p:sp>
        <p:nvSpPr>
          <p:cNvPr id="40963" name="Content Placeholder 2"/>
          <p:cNvSpPr>
            <a:spLocks noGrp="1"/>
          </p:cNvSpPr>
          <p:nvPr>
            <p:ph sz="quarter" idx="1"/>
          </p:nvPr>
        </p:nvSpPr>
        <p:spPr>
          <a:xfrm>
            <a:off x="301625" y="1527175"/>
            <a:ext cx="8504238" cy="4572000"/>
          </a:xfrm>
        </p:spPr>
        <p:txBody>
          <a:bodyPr/>
          <a:lstStyle/>
          <a:p>
            <a:pPr lvl="1" eaLnBrk="1" hangingPunct="1"/>
            <a:r>
              <a:rPr lang="en-GB" sz="2000" b="1" i="1" dirty="0">
                <a:solidFill>
                  <a:srgbClr val="0070C0"/>
                </a:solidFill>
              </a:rPr>
              <a:t>Appleby </a:t>
            </a:r>
            <a:r>
              <a:rPr lang="en-GB" sz="2000" b="1" dirty="0">
                <a:solidFill>
                  <a:srgbClr val="0070C0"/>
                </a:solidFill>
              </a:rPr>
              <a:t>v </a:t>
            </a:r>
            <a:r>
              <a:rPr lang="en-GB" sz="2000" b="1" i="1" dirty="0">
                <a:solidFill>
                  <a:srgbClr val="0070C0"/>
                </a:solidFill>
              </a:rPr>
              <a:t>Myers </a:t>
            </a:r>
          </a:p>
          <a:p>
            <a:pPr lvl="2" eaLnBrk="1" hangingPunct="1"/>
            <a:r>
              <a:rPr lang="en-GB" i="1" dirty="0"/>
              <a:t>K for the erection of machinery. Payment was to be made on completion. When the work was nearly finished the premises and the machinery were destroyed by fire. Contract was frustrated. </a:t>
            </a:r>
          </a:p>
          <a:p>
            <a:pPr lvl="2" eaLnBrk="1" hangingPunct="1"/>
            <a:r>
              <a:rPr lang="en-GB" i="1" dirty="0"/>
              <a:t>Question: could compensation could be recovered for the work done?</a:t>
            </a:r>
          </a:p>
          <a:p>
            <a:pPr lvl="3" eaLnBrk="1" hangingPunct="1"/>
            <a:r>
              <a:rPr lang="en-GB" i="1" dirty="0">
                <a:solidFill>
                  <a:schemeClr val="tx1"/>
                </a:solidFill>
              </a:rPr>
              <a:t>Held: No. Obligation to pay had not arisen at the time the contract was frustrated.   </a:t>
            </a:r>
          </a:p>
          <a:p>
            <a:pPr lvl="3" eaLnBrk="1" hangingPunct="1">
              <a:buFont typeface="Wingdings" pitchFamily="2" charset="2"/>
              <a:buNone/>
            </a:pPr>
            <a:endParaRPr lang="en-GB" i="1" dirty="0">
              <a:solidFill>
                <a:schemeClr val="tx1"/>
              </a:solidFill>
            </a:endParaRPr>
          </a:p>
          <a:p>
            <a:pPr lvl="1" eaLnBrk="1" hangingPunct="1"/>
            <a:r>
              <a:rPr lang="en-GB" sz="2000" b="1" i="1" dirty="0">
                <a:solidFill>
                  <a:srgbClr val="0070C0"/>
                </a:solidFill>
              </a:rPr>
              <a:t>CTI Group </a:t>
            </a:r>
            <a:r>
              <a:rPr lang="en-GB" sz="2000" b="1" dirty="0">
                <a:solidFill>
                  <a:srgbClr val="0070C0"/>
                </a:solidFill>
              </a:rPr>
              <a:t>v </a:t>
            </a:r>
            <a:r>
              <a:rPr lang="en-GB" sz="2000" b="1" i="1" dirty="0" err="1">
                <a:solidFill>
                  <a:srgbClr val="0070C0"/>
                </a:solidFill>
              </a:rPr>
              <a:t>Transclear</a:t>
            </a:r>
            <a:r>
              <a:rPr lang="en-GB" sz="2000" b="1" i="1" dirty="0">
                <a:solidFill>
                  <a:srgbClr val="0070C0"/>
                </a:solidFill>
              </a:rPr>
              <a:t> (CA)</a:t>
            </a:r>
          </a:p>
          <a:p>
            <a:pPr lvl="2" eaLnBrk="1" hangingPunct="1"/>
            <a:r>
              <a:rPr lang="en-GB" i="1" dirty="0"/>
              <a:t>No frustration.  Fact that supplier doesn’t make goods available thus rendering performance by seller impossible not sufficient.</a:t>
            </a:r>
          </a:p>
          <a:p>
            <a:pPr marL="0" indent="0" eaLnBrk="1" hangingPunct="1">
              <a:buNone/>
            </a:pPr>
            <a:endParaRPr lang="en-GB" dirty="0"/>
          </a:p>
        </p:txBody>
      </p:sp>
      <p:sp>
        <p:nvSpPr>
          <p:cNvPr id="4" name="Slide Number Placeholder 3"/>
          <p:cNvSpPr>
            <a:spLocks noGrp="1"/>
          </p:cNvSpPr>
          <p:nvPr>
            <p:ph type="sldNum" sz="quarter" idx="12"/>
          </p:nvPr>
        </p:nvSpPr>
        <p:spPr/>
        <p:txBody>
          <a:bodyPr/>
          <a:lstStyle/>
          <a:p>
            <a:pPr>
              <a:defRPr/>
            </a:pPr>
            <a:fld id="{A8600DAE-83DF-41D4-BA8A-5FDF0AA1B0CC}" type="slidenum">
              <a:rPr lang="en-US" smtClean="0"/>
              <a:pPr>
                <a:defRPr/>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pPr eaLnBrk="1" hangingPunct="1"/>
            <a:r>
              <a:rPr lang="en-GB" u="sng" dirty="0">
                <a:solidFill>
                  <a:schemeClr val="tx1"/>
                </a:solidFill>
              </a:rPr>
              <a:t>Next week</a:t>
            </a:r>
          </a:p>
        </p:txBody>
      </p:sp>
      <p:sp>
        <p:nvSpPr>
          <p:cNvPr id="3" name="Slide Number Placeholder 2"/>
          <p:cNvSpPr>
            <a:spLocks noGrp="1"/>
          </p:cNvSpPr>
          <p:nvPr>
            <p:ph type="sldNum" sz="quarter" idx="12"/>
          </p:nvPr>
        </p:nvSpPr>
        <p:spPr/>
        <p:txBody>
          <a:bodyPr/>
          <a:lstStyle/>
          <a:p>
            <a:pPr>
              <a:defRPr/>
            </a:pPr>
            <a:fld id="{278A6467-2DE8-432E-8CCE-F8052D858E28}" type="slidenum">
              <a:rPr lang="en-US"/>
              <a:pPr>
                <a:defRPr/>
              </a:pPr>
              <a:t>30</a:t>
            </a:fld>
            <a:endParaRPr lang="en-US"/>
          </a:p>
        </p:txBody>
      </p:sp>
      <p:sp>
        <p:nvSpPr>
          <p:cNvPr id="41988" name="Content Placeholder 3"/>
          <p:cNvSpPr>
            <a:spLocks noGrp="1"/>
          </p:cNvSpPr>
          <p:nvPr>
            <p:ph sz="quarter" idx="1"/>
          </p:nvPr>
        </p:nvSpPr>
        <p:spPr>
          <a:xfrm>
            <a:off x="301625" y="1527175"/>
            <a:ext cx="8504238" cy="4572000"/>
          </a:xfrm>
        </p:spPr>
        <p:txBody>
          <a:bodyPr/>
          <a:lstStyle/>
          <a:p>
            <a:pPr eaLnBrk="1" hangingPunct="1"/>
            <a:r>
              <a:rPr lang="en-GB" sz="3600" dirty="0"/>
              <a:t>Non-Existent Goods at the Date of the Contract</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A4B24C251BCD4291F2C2F3A608C810" ma:contentTypeVersion="9" ma:contentTypeDescription="Create a new document." ma:contentTypeScope="" ma:versionID="72b3ce0b9445f479dcd63669a849f70a">
  <xsd:schema xmlns:xsd="http://www.w3.org/2001/XMLSchema" xmlns:xs="http://www.w3.org/2001/XMLSchema" xmlns:p="http://schemas.microsoft.com/office/2006/metadata/properties" xmlns:ns3="3cc0b812-7f7d-4aca-acca-000f424f7da7" xmlns:ns4="6bff29df-e80b-4a73-953f-e802c634e429" targetNamespace="http://schemas.microsoft.com/office/2006/metadata/properties" ma:root="true" ma:fieldsID="90c94a25cb4c1a2cd21c07d5eefe7aa2" ns3:_="" ns4:_="">
    <xsd:import namespace="3cc0b812-7f7d-4aca-acca-000f424f7da7"/>
    <xsd:import namespace="6bff29df-e80b-4a73-953f-e802c634e429"/>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c0b812-7f7d-4aca-acca-000f424f7da7"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bff29df-e80b-4a73-953f-e802c634e42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D13A4E4-2A12-49A8-BB3B-1243AB2C32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cc0b812-7f7d-4aca-acca-000f424f7da7"/>
    <ds:schemaRef ds:uri="6bff29df-e80b-4a73-953f-e802c634e4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E013BE6-5F0C-4776-9D42-E639AE31AEFE}">
  <ds:schemaRefs>
    <ds:schemaRef ds:uri="http://purl.org/dc/dcmitype/"/>
    <ds:schemaRef ds:uri="http://schemas.microsoft.com/office/2006/documentManagement/types"/>
    <ds:schemaRef ds:uri="http://purl.org/dc/elements/1.1/"/>
    <ds:schemaRef ds:uri="http://www.w3.org/XML/1998/namespace"/>
    <ds:schemaRef ds:uri="http://purl.org/dc/terms/"/>
    <ds:schemaRef ds:uri="3cc0b812-7f7d-4aca-acca-000f424f7da7"/>
    <ds:schemaRef ds:uri="http://schemas.microsoft.com/office/2006/metadata/properties"/>
    <ds:schemaRef ds:uri="http://schemas.microsoft.com/office/infopath/2007/PartnerControls"/>
    <ds:schemaRef ds:uri="http://schemas.openxmlformats.org/package/2006/metadata/core-properties"/>
    <ds:schemaRef ds:uri="6bff29df-e80b-4a73-953f-e802c634e429"/>
  </ds:schemaRefs>
</ds:datastoreItem>
</file>

<file path=customXml/itemProps3.xml><?xml version="1.0" encoding="utf-8"?>
<ds:datastoreItem xmlns:ds="http://schemas.openxmlformats.org/officeDocument/2006/customXml" ds:itemID="{51C67FEA-054E-48AC-8763-D45B5833505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Theme1</Template>
  <TotalTime>1027</TotalTime>
  <Words>2748</Words>
  <Application>Microsoft Office PowerPoint</Application>
  <PresentationFormat>On-screen Show (4:3)</PresentationFormat>
  <Paragraphs>276</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Georgia</vt:lpstr>
      <vt:lpstr>Palatino Linotype</vt:lpstr>
      <vt:lpstr>Wingdings</vt:lpstr>
      <vt:lpstr>Wingdings 2</vt:lpstr>
      <vt:lpstr>Civic</vt:lpstr>
      <vt:lpstr>Commercial Law (Law 2241)</vt:lpstr>
      <vt:lpstr>Today….  </vt:lpstr>
      <vt:lpstr>Meaning of Property</vt:lpstr>
      <vt:lpstr>Meaning of Property</vt:lpstr>
      <vt:lpstr>Meaning of Property</vt:lpstr>
      <vt:lpstr>Meaning of Property</vt:lpstr>
      <vt:lpstr>Meaning of Property </vt:lpstr>
      <vt:lpstr>Meaning of Property</vt:lpstr>
      <vt:lpstr>Meaning of Property</vt:lpstr>
      <vt:lpstr>Meaning of Property</vt:lpstr>
      <vt:lpstr>Meaning of Property</vt:lpstr>
      <vt:lpstr>Meaning of Property</vt:lpstr>
      <vt:lpstr>Meaning of Property</vt:lpstr>
      <vt:lpstr>Meaning of Property</vt:lpstr>
      <vt:lpstr>Meaning of Property</vt:lpstr>
      <vt:lpstr>Meaning of Property</vt:lpstr>
      <vt:lpstr>Consequences (Summary Slide)</vt:lpstr>
      <vt:lpstr>Consequences</vt:lpstr>
      <vt:lpstr>PowerPoint Presentation</vt:lpstr>
      <vt:lpstr>Consequences</vt:lpstr>
      <vt:lpstr>Consequences</vt:lpstr>
      <vt:lpstr>Consequences</vt:lpstr>
      <vt:lpstr>Consequences</vt:lpstr>
      <vt:lpstr>Consequences</vt:lpstr>
      <vt:lpstr>Frustration</vt:lpstr>
      <vt:lpstr>Frustration at common law (continued)</vt:lpstr>
      <vt:lpstr>PowerPoint Presentation</vt:lpstr>
      <vt:lpstr>Frustration (continued)</vt:lpstr>
      <vt:lpstr>Consequences</vt:lpstr>
      <vt:lpstr>Next week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Commercial Law Law 2241</dc:title>
  <dc:creator>Rachel</dc:creator>
  <cp:lastModifiedBy>AVERY, RACHEL J.</cp:lastModifiedBy>
  <cp:revision>96</cp:revision>
  <dcterms:created xsi:type="dcterms:W3CDTF">2006-08-16T00:00:00Z</dcterms:created>
  <dcterms:modified xsi:type="dcterms:W3CDTF">2024-09-10T14:04:35Z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0x01010009A4B24C251BCD4291F2C2F3A608C810</vt:lpwstr>
  </property>
</Properties>
</file>