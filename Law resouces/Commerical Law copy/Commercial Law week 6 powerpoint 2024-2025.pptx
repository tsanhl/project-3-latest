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9"/>
  </p:notesMasterIdLst>
  <p:sldIdLst>
    <p:sldId id="256" r:id="rId5"/>
    <p:sldId id="257" r:id="rId6"/>
    <p:sldId id="258" r:id="rId7"/>
    <p:sldId id="259" r:id="rId8"/>
    <p:sldId id="262" r:id="rId9"/>
    <p:sldId id="265" r:id="rId10"/>
    <p:sldId id="266" r:id="rId11"/>
    <p:sldId id="268" r:id="rId12"/>
    <p:sldId id="269" r:id="rId13"/>
    <p:sldId id="281" r:id="rId14"/>
    <p:sldId id="260" r:id="rId15"/>
    <p:sldId id="270" r:id="rId16"/>
    <p:sldId id="271" r:id="rId17"/>
    <p:sldId id="282" r:id="rId18"/>
    <p:sldId id="261" r:id="rId19"/>
    <p:sldId id="272" r:id="rId20"/>
    <p:sldId id="273" r:id="rId21"/>
    <p:sldId id="274" r:id="rId22"/>
    <p:sldId id="275" r:id="rId23"/>
    <p:sldId id="276" r:id="rId24"/>
    <p:sldId id="277" r:id="rId25"/>
    <p:sldId id="278" r:id="rId26"/>
    <p:sldId id="279" r:id="rId27"/>
    <p:sldId id="280"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entury Gothic" pitchFamily="34" charset="0"/>
        <a:ea typeface="+mn-ea"/>
        <a:cs typeface="Arial" charset="0"/>
      </a:defRPr>
    </a:lvl1pPr>
    <a:lvl2pPr marL="457200" algn="l" rtl="0" fontAlgn="base">
      <a:spcBef>
        <a:spcPct val="0"/>
      </a:spcBef>
      <a:spcAft>
        <a:spcPct val="0"/>
      </a:spcAft>
      <a:defRPr kern="1200">
        <a:solidFill>
          <a:schemeClr val="tx1"/>
        </a:solidFill>
        <a:latin typeface="Century Gothic" pitchFamily="34" charset="0"/>
        <a:ea typeface="+mn-ea"/>
        <a:cs typeface="Arial" charset="0"/>
      </a:defRPr>
    </a:lvl2pPr>
    <a:lvl3pPr marL="914400" algn="l" rtl="0" fontAlgn="base">
      <a:spcBef>
        <a:spcPct val="0"/>
      </a:spcBef>
      <a:spcAft>
        <a:spcPct val="0"/>
      </a:spcAft>
      <a:defRPr kern="1200">
        <a:solidFill>
          <a:schemeClr val="tx1"/>
        </a:solidFill>
        <a:latin typeface="Century Gothic" pitchFamily="34" charset="0"/>
        <a:ea typeface="+mn-ea"/>
        <a:cs typeface="Arial" charset="0"/>
      </a:defRPr>
    </a:lvl3pPr>
    <a:lvl4pPr marL="1371600" algn="l" rtl="0" fontAlgn="base">
      <a:spcBef>
        <a:spcPct val="0"/>
      </a:spcBef>
      <a:spcAft>
        <a:spcPct val="0"/>
      </a:spcAft>
      <a:defRPr kern="1200">
        <a:solidFill>
          <a:schemeClr val="tx1"/>
        </a:solidFill>
        <a:latin typeface="Century Gothic" pitchFamily="34" charset="0"/>
        <a:ea typeface="+mn-ea"/>
        <a:cs typeface="Arial" charset="0"/>
      </a:defRPr>
    </a:lvl4pPr>
    <a:lvl5pPr marL="1828800" algn="l" rtl="0" fontAlgn="base">
      <a:spcBef>
        <a:spcPct val="0"/>
      </a:spcBef>
      <a:spcAft>
        <a:spcPct val="0"/>
      </a:spcAft>
      <a:defRPr kern="1200">
        <a:solidFill>
          <a:schemeClr val="tx1"/>
        </a:solidFill>
        <a:latin typeface="Century Gothic" pitchFamily="34" charset="0"/>
        <a:ea typeface="+mn-ea"/>
        <a:cs typeface="Arial" charset="0"/>
      </a:defRPr>
    </a:lvl5pPr>
    <a:lvl6pPr marL="2286000" algn="l" defTabSz="914400" rtl="0" eaLnBrk="1" latinLnBrk="0" hangingPunct="1">
      <a:defRPr kern="1200">
        <a:solidFill>
          <a:schemeClr val="tx1"/>
        </a:solidFill>
        <a:latin typeface="Century Gothic" pitchFamily="34" charset="0"/>
        <a:ea typeface="+mn-ea"/>
        <a:cs typeface="Arial" charset="0"/>
      </a:defRPr>
    </a:lvl6pPr>
    <a:lvl7pPr marL="2743200" algn="l" defTabSz="914400" rtl="0" eaLnBrk="1" latinLnBrk="0" hangingPunct="1">
      <a:defRPr kern="1200">
        <a:solidFill>
          <a:schemeClr val="tx1"/>
        </a:solidFill>
        <a:latin typeface="Century Gothic" pitchFamily="34" charset="0"/>
        <a:ea typeface="+mn-ea"/>
        <a:cs typeface="Arial" charset="0"/>
      </a:defRPr>
    </a:lvl7pPr>
    <a:lvl8pPr marL="3200400" algn="l" defTabSz="914400" rtl="0" eaLnBrk="1" latinLnBrk="0" hangingPunct="1">
      <a:defRPr kern="1200">
        <a:solidFill>
          <a:schemeClr val="tx1"/>
        </a:solidFill>
        <a:latin typeface="Century Gothic" pitchFamily="34" charset="0"/>
        <a:ea typeface="+mn-ea"/>
        <a:cs typeface="Arial" charset="0"/>
      </a:defRPr>
    </a:lvl8pPr>
    <a:lvl9pPr marL="3657600" algn="l" defTabSz="914400" rtl="0" eaLnBrk="1" latinLnBrk="0" hangingPunct="1">
      <a:defRPr kern="1200">
        <a:solidFill>
          <a:schemeClr val="tx1"/>
        </a:solidFill>
        <a:latin typeface="Century Gothic"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p:cViewPr varScale="1">
        <p:scale>
          <a:sx n="63" d="100"/>
          <a:sy n="63" d="100"/>
        </p:scale>
        <p:origin x="1396" y="5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GB"/>
          </a:p>
        </p:txBody>
      </p:sp>
      <p:sp>
        <p:nvSpPr>
          <p:cNvPr id="286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D88647CD-53CE-4DFF-90DE-F3016E92E32E}" type="datetimeFigureOut">
              <a:rPr lang="en-GB"/>
              <a:pPr>
                <a:defRPr/>
              </a:pPr>
              <a:t>10/09/2024</a:t>
            </a:fld>
            <a:endParaRPr lang="en-GB"/>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86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86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GB"/>
          </a:p>
        </p:txBody>
      </p:sp>
      <p:sp>
        <p:nvSpPr>
          <p:cNvPr id="286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CDEB7CB2-C858-4DAC-85A2-0089F1A19620}" type="slidenum">
              <a:rPr lang="en-GB"/>
              <a:pPr>
                <a:defRPr/>
              </a:pPr>
              <a:t>‹#›</a:t>
            </a:fld>
            <a:endParaRPr lang="en-GB"/>
          </a:p>
        </p:txBody>
      </p:sp>
    </p:spTree>
    <p:extLst>
      <p:ext uri="{BB962C8B-B14F-4D97-AF65-F5344CB8AC3E}">
        <p14:creationId xmlns:p14="http://schemas.microsoft.com/office/powerpoint/2010/main" val="16391257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7712075" y="3136900"/>
            <a:ext cx="911225" cy="2074863"/>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446088" y="3055938"/>
            <a:ext cx="6946900"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541338" y="4559300"/>
            <a:ext cx="6756400"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39750" y="3140075"/>
            <a:ext cx="6759575" cy="207645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a:t>Click to edit Master title style</a:t>
            </a:r>
            <a:endParaRPr lang="en-US" dirty="0"/>
          </a:p>
        </p:txBody>
      </p:sp>
      <p:sp>
        <p:nvSpPr>
          <p:cNvPr id="12" name="Date Placeholder 3"/>
          <p:cNvSpPr>
            <a:spLocks noGrp="1"/>
          </p:cNvSpPr>
          <p:nvPr>
            <p:ph type="dt" sz="half" idx="10"/>
          </p:nvPr>
        </p:nvSpPr>
        <p:spPr/>
        <p:txBody>
          <a:bodyPr/>
          <a:lstStyle>
            <a:lvl1pPr>
              <a:defRPr/>
            </a:lvl1pPr>
          </a:lstStyle>
          <a:p>
            <a:pPr>
              <a:defRPr/>
            </a:pPr>
            <a:fld id="{6AD8D91A-A2EE-4B54-B3C6-F6C67903BA9C}" type="datetime1">
              <a:rPr lang="en-US"/>
              <a:pPr>
                <a:defRPr/>
              </a:pPr>
              <a:t>9/10/2024</a:t>
            </a:fld>
            <a:endParaRPr lang="en-US" dirty="0"/>
          </a:p>
        </p:txBody>
      </p:sp>
      <p:sp>
        <p:nvSpPr>
          <p:cNvPr id="13" name="Footer Placeholder 4"/>
          <p:cNvSpPr>
            <a:spLocks noGrp="1"/>
          </p:cNvSpPr>
          <p:nvPr>
            <p:ph type="ftr" sz="quarter" idx="11"/>
          </p:nvPr>
        </p:nvSpPr>
        <p:spPr/>
        <p:txBody>
          <a:bodyPr/>
          <a:lstStyle>
            <a:lvl1pPr>
              <a:defRPr/>
            </a:lvl1pPr>
          </a:lstStyle>
          <a:p>
            <a:pPr>
              <a:defRPr/>
            </a:pPr>
            <a:endParaRPr lang="en-US"/>
          </a:p>
        </p:txBody>
      </p:sp>
      <p:sp>
        <p:nvSpPr>
          <p:cNvPr id="14" name="Slide Number Placeholder 5"/>
          <p:cNvSpPr>
            <a:spLocks noGrp="1"/>
          </p:cNvSpPr>
          <p:nvPr>
            <p:ph type="sldNum" sz="quarter" idx="12"/>
          </p:nvPr>
        </p:nvSpPr>
        <p:spPr>
          <a:xfrm>
            <a:off x="7786688" y="4625975"/>
            <a:ext cx="762000" cy="457200"/>
          </a:xfrm>
        </p:spPr>
        <p:txBody>
          <a:bodyPr/>
          <a:lstStyle>
            <a:lvl1pPr algn="ctr">
              <a:defRPr sz="2800">
                <a:solidFill>
                  <a:schemeClr val="accent1">
                    <a:lumMod val="50000"/>
                  </a:schemeClr>
                </a:solidFill>
              </a:defRPr>
            </a:lvl1pPr>
          </a:lstStyle>
          <a:p>
            <a:pPr>
              <a:defRPr/>
            </a:pPr>
            <a:fld id="{C4BF7CFA-311A-4C5C-8BA6-75544AE29870}"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AAFF0EE-5E1A-471C-A47B-6EAB25688B13}" type="datetimeFigureOut">
              <a:rPr lang="en-GB"/>
              <a:pPr>
                <a:defRPr/>
              </a:pPr>
              <a:t>10/09/2024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8AEB9A65-928E-4169-9890-E03E192FB20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568325" y="3048000"/>
            <a:ext cx="8032750"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676275" y="4541838"/>
            <a:ext cx="7816850"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676275" y="3124200"/>
            <a:ext cx="7816850" cy="2078038"/>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 name="Date Placeholder 3"/>
          <p:cNvSpPr>
            <a:spLocks noGrp="1"/>
          </p:cNvSpPr>
          <p:nvPr>
            <p:ph type="dt" sz="half" idx="10"/>
          </p:nvPr>
        </p:nvSpPr>
        <p:spPr/>
        <p:txBody>
          <a:bodyPr/>
          <a:lstStyle>
            <a:lvl1pPr>
              <a:defRPr/>
            </a:lvl1pPr>
          </a:lstStyle>
          <a:p>
            <a:pPr>
              <a:defRPr/>
            </a:pPr>
            <a:fld id="{B010171A-E3C5-4033-B574-D47B454ED1CE}" type="datetimeFigureOut">
              <a:rPr lang="en-GB"/>
              <a:pPr>
                <a:defRPr/>
              </a:pPr>
              <a:t>10/09/2024</a:t>
            </a:fld>
            <a:endParaRPr lang="en-GB"/>
          </a:p>
        </p:txBody>
      </p:sp>
      <p:sp>
        <p:nvSpPr>
          <p:cNvPr id="11" name="Footer Placeholder 4"/>
          <p:cNvSpPr>
            <a:spLocks noGrp="1"/>
          </p:cNvSpPr>
          <p:nvPr>
            <p:ph type="ftr" sz="quarter" idx="11"/>
          </p:nvPr>
        </p:nvSpPr>
        <p:spPr/>
        <p:txBody>
          <a:bodyPr/>
          <a:lstStyle>
            <a:lvl1pPr>
              <a:defRPr/>
            </a:lvl1pPr>
          </a:lstStyle>
          <a:p>
            <a:pPr>
              <a:defRPr/>
            </a:pPr>
            <a:endParaRPr lang="en-GB"/>
          </a:p>
        </p:txBody>
      </p:sp>
      <p:sp>
        <p:nvSpPr>
          <p:cNvPr id="12" name="Slide Number Placeholder 5"/>
          <p:cNvSpPr>
            <a:spLocks noGrp="1"/>
          </p:cNvSpPr>
          <p:nvPr>
            <p:ph type="sldNum" sz="quarter" idx="12"/>
          </p:nvPr>
        </p:nvSpPr>
        <p:spPr/>
        <p:txBody>
          <a:bodyPr/>
          <a:lstStyle>
            <a:lvl1pPr>
              <a:defRPr/>
            </a:lvl1pPr>
          </a:lstStyle>
          <a:p>
            <a:pPr>
              <a:defRPr/>
            </a:pPr>
            <a:fld id="{4553B51B-24BE-46B6-8F12-238EBFBA8D51}"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a:t>Click to edit Master title style</a:t>
            </a:r>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EB62520E-0013-409C-A6E6-C0226C262662}" type="datetimeFigureOut">
              <a:rPr lang="en-GB"/>
              <a:pPr>
                <a:defRPr/>
              </a:pPr>
              <a:t>10/09/2024</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7ACB3850-4DD6-424F-B050-1E8FF6283A51}"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96D66B0-056A-46F2-8948-267B05454B0D}" type="datetimeFigureOut">
              <a:rPr lang="en-GB"/>
              <a:pPr>
                <a:defRPr/>
              </a:pPr>
              <a:t>10/09/2024</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52349F99-5790-4E1E-9414-8AE9B1225C28}"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9625F54-B6DC-41AE-983A-B3C44F4F934E}" type="datetimeFigureOut">
              <a:rPr lang="en-GB"/>
              <a:pPr>
                <a:defRPr/>
              </a:pPr>
              <a:t>10/09/2024</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E895CC64-0FED-4CC7-B509-C7713A0D2E15}"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2"/>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lstStyle>
          <a:p>
            <a:pPr>
              <a:defRPr/>
            </a:pPr>
            <a:fld id="{C2F2C53C-167C-424B-B6D3-A0ACEDF43020}" type="datetimeFigureOut">
              <a:rPr lang="en-GB"/>
              <a:pPr>
                <a:defRPr/>
              </a:pPr>
              <a:t>10/09/2024</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3"/>
          <p:cNvSpPr>
            <a:spLocks noGrp="1"/>
          </p:cNvSpPr>
          <p:nvPr>
            <p:ph type="sldNum" sz="quarter" idx="12"/>
          </p:nvPr>
        </p:nvSpPr>
        <p:spPr/>
        <p:txBody>
          <a:bodyPr/>
          <a:lstStyle>
            <a:lvl1pPr>
              <a:defRPr/>
            </a:lvl1pPr>
          </a:lstStyle>
          <a:p>
            <a:pPr>
              <a:defRPr/>
            </a:pPr>
            <a:fld id="{531B1C0C-E10F-406F-A313-4B1BAF30EBBD}"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6" name="Rounded Rectangle 5"/>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676275" y="1643063"/>
            <a:ext cx="2484438" cy="3233737"/>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69000" y="1734312"/>
            <a:ext cx="2298634" cy="1191620"/>
          </a:xfrm>
        </p:spPr>
        <p:txBody>
          <a:bodyPr anchor="b"/>
          <a:lstStyle>
            <a:lvl1pPr algn="l">
              <a:defRPr sz="2000" b="0">
                <a:solidFill>
                  <a:schemeClr val="accent1">
                    <a:lumMod val="75000"/>
                  </a:schemeClr>
                </a:solidFill>
              </a:defRPr>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fld id="{2626EDFC-4788-4423-9CE5-58898F2A54B0}" type="datetimeFigureOut">
              <a:rPr lang="en-GB"/>
              <a:pPr>
                <a:defRPr/>
              </a:pPr>
              <a:t>10/09/2024</a:t>
            </a:fld>
            <a:endParaRPr lang="en-GB"/>
          </a:p>
        </p:txBody>
      </p:sp>
      <p:sp>
        <p:nvSpPr>
          <p:cNvPr id="10" name="Footer Placeholder 5"/>
          <p:cNvSpPr>
            <a:spLocks noGrp="1"/>
          </p:cNvSpPr>
          <p:nvPr>
            <p:ph type="ftr" sz="quarter" idx="11"/>
          </p:nvPr>
        </p:nvSpPr>
        <p:spPr/>
        <p:txBody>
          <a:bodyPr/>
          <a:lstStyle>
            <a:lvl1pPr>
              <a:defRPr/>
            </a:lvl1pPr>
          </a:lstStyle>
          <a:p>
            <a:pPr>
              <a:defRPr/>
            </a:pPr>
            <a:endParaRPr lang="en-GB"/>
          </a:p>
        </p:txBody>
      </p:sp>
      <p:sp>
        <p:nvSpPr>
          <p:cNvPr id="11" name="Slide Number Placeholder 6"/>
          <p:cNvSpPr>
            <a:spLocks noGrp="1"/>
          </p:cNvSpPr>
          <p:nvPr>
            <p:ph type="sldNum" sz="quarter" idx="12"/>
          </p:nvPr>
        </p:nvSpPr>
        <p:spPr/>
        <p:txBody>
          <a:bodyPr/>
          <a:lstStyle>
            <a:lvl1pPr>
              <a:defRPr/>
            </a:lvl1pPr>
          </a:lstStyle>
          <a:p>
            <a:pPr>
              <a:defRPr/>
            </a:pPr>
            <a:fld id="{16076C08-99E5-4FFC-9A94-88BDCDCF246A}"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6" name="Rounded Rectangle 5"/>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762000" y="5029200"/>
            <a:ext cx="7600950" cy="12033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914400" y="5638800"/>
            <a:ext cx="7327900" cy="452438"/>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604838" y="5075238"/>
            <a:ext cx="7947025" cy="1096962"/>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914400" y="5105400"/>
            <a:ext cx="7328514" cy="523043"/>
          </a:xfrm>
        </p:spPr>
        <p:txBody>
          <a:bodyPr anchorCtr="0"/>
          <a:lstStyle>
            <a:lvl1pPr algn="ctr">
              <a:defRPr sz="2000" b="0">
                <a:solidFill>
                  <a:schemeClr val="accent1">
                    <a:lumMod val="75000"/>
                  </a:schemeClr>
                </a:solidFill>
              </a:defRPr>
            </a:lvl1pPr>
          </a:lstStyle>
          <a:p>
            <a:r>
              <a:rPr lang="en-US"/>
              <a:t>Click to edit Master title style</a:t>
            </a:r>
            <a:endParaRPr lang="en-US" dirty="0"/>
          </a:p>
        </p:txBody>
      </p:sp>
      <p:sp>
        <p:nvSpPr>
          <p:cNvPr id="11" name="Date Placeholder 4"/>
          <p:cNvSpPr>
            <a:spLocks noGrp="1"/>
          </p:cNvSpPr>
          <p:nvPr>
            <p:ph type="dt" sz="half" idx="10"/>
          </p:nvPr>
        </p:nvSpPr>
        <p:spPr/>
        <p:txBody>
          <a:bodyPr/>
          <a:lstStyle>
            <a:lvl1pPr>
              <a:defRPr/>
            </a:lvl1pPr>
          </a:lstStyle>
          <a:p>
            <a:pPr>
              <a:defRPr/>
            </a:pPr>
            <a:fld id="{9CA51A56-0EEC-4F29-A6FA-0EB74F44CBD9}" type="datetimeFigureOut">
              <a:rPr lang="en-GB"/>
              <a:pPr>
                <a:defRPr/>
              </a:pPr>
              <a:t>10/09/2024</a:t>
            </a:fld>
            <a:endParaRPr lang="en-GB"/>
          </a:p>
        </p:txBody>
      </p:sp>
      <p:sp>
        <p:nvSpPr>
          <p:cNvPr id="12" name="Slide Number Placeholder 6"/>
          <p:cNvSpPr>
            <a:spLocks noGrp="1"/>
          </p:cNvSpPr>
          <p:nvPr>
            <p:ph type="sldNum" sz="quarter" idx="11"/>
          </p:nvPr>
        </p:nvSpPr>
        <p:spPr/>
        <p:txBody>
          <a:bodyPr/>
          <a:lstStyle>
            <a:lvl1pPr>
              <a:defRPr/>
            </a:lvl1pPr>
          </a:lstStyle>
          <a:p>
            <a:pPr>
              <a:defRPr/>
            </a:pPr>
            <a:fld id="{E0EABD21-292E-4524-AB4C-AEEFCE0FD01E}" type="slidenum">
              <a:rPr lang="en-GB"/>
              <a:pPr>
                <a:defRPr/>
              </a:pPr>
              <a:t>‹#›</a:t>
            </a:fld>
            <a:endParaRPr lang="en-GB"/>
          </a:p>
        </p:txBody>
      </p:sp>
      <p:sp>
        <p:nvSpPr>
          <p:cNvPr id="13" name="Footer Placeholder 5"/>
          <p:cNvSpPr>
            <a:spLocks noGrp="1"/>
          </p:cNvSpPr>
          <p:nvPr>
            <p:ph type="ftr" sz="quarter" idx="12"/>
          </p:nvPr>
        </p:nvSpPr>
        <p:spPr/>
        <p:txBody>
          <a:bodyPr/>
          <a:lstStyle>
            <a:lvl1pPr>
              <a:defRPr/>
            </a:lvl1pPr>
          </a:lstStyle>
          <a:p>
            <a:pPr>
              <a:defRPr/>
            </a:pP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CA8C97C-1274-417F-9D03-640E7428E6A9}" type="datetimeFigureOut">
              <a:rPr lang="en-GB"/>
              <a:pPr>
                <a:defRPr/>
              </a:pPr>
              <a:t>10/09/2024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9EB06CA-9F3F-469F-8EE0-55D0EBF8C62A}"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6861175" y="228600"/>
            <a:ext cx="1860550" cy="6122988"/>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6954838" y="350838"/>
            <a:ext cx="1673225" cy="5876925"/>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fld id="{D34B07D3-13CF-4079-A175-45421731D22F}" type="datetimeFigureOut">
              <a:rPr lang="en-GB"/>
              <a:pPr>
                <a:defRPr/>
              </a:pPr>
              <a:t>10/09/2024</a:t>
            </a:fld>
            <a:endParaRPr lang="en-GB"/>
          </a:p>
        </p:txBody>
      </p:sp>
      <p:sp>
        <p:nvSpPr>
          <p:cNvPr id="7" name="Footer Placeholder 4"/>
          <p:cNvSpPr>
            <a:spLocks noGrp="1"/>
          </p:cNvSpPr>
          <p:nvPr>
            <p:ph type="ftr" sz="quarter" idx="11"/>
          </p:nvPr>
        </p:nvSpPr>
        <p:spPr/>
        <p:txBody>
          <a:bodyPr/>
          <a:lstStyle>
            <a:lvl1pPr>
              <a:defRPr/>
            </a:lvl1pPr>
          </a:lstStyle>
          <a:p>
            <a:pPr>
              <a:defRPr/>
            </a:pPr>
            <a:endParaRPr lang="en-GB"/>
          </a:p>
        </p:txBody>
      </p:sp>
      <p:sp>
        <p:nvSpPr>
          <p:cNvPr id="8" name="Slide Number Placeholder 5"/>
          <p:cNvSpPr>
            <a:spLocks noGrp="1"/>
          </p:cNvSpPr>
          <p:nvPr>
            <p:ph type="sldNum" sz="quarter" idx="12"/>
          </p:nvPr>
        </p:nvSpPr>
        <p:spPr/>
        <p:txBody>
          <a:bodyPr/>
          <a:lstStyle>
            <a:lvl1pPr>
              <a:defRPr/>
            </a:lvl1pPr>
          </a:lstStyle>
          <a:p>
            <a:pPr>
              <a:defRPr/>
            </a:pPr>
            <a:fld id="{7625A948-2744-4479-BEA9-2DCE8682C496}"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7" name="Rounded Rectangle 6"/>
          <p:cNvSpPr/>
          <p:nvPr/>
        </p:nvSpPr>
        <p:spPr>
          <a:xfrm>
            <a:off x="92075" y="101600"/>
            <a:ext cx="8959850"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8" name="Text Placeholder 2"/>
          <p:cNvSpPr>
            <a:spLocks noGrp="1"/>
          </p:cNvSpPr>
          <p:nvPr>
            <p:ph type="body" idx="1"/>
          </p:nvPr>
        </p:nvSpPr>
        <p:spPr bwMode="auto">
          <a:xfrm>
            <a:off x="457200" y="1752600"/>
            <a:ext cx="82296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2"/>
                </a:solidFill>
                <a:latin typeface="+mn-lt"/>
                <a:cs typeface="+mn-cs"/>
              </a:defRPr>
            </a:lvl1pPr>
          </a:lstStyle>
          <a:p>
            <a:pPr>
              <a:defRPr/>
            </a:pPr>
            <a:fld id="{347AE0ED-BF94-491F-9577-98127649EC29}" type="datetimeFigureOut">
              <a:rPr lang="en-GB"/>
              <a:pPr>
                <a:defRPr/>
              </a:pPr>
              <a:t>10/09/2024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2"/>
                </a:solidFill>
                <a:latin typeface="+mn-lt"/>
                <a:cs typeface="+mn-cs"/>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2"/>
                </a:solidFill>
                <a:latin typeface="+mn-lt"/>
                <a:cs typeface="+mn-cs"/>
              </a:defRPr>
            </a:lvl1pPr>
          </a:lstStyle>
          <a:p>
            <a:pPr>
              <a:defRPr/>
            </a:pPr>
            <a:fld id="{8B05F2B6-2CB1-46DD-9903-A5575193B6E1}" type="slidenum">
              <a:rPr lang="en-GB"/>
              <a:pPr>
                <a:defRPr/>
              </a:pPr>
              <a:t>‹#›</a:t>
            </a:fld>
            <a:endParaRPr lang="en-GB"/>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373063" y="373063"/>
            <a:ext cx="8380412" cy="1117600"/>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Placeholder 1"/>
          <p:cNvSpPr>
            <a:spLocks noGrp="1"/>
          </p:cNvSpPr>
          <p:nvPr>
            <p:ph type="title"/>
          </p:nvPr>
        </p:nvSpPr>
        <p:spPr>
          <a:xfrm>
            <a:off x="425450" y="407988"/>
            <a:ext cx="8261350" cy="1039812"/>
          </a:xfrm>
          <a:prstGeom prst="rect">
            <a:avLst/>
          </a:prstGeom>
        </p:spPr>
        <p:txBody>
          <a:bodyPr vert="horz" lIns="91440" tIns="45720" rIns="91440" bIns="45720" rtlCol="0" anchor="ctr">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831" r:id="rId1"/>
    <p:sldLayoutId id="2147483826" r:id="rId2"/>
    <p:sldLayoutId id="2147483832" r:id="rId3"/>
    <p:sldLayoutId id="2147483827" r:id="rId4"/>
    <p:sldLayoutId id="2147483828" r:id="rId5"/>
    <p:sldLayoutId id="2147483829" r:id="rId6"/>
    <p:sldLayoutId id="2147483833" r:id="rId7"/>
    <p:sldLayoutId id="2147483834" r:id="rId8"/>
    <p:sldLayoutId id="2147483835" r:id="rId9"/>
    <p:sldLayoutId id="2147483830" r:id="rId10"/>
    <p:sldLayoutId id="2147483836" r:id="rId11"/>
  </p:sldLayoutIdLst>
  <p:txStyles>
    <p:titleStyle>
      <a:lvl1pPr algn="ctr" rtl="0" eaLnBrk="0" fontAlgn="base" hangingPunct="0">
        <a:spcBef>
          <a:spcPct val="0"/>
        </a:spcBef>
        <a:spcAft>
          <a:spcPct val="0"/>
        </a:spcAft>
        <a:defRPr sz="3500" kern="1200" cap="all">
          <a:solidFill>
            <a:srgbClr val="6B7D72"/>
          </a:solidFill>
          <a:latin typeface="+mj-lt"/>
          <a:ea typeface="+mj-ea"/>
          <a:cs typeface="+mj-cs"/>
        </a:defRPr>
      </a:lvl1pPr>
      <a:lvl2pPr algn="ctr" rtl="0" eaLnBrk="0" fontAlgn="base" hangingPunct="0">
        <a:spcBef>
          <a:spcPct val="0"/>
        </a:spcBef>
        <a:spcAft>
          <a:spcPct val="0"/>
        </a:spcAft>
        <a:defRPr sz="3500">
          <a:solidFill>
            <a:srgbClr val="6B7D72"/>
          </a:solidFill>
          <a:latin typeface="Book Antiqua" pitchFamily="18" charset="0"/>
        </a:defRPr>
      </a:lvl2pPr>
      <a:lvl3pPr algn="ctr" rtl="0" eaLnBrk="0" fontAlgn="base" hangingPunct="0">
        <a:spcBef>
          <a:spcPct val="0"/>
        </a:spcBef>
        <a:spcAft>
          <a:spcPct val="0"/>
        </a:spcAft>
        <a:defRPr sz="3500">
          <a:solidFill>
            <a:srgbClr val="6B7D72"/>
          </a:solidFill>
          <a:latin typeface="Book Antiqua" pitchFamily="18" charset="0"/>
        </a:defRPr>
      </a:lvl3pPr>
      <a:lvl4pPr algn="ctr" rtl="0" eaLnBrk="0" fontAlgn="base" hangingPunct="0">
        <a:spcBef>
          <a:spcPct val="0"/>
        </a:spcBef>
        <a:spcAft>
          <a:spcPct val="0"/>
        </a:spcAft>
        <a:defRPr sz="3500">
          <a:solidFill>
            <a:srgbClr val="6B7D72"/>
          </a:solidFill>
          <a:latin typeface="Book Antiqua" pitchFamily="18" charset="0"/>
        </a:defRPr>
      </a:lvl4pPr>
      <a:lvl5pPr algn="ctr" rtl="0" eaLnBrk="0" fontAlgn="base" hangingPunct="0">
        <a:spcBef>
          <a:spcPct val="0"/>
        </a:spcBef>
        <a:spcAft>
          <a:spcPct val="0"/>
        </a:spcAft>
        <a:defRPr sz="3500">
          <a:solidFill>
            <a:srgbClr val="6B7D72"/>
          </a:solidFill>
          <a:latin typeface="Book Antiqua" pitchFamily="18" charset="0"/>
        </a:defRPr>
      </a:lvl5pPr>
      <a:lvl6pPr marL="457200" algn="ctr" rtl="0" fontAlgn="base">
        <a:spcBef>
          <a:spcPct val="0"/>
        </a:spcBef>
        <a:spcAft>
          <a:spcPct val="0"/>
        </a:spcAft>
        <a:defRPr sz="3500">
          <a:solidFill>
            <a:srgbClr val="6B7D72"/>
          </a:solidFill>
          <a:latin typeface="Book Antiqua" pitchFamily="18" charset="0"/>
        </a:defRPr>
      </a:lvl6pPr>
      <a:lvl7pPr marL="914400" algn="ctr" rtl="0" fontAlgn="base">
        <a:spcBef>
          <a:spcPct val="0"/>
        </a:spcBef>
        <a:spcAft>
          <a:spcPct val="0"/>
        </a:spcAft>
        <a:defRPr sz="3500">
          <a:solidFill>
            <a:srgbClr val="6B7D72"/>
          </a:solidFill>
          <a:latin typeface="Book Antiqua" pitchFamily="18" charset="0"/>
        </a:defRPr>
      </a:lvl7pPr>
      <a:lvl8pPr marL="1371600" algn="ctr" rtl="0" fontAlgn="base">
        <a:spcBef>
          <a:spcPct val="0"/>
        </a:spcBef>
        <a:spcAft>
          <a:spcPct val="0"/>
        </a:spcAft>
        <a:defRPr sz="3500">
          <a:solidFill>
            <a:srgbClr val="6B7D72"/>
          </a:solidFill>
          <a:latin typeface="Book Antiqua" pitchFamily="18" charset="0"/>
        </a:defRPr>
      </a:lvl8pPr>
      <a:lvl9pPr marL="1828800" algn="ctr" rtl="0" fontAlgn="base">
        <a:spcBef>
          <a:spcPct val="0"/>
        </a:spcBef>
        <a:spcAft>
          <a:spcPct val="0"/>
        </a:spcAft>
        <a:defRPr sz="3500">
          <a:solidFill>
            <a:srgbClr val="6B7D72"/>
          </a:solidFill>
          <a:latin typeface="Book Antiqua" pitchFamily="18" charset="0"/>
        </a:defRPr>
      </a:lvl9pPr>
    </p:titleStyle>
    <p:bodyStyle>
      <a:lvl1pPr marL="342900" indent="-228600" algn="l" rtl="0" eaLnBrk="0" fontAlgn="base" hangingPunct="0">
        <a:spcBef>
          <a:spcPct val="20000"/>
        </a:spcBef>
        <a:spcAft>
          <a:spcPct val="0"/>
        </a:spcAft>
        <a:buClr>
          <a:schemeClr val="accent1"/>
        </a:buClr>
        <a:buFont typeface="Arial" charset="0"/>
        <a:buChar char="•"/>
        <a:defRPr sz="2400" kern="1200">
          <a:solidFill>
            <a:schemeClr val="tx2"/>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charset="0"/>
        <a:buChar char="•"/>
        <a:defRPr sz="2000" kern="1200">
          <a:solidFill>
            <a:schemeClr val="tx2"/>
          </a:solidFill>
          <a:latin typeface="+mn-lt"/>
          <a:ea typeface="+mn-ea"/>
          <a:cs typeface="+mn-cs"/>
        </a:defRPr>
      </a:lvl2pPr>
      <a:lvl3pPr marL="914400" indent="-228600" algn="l" rtl="0" eaLnBrk="0" fontAlgn="base" hangingPunct="0">
        <a:spcBef>
          <a:spcPct val="20000"/>
        </a:spcBef>
        <a:spcAft>
          <a:spcPct val="0"/>
        </a:spcAft>
        <a:buClr>
          <a:srgbClr val="B5AE53"/>
        </a:buClr>
        <a:buFont typeface="Arial" charset="0"/>
        <a:buChar char="•"/>
        <a:defRPr kern="1200">
          <a:solidFill>
            <a:schemeClr val="tx2"/>
          </a:solidFill>
          <a:latin typeface="+mn-lt"/>
          <a:ea typeface="+mn-ea"/>
          <a:cs typeface="+mn-cs"/>
        </a:defRPr>
      </a:lvl3pPr>
      <a:lvl4pPr marL="1279525" indent="-228600" algn="l" rtl="0" eaLnBrk="0" fontAlgn="base" hangingPunct="0">
        <a:spcBef>
          <a:spcPct val="20000"/>
        </a:spcBef>
        <a:spcAft>
          <a:spcPct val="0"/>
        </a:spcAft>
        <a:buClr>
          <a:srgbClr val="848058"/>
        </a:buClr>
        <a:buFont typeface="Arial" charset="0"/>
        <a:buChar char="•"/>
        <a:defRPr sz="1600" kern="1200">
          <a:solidFill>
            <a:schemeClr val="tx2"/>
          </a:solidFill>
          <a:latin typeface="+mn-lt"/>
          <a:ea typeface="+mn-ea"/>
          <a:cs typeface="+mn-cs"/>
        </a:defRPr>
      </a:lvl4pPr>
      <a:lvl5pPr marL="1554163" indent="-228600" algn="l" rtl="0" eaLnBrk="0" fontAlgn="base" hangingPunct="0">
        <a:spcBef>
          <a:spcPct val="20000"/>
        </a:spcBef>
        <a:spcAft>
          <a:spcPct val="0"/>
        </a:spcAft>
        <a:buClr>
          <a:srgbClr val="E8B54D"/>
        </a:buClr>
        <a:buFont typeface="Arial" charset="0"/>
        <a:buChar char="•"/>
        <a:defRPr sz="1600" kern="120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42938" y="5733256"/>
            <a:ext cx="6553200" cy="1124744"/>
          </a:xfrm>
        </p:spPr>
        <p:txBody>
          <a:bodyPr rtlCol="0">
            <a:noAutofit/>
          </a:bodyPr>
          <a:lstStyle/>
          <a:p>
            <a:pPr eaLnBrk="1" fontAlgn="auto" hangingPunct="1">
              <a:spcAft>
                <a:spcPts val="0"/>
              </a:spcAft>
              <a:buFont typeface="Arial" pitchFamily="34" charset="0"/>
              <a:buNone/>
              <a:defRPr/>
            </a:pPr>
            <a:endParaRPr lang="en-GB" dirty="0"/>
          </a:p>
          <a:p>
            <a:pPr eaLnBrk="1" fontAlgn="auto" hangingPunct="1">
              <a:spcAft>
                <a:spcPts val="0"/>
              </a:spcAft>
              <a:buFont typeface="Arial" pitchFamily="34" charset="0"/>
              <a:buNone/>
              <a:defRPr/>
            </a:pPr>
            <a:r>
              <a:rPr lang="en-GB" dirty="0">
                <a:solidFill>
                  <a:schemeClr val="tx1"/>
                </a:solidFill>
              </a:rPr>
              <a:t>RACHEL AVERY</a:t>
            </a:r>
          </a:p>
        </p:txBody>
      </p:sp>
      <p:sp>
        <p:nvSpPr>
          <p:cNvPr id="2" name="Title 1"/>
          <p:cNvSpPr>
            <a:spLocks noGrp="1"/>
          </p:cNvSpPr>
          <p:nvPr>
            <p:ph type="ctrTitle"/>
          </p:nvPr>
        </p:nvSpPr>
        <p:spPr>
          <a:xfrm>
            <a:off x="323528" y="4077072"/>
            <a:ext cx="7200800" cy="1728192"/>
          </a:xfrm>
        </p:spPr>
        <p:txBody>
          <a:bodyPr/>
          <a:lstStyle/>
          <a:p>
            <a:pPr eaLnBrk="1" fontAlgn="auto" hangingPunct="1">
              <a:spcAft>
                <a:spcPts val="0"/>
              </a:spcAft>
              <a:defRPr/>
            </a:pPr>
            <a:r>
              <a:rPr lang="en-GB" dirty="0">
                <a:solidFill>
                  <a:schemeClr val="tx1"/>
                </a:solidFill>
              </a:rPr>
              <a:t>Commercial Law </a:t>
            </a:r>
            <a:br>
              <a:rPr lang="en-GB" dirty="0">
                <a:solidFill>
                  <a:schemeClr val="tx1"/>
                </a:solidFill>
              </a:rPr>
            </a:br>
            <a:r>
              <a:rPr lang="en-GB" dirty="0">
                <a:solidFill>
                  <a:schemeClr val="tx1"/>
                </a:solidFill>
              </a:rPr>
              <a:t>(Law 2241)</a:t>
            </a:r>
          </a:p>
        </p:txBody>
      </p:sp>
      <p:pic>
        <p:nvPicPr>
          <p:cNvPr id="45058" name="Picture 2" descr="Image result for its non existent cartoon"/>
          <p:cNvPicPr>
            <a:picLocks noChangeAspect="1" noChangeArrowheads="1"/>
          </p:cNvPicPr>
          <p:nvPr/>
        </p:nvPicPr>
        <p:blipFill>
          <a:blip r:embed="rId3" cstate="print"/>
          <a:srcRect/>
          <a:stretch>
            <a:fillRect/>
          </a:stretch>
        </p:blipFill>
        <p:spPr bwMode="auto">
          <a:xfrm>
            <a:off x="323528" y="-13416"/>
            <a:ext cx="8424936" cy="445052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GB" b="1" u="sng" dirty="0">
                <a:solidFill>
                  <a:schemeClr val="tx1"/>
                </a:solidFill>
              </a:rPr>
              <a:t>This week</a:t>
            </a:r>
          </a:p>
        </p:txBody>
      </p:sp>
      <p:sp>
        <p:nvSpPr>
          <p:cNvPr id="9219" name="Content Placeholder 2"/>
          <p:cNvSpPr>
            <a:spLocks noGrp="1"/>
          </p:cNvSpPr>
          <p:nvPr>
            <p:ph idx="1"/>
          </p:nvPr>
        </p:nvSpPr>
        <p:spPr/>
        <p:txBody>
          <a:bodyPr/>
          <a:lstStyle/>
          <a:p>
            <a:pPr eaLnBrk="1" hangingPunct="1"/>
            <a:r>
              <a:rPr lang="en-GB" sz="2800" b="1" u="sng" dirty="0">
                <a:solidFill>
                  <a:srgbClr val="FF0000"/>
                </a:solidFill>
                <a:highlight>
                  <a:srgbClr val="FFFF00"/>
                </a:highlight>
              </a:rPr>
              <a:t>Non-existent goods at the time of the contract:</a:t>
            </a:r>
          </a:p>
          <a:p>
            <a:pPr eaLnBrk="1" hangingPunct="1">
              <a:buFont typeface="Arial" charset="0"/>
              <a:buNone/>
            </a:pPr>
            <a:endParaRPr lang="en-GB" b="1" u="sng" dirty="0">
              <a:solidFill>
                <a:srgbClr val="FF0000"/>
              </a:solidFill>
              <a:highlight>
                <a:srgbClr val="FFFF00"/>
              </a:highlight>
            </a:endParaRPr>
          </a:p>
          <a:p>
            <a:pPr lvl="1" eaLnBrk="1" hangingPunct="1"/>
            <a:r>
              <a:rPr lang="en-GB" dirty="0">
                <a:solidFill>
                  <a:srgbClr val="FF0000"/>
                </a:solidFill>
              </a:rPr>
              <a:t>Common law position</a:t>
            </a:r>
          </a:p>
          <a:p>
            <a:pPr lvl="1" eaLnBrk="1" hangingPunct="1"/>
            <a:endParaRPr lang="en-GB" dirty="0">
              <a:solidFill>
                <a:srgbClr val="FF0000"/>
              </a:solidFill>
            </a:endParaRPr>
          </a:p>
          <a:p>
            <a:pPr lvl="1" eaLnBrk="1" hangingPunct="1"/>
            <a:r>
              <a:rPr lang="en-GB" dirty="0">
                <a:solidFill>
                  <a:srgbClr val="FF0000"/>
                </a:solidFill>
              </a:rPr>
              <a:t>ss.6 and 7</a:t>
            </a:r>
          </a:p>
          <a:p>
            <a:pPr lvl="1" eaLnBrk="1" hangingPunct="1">
              <a:buNone/>
            </a:pPr>
            <a:endParaRPr lang="en-GB" dirty="0">
              <a:solidFill>
                <a:srgbClr val="FF0000"/>
              </a:solidFill>
            </a:endParaRPr>
          </a:p>
          <a:p>
            <a:pPr lvl="1" eaLnBrk="1" hangingPunct="1"/>
            <a:r>
              <a:rPr lang="en-GB" dirty="0">
                <a:solidFill>
                  <a:srgbClr val="FF0000"/>
                </a:solidFill>
              </a:rPr>
              <a:t>Meaning of “perish”</a:t>
            </a:r>
          </a:p>
          <a:p>
            <a:pPr eaLnBrk="1" hangingPunct="1"/>
            <a:endParaRPr lang="en-GB"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GB" dirty="0">
                <a:solidFill>
                  <a:schemeClr val="tx1"/>
                </a:solidFill>
              </a:rPr>
              <a:t>Introduction</a:t>
            </a:r>
          </a:p>
        </p:txBody>
      </p:sp>
      <p:sp>
        <p:nvSpPr>
          <p:cNvPr id="10243" name="Content Placeholder 2"/>
          <p:cNvSpPr>
            <a:spLocks noGrp="1"/>
          </p:cNvSpPr>
          <p:nvPr>
            <p:ph idx="1"/>
          </p:nvPr>
        </p:nvSpPr>
        <p:spPr>
          <a:xfrm>
            <a:off x="457200" y="1752600"/>
            <a:ext cx="8229600" cy="4772025"/>
          </a:xfrm>
        </p:spPr>
        <p:txBody>
          <a:bodyPr/>
          <a:lstStyle/>
          <a:p>
            <a:pPr eaLnBrk="1" hangingPunct="1">
              <a:defRPr/>
            </a:pPr>
            <a:r>
              <a:rPr lang="en-GB" b="1" u="sng" dirty="0">
                <a:solidFill>
                  <a:srgbClr val="FF0000"/>
                </a:solidFill>
              </a:rPr>
              <a:t>S. 6 – perishing of specific goods</a:t>
            </a:r>
            <a:endParaRPr lang="en-GB" u="sng" dirty="0">
              <a:solidFill>
                <a:srgbClr val="FF0000"/>
              </a:solidFill>
            </a:endParaRPr>
          </a:p>
          <a:p>
            <a:pPr marL="342900" lvl="1" eaLnBrk="1" hangingPunct="1">
              <a:buClr>
                <a:schemeClr val="accent1"/>
              </a:buClr>
              <a:defRPr/>
            </a:pPr>
            <a:r>
              <a:rPr lang="en-GB" dirty="0">
                <a:solidFill>
                  <a:schemeClr val="tx1"/>
                </a:solidFill>
              </a:rPr>
              <a:t>Normal expectation: an implied condition on the seller that at the time of the conclusion of the contract the goods were in existence.</a:t>
            </a:r>
          </a:p>
          <a:p>
            <a:pPr marL="615950" lvl="2" eaLnBrk="1" hangingPunct="1">
              <a:buClr>
                <a:schemeClr val="accent1"/>
              </a:buClr>
              <a:defRPr/>
            </a:pPr>
            <a:r>
              <a:rPr lang="en-GB" dirty="0">
                <a:solidFill>
                  <a:schemeClr val="tx1"/>
                </a:solidFill>
              </a:rPr>
              <a:t>Seller warrants his right to sell goods and is responsible for defects.</a:t>
            </a:r>
          </a:p>
          <a:p>
            <a:pPr marL="615950" lvl="2" eaLnBrk="1" hangingPunct="1">
              <a:buClr>
                <a:schemeClr val="accent1"/>
              </a:buClr>
              <a:defRPr/>
            </a:pPr>
            <a:r>
              <a:rPr lang="en-GB" dirty="0">
                <a:solidFill>
                  <a:schemeClr val="tx1"/>
                </a:solidFill>
              </a:rPr>
              <a:t>Normally should be liable if he sells non-existent goods.</a:t>
            </a:r>
          </a:p>
          <a:p>
            <a:pPr marL="615950" lvl="2" eaLnBrk="1" hangingPunct="1">
              <a:buClr>
                <a:schemeClr val="accent1"/>
              </a:buClr>
              <a:buFont typeface="Arial" charset="0"/>
              <a:buNone/>
              <a:defRPr/>
            </a:pPr>
            <a:endParaRPr lang="en-GB" dirty="0">
              <a:solidFill>
                <a:schemeClr val="tx1"/>
              </a:solidFill>
            </a:endParaRPr>
          </a:p>
          <a:p>
            <a:pPr eaLnBrk="1" hangingPunct="1">
              <a:defRPr/>
            </a:pPr>
            <a:r>
              <a:rPr lang="en-GB" sz="2000" dirty="0">
                <a:solidFill>
                  <a:schemeClr val="tx1"/>
                </a:solidFill>
              </a:rPr>
              <a:t>But </a:t>
            </a:r>
            <a:r>
              <a:rPr lang="en-GB" sz="2000" u="sng" dirty="0">
                <a:solidFill>
                  <a:schemeClr val="tx1"/>
                </a:solidFill>
              </a:rPr>
              <a:t>s. 6 gives rise to a presumption that the seller is not contracting that the goods exist.</a:t>
            </a:r>
          </a:p>
          <a:p>
            <a:pPr marL="617537" lvl="2" eaLnBrk="1" hangingPunct="1">
              <a:defRPr/>
            </a:pPr>
            <a:r>
              <a:rPr lang="en-GB" i="1" dirty="0">
                <a:solidFill>
                  <a:schemeClr val="tx1"/>
                </a:solidFill>
              </a:rPr>
              <a:t>i.e. </a:t>
            </a:r>
            <a:r>
              <a:rPr lang="en-GB" dirty="0">
                <a:solidFill>
                  <a:schemeClr val="tx1"/>
                </a:solidFill>
              </a:rPr>
              <a:t>no implied condition that the goods exist</a:t>
            </a:r>
          </a:p>
          <a:p>
            <a:pPr marL="617537" lvl="2" eaLnBrk="1" hangingPunct="1">
              <a:buFont typeface="Arial" charset="0"/>
              <a:buNone/>
              <a:defRPr/>
            </a:pPr>
            <a:endParaRPr lang="en-GB" dirty="0">
              <a:solidFill>
                <a:schemeClr val="tx1"/>
              </a:solidFill>
            </a:endParaRPr>
          </a:p>
          <a:p>
            <a:pPr eaLnBrk="1" hangingPunct="1">
              <a:defRPr/>
            </a:pPr>
            <a:r>
              <a:rPr lang="en-GB" sz="2000" dirty="0">
                <a:solidFill>
                  <a:schemeClr val="tx1"/>
                </a:solidFill>
              </a:rPr>
              <a:t>Provides a </a:t>
            </a:r>
            <a:r>
              <a:rPr lang="en-GB" sz="2000" u="sng" dirty="0">
                <a:solidFill>
                  <a:schemeClr val="tx1"/>
                </a:solidFill>
              </a:rPr>
              <a:t>rule of construction </a:t>
            </a:r>
            <a:r>
              <a:rPr lang="en-GB" sz="2000" dirty="0">
                <a:solidFill>
                  <a:schemeClr val="tx1"/>
                </a:solidFill>
              </a:rPr>
              <a:t>rather than a rigid rule of law.</a:t>
            </a:r>
          </a:p>
          <a:p>
            <a:pPr eaLnBrk="1" hangingPunct="1">
              <a:buFont typeface="Arial" charset="0"/>
              <a:buNone/>
              <a:defRPr/>
            </a:pPr>
            <a:endParaRPr lang="en-GB" sz="2000" dirty="0">
              <a:solidFill>
                <a:schemeClr val="tx1"/>
              </a:solidFill>
            </a:endParaRPr>
          </a:p>
          <a:p>
            <a:pPr eaLnBrk="1" hangingPunct="1">
              <a:defRPr/>
            </a:pPr>
            <a:r>
              <a:rPr lang="en-GB" sz="2000" b="1" dirty="0">
                <a:solidFill>
                  <a:srgbClr val="FF0000"/>
                </a:solidFill>
              </a:rPr>
              <a:t>S.7 – perishing between agreement to sell and sale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GB" dirty="0">
                <a:solidFill>
                  <a:srgbClr val="FF0000"/>
                </a:solidFill>
              </a:rPr>
              <a:t>Common Law positions</a:t>
            </a:r>
            <a:br>
              <a:rPr lang="en-GB" dirty="0">
                <a:solidFill>
                  <a:srgbClr val="FF0000"/>
                </a:solidFill>
              </a:rPr>
            </a:br>
            <a:r>
              <a:rPr lang="en-GB" dirty="0">
                <a:solidFill>
                  <a:srgbClr val="FF0000"/>
                </a:solidFill>
              </a:rPr>
              <a:t>(4 possibilities)</a:t>
            </a:r>
          </a:p>
        </p:txBody>
      </p:sp>
      <p:sp>
        <p:nvSpPr>
          <p:cNvPr id="11267" name="Content Placeholder 2"/>
          <p:cNvSpPr>
            <a:spLocks noGrp="1"/>
          </p:cNvSpPr>
          <p:nvPr>
            <p:ph idx="1"/>
          </p:nvPr>
        </p:nvSpPr>
        <p:spPr>
          <a:xfrm>
            <a:off x="457200" y="1752600"/>
            <a:ext cx="8435975" cy="4772025"/>
          </a:xfrm>
        </p:spPr>
        <p:txBody>
          <a:bodyPr/>
          <a:lstStyle/>
          <a:p>
            <a:pPr eaLnBrk="1" hangingPunct="1"/>
            <a:r>
              <a:rPr lang="en-GB" sz="2800" dirty="0">
                <a:solidFill>
                  <a:schemeClr val="tx1"/>
                </a:solidFill>
              </a:rPr>
              <a:t>Buyer may have purchased </a:t>
            </a:r>
            <a:r>
              <a:rPr lang="en-GB" sz="2800" b="1" dirty="0">
                <a:solidFill>
                  <a:schemeClr val="tx1"/>
                </a:solidFill>
              </a:rPr>
              <a:t>‘a chance’</a:t>
            </a:r>
          </a:p>
          <a:p>
            <a:pPr lvl="1" eaLnBrk="1" hangingPunct="1"/>
            <a:r>
              <a:rPr lang="en-GB" sz="2400" b="1" i="1" dirty="0">
                <a:solidFill>
                  <a:srgbClr val="0070C0"/>
                </a:solidFill>
              </a:rPr>
              <a:t>Couturier v Hastie </a:t>
            </a:r>
          </a:p>
          <a:p>
            <a:pPr eaLnBrk="1" hangingPunct="1"/>
            <a:r>
              <a:rPr lang="en-GB" sz="2800" dirty="0">
                <a:solidFill>
                  <a:schemeClr val="tx1"/>
                </a:solidFill>
              </a:rPr>
              <a:t>Contract is void for </a:t>
            </a:r>
            <a:r>
              <a:rPr lang="en-GB" sz="2800" b="1" dirty="0">
                <a:solidFill>
                  <a:schemeClr val="tx1"/>
                </a:solidFill>
              </a:rPr>
              <a:t>mistake</a:t>
            </a:r>
          </a:p>
          <a:p>
            <a:pPr lvl="1" eaLnBrk="1" hangingPunct="1"/>
            <a:r>
              <a:rPr lang="en-GB" sz="2400" b="1" i="1" dirty="0">
                <a:solidFill>
                  <a:srgbClr val="0070C0"/>
                </a:solidFill>
              </a:rPr>
              <a:t>Bell v Lever Bros</a:t>
            </a:r>
            <a:endParaRPr lang="en-GB" sz="2400" b="1" dirty="0">
              <a:solidFill>
                <a:srgbClr val="0070C0"/>
              </a:solidFill>
            </a:endParaRPr>
          </a:p>
          <a:p>
            <a:pPr eaLnBrk="1" hangingPunct="1"/>
            <a:r>
              <a:rPr lang="en-GB" sz="2800" dirty="0">
                <a:solidFill>
                  <a:schemeClr val="tx1"/>
                </a:solidFill>
              </a:rPr>
              <a:t>Seller may have </a:t>
            </a:r>
            <a:r>
              <a:rPr lang="en-GB" sz="2800" b="1" dirty="0">
                <a:solidFill>
                  <a:schemeClr val="tx1"/>
                </a:solidFill>
              </a:rPr>
              <a:t>promised the existence </a:t>
            </a:r>
            <a:r>
              <a:rPr lang="en-GB" sz="2800" dirty="0">
                <a:solidFill>
                  <a:schemeClr val="tx1"/>
                </a:solidFill>
              </a:rPr>
              <a:t>of the goods</a:t>
            </a:r>
          </a:p>
          <a:p>
            <a:pPr lvl="1" eaLnBrk="1" hangingPunct="1"/>
            <a:r>
              <a:rPr lang="en-GB" sz="2400" b="1" i="1" dirty="0">
                <a:solidFill>
                  <a:srgbClr val="0070C0"/>
                </a:solidFill>
              </a:rPr>
              <a:t>McRae v Commonwealth Disposal Commission</a:t>
            </a:r>
          </a:p>
          <a:p>
            <a:pPr eaLnBrk="1" hangingPunct="1"/>
            <a:r>
              <a:rPr lang="en-GB" sz="2800" dirty="0">
                <a:solidFill>
                  <a:schemeClr val="tx1"/>
                </a:solidFill>
              </a:rPr>
              <a:t>Contract may be subject to a </a:t>
            </a:r>
            <a:r>
              <a:rPr lang="en-GB" sz="2800" b="1" dirty="0">
                <a:solidFill>
                  <a:schemeClr val="tx1"/>
                </a:solidFill>
              </a:rPr>
              <a:t>condition precedent</a:t>
            </a:r>
          </a:p>
          <a:p>
            <a:pPr lvl="1" eaLnBrk="1" hangingPunct="1"/>
            <a:r>
              <a:rPr lang="en-GB" sz="2400" b="1" i="1" dirty="0">
                <a:solidFill>
                  <a:srgbClr val="0070C0"/>
                </a:solidFill>
              </a:rPr>
              <a:t>AJB v Credit du Nord</a:t>
            </a:r>
            <a:endParaRPr lang="en-GB" b="1" dirty="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p:txBody>
          <a:bodyPr wrap="square" numCol="1" anchorCtr="0" compatLnSpc="1">
            <a:prstTxWarp prst="textNoShape">
              <a:avLst/>
            </a:prstTxWarp>
          </a:bodyPr>
          <a:lstStyle/>
          <a:p>
            <a:r>
              <a:rPr lang="en-GB" sz="2800" cap="none" dirty="0">
                <a:solidFill>
                  <a:srgbClr val="FF0000"/>
                </a:solidFill>
              </a:rPr>
              <a:t>1) BUYER MAY HAVE PURCHASED ‘A CHANCE’</a:t>
            </a:r>
            <a:endParaRPr lang="en-GB" sz="3100" cap="none" dirty="0">
              <a:solidFill>
                <a:srgbClr val="FF0000"/>
              </a:solidFill>
            </a:endParaRPr>
          </a:p>
        </p:txBody>
      </p:sp>
      <p:sp>
        <p:nvSpPr>
          <p:cNvPr id="12291" name="Content Placeholder 2"/>
          <p:cNvSpPr>
            <a:spLocks noGrp="1"/>
          </p:cNvSpPr>
          <p:nvPr>
            <p:ph idx="1"/>
          </p:nvPr>
        </p:nvSpPr>
        <p:spPr>
          <a:xfrm>
            <a:off x="457200" y="1752600"/>
            <a:ext cx="8229600" cy="5132784"/>
          </a:xfrm>
        </p:spPr>
        <p:txBody>
          <a:bodyPr/>
          <a:lstStyle/>
          <a:p>
            <a:r>
              <a:rPr lang="en-GB" u="sng" dirty="0">
                <a:solidFill>
                  <a:schemeClr val="tx1"/>
                </a:solidFill>
              </a:rPr>
              <a:t>S. 6 </a:t>
            </a:r>
            <a:r>
              <a:rPr lang="en-GB" dirty="0">
                <a:solidFill>
                  <a:schemeClr val="tx1"/>
                </a:solidFill>
              </a:rPr>
              <a:t>appears to be the confirmation of the decision in </a:t>
            </a:r>
            <a:r>
              <a:rPr lang="en-GB" b="1" i="1" dirty="0">
                <a:solidFill>
                  <a:schemeClr val="tx1"/>
                </a:solidFill>
                <a:highlight>
                  <a:srgbClr val="FFFF00"/>
                </a:highlight>
              </a:rPr>
              <a:t>Couturier v Hastie:</a:t>
            </a:r>
          </a:p>
          <a:p>
            <a:pPr>
              <a:buNone/>
            </a:pPr>
            <a:endParaRPr lang="en-GB" dirty="0">
              <a:solidFill>
                <a:schemeClr val="tx1"/>
              </a:solidFill>
            </a:endParaRPr>
          </a:p>
          <a:p>
            <a:pPr>
              <a:buNone/>
            </a:pPr>
            <a:r>
              <a:rPr lang="en-GB" sz="2000" b="1" dirty="0">
                <a:solidFill>
                  <a:schemeClr val="tx1"/>
                </a:solidFill>
              </a:rPr>
              <a:t>Facts: </a:t>
            </a:r>
            <a:r>
              <a:rPr lang="en-GB" sz="2000" dirty="0">
                <a:solidFill>
                  <a:schemeClr val="tx1"/>
                </a:solidFill>
              </a:rPr>
              <a:t>D was an agent who sold (on behalf of C) a cargo of corn that was being shipped from Salonika.  Before the date of the sale the cargo had been lawfully sold by the master of the ship so that there was no corn available for delivery to the buyer.  The buyer wanted corn, not his money back so the sellers sued the agent, whose liability depended on whether the buyer would have been liable.</a:t>
            </a:r>
          </a:p>
          <a:p>
            <a:pPr>
              <a:buNone/>
            </a:pPr>
            <a:endParaRPr lang="en-GB" dirty="0">
              <a:solidFill>
                <a:schemeClr val="tx1"/>
              </a:solidFill>
            </a:endParaRPr>
          </a:p>
          <a:p>
            <a:r>
              <a:rPr lang="en-GB" sz="2000" b="1" i="1" dirty="0">
                <a:solidFill>
                  <a:schemeClr val="tx1"/>
                </a:solidFill>
              </a:rPr>
              <a:t>Held:  </a:t>
            </a:r>
            <a:r>
              <a:rPr lang="en-GB" sz="2000" i="1" dirty="0">
                <a:solidFill>
                  <a:schemeClr val="tx1"/>
                </a:solidFill>
              </a:rPr>
              <a:t>When the contract was properly construed t</a:t>
            </a:r>
            <a:r>
              <a:rPr lang="en-GB" sz="2000" dirty="0">
                <a:solidFill>
                  <a:schemeClr val="tx1"/>
                </a:solidFill>
              </a:rPr>
              <a:t>he agent was not liable.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bwMode="auto">
          <a:noFill/>
        </p:spPr>
        <p:txBody>
          <a:bodyPr wrap="square" numCol="1" anchorCtr="0" compatLnSpc="1">
            <a:prstTxWarp prst="textNoShape">
              <a:avLst/>
            </a:prstTxWarp>
          </a:bodyPr>
          <a:lstStyle/>
          <a:p>
            <a:r>
              <a:rPr lang="en-GB" sz="2800" cap="none" dirty="0">
                <a:solidFill>
                  <a:schemeClr val="tx1"/>
                </a:solidFill>
              </a:rPr>
              <a:t>BUYER MAY HAVE PURCHASED ‘A CHANCE’</a:t>
            </a:r>
          </a:p>
        </p:txBody>
      </p:sp>
      <p:sp>
        <p:nvSpPr>
          <p:cNvPr id="13315" name="Rectangle 3"/>
          <p:cNvSpPr>
            <a:spLocks noGrp="1"/>
          </p:cNvSpPr>
          <p:nvPr>
            <p:ph type="body" idx="1"/>
          </p:nvPr>
        </p:nvSpPr>
        <p:spPr>
          <a:xfrm>
            <a:off x="457200" y="1752600"/>
            <a:ext cx="8229600" cy="4845050"/>
          </a:xfrm>
        </p:spPr>
        <p:txBody>
          <a:bodyPr/>
          <a:lstStyle/>
          <a:p>
            <a:r>
              <a:rPr lang="en-GB" sz="3200" b="1" i="1" dirty="0">
                <a:solidFill>
                  <a:schemeClr val="tx1"/>
                </a:solidFill>
              </a:rPr>
              <a:t>Couturier v Hastie </a:t>
            </a:r>
            <a:r>
              <a:rPr lang="en-GB" sz="3200" b="1" dirty="0">
                <a:solidFill>
                  <a:schemeClr val="tx1"/>
                </a:solidFill>
              </a:rPr>
              <a:t>– construction of the contract rather than void for mistake.</a:t>
            </a:r>
          </a:p>
          <a:p>
            <a:pPr marL="114300" indent="0">
              <a:buNone/>
            </a:pPr>
            <a:endParaRPr lang="en-GB" sz="3200" b="1" dirty="0">
              <a:solidFill>
                <a:schemeClr val="tx1"/>
              </a:solidFill>
            </a:endParaRPr>
          </a:p>
          <a:p>
            <a:pPr lvl="1"/>
            <a:r>
              <a:rPr lang="en-GB" sz="3200" dirty="0">
                <a:solidFill>
                  <a:schemeClr val="tx1"/>
                </a:solidFill>
              </a:rPr>
              <a:t>Construction of the contract</a:t>
            </a:r>
          </a:p>
          <a:p>
            <a:pPr marL="411163" lvl="1" indent="0">
              <a:buNone/>
            </a:pPr>
            <a:endParaRPr lang="en-GB" sz="3200" dirty="0">
              <a:solidFill>
                <a:schemeClr val="tx1"/>
              </a:solidFill>
            </a:endParaRPr>
          </a:p>
          <a:p>
            <a:pPr lvl="2"/>
            <a:r>
              <a:rPr lang="en-GB" sz="3200" i="1" dirty="0">
                <a:solidFill>
                  <a:schemeClr val="tx1"/>
                </a:solidFill>
              </a:rPr>
              <a:t>S cannot deliver, B is not bound to pay: </a:t>
            </a:r>
            <a:r>
              <a:rPr lang="en-GB" sz="3200" b="1" i="1" dirty="0">
                <a:solidFill>
                  <a:srgbClr val="FF0000"/>
                </a:solidFill>
              </a:rPr>
              <a:t>S. 28 SGA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a:lstStyle/>
          <a:p>
            <a:pPr>
              <a:defRPr/>
            </a:pPr>
            <a:r>
              <a:rPr lang="en-GB" dirty="0">
                <a:solidFill>
                  <a:srgbClr val="FF0000"/>
                </a:solidFill>
              </a:rPr>
              <a:t>2) CONTRACT IS VOID FOR </a:t>
            </a:r>
            <a:r>
              <a:rPr lang="en-GB" u="sng" dirty="0">
                <a:solidFill>
                  <a:srgbClr val="FF0000"/>
                </a:solidFill>
              </a:rPr>
              <a:t>MISTAKE</a:t>
            </a:r>
          </a:p>
        </p:txBody>
      </p:sp>
      <p:sp>
        <p:nvSpPr>
          <p:cNvPr id="15363" name="Rectangle 3"/>
          <p:cNvSpPr>
            <a:spLocks noGrp="1"/>
          </p:cNvSpPr>
          <p:nvPr>
            <p:ph type="body" idx="1"/>
          </p:nvPr>
        </p:nvSpPr>
        <p:spPr>
          <a:xfrm>
            <a:off x="457200" y="1752600"/>
            <a:ext cx="8229600" cy="4484712"/>
          </a:xfrm>
        </p:spPr>
        <p:txBody>
          <a:bodyPr/>
          <a:lstStyle/>
          <a:p>
            <a:r>
              <a:rPr lang="en-GB" u="sng" dirty="0">
                <a:solidFill>
                  <a:schemeClr val="tx1"/>
                </a:solidFill>
              </a:rPr>
              <a:t>Common mistake as to existence of goods</a:t>
            </a:r>
          </a:p>
          <a:p>
            <a:pPr lvl="1"/>
            <a:r>
              <a:rPr lang="en-GB" dirty="0">
                <a:solidFill>
                  <a:schemeClr val="tx1"/>
                </a:solidFill>
              </a:rPr>
              <a:t>Goods perish that are subject matter of a contract for the sale of </a:t>
            </a:r>
            <a:r>
              <a:rPr lang="en-GB" b="1" dirty="0">
                <a:solidFill>
                  <a:schemeClr val="tx1"/>
                </a:solidFill>
              </a:rPr>
              <a:t>specific goods</a:t>
            </a:r>
            <a:r>
              <a:rPr lang="en-GB" dirty="0">
                <a:solidFill>
                  <a:schemeClr val="tx1"/>
                </a:solidFill>
              </a:rPr>
              <a:t>. They perish without the knowledge of the S and at the time of the K is made.</a:t>
            </a:r>
          </a:p>
          <a:p>
            <a:pPr lvl="2"/>
            <a:r>
              <a:rPr lang="en-GB" dirty="0">
                <a:solidFill>
                  <a:schemeClr val="tx1"/>
                </a:solidFill>
              </a:rPr>
              <a:t>K is void for mistake</a:t>
            </a:r>
          </a:p>
          <a:p>
            <a:pPr lvl="2"/>
            <a:r>
              <a:rPr lang="en-GB" dirty="0">
                <a:solidFill>
                  <a:schemeClr val="tx1"/>
                </a:solidFill>
              </a:rPr>
              <a:t>But if </a:t>
            </a:r>
            <a:r>
              <a:rPr lang="en-GB" b="1" dirty="0">
                <a:solidFill>
                  <a:schemeClr val="tx1"/>
                </a:solidFill>
              </a:rPr>
              <a:t>unascertained goods</a:t>
            </a:r>
            <a:r>
              <a:rPr lang="en-GB" dirty="0">
                <a:solidFill>
                  <a:schemeClr val="tx1"/>
                </a:solidFill>
              </a:rPr>
              <a:t>: the S has to find the amount of goods from somewhere to execute the K. </a:t>
            </a:r>
          </a:p>
          <a:p>
            <a:pPr lvl="2"/>
            <a:endParaRPr lang="en-GB" dirty="0">
              <a:solidFill>
                <a:schemeClr val="tx1"/>
              </a:solidFill>
            </a:endParaRPr>
          </a:p>
          <a:p>
            <a:r>
              <a:rPr lang="en-GB" b="1" dirty="0">
                <a:solidFill>
                  <a:schemeClr val="tx1"/>
                </a:solidFill>
                <a:highlight>
                  <a:srgbClr val="FFFF00"/>
                </a:highlight>
              </a:rPr>
              <a:t>Bell v Lever Bros</a:t>
            </a:r>
          </a:p>
          <a:p>
            <a:pPr lvl="1"/>
            <a:r>
              <a:rPr lang="en-GB" dirty="0">
                <a:solidFill>
                  <a:schemeClr val="tx1"/>
                </a:solidFill>
              </a:rPr>
              <a:t>Contract </a:t>
            </a:r>
            <a:r>
              <a:rPr lang="en-GB" u="sng" dirty="0">
                <a:solidFill>
                  <a:schemeClr val="tx1"/>
                </a:solidFill>
              </a:rPr>
              <a:t>not void for mistake. </a:t>
            </a:r>
            <a:r>
              <a:rPr lang="en-GB" dirty="0">
                <a:solidFill>
                  <a:schemeClr val="tx1"/>
                </a:solidFill>
              </a:rPr>
              <a:t>Right to make an employee redundant was bought and parties were merely mistaken as to how much this was worth.</a:t>
            </a:r>
          </a:p>
          <a:p>
            <a:pPr lvl="1"/>
            <a:r>
              <a:rPr lang="en-GB" dirty="0">
                <a:solidFill>
                  <a:schemeClr val="tx1"/>
                </a:solidFill>
              </a:rPr>
              <a:t>They were not mistaken as to what was being bought.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bwMode="auto">
          <a:noFill/>
        </p:spPr>
        <p:txBody>
          <a:bodyPr wrap="square" numCol="1" anchorCtr="0" compatLnSpc="1">
            <a:prstTxWarp prst="textNoShape">
              <a:avLst/>
            </a:prstTxWarp>
          </a:bodyPr>
          <a:lstStyle/>
          <a:p>
            <a:r>
              <a:rPr lang="en-GB" sz="2800" cap="none" dirty="0">
                <a:solidFill>
                  <a:srgbClr val="FF0000"/>
                </a:solidFill>
              </a:rPr>
              <a:t>3) SELLER MAY HAVE PROMISED THE EXISTENCE OF THE GOODS</a:t>
            </a:r>
          </a:p>
        </p:txBody>
      </p:sp>
      <p:sp>
        <p:nvSpPr>
          <p:cNvPr id="16387" name="Rectangle 3"/>
          <p:cNvSpPr>
            <a:spLocks noGrp="1"/>
          </p:cNvSpPr>
          <p:nvPr>
            <p:ph type="body" idx="1"/>
          </p:nvPr>
        </p:nvSpPr>
        <p:spPr>
          <a:xfrm>
            <a:off x="457200" y="1752600"/>
            <a:ext cx="8229600" cy="5105400"/>
          </a:xfrm>
        </p:spPr>
        <p:txBody>
          <a:bodyPr/>
          <a:lstStyle/>
          <a:p>
            <a:pPr>
              <a:lnSpc>
                <a:spcPct val="90000"/>
              </a:lnSpc>
            </a:pPr>
            <a:r>
              <a:rPr lang="en-GB" b="1" i="1" dirty="0">
                <a:solidFill>
                  <a:schemeClr val="tx1"/>
                </a:solidFill>
                <a:highlight>
                  <a:srgbClr val="FFFF00"/>
                </a:highlight>
              </a:rPr>
              <a:t>McRae v Commonwealth Disposal Commission</a:t>
            </a:r>
          </a:p>
          <a:p>
            <a:pPr lvl="1">
              <a:lnSpc>
                <a:spcPct val="90000"/>
              </a:lnSpc>
              <a:buClr>
                <a:schemeClr val="accent1"/>
              </a:buClr>
            </a:pPr>
            <a:r>
              <a:rPr lang="en-GB" i="1" dirty="0">
                <a:solidFill>
                  <a:schemeClr val="tx1"/>
                </a:solidFill>
              </a:rPr>
              <a:t>CDC advertised for the sale of an oil tanker at </a:t>
            </a:r>
            <a:r>
              <a:rPr lang="en-GB" i="1" dirty="0" err="1">
                <a:solidFill>
                  <a:schemeClr val="tx1"/>
                </a:solidFill>
              </a:rPr>
              <a:t>Jourmand</a:t>
            </a:r>
            <a:r>
              <a:rPr lang="en-GB" i="1" dirty="0">
                <a:solidFill>
                  <a:schemeClr val="tx1"/>
                </a:solidFill>
              </a:rPr>
              <a:t> Reef. McRae agreed to buy it and incurred various expenses to conduct the salvage before it was discovered that there was no tanker.</a:t>
            </a:r>
          </a:p>
          <a:p>
            <a:pPr marL="411163" lvl="1" indent="0">
              <a:lnSpc>
                <a:spcPct val="90000"/>
              </a:lnSpc>
              <a:buClr>
                <a:schemeClr val="accent1"/>
              </a:buClr>
              <a:buNone/>
            </a:pPr>
            <a:endParaRPr lang="en-GB" i="1" dirty="0">
              <a:solidFill>
                <a:schemeClr val="tx1"/>
              </a:solidFill>
            </a:endParaRPr>
          </a:p>
          <a:p>
            <a:pPr lvl="1">
              <a:lnSpc>
                <a:spcPct val="90000"/>
              </a:lnSpc>
              <a:buClr>
                <a:schemeClr val="accent1"/>
              </a:buClr>
            </a:pPr>
            <a:r>
              <a:rPr lang="en-GB" b="1" i="1" dirty="0">
                <a:solidFill>
                  <a:schemeClr val="tx1"/>
                </a:solidFill>
              </a:rPr>
              <a:t>Held</a:t>
            </a:r>
            <a:r>
              <a:rPr lang="en-GB" i="1" dirty="0">
                <a:solidFill>
                  <a:schemeClr val="tx1"/>
                </a:solidFill>
              </a:rPr>
              <a:t>: CDC liable for breach of K as they promised that there was an oil tanker at a specific point. </a:t>
            </a:r>
          </a:p>
          <a:p>
            <a:pPr lvl="1">
              <a:lnSpc>
                <a:spcPct val="90000"/>
              </a:lnSpc>
              <a:buClr>
                <a:schemeClr val="accent1"/>
              </a:buClr>
            </a:pPr>
            <a:r>
              <a:rPr lang="en-GB" i="1" dirty="0">
                <a:solidFill>
                  <a:schemeClr val="tx1"/>
                </a:solidFill>
              </a:rPr>
              <a:t>No implied condition precedent (If CDC had established that there was an implied condition precedent they would not have been liable). 	</a:t>
            </a:r>
          </a:p>
          <a:p>
            <a:pPr lvl="1">
              <a:lnSpc>
                <a:spcPct val="90000"/>
              </a:lnSpc>
              <a:buClr>
                <a:schemeClr val="accent1"/>
              </a:buClr>
            </a:pPr>
            <a:r>
              <a:rPr lang="en-GB" i="1" dirty="0">
                <a:solidFill>
                  <a:schemeClr val="tx1"/>
                </a:solidFill>
              </a:rPr>
              <a:t>CDC promised the existence of a tanker and contracted  that it would be at a specified point.</a:t>
            </a:r>
          </a:p>
          <a:p>
            <a:pPr lvl="1">
              <a:lnSpc>
                <a:spcPct val="90000"/>
              </a:lnSpc>
              <a:buClr>
                <a:schemeClr val="accent1"/>
              </a:buClr>
            </a:pPr>
            <a:r>
              <a:rPr lang="en-GB" i="1" dirty="0">
                <a:solidFill>
                  <a:schemeClr val="tx1"/>
                </a:solidFill>
              </a:rPr>
              <a:t>There was no such tanker.  Therefore, breach of K and B is entitled to sue for damages. </a:t>
            </a:r>
            <a:endParaRPr lang="en-GB"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bwMode="auto">
          <a:noFill/>
        </p:spPr>
        <p:txBody>
          <a:bodyPr wrap="square" numCol="1" anchorCtr="0" compatLnSpc="1">
            <a:prstTxWarp prst="textNoShape">
              <a:avLst/>
            </a:prstTxWarp>
          </a:bodyPr>
          <a:lstStyle/>
          <a:p>
            <a:r>
              <a:rPr lang="en-GB" sz="2800" cap="none" dirty="0">
                <a:solidFill>
                  <a:schemeClr val="tx1"/>
                </a:solidFill>
              </a:rPr>
              <a:t>SELLER MAY HAVE PROMISED THE EXISTENCE OF THE GOODS</a:t>
            </a:r>
          </a:p>
        </p:txBody>
      </p:sp>
      <p:sp>
        <p:nvSpPr>
          <p:cNvPr id="17411" name="Rectangle 3"/>
          <p:cNvSpPr>
            <a:spLocks noGrp="1"/>
          </p:cNvSpPr>
          <p:nvPr>
            <p:ph type="body" idx="1"/>
          </p:nvPr>
        </p:nvSpPr>
        <p:spPr>
          <a:xfrm>
            <a:off x="457200" y="1557338"/>
            <a:ext cx="8229600" cy="4967287"/>
          </a:xfrm>
        </p:spPr>
        <p:txBody>
          <a:bodyPr/>
          <a:lstStyle/>
          <a:p>
            <a:pPr>
              <a:lnSpc>
                <a:spcPct val="90000"/>
              </a:lnSpc>
            </a:pPr>
            <a:endParaRPr lang="en-GB" sz="2000" dirty="0">
              <a:solidFill>
                <a:schemeClr val="tx1"/>
              </a:solidFill>
            </a:endParaRPr>
          </a:p>
          <a:p>
            <a:pPr>
              <a:lnSpc>
                <a:spcPct val="90000"/>
              </a:lnSpc>
            </a:pPr>
            <a:r>
              <a:rPr lang="en-GB" sz="2000" dirty="0">
                <a:solidFill>
                  <a:schemeClr val="tx1"/>
                </a:solidFill>
              </a:rPr>
              <a:t>S. 6 not applied in </a:t>
            </a:r>
            <a:r>
              <a:rPr lang="en-GB" sz="2000" i="1" dirty="0">
                <a:solidFill>
                  <a:schemeClr val="tx1"/>
                </a:solidFill>
              </a:rPr>
              <a:t>McRae</a:t>
            </a:r>
            <a:r>
              <a:rPr lang="en-GB" sz="2000" dirty="0">
                <a:solidFill>
                  <a:schemeClr val="tx1"/>
                </a:solidFill>
              </a:rPr>
              <a:t>. Why?</a:t>
            </a:r>
          </a:p>
          <a:p>
            <a:pPr>
              <a:lnSpc>
                <a:spcPct val="90000"/>
              </a:lnSpc>
            </a:pPr>
            <a:endParaRPr lang="en-GB" sz="2000" dirty="0">
              <a:solidFill>
                <a:schemeClr val="tx1"/>
              </a:solidFill>
            </a:endParaRPr>
          </a:p>
          <a:p>
            <a:pPr lvl="1">
              <a:lnSpc>
                <a:spcPct val="90000"/>
              </a:lnSpc>
            </a:pPr>
            <a:r>
              <a:rPr lang="en-GB" sz="2400" b="1" dirty="0">
                <a:solidFill>
                  <a:srgbClr val="FF0000"/>
                </a:solidFill>
              </a:rPr>
              <a:t>Goods had never existed, thus they never had perished.</a:t>
            </a:r>
          </a:p>
          <a:p>
            <a:pPr lvl="1">
              <a:lnSpc>
                <a:spcPct val="90000"/>
              </a:lnSpc>
              <a:buFont typeface="Arial" charset="0"/>
              <a:buNone/>
            </a:pPr>
            <a:endParaRPr lang="en-GB" dirty="0">
              <a:solidFill>
                <a:schemeClr val="tx1"/>
              </a:solidFill>
            </a:endParaRPr>
          </a:p>
          <a:p>
            <a:pPr lvl="1">
              <a:lnSpc>
                <a:spcPct val="90000"/>
              </a:lnSpc>
            </a:pPr>
            <a:r>
              <a:rPr lang="en-GB" dirty="0">
                <a:solidFill>
                  <a:schemeClr val="tx1"/>
                </a:solidFill>
              </a:rPr>
              <a:t>CDC contracted to sell a ship and warranted that they had a ship to sell. Thus in the absence of the ship they would be liable to pay damages.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GB" dirty="0">
                <a:solidFill>
                  <a:schemeClr val="tx1"/>
                </a:solidFill>
              </a:rPr>
              <a:t>SELLER MAY HAVE PROMISED THE EXISTENCE OF THE GOODS</a:t>
            </a:r>
          </a:p>
        </p:txBody>
      </p:sp>
      <p:sp>
        <p:nvSpPr>
          <p:cNvPr id="18435" name="Content Placeholder 2"/>
          <p:cNvSpPr>
            <a:spLocks noGrp="1"/>
          </p:cNvSpPr>
          <p:nvPr>
            <p:ph idx="1"/>
          </p:nvPr>
        </p:nvSpPr>
        <p:spPr/>
        <p:txBody>
          <a:bodyPr/>
          <a:lstStyle/>
          <a:p>
            <a:pPr>
              <a:lnSpc>
                <a:spcPct val="90000"/>
              </a:lnSpc>
            </a:pPr>
            <a:r>
              <a:rPr lang="en-GB" sz="2000" b="1" i="1" dirty="0">
                <a:solidFill>
                  <a:srgbClr val="0070C0"/>
                </a:solidFill>
              </a:rPr>
              <a:t>Goldsborough v Carter</a:t>
            </a:r>
          </a:p>
          <a:p>
            <a:pPr>
              <a:lnSpc>
                <a:spcPct val="90000"/>
              </a:lnSpc>
            </a:pPr>
            <a:endParaRPr lang="en-GB" sz="2000" b="1" i="1" dirty="0">
              <a:solidFill>
                <a:schemeClr val="tx1"/>
              </a:solidFill>
            </a:endParaRPr>
          </a:p>
          <a:p>
            <a:pPr lvl="1">
              <a:lnSpc>
                <a:spcPct val="90000"/>
              </a:lnSpc>
            </a:pPr>
            <a:r>
              <a:rPr lang="en-GB" i="1" dirty="0">
                <a:solidFill>
                  <a:schemeClr val="tx1"/>
                </a:solidFill>
              </a:rPr>
              <a:t>Carter agreed to sell </a:t>
            </a:r>
            <a:r>
              <a:rPr lang="en-GB" b="1" i="1" u="sng" dirty="0">
                <a:solidFill>
                  <a:srgbClr val="FF0000"/>
                </a:solidFill>
              </a:rPr>
              <a:t>‘about’ </a:t>
            </a:r>
            <a:r>
              <a:rPr lang="en-GB" i="1" dirty="0">
                <a:solidFill>
                  <a:schemeClr val="tx1"/>
                </a:solidFill>
              </a:rPr>
              <a:t>4000 sheep pastured on certain land (specific goods). If it should be found less than 4000 sheep B would pay for the actual number delivered. Only 890 sheep were found. B claimed damages for short delivery.</a:t>
            </a:r>
          </a:p>
          <a:p>
            <a:pPr lvl="1">
              <a:lnSpc>
                <a:spcPct val="90000"/>
              </a:lnSpc>
            </a:pPr>
            <a:endParaRPr lang="en-GB" i="1" dirty="0">
              <a:solidFill>
                <a:schemeClr val="tx1"/>
              </a:solidFill>
            </a:endParaRPr>
          </a:p>
          <a:p>
            <a:pPr lvl="1">
              <a:lnSpc>
                <a:spcPct val="90000"/>
              </a:lnSpc>
            </a:pPr>
            <a:r>
              <a:rPr lang="en-GB" b="1" i="1" dirty="0">
                <a:solidFill>
                  <a:schemeClr val="tx1"/>
                </a:solidFill>
              </a:rPr>
              <a:t>Held</a:t>
            </a:r>
            <a:r>
              <a:rPr lang="en-GB" i="1" dirty="0">
                <a:solidFill>
                  <a:schemeClr val="tx1"/>
                </a:solidFill>
              </a:rPr>
              <a:t>: </a:t>
            </a:r>
            <a:r>
              <a:rPr lang="en-GB" i="1" u="sng" dirty="0">
                <a:solidFill>
                  <a:schemeClr val="tx1"/>
                </a:solidFill>
              </a:rPr>
              <a:t>implied condition that the sheep were or would be in existence </a:t>
            </a:r>
            <a:r>
              <a:rPr lang="en-GB" i="1" dirty="0">
                <a:solidFill>
                  <a:schemeClr val="tx1"/>
                </a:solidFill>
              </a:rPr>
              <a:t>and that they should be in existence at the time for performance. BUT S did not know how many sheep there were, B was aware of shortage possibility and agreed to take less.  Therefore </a:t>
            </a:r>
            <a:r>
              <a:rPr lang="en-GB" i="1" u="sng" dirty="0">
                <a:solidFill>
                  <a:schemeClr val="tx1"/>
                </a:solidFill>
              </a:rPr>
              <a:t>the K was only for the sheep that existed </a:t>
            </a:r>
            <a:r>
              <a:rPr lang="en-GB" i="1" dirty="0">
                <a:solidFill>
                  <a:schemeClr val="tx1"/>
                </a:solidFill>
              </a:rPr>
              <a:t>and could be delivered on muster.</a:t>
            </a:r>
          </a:p>
          <a:p>
            <a:endParaRPr lang="en-GB"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GB" dirty="0">
                <a:solidFill>
                  <a:srgbClr val="FF0000"/>
                </a:solidFill>
              </a:rPr>
              <a:t>4) Contract may be subject to a condition precedent</a:t>
            </a:r>
          </a:p>
        </p:txBody>
      </p:sp>
      <p:sp>
        <p:nvSpPr>
          <p:cNvPr id="19459" name="Content Placeholder 2"/>
          <p:cNvSpPr>
            <a:spLocks noGrp="1"/>
          </p:cNvSpPr>
          <p:nvPr>
            <p:ph idx="1"/>
          </p:nvPr>
        </p:nvSpPr>
        <p:spPr>
          <a:xfrm>
            <a:off x="457200" y="1447800"/>
            <a:ext cx="8229600" cy="5410200"/>
          </a:xfrm>
        </p:spPr>
        <p:txBody>
          <a:bodyPr/>
          <a:lstStyle/>
          <a:p>
            <a:pPr eaLnBrk="1" hangingPunct="1"/>
            <a:r>
              <a:rPr lang="en-GB" b="1" i="1" dirty="0">
                <a:solidFill>
                  <a:schemeClr val="tx1"/>
                </a:solidFill>
                <a:highlight>
                  <a:srgbClr val="FFFF00"/>
                </a:highlight>
              </a:rPr>
              <a:t>Associated Japanese Bank v Credit du Nord SA</a:t>
            </a:r>
          </a:p>
          <a:p>
            <a:pPr lvl="1" algn="just" eaLnBrk="1" hangingPunct="1"/>
            <a:r>
              <a:rPr lang="en-GB" dirty="0">
                <a:solidFill>
                  <a:schemeClr val="tx1"/>
                </a:solidFill>
              </a:rPr>
              <a:t>Mr. B wanted to borrow money from AJB. AJB bought 4 machines for £1m and leased them back for £1m plus interest. Credit Nord guaranteed Mr. B’s obligations under a sale and leaseback agreement. Mr. B was arrested for fraud as the machines did not exist at all. AJB claimed the monies from Credit Nord.</a:t>
            </a:r>
          </a:p>
          <a:p>
            <a:pPr lvl="1" algn="just" eaLnBrk="1" hangingPunct="1">
              <a:buFont typeface="Arial" charset="0"/>
              <a:buNone/>
            </a:pPr>
            <a:endParaRPr lang="en-GB" dirty="0">
              <a:solidFill>
                <a:schemeClr val="tx1"/>
              </a:solidFill>
            </a:endParaRPr>
          </a:p>
          <a:p>
            <a:pPr lvl="1" algn="just" eaLnBrk="1" hangingPunct="1"/>
            <a:r>
              <a:rPr lang="en-GB" b="1" dirty="0">
                <a:solidFill>
                  <a:schemeClr val="tx1"/>
                </a:solidFill>
              </a:rPr>
              <a:t>Held</a:t>
            </a:r>
            <a:r>
              <a:rPr lang="en-GB" dirty="0">
                <a:solidFill>
                  <a:schemeClr val="tx1"/>
                </a:solidFill>
              </a:rPr>
              <a:t>: Credit Nord did not have to pay.  The guarantee was subject to an express condition precedent that the machines existed and if they did not Credit Nord was entitled to treat the agreement as repudiated. </a:t>
            </a:r>
          </a:p>
          <a:p>
            <a:pPr lvl="1" algn="just" eaLnBrk="1" hangingPunct="1">
              <a:buFont typeface="Arial" charset="0"/>
              <a:buNone/>
            </a:pPr>
            <a:endParaRPr lang="en-GB" dirty="0">
              <a:solidFill>
                <a:schemeClr val="tx1"/>
              </a:solidFill>
            </a:endParaRPr>
          </a:p>
          <a:p>
            <a:pPr algn="just" eaLnBrk="1" hangingPunct="1"/>
            <a:r>
              <a:rPr lang="en-GB" sz="2000" b="1" dirty="0">
                <a:solidFill>
                  <a:srgbClr val="FF0000"/>
                </a:solidFill>
              </a:rPr>
              <a:t>Rule to remember:  </a:t>
            </a:r>
            <a:r>
              <a:rPr lang="en-GB" sz="2000" dirty="0">
                <a:solidFill>
                  <a:srgbClr val="FF0000"/>
                </a:solidFill>
              </a:rPr>
              <a:t>In a sale and leaseback contract the S is guaranteeing the existence of the goods.</a:t>
            </a:r>
          </a:p>
          <a:p>
            <a:pPr eaLnBrk="1" hangingPunct="1"/>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bwMode="auto">
          <a:noFill/>
        </p:spPr>
        <p:txBody>
          <a:bodyPr wrap="square" numCol="1" anchorCtr="0" compatLnSpc="1">
            <a:prstTxWarp prst="textNoShape">
              <a:avLst/>
            </a:prstTxWarp>
          </a:bodyPr>
          <a:lstStyle/>
          <a:p>
            <a:r>
              <a:rPr lang="en-GB" sz="3200" cap="none" dirty="0">
                <a:solidFill>
                  <a:schemeClr val="tx1"/>
                </a:solidFill>
              </a:rPr>
              <a:t>Non-existent goods</a:t>
            </a:r>
          </a:p>
        </p:txBody>
      </p:sp>
      <p:sp>
        <p:nvSpPr>
          <p:cNvPr id="20483" name="Rectangle 3"/>
          <p:cNvSpPr>
            <a:spLocks noGrp="1"/>
          </p:cNvSpPr>
          <p:nvPr>
            <p:ph type="body" idx="1"/>
          </p:nvPr>
        </p:nvSpPr>
        <p:spPr>
          <a:xfrm>
            <a:off x="457200" y="1752600"/>
            <a:ext cx="8229600" cy="5105400"/>
          </a:xfrm>
        </p:spPr>
        <p:txBody>
          <a:bodyPr/>
          <a:lstStyle/>
          <a:p>
            <a:pPr algn="just" eaLnBrk="1" hangingPunct="1"/>
            <a:r>
              <a:rPr lang="en-GB" sz="2100" dirty="0">
                <a:solidFill>
                  <a:schemeClr val="tx1"/>
                </a:solidFill>
              </a:rPr>
              <a:t>S of non-existent goods may be held liable on the basis that the goods have been impliedly or expressly warranted to exist.</a:t>
            </a:r>
          </a:p>
          <a:p>
            <a:pPr algn="just" eaLnBrk="1" hangingPunct="1">
              <a:buFont typeface="Arial" charset="0"/>
              <a:buNone/>
            </a:pPr>
            <a:endParaRPr lang="en-GB" sz="2100" dirty="0">
              <a:solidFill>
                <a:schemeClr val="tx1"/>
              </a:solidFill>
            </a:endParaRPr>
          </a:p>
          <a:p>
            <a:pPr algn="just" eaLnBrk="1" hangingPunct="1"/>
            <a:r>
              <a:rPr lang="en-GB" sz="2100" b="1" dirty="0">
                <a:solidFill>
                  <a:srgbClr val="FF0000"/>
                </a:solidFill>
              </a:rPr>
              <a:t>S. 6 requires that goods have existed but have perished before the K was made.</a:t>
            </a:r>
          </a:p>
          <a:p>
            <a:pPr lvl="1" algn="just" eaLnBrk="1" hangingPunct="1"/>
            <a:r>
              <a:rPr lang="en-GB" sz="1800" b="1" dirty="0">
                <a:solidFill>
                  <a:srgbClr val="FF0000"/>
                </a:solidFill>
              </a:rPr>
              <a:t>McRae and AJB would not come within its scope because no goods ever existed.</a:t>
            </a:r>
          </a:p>
          <a:p>
            <a:pPr lvl="1" algn="just" eaLnBrk="1" hangingPunct="1"/>
            <a:r>
              <a:rPr lang="en-GB" sz="1800" b="1" dirty="0">
                <a:solidFill>
                  <a:srgbClr val="FF0000"/>
                </a:solidFill>
              </a:rPr>
              <a:t>S should be liable for breach of K – as in the common law position</a:t>
            </a:r>
          </a:p>
          <a:p>
            <a:pPr lvl="1" algn="just" eaLnBrk="1" hangingPunct="1">
              <a:buFont typeface="Arial" charset="0"/>
              <a:buNone/>
            </a:pPr>
            <a:r>
              <a:rPr lang="en-GB" sz="1800" dirty="0">
                <a:solidFill>
                  <a:schemeClr val="tx1"/>
                </a:solidFill>
              </a:rPr>
              <a:t>.</a:t>
            </a:r>
          </a:p>
          <a:p>
            <a:pPr algn="just" eaLnBrk="1" hangingPunct="1"/>
            <a:r>
              <a:rPr lang="en-GB" sz="2000" dirty="0">
                <a:solidFill>
                  <a:schemeClr val="tx1"/>
                </a:solidFill>
              </a:rPr>
              <a:t>But what about s. 6? Will the contract be avoided?  Yes!</a:t>
            </a:r>
          </a:p>
          <a:p>
            <a:pPr algn="just" eaLnBrk="1" hangingPunct="1">
              <a:buFont typeface="Arial" charset="0"/>
              <a:buNone/>
            </a:pPr>
            <a:endParaRPr lang="en-GB" sz="2000" dirty="0">
              <a:solidFill>
                <a:schemeClr val="tx1"/>
              </a:solidFill>
            </a:endParaRPr>
          </a:p>
          <a:p>
            <a:pPr algn="just" eaLnBrk="1" hangingPunct="1"/>
            <a:r>
              <a:rPr lang="en-GB" sz="2000" dirty="0">
                <a:solidFill>
                  <a:schemeClr val="tx1"/>
                </a:solidFill>
              </a:rPr>
              <a:t>Liberal interpretation of </a:t>
            </a:r>
            <a:r>
              <a:rPr lang="en-GB" sz="2000" dirty="0">
                <a:solidFill>
                  <a:srgbClr val="FF0000"/>
                </a:solidFill>
              </a:rPr>
              <a:t>s. 55(1)</a:t>
            </a:r>
            <a:r>
              <a:rPr lang="en-GB" sz="2000" dirty="0">
                <a:solidFill>
                  <a:schemeClr val="tx1"/>
                </a:solidFill>
              </a:rPr>
              <a:t>(exclusion of implied terms) – sections can be varied provided they do not affect third party rights: </a:t>
            </a:r>
            <a:r>
              <a:rPr lang="en-GB" sz="2000" dirty="0">
                <a:solidFill>
                  <a:srgbClr val="FF0000"/>
                </a:solidFill>
              </a:rPr>
              <a:t>McRae</a:t>
            </a:r>
            <a:r>
              <a:rPr lang="en-GB" sz="2000" dirty="0">
                <a:solidFill>
                  <a:schemeClr val="tx1"/>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bwMode="auto">
          <a:noFill/>
        </p:spPr>
        <p:txBody>
          <a:bodyPr wrap="square" numCol="1" anchorCtr="0" compatLnSpc="1">
            <a:prstTxWarp prst="textNoShape">
              <a:avLst/>
            </a:prstTxWarp>
          </a:bodyPr>
          <a:lstStyle/>
          <a:p>
            <a:r>
              <a:rPr lang="en-GB" sz="3200" cap="none" dirty="0">
                <a:solidFill>
                  <a:schemeClr val="tx1"/>
                </a:solidFill>
              </a:rPr>
              <a:t>Non-existent goods</a:t>
            </a:r>
          </a:p>
        </p:txBody>
      </p:sp>
      <p:sp>
        <p:nvSpPr>
          <p:cNvPr id="21507" name="Rectangle 3"/>
          <p:cNvSpPr>
            <a:spLocks noGrp="1"/>
          </p:cNvSpPr>
          <p:nvPr>
            <p:ph type="body" idx="1"/>
          </p:nvPr>
        </p:nvSpPr>
        <p:spPr>
          <a:xfrm>
            <a:off x="457200" y="1824038"/>
            <a:ext cx="8229600" cy="4629150"/>
          </a:xfrm>
        </p:spPr>
        <p:txBody>
          <a:bodyPr/>
          <a:lstStyle/>
          <a:p>
            <a:r>
              <a:rPr lang="en-GB" sz="2100" dirty="0">
                <a:solidFill>
                  <a:schemeClr val="tx1"/>
                </a:solidFill>
              </a:rPr>
              <a:t>True construction of the K is that if the S is contracting that the goods exist S. 6 will not apply and the S will be liable for non-delivery. S. 6 becomes subject to the terms of the K (K’s can be construed wider than s. 6 intended). </a:t>
            </a:r>
          </a:p>
          <a:p>
            <a:endParaRPr lang="en-GB" sz="2100" dirty="0">
              <a:solidFill>
                <a:schemeClr val="tx1"/>
              </a:solidFill>
            </a:endParaRPr>
          </a:p>
          <a:p>
            <a:pPr lvl="1"/>
            <a:r>
              <a:rPr lang="en-GB" sz="2100" i="1" dirty="0">
                <a:solidFill>
                  <a:schemeClr val="tx1"/>
                </a:solidFill>
              </a:rPr>
              <a:t>Joseph Constantine SS Ltd v. Imperial Smelting</a:t>
            </a:r>
            <a:r>
              <a:rPr lang="en-GB" sz="2100" dirty="0">
                <a:solidFill>
                  <a:schemeClr val="tx1"/>
                </a:solidFill>
              </a:rPr>
              <a:t> </a:t>
            </a:r>
          </a:p>
          <a:p>
            <a:pPr lvl="1">
              <a:buFont typeface="Arial" charset="0"/>
              <a:buNone/>
            </a:pPr>
            <a:endParaRPr lang="en-GB" sz="2100" dirty="0">
              <a:solidFill>
                <a:schemeClr val="tx1"/>
              </a:solidFill>
            </a:endParaRPr>
          </a:p>
          <a:p>
            <a:pPr eaLnBrk="1" hangingPunct="1"/>
            <a:r>
              <a:rPr lang="en-GB" sz="2100" b="1" dirty="0">
                <a:solidFill>
                  <a:srgbClr val="FF0000"/>
                </a:solidFill>
              </a:rPr>
              <a:t>The only effect of s. 6 is to give rise to a presumption that the S is not contracting that the goods exist. </a:t>
            </a:r>
          </a:p>
          <a:p>
            <a:pPr eaLnBrk="1" hangingPunct="1">
              <a:buFont typeface="Arial" charset="0"/>
              <a:buNone/>
            </a:pPr>
            <a:endParaRPr lang="en-GB" sz="2100" dirty="0">
              <a:solidFill>
                <a:srgbClr val="FF0000"/>
              </a:solidFill>
            </a:endParaRPr>
          </a:p>
          <a:p>
            <a:pPr lvl="1" eaLnBrk="1" hangingPunct="1"/>
            <a:r>
              <a:rPr lang="en-GB" sz="2100" dirty="0">
                <a:solidFill>
                  <a:srgbClr val="FF0000"/>
                </a:solidFill>
              </a:rPr>
              <a:t>Thus it is a rule of construction rather than a rigid rule of law. </a:t>
            </a:r>
          </a:p>
          <a:p>
            <a:pPr lvl="1" eaLnBrk="1" hangingPunct="1">
              <a:buFont typeface="Arial" charset="0"/>
              <a:buNone/>
            </a:pPr>
            <a:endParaRPr lang="en-GB" sz="2100" dirty="0"/>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dirty="0">
                <a:solidFill>
                  <a:schemeClr val="tx1"/>
                </a:solidFill>
              </a:rPr>
              <a:t>Non-existent Goods</a:t>
            </a:r>
          </a:p>
        </p:txBody>
      </p:sp>
      <p:sp>
        <p:nvSpPr>
          <p:cNvPr id="22531" name="Content Placeholder 2"/>
          <p:cNvSpPr>
            <a:spLocks noGrp="1"/>
          </p:cNvSpPr>
          <p:nvPr>
            <p:ph idx="1"/>
          </p:nvPr>
        </p:nvSpPr>
        <p:spPr/>
        <p:txBody>
          <a:bodyPr/>
          <a:lstStyle/>
          <a:p>
            <a:pPr marL="114300" indent="0" algn="ctr">
              <a:buNone/>
            </a:pPr>
            <a:r>
              <a:rPr lang="en-GB" b="1" u="sng" dirty="0">
                <a:solidFill>
                  <a:srgbClr val="FF0000"/>
                </a:solidFill>
              </a:rPr>
              <a:t>KEY THING TO REMEMBER:</a:t>
            </a:r>
          </a:p>
          <a:p>
            <a:pPr marL="114300" indent="0">
              <a:buNone/>
            </a:pPr>
            <a:endParaRPr lang="en-GB" b="1" dirty="0">
              <a:solidFill>
                <a:srgbClr val="FF0000"/>
              </a:solidFill>
            </a:endParaRPr>
          </a:p>
          <a:p>
            <a:r>
              <a:rPr lang="en-GB" dirty="0">
                <a:solidFill>
                  <a:srgbClr val="FF0000"/>
                </a:solidFill>
              </a:rPr>
              <a:t>In cases like McRae </a:t>
            </a:r>
            <a:r>
              <a:rPr lang="en-GB" b="1" dirty="0">
                <a:solidFill>
                  <a:srgbClr val="FF0000"/>
                </a:solidFill>
              </a:rPr>
              <a:t>where the goods have never existed s. 6 cannot apply</a:t>
            </a:r>
            <a:r>
              <a:rPr lang="en-GB" dirty="0">
                <a:solidFill>
                  <a:srgbClr val="FF0000"/>
                </a:solidFill>
              </a:rPr>
              <a:t> and the presumption may be that the seller is contracting that the goods exist.</a:t>
            </a:r>
          </a:p>
          <a:p>
            <a:endParaRPr lang="en-GB"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p:txBody>
          <a:bodyPr wrap="square" numCol="1" anchorCtr="0" compatLnSpc="1">
            <a:prstTxWarp prst="textNoShape">
              <a:avLst/>
            </a:prstTxWarp>
          </a:bodyPr>
          <a:lstStyle/>
          <a:p>
            <a:pPr eaLnBrk="1" hangingPunct="1"/>
            <a:r>
              <a:rPr lang="en-GB" u="sng" cap="none" dirty="0">
                <a:solidFill>
                  <a:schemeClr val="tx1"/>
                </a:solidFill>
              </a:rPr>
              <a:t>Meaning of </a:t>
            </a:r>
            <a:r>
              <a:rPr lang="en-GB" u="sng" cap="none" dirty="0">
                <a:solidFill>
                  <a:srgbClr val="FF0000"/>
                </a:solidFill>
              </a:rPr>
              <a:t>Specific Goods</a:t>
            </a:r>
          </a:p>
        </p:txBody>
      </p:sp>
      <p:sp>
        <p:nvSpPr>
          <p:cNvPr id="23555" name="Content Placeholder 2"/>
          <p:cNvSpPr>
            <a:spLocks noGrp="1"/>
          </p:cNvSpPr>
          <p:nvPr>
            <p:ph idx="1"/>
          </p:nvPr>
        </p:nvSpPr>
        <p:spPr>
          <a:xfrm>
            <a:off x="457200" y="1752600"/>
            <a:ext cx="8229600" cy="5105400"/>
          </a:xfrm>
        </p:spPr>
        <p:txBody>
          <a:bodyPr/>
          <a:lstStyle/>
          <a:p>
            <a:pPr eaLnBrk="1" hangingPunct="1"/>
            <a:r>
              <a:rPr lang="en-GB" sz="2100" b="1" dirty="0">
                <a:solidFill>
                  <a:schemeClr val="tx1"/>
                </a:solidFill>
              </a:rPr>
              <a:t>S. 61 </a:t>
            </a:r>
            <a:r>
              <a:rPr lang="en-GB" sz="2100" dirty="0">
                <a:solidFill>
                  <a:schemeClr val="tx1"/>
                </a:solidFill>
              </a:rPr>
              <a:t>– goods </a:t>
            </a:r>
            <a:r>
              <a:rPr lang="en-GB" sz="2100" u="sng" dirty="0">
                <a:solidFill>
                  <a:srgbClr val="0070C0"/>
                </a:solidFill>
              </a:rPr>
              <a:t>identified</a:t>
            </a:r>
            <a:r>
              <a:rPr lang="en-GB" sz="2100" dirty="0">
                <a:solidFill>
                  <a:schemeClr val="tx1"/>
                </a:solidFill>
              </a:rPr>
              <a:t> and </a:t>
            </a:r>
            <a:r>
              <a:rPr lang="en-GB" sz="2100" u="sng" dirty="0">
                <a:solidFill>
                  <a:srgbClr val="0070C0"/>
                </a:solidFill>
              </a:rPr>
              <a:t>agreed upon</a:t>
            </a:r>
            <a:r>
              <a:rPr lang="en-GB" sz="2100" dirty="0">
                <a:solidFill>
                  <a:srgbClr val="0070C0"/>
                </a:solidFill>
              </a:rPr>
              <a:t> </a:t>
            </a:r>
            <a:r>
              <a:rPr lang="en-GB" sz="2100" dirty="0">
                <a:solidFill>
                  <a:schemeClr val="tx1"/>
                </a:solidFill>
              </a:rPr>
              <a:t>at the time a contract of sale is made.</a:t>
            </a:r>
          </a:p>
          <a:p>
            <a:pPr eaLnBrk="1" hangingPunct="1"/>
            <a:r>
              <a:rPr lang="en-GB" sz="2100" dirty="0">
                <a:solidFill>
                  <a:schemeClr val="tx1"/>
                </a:solidFill>
              </a:rPr>
              <a:t>Distinguished from future and generic goods.</a:t>
            </a:r>
          </a:p>
          <a:p>
            <a:pPr marL="742950" lvl="1" indent="-285750" eaLnBrk="1" hangingPunct="1">
              <a:buFont typeface="Arial" charset="0"/>
              <a:buNone/>
            </a:pPr>
            <a:endParaRPr lang="en-GB" sz="2100" dirty="0">
              <a:solidFill>
                <a:schemeClr val="tx1"/>
              </a:solidFill>
            </a:endParaRPr>
          </a:p>
          <a:p>
            <a:pPr marL="742950" lvl="1" indent="-285750" eaLnBrk="1" hangingPunct="1"/>
            <a:r>
              <a:rPr lang="en-GB" sz="2100" b="1" i="1" dirty="0">
                <a:solidFill>
                  <a:srgbClr val="0070C0"/>
                </a:solidFill>
              </a:rPr>
              <a:t>HR &amp; Sainsbury v Street</a:t>
            </a:r>
          </a:p>
          <a:p>
            <a:pPr marL="1143000" lvl="2" eaLnBrk="1" hangingPunct="1"/>
            <a:r>
              <a:rPr lang="en-GB" sz="2100" i="1" dirty="0">
                <a:solidFill>
                  <a:schemeClr val="tx1"/>
                </a:solidFill>
              </a:rPr>
              <a:t>Sale of 275 tons of barley to be grown on a particular farm. Importantly this was not a sale of specific goods. Only 140 tons was produced and the Defendant delivered it to a 3</a:t>
            </a:r>
            <a:r>
              <a:rPr lang="en-GB" sz="2100" i="1" baseline="30000" dirty="0">
                <a:solidFill>
                  <a:schemeClr val="tx1"/>
                </a:solidFill>
              </a:rPr>
              <a:t>rd</a:t>
            </a:r>
            <a:r>
              <a:rPr lang="en-GB" sz="2100" i="1" dirty="0">
                <a:solidFill>
                  <a:schemeClr val="tx1"/>
                </a:solidFill>
              </a:rPr>
              <a:t> party. </a:t>
            </a:r>
          </a:p>
          <a:p>
            <a:pPr marL="1143000" lvl="2" eaLnBrk="1" hangingPunct="1"/>
            <a:r>
              <a:rPr lang="en-GB" sz="2100" i="1" dirty="0">
                <a:solidFill>
                  <a:schemeClr val="tx1"/>
                </a:solidFill>
              </a:rPr>
              <a:t>Held: K was frustrated as to the failed part of crop but the Defendant was not exonerated from offering the produced bit. </a:t>
            </a:r>
          </a:p>
          <a:p>
            <a:pPr marL="1600200" lvl="3" eaLnBrk="1" hangingPunct="1"/>
            <a:r>
              <a:rPr lang="en-GB" sz="2100" i="1" dirty="0">
                <a:solidFill>
                  <a:schemeClr val="tx1"/>
                </a:solidFill>
              </a:rPr>
              <a:t>Effect of perishing of these goods are not within  s. 6 but a matter of common law.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bwMode="auto">
          <a:noFill/>
        </p:spPr>
        <p:txBody>
          <a:bodyPr wrap="square" numCol="1" anchorCtr="0" compatLnSpc="1">
            <a:prstTxWarp prst="textNoShape">
              <a:avLst/>
            </a:prstTxWarp>
          </a:bodyPr>
          <a:lstStyle/>
          <a:p>
            <a:r>
              <a:rPr lang="en-GB" cap="none" dirty="0">
                <a:solidFill>
                  <a:schemeClr val="tx1"/>
                </a:solidFill>
              </a:rPr>
              <a:t>Effect of part of goods perishing</a:t>
            </a:r>
          </a:p>
        </p:txBody>
      </p:sp>
      <p:sp>
        <p:nvSpPr>
          <p:cNvPr id="24579" name="Rectangle 3"/>
          <p:cNvSpPr>
            <a:spLocks noGrp="1"/>
          </p:cNvSpPr>
          <p:nvPr>
            <p:ph type="body" idx="1"/>
          </p:nvPr>
        </p:nvSpPr>
        <p:spPr>
          <a:xfrm>
            <a:off x="457200" y="1752600"/>
            <a:ext cx="8229600" cy="4844752"/>
          </a:xfrm>
        </p:spPr>
        <p:txBody>
          <a:bodyPr/>
          <a:lstStyle/>
          <a:p>
            <a:pPr eaLnBrk="1" hangingPunct="1"/>
            <a:r>
              <a:rPr lang="en-GB" i="1" dirty="0">
                <a:solidFill>
                  <a:schemeClr val="tx1"/>
                </a:solidFill>
              </a:rPr>
              <a:t>What happens where there is a sale of specific goods </a:t>
            </a:r>
            <a:r>
              <a:rPr lang="en-GB" b="1" i="1" u="sng" dirty="0">
                <a:solidFill>
                  <a:srgbClr val="FF0000"/>
                </a:solidFill>
              </a:rPr>
              <a:t>part</a:t>
            </a:r>
            <a:r>
              <a:rPr lang="en-GB" i="1" u="sng" dirty="0">
                <a:solidFill>
                  <a:srgbClr val="FF0000"/>
                </a:solidFill>
              </a:rPr>
              <a:t> of which have perished </a:t>
            </a:r>
            <a:r>
              <a:rPr lang="en-GB" i="1" dirty="0">
                <a:solidFill>
                  <a:srgbClr val="FF0000"/>
                </a:solidFill>
              </a:rPr>
              <a:t>before the date of the sale?</a:t>
            </a:r>
          </a:p>
          <a:p>
            <a:pPr eaLnBrk="1" hangingPunct="1">
              <a:buFont typeface="Arial" charset="0"/>
              <a:buNone/>
            </a:pPr>
            <a:endParaRPr lang="en-GB" i="1" dirty="0">
              <a:solidFill>
                <a:schemeClr val="tx1"/>
              </a:solidFill>
            </a:endParaRPr>
          </a:p>
          <a:p>
            <a:pPr lvl="1" eaLnBrk="1" hangingPunct="1"/>
            <a:r>
              <a:rPr lang="en-GB" b="1" i="1" dirty="0">
                <a:solidFill>
                  <a:srgbClr val="0070C0"/>
                </a:solidFill>
              </a:rPr>
              <a:t>Barrow v Phillip</a:t>
            </a:r>
          </a:p>
          <a:p>
            <a:pPr lvl="2" eaLnBrk="1" hangingPunct="1"/>
            <a:r>
              <a:rPr lang="en-GB" i="1" dirty="0">
                <a:solidFill>
                  <a:schemeClr val="tx1"/>
                </a:solidFill>
              </a:rPr>
              <a:t>K for a specific lot of 700 bags of nuts. 109 bags had been stolen before the K was made but 150 bags were nonetheless delivered to B before B found out about the theft.  P sued B for the price of 700 bags.</a:t>
            </a:r>
          </a:p>
          <a:p>
            <a:pPr lvl="2" eaLnBrk="1" hangingPunct="1"/>
            <a:r>
              <a:rPr lang="en-GB" b="1" i="1" dirty="0">
                <a:solidFill>
                  <a:schemeClr val="tx1"/>
                </a:solidFill>
              </a:rPr>
              <a:t>Held: </a:t>
            </a:r>
            <a:r>
              <a:rPr lang="en-GB" i="1" dirty="0">
                <a:solidFill>
                  <a:schemeClr val="tx1"/>
                </a:solidFill>
              </a:rPr>
              <a:t>s. 6 applied since the parcel of 700 bags had perished when the 109 were stolen. Contract was avoided.</a:t>
            </a:r>
          </a:p>
          <a:p>
            <a:pPr lvl="2" eaLnBrk="1" hangingPunct="1"/>
            <a:r>
              <a:rPr lang="en-GB" i="1" dirty="0">
                <a:solidFill>
                  <a:schemeClr val="tx1"/>
                </a:solidFill>
              </a:rPr>
              <a:t>The K was for a parcel of 700 bags and at the time the K was made there were only 591 bags. The B was not contracted to buy 591 bags. </a:t>
            </a:r>
            <a:endParaRPr lang="en-GB"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bwMode="auto">
          <a:noFill/>
        </p:spPr>
        <p:txBody>
          <a:bodyPr wrap="square" numCol="1" anchorCtr="0" compatLnSpc="1">
            <a:prstTxWarp prst="textNoShape">
              <a:avLst/>
            </a:prstTxWarp>
          </a:bodyPr>
          <a:lstStyle/>
          <a:p>
            <a:r>
              <a:rPr lang="en-GB" b="1" u="sng" cap="none" dirty="0">
                <a:solidFill>
                  <a:srgbClr val="FF0000"/>
                </a:solidFill>
              </a:rPr>
              <a:t>Meaning of perish</a:t>
            </a:r>
          </a:p>
        </p:txBody>
      </p:sp>
      <p:sp>
        <p:nvSpPr>
          <p:cNvPr id="25603" name="Rectangle 3"/>
          <p:cNvSpPr>
            <a:spLocks noGrp="1"/>
          </p:cNvSpPr>
          <p:nvPr>
            <p:ph type="body" idx="1"/>
          </p:nvPr>
        </p:nvSpPr>
        <p:spPr>
          <a:xfrm>
            <a:off x="457200" y="1752600"/>
            <a:ext cx="8229600" cy="5105400"/>
          </a:xfrm>
        </p:spPr>
        <p:txBody>
          <a:bodyPr/>
          <a:lstStyle/>
          <a:p>
            <a:r>
              <a:rPr lang="en-GB" dirty="0">
                <a:solidFill>
                  <a:schemeClr val="tx1"/>
                </a:solidFill>
              </a:rPr>
              <a:t>Both </a:t>
            </a:r>
            <a:r>
              <a:rPr lang="en-GB" u="sng" dirty="0">
                <a:solidFill>
                  <a:schemeClr val="tx1"/>
                </a:solidFill>
                <a:highlight>
                  <a:srgbClr val="FFFF00"/>
                </a:highlight>
              </a:rPr>
              <a:t>physical destruction and perishing in the commercial sense </a:t>
            </a:r>
            <a:r>
              <a:rPr lang="en-GB" dirty="0">
                <a:solidFill>
                  <a:schemeClr val="tx1"/>
                </a:solidFill>
              </a:rPr>
              <a:t>must be considered. </a:t>
            </a:r>
          </a:p>
          <a:p>
            <a:pPr>
              <a:buFont typeface="Arial" charset="0"/>
              <a:buNone/>
            </a:pPr>
            <a:endParaRPr lang="en-GB" dirty="0">
              <a:solidFill>
                <a:schemeClr val="tx1"/>
              </a:solidFill>
            </a:endParaRPr>
          </a:p>
          <a:p>
            <a:pPr>
              <a:buFont typeface="Arial" charset="0"/>
              <a:buNone/>
            </a:pPr>
            <a:r>
              <a:rPr lang="en-GB" b="1" i="1" dirty="0" err="1">
                <a:solidFill>
                  <a:srgbClr val="0070C0"/>
                </a:solidFill>
              </a:rPr>
              <a:t>Asfar</a:t>
            </a:r>
            <a:r>
              <a:rPr lang="en-GB" b="1" i="1" dirty="0">
                <a:solidFill>
                  <a:srgbClr val="0070C0"/>
                </a:solidFill>
              </a:rPr>
              <a:t> v Blundell</a:t>
            </a:r>
          </a:p>
          <a:p>
            <a:pPr lvl="1"/>
            <a:r>
              <a:rPr lang="en-GB" i="1" dirty="0">
                <a:solidFill>
                  <a:schemeClr val="tx1"/>
                </a:solidFill>
              </a:rPr>
              <a:t>Consignment of dates aboard a ship sank in the Thames and were contaminated by sea and sewage. After salvage they were unfit for human consumption but still fit for distillation.</a:t>
            </a:r>
          </a:p>
          <a:p>
            <a:pPr lvl="1"/>
            <a:r>
              <a:rPr lang="en-GB" b="1" i="1" dirty="0">
                <a:solidFill>
                  <a:schemeClr val="tx1"/>
                </a:solidFill>
              </a:rPr>
              <a:t>Held</a:t>
            </a:r>
            <a:r>
              <a:rPr lang="en-GB" i="1" dirty="0">
                <a:solidFill>
                  <a:schemeClr val="tx1"/>
                </a:solidFill>
              </a:rPr>
              <a:t>: for insurance purposes the cargo was held to be a constructive total loss.</a:t>
            </a:r>
          </a:p>
          <a:p>
            <a:pPr lvl="1">
              <a:buFont typeface="Arial" charset="0"/>
              <a:buNone/>
            </a:pPr>
            <a:endParaRPr lang="en-GB" i="1" dirty="0">
              <a:solidFill>
                <a:schemeClr val="tx1"/>
              </a:solidFill>
            </a:endParaRPr>
          </a:p>
          <a:p>
            <a:r>
              <a:rPr lang="en-GB" b="1" i="1" dirty="0">
                <a:solidFill>
                  <a:srgbClr val="FF0000"/>
                </a:solidFill>
              </a:rPr>
              <a:t>Q: Has the nature of the goods been altered? Yes -unfit for human consumption.  No - they were still dates.  Which?!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bwMode="auto">
          <a:noFill/>
        </p:spPr>
        <p:txBody>
          <a:bodyPr wrap="square" numCol="1" anchorCtr="0" compatLnSpc="1">
            <a:prstTxWarp prst="textNoShape">
              <a:avLst/>
            </a:prstTxWarp>
          </a:bodyPr>
          <a:lstStyle/>
          <a:p>
            <a:r>
              <a:rPr lang="en-GB" cap="none" dirty="0">
                <a:solidFill>
                  <a:schemeClr val="tx1"/>
                </a:solidFill>
              </a:rPr>
              <a:t>Meaning of perish</a:t>
            </a:r>
          </a:p>
        </p:txBody>
      </p:sp>
      <p:sp>
        <p:nvSpPr>
          <p:cNvPr id="26627" name="Rectangle 3"/>
          <p:cNvSpPr>
            <a:spLocks noGrp="1"/>
          </p:cNvSpPr>
          <p:nvPr>
            <p:ph type="body" idx="1"/>
          </p:nvPr>
        </p:nvSpPr>
        <p:spPr>
          <a:xfrm>
            <a:off x="457200" y="1752600"/>
            <a:ext cx="8229600" cy="5105400"/>
          </a:xfrm>
        </p:spPr>
        <p:txBody>
          <a:bodyPr/>
          <a:lstStyle/>
          <a:p>
            <a:r>
              <a:rPr lang="en-GB" b="1" i="1" dirty="0">
                <a:solidFill>
                  <a:srgbClr val="0070C0"/>
                </a:solidFill>
              </a:rPr>
              <a:t>Horn v Minister of Food</a:t>
            </a:r>
          </a:p>
          <a:p>
            <a:pPr lvl="1"/>
            <a:r>
              <a:rPr lang="en-GB" i="1" dirty="0">
                <a:solidFill>
                  <a:schemeClr val="tx1"/>
                </a:solidFill>
              </a:rPr>
              <a:t>Potatoes had rotten so as to be worthless. Morris J held that they had not perished within the meaning of s. 7 as they were still potatoes</a:t>
            </a:r>
          </a:p>
          <a:p>
            <a:pPr lvl="1"/>
            <a:endParaRPr lang="en-GB" i="1" dirty="0">
              <a:solidFill>
                <a:schemeClr val="tx1"/>
              </a:solidFill>
            </a:endParaRPr>
          </a:p>
          <a:p>
            <a:r>
              <a:rPr lang="en-GB" sz="2000" i="1" dirty="0">
                <a:solidFill>
                  <a:schemeClr val="tx1"/>
                </a:solidFill>
              </a:rPr>
              <a:t>A seller who contracts to sell a specific lot of potatoes will be liable for breach of his implied obligations if he delivers unmerchantable goods.</a:t>
            </a:r>
          </a:p>
          <a:p>
            <a:pPr>
              <a:buFont typeface="Arial" charset="0"/>
              <a:buNone/>
            </a:pPr>
            <a:endParaRPr lang="en-GB" sz="2000" i="1" dirty="0">
              <a:solidFill>
                <a:schemeClr val="tx1"/>
              </a:solidFill>
            </a:endParaRPr>
          </a:p>
          <a:p>
            <a:r>
              <a:rPr lang="en-GB" sz="2000" i="1" dirty="0">
                <a:solidFill>
                  <a:schemeClr val="tx1"/>
                </a:solidFill>
              </a:rPr>
              <a:t>Immaterial whether they were unmerchantable before the K was made. </a:t>
            </a:r>
          </a:p>
          <a:p>
            <a:pPr>
              <a:buFont typeface="Arial" charset="0"/>
              <a:buNone/>
            </a:pPr>
            <a:endParaRPr lang="en-GB" sz="2000" i="1" dirty="0">
              <a:solidFill>
                <a:srgbClr val="FF0000"/>
              </a:solidFill>
            </a:endParaRPr>
          </a:p>
          <a:p>
            <a:r>
              <a:rPr lang="en-GB" sz="2000" i="1" dirty="0">
                <a:solidFill>
                  <a:srgbClr val="FF0000"/>
                </a:solidFill>
              </a:rPr>
              <a:t>If s. 6 is successfully utilised liability will be escaped</a:t>
            </a:r>
            <a:r>
              <a:rPr lang="en-GB" i="1" dirty="0">
                <a:solidFill>
                  <a:srgbClr val="FF0000"/>
                </a:solidFill>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bwMode="auto">
          <a:noFill/>
        </p:spPr>
        <p:txBody>
          <a:bodyPr wrap="square" numCol="1" anchorCtr="0" compatLnSpc="1">
            <a:prstTxWarp prst="textNoShape">
              <a:avLst/>
            </a:prstTxWarp>
          </a:bodyPr>
          <a:lstStyle/>
          <a:p>
            <a:r>
              <a:rPr lang="en-GB" cap="none" dirty="0">
                <a:solidFill>
                  <a:schemeClr val="tx1"/>
                </a:solidFill>
              </a:rPr>
              <a:t>Meaning of perish</a:t>
            </a:r>
          </a:p>
        </p:txBody>
      </p:sp>
      <p:sp>
        <p:nvSpPr>
          <p:cNvPr id="27651" name="Rectangle 3"/>
          <p:cNvSpPr>
            <a:spLocks noGrp="1"/>
          </p:cNvSpPr>
          <p:nvPr>
            <p:ph type="body" idx="1"/>
          </p:nvPr>
        </p:nvSpPr>
        <p:spPr/>
        <p:txBody>
          <a:bodyPr/>
          <a:lstStyle/>
          <a:p>
            <a:r>
              <a:rPr lang="en-GB" u="sng" dirty="0">
                <a:solidFill>
                  <a:schemeClr val="tx1"/>
                </a:solidFill>
              </a:rPr>
              <a:t>What about </a:t>
            </a:r>
            <a:r>
              <a:rPr lang="en-GB" u="sng" dirty="0">
                <a:solidFill>
                  <a:srgbClr val="FF0000"/>
                </a:solidFill>
              </a:rPr>
              <a:t>goods lost by theft</a:t>
            </a:r>
            <a:r>
              <a:rPr lang="en-GB" u="sng" dirty="0">
                <a:solidFill>
                  <a:schemeClr val="tx1"/>
                </a:solidFill>
              </a:rPr>
              <a:t>?</a:t>
            </a:r>
          </a:p>
          <a:p>
            <a:pPr marL="411163" lvl="1" indent="0">
              <a:buNone/>
            </a:pPr>
            <a:endParaRPr lang="en-GB" dirty="0">
              <a:solidFill>
                <a:schemeClr val="tx1"/>
              </a:solidFill>
            </a:endParaRPr>
          </a:p>
          <a:p>
            <a:pPr lvl="1"/>
            <a:r>
              <a:rPr lang="en-GB" b="1" i="1" dirty="0">
                <a:solidFill>
                  <a:srgbClr val="0070C0"/>
                </a:solidFill>
              </a:rPr>
              <a:t>Barrow v Phillips</a:t>
            </a:r>
          </a:p>
          <a:p>
            <a:pPr marL="685800" lvl="2" indent="0">
              <a:buNone/>
            </a:pPr>
            <a:endParaRPr lang="en-GB" i="1" dirty="0">
              <a:solidFill>
                <a:schemeClr val="tx1"/>
              </a:solidFill>
            </a:endParaRPr>
          </a:p>
          <a:p>
            <a:pPr lvl="1"/>
            <a:r>
              <a:rPr lang="en-GB" i="1" dirty="0">
                <a:solidFill>
                  <a:schemeClr val="tx1"/>
                </a:solidFill>
              </a:rPr>
              <a:t>If there is no real prospect of recovering goods they should be treated as having perished within the meaning of s. 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bwMode="auto">
          <a:noFill/>
        </p:spPr>
        <p:txBody>
          <a:bodyPr wrap="square" numCol="1" anchorCtr="0" compatLnSpc="1">
            <a:prstTxWarp prst="textNoShape">
              <a:avLst/>
            </a:prstTxWarp>
          </a:bodyPr>
          <a:lstStyle/>
          <a:p>
            <a:r>
              <a:rPr lang="en-GB" b="1" u="sng" cap="none" dirty="0">
                <a:solidFill>
                  <a:srgbClr val="FF0000"/>
                </a:solidFill>
              </a:rPr>
              <a:t>Unascertained goods</a:t>
            </a:r>
          </a:p>
        </p:txBody>
      </p:sp>
      <p:sp>
        <p:nvSpPr>
          <p:cNvPr id="28675" name="Rectangle 3"/>
          <p:cNvSpPr>
            <a:spLocks noGrp="1"/>
          </p:cNvSpPr>
          <p:nvPr>
            <p:ph type="body" idx="1"/>
          </p:nvPr>
        </p:nvSpPr>
        <p:spPr>
          <a:xfrm>
            <a:off x="323850" y="1773238"/>
            <a:ext cx="8229600" cy="4608512"/>
          </a:xfrm>
        </p:spPr>
        <p:txBody>
          <a:bodyPr/>
          <a:lstStyle/>
          <a:p>
            <a:r>
              <a:rPr lang="en-GB" b="1" i="1" u="sng" dirty="0">
                <a:solidFill>
                  <a:schemeClr val="tx1"/>
                </a:solidFill>
                <a:highlight>
                  <a:srgbClr val="FFFF00"/>
                </a:highlight>
              </a:rPr>
              <a:t>ss. 6-7 apply to only specific goods, but what about unascertained goods? Can they perish?</a:t>
            </a:r>
          </a:p>
          <a:p>
            <a:endParaRPr lang="en-GB" i="1" dirty="0">
              <a:solidFill>
                <a:schemeClr val="tx1"/>
              </a:solidFill>
            </a:endParaRPr>
          </a:p>
          <a:p>
            <a:r>
              <a:rPr lang="en-GB" b="1" i="1" u="sng" dirty="0">
                <a:solidFill>
                  <a:schemeClr val="tx1"/>
                </a:solidFill>
              </a:rPr>
              <a:t>Generic Goods</a:t>
            </a:r>
          </a:p>
          <a:p>
            <a:endParaRPr lang="en-GB" b="1" i="1" dirty="0">
              <a:solidFill>
                <a:schemeClr val="tx1"/>
              </a:solidFill>
            </a:endParaRPr>
          </a:p>
          <a:p>
            <a:pPr lvl="1"/>
            <a:r>
              <a:rPr lang="en-GB" i="1" dirty="0">
                <a:solidFill>
                  <a:schemeClr val="tx1"/>
                </a:solidFill>
              </a:rPr>
              <a:t>Goods sold by pure description </a:t>
            </a:r>
          </a:p>
          <a:p>
            <a:pPr lvl="2"/>
            <a:r>
              <a:rPr lang="en-GB" i="1" dirty="0">
                <a:solidFill>
                  <a:schemeClr val="tx1"/>
                </a:solidFill>
              </a:rPr>
              <a:t>E.g. 100 tons of Santini tomatoes. </a:t>
            </a:r>
          </a:p>
          <a:p>
            <a:pPr lvl="2"/>
            <a:endParaRPr lang="en-GB" i="1" dirty="0">
              <a:solidFill>
                <a:schemeClr val="tx1"/>
              </a:solidFill>
            </a:endParaRPr>
          </a:p>
          <a:p>
            <a:pPr lvl="1"/>
            <a:r>
              <a:rPr lang="en-GB" i="1" dirty="0">
                <a:solidFill>
                  <a:schemeClr val="tx1"/>
                </a:solidFill>
              </a:rPr>
              <a:t>S takes all responsibility in ensuring the goods respond to the description and will be delivered to the B on the agreed date.  All risks incidental to seeing that the goods are supplied are also borne by S.</a:t>
            </a:r>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cap="none" dirty="0">
                <a:solidFill>
                  <a:schemeClr val="tx1"/>
                </a:solidFill>
              </a:rPr>
              <a:t>Unascertained goods</a:t>
            </a:r>
            <a:endParaRPr lang="en-GB" dirty="0">
              <a:solidFill>
                <a:schemeClr val="tx1"/>
              </a:solidFill>
            </a:endParaRPr>
          </a:p>
        </p:txBody>
      </p:sp>
      <p:sp>
        <p:nvSpPr>
          <p:cNvPr id="29699" name="Content Placeholder 2"/>
          <p:cNvSpPr>
            <a:spLocks noGrp="1"/>
          </p:cNvSpPr>
          <p:nvPr>
            <p:ph idx="1"/>
          </p:nvPr>
        </p:nvSpPr>
        <p:spPr>
          <a:xfrm>
            <a:off x="457200" y="1752600"/>
            <a:ext cx="8229600" cy="4628728"/>
          </a:xfrm>
        </p:spPr>
        <p:txBody>
          <a:bodyPr/>
          <a:lstStyle/>
          <a:p>
            <a:r>
              <a:rPr lang="en-GB" b="1" i="1" dirty="0" err="1">
                <a:solidFill>
                  <a:srgbClr val="0070C0"/>
                </a:solidFill>
              </a:rPr>
              <a:t>Intertradex</a:t>
            </a:r>
            <a:r>
              <a:rPr lang="en-GB" b="1" i="1" dirty="0">
                <a:solidFill>
                  <a:srgbClr val="0070C0"/>
                </a:solidFill>
              </a:rPr>
              <a:t> v </a:t>
            </a:r>
            <a:r>
              <a:rPr lang="en-GB" b="1" i="1" dirty="0" err="1">
                <a:solidFill>
                  <a:srgbClr val="0070C0"/>
                </a:solidFill>
              </a:rPr>
              <a:t>Lesieur</a:t>
            </a:r>
            <a:endParaRPr lang="en-GB" b="1" i="1" dirty="0">
              <a:solidFill>
                <a:srgbClr val="0070C0"/>
              </a:solidFill>
            </a:endParaRPr>
          </a:p>
          <a:p>
            <a:pPr>
              <a:buFont typeface="Arial" charset="0"/>
              <a:buNone/>
            </a:pPr>
            <a:endParaRPr lang="en-GB" b="1" i="1" dirty="0">
              <a:solidFill>
                <a:schemeClr val="tx1"/>
              </a:solidFill>
            </a:endParaRPr>
          </a:p>
          <a:p>
            <a:pPr lvl="1"/>
            <a:r>
              <a:rPr lang="en-GB" i="1" dirty="0" err="1">
                <a:solidFill>
                  <a:schemeClr val="tx1"/>
                </a:solidFill>
              </a:rPr>
              <a:t>Intertradex</a:t>
            </a:r>
            <a:r>
              <a:rPr lang="en-GB" i="1" dirty="0">
                <a:solidFill>
                  <a:schemeClr val="tx1"/>
                </a:solidFill>
              </a:rPr>
              <a:t> agreed to sell 800 tons of Mali groundnut to </a:t>
            </a:r>
            <a:r>
              <a:rPr lang="en-GB" i="1" dirty="0" err="1">
                <a:solidFill>
                  <a:schemeClr val="tx1"/>
                </a:solidFill>
              </a:rPr>
              <a:t>Lesieur</a:t>
            </a:r>
            <a:r>
              <a:rPr lang="en-GB" i="1" dirty="0">
                <a:solidFill>
                  <a:schemeClr val="tx1"/>
                </a:solidFill>
              </a:rPr>
              <a:t>. Suppliers SEPOM failed to meet their commitments. Sellers claimed that they were excused from performance.</a:t>
            </a:r>
          </a:p>
          <a:p>
            <a:pPr marL="411163" lvl="1" indent="0">
              <a:buNone/>
            </a:pPr>
            <a:r>
              <a:rPr lang="en-GB" i="1" dirty="0">
                <a:solidFill>
                  <a:schemeClr val="tx1"/>
                </a:solidFill>
              </a:rPr>
              <a:t> </a:t>
            </a:r>
          </a:p>
          <a:p>
            <a:pPr lvl="1"/>
            <a:r>
              <a:rPr lang="en-GB" i="1" dirty="0">
                <a:solidFill>
                  <a:schemeClr val="tx1"/>
                </a:solidFill>
              </a:rPr>
              <a:t>Arbitral tribunal held Sellers were excused.</a:t>
            </a:r>
          </a:p>
          <a:p>
            <a:pPr lvl="1">
              <a:buFont typeface="Arial" charset="0"/>
              <a:buNone/>
            </a:pPr>
            <a:endParaRPr lang="en-GB" i="1" dirty="0">
              <a:solidFill>
                <a:schemeClr val="tx1"/>
              </a:solidFill>
            </a:endParaRPr>
          </a:p>
          <a:p>
            <a:pPr lvl="1"/>
            <a:r>
              <a:rPr lang="en-GB" i="1" dirty="0">
                <a:solidFill>
                  <a:schemeClr val="tx1"/>
                </a:solidFill>
              </a:rPr>
              <a:t>The first instance court (affirmed by CA) </a:t>
            </a:r>
            <a:r>
              <a:rPr lang="en-GB" b="1" i="1" dirty="0">
                <a:solidFill>
                  <a:schemeClr val="tx1"/>
                </a:solidFill>
              </a:rPr>
              <a:t>held</a:t>
            </a:r>
            <a:r>
              <a:rPr lang="en-GB" i="1" dirty="0">
                <a:solidFill>
                  <a:schemeClr val="tx1"/>
                </a:solidFill>
              </a:rPr>
              <a:t> they were not excused:</a:t>
            </a:r>
          </a:p>
          <a:p>
            <a:pPr lvl="2"/>
            <a:r>
              <a:rPr lang="en-GB" i="1" u="sng" dirty="0">
                <a:solidFill>
                  <a:schemeClr val="tx1"/>
                </a:solidFill>
              </a:rPr>
              <a:t>Sellers assumed basic risks </a:t>
            </a:r>
            <a:r>
              <a:rPr lang="en-GB" i="1" dirty="0">
                <a:solidFill>
                  <a:schemeClr val="tx1"/>
                </a:solidFill>
              </a:rPr>
              <a:t>(shortage of supply and a rise in price), hence the high price to provide profit for Sellers. K had not been frustrated. </a:t>
            </a:r>
          </a:p>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cap="none" dirty="0">
                <a:solidFill>
                  <a:schemeClr val="tx1"/>
                </a:solidFill>
              </a:rPr>
              <a:t>Unascertained goods</a:t>
            </a:r>
            <a:endParaRPr lang="en-GB" dirty="0">
              <a:solidFill>
                <a:schemeClr val="tx1"/>
              </a:solidFill>
            </a:endParaRPr>
          </a:p>
        </p:txBody>
      </p:sp>
      <p:sp>
        <p:nvSpPr>
          <p:cNvPr id="30723" name="Content Placeholder 2"/>
          <p:cNvSpPr>
            <a:spLocks noGrp="1"/>
          </p:cNvSpPr>
          <p:nvPr>
            <p:ph idx="1"/>
          </p:nvPr>
        </p:nvSpPr>
        <p:spPr>
          <a:xfrm>
            <a:off x="457200" y="1752600"/>
            <a:ext cx="8229600" cy="4629150"/>
          </a:xfrm>
        </p:spPr>
        <p:txBody>
          <a:bodyPr/>
          <a:lstStyle/>
          <a:p>
            <a:r>
              <a:rPr lang="en-GB" b="1" u="sng" dirty="0">
                <a:solidFill>
                  <a:srgbClr val="FF0000"/>
                </a:solidFill>
              </a:rPr>
              <a:t>Goods to be manufactured or acquired by the seller</a:t>
            </a:r>
          </a:p>
          <a:p>
            <a:endParaRPr lang="en-GB" b="1" dirty="0">
              <a:solidFill>
                <a:schemeClr val="tx1"/>
              </a:solidFill>
            </a:endParaRPr>
          </a:p>
          <a:p>
            <a:pPr lvl="1"/>
            <a:r>
              <a:rPr lang="en-GB" sz="2400" i="1" dirty="0">
                <a:solidFill>
                  <a:schemeClr val="tx1"/>
                </a:solidFill>
              </a:rPr>
              <a:t>Shipbuilder agrees to build a yacht and it is destroyed by fire when it is largely finished.  The Seller/manufacturer has to start rebuilding all over again.   </a:t>
            </a:r>
          </a:p>
          <a:p>
            <a:pPr lvl="1"/>
            <a:r>
              <a:rPr lang="en-GB" sz="2400" i="1" dirty="0">
                <a:solidFill>
                  <a:schemeClr val="tx1"/>
                </a:solidFill>
              </a:rPr>
              <a:t>Risk borne by the Seller. </a:t>
            </a:r>
          </a:p>
          <a:p>
            <a:pPr lvl="1"/>
            <a:r>
              <a:rPr lang="en-GB" sz="2400" i="1" dirty="0">
                <a:solidFill>
                  <a:schemeClr val="tx1"/>
                </a:solidFill>
              </a:rPr>
              <a:t>Parties may agree otherwise. </a:t>
            </a:r>
          </a:p>
          <a:p>
            <a:endParaRPr lang="en-GB" dirty="0"/>
          </a:p>
          <a:p>
            <a:endParaRPr lang="en-GB"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cap="none" dirty="0">
                <a:solidFill>
                  <a:schemeClr val="tx1"/>
                </a:solidFill>
              </a:rPr>
              <a:t>Unascertained goods</a:t>
            </a:r>
            <a:endParaRPr lang="en-GB" dirty="0">
              <a:solidFill>
                <a:schemeClr val="tx1"/>
              </a:solidFill>
            </a:endParaRPr>
          </a:p>
        </p:txBody>
      </p:sp>
      <p:sp>
        <p:nvSpPr>
          <p:cNvPr id="31747" name="Content Placeholder 2"/>
          <p:cNvSpPr>
            <a:spLocks noGrp="1"/>
          </p:cNvSpPr>
          <p:nvPr>
            <p:ph idx="1"/>
          </p:nvPr>
        </p:nvSpPr>
        <p:spPr>
          <a:xfrm>
            <a:off x="457200" y="1752600"/>
            <a:ext cx="8229600" cy="4629150"/>
          </a:xfrm>
        </p:spPr>
        <p:txBody>
          <a:bodyPr/>
          <a:lstStyle/>
          <a:p>
            <a:r>
              <a:rPr lang="en-GB" b="1" i="1" u="sng" dirty="0">
                <a:solidFill>
                  <a:srgbClr val="FF0000"/>
                </a:solidFill>
              </a:rPr>
              <a:t>Goods which are to be appropriated from a specific bulk or source </a:t>
            </a:r>
          </a:p>
          <a:p>
            <a:pPr lvl="1"/>
            <a:r>
              <a:rPr lang="en-GB" b="1" i="1" dirty="0">
                <a:solidFill>
                  <a:schemeClr val="tx1"/>
                </a:solidFill>
              </a:rPr>
              <a:t>Different rule. </a:t>
            </a:r>
            <a:r>
              <a:rPr lang="en-GB" i="1" dirty="0">
                <a:solidFill>
                  <a:schemeClr val="tx1"/>
                </a:solidFill>
              </a:rPr>
              <a:t>A sales K will be impossible to perform if the source from which the goods are to be appropriated fails. </a:t>
            </a:r>
          </a:p>
          <a:p>
            <a:pPr lvl="1"/>
            <a:r>
              <a:rPr lang="en-GB" i="1" dirty="0">
                <a:solidFill>
                  <a:schemeClr val="tx1"/>
                </a:solidFill>
              </a:rPr>
              <a:t>100 tons of Santini tomatoes </a:t>
            </a:r>
            <a:r>
              <a:rPr lang="en-GB" i="1" u="sng" dirty="0">
                <a:solidFill>
                  <a:schemeClr val="tx1"/>
                </a:solidFill>
              </a:rPr>
              <a:t>out of the 200 tons now in the Seller’s store</a:t>
            </a:r>
            <a:r>
              <a:rPr lang="en-GB" i="1" dirty="0">
                <a:solidFill>
                  <a:schemeClr val="tx1"/>
                </a:solidFill>
              </a:rPr>
              <a:t>.  If the 200 tons are destroyed the K will be frustrated. </a:t>
            </a:r>
          </a:p>
          <a:p>
            <a:pPr lvl="1"/>
            <a:r>
              <a:rPr lang="en-GB" b="1" i="1" u="sng" dirty="0">
                <a:solidFill>
                  <a:srgbClr val="0070C0"/>
                </a:solidFill>
              </a:rPr>
              <a:t>Howell v Coupland</a:t>
            </a:r>
          </a:p>
          <a:p>
            <a:pPr lvl="2"/>
            <a:r>
              <a:rPr lang="en-GB" i="1" dirty="0">
                <a:solidFill>
                  <a:schemeClr val="tx1"/>
                </a:solidFill>
              </a:rPr>
              <a:t>K for the sale of 200 tons of Regent potatoes. Only 80 tons produced due to disease. </a:t>
            </a:r>
          </a:p>
          <a:p>
            <a:pPr lvl="2"/>
            <a:r>
              <a:rPr lang="en-GB" i="1" dirty="0">
                <a:solidFill>
                  <a:schemeClr val="tx1"/>
                </a:solidFill>
              </a:rPr>
              <a:t>H took delivery and sued for damages for the failure to deliver the balance. </a:t>
            </a:r>
          </a:p>
          <a:p>
            <a:pPr lvl="2"/>
            <a:r>
              <a:rPr lang="en-GB" b="1" i="1" dirty="0">
                <a:solidFill>
                  <a:schemeClr val="tx1"/>
                </a:solidFill>
              </a:rPr>
              <a:t>Held</a:t>
            </a:r>
            <a:r>
              <a:rPr lang="en-GB" i="1" dirty="0">
                <a:solidFill>
                  <a:schemeClr val="tx1"/>
                </a:solidFill>
              </a:rPr>
              <a:t>: Failure should be excused. </a:t>
            </a:r>
          </a:p>
          <a:p>
            <a:pPr lvl="1"/>
            <a:endParaRPr lang="en-GB" i="1" dirty="0"/>
          </a:p>
          <a:p>
            <a:pPr lvl="1"/>
            <a:endParaRPr lang="en-GB"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b="1" u="sng" dirty="0">
                <a:solidFill>
                  <a:schemeClr val="tx1"/>
                </a:solidFill>
              </a:rPr>
              <a:t>Next week</a:t>
            </a:r>
          </a:p>
        </p:txBody>
      </p:sp>
      <p:sp>
        <p:nvSpPr>
          <p:cNvPr id="32771" name="Content Placeholder 2"/>
          <p:cNvSpPr>
            <a:spLocks noGrp="1"/>
          </p:cNvSpPr>
          <p:nvPr>
            <p:ph idx="1"/>
          </p:nvPr>
        </p:nvSpPr>
        <p:spPr/>
        <p:txBody>
          <a:bodyPr/>
          <a:lstStyle/>
          <a:p>
            <a:r>
              <a:rPr lang="en-GB" sz="3200" dirty="0">
                <a:solidFill>
                  <a:schemeClr val="tx1"/>
                </a:solidFill>
              </a:rPr>
              <a:t>Post Contractual Loss of Goods and Other Forms of Subsequent Impossibility</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B73A42-F44D-4FBC-B5B6-84EAFFE1E9F8}">
  <ds:schemaRefs>
    <ds:schemaRef ds:uri="http://schemas.microsoft.com/office/2006/documentManagement/types"/>
    <ds:schemaRef ds:uri="3cc0b812-7f7d-4aca-acca-000f424f7da7"/>
    <ds:schemaRef ds:uri="http://purl.org/dc/dcmitype/"/>
    <ds:schemaRef ds:uri="http://www.w3.org/XML/1998/namespace"/>
    <ds:schemaRef ds:uri="http://schemas.openxmlformats.org/package/2006/metadata/core-properties"/>
    <ds:schemaRef ds:uri="http://purl.org/dc/terms/"/>
    <ds:schemaRef ds:uri="http://schemas.microsoft.com/office/infopath/2007/PartnerControls"/>
    <ds:schemaRef ds:uri="6bff29df-e80b-4a73-953f-e802c634e429"/>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46D22AB0-B8A8-4DAB-816B-EFCDE751A1D9}">
  <ds:schemaRefs>
    <ds:schemaRef ds:uri="http://schemas.microsoft.com/sharepoint/v3/contenttype/forms"/>
  </ds:schemaRefs>
</ds:datastoreItem>
</file>

<file path=customXml/itemProps3.xml><?xml version="1.0" encoding="utf-8"?>
<ds:datastoreItem xmlns:ds="http://schemas.openxmlformats.org/officeDocument/2006/customXml" ds:itemID="{4A04C78D-E0B9-4A3F-8364-54CA13AACB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Apothecary</Template>
  <TotalTime>1300</TotalTime>
  <Words>2012</Words>
  <Application>Microsoft Office PowerPoint</Application>
  <PresentationFormat>On-screen Show (4:3)</PresentationFormat>
  <Paragraphs>175</Paragraphs>
  <Slides>24</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Book Antiqua</vt:lpstr>
      <vt:lpstr>Calibri</vt:lpstr>
      <vt:lpstr>Century Gothic</vt:lpstr>
      <vt:lpstr>Apothecary</vt:lpstr>
      <vt:lpstr>Commercial Law  (Law 2241)</vt:lpstr>
      <vt:lpstr>This week</vt:lpstr>
      <vt:lpstr>Introduction</vt:lpstr>
      <vt:lpstr>Common Law positions (4 possibilities)</vt:lpstr>
      <vt:lpstr>1) BUYER MAY HAVE PURCHASED ‘A CHANCE’</vt:lpstr>
      <vt:lpstr>BUYER MAY HAVE PURCHASED ‘A CHANCE’</vt:lpstr>
      <vt:lpstr>2) CONTRACT IS VOID FOR MISTAKE</vt:lpstr>
      <vt:lpstr>3) SELLER MAY HAVE PROMISED THE EXISTENCE OF THE GOODS</vt:lpstr>
      <vt:lpstr>SELLER MAY HAVE PROMISED THE EXISTENCE OF THE GOODS</vt:lpstr>
      <vt:lpstr>SELLER MAY HAVE PROMISED THE EXISTENCE OF THE GOODS</vt:lpstr>
      <vt:lpstr>4) Contract may be subject to a condition precedent</vt:lpstr>
      <vt:lpstr>Non-existent goods</vt:lpstr>
      <vt:lpstr>Non-existent goods</vt:lpstr>
      <vt:lpstr>Non-existent Goods</vt:lpstr>
      <vt:lpstr>Meaning of Specific Goods</vt:lpstr>
      <vt:lpstr>Effect of part of goods perishing</vt:lpstr>
      <vt:lpstr>Meaning of perish</vt:lpstr>
      <vt:lpstr>Meaning of perish</vt:lpstr>
      <vt:lpstr>Meaning of perish</vt:lpstr>
      <vt:lpstr>Unascertained goods</vt:lpstr>
      <vt:lpstr>Unascertained goods</vt:lpstr>
      <vt:lpstr>Unascertained goods</vt:lpstr>
      <vt:lpstr>Unascertained goods</vt:lpstr>
      <vt:lpstr>Next week</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vchz42</dc:creator>
  <cp:lastModifiedBy>AVERY, RACHEL J.</cp:lastModifiedBy>
  <cp:revision>92</cp:revision>
  <dcterms:created xsi:type="dcterms:W3CDTF">2012-11-11T15:32:51Z</dcterms:created>
  <dcterms:modified xsi:type="dcterms:W3CDTF">2024-09-10T14:05:37Z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