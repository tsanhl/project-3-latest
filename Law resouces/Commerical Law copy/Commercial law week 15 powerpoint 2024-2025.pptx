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7" r:id="rId5"/>
    <p:sldId id="258" r:id="rId6"/>
    <p:sldId id="266" r:id="rId7"/>
    <p:sldId id="259" r:id="rId8"/>
    <p:sldId id="260" r:id="rId9"/>
    <p:sldId id="267" r:id="rId10"/>
    <p:sldId id="261" r:id="rId11"/>
    <p:sldId id="271" r:id="rId12"/>
    <p:sldId id="265" r:id="rId13"/>
    <p:sldId id="264" r:id="rId14"/>
    <p:sldId id="268" r:id="rId15"/>
    <p:sldId id="269" r:id="rId16"/>
    <p:sldId id="270" r:id="rId17"/>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82" autoAdjust="0"/>
    <p:restoredTop sz="93447" autoAdjust="0"/>
  </p:normalViewPr>
  <p:slideViewPr>
    <p:cSldViewPr>
      <p:cViewPr varScale="1">
        <p:scale>
          <a:sx n="63" d="100"/>
          <a:sy n="63" d="100"/>
        </p:scale>
        <p:origin x="1176"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1906FAE4-80BF-4904-BDDA-2EA71FED5E34}" type="datetimeFigureOut">
              <a:rPr lang="en-GB" smtClean="0"/>
              <a:pPr/>
              <a:t>07/01/2025</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C84C6D28-B498-48CC-8695-891392D46F23}" type="slidenum">
              <a:rPr lang="en-GB" smtClean="0"/>
              <a:pPr/>
              <a:t>‹#›</a:t>
            </a:fld>
            <a:endParaRPr lang="en-GB"/>
          </a:p>
        </p:txBody>
      </p:sp>
    </p:spTree>
    <p:extLst>
      <p:ext uri="{BB962C8B-B14F-4D97-AF65-F5344CB8AC3E}">
        <p14:creationId xmlns:p14="http://schemas.microsoft.com/office/powerpoint/2010/main" val="1098971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solidFill>
                <a:srgbClr val="FF0000"/>
              </a:solidFill>
            </a:endParaRPr>
          </a:p>
        </p:txBody>
      </p:sp>
      <p:sp>
        <p:nvSpPr>
          <p:cNvPr id="4" name="Slide Number Placeholder 3"/>
          <p:cNvSpPr>
            <a:spLocks noGrp="1"/>
          </p:cNvSpPr>
          <p:nvPr>
            <p:ph type="sldNum" sz="quarter" idx="10"/>
          </p:nvPr>
        </p:nvSpPr>
        <p:spPr/>
        <p:txBody>
          <a:bodyPr/>
          <a:lstStyle/>
          <a:p>
            <a:fld id="{C84C6D28-B498-48CC-8695-891392D46F23}" type="slidenum">
              <a:rPr lang="en-GB" smtClean="0"/>
              <a:pPr/>
              <a:t>1</a:t>
            </a:fld>
            <a:endParaRPr lang="en-GB"/>
          </a:p>
        </p:txBody>
      </p:sp>
    </p:spTree>
    <p:extLst>
      <p:ext uri="{BB962C8B-B14F-4D97-AF65-F5344CB8AC3E}">
        <p14:creationId xmlns:p14="http://schemas.microsoft.com/office/powerpoint/2010/main" val="804986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2</a:t>
            </a:fld>
            <a:endParaRPr lang="en-GB"/>
          </a:p>
        </p:txBody>
      </p:sp>
    </p:spTree>
    <p:extLst>
      <p:ext uri="{BB962C8B-B14F-4D97-AF65-F5344CB8AC3E}">
        <p14:creationId xmlns:p14="http://schemas.microsoft.com/office/powerpoint/2010/main" val="1999127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3</a:t>
            </a:fld>
            <a:endParaRPr lang="en-GB"/>
          </a:p>
        </p:txBody>
      </p:sp>
    </p:spTree>
    <p:extLst>
      <p:ext uri="{BB962C8B-B14F-4D97-AF65-F5344CB8AC3E}">
        <p14:creationId xmlns:p14="http://schemas.microsoft.com/office/powerpoint/2010/main" val="1233383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4</a:t>
            </a:fld>
            <a:endParaRPr lang="en-GB"/>
          </a:p>
        </p:txBody>
      </p:sp>
    </p:spTree>
    <p:extLst>
      <p:ext uri="{BB962C8B-B14F-4D97-AF65-F5344CB8AC3E}">
        <p14:creationId xmlns:p14="http://schemas.microsoft.com/office/powerpoint/2010/main" val="3166131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baseline="30000" dirty="0">
              <a:effectLst/>
            </a:endParaRPr>
          </a:p>
        </p:txBody>
      </p:sp>
      <p:sp>
        <p:nvSpPr>
          <p:cNvPr id="4" name="Slide Number Placeholder 3"/>
          <p:cNvSpPr>
            <a:spLocks noGrp="1"/>
          </p:cNvSpPr>
          <p:nvPr>
            <p:ph type="sldNum" sz="quarter" idx="10"/>
          </p:nvPr>
        </p:nvSpPr>
        <p:spPr/>
        <p:txBody>
          <a:bodyPr/>
          <a:lstStyle/>
          <a:p>
            <a:fld id="{C84C6D28-B498-48CC-8695-891392D46F23}" type="slidenum">
              <a:rPr lang="en-GB" smtClean="0"/>
              <a:pPr/>
              <a:t>5</a:t>
            </a:fld>
            <a:endParaRPr lang="en-GB"/>
          </a:p>
        </p:txBody>
      </p:sp>
    </p:spTree>
    <p:extLst>
      <p:ext uri="{BB962C8B-B14F-4D97-AF65-F5344CB8AC3E}">
        <p14:creationId xmlns:p14="http://schemas.microsoft.com/office/powerpoint/2010/main" val="1027505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6</a:t>
            </a:fld>
            <a:endParaRPr lang="en-GB"/>
          </a:p>
        </p:txBody>
      </p:sp>
    </p:spTree>
    <p:extLst>
      <p:ext uri="{BB962C8B-B14F-4D97-AF65-F5344CB8AC3E}">
        <p14:creationId xmlns:p14="http://schemas.microsoft.com/office/powerpoint/2010/main" val="589136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7</a:t>
            </a:fld>
            <a:endParaRPr lang="en-GB"/>
          </a:p>
        </p:txBody>
      </p:sp>
    </p:spTree>
    <p:extLst>
      <p:ext uri="{BB962C8B-B14F-4D97-AF65-F5344CB8AC3E}">
        <p14:creationId xmlns:p14="http://schemas.microsoft.com/office/powerpoint/2010/main" val="1036084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8</a:t>
            </a:fld>
            <a:endParaRPr lang="en-GB"/>
          </a:p>
        </p:txBody>
      </p:sp>
    </p:spTree>
    <p:extLst>
      <p:ext uri="{BB962C8B-B14F-4D97-AF65-F5344CB8AC3E}">
        <p14:creationId xmlns:p14="http://schemas.microsoft.com/office/powerpoint/2010/main" val="788582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9</a:t>
            </a:fld>
            <a:endParaRPr lang="en-GB"/>
          </a:p>
        </p:txBody>
      </p:sp>
    </p:spTree>
    <p:extLst>
      <p:ext uri="{BB962C8B-B14F-4D97-AF65-F5344CB8AC3E}">
        <p14:creationId xmlns:p14="http://schemas.microsoft.com/office/powerpoint/2010/main" val="4253820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10</a:t>
            </a:fld>
            <a:endParaRPr lang="en-GB"/>
          </a:p>
        </p:txBody>
      </p:sp>
    </p:spTree>
    <p:extLst>
      <p:ext uri="{BB962C8B-B14F-4D97-AF65-F5344CB8AC3E}">
        <p14:creationId xmlns:p14="http://schemas.microsoft.com/office/powerpoint/2010/main" val="1191201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11</a:t>
            </a:fld>
            <a:endParaRPr lang="en-GB"/>
          </a:p>
        </p:txBody>
      </p:sp>
    </p:spTree>
    <p:extLst>
      <p:ext uri="{BB962C8B-B14F-4D97-AF65-F5344CB8AC3E}">
        <p14:creationId xmlns:p14="http://schemas.microsoft.com/office/powerpoint/2010/main" val="2825838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12</a:t>
            </a:fld>
            <a:endParaRPr lang="en-GB"/>
          </a:p>
        </p:txBody>
      </p:sp>
    </p:spTree>
    <p:extLst>
      <p:ext uri="{BB962C8B-B14F-4D97-AF65-F5344CB8AC3E}">
        <p14:creationId xmlns:p14="http://schemas.microsoft.com/office/powerpoint/2010/main" val="2894734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400" dirty="0"/>
          </a:p>
        </p:txBody>
      </p:sp>
      <p:sp>
        <p:nvSpPr>
          <p:cNvPr id="4" name="Slide Number Placeholder 3"/>
          <p:cNvSpPr>
            <a:spLocks noGrp="1"/>
          </p:cNvSpPr>
          <p:nvPr>
            <p:ph type="sldNum" sz="quarter" idx="10"/>
          </p:nvPr>
        </p:nvSpPr>
        <p:spPr/>
        <p:txBody>
          <a:bodyPr/>
          <a:lstStyle/>
          <a:p>
            <a:fld id="{C84C6D28-B498-48CC-8695-891392D46F23}" type="slidenum">
              <a:rPr lang="en-GB" smtClean="0"/>
              <a:pPr/>
              <a:t>13</a:t>
            </a:fld>
            <a:endParaRPr lang="en-GB"/>
          </a:p>
        </p:txBody>
      </p:sp>
    </p:spTree>
    <p:extLst>
      <p:ext uri="{BB962C8B-B14F-4D97-AF65-F5344CB8AC3E}">
        <p14:creationId xmlns:p14="http://schemas.microsoft.com/office/powerpoint/2010/main" val="2777475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C048BA1-07CD-4E48-B6FE-948D35163CF8}" type="datetimeFigureOut">
              <a:rPr lang="en-GB" smtClean="0"/>
              <a:pPr/>
              <a:t>07/01/2025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37B83-661D-4604-AF3E-E6D77DA54A58}" type="slidenum">
              <a:rPr lang="en-GB" smtClean="0"/>
              <a:pPr/>
              <a:t>‹#›</a:t>
            </a:fld>
            <a:endParaRPr lang="en-GB"/>
          </a:p>
        </p:txBody>
      </p:sp>
      <p:sp>
        <p:nvSpPr>
          <p:cNvPr id="7" name="Rounded Rectangle 6">
            <a:extLst>
              <a:ext uri="{FF2B5EF4-FFF2-40B4-BE49-F238E27FC236}">
                <a16:creationId xmlns:a16="http://schemas.microsoft.com/office/drawing/2014/main" id="{293B0DF6-DAA2-674D-B51F-04473916493F}"/>
              </a:ext>
            </a:extLst>
          </p:cNvPr>
          <p:cNvSpPr/>
          <p:nvPr userDrawn="1"/>
        </p:nvSpPr>
        <p:spPr>
          <a:xfrm>
            <a:off x="133350" y="179388"/>
            <a:ext cx="8877300" cy="6411912"/>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263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C048BA1-07CD-4E48-B6FE-948D35163CF8}" type="datetimeFigureOut">
              <a:rPr lang="en-GB" smtClean="0"/>
              <a:pPr/>
              <a:t>07/01/2025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37B83-661D-4604-AF3E-E6D77DA54A58}" type="slidenum">
              <a:rPr lang="en-GB" smtClean="0"/>
              <a:pPr/>
              <a:t>‹#›</a:t>
            </a:fld>
            <a:endParaRPr lang="en-GB"/>
          </a:p>
        </p:txBody>
      </p:sp>
      <p:sp>
        <p:nvSpPr>
          <p:cNvPr id="7" name="Rounded Rectangle 6">
            <a:extLst>
              <a:ext uri="{FF2B5EF4-FFF2-40B4-BE49-F238E27FC236}">
                <a16:creationId xmlns:a16="http://schemas.microsoft.com/office/drawing/2014/main" id="{293B0DF6-DAA2-674D-B51F-04473916493F}"/>
              </a:ext>
            </a:extLst>
          </p:cNvPr>
          <p:cNvSpPr/>
          <p:nvPr userDrawn="1"/>
        </p:nvSpPr>
        <p:spPr>
          <a:xfrm>
            <a:off x="133350" y="179388"/>
            <a:ext cx="8877300" cy="6411912"/>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3888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048BA1-07CD-4E48-B6FE-948D35163CF8}" type="datetimeFigureOut">
              <a:rPr lang="en-GB" smtClean="0"/>
              <a:pPr/>
              <a:t>07/01/2025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37B83-661D-4604-AF3E-E6D77DA54A58}" type="slidenum">
              <a:rPr lang="en-GB" smtClean="0"/>
              <a:pPr/>
              <a:t>‹#›</a:t>
            </a:fld>
            <a:endParaRPr lang="en-GB"/>
          </a:p>
        </p:txBody>
      </p:sp>
      <p:sp>
        <p:nvSpPr>
          <p:cNvPr id="7" name="Rounded Rectangle 6">
            <a:extLst>
              <a:ext uri="{FF2B5EF4-FFF2-40B4-BE49-F238E27FC236}">
                <a16:creationId xmlns:a16="http://schemas.microsoft.com/office/drawing/2014/main" id="{293B0DF6-DAA2-674D-B51F-04473916493F}"/>
              </a:ext>
            </a:extLst>
          </p:cNvPr>
          <p:cNvSpPr/>
          <p:nvPr userDrawn="1"/>
        </p:nvSpPr>
        <p:spPr>
          <a:xfrm>
            <a:off x="133350" y="179388"/>
            <a:ext cx="8877300" cy="6411912"/>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7804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C048BA1-07CD-4E48-B6FE-948D35163CF8}" type="datetimeFigureOut">
              <a:rPr lang="en-GB" smtClean="0"/>
              <a:pPr/>
              <a:t>07/01/2025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AD37B83-661D-4604-AF3E-E6D77DA54A58}" type="slidenum">
              <a:rPr lang="en-GB" smtClean="0"/>
              <a:pPr/>
              <a:t>‹#›</a:t>
            </a:fld>
            <a:endParaRPr lang="en-GB"/>
          </a:p>
        </p:txBody>
      </p:sp>
      <p:sp>
        <p:nvSpPr>
          <p:cNvPr id="6" name="Rounded Rectangle 5">
            <a:extLst>
              <a:ext uri="{FF2B5EF4-FFF2-40B4-BE49-F238E27FC236}">
                <a16:creationId xmlns:a16="http://schemas.microsoft.com/office/drawing/2014/main" id="{293B0DF6-DAA2-674D-B51F-04473916493F}"/>
              </a:ext>
            </a:extLst>
          </p:cNvPr>
          <p:cNvSpPr/>
          <p:nvPr userDrawn="1"/>
        </p:nvSpPr>
        <p:spPr>
          <a:xfrm>
            <a:off x="133350" y="179388"/>
            <a:ext cx="8877300" cy="6411912"/>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048BA1-07CD-4E48-B6FE-948D35163CF8}" type="datetimeFigureOut">
              <a:rPr lang="en-GB" smtClean="0"/>
              <a:pPr/>
              <a:t>07/01/2025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AD37B83-661D-4604-AF3E-E6D77DA54A58}" type="slidenum">
              <a:rPr lang="en-GB" smtClean="0"/>
              <a:pPr/>
              <a:t>‹#›</a:t>
            </a:fld>
            <a:endParaRPr lang="en-GB"/>
          </a:p>
        </p:txBody>
      </p:sp>
      <p:sp>
        <p:nvSpPr>
          <p:cNvPr id="5" name="Rounded Rectangle 4">
            <a:extLst>
              <a:ext uri="{FF2B5EF4-FFF2-40B4-BE49-F238E27FC236}">
                <a16:creationId xmlns:a16="http://schemas.microsoft.com/office/drawing/2014/main" id="{293B0DF6-DAA2-674D-B51F-04473916493F}"/>
              </a:ext>
            </a:extLst>
          </p:cNvPr>
          <p:cNvSpPr/>
          <p:nvPr userDrawn="1"/>
        </p:nvSpPr>
        <p:spPr>
          <a:xfrm>
            <a:off x="133350" y="179388"/>
            <a:ext cx="8877300" cy="6411912"/>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8678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8BA1-07CD-4E48-B6FE-948D35163CF8}" type="datetimeFigureOut">
              <a:rPr lang="en-GB" smtClean="0"/>
              <a:pPr/>
              <a:t>07/01/2025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37B83-661D-4604-AF3E-E6D77DA54A58}" type="slidenum">
              <a:rPr lang="en-GB" smtClean="0"/>
              <a:pPr/>
              <a:t>‹#›</a:t>
            </a:fld>
            <a:endParaRPr lang="en-GB"/>
          </a:p>
        </p:txBody>
      </p:sp>
    </p:spTree>
    <p:extLst>
      <p:ext uri="{BB962C8B-B14F-4D97-AF65-F5344CB8AC3E}">
        <p14:creationId xmlns:p14="http://schemas.microsoft.com/office/powerpoint/2010/main" val="14352703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769190"/>
            <a:ext cx="7772400" cy="1470025"/>
          </a:xfrm>
        </p:spPr>
        <p:txBody>
          <a:bodyPr/>
          <a:lstStyle/>
          <a:p>
            <a:r>
              <a:rPr lang="en-GB" dirty="0">
                <a:solidFill>
                  <a:srgbClr val="0070C0"/>
                </a:solidFill>
              </a:rPr>
              <a:t>Terms implied by SGA 1979, s.13 &amp; CRA 2015</a:t>
            </a:r>
          </a:p>
        </p:txBody>
      </p:sp>
      <p:sp>
        <p:nvSpPr>
          <p:cNvPr id="3" name="Subtitle 2"/>
          <p:cNvSpPr>
            <a:spLocks noGrp="1"/>
          </p:cNvSpPr>
          <p:nvPr>
            <p:ph type="subTitle" idx="1"/>
          </p:nvPr>
        </p:nvSpPr>
        <p:spPr>
          <a:xfrm>
            <a:off x="-540568" y="4770211"/>
            <a:ext cx="10721280" cy="1752600"/>
          </a:xfrm>
        </p:spPr>
        <p:txBody>
          <a:bodyPr/>
          <a:lstStyle/>
          <a:p>
            <a:r>
              <a:rPr lang="en-GB" dirty="0"/>
              <a:t>Rachel Avery</a:t>
            </a:r>
          </a:p>
          <a:p>
            <a:endParaRPr lang="en-GB" dirty="0"/>
          </a:p>
        </p:txBody>
      </p:sp>
      <p:sp>
        <p:nvSpPr>
          <p:cNvPr id="4" name="Rectangle 3"/>
          <p:cNvSpPr/>
          <p:nvPr/>
        </p:nvSpPr>
        <p:spPr>
          <a:xfrm>
            <a:off x="2408312" y="791644"/>
            <a:ext cx="4572000" cy="1446550"/>
          </a:xfrm>
          <a:prstGeom prst="rect">
            <a:avLst/>
          </a:prstGeom>
        </p:spPr>
        <p:txBody>
          <a:bodyPr>
            <a:spAutoFit/>
          </a:bodyPr>
          <a:lstStyle/>
          <a:p>
            <a:pPr algn="ctr"/>
            <a:r>
              <a:rPr lang="en-GB" sz="4400" dirty="0"/>
              <a:t>Commercial Law</a:t>
            </a:r>
          </a:p>
          <a:p>
            <a:pPr algn="ctr"/>
            <a:r>
              <a:rPr lang="en-GB" sz="4400" dirty="0"/>
              <a:t>Lecture 15</a:t>
            </a:r>
          </a:p>
        </p:txBody>
      </p:sp>
    </p:spTree>
    <p:extLst>
      <p:ext uri="{BB962C8B-B14F-4D97-AF65-F5344CB8AC3E}">
        <p14:creationId xmlns:p14="http://schemas.microsoft.com/office/powerpoint/2010/main" val="556637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SGA 1973, s.13(1)</a:t>
            </a:r>
          </a:p>
        </p:txBody>
      </p:sp>
      <p:sp>
        <p:nvSpPr>
          <p:cNvPr id="3" name="Content Placeholder 2"/>
          <p:cNvSpPr>
            <a:spLocks noGrp="1"/>
          </p:cNvSpPr>
          <p:nvPr>
            <p:ph idx="1"/>
          </p:nvPr>
        </p:nvSpPr>
        <p:spPr/>
        <p:txBody>
          <a:bodyPr>
            <a:normAutofit fontScale="85000" lnSpcReduction="20000"/>
          </a:bodyPr>
          <a:lstStyle/>
          <a:p>
            <a:pPr>
              <a:lnSpc>
                <a:spcPct val="120000"/>
              </a:lnSpc>
            </a:pPr>
            <a:r>
              <a:rPr lang="en-GB" dirty="0"/>
              <a:t>‘Where there is a contract for the sale of goods by description… </a:t>
            </a:r>
          </a:p>
          <a:p>
            <a:pPr>
              <a:lnSpc>
                <a:spcPct val="120000"/>
              </a:lnSpc>
            </a:pPr>
            <a:r>
              <a:rPr lang="en-GB" dirty="0"/>
              <a:t>…. there is an implied term that the goods will correspond with the description’</a:t>
            </a:r>
          </a:p>
          <a:p>
            <a:pPr>
              <a:lnSpc>
                <a:spcPct val="120000"/>
              </a:lnSpc>
            </a:pPr>
            <a:r>
              <a:rPr lang="en-GB" dirty="0"/>
              <a:t>SGA </a:t>
            </a:r>
            <a:r>
              <a:rPr lang="en-GB" b="1" dirty="0"/>
              <a:t>s.13(1) </a:t>
            </a:r>
            <a:r>
              <a:rPr lang="en-GB" dirty="0"/>
              <a:t>is a </a:t>
            </a:r>
            <a:r>
              <a:rPr lang="en-GB" u="sng" dirty="0"/>
              <a:t>condition</a:t>
            </a:r>
            <a:r>
              <a:rPr lang="en-GB" dirty="0"/>
              <a:t> (SGA </a:t>
            </a:r>
            <a:r>
              <a:rPr lang="en-GB" b="1" dirty="0"/>
              <a:t>s.13(1A</a:t>
            </a:r>
            <a:r>
              <a:rPr lang="en-GB" dirty="0"/>
              <a:t>)), but see</a:t>
            </a:r>
          </a:p>
          <a:p>
            <a:pPr lvl="1">
              <a:lnSpc>
                <a:spcPct val="120000"/>
              </a:lnSpc>
            </a:pPr>
            <a:r>
              <a:rPr lang="en-GB" dirty="0"/>
              <a:t>SGA </a:t>
            </a:r>
            <a:r>
              <a:rPr lang="en-GB" b="1" dirty="0"/>
              <a:t>s.11(2) </a:t>
            </a:r>
          </a:p>
          <a:p>
            <a:pPr lvl="1">
              <a:lnSpc>
                <a:spcPct val="120000"/>
              </a:lnSpc>
            </a:pPr>
            <a:r>
              <a:rPr lang="en-GB" dirty="0"/>
              <a:t>SGA </a:t>
            </a:r>
            <a:r>
              <a:rPr lang="en-GB" b="1" dirty="0"/>
              <a:t>s.11(4) </a:t>
            </a:r>
          </a:p>
          <a:p>
            <a:pPr lvl="1">
              <a:lnSpc>
                <a:spcPct val="120000"/>
              </a:lnSpc>
            </a:pPr>
            <a:r>
              <a:rPr lang="en-GB" dirty="0"/>
              <a:t>SGA </a:t>
            </a:r>
            <a:r>
              <a:rPr lang="en-GB" b="1" dirty="0"/>
              <a:t>s.15A</a:t>
            </a:r>
            <a:r>
              <a:rPr lang="en-GB" dirty="0"/>
              <a:t>: in relation to non-consumer sales, breach of s. 13 to be treated as breach of warranty, IF ‘breach is so slight that it would be unreasonable for [B] to reject them’</a:t>
            </a:r>
          </a:p>
        </p:txBody>
      </p:sp>
    </p:spTree>
    <p:extLst>
      <p:ext uri="{BB962C8B-B14F-4D97-AF65-F5344CB8AC3E}">
        <p14:creationId xmlns:p14="http://schemas.microsoft.com/office/powerpoint/2010/main" val="334486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p>
        </p:txBody>
      </p:sp>
      <p:sp>
        <p:nvSpPr>
          <p:cNvPr id="6" name="Rectangle 5"/>
          <p:cNvSpPr/>
          <p:nvPr/>
        </p:nvSpPr>
        <p:spPr>
          <a:xfrm>
            <a:off x="1187624" y="1844824"/>
            <a:ext cx="6768752" cy="3168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a:p>
            <a:pPr algn="ctr"/>
            <a:r>
              <a:rPr lang="en-GB" sz="2400" dirty="0"/>
              <a:t>Advertisement (terms incorporated fully into resulting contract):</a:t>
            </a:r>
          </a:p>
          <a:p>
            <a:pPr algn="ctr"/>
            <a:endParaRPr lang="en-GB" dirty="0"/>
          </a:p>
          <a:p>
            <a:pPr algn="ctr"/>
            <a:r>
              <a:rPr lang="en-GB" sz="2400" dirty="0"/>
              <a:t>“For sale. 2007 Honda Civic automatic, only one owner, 10,000 miles, headrests, radio, excellent condition”</a:t>
            </a:r>
          </a:p>
          <a:p>
            <a:pPr algn="ctr"/>
            <a:endParaRPr lang="en-GB" sz="2400" dirty="0"/>
          </a:p>
          <a:p>
            <a:pPr algn="ctr"/>
            <a:r>
              <a:rPr lang="en-GB" sz="1600" dirty="0"/>
              <a:t>(Goode, Commercial Law)</a:t>
            </a:r>
          </a:p>
          <a:p>
            <a:pPr algn="ctr"/>
            <a:endParaRPr lang="en-GB" dirty="0"/>
          </a:p>
          <a:p>
            <a:pPr algn="ctr"/>
            <a:endParaRPr lang="en-GB" dirty="0"/>
          </a:p>
        </p:txBody>
      </p:sp>
    </p:spTree>
    <p:extLst>
      <p:ext uri="{BB962C8B-B14F-4D97-AF65-F5344CB8AC3E}">
        <p14:creationId xmlns:p14="http://schemas.microsoft.com/office/powerpoint/2010/main" val="4225658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Sale by description - meaning</a:t>
            </a:r>
          </a:p>
        </p:txBody>
      </p:sp>
      <p:sp>
        <p:nvSpPr>
          <p:cNvPr id="3" name="Content Placeholder 2"/>
          <p:cNvSpPr>
            <a:spLocks noGrp="1"/>
          </p:cNvSpPr>
          <p:nvPr>
            <p:ph idx="1"/>
          </p:nvPr>
        </p:nvSpPr>
        <p:spPr/>
        <p:txBody>
          <a:bodyPr>
            <a:normAutofit fontScale="85000" lnSpcReduction="10000"/>
          </a:bodyPr>
          <a:lstStyle/>
          <a:p>
            <a:pPr>
              <a:lnSpc>
                <a:spcPct val="110000"/>
              </a:lnSpc>
            </a:pPr>
            <a:r>
              <a:rPr lang="en-GB" sz="2600" dirty="0"/>
              <a:t>Meaning of ‘sale by description’</a:t>
            </a:r>
          </a:p>
          <a:p>
            <a:pPr lvl="1">
              <a:lnSpc>
                <a:spcPct val="110000"/>
              </a:lnSpc>
            </a:pPr>
            <a:r>
              <a:rPr lang="en-GB" sz="2600" dirty="0"/>
              <a:t>Sale of future or unascertained goods </a:t>
            </a:r>
          </a:p>
          <a:p>
            <a:pPr lvl="2">
              <a:lnSpc>
                <a:spcPct val="110000"/>
              </a:lnSpc>
            </a:pPr>
            <a:r>
              <a:rPr lang="en-GB" sz="2600" dirty="0"/>
              <a:t>Are sold by description, as B will need to rely on description</a:t>
            </a:r>
          </a:p>
          <a:p>
            <a:pPr lvl="1">
              <a:lnSpc>
                <a:spcPct val="110000"/>
              </a:lnSpc>
            </a:pPr>
            <a:r>
              <a:rPr lang="en-GB" sz="2600" dirty="0"/>
              <a:t>What about specific goods?</a:t>
            </a:r>
          </a:p>
          <a:p>
            <a:pPr lvl="2">
              <a:lnSpc>
                <a:spcPct val="110000"/>
              </a:lnSpc>
            </a:pPr>
            <a:r>
              <a:rPr lang="en-GB" sz="2600" b="1" i="1" dirty="0"/>
              <a:t>Grant </a:t>
            </a:r>
            <a:r>
              <a:rPr lang="en-GB" sz="2600" b="1" dirty="0"/>
              <a:t>v</a:t>
            </a:r>
            <a:r>
              <a:rPr lang="en-GB" sz="2600" b="1" i="1" dirty="0"/>
              <a:t> Australian Knitting Mills </a:t>
            </a:r>
          </a:p>
          <a:p>
            <a:pPr marL="914400" lvl="2" indent="0">
              <a:lnSpc>
                <a:spcPct val="110000"/>
              </a:lnSpc>
              <a:buNone/>
            </a:pPr>
            <a:r>
              <a:rPr lang="en-US" sz="2600" dirty="0"/>
              <a:t>‘It may also be pointed out that there is a sale by description even though the buyer is buying something </a:t>
            </a:r>
            <a:r>
              <a:rPr lang="en-US" sz="2600" i="1" dirty="0"/>
              <a:t>displayed before him on the counter</a:t>
            </a:r>
            <a:r>
              <a:rPr lang="en-US" sz="2600" dirty="0"/>
              <a:t>: a </a:t>
            </a:r>
            <a:r>
              <a:rPr lang="en-US" sz="2600" u="sng" dirty="0"/>
              <a:t>thing is sold by description, though it is specific, so long as it is sold not merely as the specific thing but as a thing corresponding to a description</a:t>
            </a:r>
            <a:r>
              <a:rPr lang="en-US" sz="2600" dirty="0"/>
              <a:t>, e.g., woolen under-garments, a hot-water bottle…’</a:t>
            </a:r>
            <a:endParaRPr lang="en-GB" dirty="0"/>
          </a:p>
          <a:p>
            <a:pPr marL="0" indent="0">
              <a:buNone/>
            </a:pPr>
            <a:endParaRPr lang="en-GB" dirty="0"/>
          </a:p>
        </p:txBody>
      </p:sp>
    </p:spTree>
    <p:extLst>
      <p:ext uri="{BB962C8B-B14F-4D97-AF65-F5344CB8AC3E}">
        <p14:creationId xmlns:p14="http://schemas.microsoft.com/office/powerpoint/2010/main" val="3654367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Sale by description – meaning (II)</a:t>
            </a:r>
          </a:p>
        </p:txBody>
      </p:sp>
      <p:sp>
        <p:nvSpPr>
          <p:cNvPr id="3" name="Content Placeholder 2"/>
          <p:cNvSpPr>
            <a:spLocks noGrp="1"/>
          </p:cNvSpPr>
          <p:nvPr>
            <p:ph idx="1"/>
          </p:nvPr>
        </p:nvSpPr>
        <p:spPr/>
        <p:txBody>
          <a:bodyPr/>
          <a:lstStyle/>
          <a:p>
            <a:r>
              <a:rPr lang="en-GB" sz="2600" dirty="0"/>
              <a:t>SGA 1979 </a:t>
            </a:r>
            <a:r>
              <a:rPr lang="en-GB" sz="2600" b="1" dirty="0"/>
              <a:t>s.13(3)</a:t>
            </a:r>
            <a:r>
              <a:rPr lang="en-GB" sz="2600" dirty="0"/>
              <a:t>:</a:t>
            </a:r>
          </a:p>
          <a:p>
            <a:pPr lvl="1"/>
            <a:r>
              <a:rPr lang="en-GB" sz="2600" dirty="0"/>
              <a:t>“A sale of goods is not prevented from being a sale by description by reason only that, being exposed for sale or hire, they are selected by the buyer”</a:t>
            </a:r>
          </a:p>
          <a:p>
            <a:pPr lvl="2"/>
            <a:r>
              <a:rPr lang="en-GB" sz="2600" dirty="0"/>
              <a:t>Goods exposed and sold in self-service stores may be goods sold by description </a:t>
            </a:r>
          </a:p>
          <a:p>
            <a:pPr lvl="2"/>
            <a:r>
              <a:rPr lang="en-GB" sz="2600" b="1" i="1" dirty="0" err="1"/>
              <a:t>Scancom</a:t>
            </a:r>
            <a:r>
              <a:rPr lang="en-GB" sz="2600" b="1" i="1" dirty="0"/>
              <a:t> International A/S </a:t>
            </a:r>
            <a:r>
              <a:rPr lang="en-GB" sz="2600" b="1" dirty="0"/>
              <a:t>v</a:t>
            </a:r>
            <a:r>
              <a:rPr lang="en-GB" sz="2600" b="1" i="1" dirty="0"/>
              <a:t> RWH Enterprises Ltd</a:t>
            </a:r>
            <a:r>
              <a:rPr lang="en-GB" sz="2600" b="1" dirty="0"/>
              <a:t>  </a:t>
            </a:r>
            <a:r>
              <a:rPr lang="en-GB" sz="2600" dirty="0"/>
              <a:t>(goods selected by reference to examples shown at an exhibition; not a sale by sample: sale by description)</a:t>
            </a:r>
          </a:p>
          <a:p>
            <a:endParaRPr lang="en-GB" dirty="0"/>
          </a:p>
        </p:txBody>
      </p:sp>
    </p:spTree>
    <p:extLst>
      <p:ext uri="{BB962C8B-B14F-4D97-AF65-F5344CB8AC3E}">
        <p14:creationId xmlns:p14="http://schemas.microsoft.com/office/powerpoint/2010/main" val="383687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Sale by Description</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19250" y="1648619"/>
            <a:ext cx="5905500" cy="4429125"/>
          </a:xfrm>
        </p:spPr>
      </p:pic>
    </p:spTree>
    <p:extLst>
      <p:ext uri="{BB962C8B-B14F-4D97-AF65-F5344CB8AC3E}">
        <p14:creationId xmlns:p14="http://schemas.microsoft.com/office/powerpoint/2010/main" val="2290435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Intention of the parties that description be a term of the contract</a:t>
            </a:r>
          </a:p>
        </p:txBody>
      </p:sp>
      <p:sp>
        <p:nvSpPr>
          <p:cNvPr id="3" name="Content Placeholder 2"/>
          <p:cNvSpPr>
            <a:spLocks noGrp="1"/>
          </p:cNvSpPr>
          <p:nvPr>
            <p:ph idx="1"/>
          </p:nvPr>
        </p:nvSpPr>
        <p:spPr/>
        <p:txBody>
          <a:bodyPr>
            <a:noAutofit/>
          </a:bodyPr>
          <a:lstStyle/>
          <a:p>
            <a:r>
              <a:rPr lang="en-GB" sz="2800" dirty="0"/>
              <a:t>Sale not ‘by description’ unless parties intended the descriptive words to be a term of the contract</a:t>
            </a:r>
          </a:p>
          <a:p>
            <a:pPr lvl="1"/>
            <a:r>
              <a:rPr lang="en-GB" b="1" i="1" dirty="0"/>
              <a:t>Drake </a:t>
            </a:r>
            <a:r>
              <a:rPr lang="en-GB" b="1" dirty="0"/>
              <a:t>v</a:t>
            </a:r>
            <a:r>
              <a:rPr lang="en-GB" b="1" i="1" dirty="0"/>
              <a:t> Agnew</a:t>
            </a:r>
            <a:r>
              <a:rPr lang="en-GB" i="1" dirty="0"/>
              <a:t>:</a:t>
            </a:r>
            <a:r>
              <a:rPr lang="en-GB" dirty="0"/>
              <a:t> art dealer buying painting for art collector from specialist seller; painting referred to as a painting by ‘Van Dyck; specialist seller’s refs. to ‘Van </a:t>
            </a:r>
            <a:r>
              <a:rPr lang="en-GB" dirty="0" err="1"/>
              <a:t>Dyck</a:t>
            </a:r>
            <a:r>
              <a:rPr lang="en-GB" dirty="0"/>
              <a:t>’ clearly stated to be only expressions of opinion. </a:t>
            </a:r>
          </a:p>
          <a:p>
            <a:pPr lvl="1"/>
            <a:r>
              <a:rPr lang="en-GB" u="sng" dirty="0"/>
              <a:t>Held: </a:t>
            </a:r>
            <a:r>
              <a:rPr lang="en-GB" dirty="0"/>
              <a:t>refs are mere expressions of opinion; sale cannot be one by description unless parties intended description to be a term of the contract  </a:t>
            </a:r>
          </a:p>
        </p:txBody>
      </p:sp>
    </p:spTree>
    <p:extLst>
      <p:ext uri="{BB962C8B-B14F-4D97-AF65-F5344CB8AC3E}">
        <p14:creationId xmlns:p14="http://schemas.microsoft.com/office/powerpoint/2010/main" val="288497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Descriptive words</a:t>
            </a:r>
          </a:p>
        </p:txBody>
      </p:sp>
      <p:sp>
        <p:nvSpPr>
          <p:cNvPr id="3" name="Content Placeholder 2"/>
          <p:cNvSpPr>
            <a:spLocks noGrp="1"/>
          </p:cNvSpPr>
          <p:nvPr>
            <p:ph idx="1"/>
          </p:nvPr>
        </p:nvSpPr>
        <p:spPr/>
        <p:txBody>
          <a:bodyPr>
            <a:normAutofit/>
          </a:bodyPr>
          <a:lstStyle/>
          <a:p>
            <a:r>
              <a:rPr lang="en-GB" sz="2600" dirty="0"/>
              <a:t>Differentiate words that relate to the goods’ identity and descriptive words that relate to the goods’ attributes (e.g. quality, fitness for purpose)</a:t>
            </a:r>
          </a:p>
          <a:p>
            <a:pPr lvl="1"/>
            <a:r>
              <a:rPr lang="en-GB" sz="2600" dirty="0"/>
              <a:t>See: </a:t>
            </a:r>
            <a:r>
              <a:rPr lang="en-GB" sz="2600" b="1" i="1" dirty="0"/>
              <a:t>Ashington Piggeries </a:t>
            </a:r>
            <a:r>
              <a:rPr lang="en-GB" sz="2600" b="1" dirty="0"/>
              <a:t>v</a:t>
            </a:r>
            <a:r>
              <a:rPr lang="en-GB" sz="2600" b="1" i="1" dirty="0"/>
              <a:t> Hill</a:t>
            </a:r>
          </a:p>
          <a:p>
            <a:pPr lvl="2"/>
            <a:r>
              <a:rPr lang="en-GB" sz="2600" dirty="0"/>
              <a:t>Sale of ‘Norwegian herring meal fair average quality of the season’, herring contaminated, fatal to mink</a:t>
            </a:r>
          </a:p>
          <a:p>
            <a:pPr lvl="2"/>
            <a:r>
              <a:rPr lang="en-GB" sz="2600" dirty="0"/>
              <a:t>No breach of s.13 (but s.14)</a:t>
            </a:r>
          </a:p>
          <a:p>
            <a:pPr lvl="2"/>
            <a:r>
              <a:rPr lang="en-GB" sz="2600" dirty="0"/>
              <a:t>‘Fair average quality of the season’ = attribute (quality)</a:t>
            </a:r>
          </a:p>
        </p:txBody>
      </p:sp>
    </p:spTree>
    <p:extLst>
      <p:ext uri="{BB962C8B-B14F-4D97-AF65-F5344CB8AC3E}">
        <p14:creationId xmlns:p14="http://schemas.microsoft.com/office/powerpoint/2010/main" val="388362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Descriptive words (II)</a:t>
            </a:r>
          </a:p>
        </p:txBody>
      </p:sp>
      <p:sp>
        <p:nvSpPr>
          <p:cNvPr id="3" name="Content Placeholder 2"/>
          <p:cNvSpPr>
            <a:spLocks noGrp="1"/>
          </p:cNvSpPr>
          <p:nvPr>
            <p:ph idx="1"/>
          </p:nvPr>
        </p:nvSpPr>
        <p:spPr/>
        <p:txBody>
          <a:bodyPr>
            <a:normAutofit fontScale="92500" lnSpcReduction="10000"/>
          </a:bodyPr>
          <a:lstStyle/>
          <a:p>
            <a:pPr lvl="0">
              <a:lnSpc>
                <a:spcPct val="120000"/>
              </a:lnSpc>
            </a:pPr>
            <a:r>
              <a:rPr lang="en-GB" sz="2000" dirty="0"/>
              <a:t>Courts in past were too willing to recognise words of description as falling within s. 13 </a:t>
            </a:r>
          </a:p>
          <a:p>
            <a:pPr lvl="1">
              <a:lnSpc>
                <a:spcPct val="120000"/>
              </a:lnSpc>
            </a:pPr>
            <a:r>
              <a:rPr lang="en-GB" sz="2000" b="1" i="1" dirty="0"/>
              <a:t>Re Moore and Co Ltd and </a:t>
            </a:r>
            <a:r>
              <a:rPr lang="en-GB" sz="2000" b="1" i="1" dirty="0" err="1"/>
              <a:t>Landauer</a:t>
            </a:r>
            <a:r>
              <a:rPr lang="en-GB" sz="2000" b="1" i="1" dirty="0"/>
              <a:t> </a:t>
            </a:r>
            <a:r>
              <a:rPr lang="en-GB" sz="2000" dirty="0"/>
              <a:t>(sale of tinned fruit; delivered in packs of 24; supposed to be packed in packs of 30 according to statement in contract. Held: sale is by description; B entitled to reject the full consignment)</a:t>
            </a:r>
          </a:p>
          <a:p>
            <a:pPr lvl="0">
              <a:lnSpc>
                <a:spcPct val="120000"/>
              </a:lnSpc>
            </a:pPr>
            <a:r>
              <a:rPr lang="en-GB" sz="2000" u="sng" dirty="0"/>
              <a:t>BUT</a:t>
            </a:r>
            <a:r>
              <a:rPr lang="en-GB" sz="2000" dirty="0"/>
              <a:t> see </a:t>
            </a:r>
            <a:r>
              <a:rPr lang="en-GB" sz="2000" b="1" i="1" dirty="0"/>
              <a:t>Reardon Smith Line </a:t>
            </a:r>
            <a:r>
              <a:rPr lang="en-GB" sz="2000" b="1" dirty="0"/>
              <a:t>v</a:t>
            </a:r>
            <a:r>
              <a:rPr lang="en-GB" sz="2000" b="1" i="1" dirty="0"/>
              <a:t> </a:t>
            </a:r>
            <a:r>
              <a:rPr lang="en-GB" sz="2000" b="1" i="1" dirty="0" err="1"/>
              <a:t>Yngvr</a:t>
            </a:r>
            <a:r>
              <a:rPr lang="en-GB" sz="2000" b="1" i="1" dirty="0"/>
              <a:t> Hansen-</a:t>
            </a:r>
            <a:r>
              <a:rPr lang="en-GB" sz="2000" b="1" i="1" dirty="0" err="1"/>
              <a:t>Tangen</a:t>
            </a:r>
            <a:r>
              <a:rPr lang="en-GB" sz="2000" b="1" i="1" dirty="0"/>
              <a:t> </a:t>
            </a:r>
            <a:r>
              <a:rPr lang="en-GB" sz="2000" dirty="0"/>
              <a:t>(ship built in different yard and given different hull number as originally stated)  </a:t>
            </a:r>
          </a:p>
          <a:p>
            <a:pPr lvl="1">
              <a:lnSpc>
                <a:spcPct val="120000"/>
              </a:lnSpc>
            </a:pPr>
            <a:r>
              <a:rPr lang="en-GB" sz="2000" i="1" dirty="0"/>
              <a:t>Re Moore</a:t>
            </a:r>
            <a:r>
              <a:rPr lang="en-GB" sz="2000" dirty="0"/>
              <a:t> is ‘excessively technical’ </a:t>
            </a:r>
          </a:p>
          <a:p>
            <a:pPr lvl="1">
              <a:lnSpc>
                <a:spcPct val="120000"/>
              </a:lnSpc>
            </a:pPr>
            <a:r>
              <a:rPr lang="en-GB" sz="2000" dirty="0"/>
              <a:t>Particular item in description must be a ‘substantial ingredient of the identity of the thing sold’</a:t>
            </a:r>
            <a:r>
              <a:rPr lang="en-GB" sz="2000" i="1" dirty="0"/>
              <a:t> </a:t>
            </a:r>
            <a:endParaRPr lang="en-GB" sz="2000" dirty="0"/>
          </a:p>
          <a:p>
            <a:pPr lvl="1">
              <a:lnSpc>
                <a:spcPct val="120000"/>
              </a:lnSpc>
            </a:pPr>
            <a:r>
              <a:rPr lang="en-GB" sz="2000" dirty="0"/>
              <a:t>Hull and yard number no special significance; merely meant to identify the vessel : </a:t>
            </a:r>
            <a:r>
              <a:rPr lang="en-GB" sz="2000" u="sng" dirty="0"/>
              <a:t>are not words of description for purpose of s. 13</a:t>
            </a:r>
          </a:p>
        </p:txBody>
      </p:sp>
    </p:spTree>
    <p:extLst>
      <p:ext uri="{BB962C8B-B14F-4D97-AF65-F5344CB8AC3E}">
        <p14:creationId xmlns:p14="http://schemas.microsoft.com/office/powerpoint/2010/main" val="73855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Description must be relied upon by B</a:t>
            </a:r>
          </a:p>
        </p:txBody>
      </p:sp>
      <p:sp>
        <p:nvSpPr>
          <p:cNvPr id="3" name="Content Placeholder 2"/>
          <p:cNvSpPr>
            <a:spLocks noGrp="1"/>
          </p:cNvSpPr>
          <p:nvPr>
            <p:ph idx="1"/>
          </p:nvPr>
        </p:nvSpPr>
        <p:spPr/>
        <p:txBody>
          <a:bodyPr>
            <a:normAutofit fontScale="92500"/>
          </a:bodyPr>
          <a:lstStyle/>
          <a:p>
            <a:r>
              <a:rPr lang="en-GB" dirty="0"/>
              <a:t>B’s reliance on the description must be within reasonable contemplation of the parties</a:t>
            </a:r>
          </a:p>
          <a:p>
            <a:pPr lvl="1"/>
            <a:r>
              <a:rPr lang="en-GB" b="1" i="1" dirty="0" err="1"/>
              <a:t>Harlingdon</a:t>
            </a:r>
            <a:r>
              <a:rPr lang="en-GB" b="1" i="1" dirty="0"/>
              <a:t> &amp; Leinster Enterprises Ltd </a:t>
            </a:r>
            <a:r>
              <a:rPr lang="en-GB" b="1" dirty="0"/>
              <a:t>v</a:t>
            </a:r>
            <a:r>
              <a:rPr lang="en-GB" b="1" i="1" dirty="0"/>
              <a:t> Christopher Hull Fine Art Ltd</a:t>
            </a:r>
            <a:r>
              <a:rPr lang="en-GB" b="1" dirty="0"/>
              <a:t> </a:t>
            </a:r>
            <a:r>
              <a:rPr lang="en-GB" dirty="0"/>
              <a:t>(sale of oil paintings; paintings described in the past as ‘by </a:t>
            </a:r>
            <a:r>
              <a:rPr lang="en-GB" dirty="0" err="1"/>
              <a:t>Munter</a:t>
            </a:r>
            <a:r>
              <a:rPr lang="en-GB" dirty="0"/>
              <a:t>’; S makes it clear that he is not an expert; B, art dealers specialising in German expressionists, buys; painting forgery)</a:t>
            </a:r>
          </a:p>
          <a:p>
            <a:pPr lvl="1"/>
            <a:r>
              <a:rPr lang="en-GB" u="sng" dirty="0"/>
              <a:t>Held: </a:t>
            </a:r>
            <a:r>
              <a:rPr lang="en-GB" dirty="0"/>
              <a:t>B has not relied on S’s description of painting as being ‘by </a:t>
            </a:r>
            <a:r>
              <a:rPr lang="en-GB" dirty="0" err="1"/>
              <a:t>Munter</a:t>
            </a:r>
            <a:r>
              <a:rPr lang="en-GB" dirty="0"/>
              <a:t>’ =&gt; no sale by description  </a:t>
            </a:r>
          </a:p>
          <a:p>
            <a:endParaRPr lang="en-GB" dirty="0"/>
          </a:p>
        </p:txBody>
      </p:sp>
    </p:spTree>
    <p:extLst>
      <p:ext uri="{BB962C8B-B14F-4D97-AF65-F5344CB8AC3E}">
        <p14:creationId xmlns:p14="http://schemas.microsoft.com/office/powerpoint/2010/main" val="117001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CRA 2015</a:t>
            </a:r>
          </a:p>
        </p:txBody>
      </p:sp>
      <p:sp>
        <p:nvSpPr>
          <p:cNvPr id="3" name="Content Placeholder 2"/>
          <p:cNvSpPr>
            <a:spLocks noGrp="1"/>
          </p:cNvSpPr>
          <p:nvPr>
            <p:ph idx="1"/>
          </p:nvPr>
        </p:nvSpPr>
        <p:spPr/>
        <p:txBody>
          <a:bodyPr>
            <a:normAutofit/>
          </a:bodyPr>
          <a:lstStyle/>
          <a:p>
            <a:r>
              <a:rPr lang="en-GB" sz="2200" dirty="0"/>
              <a:t>Separate provision on goods ‘to be as described’ (CRA 2015, </a:t>
            </a:r>
            <a:r>
              <a:rPr lang="en-GB" sz="2200" b="1" dirty="0"/>
              <a:t>s.11</a:t>
            </a:r>
            <a:r>
              <a:rPr lang="en-GB" sz="2200" dirty="0"/>
              <a:t>)</a:t>
            </a:r>
          </a:p>
          <a:p>
            <a:pPr lvl="1"/>
            <a:r>
              <a:rPr lang="en-GB" sz="2200" dirty="0"/>
              <a:t>Substantially the same, with some additions</a:t>
            </a:r>
          </a:p>
          <a:p>
            <a:r>
              <a:rPr lang="en-GB" sz="2200" dirty="0"/>
              <a:t>New provisions on digital content ‘to be as described’</a:t>
            </a:r>
          </a:p>
          <a:p>
            <a:pPr lvl="1"/>
            <a:r>
              <a:rPr lang="en-GB" sz="2200" dirty="0"/>
              <a:t>Digital content: data produced and supplied in digital form (</a:t>
            </a:r>
            <a:r>
              <a:rPr lang="en-GB" sz="2200" b="1" dirty="0"/>
              <a:t>s. 2(9)</a:t>
            </a:r>
            <a:r>
              <a:rPr lang="en-GB" sz="2200" dirty="0"/>
              <a:t>)</a:t>
            </a:r>
          </a:p>
          <a:p>
            <a:pPr lvl="1"/>
            <a:r>
              <a:rPr lang="en-GB" sz="2200" u="sng" dirty="0"/>
              <a:t>Contract to supply digital content</a:t>
            </a:r>
            <a:r>
              <a:rPr lang="en-GB" sz="2200" dirty="0"/>
              <a:t> to be treated as including a term that digital content will match description </a:t>
            </a:r>
            <a:r>
              <a:rPr lang="en-GB" sz="2200" b="1" dirty="0"/>
              <a:t>(s.36)</a:t>
            </a:r>
          </a:p>
          <a:p>
            <a:pPr lvl="2"/>
            <a:r>
              <a:rPr lang="en-GB" sz="2200" dirty="0"/>
              <a:t>If trial version before contract is made, digital content must match any description of it given, even if digital content is better than trial version</a:t>
            </a:r>
          </a:p>
          <a:p>
            <a:pPr lvl="2"/>
            <a:r>
              <a:rPr lang="en-GB" sz="2200" dirty="0"/>
              <a:t>Some terms treated as included (see Consumer Contracts Regulations 2013 (Statutory Instrument 2013 No. 3134).</a:t>
            </a:r>
          </a:p>
        </p:txBody>
      </p:sp>
    </p:spTree>
    <p:extLst>
      <p:ext uri="{BB962C8B-B14F-4D97-AF65-F5344CB8AC3E}">
        <p14:creationId xmlns:p14="http://schemas.microsoft.com/office/powerpoint/2010/main" val="247408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CRA2015 (II)</a:t>
            </a:r>
          </a:p>
        </p:txBody>
      </p:sp>
      <p:sp>
        <p:nvSpPr>
          <p:cNvPr id="3" name="Content Placeholder 2"/>
          <p:cNvSpPr>
            <a:spLocks noGrp="1"/>
          </p:cNvSpPr>
          <p:nvPr>
            <p:ph idx="1"/>
          </p:nvPr>
        </p:nvSpPr>
        <p:spPr/>
        <p:txBody>
          <a:bodyPr>
            <a:noAutofit/>
          </a:bodyPr>
          <a:lstStyle/>
          <a:p>
            <a:r>
              <a:rPr lang="en-GB" sz="1800" dirty="0"/>
              <a:t> </a:t>
            </a:r>
            <a:r>
              <a:rPr lang="en-GB" sz="1800" b="1" dirty="0"/>
              <a:t>s.39 </a:t>
            </a:r>
            <a:r>
              <a:rPr lang="en-GB" sz="1800" dirty="0"/>
              <a:t>covers case where digital content is </a:t>
            </a:r>
            <a:r>
              <a:rPr lang="en-GB" sz="1800" u="sng" dirty="0"/>
              <a:t>supplied by transmission</a:t>
            </a:r>
            <a:r>
              <a:rPr lang="en-GB" sz="1800" dirty="0"/>
              <a:t>:  </a:t>
            </a:r>
          </a:p>
          <a:p>
            <a:pPr lvl="1"/>
            <a:r>
              <a:rPr lang="en-GB" sz="1800" dirty="0"/>
              <a:t>e.g. downloading</a:t>
            </a:r>
          </a:p>
          <a:p>
            <a:pPr lvl="1"/>
            <a:r>
              <a:rPr lang="en-GB" sz="1800" dirty="0"/>
              <a:t>Digital content treated as ‘supplied’ when:</a:t>
            </a:r>
          </a:p>
          <a:p>
            <a:pPr lvl="2"/>
            <a:r>
              <a:rPr lang="en-GB" sz="1800" dirty="0"/>
              <a:t>content </a:t>
            </a:r>
            <a:r>
              <a:rPr lang="en-GB" sz="1800" u="sng" dirty="0"/>
              <a:t>reaches consumer’s device</a:t>
            </a:r>
            <a:r>
              <a:rPr lang="en-GB" sz="1800" dirty="0"/>
              <a:t>; or </a:t>
            </a:r>
          </a:p>
          <a:p>
            <a:pPr lvl="2"/>
            <a:r>
              <a:rPr lang="en-GB" sz="1800" dirty="0"/>
              <a:t>If earlier, when content </a:t>
            </a:r>
            <a:r>
              <a:rPr lang="en-GB" sz="1800" u="sng" dirty="0"/>
              <a:t>reaches another trader chosen by consumer </a:t>
            </a:r>
            <a:r>
              <a:rPr lang="en-GB" sz="1800" dirty="0"/>
              <a:t>to supply a service by which digital content reaches device </a:t>
            </a:r>
          </a:p>
          <a:p>
            <a:pPr lvl="2"/>
            <a:r>
              <a:rPr lang="en-GB" sz="1800" dirty="0"/>
              <a:t>CRA </a:t>
            </a:r>
            <a:r>
              <a:rPr lang="en-GB" sz="1800" b="1" dirty="0"/>
              <a:t>s.36 </a:t>
            </a:r>
            <a:r>
              <a:rPr lang="en-GB" sz="1800" dirty="0"/>
              <a:t>applies in such a case</a:t>
            </a:r>
          </a:p>
          <a:p>
            <a:pPr lvl="1"/>
            <a:r>
              <a:rPr lang="en-GB" sz="1800" dirty="0"/>
              <a:t>s.39 also covers digital content transmitted to consumer </a:t>
            </a:r>
            <a:r>
              <a:rPr lang="en-GB" sz="1800" u="sng" dirty="0"/>
              <a:t>under ‘processing facility’ </a:t>
            </a:r>
            <a:r>
              <a:rPr lang="en-GB" sz="1800" dirty="0"/>
              <a:t>(e.g. cloud music streaming facility): =&gt; s. 36 applies</a:t>
            </a:r>
          </a:p>
          <a:p>
            <a:r>
              <a:rPr lang="en-GB" sz="1800" b="1" dirty="0"/>
              <a:t>s.40 </a:t>
            </a:r>
            <a:r>
              <a:rPr lang="en-GB" sz="1800" dirty="0"/>
              <a:t>covers cases where digital content is </a:t>
            </a:r>
            <a:r>
              <a:rPr lang="en-GB" sz="1800" u="sng" dirty="0"/>
              <a:t>modified/updated</a:t>
            </a:r>
            <a:r>
              <a:rPr lang="en-GB" sz="1800" dirty="0"/>
              <a:t> after initial provision</a:t>
            </a:r>
          </a:p>
          <a:p>
            <a:pPr lvl="1"/>
            <a:r>
              <a:rPr lang="en-GB" sz="1800" dirty="0"/>
              <a:t>s.36 applies to modified digital content as it applies in relation to digital content supplied under contract</a:t>
            </a:r>
          </a:p>
          <a:p>
            <a:pPr lvl="1"/>
            <a:r>
              <a:rPr lang="en-GB" sz="1800" dirty="0"/>
              <a:t>Adding/improving features is permissible if digital content continues to match description</a:t>
            </a:r>
          </a:p>
        </p:txBody>
      </p:sp>
    </p:spTree>
    <p:extLst>
      <p:ext uri="{BB962C8B-B14F-4D97-AF65-F5344CB8AC3E}">
        <p14:creationId xmlns:p14="http://schemas.microsoft.com/office/powerpoint/2010/main" val="4270633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Cf. sale by description and sale by model</a:t>
            </a:r>
          </a:p>
        </p:txBody>
      </p:sp>
      <p:sp>
        <p:nvSpPr>
          <p:cNvPr id="3" name="Content Placeholder 2"/>
          <p:cNvSpPr>
            <a:spLocks noGrp="1"/>
          </p:cNvSpPr>
          <p:nvPr>
            <p:ph idx="1"/>
          </p:nvPr>
        </p:nvSpPr>
        <p:spPr/>
        <p:txBody>
          <a:bodyPr/>
          <a:lstStyle/>
          <a:p>
            <a:r>
              <a:rPr lang="en-GB" dirty="0"/>
              <a:t>CRA 2015 </a:t>
            </a:r>
            <a:r>
              <a:rPr lang="en-GB" b="1" dirty="0"/>
              <a:t>s. 14 </a:t>
            </a:r>
            <a:r>
              <a:rPr lang="en-GB" dirty="0"/>
              <a:t>applies to contracts to supply goods </a:t>
            </a:r>
            <a:r>
              <a:rPr lang="en-GB" u="sng" dirty="0"/>
              <a:t>by reference to a model.</a:t>
            </a:r>
          </a:p>
          <a:p>
            <a:r>
              <a:rPr lang="en-GB" dirty="0"/>
              <a:t>Contract to be treated as including a term that goods will match model ‘except to the extent that any differences between the model and the goods are brought to the consumer’s attention before the consumer enters into the contract.’</a:t>
            </a:r>
          </a:p>
        </p:txBody>
      </p:sp>
    </p:spTree>
    <p:extLst>
      <p:ext uri="{BB962C8B-B14F-4D97-AF65-F5344CB8AC3E}">
        <p14:creationId xmlns:p14="http://schemas.microsoft.com/office/powerpoint/2010/main" val="1774202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11" ma:contentTypeDescription="Create a new document." ma:contentTypeScope="" ma:versionID="83699b3271963520812641aaaa6ca2c4">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d7bdb9edf9b87b139097dc501a0a3627"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element ref="ns3:_activity"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cc0b812-7f7d-4aca-acca-000f424f7da7" xsi:nil="true"/>
  </documentManagement>
</p:properties>
</file>

<file path=customXml/itemProps1.xml><?xml version="1.0" encoding="utf-8"?>
<ds:datastoreItem xmlns:ds="http://schemas.openxmlformats.org/officeDocument/2006/customXml" ds:itemID="{7E1E9EDF-B1C3-42A8-8359-4C9AAFCC9D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AEED62-08F1-45F6-8DB1-8F07D96B3B48}">
  <ds:schemaRefs>
    <ds:schemaRef ds:uri="http://schemas.microsoft.com/sharepoint/v3/contenttype/forms"/>
  </ds:schemaRefs>
</ds:datastoreItem>
</file>

<file path=customXml/itemProps3.xml><?xml version="1.0" encoding="utf-8"?>
<ds:datastoreItem xmlns:ds="http://schemas.openxmlformats.org/officeDocument/2006/customXml" ds:itemID="{215A43AF-DFB6-4DEE-A017-45F81B6B7198}">
  <ds:schemaRefs>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http://purl.org/dc/terms/"/>
    <ds:schemaRef ds:uri="3cc0b812-7f7d-4aca-acca-000f424f7da7"/>
    <ds:schemaRef ds:uri="http://www.w3.org/XML/1998/namespace"/>
    <ds:schemaRef ds:uri="http://schemas.microsoft.com/office/infopath/2007/PartnerControls"/>
    <ds:schemaRef ds:uri="6bff29df-e80b-4a73-953f-e802c634e429"/>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3961</TotalTime>
  <Words>1137</Words>
  <Application>Microsoft Office PowerPoint</Application>
  <PresentationFormat>On-screen Show (4:3)</PresentationFormat>
  <Paragraphs>87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Terms implied by SGA 1979, s.13 &amp; CRA 2015</vt:lpstr>
      <vt:lpstr>SGA 1973, s.13(1)</vt:lpstr>
      <vt:lpstr>Example</vt:lpstr>
      <vt:lpstr>Sale by description - meaning</vt:lpstr>
      <vt:lpstr>Sale by description – meaning (II)</vt:lpstr>
      <vt:lpstr>Sale by Description</vt:lpstr>
      <vt:lpstr>Intention of the parties that description be a term of the contract</vt:lpstr>
      <vt:lpstr>Descriptive words</vt:lpstr>
      <vt:lpstr>Descriptive words (II)</vt:lpstr>
      <vt:lpstr>Description must be relied upon by B</vt:lpstr>
      <vt:lpstr>CRA 2015</vt:lpstr>
      <vt:lpstr>CRA2015 (II)</vt:lpstr>
      <vt:lpstr>Cf. sale by description and sale by model</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Terms implied by SGA 1979, s. 13</dc:title>
  <dc:creator>SCHAMMO</dc:creator>
  <cp:lastModifiedBy>AVERY, RACHEL J.</cp:lastModifiedBy>
  <cp:revision>182</cp:revision>
  <cp:lastPrinted>2016-02-18T08:29:20Z</cp:lastPrinted>
  <dcterms:created xsi:type="dcterms:W3CDTF">2013-01-31T14:00:50Z</dcterms:created>
  <dcterms:modified xsi:type="dcterms:W3CDTF">2025-01-07T09:25:30Z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