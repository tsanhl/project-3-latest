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73" r:id="rId7"/>
    <p:sldId id="258" r:id="rId8"/>
    <p:sldId id="259" r:id="rId9"/>
    <p:sldId id="261" r:id="rId10"/>
    <p:sldId id="272" r:id="rId11"/>
    <p:sldId id="262" r:id="rId12"/>
    <p:sldId id="263" r:id="rId13"/>
    <p:sldId id="267" r:id="rId14"/>
    <p:sldId id="269" r:id="rId15"/>
    <p:sldId id="268" r:id="rId16"/>
    <p:sldId id="271" r:id="rId17"/>
    <p:sldId id="274" r:id="rId18"/>
    <p:sldId id="275" r:id="rId19"/>
  </p:sldIdLst>
  <p:sldSz cx="9144000" cy="6858000" type="screen4x3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597" autoAdjust="0"/>
    <p:restoredTop sz="86381" autoAdjust="0"/>
  </p:normalViewPr>
  <p:slideViewPr>
    <p:cSldViewPr snapToGrid="0" snapToObjects="1">
      <p:cViewPr varScale="1">
        <p:scale>
          <a:sx n="54" d="100"/>
          <a:sy n="54" d="100"/>
        </p:scale>
        <p:origin x="93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8FD97-06AC-F44F-A104-337E2736E714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877B5-E0F8-724E-BBFE-9EF63316CC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03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05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17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84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46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2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u="non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54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54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29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18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50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25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u="non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GB" sz="120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50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50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b="1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79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2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403" y="2555390"/>
            <a:ext cx="7772400" cy="147002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Garamond" charset="0"/>
                <a:ea typeface="Garamond" charset="0"/>
                <a:cs typeface="Garamond" charset="0"/>
              </a:rPr>
              <a:t>Nemo </a:t>
            </a:r>
            <a:r>
              <a:rPr lang="en-US" sz="3600" b="1" dirty="0" err="1">
                <a:solidFill>
                  <a:srgbClr val="002060"/>
                </a:solidFill>
                <a:latin typeface="Garamond" charset="0"/>
                <a:ea typeface="Garamond" charset="0"/>
                <a:cs typeface="Garamond" charset="0"/>
              </a:rPr>
              <a:t>dat</a:t>
            </a:r>
            <a:r>
              <a:rPr lang="en-US" sz="3600" b="1" dirty="0">
                <a:solidFill>
                  <a:srgbClr val="002060"/>
                </a:solidFill>
                <a:latin typeface="Garamond" charset="0"/>
                <a:ea typeface="Garamond" charset="0"/>
                <a:cs typeface="Garamond" charset="0"/>
              </a:rPr>
              <a:t> quod non </a:t>
            </a:r>
            <a:r>
              <a:rPr lang="en-US" sz="3600" b="1" dirty="0" err="1">
                <a:solidFill>
                  <a:srgbClr val="002060"/>
                </a:solidFill>
                <a:latin typeface="Garamond" charset="0"/>
                <a:ea typeface="Garamond" charset="0"/>
                <a:cs typeface="Garamond" charset="0"/>
              </a:rPr>
              <a:t>habet</a:t>
            </a:r>
            <a:r>
              <a:rPr lang="en-US" sz="3600" b="1" dirty="0">
                <a:solidFill>
                  <a:srgbClr val="002060"/>
                </a:solidFill>
                <a:latin typeface="Garamond" charset="0"/>
                <a:ea typeface="Garamond" charset="0"/>
                <a:cs typeface="Garamond" charset="0"/>
              </a:rPr>
              <a:t> and its exceptions</a:t>
            </a: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Rachel Avery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371600" y="942005"/>
            <a:ext cx="6400800" cy="147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  <a:latin typeface="Garamond" panose="02020404030301010803" pitchFamily="18" charset="0"/>
              </a:rPr>
              <a:t>Commercial Law</a:t>
            </a:r>
          </a:p>
          <a:p>
            <a:r>
              <a:rPr lang="en-US" sz="4000" b="1">
                <a:solidFill>
                  <a:schemeClr val="tx1"/>
                </a:solidFill>
                <a:latin typeface="Garamond" panose="02020404030301010803" pitchFamily="18" charset="0"/>
              </a:rPr>
              <a:t>Lecture </a:t>
            </a:r>
            <a:r>
              <a:rPr lang="en-US" sz="4000" b="1" dirty="0">
                <a:solidFill>
                  <a:schemeClr val="tx1"/>
                </a:solidFill>
                <a:latin typeface="Garamond" panose="02020404030301010803" pitchFamily="18" charset="0"/>
              </a:rPr>
              <a:t>12</a:t>
            </a:r>
          </a:p>
          <a:p>
            <a:endParaRPr lang="en-US" sz="40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SGA 1979, s. 23 – Sale under voidable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Garamond" charset="0"/>
                <a:ea typeface="Garamond" charset="0"/>
                <a:cs typeface="Garamond" charset="0"/>
              </a:rPr>
              <a:t>Where the seller of goods has a voidable title to them…</a:t>
            </a:r>
          </a:p>
          <a:p>
            <a:r>
              <a:rPr lang="en-US" dirty="0">
                <a:latin typeface="Garamond" charset="0"/>
                <a:ea typeface="Garamond" charset="0"/>
                <a:cs typeface="Garamond" charset="0"/>
              </a:rPr>
              <a:t>… but this title has not been avoided at time of sale…</a:t>
            </a:r>
          </a:p>
          <a:p>
            <a:pPr>
              <a:buNone/>
            </a:pPr>
            <a:r>
              <a:rPr lang="en-US" dirty="0">
                <a:latin typeface="Garamond" charset="0"/>
                <a:ea typeface="Garamond" charset="0"/>
                <a:cs typeface="Garamond" charset="0"/>
              </a:rPr>
              <a:t>THEN………………………..</a:t>
            </a:r>
          </a:p>
          <a:p>
            <a:r>
              <a:rPr lang="en-US" dirty="0">
                <a:latin typeface="Garamond" charset="0"/>
                <a:ea typeface="Garamond" charset="0"/>
                <a:cs typeface="Garamond" charset="0"/>
              </a:rPr>
              <a:t>… the buyer acquires a good title to the goods…</a:t>
            </a:r>
          </a:p>
          <a:p>
            <a:r>
              <a:rPr lang="en-US" dirty="0">
                <a:latin typeface="Garamond" charset="0"/>
                <a:ea typeface="Garamond" charset="0"/>
                <a:cs typeface="Garamond" charset="0"/>
              </a:rPr>
              <a:t>… provided he buys in good faith and without notice of seller’s defect of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hevron 4"/>
          <p:cNvSpPr/>
          <p:nvPr/>
        </p:nvSpPr>
        <p:spPr>
          <a:xfrm>
            <a:off x="3711830" y="2820460"/>
            <a:ext cx="1720341" cy="121707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8009" tIns="22670" rIns="22670" bIns="22670" numCol="1" spcCol="1270" anchor="ctr" anchorCtr="0">
            <a:noAutofit/>
          </a:bodyPr>
          <a:lstStyle/>
          <a:p>
            <a:pPr lvl="0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700" kern="1200" dirty="0"/>
              <a:t>Original seller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103290" y="1749552"/>
            <a:ext cx="2937420" cy="2810823"/>
            <a:chOff x="-136903" y="1282482"/>
            <a:chExt cx="2937420" cy="2607855"/>
          </a:xfrm>
        </p:grpSpPr>
        <p:sp>
          <p:nvSpPr>
            <p:cNvPr id="8" name="Chevron 7"/>
            <p:cNvSpPr/>
            <p:nvPr/>
          </p:nvSpPr>
          <p:spPr>
            <a:xfrm>
              <a:off x="-136903" y="2565822"/>
              <a:ext cx="2937420" cy="1324515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lvl="0"/>
              <a:r>
                <a:rPr lang="en-GB" sz="1700" dirty="0"/>
                <a:t>Buyer, then reseller (fraudster: holding voidable </a:t>
              </a:r>
              <a:r>
                <a:rPr lang="en-GB" dirty="0"/>
                <a:t>title)</a:t>
              </a:r>
            </a:p>
            <a:p>
              <a:endParaRPr lang="en-GB" dirty="0"/>
            </a:p>
          </p:txBody>
        </p:sp>
        <p:sp>
          <p:nvSpPr>
            <p:cNvPr id="9" name="Chevron 4"/>
            <p:cNvSpPr/>
            <p:nvPr/>
          </p:nvSpPr>
          <p:spPr>
            <a:xfrm>
              <a:off x="624037" y="1282482"/>
              <a:ext cx="1720341" cy="121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009" tIns="22670" rIns="22670" bIns="226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700" kern="1200" dirty="0"/>
                <a:t>Original seller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749380" y="3132774"/>
            <a:ext cx="2937420" cy="1427601"/>
            <a:chOff x="27906" y="1177867"/>
            <a:chExt cx="2937420" cy="1427601"/>
          </a:xfrm>
        </p:grpSpPr>
        <p:sp>
          <p:nvSpPr>
            <p:cNvPr id="11" name="Chevron 10"/>
            <p:cNvSpPr/>
            <p:nvPr/>
          </p:nvSpPr>
          <p:spPr>
            <a:xfrm>
              <a:off x="27906" y="1177867"/>
              <a:ext cx="2937420" cy="1427601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lvl="0"/>
              <a:r>
                <a:rPr lang="en-GB" dirty="0"/>
                <a:t>Innocent Buyer (seeks protection of s. 23)</a:t>
              </a:r>
            </a:p>
            <a:p>
              <a:endParaRPr lang="en-GB" dirty="0"/>
            </a:p>
          </p:txBody>
        </p:sp>
        <p:sp>
          <p:nvSpPr>
            <p:cNvPr id="12" name="Chevron 4"/>
            <p:cNvSpPr/>
            <p:nvPr/>
          </p:nvSpPr>
          <p:spPr>
            <a:xfrm>
              <a:off x="624037" y="1282482"/>
              <a:ext cx="1720341" cy="121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009" tIns="22670" rIns="22670" bIns="226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700" kern="1200" dirty="0"/>
            </a:p>
          </p:txBody>
        </p:sp>
      </p:grpSp>
      <p:sp>
        <p:nvSpPr>
          <p:cNvPr id="13" name="Chevron 12"/>
          <p:cNvSpPr/>
          <p:nvPr/>
        </p:nvSpPr>
        <p:spPr>
          <a:xfrm>
            <a:off x="457200" y="3132775"/>
            <a:ext cx="2937420" cy="1427600"/>
          </a:xfrm>
          <a:prstGeom prst="chevron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dirty="0">
              <a:latin typeface="Garamond" charset="0"/>
              <a:ea typeface="Garamond" charset="0"/>
              <a:cs typeface="Garamond" charset="0"/>
            </a:endParaRPr>
          </a:p>
          <a:p>
            <a:r>
              <a:rPr lang="en-GB" dirty="0"/>
              <a:t>  </a:t>
            </a:r>
            <a:r>
              <a:rPr lang="en-GB" sz="2000" dirty="0"/>
              <a:t>Original  seller      </a:t>
            </a:r>
          </a:p>
        </p:txBody>
      </p:sp>
    </p:spTree>
    <p:extLst>
      <p:ext uri="{BB962C8B-B14F-4D97-AF65-F5344CB8AC3E}">
        <p14:creationId xmlns:p14="http://schemas.microsoft.com/office/powerpoint/2010/main" val="418659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Sale under voidable title – s.23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077686"/>
            <a:ext cx="8229600" cy="5780314"/>
          </a:xfrm>
        </p:spPr>
        <p:txBody>
          <a:bodyPr>
            <a:noAutofit/>
          </a:bodyPr>
          <a:lstStyle/>
          <a:p>
            <a:r>
              <a:rPr lang="en-GB" sz="2500" dirty="0"/>
              <a:t>Differentiate void and voidable</a:t>
            </a:r>
          </a:p>
          <a:p>
            <a:pPr lvl="1"/>
            <a:r>
              <a:rPr lang="en-GB" sz="2500" b="1" i="1" dirty="0"/>
              <a:t>Shogun Finance Ltd v Hudson </a:t>
            </a:r>
            <a:r>
              <a:rPr lang="en-GB" sz="2500" dirty="0"/>
              <a:t>(mistake as to identity: differentiate between (</a:t>
            </a:r>
            <a:r>
              <a:rPr lang="en-GB" sz="2500" dirty="0" err="1"/>
              <a:t>i</a:t>
            </a:r>
            <a:r>
              <a:rPr lang="en-GB" sz="2500" dirty="0"/>
              <a:t>) contract made by written correspondence (ii) contract entered ‘face-to-face’</a:t>
            </a:r>
          </a:p>
          <a:p>
            <a:r>
              <a:rPr lang="en-GB" sz="2500" dirty="0"/>
              <a:t>What if contract has been avoided before sale?</a:t>
            </a:r>
          </a:p>
          <a:p>
            <a:r>
              <a:rPr lang="en-GB" sz="2500" dirty="0">
                <a:latin typeface="Garamond" charset="0"/>
                <a:ea typeface="Garamond" charset="0"/>
                <a:cs typeface="Garamond" charset="0"/>
              </a:rPr>
              <a:t>Defrauded</a:t>
            </a:r>
            <a:r>
              <a:rPr lang="en-GB" sz="2500" dirty="0"/>
              <a:t> party needs to communicate intention to rescind</a:t>
            </a:r>
          </a:p>
          <a:p>
            <a:pPr lvl="1"/>
            <a:r>
              <a:rPr lang="en-GB" sz="2500" dirty="0"/>
              <a:t>But see </a:t>
            </a:r>
            <a:r>
              <a:rPr lang="en-GB" sz="2500" b="1" i="1" dirty="0"/>
              <a:t>Car &amp; Universal Finance v Caldwell</a:t>
            </a:r>
            <a:r>
              <a:rPr lang="en-GB" sz="2500" b="1" dirty="0"/>
              <a:t> </a:t>
            </a:r>
          </a:p>
          <a:p>
            <a:r>
              <a:rPr lang="en-GB" sz="2500" dirty="0"/>
              <a:t>S.23 applies to sales; what about pledges (i.e. person with voidable title to goods who pledges them)?</a:t>
            </a:r>
          </a:p>
          <a:p>
            <a:pPr lvl="1"/>
            <a:r>
              <a:rPr lang="en-GB" sz="2100" b="1" i="1" dirty="0" err="1"/>
              <a:t>Cunday</a:t>
            </a:r>
            <a:r>
              <a:rPr lang="en-GB" sz="2100" b="1" i="1" dirty="0"/>
              <a:t> v Lindsay </a:t>
            </a:r>
          </a:p>
          <a:p>
            <a:pPr lvl="1"/>
            <a:r>
              <a:rPr lang="en-GB" sz="2100" b="1" i="1" dirty="0"/>
              <a:t>Philips v Brooks</a:t>
            </a:r>
            <a:endParaRPr lang="en-GB" sz="2500" dirty="0"/>
          </a:p>
          <a:p>
            <a:r>
              <a:rPr lang="en-GB" sz="2500" dirty="0"/>
              <a:t>Good faith and Notice</a:t>
            </a:r>
          </a:p>
          <a:p>
            <a:endParaRPr lang="en-GB" sz="2500" dirty="0"/>
          </a:p>
          <a:p>
            <a:endParaRPr lang="en-GB" sz="2500" dirty="0"/>
          </a:p>
          <a:p>
            <a:pPr marL="457200" lvl="1" indent="0">
              <a:buNone/>
            </a:pPr>
            <a:endParaRPr lang="en-GB" sz="2100" b="1" i="1" dirty="0"/>
          </a:p>
        </p:txBody>
      </p:sp>
    </p:spTree>
    <p:extLst>
      <p:ext uri="{BB962C8B-B14F-4D97-AF65-F5344CB8AC3E}">
        <p14:creationId xmlns:p14="http://schemas.microsoft.com/office/powerpoint/2010/main" val="1894302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FA 1889, s 8 (SGA 1979, s.24) – Seller  in possession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300" dirty="0"/>
              <a:t>‘Where person having sold goods…</a:t>
            </a:r>
          </a:p>
          <a:p>
            <a:r>
              <a:rPr lang="en-GB" sz="2300" dirty="0"/>
              <a:t>… continues to be/is in possession of the goods/documents of title…</a:t>
            </a:r>
          </a:p>
          <a:p>
            <a:r>
              <a:rPr lang="en-GB" sz="2300" dirty="0"/>
              <a:t>… the delivery/transfer by that person (or MA acting for him)…</a:t>
            </a:r>
          </a:p>
          <a:p>
            <a:r>
              <a:rPr lang="en-GB" sz="2300" dirty="0"/>
              <a:t>… of the goods/documents of title under…</a:t>
            </a:r>
          </a:p>
          <a:p>
            <a:r>
              <a:rPr lang="en-GB" sz="2300" dirty="0"/>
              <a:t>… any sale, pledge or other disposition…</a:t>
            </a:r>
          </a:p>
          <a:p>
            <a:r>
              <a:rPr lang="en-GB" sz="2300" i="1" dirty="0"/>
              <a:t>… </a:t>
            </a:r>
            <a:r>
              <a:rPr lang="en-GB" sz="2300" dirty="0"/>
              <a:t>or under any agreement for sale, pledge, other disposition…</a:t>
            </a:r>
          </a:p>
          <a:p>
            <a:r>
              <a:rPr lang="en-GB" sz="2300" dirty="0"/>
              <a:t>… to any person receiving the same in good faith and without notice of previous sale…</a:t>
            </a:r>
          </a:p>
          <a:p>
            <a:r>
              <a:rPr lang="en-GB" sz="2300" dirty="0"/>
              <a:t>… </a:t>
            </a:r>
            <a:r>
              <a:rPr lang="en-GB" sz="2300" u="sng" dirty="0"/>
              <a:t>shall have same effect as if</a:t>
            </a:r>
            <a:r>
              <a:rPr lang="en-GB" sz="2300" dirty="0"/>
              <a:t> person making delivery/transfer…</a:t>
            </a:r>
          </a:p>
          <a:p>
            <a:r>
              <a:rPr lang="en-GB" sz="2300" dirty="0"/>
              <a:t>… </a:t>
            </a:r>
            <a:r>
              <a:rPr lang="en-GB" sz="2300" u="sng" dirty="0"/>
              <a:t>were expressly authorised </a:t>
            </a:r>
            <a:r>
              <a:rPr lang="en-GB" sz="2300" dirty="0"/>
              <a:t>by the owner of the goods’  </a:t>
            </a:r>
          </a:p>
        </p:txBody>
      </p:sp>
    </p:spTree>
    <p:extLst>
      <p:ext uri="{BB962C8B-B14F-4D97-AF65-F5344CB8AC3E}">
        <p14:creationId xmlns:p14="http://schemas.microsoft.com/office/powerpoint/2010/main" val="4171981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S in possession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1007390" y="1875295"/>
            <a:ext cx="2005739" cy="185979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S </a:t>
            </a:r>
            <a:r>
              <a:rPr lang="en-GB" sz="2300" dirty="0"/>
              <a:t>sells goods  to: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013129" y="2727697"/>
            <a:ext cx="24371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619214" y="3554278"/>
            <a:ext cx="1252780" cy="11933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871994" y="4150963"/>
            <a:ext cx="2005739" cy="185979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B2 </a:t>
            </a:r>
            <a:r>
              <a:rPr lang="en-GB" sz="2200" dirty="0"/>
              <a:t>seeks protection of s.8</a:t>
            </a:r>
          </a:p>
        </p:txBody>
      </p:sp>
      <p:sp>
        <p:nvSpPr>
          <p:cNvPr id="12" name="Oval 11"/>
          <p:cNvSpPr/>
          <p:nvPr/>
        </p:nvSpPr>
        <p:spPr>
          <a:xfrm>
            <a:off x="5450237" y="1875295"/>
            <a:ext cx="2005739" cy="185979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B1 </a:t>
            </a:r>
            <a:r>
              <a:rPr lang="en-GB" sz="2100" dirty="0"/>
              <a:t>but goods stay with </a:t>
            </a:r>
            <a:r>
              <a:rPr lang="en-GB" sz="36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238200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‘person having sold goods, continues, or is, in possession’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790414" y="1875295"/>
            <a:ext cx="2222715" cy="21387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S </a:t>
            </a:r>
            <a:r>
              <a:rPr lang="en-GB" sz="2300" dirty="0"/>
              <a:t>is, continues being, in possession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063499" y="2944678"/>
            <a:ext cx="24371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672167" y="3735092"/>
            <a:ext cx="1252780" cy="11933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941091" y="3989522"/>
            <a:ext cx="2134245" cy="199669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B2</a:t>
            </a:r>
            <a:endParaRPr lang="en-GB" sz="2200" dirty="0"/>
          </a:p>
        </p:txBody>
      </p:sp>
      <p:sp>
        <p:nvSpPr>
          <p:cNvPr id="12" name="Oval 11"/>
          <p:cNvSpPr/>
          <p:nvPr/>
        </p:nvSpPr>
        <p:spPr>
          <a:xfrm>
            <a:off x="5500607" y="1983783"/>
            <a:ext cx="2360909" cy="203027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B1</a:t>
            </a:r>
          </a:p>
        </p:txBody>
      </p:sp>
    </p:spTree>
    <p:extLst>
      <p:ext uri="{BB962C8B-B14F-4D97-AF65-F5344CB8AC3E}">
        <p14:creationId xmlns:p14="http://schemas.microsoft.com/office/powerpoint/2010/main" val="198030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‘person having sold goods, continues, or is, in possession’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Does S need to continue being in possession </a:t>
            </a:r>
            <a:r>
              <a:rPr lang="en-GB" u="sng" dirty="0"/>
              <a:t>as seller</a:t>
            </a:r>
            <a:r>
              <a:rPr lang="en-GB" dirty="0"/>
              <a:t>?</a:t>
            </a:r>
          </a:p>
          <a:p>
            <a:pPr lvl="1"/>
            <a:r>
              <a:rPr lang="en-GB" b="1" i="1" dirty="0"/>
              <a:t>Pacific Motor Auctions </a:t>
            </a:r>
            <a:r>
              <a:rPr lang="en-GB" b="1" dirty="0"/>
              <a:t>v</a:t>
            </a:r>
            <a:r>
              <a:rPr lang="en-GB" b="1" i="1" dirty="0"/>
              <a:t> Motor Credits  </a:t>
            </a:r>
            <a:r>
              <a:rPr lang="en-GB" dirty="0"/>
              <a:t>(S sells vehicles to B1; S continues being in possession under ‘display agreement’; S sells vehicles to B2 without authority)</a:t>
            </a:r>
          </a:p>
          <a:p>
            <a:pPr lvl="2"/>
            <a:r>
              <a:rPr lang="en-GB" dirty="0"/>
              <a:t>‘Continues … in possession’ means continuity of physical possession</a:t>
            </a:r>
          </a:p>
          <a:p>
            <a:pPr lvl="1"/>
            <a:r>
              <a:rPr lang="en-GB" b="1" i="1" dirty="0"/>
              <a:t>Mitchell </a:t>
            </a:r>
            <a:r>
              <a:rPr lang="en-GB" b="1" dirty="0"/>
              <a:t>v</a:t>
            </a:r>
            <a:r>
              <a:rPr lang="en-GB" b="1" i="1" dirty="0"/>
              <a:t> Jones </a:t>
            </a:r>
            <a:r>
              <a:rPr lang="en-GB" dirty="0"/>
              <a:t>(S sells and delivers horse to B1; later obtains horse back on lease from B1; S sells horse to B2) </a:t>
            </a:r>
          </a:p>
        </p:txBody>
      </p:sp>
    </p:spTree>
    <p:extLst>
      <p:ext uri="{BB962C8B-B14F-4D97-AF65-F5344CB8AC3E}">
        <p14:creationId xmlns:p14="http://schemas.microsoft.com/office/powerpoint/2010/main" val="3190212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‘person having sold goods, continues, or is, in possession’ (III)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1" indent="-457200">
              <a:buFont typeface="Arial"/>
              <a:buChar char="•"/>
            </a:pPr>
            <a:r>
              <a:rPr lang="en-GB" sz="2300" b="1" i="1" dirty="0"/>
              <a:t>Worcester Works Finance </a:t>
            </a:r>
            <a:r>
              <a:rPr lang="en-GB" sz="2300" b="1" dirty="0"/>
              <a:t>v</a:t>
            </a:r>
            <a:r>
              <a:rPr lang="en-GB" sz="2300" b="1" i="1" dirty="0"/>
              <a:t> </a:t>
            </a:r>
            <a:r>
              <a:rPr lang="en-GB" sz="2300" b="1" i="1" dirty="0" err="1"/>
              <a:t>Cooden</a:t>
            </a:r>
            <a:r>
              <a:rPr lang="en-GB" sz="2300" b="1" i="1" dirty="0"/>
              <a:t> Engineering</a:t>
            </a:r>
            <a:r>
              <a:rPr lang="en-GB" sz="2300" b="1" dirty="0"/>
              <a:t> </a:t>
            </a:r>
            <a:endParaRPr lang="en-GB" sz="2300" b="1" i="1" dirty="0"/>
          </a:p>
          <a:p>
            <a:pPr marL="742950" lvl="2" indent="-457200"/>
            <a:r>
              <a:rPr lang="en-GB" sz="2300" dirty="0"/>
              <a:t>‘The words "continues in possession" refer to "the continuity of physical possession …”. It </a:t>
            </a:r>
            <a:r>
              <a:rPr lang="en-GB" sz="2300" u="sng" dirty="0"/>
              <a:t>does not matter what private arrangement may be made by the seller with the purchaser - such as whether the seller remains </a:t>
            </a:r>
            <a:r>
              <a:rPr lang="en-GB" sz="2300" u="sng" dirty="0" err="1"/>
              <a:t>bailee</a:t>
            </a:r>
            <a:r>
              <a:rPr lang="en-GB" sz="2300" dirty="0"/>
              <a:t> ... </a:t>
            </a:r>
            <a:r>
              <a:rPr lang="en-GB" sz="2300" u="sng" dirty="0"/>
              <a:t>It is sufficient if he remains continuously in possession of the goods that he has sold to the purchaser</a:t>
            </a:r>
            <a:r>
              <a:rPr lang="en-GB" sz="2300" dirty="0"/>
              <a:t>. … But there must be a continuity of physical possession. If there is a substantial break in the continuity, as for instance, if the seller actually delivers over the goods to a purchaser who keeps them for a time, and then the seller afterwards gets them back, then the section might not apply’ (per Lord Denning)</a:t>
            </a:r>
          </a:p>
        </p:txBody>
      </p:sp>
    </p:spTree>
    <p:extLst>
      <p:ext uri="{BB962C8B-B14F-4D97-AF65-F5344CB8AC3E}">
        <p14:creationId xmlns:p14="http://schemas.microsoft.com/office/powerpoint/2010/main" val="1211760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‘the delivery or transfer … of the goods or docs of title’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4532"/>
            <a:ext cx="8229600" cy="4525963"/>
          </a:xfrm>
        </p:spPr>
        <p:txBody>
          <a:bodyPr/>
          <a:lstStyle/>
          <a:p>
            <a:r>
              <a:rPr lang="en-GB" dirty="0"/>
              <a:t>Is there a need for a physical delivery/transfer of goods (or docs of title) to B2?</a:t>
            </a:r>
          </a:p>
          <a:p>
            <a:endParaRPr lang="en-GB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8" name="Oval 7"/>
          <p:cNvSpPr/>
          <p:nvPr/>
        </p:nvSpPr>
        <p:spPr>
          <a:xfrm>
            <a:off x="978326" y="2769017"/>
            <a:ext cx="2005739" cy="185979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S </a:t>
            </a:r>
            <a:r>
              <a:rPr lang="en-GB" sz="2400" dirty="0"/>
              <a:t>sells good to</a:t>
            </a:r>
            <a:endParaRPr lang="en-GB" sz="23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013128" y="3440619"/>
            <a:ext cx="24371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69130" y="4199619"/>
            <a:ext cx="2005739" cy="185979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B2: </a:t>
            </a:r>
            <a:r>
              <a:rPr lang="en-GB" sz="2200" dirty="0">
                <a:solidFill>
                  <a:schemeClr val="bg1"/>
                </a:solidFill>
              </a:rPr>
              <a:t>need for delivery? </a:t>
            </a:r>
          </a:p>
        </p:txBody>
      </p:sp>
      <p:sp>
        <p:nvSpPr>
          <p:cNvPr id="12" name="Oval 11"/>
          <p:cNvSpPr/>
          <p:nvPr/>
        </p:nvSpPr>
        <p:spPr>
          <a:xfrm>
            <a:off x="5450236" y="2872346"/>
            <a:ext cx="2005739" cy="185979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B1 </a:t>
            </a:r>
            <a:r>
              <a:rPr lang="en-GB" sz="2100" dirty="0"/>
              <a:t>but goods stay with </a:t>
            </a:r>
            <a:r>
              <a:rPr lang="en-GB" sz="3600" dirty="0"/>
              <a:t>S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771611" y="4343843"/>
            <a:ext cx="797519" cy="522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949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‘the delivery or transfer … of the goods or docs of title’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i="1" dirty="0"/>
              <a:t>Nicholson </a:t>
            </a:r>
            <a:r>
              <a:rPr lang="en-GB" b="1" dirty="0"/>
              <a:t>v</a:t>
            </a:r>
            <a:r>
              <a:rPr lang="en-GB" b="1" i="1" dirty="0"/>
              <a:t> Harper </a:t>
            </a:r>
            <a:r>
              <a:rPr lang="en-GB" dirty="0"/>
              <a:t>(merchant sells wine stored with WH to B; wine stays with WH; later merchant pledges wine to WH; WH no title under s 24 SGA =&gt; lack of physical delivery) </a:t>
            </a:r>
            <a:endParaRPr lang="en-GB" i="1" dirty="0"/>
          </a:p>
          <a:p>
            <a:r>
              <a:rPr lang="en-GB" b="1" dirty="0"/>
              <a:t>Gamer’s Motor Centre v </a:t>
            </a:r>
            <a:r>
              <a:rPr lang="en-GB" b="1" dirty="0" err="1"/>
              <a:t>Natwest</a:t>
            </a:r>
            <a:r>
              <a:rPr lang="en-GB" b="1" dirty="0"/>
              <a:t> Wholesale </a:t>
            </a:r>
            <a:r>
              <a:rPr lang="en-GB" dirty="0"/>
              <a:t>(Australian case; rejects </a:t>
            </a:r>
            <a:r>
              <a:rPr lang="en-GB" i="1" dirty="0"/>
              <a:t>Nicholson v Harper; </a:t>
            </a:r>
            <a:r>
              <a:rPr lang="en-GB" dirty="0"/>
              <a:t>constructive delivery is possible)</a:t>
            </a:r>
          </a:p>
          <a:p>
            <a:r>
              <a:rPr lang="en-GB" b="1" i="1" dirty="0"/>
              <a:t>Michael Gerson (Leasing) Ltd </a:t>
            </a:r>
            <a:r>
              <a:rPr lang="en-GB" b="1" dirty="0"/>
              <a:t>v</a:t>
            </a:r>
            <a:r>
              <a:rPr lang="en-GB" b="1" i="1" dirty="0"/>
              <a:t> Wilkinson</a:t>
            </a:r>
            <a:r>
              <a:rPr lang="en-GB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0586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i="1" dirty="0"/>
              <a:t>Michael </a:t>
            </a:r>
            <a:r>
              <a:rPr lang="en-GB" i="1" dirty="0" err="1"/>
              <a:t>Gerson</a:t>
            </a:r>
            <a:r>
              <a:rPr lang="en-GB" i="1" dirty="0"/>
              <a:t> (Leasing) Ltd v. Wilkinson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4532"/>
            <a:ext cx="8229600" cy="4525963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8" name="Oval 7"/>
          <p:cNvSpPr/>
          <p:nvPr/>
        </p:nvSpPr>
        <p:spPr>
          <a:xfrm>
            <a:off x="852408" y="1942447"/>
            <a:ext cx="2131658" cy="185979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S </a:t>
            </a:r>
            <a:r>
              <a:rPr lang="en-GB" sz="2200" dirty="0"/>
              <a:t>sells to: (retains possession throughout)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919493" y="2417731"/>
            <a:ext cx="24371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8212" y="3373048"/>
            <a:ext cx="2005739" cy="185979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B2 </a:t>
            </a:r>
            <a:r>
              <a:rPr lang="en-GB" sz="2200" dirty="0"/>
              <a:t>leases back</a:t>
            </a:r>
            <a:r>
              <a:rPr lang="en-GB" sz="2400" dirty="0"/>
              <a:t> </a:t>
            </a:r>
            <a:r>
              <a:rPr lang="en-GB" sz="2200" dirty="0"/>
              <a:t>to</a:t>
            </a:r>
            <a:r>
              <a:rPr lang="en-GB" sz="3600" dirty="0"/>
              <a:t> S</a:t>
            </a:r>
            <a:endParaRPr lang="en-GB" sz="2200" dirty="0"/>
          </a:p>
        </p:txBody>
      </p:sp>
      <p:sp>
        <p:nvSpPr>
          <p:cNvPr id="12" name="Oval 11"/>
          <p:cNvSpPr/>
          <p:nvPr/>
        </p:nvSpPr>
        <p:spPr>
          <a:xfrm>
            <a:off x="5387598" y="1740970"/>
            <a:ext cx="2005739" cy="185979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B1</a:t>
            </a:r>
            <a:endParaRPr lang="en-GB" sz="3200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3017649" y="3512934"/>
            <a:ext cx="585065" cy="4037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3099661" y="2872345"/>
            <a:ext cx="207677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2810682" y="3802244"/>
            <a:ext cx="639952" cy="5007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387598" y="1746130"/>
            <a:ext cx="2005739" cy="185979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B1, </a:t>
            </a:r>
            <a:r>
              <a:rPr lang="en-GB" sz="2000" dirty="0"/>
              <a:t>leases back to 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794744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‘any sale, pledge or other disposition’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4532"/>
            <a:ext cx="8229600" cy="4525963"/>
          </a:xfrm>
        </p:spPr>
        <p:txBody>
          <a:bodyPr/>
          <a:lstStyle/>
          <a:p>
            <a:r>
              <a:rPr lang="en-GB" dirty="0"/>
              <a:t>S sells, pledges or makes any other disposition to B2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8" name="Oval 7"/>
          <p:cNvSpPr/>
          <p:nvPr/>
        </p:nvSpPr>
        <p:spPr>
          <a:xfrm>
            <a:off x="821411" y="2681207"/>
            <a:ext cx="2187194" cy="216974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S </a:t>
            </a:r>
            <a:r>
              <a:rPr lang="en-GB" sz="2100" dirty="0"/>
              <a:t>sells</a:t>
            </a:r>
            <a:endParaRPr lang="en-GB" sz="2100" u="sng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170370" y="3487099"/>
            <a:ext cx="24371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92469" y="4324028"/>
            <a:ext cx="2181389" cy="20066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B2 </a:t>
            </a:r>
            <a:r>
              <a:rPr lang="en-GB" sz="1900" dirty="0">
                <a:solidFill>
                  <a:schemeClr val="bg1"/>
                </a:solidFill>
              </a:rPr>
              <a:t>(or pledgee, person taking disposition)</a:t>
            </a:r>
          </a:p>
        </p:txBody>
      </p:sp>
      <p:sp>
        <p:nvSpPr>
          <p:cNvPr id="12" name="Oval 11"/>
          <p:cNvSpPr/>
          <p:nvPr/>
        </p:nvSpPr>
        <p:spPr>
          <a:xfrm>
            <a:off x="5698209" y="2872346"/>
            <a:ext cx="2005739" cy="185979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B1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894951" y="4470830"/>
            <a:ext cx="797519" cy="522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21411" y="2681206"/>
            <a:ext cx="2187194" cy="216974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S </a:t>
            </a:r>
            <a:r>
              <a:rPr lang="en-GB" sz="2100" dirty="0"/>
              <a:t>sells, pledges or makes other disposition</a:t>
            </a:r>
            <a:endParaRPr lang="en-GB" sz="2100" u="sng" dirty="0"/>
          </a:p>
        </p:txBody>
      </p:sp>
    </p:spTree>
    <p:extLst>
      <p:ext uri="{BB962C8B-B14F-4D97-AF65-F5344CB8AC3E}">
        <p14:creationId xmlns:p14="http://schemas.microsoft.com/office/powerpoint/2010/main" val="220709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i="1" dirty="0"/>
              <a:t>Worcester Works Finance v. </a:t>
            </a:r>
            <a:r>
              <a:rPr lang="en-GB" i="1" dirty="0" err="1"/>
              <a:t>Cooden</a:t>
            </a:r>
            <a:r>
              <a:rPr lang="en-GB" i="1" dirty="0"/>
              <a:t> Engineering</a:t>
            </a:r>
            <a:r>
              <a:rPr lang="en-GB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860157" y="2061275"/>
            <a:ext cx="1627322" cy="172805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S1</a:t>
            </a:r>
          </a:p>
        </p:txBody>
      </p:sp>
      <p:sp>
        <p:nvSpPr>
          <p:cNvPr id="6" name="Oval 5"/>
          <p:cNvSpPr/>
          <p:nvPr/>
        </p:nvSpPr>
        <p:spPr>
          <a:xfrm>
            <a:off x="3698929" y="2061275"/>
            <a:ext cx="1627322" cy="172805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B (of S1)</a:t>
            </a:r>
          </a:p>
          <a:p>
            <a:pPr algn="ctr"/>
            <a:endParaRPr lang="en-GB" sz="2000" dirty="0"/>
          </a:p>
          <a:p>
            <a:pPr algn="ctr"/>
            <a:endParaRPr lang="en-GB" sz="2000" dirty="0"/>
          </a:p>
          <a:p>
            <a:pPr algn="ctr"/>
            <a:endParaRPr lang="en-GB" sz="2000" dirty="0"/>
          </a:p>
          <a:p>
            <a:pPr algn="ctr"/>
            <a:endParaRPr lang="en-GB" sz="2000" dirty="0"/>
          </a:p>
        </p:txBody>
      </p:sp>
      <p:sp>
        <p:nvSpPr>
          <p:cNvPr id="7" name="Oval 6"/>
          <p:cNvSpPr/>
          <p:nvPr/>
        </p:nvSpPr>
        <p:spPr>
          <a:xfrm>
            <a:off x="6457627" y="3114000"/>
            <a:ext cx="1627322" cy="168040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 (of S2)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487479" y="2766443"/>
            <a:ext cx="1211450" cy="232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owchart: Summing Junction 22"/>
          <p:cNvSpPr/>
          <p:nvPr/>
        </p:nvSpPr>
        <p:spPr>
          <a:xfrm>
            <a:off x="3581400" y="4524344"/>
            <a:ext cx="1744851" cy="1380510"/>
          </a:xfrm>
          <a:prstGeom prst="flowChartSummingJunc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5357246" y="4524344"/>
            <a:ext cx="1053885" cy="3719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403742" y="2916976"/>
            <a:ext cx="1053885" cy="5645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2546243" y="3205829"/>
            <a:ext cx="109392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698929" y="2052947"/>
            <a:ext cx="1627322" cy="172805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B (of S1), then </a:t>
            </a:r>
            <a:r>
              <a:rPr lang="en-GB" sz="2000" b="1" dirty="0"/>
              <a:t>S2:</a:t>
            </a:r>
            <a:r>
              <a:rPr lang="en-GB" sz="2000" dirty="0"/>
              <a:t> stays in possession</a:t>
            </a:r>
          </a:p>
        </p:txBody>
      </p:sp>
      <p:sp>
        <p:nvSpPr>
          <p:cNvPr id="13" name="Oval 12"/>
          <p:cNvSpPr/>
          <p:nvPr/>
        </p:nvSpPr>
        <p:spPr>
          <a:xfrm>
            <a:off x="6457627" y="3117875"/>
            <a:ext cx="1627322" cy="168040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 (of S2), then to let on hire purchase</a:t>
            </a:r>
          </a:p>
        </p:txBody>
      </p:sp>
    </p:spTree>
    <p:extLst>
      <p:ext uri="{BB962C8B-B14F-4D97-AF65-F5344CB8AC3E}">
        <p14:creationId xmlns:p14="http://schemas.microsoft.com/office/powerpoint/2010/main" val="2750808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‘Good faith and notice’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B2 must acts in </a:t>
            </a:r>
            <a:r>
              <a:rPr lang="en-GB"/>
              <a:t>good faith </a:t>
            </a:r>
            <a:r>
              <a:rPr lang="en-GB" dirty="0"/>
              <a:t>and without notice of previous sale</a:t>
            </a:r>
          </a:p>
        </p:txBody>
      </p:sp>
    </p:spTree>
    <p:extLst>
      <p:ext uri="{BB962C8B-B14F-4D97-AF65-F5344CB8AC3E}">
        <p14:creationId xmlns:p14="http://schemas.microsoft.com/office/powerpoint/2010/main" val="6443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A4B24C251BCD4291F2C2F3A608C810" ma:contentTypeVersion="11" ma:contentTypeDescription="Create a new document." ma:contentTypeScope="" ma:versionID="83699b3271963520812641aaaa6ca2c4">
  <xsd:schema xmlns:xsd="http://www.w3.org/2001/XMLSchema" xmlns:xs="http://www.w3.org/2001/XMLSchema" xmlns:p="http://schemas.microsoft.com/office/2006/metadata/properties" xmlns:ns3="3cc0b812-7f7d-4aca-acca-000f424f7da7" xmlns:ns4="6bff29df-e80b-4a73-953f-e802c634e429" targetNamespace="http://schemas.microsoft.com/office/2006/metadata/properties" ma:root="true" ma:fieldsID="d7bdb9edf9b87b139097dc501a0a3627" ns3:_="" ns4:_="">
    <xsd:import namespace="3cc0b812-7f7d-4aca-acca-000f424f7da7"/>
    <xsd:import namespace="6bff29df-e80b-4a73-953f-e802c634e42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ObjectDetectorVersion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c0b812-7f7d-4aca-acca-000f424f7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f29df-e80b-4a73-953f-e802c634e42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cc0b812-7f7d-4aca-acca-000f424f7da7" xsi:nil="true"/>
  </documentManagement>
</p:properties>
</file>

<file path=customXml/itemProps1.xml><?xml version="1.0" encoding="utf-8"?>
<ds:datastoreItem xmlns:ds="http://schemas.openxmlformats.org/officeDocument/2006/customXml" ds:itemID="{261FD4B7-A1D2-49CF-A14C-B732120B7E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c0b812-7f7d-4aca-acca-000f424f7da7"/>
    <ds:schemaRef ds:uri="6bff29df-e80b-4a73-953f-e802c634e4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BAB805-AC11-4CFF-83D4-0EF53CFA33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AEB0BD-6FB4-4879-998C-4599F4897E4E}">
  <ds:schemaRefs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6bff29df-e80b-4a73-953f-e802c634e429"/>
    <ds:schemaRef ds:uri="3cc0b812-7f7d-4aca-acca-000f424f7da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7496</TotalTime>
  <Words>908</Words>
  <Application>Microsoft Office PowerPoint</Application>
  <PresentationFormat>On-screen Show (4:3)</PresentationFormat>
  <Paragraphs>115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Garamond</vt:lpstr>
      <vt:lpstr>Office Theme</vt:lpstr>
      <vt:lpstr>Nemo dat quod non habet and its exceptions</vt:lpstr>
      <vt:lpstr>SGA 1979, s. 23 – Sale under voidable title</vt:lpstr>
      <vt:lpstr>Example</vt:lpstr>
      <vt:lpstr>Sale under voidable title – s.23</vt:lpstr>
      <vt:lpstr>FA 1889, s 8 (SGA 1979, s.24) – Seller  in possession</vt:lpstr>
      <vt:lpstr>Example: S in possession</vt:lpstr>
      <vt:lpstr>‘person having sold goods, continues, or is, in possession’</vt:lpstr>
      <vt:lpstr>‘person having sold goods, continues, or is, in possession’ (II)</vt:lpstr>
      <vt:lpstr>‘person having sold goods, continues, or is, in possession’ (III)</vt:lpstr>
      <vt:lpstr>‘the delivery or transfer … of the goods or docs of title’</vt:lpstr>
      <vt:lpstr>‘the delivery or transfer … of the goods or docs of title’ (II)</vt:lpstr>
      <vt:lpstr>Michael Gerson (Leasing) Ltd v. Wilkinson</vt:lpstr>
      <vt:lpstr>‘any sale, pledge or other disposition’</vt:lpstr>
      <vt:lpstr>Worcester Works Finance v. Cooden Engineering </vt:lpstr>
      <vt:lpstr>‘Good faith and notice’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Pierre Schammo</dc:creator>
  <cp:lastModifiedBy>AVERY, RACHEL J.</cp:lastModifiedBy>
  <cp:revision>190</cp:revision>
  <cp:lastPrinted>2014-01-30T11:15:48Z</cp:lastPrinted>
  <dcterms:created xsi:type="dcterms:W3CDTF">2013-01-21T16:18:59Z</dcterms:created>
  <dcterms:modified xsi:type="dcterms:W3CDTF">2025-01-07T10:48:11Z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0x01010009A4B24C251BCD4291F2C2F3A608C810</vt:lpwstr>
  </property>
</Properties>
</file>