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256" r:id="rId5"/>
    <p:sldId id="257" r:id="rId6"/>
    <p:sldId id="260" r:id="rId7"/>
    <p:sldId id="281" r:id="rId8"/>
    <p:sldId id="258" r:id="rId9"/>
    <p:sldId id="282" r:id="rId10"/>
    <p:sldId id="259" r:id="rId11"/>
    <p:sldId id="266" r:id="rId12"/>
    <p:sldId id="261" r:id="rId13"/>
    <p:sldId id="262" r:id="rId14"/>
    <p:sldId id="277" r:id="rId15"/>
    <p:sldId id="264" r:id="rId16"/>
    <p:sldId id="263" r:id="rId17"/>
    <p:sldId id="278" r:id="rId18"/>
    <p:sldId id="267" r:id="rId19"/>
    <p:sldId id="268" r:id="rId20"/>
    <p:sldId id="283" r:id="rId21"/>
    <p:sldId id="269" r:id="rId22"/>
    <p:sldId id="279" r:id="rId23"/>
    <p:sldId id="270" r:id="rId24"/>
    <p:sldId id="271" r:id="rId25"/>
    <p:sldId id="272" r:id="rId26"/>
    <p:sldId id="273" r:id="rId27"/>
    <p:sldId id="280" r:id="rId28"/>
    <p:sldId id="274" r:id="rId29"/>
    <p:sldId id="276" r:id="rId30"/>
    <p:sldId id="27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p:cViewPr varScale="1">
        <p:scale>
          <a:sx n="128" d="100"/>
          <a:sy n="128" d="100"/>
        </p:scale>
        <p:origin x="269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095AF3-B0AE-4D67-BE7F-F7A177B3FD0A}" type="datetimeFigureOut">
              <a:rPr lang="en-GB" smtClean="0"/>
              <a:pPr/>
              <a:t>24/11/2024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75654B-79A5-4C10-80A9-5C04928A84B8}" type="slidenum">
              <a:rPr lang="en-GB" smtClean="0"/>
              <a:pPr/>
              <a:t>‹#›</a:t>
            </a:fld>
            <a:endParaRPr lang="en-GB"/>
          </a:p>
        </p:txBody>
      </p:sp>
    </p:spTree>
    <p:extLst>
      <p:ext uri="{BB962C8B-B14F-4D97-AF65-F5344CB8AC3E}">
        <p14:creationId xmlns:p14="http://schemas.microsoft.com/office/powerpoint/2010/main" val="2800956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92E2914B-A73A-479A-BB67-23DFBE7176D4}" type="datetime1">
              <a:rPr lang="en-US" smtClean="0"/>
              <a:pPr/>
              <a:t>11/24/24</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C477C852-957D-43BF-B226-EAB69998B683}" type="datetime1">
              <a:rPr lang="en-US" smtClean="0"/>
              <a:pPr/>
              <a:t>11/24/24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59925A5-759D-4895-ACD2-8E13565F93FD}" type="datetime1">
              <a:rPr lang="en-US" smtClean="0"/>
              <a:pPr/>
              <a:t>11/24/24</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DB90E29E-BE73-4F90-85EF-83470350ED5D}" type="datetime1">
              <a:rPr lang="en-US" smtClean="0"/>
              <a:pPr/>
              <a:t>11/24/24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E985D69-3B86-462D-96E0-9F3803B86F67}" type="datetime1">
              <a:rPr lang="en-US" smtClean="0"/>
              <a:pPr/>
              <a:t>11/24/24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349731C-C1D4-4B8D-B5DA-805974F4FFCE}" type="datetime1">
              <a:rPr lang="en-US" smtClean="0"/>
              <a:pPr/>
              <a:t>11/24/24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096D63-7377-4BE1-AFE6-AA63410D8E90}" type="datetime1">
              <a:rPr lang="en-US" smtClean="0"/>
              <a:pPr/>
              <a:t>11/24/24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02D5078E-CDE8-43A7-9416-D45D1BEB04AB}" type="datetime1">
              <a:rPr lang="en-US" smtClean="0"/>
              <a:pPr/>
              <a:t>11/24/24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9351F11-9EDD-43A6-B064-F25C586B56D5}" type="datetime1">
              <a:rPr lang="en-US" smtClean="0"/>
              <a:pPr/>
              <a:t>11/24/24</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6839C2C-79E0-451B-A06C-EFA290183BE4}" type="datetime1">
              <a:rPr lang="en-US" smtClean="0"/>
              <a:pPr/>
              <a:t>11/24/24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4E93A7-E6CE-47EC-8278-335B8355DA6C}" type="datetime1">
              <a:rPr lang="en-US" smtClean="0"/>
              <a:pPr/>
              <a:t>11/24/24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625D1E68-9EAB-4BBD-B3C7-390E5ECFB009}" type="datetime1">
              <a:rPr lang="en-US" smtClean="0"/>
              <a:pPr/>
              <a:t>11/24/24</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3200400"/>
            <a:ext cx="4800601" cy="3200400"/>
          </a:xfrm>
        </p:spPr>
        <p:txBody>
          <a:bodyPr>
            <a:normAutofit fontScale="47500" lnSpcReduction="20000"/>
          </a:bodyPr>
          <a:lstStyle/>
          <a:p>
            <a:endParaRPr lang="en-GB" dirty="0"/>
          </a:p>
          <a:p>
            <a:endParaRPr lang="en-GB" dirty="0">
              <a:solidFill>
                <a:schemeClr val="tx1"/>
              </a:solidFill>
            </a:endParaRPr>
          </a:p>
          <a:p>
            <a:r>
              <a:rPr lang="en-GB" sz="8000" dirty="0">
                <a:solidFill>
                  <a:schemeClr val="tx1"/>
                </a:solidFill>
              </a:rPr>
              <a:t>The Passing of Property</a:t>
            </a:r>
          </a:p>
          <a:p>
            <a:r>
              <a:rPr lang="en-GB" sz="8000" dirty="0">
                <a:solidFill>
                  <a:schemeClr val="tx1"/>
                </a:solidFill>
              </a:rPr>
              <a:t>(1)</a:t>
            </a:r>
          </a:p>
          <a:p>
            <a:endParaRPr lang="en-GB" sz="8000" dirty="0">
              <a:solidFill>
                <a:schemeClr val="tx1"/>
              </a:solidFill>
            </a:endParaRPr>
          </a:p>
          <a:p>
            <a:r>
              <a:rPr lang="en-GB" sz="8000" dirty="0">
                <a:solidFill>
                  <a:schemeClr val="tx1"/>
                </a:solidFill>
              </a:rPr>
              <a:t>Rachel Avery</a:t>
            </a:r>
          </a:p>
        </p:txBody>
      </p:sp>
      <p:sp>
        <p:nvSpPr>
          <p:cNvPr id="2" name="Title 1"/>
          <p:cNvSpPr>
            <a:spLocks noGrp="1"/>
          </p:cNvSpPr>
          <p:nvPr>
            <p:ph type="ctrTitle"/>
          </p:nvPr>
        </p:nvSpPr>
        <p:spPr>
          <a:xfrm>
            <a:off x="457200" y="1524000"/>
            <a:ext cx="8229600" cy="1470025"/>
          </a:xfrm>
        </p:spPr>
        <p:txBody>
          <a:bodyPr/>
          <a:lstStyle/>
          <a:p>
            <a:r>
              <a:rPr lang="en-GB" dirty="0"/>
              <a:t>Commercial Law </a:t>
            </a:r>
            <a:br>
              <a:rPr lang="en-GB" dirty="0"/>
            </a:br>
            <a:r>
              <a:rPr lang="en-GB" dirty="0"/>
              <a:t>(Law 2241)</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pic>
        <p:nvPicPr>
          <p:cNvPr id="24578" name="Picture 2" descr="Image result for ownership of goods cartoon"/>
          <p:cNvPicPr>
            <a:picLocks noChangeAspect="1" noChangeArrowheads="1"/>
          </p:cNvPicPr>
          <p:nvPr/>
        </p:nvPicPr>
        <p:blipFill>
          <a:blip r:embed="rId2" cstate="print"/>
          <a:srcRect/>
          <a:stretch>
            <a:fillRect/>
          </a:stretch>
        </p:blipFill>
        <p:spPr bwMode="auto">
          <a:xfrm>
            <a:off x="6096001" y="3276600"/>
            <a:ext cx="3124200" cy="3667125"/>
          </a:xfrm>
          <a:prstGeom prst="rect">
            <a:avLst/>
          </a:prstGeom>
          <a:noFill/>
        </p:spPr>
      </p:pic>
    </p:spTree>
    <p:extLst>
      <p:ext uri="{BB962C8B-B14F-4D97-AF65-F5344CB8AC3E}">
        <p14:creationId xmlns:p14="http://schemas.microsoft.com/office/powerpoint/2010/main" val="2083432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solidFill>
                  <a:schemeClr val="tx1"/>
                </a:solidFill>
              </a:rPr>
              <a:t>The Passing of Property</a:t>
            </a:r>
          </a:p>
        </p:txBody>
      </p:sp>
      <p:sp>
        <p:nvSpPr>
          <p:cNvPr id="3" name="Content Placeholder 2"/>
          <p:cNvSpPr>
            <a:spLocks noGrp="1"/>
          </p:cNvSpPr>
          <p:nvPr>
            <p:ph sz="quarter" idx="1"/>
          </p:nvPr>
        </p:nvSpPr>
        <p:spPr>
          <a:xfrm>
            <a:off x="533400" y="1447800"/>
            <a:ext cx="8153400" cy="5029200"/>
          </a:xfrm>
        </p:spPr>
        <p:txBody>
          <a:bodyPr>
            <a:normAutofit fontScale="92500"/>
          </a:bodyPr>
          <a:lstStyle/>
          <a:p>
            <a:r>
              <a:rPr lang="en-GB" sz="2800" dirty="0">
                <a:highlight>
                  <a:srgbClr val="FFFF00"/>
                </a:highlight>
              </a:rPr>
              <a:t>Rules on the Passing of Property from the S to B in:</a:t>
            </a:r>
          </a:p>
          <a:p>
            <a:pPr lvl="1"/>
            <a:r>
              <a:rPr lang="en-GB" sz="2800" u="sng" dirty="0">
                <a:highlight>
                  <a:srgbClr val="FFFF00"/>
                </a:highlight>
              </a:rPr>
              <a:t>Specific</a:t>
            </a:r>
            <a:r>
              <a:rPr lang="en-GB" sz="2800" dirty="0">
                <a:highlight>
                  <a:srgbClr val="FFFF00"/>
                </a:highlight>
              </a:rPr>
              <a:t> Goods</a:t>
            </a:r>
          </a:p>
          <a:p>
            <a:pPr lvl="1"/>
            <a:r>
              <a:rPr lang="en-GB" sz="2800" dirty="0">
                <a:highlight>
                  <a:srgbClr val="FFFF00"/>
                </a:highlight>
              </a:rPr>
              <a:t>Goods delivered on </a:t>
            </a:r>
            <a:r>
              <a:rPr lang="en-GB" sz="2800" u="sng" dirty="0">
                <a:highlight>
                  <a:srgbClr val="FFFF00"/>
                </a:highlight>
              </a:rPr>
              <a:t>Approval</a:t>
            </a:r>
            <a:r>
              <a:rPr lang="en-GB" sz="2800" dirty="0">
                <a:highlight>
                  <a:srgbClr val="FFFF00"/>
                </a:highlight>
              </a:rPr>
              <a:t> or on </a:t>
            </a:r>
            <a:r>
              <a:rPr lang="en-GB" sz="2800" u="sng" dirty="0">
                <a:highlight>
                  <a:srgbClr val="FFFF00"/>
                </a:highlight>
              </a:rPr>
              <a:t>Sale or Return</a:t>
            </a:r>
          </a:p>
          <a:p>
            <a:pPr lvl="1"/>
            <a:r>
              <a:rPr lang="en-GB" sz="2800" u="sng" dirty="0">
                <a:highlight>
                  <a:srgbClr val="FFFF00"/>
                </a:highlight>
              </a:rPr>
              <a:t>Unascertained</a:t>
            </a:r>
            <a:r>
              <a:rPr lang="en-GB" sz="2800" dirty="0">
                <a:highlight>
                  <a:srgbClr val="FFFF00"/>
                </a:highlight>
              </a:rPr>
              <a:t> goods</a:t>
            </a:r>
          </a:p>
          <a:p>
            <a:pPr lvl="1">
              <a:buNone/>
            </a:pPr>
            <a:endParaRPr lang="en-GB" dirty="0">
              <a:solidFill>
                <a:srgbClr val="FF0000"/>
              </a:solidFill>
            </a:endParaRPr>
          </a:p>
          <a:p>
            <a:r>
              <a:rPr lang="en-GB" dirty="0"/>
              <a:t>Previously we have discussed the consequences of passing of property:</a:t>
            </a:r>
          </a:p>
          <a:p>
            <a:pPr lvl="1"/>
            <a:r>
              <a:rPr lang="en-GB" dirty="0"/>
              <a:t>Passage of risk</a:t>
            </a:r>
          </a:p>
          <a:p>
            <a:pPr lvl="1"/>
            <a:r>
              <a:rPr lang="en-GB" dirty="0"/>
              <a:t>The S is not entitled to sue for the price unless the property has passed</a:t>
            </a:r>
          </a:p>
          <a:p>
            <a:pPr lvl="1"/>
            <a:r>
              <a:rPr lang="en-GB" dirty="0"/>
              <a:t>The S or the B may have a title good against the liquidator/administrator</a:t>
            </a:r>
          </a:p>
          <a:p>
            <a:pPr lvl="1"/>
            <a:r>
              <a:rPr lang="en-GB" dirty="0"/>
              <a:t>Frustration of the K</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3520582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Basic rules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a:t>
            </a:fld>
            <a:endParaRPr lang="en-US"/>
          </a:p>
        </p:txBody>
      </p:sp>
      <p:sp>
        <p:nvSpPr>
          <p:cNvPr id="4" name="Content Placeholder 3"/>
          <p:cNvSpPr>
            <a:spLocks noGrp="1"/>
          </p:cNvSpPr>
          <p:nvPr>
            <p:ph sz="quarter" idx="1"/>
          </p:nvPr>
        </p:nvSpPr>
        <p:spPr/>
        <p:txBody>
          <a:bodyPr>
            <a:normAutofit fontScale="92500" lnSpcReduction="20000"/>
          </a:bodyPr>
          <a:lstStyle/>
          <a:p>
            <a:r>
              <a:rPr lang="en-GB" b="1" dirty="0">
                <a:solidFill>
                  <a:srgbClr val="FF0000"/>
                </a:solidFill>
              </a:rPr>
              <a:t>No property can pass in unascertained goods.</a:t>
            </a:r>
          </a:p>
          <a:p>
            <a:pPr lvl="1"/>
            <a:r>
              <a:rPr lang="en-GB" b="1" dirty="0">
                <a:solidFill>
                  <a:srgbClr val="FF0000"/>
                </a:solidFill>
              </a:rPr>
              <a:t>S. 16</a:t>
            </a:r>
          </a:p>
          <a:p>
            <a:pPr lvl="1"/>
            <a:r>
              <a:rPr lang="en-GB" dirty="0"/>
              <a:t>(Subject to the </a:t>
            </a:r>
            <a:r>
              <a:rPr lang="en-GB" b="1" dirty="0">
                <a:solidFill>
                  <a:srgbClr val="0070C0"/>
                </a:solidFill>
              </a:rPr>
              <a:t>exception in s. 20A</a:t>
            </a:r>
            <a:r>
              <a:rPr lang="en-GB" b="1" dirty="0"/>
              <a:t>)</a:t>
            </a:r>
            <a:r>
              <a:rPr lang="en-GB" dirty="0"/>
              <a:t> where the K is for unascertained goods, no property in the goods can be transferred unless and until the goods have been ascertained.</a:t>
            </a:r>
          </a:p>
          <a:p>
            <a:pPr lvl="1">
              <a:buNone/>
            </a:pPr>
            <a:endParaRPr lang="en-GB" dirty="0"/>
          </a:p>
          <a:p>
            <a:r>
              <a:rPr lang="en-GB" b="1" dirty="0">
                <a:solidFill>
                  <a:srgbClr val="FF0000"/>
                </a:solidFill>
              </a:rPr>
              <a:t>S. 17: intention </a:t>
            </a:r>
            <a:r>
              <a:rPr lang="en-GB" dirty="0"/>
              <a:t>of the parties to pass the property is crucial.</a:t>
            </a:r>
          </a:p>
          <a:p>
            <a:pPr>
              <a:buNone/>
            </a:pPr>
            <a:endParaRPr lang="en-GB" dirty="0"/>
          </a:p>
          <a:p>
            <a:r>
              <a:rPr lang="en-GB" dirty="0"/>
              <a:t>Where this intention is not clear </a:t>
            </a:r>
            <a:r>
              <a:rPr lang="en-GB" b="1" dirty="0">
                <a:solidFill>
                  <a:srgbClr val="FF0000"/>
                </a:solidFill>
              </a:rPr>
              <a:t>s. 18 rules 1-5 will establish and clarify the intention. </a:t>
            </a:r>
            <a:r>
              <a:rPr lang="en-GB" dirty="0"/>
              <a:t>r, </a:t>
            </a:r>
            <a:endParaRPr lang="en-GB" b="1" dirty="0">
              <a:solidFill>
                <a:srgbClr val="FF0000"/>
              </a:solidFill>
            </a:endParaRPr>
          </a:p>
          <a:p>
            <a:pPr>
              <a:buNone/>
            </a:pPr>
            <a:endParaRPr lang="en-GB" b="1" dirty="0"/>
          </a:p>
          <a:p>
            <a:r>
              <a:rPr lang="en-GB" b="1" dirty="0"/>
              <a:t>These sections of the SGA also apply to sales regulated by the CRA 2015 (</a:t>
            </a:r>
            <a:r>
              <a:rPr lang="en-GB" b="1" dirty="0">
                <a:solidFill>
                  <a:srgbClr val="FF0000"/>
                </a:solidFill>
              </a:rPr>
              <a:t>s.4 CRA</a:t>
            </a:r>
            <a:r>
              <a:rPr lang="en-GB" b="1" dirty="0"/>
              <a:t>)</a:t>
            </a:r>
          </a:p>
          <a:p>
            <a:pPr>
              <a:buNone/>
            </a:pPr>
            <a:endParaRPr lang="en-GB" b="1" dirty="0"/>
          </a:p>
          <a:p>
            <a:endParaRPr lang="en-GB" dirty="0"/>
          </a:p>
          <a:p>
            <a:pPr lvl="1"/>
            <a:endParaRPr lang="en-GB" dirty="0"/>
          </a:p>
        </p:txBody>
      </p:sp>
    </p:spTree>
    <p:extLst>
      <p:ext uri="{BB962C8B-B14F-4D97-AF65-F5344CB8AC3E}">
        <p14:creationId xmlns:p14="http://schemas.microsoft.com/office/powerpoint/2010/main" val="1672670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B0AE9-313F-4744-A94E-F8925FB5BEEF}"/>
              </a:ext>
            </a:extLst>
          </p:cNvPr>
          <p:cNvSpPr>
            <a:spLocks noGrp="1"/>
          </p:cNvSpPr>
          <p:nvPr>
            <p:ph type="title"/>
          </p:nvPr>
        </p:nvSpPr>
        <p:spPr>
          <a:xfrm>
            <a:off x="914400" y="533400"/>
            <a:ext cx="7772400" cy="884238"/>
          </a:xfrm>
        </p:spPr>
        <p:txBody>
          <a:bodyPr>
            <a:normAutofit/>
          </a:bodyPr>
          <a:lstStyle/>
          <a:p>
            <a:r>
              <a:rPr kumimoji="0" lang="en-US" altLang="en-US" sz="2800" b="1" i="0" u="sng" strike="noStrike" cap="none" normalizeH="0" baseline="0" dirty="0">
                <a:ln>
                  <a:noFill/>
                </a:ln>
                <a:solidFill>
                  <a:srgbClr val="FF0000"/>
                </a:solidFill>
                <a:effectLst/>
                <a:latin typeface="Palatino Linotype" panose="02040502050505030304" pitchFamily="18" charset="0"/>
                <a:ea typeface="Calibri" panose="020F0502020204030204" pitchFamily="34" charset="0"/>
                <a:cs typeface="Times New Roman" panose="02020603050405020304" pitchFamily="18" charset="0"/>
              </a:rPr>
              <a:t>Approach to problem questions on this topic</a:t>
            </a:r>
          </a:p>
        </p:txBody>
      </p:sp>
      <p:sp>
        <p:nvSpPr>
          <p:cNvPr id="3" name="Slide Number Placeholder 2">
            <a:extLst>
              <a:ext uri="{FF2B5EF4-FFF2-40B4-BE49-F238E27FC236}">
                <a16:creationId xmlns:a16="http://schemas.microsoft.com/office/drawing/2014/main" id="{BC7D42F3-E278-469B-A159-D337E4F02DA9}"/>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5" name="Rectangle 2">
            <a:extLst>
              <a:ext uri="{FF2B5EF4-FFF2-40B4-BE49-F238E27FC236}">
                <a16:creationId xmlns:a16="http://schemas.microsoft.com/office/drawing/2014/main" id="{54FA9E1F-95E8-4196-AD54-8D3CC1E7A9F8}"/>
              </a:ext>
            </a:extLst>
          </p:cNvPr>
          <p:cNvSpPr>
            <a:spLocks noChangeArrowheads="1"/>
          </p:cNvSpPr>
          <p:nvPr/>
        </p:nvSpPr>
        <p:spPr bwMode="auto">
          <a:xfrm>
            <a:off x="0" y="274637"/>
            <a:ext cx="1130879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6" name="Text Box 2">
            <a:extLst>
              <a:ext uri="{FF2B5EF4-FFF2-40B4-BE49-F238E27FC236}">
                <a16:creationId xmlns:a16="http://schemas.microsoft.com/office/drawing/2014/main" id="{2946AC8B-DCBA-452D-93B1-E80B850C8487}"/>
              </a:ext>
            </a:extLst>
          </p:cNvPr>
          <p:cNvSpPr txBox="1">
            <a:spLocks noChangeArrowheads="1"/>
          </p:cNvSpPr>
          <p:nvPr/>
        </p:nvSpPr>
        <p:spPr bwMode="auto">
          <a:xfrm>
            <a:off x="603504" y="1447799"/>
            <a:ext cx="8083296" cy="521970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rPr>
              <a:t>You need to consider the </a:t>
            </a:r>
            <a:r>
              <a:rPr kumimoji="0" lang="en-US" altLang="en-US" sz="2400" b="1" i="0" u="sng" strike="noStrike" cap="none" normalizeH="0" baseline="0" dirty="0">
                <a:ln>
                  <a:noFill/>
                </a:ln>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rPr>
              <a:t>statutory sections in order</a:t>
            </a:r>
            <a:r>
              <a:rPr kumimoji="0" lang="en-US" altLang="en-US" sz="2400" b="0" i="0" u="none" strike="noStrike" cap="none" normalizeH="0" baseline="0" dirty="0">
                <a:ln>
                  <a:noFill/>
                </a:ln>
                <a:solidFill>
                  <a:schemeClr val="tx1"/>
                </a:solidFill>
                <a:effectLst/>
                <a:latin typeface="Palatino Linotype" panose="02040502050505030304" pitchFamily="18" charset="0"/>
                <a:ea typeface="Calibri" panose="020F0502020204030204" pitchFamily="34"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FF0000"/>
                </a:solidFill>
                <a:effectLst/>
                <a:latin typeface="Arial" panose="020B0604020202020204" pitchFamily="34" charset="0"/>
                <a:ea typeface="Times New Roman" panose="02020603050405020304" pitchFamily="18" charset="0"/>
              </a:rPr>
              <a:t>S.16 </a:t>
            </a:r>
            <a:r>
              <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are the goods ascertained?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FF0000"/>
                </a:solidFill>
                <a:effectLst/>
                <a:latin typeface="Arial" panose="020B0604020202020204" pitchFamily="34" charset="0"/>
                <a:ea typeface="Times New Roman" panose="02020603050405020304" pitchFamily="18" charset="0"/>
              </a:rPr>
              <a:t>S.17 </a:t>
            </a:r>
            <a:r>
              <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if the goods are specific or ascertained when did the parties intend property in them to be transferred?  In order to assist with this consider the factors set out in </a:t>
            </a:r>
            <a:r>
              <a:rPr kumimoji="0" lang="en-US" altLang="en-US" sz="2400" b="0" i="0" u="none" strike="noStrike" cap="none" normalizeH="0" baseline="0" dirty="0">
                <a:ln>
                  <a:noFill/>
                </a:ln>
                <a:solidFill>
                  <a:srgbClr val="FF0000"/>
                </a:solidFill>
                <a:effectLst/>
                <a:latin typeface="Arial" panose="020B0604020202020204" pitchFamily="34" charset="0"/>
                <a:ea typeface="Times New Roman" panose="02020603050405020304" pitchFamily="18" charset="0"/>
              </a:rPr>
              <a:t>s.17(2)</a:t>
            </a:r>
            <a:r>
              <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namely, the terms of the contract, conduct of the parties and circumstances of the case.</a:t>
            </a: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If intention cannot be determined by applying s.17 go on to consider any relevant </a:t>
            </a:r>
            <a:r>
              <a:rPr kumimoji="0" lang="en-US" altLang="en-US" sz="2400" b="0" i="0" u="none" strike="noStrike" cap="none" normalizeH="0" baseline="0" dirty="0">
                <a:ln>
                  <a:noFill/>
                </a:ln>
                <a:solidFill>
                  <a:srgbClr val="FF0000"/>
                </a:solidFill>
                <a:effectLst/>
                <a:latin typeface="Arial" panose="020B0604020202020204" pitchFamily="34" charset="0"/>
                <a:ea typeface="Times New Roman" panose="02020603050405020304" pitchFamily="18" charset="0"/>
              </a:rPr>
              <a:t>Rules contained in s.18</a:t>
            </a:r>
            <a:r>
              <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BE2C3C57-D16A-4C92-8436-75DC7F4A3E7A}"/>
              </a:ext>
            </a:extLst>
          </p:cNvPr>
          <p:cNvSpPr>
            <a:spLocks noChangeArrowheads="1"/>
          </p:cNvSpPr>
          <p:nvPr/>
        </p:nvSpPr>
        <p:spPr bwMode="auto">
          <a:xfrm>
            <a:off x="0" y="457200"/>
            <a:ext cx="1130879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2229216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u="sng" dirty="0">
                <a:solidFill>
                  <a:schemeClr val="tx1"/>
                </a:solidFill>
              </a:rPr>
              <a:t>Specific Goods</a:t>
            </a:r>
          </a:p>
        </p:txBody>
      </p:sp>
      <p:sp>
        <p:nvSpPr>
          <p:cNvPr id="3" name="Content Placeholder 2"/>
          <p:cNvSpPr>
            <a:spLocks noGrp="1"/>
          </p:cNvSpPr>
          <p:nvPr>
            <p:ph sz="quarter" idx="1"/>
          </p:nvPr>
        </p:nvSpPr>
        <p:spPr>
          <a:xfrm>
            <a:off x="457200" y="1447800"/>
            <a:ext cx="8229600" cy="4572000"/>
          </a:xfrm>
        </p:spPr>
        <p:txBody>
          <a:bodyPr>
            <a:normAutofit fontScale="92500" lnSpcReduction="20000"/>
          </a:bodyPr>
          <a:lstStyle/>
          <a:p>
            <a:r>
              <a:rPr lang="en-GB" dirty="0"/>
              <a:t>The nature of goods - specific or unascertained – will determine the exact moment of the passing of property. </a:t>
            </a:r>
          </a:p>
          <a:p>
            <a:pPr>
              <a:buNone/>
            </a:pPr>
            <a:endParaRPr lang="en-GB" dirty="0"/>
          </a:p>
          <a:p>
            <a:r>
              <a:rPr lang="en-GB" dirty="0"/>
              <a:t>For </a:t>
            </a:r>
            <a:r>
              <a:rPr lang="en-GB" b="1" u="sng" dirty="0">
                <a:solidFill>
                  <a:srgbClr val="FF0000"/>
                </a:solidFill>
              </a:rPr>
              <a:t>specific/ascertained goods s. 17</a:t>
            </a:r>
          </a:p>
          <a:p>
            <a:pPr lvl="1"/>
            <a:r>
              <a:rPr lang="en-GB" dirty="0"/>
              <a:t>(1) Sale of specific or ascertained goods – property transferred to the B – at the time –</a:t>
            </a:r>
            <a:r>
              <a:rPr lang="en-GB" b="1" dirty="0"/>
              <a:t>intention</a:t>
            </a:r>
            <a:r>
              <a:rPr lang="en-GB" dirty="0"/>
              <a:t>.</a:t>
            </a:r>
          </a:p>
          <a:p>
            <a:pPr lvl="1"/>
            <a:r>
              <a:rPr lang="en-GB" dirty="0"/>
              <a:t>(2) Ascertaining the intention – terms of the K, conduct of parties, circumstances of the case.  </a:t>
            </a:r>
          </a:p>
          <a:p>
            <a:pPr lvl="2"/>
            <a:r>
              <a:rPr lang="en-GB" dirty="0"/>
              <a:t>(2) true for unascertained goods, too.</a:t>
            </a:r>
          </a:p>
          <a:p>
            <a:pPr lvl="2">
              <a:buNone/>
            </a:pPr>
            <a:endParaRPr lang="en-GB" dirty="0"/>
          </a:p>
          <a:p>
            <a:r>
              <a:rPr lang="en-GB" dirty="0"/>
              <a:t>For </a:t>
            </a:r>
            <a:r>
              <a:rPr lang="en-GB" b="1" u="sng" dirty="0">
                <a:solidFill>
                  <a:srgbClr val="FF0000"/>
                </a:solidFill>
              </a:rPr>
              <a:t>specific and unascertained goods s. 18 </a:t>
            </a:r>
            <a:r>
              <a:rPr lang="en-GB" dirty="0"/>
              <a:t>(supplementing s. 17(2))</a:t>
            </a:r>
          </a:p>
          <a:p>
            <a:pPr lvl="1"/>
            <a:r>
              <a:rPr lang="en-GB" b="1" dirty="0">
                <a:solidFill>
                  <a:srgbClr val="0070C0"/>
                </a:solidFill>
              </a:rPr>
              <a:t>5 Rules</a:t>
            </a:r>
            <a:r>
              <a:rPr lang="en-GB" dirty="0">
                <a:solidFill>
                  <a:srgbClr val="0070C0"/>
                </a:solidFill>
              </a:rPr>
              <a:t> </a:t>
            </a:r>
            <a:r>
              <a:rPr lang="en-GB" dirty="0"/>
              <a:t>that establish and clarify the intention of parties as to the time when the property passes to the B.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384497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A05B97-1A21-401D-B849-9A95BFC2B3EE}"/>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Title 3">
            <a:extLst>
              <a:ext uri="{FF2B5EF4-FFF2-40B4-BE49-F238E27FC236}">
                <a16:creationId xmlns:a16="http://schemas.microsoft.com/office/drawing/2014/main" id="{D5F59067-A9C3-482B-B2A5-8877DA7389C9}"/>
              </a:ext>
            </a:extLst>
          </p:cNvPr>
          <p:cNvSpPr>
            <a:spLocks noGrp="1"/>
          </p:cNvSpPr>
          <p:nvPr>
            <p:ph type="ctrTitle"/>
          </p:nvPr>
        </p:nvSpPr>
        <p:spPr/>
        <p:txBody>
          <a:bodyPr/>
          <a:lstStyle/>
          <a:p>
            <a:r>
              <a:rPr lang="en-US" b="1" dirty="0"/>
              <a:t>The s.18 Rules</a:t>
            </a:r>
            <a:endParaRPr lang="en-GB" b="1" dirty="0"/>
          </a:p>
        </p:txBody>
      </p:sp>
    </p:spTree>
    <p:extLst>
      <p:ext uri="{BB962C8B-B14F-4D97-AF65-F5344CB8AC3E}">
        <p14:creationId xmlns:p14="http://schemas.microsoft.com/office/powerpoint/2010/main" val="250353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solidFill>
                  <a:srgbClr val="FF0000"/>
                </a:solidFill>
                <a:highlight>
                  <a:srgbClr val="FFFF00"/>
                </a:highlight>
              </a:rPr>
              <a:t>Rule 1 - Unconditional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7</a:t>
            </a:fld>
            <a:endParaRPr lang="en-US"/>
          </a:p>
        </p:txBody>
      </p:sp>
      <p:sp>
        <p:nvSpPr>
          <p:cNvPr id="4" name="Content Placeholder 3"/>
          <p:cNvSpPr>
            <a:spLocks noGrp="1"/>
          </p:cNvSpPr>
          <p:nvPr>
            <p:ph sz="quarter" idx="1"/>
          </p:nvPr>
        </p:nvSpPr>
        <p:spPr>
          <a:xfrm>
            <a:off x="457200" y="1447800"/>
            <a:ext cx="8229600" cy="4953000"/>
          </a:xfrm>
        </p:spPr>
        <p:txBody>
          <a:bodyPr>
            <a:normAutofit fontScale="92500"/>
          </a:bodyPr>
          <a:lstStyle/>
          <a:p>
            <a:r>
              <a:rPr lang="en-GB" b="1" u="sng" dirty="0"/>
              <a:t>Unconditional</a:t>
            </a:r>
            <a:r>
              <a:rPr lang="en-GB" dirty="0"/>
              <a:t> contract for the sale of </a:t>
            </a:r>
            <a:r>
              <a:rPr lang="en-GB" b="1" u="sng" dirty="0"/>
              <a:t>specific</a:t>
            </a:r>
            <a:r>
              <a:rPr lang="en-GB" dirty="0"/>
              <a:t> goods</a:t>
            </a:r>
          </a:p>
          <a:p>
            <a:pPr lvl="1"/>
            <a:r>
              <a:rPr lang="en-GB" dirty="0"/>
              <a:t>K </a:t>
            </a:r>
            <a:r>
              <a:rPr lang="en-GB" b="1" dirty="0">
                <a:solidFill>
                  <a:srgbClr val="0070C0"/>
                </a:solidFill>
              </a:rPr>
              <a:t>not subject to a condition precedent/subsequent</a:t>
            </a:r>
          </a:p>
          <a:p>
            <a:pPr lvl="1"/>
            <a:r>
              <a:rPr lang="en-GB" dirty="0"/>
              <a:t>K not containing any essential conditions breach of which may give the right to the B to treat the K as repudiated.</a:t>
            </a:r>
          </a:p>
          <a:p>
            <a:pPr lvl="1">
              <a:buNone/>
            </a:pPr>
            <a:endParaRPr lang="en-GB" dirty="0"/>
          </a:p>
          <a:p>
            <a:r>
              <a:rPr lang="en-GB" b="1" i="1" dirty="0" err="1">
                <a:solidFill>
                  <a:srgbClr val="0070C0"/>
                </a:solidFill>
              </a:rPr>
              <a:t>Dennant</a:t>
            </a:r>
            <a:r>
              <a:rPr lang="en-GB" b="1" i="1" dirty="0">
                <a:solidFill>
                  <a:srgbClr val="0070C0"/>
                </a:solidFill>
              </a:rPr>
              <a:t> v Skinner and </a:t>
            </a:r>
            <a:r>
              <a:rPr lang="en-GB" b="1" i="1" dirty="0" err="1">
                <a:solidFill>
                  <a:srgbClr val="0070C0"/>
                </a:solidFill>
              </a:rPr>
              <a:t>Collom</a:t>
            </a:r>
            <a:endParaRPr lang="en-GB" b="1" i="1" dirty="0">
              <a:solidFill>
                <a:srgbClr val="0070C0"/>
              </a:solidFill>
            </a:endParaRPr>
          </a:p>
          <a:p>
            <a:pPr lvl="1"/>
            <a:r>
              <a:rPr lang="en-GB" i="1" dirty="0"/>
              <a:t>Sale of car by auction by </a:t>
            </a:r>
            <a:r>
              <a:rPr lang="en-GB" i="1" dirty="0" err="1"/>
              <a:t>Dennant</a:t>
            </a:r>
            <a:r>
              <a:rPr lang="en-GB" i="1" dirty="0"/>
              <a:t> to King.</a:t>
            </a:r>
          </a:p>
          <a:p>
            <a:pPr lvl="1"/>
            <a:r>
              <a:rPr lang="en-GB" i="1" dirty="0"/>
              <a:t>King takes the car by signing a document title to the vehicle would not pass until the cheque is cleared. </a:t>
            </a:r>
          </a:p>
          <a:p>
            <a:pPr lvl="1"/>
            <a:r>
              <a:rPr lang="en-GB" i="1" dirty="0"/>
              <a:t>King sold the car to Skinner.  The cheque King gave to </a:t>
            </a:r>
            <a:r>
              <a:rPr lang="en-GB" i="1" dirty="0" err="1"/>
              <a:t>Dennant</a:t>
            </a:r>
            <a:r>
              <a:rPr lang="en-GB" i="1" dirty="0"/>
              <a:t> “bounced”.</a:t>
            </a:r>
          </a:p>
          <a:p>
            <a:pPr lvl="1"/>
            <a:r>
              <a:rPr lang="en-GB" b="1" i="1" dirty="0"/>
              <a:t>Held: </a:t>
            </a:r>
            <a:r>
              <a:rPr lang="en-GB" i="1" dirty="0"/>
              <a:t>the property passed on the fall of the hammer (auction).  The intention of the parties to prevent the property from passing by signing a document came too late. Property had already passed by the time the document was signed.</a:t>
            </a:r>
          </a:p>
          <a:p>
            <a:endParaRPr lang="en-GB" dirty="0"/>
          </a:p>
        </p:txBody>
      </p:sp>
    </p:spTree>
    <p:extLst>
      <p:ext uri="{BB962C8B-B14F-4D97-AF65-F5344CB8AC3E}">
        <p14:creationId xmlns:p14="http://schemas.microsoft.com/office/powerpoint/2010/main" val="3025755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solidFill>
                  <a:schemeClr val="tx1"/>
                </a:solidFill>
              </a:rPr>
              <a:t>Rule 1</a:t>
            </a:r>
          </a:p>
        </p:txBody>
      </p:sp>
      <p:sp>
        <p:nvSpPr>
          <p:cNvPr id="3" name="Slide Number Placeholder 2"/>
          <p:cNvSpPr>
            <a:spLocks noGrp="1"/>
          </p:cNvSpPr>
          <p:nvPr>
            <p:ph type="sldNum" sz="quarter" idx="12"/>
          </p:nvPr>
        </p:nvSpPr>
        <p:spPr/>
        <p:txBody>
          <a:bodyPr/>
          <a:lstStyle/>
          <a:p>
            <a:fld id="{B6F15528-21DE-4FAA-801E-634DDDAF4B2B}" type="slidenum">
              <a:rPr lang="en-US" smtClean="0"/>
              <a:pPr/>
              <a:t>8</a:t>
            </a:fld>
            <a:endParaRPr lang="en-US"/>
          </a:p>
        </p:txBody>
      </p:sp>
      <p:sp>
        <p:nvSpPr>
          <p:cNvPr id="4" name="Content Placeholder 3"/>
          <p:cNvSpPr>
            <a:spLocks noGrp="1"/>
          </p:cNvSpPr>
          <p:nvPr>
            <p:ph sz="quarter" idx="1"/>
          </p:nvPr>
        </p:nvSpPr>
        <p:spPr>
          <a:xfrm>
            <a:off x="457200" y="1447800"/>
            <a:ext cx="8229600" cy="4876800"/>
          </a:xfrm>
        </p:spPr>
        <p:txBody>
          <a:bodyPr>
            <a:normAutofit fontScale="92500" lnSpcReduction="10000"/>
          </a:bodyPr>
          <a:lstStyle/>
          <a:p>
            <a:r>
              <a:rPr lang="en-GB" u="sng" dirty="0"/>
              <a:t>Unconditional:</a:t>
            </a:r>
          </a:p>
          <a:p>
            <a:pPr>
              <a:buNone/>
            </a:pPr>
            <a:endParaRPr lang="en-GB" dirty="0"/>
          </a:p>
          <a:p>
            <a:pPr lvl="1"/>
            <a:r>
              <a:rPr lang="en-GB" b="1" i="1" dirty="0" err="1">
                <a:solidFill>
                  <a:srgbClr val="0070C0"/>
                </a:solidFill>
              </a:rPr>
              <a:t>Varley</a:t>
            </a:r>
            <a:r>
              <a:rPr lang="en-GB" b="1" i="1" dirty="0">
                <a:solidFill>
                  <a:srgbClr val="0070C0"/>
                </a:solidFill>
              </a:rPr>
              <a:t> v </a:t>
            </a:r>
            <a:r>
              <a:rPr lang="en-GB" b="1" i="1" dirty="0" err="1">
                <a:solidFill>
                  <a:srgbClr val="0070C0"/>
                </a:solidFill>
              </a:rPr>
              <a:t>Whipp</a:t>
            </a:r>
            <a:endParaRPr lang="en-GB" b="1" i="1" dirty="0">
              <a:solidFill>
                <a:srgbClr val="0070C0"/>
              </a:solidFill>
            </a:endParaRPr>
          </a:p>
          <a:p>
            <a:pPr lvl="2"/>
            <a:r>
              <a:rPr lang="en-GB" dirty="0"/>
              <a:t>Contract was held to be conditional in the present context because the conditions implied by the Act as to conformity  with description (s.13) and merchantable quality ( former s. 14(2)) remained unfulfilled. </a:t>
            </a:r>
          </a:p>
          <a:p>
            <a:pPr lvl="2">
              <a:buNone/>
            </a:pPr>
            <a:endParaRPr lang="en-GB" dirty="0"/>
          </a:p>
          <a:p>
            <a:pPr lvl="1"/>
            <a:r>
              <a:rPr lang="en-GB" b="1" u="sng" dirty="0"/>
              <a:t>BUT</a:t>
            </a:r>
            <a:r>
              <a:rPr lang="en-GB" dirty="0"/>
              <a:t> this reasoning would lead to absurd conclusions:</a:t>
            </a:r>
          </a:p>
          <a:p>
            <a:pPr lvl="2"/>
            <a:r>
              <a:rPr lang="en-GB" dirty="0"/>
              <a:t>If unconditional in rule 1 means containing no conditions unfulfilled by the S, then it would not be possible to ascertain whether the property had passed until the goods had been delivered ad inspected and found to be in order.</a:t>
            </a:r>
          </a:p>
          <a:p>
            <a:pPr lvl="2">
              <a:buNone/>
            </a:pPr>
            <a:endParaRPr lang="en-GB" dirty="0"/>
          </a:p>
          <a:p>
            <a:pPr lvl="1"/>
            <a:r>
              <a:rPr lang="en-GB" dirty="0">
                <a:solidFill>
                  <a:srgbClr val="FF0000"/>
                </a:solidFill>
              </a:rPr>
              <a:t>Modern meaning of unconditional: </a:t>
            </a:r>
            <a:r>
              <a:rPr lang="en-GB" b="1" dirty="0">
                <a:solidFill>
                  <a:srgbClr val="FF0000"/>
                </a:solidFill>
              </a:rPr>
              <a:t>Not subject to any condition upon the fulfilment of which the passing of the property depends.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Rule 1</a:t>
            </a:r>
          </a:p>
        </p:txBody>
      </p:sp>
      <p:sp>
        <p:nvSpPr>
          <p:cNvPr id="3" name="Slide Number Placeholder 2"/>
          <p:cNvSpPr>
            <a:spLocks noGrp="1"/>
          </p:cNvSpPr>
          <p:nvPr>
            <p:ph type="sldNum" sz="quarter" idx="12"/>
          </p:nvPr>
        </p:nvSpPr>
        <p:spPr/>
        <p:txBody>
          <a:bodyPr/>
          <a:lstStyle/>
          <a:p>
            <a:fld id="{B6F15528-21DE-4FAA-801E-634DDDAF4B2B}" type="slidenum">
              <a:rPr lang="en-US" smtClean="0"/>
              <a:pPr/>
              <a:t>9</a:t>
            </a:fld>
            <a:endParaRPr lang="en-US"/>
          </a:p>
        </p:txBody>
      </p:sp>
      <p:sp>
        <p:nvSpPr>
          <p:cNvPr id="4" name="Content Placeholder 3"/>
          <p:cNvSpPr>
            <a:spLocks noGrp="1"/>
          </p:cNvSpPr>
          <p:nvPr>
            <p:ph sz="quarter" idx="1"/>
          </p:nvPr>
        </p:nvSpPr>
        <p:spPr>
          <a:xfrm>
            <a:off x="381000" y="1447800"/>
            <a:ext cx="8305800" cy="4876800"/>
          </a:xfrm>
        </p:spPr>
        <p:txBody>
          <a:bodyPr>
            <a:normAutofit fontScale="70000" lnSpcReduction="20000"/>
          </a:bodyPr>
          <a:lstStyle/>
          <a:p>
            <a:r>
              <a:rPr lang="en-GB" sz="2900" b="1" dirty="0">
                <a:solidFill>
                  <a:srgbClr val="FF0000"/>
                </a:solidFill>
              </a:rPr>
              <a:t>Rule 1 deals with K’s with no conditions</a:t>
            </a:r>
            <a:r>
              <a:rPr lang="en-GB" sz="2900" dirty="0">
                <a:solidFill>
                  <a:srgbClr val="FF0000"/>
                </a:solidFill>
              </a:rPr>
              <a:t>.</a:t>
            </a:r>
          </a:p>
          <a:p>
            <a:pPr>
              <a:buNone/>
            </a:pPr>
            <a:endParaRPr lang="en-GB" dirty="0"/>
          </a:p>
          <a:p>
            <a:pPr lvl="1"/>
            <a:r>
              <a:rPr lang="en-GB" sz="2600" dirty="0"/>
              <a:t>Every K has essential stipulations </a:t>
            </a:r>
            <a:r>
              <a:rPr lang="en-GB" sz="2600" i="1" dirty="0"/>
              <a:t>e.g. </a:t>
            </a:r>
            <a:r>
              <a:rPr lang="en-GB" sz="2600" dirty="0"/>
              <a:t>S to deliver the goods to the B; B to accept and pay the price. </a:t>
            </a:r>
          </a:p>
          <a:p>
            <a:pPr lvl="1">
              <a:buNone/>
            </a:pPr>
            <a:endParaRPr lang="en-GB" sz="3400" dirty="0"/>
          </a:p>
          <a:p>
            <a:pPr lvl="1"/>
            <a:r>
              <a:rPr lang="en-GB" sz="3400" dirty="0">
                <a:highlight>
                  <a:srgbClr val="FFFF00"/>
                </a:highlight>
              </a:rPr>
              <a:t>But </a:t>
            </a:r>
            <a:r>
              <a:rPr lang="en-GB" sz="3400" dirty="0">
                <a:solidFill>
                  <a:srgbClr val="FF0000"/>
                </a:solidFill>
                <a:highlight>
                  <a:srgbClr val="FFFF00"/>
                </a:highlight>
              </a:rPr>
              <a:t>unconditional here means that having </a:t>
            </a:r>
            <a:r>
              <a:rPr lang="en-GB" sz="3400" u="sng" dirty="0">
                <a:solidFill>
                  <a:srgbClr val="FF0000"/>
                </a:solidFill>
                <a:highlight>
                  <a:srgbClr val="FFFF00"/>
                </a:highlight>
              </a:rPr>
              <a:t>no conditions relevant to the passing of the property.</a:t>
            </a:r>
          </a:p>
          <a:p>
            <a:pPr lvl="1">
              <a:buNone/>
            </a:pPr>
            <a:endParaRPr lang="en-GB" u="sng" dirty="0"/>
          </a:p>
          <a:p>
            <a:pPr lvl="1"/>
            <a:r>
              <a:rPr lang="en-GB" dirty="0"/>
              <a:t>The most important condition relates to </a:t>
            </a:r>
            <a:r>
              <a:rPr lang="en-GB" b="1" dirty="0"/>
              <a:t>payment</a:t>
            </a:r>
            <a:r>
              <a:rPr lang="en-GB" dirty="0"/>
              <a:t>.</a:t>
            </a:r>
          </a:p>
          <a:p>
            <a:pPr lvl="2"/>
            <a:r>
              <a:rPr lang="en-GB" sz="2300" dirty="0"/>
              <a:t>Express terms may make the passing of property conditional on payment even after delivery.</a:t>
            </a:r>
          </a:p>
          <a:p>
            <a:pPr lvl="3"/>
            <a:r>
              <a:rPr lang="en-GB" sz="2300" b="1" i="1" dirty="0">
                <a:solidFill>
                  <a:srgbClr val="0070C0"/>
                </a:solidFill>
              </a:rPr>
              <a:t>Aluminium </a:t>
            </a:r>
            <a:r>
              <a:rPr lang="en-GB" sz="2300" b="1" i="1" dirty="0" err="1">
                <a:solidFill>
                  <a:srgbClr val="0070C0"/>
                </a:solidFill>
              </a:rPr>
              <a:t>Industrie</a:t>
            </a:r>
            <a:r>
              <a:rPr lang="en-GB" sz="2300" b="1" i="1" dirty="0">
                <a:solidFill>
                  <a:srgbClr val="0070C0"/>
                </a:solidFill>
              </a:rPr>
              <a:t> v </a:t>
            </a:r>
            <a:r>
              <a:rPr lang="en-GB" sz="2300" b="1" i="1" dirty="0" err="1">
                <a:solidFill>
                  <a:srgbClr val="0070C0"/>
                </a:solidFill>
              </a:rPr>
              <a:t>Romalpa</a:t>
            </a:r>
            <a:r>
              <a:rPr lang="en-GB" sz="2300" b="1" i="1" dirty="0">
                <a:solidFill>
                  <a:srgbClr val="0070C0"/>
                </a:solidFill>
              </a:rPr>
              <a:t> </a:t>
            </a:r>
            <a:r>
              <a:rPr lang="en-GB" sz="2300" b="1" dirty="0">
                <a:solidFill>
                  <a:srgbClr val="0070C0"/>
                </a:solidFill>
              </a:rPr>
              <a:t> </a:t>
            </a:r>
          </a:p>
          <a:p>
            <a:pPr lvl="2"/>
            <a:r>
              <a:rPr lang="en-GB" sz="2300" dirty="0"/>
              <a:t>A cheque is considered as conditional discharge of the payment obligation and the fact that a payment has been made by cheque does not prevent the passage of property under Rule 1</a:t>
            </a:r>
          </a:p>
          <a:p>
            <a:pPr lvl="3"/>
            <a:r>
              <a:rPr lang="en-GB" sz="2300" i="1" dirty="0"/>
              <a:t>Anderson v Havana Horse and others.</a:t>
            </a:r>
          </a:p>
          <a:p>
            <a:pPr lvl="3">
              <a:buNone/>
            </a:pPr>
            <a:endParaRPr lang="en-GB" i="1" dirty="0"/>
          </a:p>
          <a:p>
            <a:r>
              <a:rPr lang="en-GB" sz="4000" b="1" dirty="0">
                <a:solidFill>
                  <a:srgbClr val="FF0000"/>
                </a:solidFill>
                <a:highlight>
                  <a:srgbClr val="FFFF00"/>
                </a:highlight>
              </a:rPr>
              <a:t>Rules 2 – 4 deal with K with conditions </a:t>
            </a:r>
            <a:r>
              <a:rPr lang="en-GB" sz="4000" dirty="0">
                <a:solidFill>
                  <a:srgbClr val="FF0000"/>
                </a:solidFill>
              </a:rPr>
              <a:t>(conditional sale of specific goods).</a:t>
            </a:r>
          </a:p>
        </p:txBody>
      </p:sp>
    </p:spTree>
    <p:extLst>
      <p:ext uri="{BB962C8B-B14F-4D97-AF65-F5344CB8AC3E}">
        <p14:creationId xmlns:p14="http://schemas.microsoft.com/office/powerpoint/2010/main" val="1029565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944562"/>
          </a:xfrm>
        </p:spPr>
        <p:txBody>
          <a:bodyPr>
            <a:normAutofit/>
          </a:bodyPr>
          <a:lstStyle/>
          <a:p>
            <a:r>
              <a:rPr lang="en-GB" u="sng" dirty="0">
                <a:solidFill>
                  <a:schemeClr val="tx1"/>
                </a:solidFill>
              </a:rPr>
              <a:t>Rule 1 - Specific goods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10</a:t>
            </a:fld>
            <a:endParaRPr lang="en-US"/>
          </a:p>
        </p:txBody>
      </p:sp>
      <p:sp>
        <p:nvSpPr>
          <p:cNvPr id="4" name="Content Placeholder 3"/>
          <p:cNvSpPr>
            <a:spLocks noGrp="1"/>
          </p:cNvSpPr>
          <p:nvPr>
            <p:ph sz="quarter" idx="1"/>
          </p:nvPr>
        </p:nvSpPr>
        <p:spPr>
          <a:xfrm>
            <a:off x="533400" y="1447800"/>
            <a:ext cx="8153400" cy="4800600"/>
          </a:xfrm>
        </p:spPr>
        <p:txBody>
          <a:bodyPr>
            <a:normAutofit fontScale="92500" lnSpcReduction="20000"/>
          </a:bodyPr>
          <a:lstStyle/>
          <a:p>
            <a:r>
              <a:rPr lang="en-GB" b="1" u="sng" dirty="0">
                <a:solidFill>
                  <a:srgbClr val="FF0000"/>
                </a:solidFill>
              </a:rPr>
              <a:t>Specific goods</a:t>
            </a:r>
          </a:p>
          <a:p>
            <a:pPr>
              <a:buNone/>
            </a:pPr>
            <a:endParaRPr lang="en-GB" dirty="0"/>
          </a:p>
          <a:p>
            <a:pPr lvl="1"/>
            <a:r>
              <a:rPr lang="en-GB" b="1" dirty="0">
                <a:solidFill>
                  <a:srgbClr val="FF0000"/>
                </a:solidFill>
              </a:rPr>
              <a:t>S. 61:  </a:t>
            </a:r>
            <a:r>
              <a:rPr lang="en-GB" dirty="0"/>
              <a:t>“identified and agreed upon at the time a K of sale is made.”</a:t>
            </a:r>
          </a:p>
          <a:p>
            <a:pPr lvl="1"/>
            <a:endParaRPr lang="en-GB" dirty="0"/>
          </a:p>
          <a:p>
            <a:pPr lvl="2"/>
            <a:r>
              <a:rPr lang="en-GB" dirty="0"/>
              <a:t>Future goods cannot be specific.</a:t>
            </a:r>
          </a:p>
          <a:p>
            <a:pPr lvl="2"/>
            <a:endParaRPr lang="en-GB" b="1" u="sng" dirty="0"/>
          </a:p>
          <a:p>
            <a:pPr lvl="1"/>
            <a:r>
              <a:rPr lang="en-GB" b="1" u="sng" dirty="0"/>
              <a:t>Identified?</a:t>
            </a:r>
          </a:p>
          <a:p>
            <a:pPr marL="320040" lvl="1" indent="0">
              <a:buNone/>
            </a:pPr>
            <a:endParaRPr lang="en-GB" dirty="0"/>
          </a:p>
          <a:p>
            <a:pPr lvl="2"/>
            <a:r>
              <a:rPr lang="en-GB" dirty="0"/>
              <a:t>General descriptive words – enough?</a:t>
            </a:r>
          </a:p>
          <a:p>
            <a:pPr lvl="2"/>
            <a:endParaRPr lang="en-GB" dirty="0"/>
          </a:p>
          <a:p>
            <a:pPr lvl="3"/>
            <a:r>
              <a:rPr lang="en-GB" sz="2200" b="1" i="1" dirty="0" err="1">
                <a:solidFill>
                  <a:srgbClr val="0070C0"/>
                </a:solidFill>
              </a:rPr>
              <a:t>Kursell</a:t>
            </a:r>
            <a:r>
              <a:rPr lang="en-GB" sz="2200" b="1" i="1" dirty="0">
                <a:solidFill>
                  <a:srgbClr val="0070C0"/>
                </a:solidFill>
              </a:rPr>
              <a:t> v Timber Operators</a:t>
            </a:r>
          </a:p>
          <a:p>
            <a:pPr lvl="4"/>
            <a:r>
              <a:rPr lang="en-GB" dirty="0"/>
              <a:t>Sale of all the tress in a Latvian forest that conformed to certain measurements.</a:t>
            </a:r>
          </a:p>
          <a:p>
            <a:pPr lvl="4"/>
            <a:r>
              <a:rPr lang="en-GB" dirty="0"/>
              <a:t>Held (CA):  property in the trees had not passed.  The goods were not sufficiently identified as property in all the trees was not to pass but rather  only property in those that conformed to the specified measurements.</a:t>
            </a:r>
          </a:p>
        </p:txBody>
      </p:sp>
    </p:spTree>
    <p:extLst>
      <p:ext uri="{BB962C8B-B14F-4D97-AF65-F5344CB8AC3E}">
        <p14:creationId xmlns:p14="http://schemas.microsoft.com/office/powerpoint/2010/main" val="336874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Rule 1 – Specific Goods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11</a:t>
            </a:fld>
            <a:endParaRPr lang="en-US"/>
          </a:p>
        </p:txBody>
      </p:sp>
      <p:sp>
        <p:nvSpPr>
          <p:cNvPr id="4" name="Content Placeholder 3"/>
          <p:cNvSpPr>
            <a:spLocks noGrp="1"/>
          </p:cNvSpPr>
          <p:nvPr>
            <p:ph sz="quarter" idx="1"/>
          </p:nvPr>
        </p:nvSpPr>
        <p:spPr/>
        <p:txBody>
          <a:bodyPr/>
          <a:lstStyle/>
          <a:p>
            <a:pPr lvl="3"/>
            <a:endParaRPr lang="en-GB" sz="2800" i="1" dirty="0"/>
          </a:p>
          <a:p>
            <a:pPr lvl="3"/>
            <a:r>
              <a:rPr lang="en-GB" sz="2800" i="1" dirty="0"/>
              <a:t>But </a:t>
            </a:r>
            <a:r>
              <a:rPr lang="en-GB" sz="2800" i="1" dirty="0" err="1"/>
              <a:t>cf</a:t>
            </a:r>
            <a:r>
              <a:rPr lang="en-GB" sz="2800" i="1" dirty="0"/>
              <a:t> </a:t>
            </a:r>
            <a:r>
              <a:rPr lang="en-GB" sz="2800" b="1" i="1" dirty="0">
                <a:solidFill>
                  <a:srgbClr val="0070C0"/>
                </a:solidFill>
              </a:rPr>
              <a:t>Joseph Reid v Schultz </a:t>
            </a:r>
          </a:p>
          <a:p>
            <a:pPr lvl="3">
              <a:buNone/>
            </a:pPr>
            <a:endParaRPr lang="en-GB" sz="2800" b="1" i="1" dirty="0"/>
          </a:p>
          <a:p>
            <a:pPr lvl="4"/>
            <a:r>
              <a:rPr lang="en-GB" sz="2800" dirty="0" err="1"/>
              <a:t>Millable</a:t>
            </a:r>
            <a:r>
              <a:rPr lang="en-GB" sz="2800" dirty="0"/>
              <a:t>/marketable hardwood timber at a certain site was held to be a sale of specific goods.</a:t>
            </a:r>
          </a:p>
          <a:p>
            <a:pPr marL="0" indent="0">
              <a:buNone/>
            </a:pP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Rule 1</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12</a:t>
            </a:fld>
            <a:endParaRPr lang="en-US"/>
          </a:p>
        </p:txBody>
      </p:sp>
      <p:sp>
        <p:nvSpPr>
          <p:cNvPr id="4" name="Content Placeholder 3"/>
          <p:cNvSpPr>
            <a:spLocks noGrp="1"/>
          </p:cNvSpPr>
          <p:nvPr>
            <p:ph sz="quarter" idx="1"/>
          </p:nvPr>
        </p:nvSpPr>
        <p:spPr/>
        <p:txBody>
          <a:bodyPr>
            <a:normAutofit fontScale="92500" lnSpcReduction="10000"/>
          </a:bodyPr>
          <a:lstStyle/>
          <a:p>
            <a:r>
              <a:rPr lang="en-GB" b="1" i="1" u="sng" dirty="0">
                <a:solidFill>
                  <a:srgbClr val="0070C0"/>
                </a:solidFill>
              </a:rPr>
              <a:t>Commissioners of Customs and Excise v </a:t>
            </a:r>
            <a:r>
              <a:rPr lang="en-GB" b="1" i="1" u="sng" dirty="0" err="1">
                <a:solidFill>
                  <a:srgbClr val="0070C0"/>
                </a:solidFill>
              </a:rPr>
              <a:t>Everwine</a:t>
            </a:r>
            <a:r>
              <a:rPr lang="en-GB" b="1" i="1" u="sng" dirty="0">
                <a:solidFill>
                  <a:srgbClr val="0070C0"/>
                </a:solidFill>
              </a:rPr>
              <a:t> Ltd </a:t>
            </a:r>
            <a:r>
              <a:rPr lang="en-GB" b="1" i="1" dirty="0"/>
              <a:t>(also see Rule 5)</a:t>
            </a:r>
          </a:p>
          <a:p>
            <a:pPr>
              <a:buNone/>
            </a:pPr>
            <a:endParaRPr lang="en-GB" i="1" dirty="0"/>
          </a:p>
          <a:p>
            <a:pPr lvl="1"/>
            <a:r>
              <a:rPr lang="en-GB" dirty="0"/>
              <a:t>Wine belonging to E was held in a 3</a:t>
            </a:r>
            <a:r>
              <a:rPr lang="en-GB" baseline="30000" dirty="0"/>
              <a:t>rd</a:t>
            </a:r>
            <a:r>
              <a:rPr lang="en-GB" dirty="0"/>
              <a:t> party’s warehouse (X). Whenever E sold wine to a wine trader release notes were faxed to X, specifying the goods that had been sold. </a:t>
            </a:r>
          </a:p>
          <a:p>
            <a:pPr lvl="1">
              <a:buNone/>
            </a:pPr>
            <a:endParaRPr lang="en-GB" dirty="0"/>
          </a:p>
          <a:p>
            <a:pPr lvl="1"/>
            <a:r>
              <a:rPr lang="en-GB" b="1" dirty="0"/>
              <a:t>Held (CA): </a:t>
            </a:r>
            <a:r>
              <a:rPr lang="en-GB" dirty="0"/>
              <a:t>property had passed to the B where the goods specified were the whole of the stock of that description held on that day by X. This was held to be sufficient appropriation. However, where the release notes did not cover all of X’s stock the goods were unascertained and property could not pass as there was not sufficient specificity for the goods to be ascertained.</a:t>
            </a:r>
          </a:p>
        </p:txBody>
      </p:sp>
    </p:spTree>
    <p:extLst>
      <p:ext uri="{BB962C8B-B14F-4D97-AF65-F5344CB8AC3E}">
        <p14:creationId xmlns:p14="http://schemas.microsoft.com/office/powerpoint/2010/main" val="798435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944562"/>
          </a:xfrm>
        </p:spPr>
        <p:txBody>
          <a:bodyPr>
            <a:normAutofit/>
          </a:bodyPr>
          <a:lstStyle/>
          <a:p>
            <a:r>
              <a:rPr lang="en-GB" b="1" u="sng" dirty="0">
                <a:solidFill>
                  <a:schemeClr val="tx1"/>
                </a:solidFill>
              </a:rPr>
              <a:t>Rule 1 - Deliverable state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
        <p:nvSpPr>
          <p:cNvPr id="4" name="Content Placeholder 3"/>
          <p:cNvSpPr>
            <a:spLocks noGrp="1"/>
          </p:cNvSpPr>
          <p:nvPr>
            <p:ph sz="quarter" idx="1"/>
          </p:nvPr>
        </p:nvSpPr>
        <p:spPr>
          <a:xfrm>
            <a:off x="533400" y="1447800"/>
            <a:ext cx="8153400" cy="4724400"/>
          </a:xfrm>
        </p:spPr>
        <p:txBody>
          <a:bodyPr>
            <a:normAutofit/>
          </a:bodyPr>
          <a:lstStyle/>
          <a:p>
            <a:r>
              <a:rPr lang="en-GB" b="1" u="sng" dirty="0">
                <a:solidFill>
                  <a:srgbClr val="FF0000"/>
                </a:solidFill>
              </a:rPr>
              <a:t>Deliverable state </a:t>
            </a:r>
          </a:p>
          <a:p>
            <a:pPr>
              <a:buNone/>
            </a:pPr>
            <a:endParaRPr lang="en-GB" dirty="0"/>
          </a:p>
          <a:p>
            <a:pPr lvl="1"/>
            <a:r>
              <a:rPr lang="en-GB" b="1" dirty="0">
                <a:solidFill>
                  <a:srgbClr val="FF0000"/>
                </a:solidFill>
              </a:rPr>
              <a:t>S. 61(5) </a:t>
            </a:r>
            <a:r>
              <a:rPr lang="en-GB" dirty="0"/>
              <a:t>– not a comprehensive definition.</a:t>
            </a:r>
          </a:p>
          <a:p>
            <a:pPr lvl="1">
              <a:buNone/>
            </a:pPr>
            <a:endParaRPr lang="en-GB" dirty="0"/>
          </a:p>
          <a:p>
            <a:pPr lvl="2"/>
            <a:r>
              <a:rPr lang="en-GB" dirty="0"/>
              <a:t>(1) No clarity as to whether the B would be bound to take delivery of the goods if the goods were not in a deliverable state. </a:t>
            </a:r>
          </a:p>
          <a:p>
            <a:pPr lvl="2">
              <a:buNone/>
            </a:pPr>
            <a:endParaRPr lang="en-GB" dirty="0"/>
          </a:p>
          <a:p>
            <a:pPr lvl="2"/>
            <a:r>
              <a:rPr lang="en-GB" dirty="0"/>
              <a:t>(2)  The B is not bound to accept delivery of defective goods but the section does not say that all defective goods are not in a deliverable state within the meaning of this provision.</a:t>
            </a:r>
          </a:p>
          <a:p>
            <a:pPr lvl="2"/>
            <a:endParaRPr lang="en-GB" dirty="0"/>
          </a:p>
          <a:p>
            <a:pPr lvl="3"/>
            <a:r>
              <a:rPr lang="en-GB" b="1" u="sng" dirty="0">
                <a:highlight>
                  <a:srgbClr val="FFFF00"/>
                </a:highlight>
              </a:rPr>
              <a:t>BUT defects do not prevent property passing.  Important!</a:t>
            </a:r>
          </a:p>
          <a:p>
            <a:pPr lvl="2"/>
            <a:endParaRPr lang="en-GB" dirty="0"/>
          </a:p>
          <a:p>
            <a:endParaRPr lang="en-GB" dirty="0"/>
          </a:p>
        </p:txBody>
      </p:sp>
    </p:spTree>
    <p:extLst>
      <p:ext uri="{BB962C8B-B14F-4D97-AF65-F5344CB8AC3E}">
        <p14:creationId xmlns:p14="http://schemas.microsoft.com/office/powerpoint/2010/main" val="652672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Rule 1 – Deliverable State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14</a:t>
            </a:fld>
            <a:endParaRPr lang="en-US"/>
          </a:p>
        </p:txBody>
      </p:sp>
      <p:sp>
        <p:nvSpPr>
          <p:cNvPr id="4" name="Content Placeholder 3"/>
          <p:cNvSpPr>
            <a:spLocks noGrp="1"/>
          </p:cNvSpPr>
          <p:nvPr>
            <p:ph sz="quarter" idx="1"/>
          </p:nvPr>
        </p:nvSpPr>
        <p:spPr/>
        <p:txBody>
          <a:bodyPr/>
          <a:lstStyle/>
          <a:p>
            <a:pPr lvl="2"/>
            <a:endParaRPr lang="en-GB" sz="2400" dirty="0">
              <a:solidFill>
                <a:srgbClr val="0070C0"/>
              </a:solidFill>
            </a:endParaRPr>
          </a:p>
          <a:p>
            <a:pPr lvl="2"/>
            <a:r>
              <a:rPr lang="en-GB" sz="2400" b="1" u="sng" dirty="0">
                <a:solidFill>
                  <a:srgbClr val="0070C0"/>
                </a:solidFill>
              </a:rPr>
              <a:t>Intended meaning: </a:t>
            </a:r>
            <a:r>
              <a:rPr lang="en-GB" sz="2400" dirty="0">
                <a:solidFill>
                  <a:srgbClr val="0070C0"/>
                </a:solidFill>
              </a:rPr>
              <a:t>where the goods could not be said to be in a physically deliverable state yet the B had agreed to take delivery of them as they stood.</a:t>
            </a:r>
          </a:p>
          <a:p>
            <a:pPr lvl="2">
              <a:buNone/>
            </a:pPr>
            <a:endParaRPr lang="en-GB" sz="2400" dirty="0"/>
          </a:p>
          <a:p>
            <a:pPr lvl="2"/>
            <a:r>
              <a:rPr lang="en-GB" sz="2400" u="sng" dirty="0"/>
              <a:t>Deliverable state should not be referred to voluntary transfer of possession </a:t>
            </a:r>
            <a:r>
              <a:rPr lang="en-GB" sz="2400" dirty="0"/>
              <a:t>because if the parties intend to transfer property physical condition does not matter.</a:t>
            </a:r>
          </a:p>
          <a:p>
            <a:pPr marL="0" indent="0">
              <a:buNone/>
            </a:pP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Rule 1</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sp>
        <p:nvSpPr>
          <p:cNvPr id="4" name="Content Placeholder 3"/>
          <p:cNvSpPr>
            <a:spLocks noGrp="1"/>
          </p:cNvSpPr>
          <p:nvPr>
            <p:ph sz="quarter" idx="1"/>
          </p:nvPr>
        </p:nvSpPr>
        <p:spPr>
          <a:xfrm>
            <a:off x="457200" y="1447800"/>
            <a:ext cx="8229600" cy="4876800"/>
          </a:xfrm>
        </p:spPr>
        <p:txBody>
          <a:bodyPr>
            <a:normAutofit fontScale="92500" lnSpcReduction="20000"/>
          </a:bodyPr>
          <a:lstStyle/>
          <a:p>
            <a:pPr>
              <a:buNone/>
            </a:pPr>
            <a:r>
              <a:rPr lang="en-GB" sz="2400" b="1" i="1" u="sng" dirty="0">
                <a:solidFill>
                  <a:srgbClr val="0070C0"/>
                </a:solidFill>
              </a:rPr>
              <a:t>Underwood v Burgh Castle</a:t>
            </a:r>
            <a:r>
              <a:rPr lang="en-GB" sz="2400" b="1" i="1" u="sng" dirty="0"/>
              <a:t> </a:t>
            </a:r>
          </a:p>
          <a:p>
            <a:pPr lvl="1"/>
            <a:r>
              <a:rPr lang="en-GB" dirty="0"/>
              <a:t>U sold a condensing engine to B. The </a:t>
            </a:r>
            <a:r>
              <a:rPr lang="en-GB" b="1" u="sng" dirty="0"/>
              <a:t>engine was cemented to the floor</a:t>
            </a:r>
            <a:r>
              <a:rPr lang="en-GB" dirty="0"/>
              <a:t>. It had to be dismantled after it was detached from the floor. Under FOB K it was the seller’s (U’s) duty to do this. </a:t>
            </a:r>
          </a:p>
          <a:p>
            <a:pPr lvl="1"/>
            <a:r>
              <a:rPr lang="en-GB" b="1" dirty="0"/>
              <a:t>Held (CA): </a:t>
            </a:r>
            <a:r>
              <a:rPr lang="en-GB" dirty="0"/>
              <a:t>the engine was not in a deliverable state and the property had not passed when the contract was made.  It was also thought that the property was not intended to pass on the sale.</a:t>
            </a:r>
          </a:p>
          <a:p>
            <a:pPr lvl="1">
              <a:buNone/>
            </a:pPr>
            <a:endParaRPr lang="en-GB" u="sng" dirty="0">
              <a:solidFill>
                <a:srgbClr val="0070C0"/>
              </a:solidFill>
            </a:endParaRPr>
          </a:p>
          <a:p>
            <a:pPr>
              <a:buNone/>
            </a:pPr>
            <a:r>
              <a:rPr lang="en-GB" sz="2400" b="1" i="1" u="sng" dirty="0">
                <a:solidFill>
                  <a:srgbClr val="0070C0"/>
                </a:solidFill>
              </a:rPr>
              <a:t>Head v </a:t>
            </a:r>
            <a:r>
              <a:rPr lang="en-GB" sz="2400" b="1" i="1" u="sng" dirty="0" err="1">
                <a:solidFill>
                  <a:srgbClr val="0070C0"/>
                </a:solidFill>
              </a:rPr>
              <a:t>Showfronts</a:t>
            </a:r>
            <a:endParaRPr lang="en-GB" sz="2400" b="1" i="1" u="sng" dirty="0">
              <a:solidFill>
                <a:srgbClr val="0070C0"/>
              </a:solidFill>
            </a:endParaRPr>
          </a:p>
          <a:p>
            <a:pPr lvl="1"/>
            <a:r>
              <a:rPr lang="en-GB" dirty="0"/>
              <a:t>Case under s. 18 r. 5(1) connected to the phrase 'deliverable state’</a:t>
            </a:r>
          </a:p>
          <a:p>
            <a:pPr lvl="1"/>
            <a:r>
              <a:rPr lang="en-GB" dirty="0"/>
              <a:t>H sold carpeting to S. H was to lay the carpet. Before it was laid it was stolen.</a:t>
            </a:r>
          </a:p>
          <a:p>
            <a:pPr lvl="1"/>
            <a:r>
              <a:rPr lang="en-GB" b="1" dirty="0"/>
              <a:t>Held: </a:t>
            </a:r>
            <a:r>
              <a:rPr lang="en-GB" dirty="0"/>
              <a:t>the carpet was not in a deliverable state as the H had not yet laid it and the property had not yet passed.</a:t>
            </a:r>
          </a:p>
          <a:p>
            <a:pPr lvl="1"/>
            <a:endParaRPr lang="en-GB" dirty="0"/>
          </a:p>
          <a:p>
            <a:pPr lvl="1">
              <a:buNone/>
            </a:pPr>
            <a:r>
              <a:rPr lang="en-GB" u="sng" dirty="0"/>
              <a:t>See also:</a:t>
            </a:r>
            <a:r>
              <a:rPr lang="en-GB" dirty="0"/>
              <a:t>  </a:t>
            </a:r>
            <a:r>
              <a:rPr lang="en-GB" b="1" dirty="0" err="1">
                <a:solidFill>
                  <a:srgbClr val="0070C0"/>
                </a:solidFill>
              </a:rPr>
              <a:t>Kulkarniv</a:t>
            </a:r>
            <a:r>
              <a:rPr lang="en-GB" b="1" dirty="0">
                <a:solidFill>
                  <a:srgbClr val="0070C0"/>
                </a:solidFill>
              </a:rPr>
              <a:t> v Manor Credit</a:t>
            </a:r>
          </a:p>
          <a:p>
            <a:pPr lvl="1"/>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68362"/>
          </a:xfrm>
        </p:spPr>
        <p:txBody>
          <a:bodyPr/>
          <a:lstStyle/>
          <a:p>
            <a:r>
              <a:rPr lang="en-GB" b="1" u="sng" dirty="0">
                <a:solidFill>
                  <a:schemeClr val="tx1"/>
                </a:solidFill>
              </a:rPr>
              <a:t>Rule 1 - Contrary intention</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16</a:t>
            </a:fld>
            <a:endParaRPr lang="en-US"/>
          </a:p>
        </p:txBody>
      </p:sp>
      <p:sp>
        <p:nvSpPr>
          <p:cNvPr id="4" name="Content Placeholder 3"/>
          <p:cNvSpPr>
            <a:spLocks noGrp="1"/>
          </p:cNvSpPr>
          <p:nvPr>
            <p:ph sz="quarter" idx="1"/>
          </p:nvPr>
        </p:nvSpPr>
        <p:spPr>
          <a:xfrm>
            <a:off x="457200" y="1219200"/>
            <a:ext cx="8229600" cy="5181600"/>
          </a:xfrm>
        </p:spPr>
        <p:txBody>
          <a:bodyPr>
            <a:normAutofit fontScale="92500" lnSpcReduction="10000"/>
          </a:bodyPr>
          <a:lstStyle/>
          <a:p>
            <a:pPr>
              <a:buNone/>
            </a:pPr>
            <a:r>
              <a:rPr lang="en-GB" b="1" u="sng" dirty="0"/>
              <a:t>(a) Express agreement</a:t>
            </a:r>
          </a:p>
          <a:p>
            <a:pPr lvl="1"/>
            <a:r>
              <a:rPr lang="en-GB" dirty="0"/>
              <a:t>Property will not pass until e.g. payment is made. </a:t>
            </a:r>
          </a:p>
          <a:p>
            <a:pPr lvl="2"/>
            <a:r>
              <a:rPr lang="en-GB" b="1" i="1" dirty="0">
                <a:solidFill>
                  <a:srgbClr val="0070C0"/>
                </a:solidFill>
              </a:rPr>
              <a:t>Aluminium </a:t>
            </a:r>
            <a:r>
              <a:rPr lang="en-GB" b="1" i="1" dirty="0" err="1">
                <a:solidFill>
                  <a:srgbClr val="0070C0"/>
                </a:solidFill>
              </a:rPr>
              <a:t>Industrie</a:t>
            </a:r>
            <a:r>
              <a:rPr lang="en-GB" b="1" i="1" dirty="0">
                <a:solidFill>
                  <a:srgbClr val="0070C0"/>
                </a:solidFill>
              </a:rPr>
              <a:t> v </a:t>
            </a:r>
            <a:r>
              <a:rPr lang="en-GB" b="1" i="1" dirty="0" err="1">
                <a:solidFill>
                  <a:srgbClr val="0070C0"/>
                </a:solidFill>
              </a:rPr>
              <a:t>Romalpa</a:t>
            </a:r>
            <a:endParaRPr lang="en-GB" b="1" i="1" dirty="0">
              <a:solidFill>
                <a:srgbClr val="0070C0"/>
              </a:solidFill>
            </a:endParaRPr>
          </a:p>
          <a:p>
            <a:pPr lvl="1"/>
            <a:r>
              <a:rPr lang="en-GB" u="sng" dirty="0"/>
              <a:t>In the absence of an express agreement the onus is on the S to displace the statutory presumption.</a:t>
            </a:r>
          </a:p>
          <a:p>
            <a:pPr lvl="1">
              <a:buNone/>
            </a:pPr>
            <a:endParaRPr lang="en-GB" dirty="0"/>
          </a:p>
          <a:p>
            <a:pPr>
              <a:buNone/>
            </a:pPr>
            <a:r>
              <a:rPr lang="en-GB" b="1" dirty="0"/>
              <a:t>(b) </a:t>
            </a:r>
            <a:r>
              <a:rPr lang="en-GB" b="1" u="sng" dirty="0"/>
              <a:t>Consumer sales</a:t>
            </a:r>
          </a:p>
          <a:p>
            <a:pPr lvl="1"/>
            <a:r>
              <a:rPr lang="en-GB" dirty="0"/>
              <a:t>Property  does not pass when the contract is made: </a:t>
            </a:r>
            <a:r>
              <a:rPr lang="en-GB" b="1" i="1" dirty="0">
                <a:solidFill>
                  <a:srgbClr val="0070C0"/>
                </a:solidFill>
              </a:rPr>
              <a:t>Ward v </a:t>
            </a:r>
            <a:r>
              <a:rPr lang="en-GB" b="1" i="1" dirty="0" err="1">
                <a:solidFill>
                  <a:srgbClr val="0070C0"/>
                </a:solidFill>
              </a:rPr>
              <a:t>Bignall</a:t>
            </a:r>
            <a:endParaRPr lang="en-GB" b="1" i="1" dirty="0">
              <a:solidFill>
                <a:srgbClr val="0070C0"/>
              </a:solidFill>
            </a:endParaRPr>
          </a:p>
          <a:p>
            <a:pPr lvl="1"/>
            <a:r>
              <a:rPr lang="en-GB" dirty="0"/>
              <a:t>Sale in a shop – property passes after the parties have agreed the mode of payment.</a:t>
            </a:r>
          </a:p>
          <a:p>
            <a:pPr lvl="1"/>
            <a:r>
              <a:rPr lang="en-GB" dirty="0"/>
              <a:t>Supermarket – after the price is paid </a:t>
            </a:r>
          </a:p>
          <a:p>
            <a:pPr lvl="2"/>
            <a:r>
              <a:rPr lang="en-GB" b="1" i="1" dirty="0">
                <a:solidFill>
                  <a:srgbClr val="0070C0"/>
                </a:solidFill>
              </a:rPr>
              <a:t>Davies v Leighton</a:t>
            </a:r>
          </a:p>
          <a:p>
            <a:pPr lvl="1"/>
            <a:r>
              <a:rPr lang="en-GB" dirty="0"/>
              <a:t>Petrol station – petrol put into vehicle’s tank.</a:t>
            </a:r>
          </a:p>
          <a:p>
            <a:pPr lvl="2"/>
            <a:r>
              <a:rPr lang="en-GB" b="1" i="1" dirty="0">
                <a:solidFill>
                  <a:srgbClr val="0070C0"/>
                </a:solidFill>
              </a:rPr>
              <a:t>Edwards v </a:t>
            </a:r>
            <a:r>
              <a:rPr lang="en-GB" b="1" i="1" dirty="0" err="1">
                <a:solidFill>
                  <a:srgbClr val="0070C0"/>
                </a:solidFill>
              </a:rPr>
              <a:t>Ddin</a:t>
            </a:r>
            <a:endParaRPr lang="en-GB" b="1" i="1" dirty="0">
              <a:solidFill>
                <a:srgbClr val="0070C0"/>
              </a:solidFill>
            </a:endParaRPr>
          </a:p>
          <a:p>
            <a:pPr lvl="1"/>
            <a:endParaRPr lang="en-GB" dirty="0"/>
          </a:p>
          <a:p>
            <a:pPr lvl="1"/>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9586A8-C96A-F015-11C7-0F53650143F5}"/>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4" name="Content Placeholder 3">
            <a:extLst>
              <a:ext uri="{FF2B5EF4-FFF2-40B4-BE49-F238E27FC236}">
                <a16:creationId xmlns:a16="http://schemas.microsoft.com/office/drawing/2014/main" id="{6AE81EBE-3041-3DE0-8BC9-77008A4519FC}"/>
              </a:ext>
            </a:extLst>
          </p:cNvPr>
          <p:cNvSpPr>
            <a:spLocks noGrp="1"/>
          </p:cNvSpPr>
          <p:nvPr>
            <p:ph sz="quarter" idx="1"/>
          </p:nvPr>
        </p:nvSpPr>
        <p:spPr>
          <a:xfrm>
            <a:off x="914400" y="533400"/>
            <a:ext cx="7772400" cy="5486400"/>
          </a:xfrm>
        </p:spPr>
        <p:txBody>
          <a:bodyPr/>
          <a:lstStyle/>
          <a:p>
            <a:pPr>
              <a:buNone/>
            </a:pPr>
            <a:r>
              <a:rPr lang="en-GB" b="1" dirty="0"/>
              <a:t>(c) </a:t>
            </a:r>
            <a:r>
              <a:rPr lang="en-GB" b="1" u="sng" dirty="0"/>
              <a:t>Postponing the payment/delivery</a:t>
            </a:r>
          </a:p>
          <a:p>
            <a:pPr>
              <a:buNone/>
            </a:pPr>
            <a:endParaRPr lang="en-GB" b="1" dirty="0"/>
          </a:p>
          <a:p>
            <a:pPr lvl="1"/>
            <a:r>
              <a:rPr lang="en-GB" b="1" dirty="0">
                <a:solidFill>
                  <a:srgbClr val="FF0000"/>
                </a:solidFill>
              </a:rPr>
              <a:t>Contrary intention and excludes Rule 1??   NO! Why?</a:t>
            </a:r>
          </a:p>
          <a:p>
            <a:pPr lvl="1">
              <a:buNone/>
            </a:pPr>
            <a:endParaRPr lang="en-GB" dirty="0"/>
          </a:p>
          <a:p>
            <a:pPr lvl="2"/>
            <a:r>
              <a:rPr lang="en-GB" sz="2400" b="1" i="1" dirty="0">
                <a:solidFill>
                  <a:srgbClr val="0070C0"/>
                </a:solidFill>
              </a:rPr>
              <a:t>Clark v Michael Reilly</a:t>
            </a:r>
          </a:p>
          <a:p>
            <a:pPr lvl="3"/>
            <a:r>
              <a:rPr lang="en-GB" sz="2400" dirty="0"/>
              <a:t>Part-exchange of old car as part of purchase of new car.   Old car retained until new car arrived.</a:t>
            </a:r>
          </a:p>
          <a:p>
            <a:pPr lvl="3"/>
            <a:r>
              <a:rPr lang="en-GB" sz="2400" u="sng" dirty="0"/>
              <a:t>Held: </a:t>
            </a:r>
            <a:r>
              <a:rPr lang="en-GB" sz="2400" dirty="0"/>
              <a:t>the property and risk had passed to the B (car dealer). </a:t>
            </a:r>
          </a:p>
          <a:p>
            <a:pPr lvl="3"/>
            <a:r>
              <a:rPr lang="en-GB" sz="2400" dirty="0"/>
              <a:t>Negative intention to pass property before delivery.</a:t>
            </a:r>
          </a:p>
          <a:p>
            <a:pPr lvl="3"/>
            <a:r>
              <a:rPr lang="en-GB" sz="2400" dirty="0"/>
              <a:t>Criticised: wrong to hold B to keep risk while the S has still use of the car.</a:t>
            </a:r>
          </a:p>
        </p:txBody>
      </p:sp>
    </p:spTree>
    <p:extLst>
      <p:ext uri="{BB962C8B-B14F-4D97-AF65-F5344CB8AC3E}">
        <p14:creationId xmlns:p14="http://schemas.microsoft.com/office/powerpoint/2010/main" val="1067928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lstStyle/>
          <a:p>
            <a:r>
              <a:rPr lang="en-GB" dirty="0">
                <a:solidFill>
                  <a:schemeClr val="tx1"/>
                </a:solidFill>
              </a:rPr>
              <a:t>Contrary intention</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18</a:t>
            </a:fld>
            <a:endParaRPr lang="en-US"/>
          </a:p>
        </p:txBody>
      </p:sp>
      <p:sp>
        <p:nvSpPr>
          <p:cNvPr id="4" name="Content Placeholder 3"/>
          <p:cNvSpPr>
            <a:spLocks noGrp="1"/>
          </p:cNvSpPr>
          <p:nvPr>
            <p:ph sz="quarter" idx="1"/>
          </p:nvPr>
        </p:nvSpPr>
        <p:spPr>
          <a:xfrm>
            <a:off x="457200" y="1219200"/>
            <a:ext cx="8229600" cy="5257800"/>
          </a:xfrm>
        </p:spPr>
        <p:txBody>
          <a:bodyPr>
            <a:normAutofit/>
          </a:bodyPr>
          <a:lstStyle/>
          <a:p>
            <a:pPr>
              <a:buNone/>
            </a:pPr>
            <a:r>
              <a:rPr lang="en-GB" b="1" dirty="0"/>
              <a:t>(d</a:t>
            </a:r>
            <a:r>
              <a:rPr lang="en-GB" b="1" u="sng" dirty="0"/>
              <a:t>) Agreement on the transfer of risk</a:t>
            </a:r>
          </a:p>
          <a:p>
            <a:pPr>
              <a:buNone/>
            </a:pPr>
            <a:endParaRPr lang="en-GB" b="1" u="sng" dirty="0"/>
          </a:p>
          <a:p>
            <a:pPr lvl="1"/>
            <a:r>
              <a:rPr lang="en-GB" u="sng" dirty="0"/>
              <a:t>Normally risk passes with the property</a:t>
            </a:r>
            <a:r>
              <a:rPr lang="en-GB" dirty="0"/>
              <a:t>. If the risk has passed, property may be assumed to have passed. But …</a:t>
            </a:r>
          </a:p>
          <a:p>
            <a:pPr marL="320040" lvl="1" indent="0">
              <a:buNone/>
            </a:pPr>
            <a:endParaRPr lang="en-GB" dirty="0"/>
          </a:p>
          <a:p>
            <a:pPr lvl="1"/>
            <a:r>
              <a:rPr lang="en-GB" dirty="0">
                <a:solidFill>
                  <a:srgbClr val="FF0000"/>
                </a:solidFill>
              </a:rPr>
              <a:t>If the risk is still on the S this </a:t>
            </a:r>
            <a:r>
              <a:rPr lang="en-GB" b="1" u="sng" dirty="0">
                <a:solidFill>
                  <a:srgbClr val="FF0000"/>
                </a:solidFill>
              </a:rPr>
              <a:t>may be </a:t>
            </a:r>
            <a:r>
              <a:rPr lang="en-GB" dirty="0">
                <a:solidFill>
                  <a:srgbClr val="FF0000"/>
                </a:solidFill>
              </a:rPr>
              <a:t>evidence that the property has not passed.</a:t>
            </a:r>
          </a:p>
          <a:p>
            <a:pPr lvl="1">
              <a:buNone/>
            </a:pPr>
            <a:endParaRPr lang="en-GB" dirty="0"/>
          </a:p>
          <a:p>
            <a:pPr lvl="1">
              <a:buNone/>
            </a:pPr>
            <a:endParaRPr lang="en-GB" dirty="0"/>
          </a:p>
          <a:p>
            <a:pPr lvl="1"/>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Contrary intention</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sp>
        <p:nvSpPr>
          <p:cNvPr id="4" name="Content Placeholder 3"/>
          <p:cNvSpPr>
            <a:spLocks noGrp="1"/>
          </p:cNvSpPr>
          <p:nvPr>
            <p:ph sz="quarter" idx="1"/>
          </p:nvPr>
        </p:nvSpPr>
        <p:spPr/>
        <p:txBody>
          <a:bodyPr>
            <a:normAutofit lnSpcReduction="10000"/>
          </a:bodyPr>
          <a:lstStyle/>
          <a:p>
            <a:pPr lvl="2"/>
            <a:r>
              <a:rPr lang="en-GB" sz="2800" b="1" i="1" dirty="0">
                <a:solidFill>
                  <a:srgbClr val="0070C0"/>
                </a:solidFill>
              </a:rPr>
              <a:t>Carlos </a:t>
            </a:r>
            <a:r>
              <a:rPr lang="en-GB" sz="2800" b="1" i="1" dirty="0" err="1">
                <a:solidFill>
                  <a:srgbClr val="0070C0"/>
                </a:solidFill>
              </a:rPr>
              <a:t>Federspiel</a:t>
            </a:r>
            <a:r>
              <a:rPr lang="en-GB" sz="2800" b="1" i="1" dirty="0">
                <a:solidFill>
                  <a:srgbClr val="0070C0"/>
                </a:solidFill>
              </a:rPr>
              <a:t> v Charles </a:t>
            </a:r>
            <a:r>
              <a:rPr lang="en-GB" sz="2800" b="1" i="1" dirty="0" err="1">
                <a:solidFill>
                  <a:srgbClr val="0070C0"/>
                </a:solidFill>
              </a:rPr>
              <a:t>Twigg</a:t>
            </a:r>
            <a:endParaRPr lang="en-GB" sz="2800" b="1" i="1" dirty="0">
              <a:solidFill>
                <a:srgbClr val="0070C0"/>
              </a:solidFill>
            </a:endParaRPr>
          </a:p>
          <a:p>
            <a:pPr lvl="2"/>
            <a:endParaRPr lang="en-GB" sz="2800" b="1" i="1" dirty="0"/>
          </a:p>
          <a:p>
            <a:pPr lvl="2"/>
            <a:r>
              <a:rPr lang="en-GB" sz="2800" b="1" i="1" dirty="0">
                <a:solidFill>
                  <a:srgbClr val="0070C0"/>
                </a:solidFill>
              </a:rPr>
              <a:t>Re Anchor Line</a:t>
            </a:r>
          </a:p>
          <a:p>
            <a:pPr marL="594360" lvl="2" indent="0">
              <a:buNone/>
            </a:pPr>
            <a:r>
              <a:rPr lang="en-GB" sz="2800" b="1" i="1" dirty="0"/>
              <a:t> CA </a:t>
            </a:r>
            <a:r>
              <a:rPr lang="en-GB" sz="2800" i="1" dirty="0"/>
              <a:t>held the property in the goods had not passed because there was a specific clause in the K placing the risk upon the B and the court inferred that if property had passed such a clause would not have been necessary. </a:t>
            </a:r>
          </a:p>
          <a:p>
            <a:pPr lvl="2"/>
            <a:endParaRPr lang="en-GB" sz="2800" i="1" dirty="0"/>
          </a:p>
          <a:p>
            <a:pPr lvl="1"/>
            <a:r>
              <a:rPr lang="en-GB" sz="2800" dirty="0"/>
              <a:t>Inference depending on the circumstances of the case. (</a:t>
            </a:r>
            <a:r>
              <a:rPr lang="en-GB" sz="2800" dirty="0">
                <a:solidFill>
                  <a:srgbClr val="FF0000"/>
                </a:solidFill>
              </a:rPr>
              <a:t>s. 17.2</a:t>
            </a:r>
            <a:r>
              <a:rPr lang="en-GB" sz="2800" dirty="0"/>
              <a:t>, last phrase).</a:t>
            </a:r>
          </a:p>
          <a:p>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lstStyle/>
          <a:p>
            <a:r>
              <a:rPr lang="en-GB" dirty="0">
                <a:solidFill>
                  <a:schemeClr val="tx1"/>
                </a:solidFill>
              </a:rPr>
              <a:t>Contrary intention</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20</a:t>
            </a:fld>
            <a:endParaRPr lang="en-US"/>
          </a:p>
        </p:txBody>
      </p:sp>
      <p:sp>
        <p:nvSpPr>
          <p:cNvPr id="4" name="Content Placeholder 3"/>
          <p:cNvSpPr>
            <a:spLocks noGrp="1"/>
          </p:cNvSpPr>
          <p:nvPr>
            <p:ph sz="quarter" idx="1"/>
          </p:nvPr>
        </p:nvSpPr>
        <p:spPr>
          <a:xfrm>
            <a:off x="304800" y="1066800"/>
            <a:ext cx="8534400" cy="5715000"/>
          </a:xfrm>
        </p:spPr>
        <p:txBody>
          <a:bodyPr>
            <a:noAutofit/>
          </a:bodyPr>
          <a:lstStyle/>
          <a:p>
            <a:pPr>
              <a:buNone/>
            </a:pPr>
            <a:r>
              <a:rPr lang="en-GB" sz="2400" b="1" u="sng" dirty="0"/>
              <a:t>(e) Insurance</a:t>
            </a:r>
          </a:p>
          <a:p>
            <a:pPr lvl="1"/>
            <a:r>
              <a:rPr lang="en-GB" sz="2000" dirty="0"/>
              <a:t>Obligation to insure is an</a:t>
            </a:r>
            <a:r>
              <a:rPr lang="en-GB" sz="2000" b="1" dirty="0"/>
              <a:t> </a:t>
            </a:r>
            <a:r>
              <a:rPr lang="en-GB" sz="2000" b="1" u="sng" dirty="0"/>
              <a:t>indication</a:t>
            </a:r>
            <a:r>
              <a:rPr lang="en-GB" sz="2000" b="1" dirty="0"/>
              <a:t> </a:t>
            </a:r>
            <a:r>
              <a:rPr lang="en-GB" sz="2000" dirty="0"/>
              <a:t>of who bears the risk e.g. </a:t>
            </a:r>
            <a:r>
              <a:rPr lang="en-GB" sz="2000" b="1" dirty="0">
                <a:solidFill>
                  <a:srgbClr val="FF0000"/>
                </a:solidFill>
              </a:rPr>
              <a:t>s.32(3)</a:t>
            </a:r>
          </a:p>
          <a:p>
            <a:pPr lvl="1">
              <a:buNone/>
            </a:pPr>
            <a:endParaRPr lang="en-GB" sz="1800" dirty="0"/>
          </a:p>
          <a:p>
            <a:pPr lvl="1"/>
            <a:r>
              <a:rPr lang="en-GB" sz="1800" dirty="0"/>
              <a:t>It is also an indication of who has the property.</a:t>
            </a:r>
          </a:p>
          <a:p>
            <a:pPr lvl="1">
              <a:buNone/>
            </a:pPr>
            <a:endParaRPr lang="en-GB" sz="1800" dirty="0"/>
          </a:p>
          <a:p>
            <a:pPr lvl="1"/>
            <a:r>
              <a:rPr lang="en-GB" sz="1800" dirty="0"/>
              <a:t>The inference that can be drawn must depend on the circumstances of the case.</a:t>
            </a:r>
          </a:p>
          <a:p>
            <a:pPr lvl="1">
              <a:buNone/>
            </a:pPr>
            <a:endParaRPr lang="en-GB" sz="1800" dirty="0"/>
          </a:p>
          <a:p>
            <a:pPr lvl="1"/>
            <a:r>
              <a:rPr lang="en-GB" sz="1800" u="sng" dirty="0"/>
              <a:t>Factors to bear in mind:</a:t>
            </a:r>
          </a:p>
          <a:p>
            <a:pPr lvl="1">
              <a:buNone/>
            </a:pPr>
            <a:endParaRPr lang="en-GB" sz="1800" dirty="0"/>
          </a:p>
          <a:p>
            <a:pPr lvl="2">
              <a:buNone/>
            </a:pPr>
            <a:r>
              <a:rPr lang="en-GB" sz="1800" dirty="0"/>
              <a:t>(</a:t>
            </a:r>
            <a:r>
              <a:rPr lang="en-GB" sz="1800" dirty="0" err="1"/>
              <a:t>i</a:t>
            </a:r>
            <a:r>
              <a:rPr lang="en-GB" sz="1800" dirty="0"/>
              <a:t>) Where the S </a:t>
            </a:r>
            <a:r>
              <a:rPr lang="en-GB" sz="1800" u="sng" dirty="0"/>
              <a:t>advises</a:t>
            </a:r>
            <a:r>
              <a:rPr lang="en-GB" sz="1800" dirty="0"/>
              <a:t> the B to insure this is an  indication that the risk and property have passed to the B.</a:t>
            </a:r>
          </a:p>
          <a:p>
            <a:pPr lvl="3"/>
            <a:r>
              <a:rPr lang="en-GB" sz="1800" dirty="0"/>
              <a:t>But if the S stipulates insurance, it is that the S may still have the property.</a:t>
            </a:r>
          </a:p>
          <a:p>
            <a:pPr lvl="2">
              <a:buNone/>
            </a:pPr>
            <a:r>
              <a:rPr lang="en-GB" sz="1800" dirty="0"/>
              <a:t>(ii) S may retain some interest in the goods where the property has passed </a:t>
            </a:r>
            <a:r>
              <a:rPr lang="en-GB" sz="1800" i="1" dirty="0"/>
              <a:t>e.g. lien or charge on the goods.</a:t>
            </a:r>
            <a:r>
              <a:rPr lang="en-GB" sz="1800" dirty="0"/>
              <a:t> S may require the B to insure the goods in order to protect that interest. </a:t>
            </a:r>
          </a:p>
          <a:p>
            <a:pPr lvl="2">
              <a:buNone/>
            </a:pPr>
            <a:r>
              <a:rPr lang="en-GB" sz="1800" dirty="0"/>
              <a:t>(iii) If the K requires the B to insure the goods, but the S would have no interest on the goods if the property and risk had passed from him, the correct inference will be that the property and risk have not passed.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Contrary intention</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21</a:t>
            </a:fld>
            <a:endParaRPr lang="en-US"/>
          </a:p>
        </p:txBody>
      </p:sp>
      <p:sp>
        <p:nvSpPr>
          <p:cNvPr id="4" name="Content Placeholder 3"/>
          <p:cNvSpPr>
            <a:spLocks noGrp="1"/>
          </p:cNvSpPr>
          <p:nvPr>
            <p:ph sz="quarter" idx="1"/>
          </p:nvPr>
        </p:nvSpPr>
        <p:spPr>
          <a:xfrm>
            <a:off x="381000" y="1447800"/>
            <a:ext cx="8305800" cy="4876800"/>
          </a:xfrm>
        </p:spPr>
        <p:txBody>
          <a:bodyPr/>
          <a:lstStyle/>
          <a:p>
            <a:pPr>
              <a:buNone/>
            </a:pPr>
            <a:r>
              <a:rPr lang="en-GB" b="1" dirty="0"/>
              <a:t>(f) </a:t>
            </a:r>
            <a:r>
              <a:rPr lang="en-GB" b="1" u="sng" dirty="0"/>
              <a:t>Sale of Goods and Land together</a:t>
            </a:r>
          </a:p>
          <a:p>
            <a:pPr lvl="1"/>
            <a:r>
              <a:rPr lang="en-GB" dirty="0"/>
              <a:t>Sale of house and furnishings together: the presumption that the property passes on the making of the K will be rebutted because </a:t>
            </a:r>
            <a:r>
              <a:rPr lang="en-GB" u="sng" dirty="0"/>
              <a:t>property will pass on conveyance</a:t>
            </a:r>
            <a:r>
              <a:rPr lang="en-GB" dirty="0"/>
              <a:t>. </a:t>
            </a:r>
          </a:p>
          <a:p>
            <a:pPr lvl="1">
              <a:buNone/>
            </a:pPr>
            <a:endParaRPr lang="en-GB" dirty="0"/>
          </a:p>
          <a:p>
            <a:pPr>
              <a:buNone/>
            </a:pPr>
            <a:r>
              <a:rPr lang="en-GB" b="1" dirty="0"/>
              <a:t>(g) </a:t>
            </a:r>
            <a:r>
              <a:rPr lang="en-GB" b="1" u="sng" dirty="0"/>
              <a:t>Supply and Install contracts</a:t>
            </a:r>
          </a:p>
          <a:p>
            <a:r>
              <a:rPr lang="en-GB" dirty="0"/>
              <a:t>Where goods are to be supplied and installed/fitted by the S so that the goods become fixtures, the property in those does not pass </a:t>
            </a:r>
            <a:r>
              <a:rPr lang="en-GB" u="sng" dirty="0"/>
              <a:t>until the installation has been completed</a:t>
            </a:r>
            <a:r>
              <a:rPr lang="en-GB"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solidFill>
                  <a:srgbClr val="FF0000"/>
                </a:solidFill>
                <a:highlight>
                  <a:srgbClr val="FFFF00"/>
                </a:highlight>
              </a:rPr>
              <a:t>Rule 2</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a:p>
        </p:txBody>
      </p:sp>
      <p:sp>
        <p:nvSpPr>
          <p:cNvPr id="4" name="Content Placeholder 3"/>
          <p:cNvSpPr>
            <a:spLocks noGrp="1"/>
          </p:cNvSpPr>
          <p:nvPr>
            <p:ph sz="quarter" idx="1"/>
          </p:nvPr>
        </p:nvSpPr>
        <p:spPr>
          <a:xfrm>
            <a:off x="533400" y="1447800"/>
            <a:ext cx="8153400" cy="4953000"/>
          </a:xfrm>
        </p:spPr>
        <p:txBody>
          <a:bodyPr>
            <a:normAutofit fontScale="85000" lnSpcReduction="20000"/>
          </a:bodyPr>
          <a:lstStyle/>
          <a:p>
            <a:r>
              <a:rPr lang="en-GB" sz="2400" i="1" dirty="0">
                <a:solidFill>
                  <a:srgbClr val="FF0000"/>
                </a:solidFill>
              </a:rPr>
              <a:t>Specific goods </a:t>
            </a:r>
            <a:r>
              <a:rPr lang="en-GB" sz="2400" b="1" u="sng" dirty="0">
                <a:solidFill>
                  <a:srgbClr val="FF0000"/>
                </a:solidFill>
              </a:rPr>
              <a:t>to be put into a deliverable state by the </a:t>
            </a:r>
            <a:r>
              <a:rPr lang="en-GB" sz="2400" b="1" i="1" u="sng" dirty="0">
                <a:solidFill>
                  <a:srgbClr val="FF0000"/>
                </a:solidFill>
              </a:rPr>
              <a:t>S</a:t>
            </a:r>
            <a:r>
              <a:rPr lang="en-GB" sz="2400" dirty="0">
                <a:solidFill>
                  <a:srgbClr val="FF0000"/>
                </a:solidFill>
              </a:rPr>
              <a:t>.</a:t>
            </a:r>
          </a:p>
          <a:p>
            <a:pPr>
              <a:buNone/>
            </a:pPr>
            <a:endParaRPr lang="en-GB" sz="2400" dirty="0"/>
          </a:p>
          <a:p>
            <a:pPr lvl="1"/>
            <a:r>
              <a:rPr lang="en-GB" dirty="0"/>
              <a:t>Specific goods – S is </a:t>
            </a:r>
            <a:r>
              <a:rPr lang="en-GB" b="1" dirty="0"/>
              <a:t>bound to do something to put them into a deliverable state</a:t>
            </a:r>
            <a:r>
              <a:rPr lang="en-GB" dirty="0"/>
              <a:t>.</a:t>
            </a:r>
          </a:p>
          <a:p>
            <a:pPr lvl="2"/>
            <a:r>
              <a:rPr lang="en-GB" sz="2400" dirty="0">
                <a:highlight>
                  <a:srgbClr val="FFFF00"/>
                </a:highlight>
              </a:rPr>
              <a:t>Property will not pass until the S has </a:t>
            </a:r>
            <a:r>
              <a:rPr lang="en-GB" sz="2400" b="1" dirty="0">
                <a:solidFill>
                  <a:srgbClr val="FF0000"/>
                </a:solidFill>
                <a:highlight>
                  <a:srgbClr val="FFFF00"/>
                </a:highlight>
              </a:rPr>
              <a:t>done that thing </a:t>
            </a:r>
            <a:r>
              <a:rPr lang="en-GB" sz="2400" b="1" u="sng" dirty="0">
                <a:solidFill>
                  <a:srgbClr val="FF0000"/>
                </a:solidFill>
                <a:highlight>
                  <a:srgbClr val="FFFF00"/>
                </a:highlight>
              </a:rPr>
              <a:t>AND</a:t>
            </a:r>
            <a:r>
              <a:rPr lang="en-GB" sz="2400" dirty="0">
                <a:highlight>
                  <a:srgbClr val="FFFF00"/>
                </a:highlight>
              </a:rPr>
              <a:t> the </a:t>
            </a:r>
            <a:r>
              <a:rPr lang="en-GB" sz="2400" b="1" dirty="0">
                <a:solidFill>
                  <a:srgbClr val="FF0000"/>
                </a:solidFill>
                <a:highlight>
                  <a:srgbClr val="FFFF00"/>
                </a:highlight>
              </a:rPr>
              <a:t>B has notice that it has been done.</a:t>
            </a:r>
          </a:p>
          <a:p>
            <a:pPr lvl="1"/>
            <a:r>
              <a:rPr lang="en-GB" i="1" dirty="0"/>
              <a:t>Underwood v Burgh Castle</a:t>
            </a:r>
          </a:p>
          <a:p>
            <a:pPr lvl="1"/>
            <a:r>
              <a:rPr lang="en-GB" i="1" dirty="0"/>
              <a:t>Head v </a:t>
            </a:r>
            <a:r>
              <a:rPr lang="en-GB" i="1" dirty="0" err="1"/>
              <a:t>Showfronts</a:t>
            </a:r>
            <a:endParaRPr lang="en-GB" i="1" dirty="0"/>
          </a:p>
          <a:p>
            <a:pPr lvl="1"/>
            <a:endParaRPr lang="en-GB" i="1" dirty="0"/>
          </a:p>
          <a:p>
            <a:r>
              <a:rPr lang="en-GB" sz="2400" dirty="0">
                <a:solidFill>
                  <a:srgbClr val="FF0000"/>
                </a:solidFill>
              </a:rPr>
              <a:t>Rule 2 deals with certain types of </a:t>
            </a:r>
            <a:r>
              <a:rPr lang="en-GB" sz="2400" b="1" dirty="0">
                <a:solidFill>
                  <a:srgbClr val="FF0000"/>
                </a:solidFill>
                <a:highlight>
                  <a:srgbClr val="FFFF00"/>
                </a:highlight>
              </a:rPr>
              <a:t>conditional contracts</a:t>
            </a:r>
            <a:r>
              <a:rPr lang="en-GB" sz="2400" dirty="0">
                <a:solidFill>
                  <a:srgbClr val="FF0000"/>
                </a:solidFill>
              </a:rPr>
              <a:t>. </a:t>
            </a:r>
          </a:p>
          <a:p>
            <a:pPr lvl="1"/>
            <a:r>
              <a:rPr lang="en-GB" b="1" dirty="0">
                <a:solidFill>
                  <a:srgbClr val="FF0000"/>
                </a:solidFill>
              </a:rPr>
              <a:t>S. 19 </a:t>
            </a:r>
            <a:r>
              <a:rPr lang="en-GB" dirty="0"/>
              <a:t>also deals with conditional contracts but where the goods are unascertained.</a:t>
            </a:r>
          </a:p>
          <a:p>
            <a:pPr lvl="1"/>
            <a:r>
              <a:rPr lang="en-GB" dirty="0"/>
              <a:t>If the conditional K does not fall within Rules 2-4 or s. 19, s.17 must be dealt with (</a:t>
            </a:r>
            <a:r>
              <a:rPr lang="en-GB" i="1" dirty="0"/>
              <a:t>i.e. </a:t>
            </a:r>
            <a:r>
              <a:rPr lang="en-GB" dirty="0"/>
              <a:t>court has to ascertain the presumed intention of the parties by taking into account the circumstances of the case. </a:t>
            </a:r>
          </a:p>
          <a:p>
            <a:pPr lvl="1">
              <a:buNone/>
            </a:pPr>
            <a:endParaRPr lang="en-GB" dirty="0"/>
          </a:p>
          <a:p>
            <a:r>
              <a:rPr lang="en-GB" sz="2400" dirty="0"/>
              <a:t>The rule would </a:t>
            </a:r>
            <a:r>
              <a:rPr lang="en-GB" sz="2400" u="sng" dirty="0"/>
              <a:t>not</a:t>
            </a:r>
            <a:r>
              <a:rPr lang="en-GB" sz="2400" dirty="0"/>
              <a:t> apply where the S has agreed to </a:t>
            </a:r>
            <a:r>
              <a:rPr lang="en-GB" sz="2400" b="1" u="sng" dirty="0"/>
              <a:t>repair</a:t>
            </a:r>
            <a:r>
              <a:rPr lang="en-GB" sz="2400" dirty="0"/>
              <a:t> the goods</a:t>
            </a:r>
          </a:p>
          <a:p>
            <a:pPr lvl="1"/>
            <a:endParaRPr lang="en-GB" dirty="0"/>
          </a:p>
          <a:p>
            <a:pPr lvl="2"/>
            <a:endParaRPr lang="en-GB" dirty="0"/>
          </a:p>
          <a:p>
            <a:pPr lvl="1"/>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lstStyle/>
          <a:p>
            <a:r>
              <a:rPr lang="en-GB" b="1" u="sng" dirty="0">
                <a:solidFill>
                  <a:srgbClr val="FF0000"/>
                </a:solidFill>
                <a:highlight>
                  <a:srgbClr val="FFFF00"/>
                </a:highlight>
              </a:rPr>
              <a:t>Rule 3</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23</a:t>
            </a:fld>
            <a:endParaRPr lang="en-US"/>
          </a:p>
        </p:txBody>
      </p:sp>
      <p:sp>
        <p:nvSpPr>
          <p:cNvPr id="4" name="Content Placeholder 3"/>
          <p:cNvSpPr>
            <a:spLocks noGrp="1"/>
          </p:cNvSpPr>
          <p:nvPr>
            <p:ph sz="quarter" idx="1"/>
          </p:nvPr>
        </p:nvSpPr>
        <p:spPr>
          <a:xfrm>
            <a:off x="304800" y="1143000"/>
            <a:ext cx="8382000" cy="5334000"/>
          </a:xfrm>
        </p:spPr>
        <p:txBody>
          <a:bodyPr>
            <a:noAutofit/>
          </a:bodyPr>
          <a:lstStyle/>
          <a:p>
            <a:r>
              <a:rPr lang="en-GB" sz="1900" dirty="0">
                <a:solidFill>
                  <a:srgbClr val="FF0000"/>
                </a:solidFill>
              </a:rPr>
              <a:t>Passing of property is conditional upon the </a:t>
            </a:r>
            <a:r>
              <a:rPr lang="en-GB" sz="1900" dirty="0">
                <a:solidFill>
                  <a:srgbClr val="FF0000"/>
                </a:solidFill>
                <a:highlight>
                  <a:srgbClr val="FFFF00"/>
                </a:highlight>
              </a:rPr>
              <a:t>performance of some act with reference to goods. </a:t>
            </a:r>
          </a:p>
          <a:p>
            <a:pPr>
              <a:buNone/>
            </a:pPr>
            <a:endParaRPr lang="en-GB" sz="1900" dirty="0"/>
          </a:p>
          <a:p>
            <a:r>
              <a:rPr lang="en-GB" sz="1900" dirty="0">
                <a:solidFill>
                  <a:srgbClr val="FF0000"/>
                </a:solidFill>
                <a:highlight>
                  <a:srgbClr val="FFFF00"/>
                </a:highlight>
              </a:rPr>
              <a:t>S is bound to weigh, measure, test etc. </a:t>
            </a:r>
          </a:p>
          <a:p>
            <a:pPr lvl="1"/>
            <a:r>
              <a:rPr lang="en-GB" sz="1900" dirty="0"/>
              <a:t>Property will not pass until the S has done that thing </a:t>
            </a:r>
            <a:r>
              <a:rPr lang="en-GB" sz="1900" b="1" u="sng" dirty="0">
                <a:solidFill>
                  <a:srgbClr val="FF0000"/>
                </a:solidFill>
              </a:rPr>
              <a:t>AND</a:t>
            </a:r>
            <a:r>
              <a:rPr lang="en-GB" sz="1900" b="1" u="sng" dirty="0"/>
              <a:t> </a:t>
            </a:r>
            <a:r>
              <a:rPr lang="en-GB" sz="1900" dirty="0"/>
              <a:t>the </a:t>
            </a:r>
            <a:r>
              <a:rPr lang="en-GB" sz="1900" dirty="0">
                <a:highlight>
                  <a:srgbClr val="FFFF00"/>
                </a:highlight>
              </a:rPr>
              <a:t>B has </a:t>
            </a:r>
            <a:r>
              <a:rPr lang="en-GB" sz="1900" u="sng" dirty="0">
                <a:highlight>
                  <a:srgbClr val="FFFF00"/>
                </a:highlight>
              </a:rPr>
              <a:t>notice </a:t>
            </a:r>
            <a:r>
              <a:rPr lang="en-GB" sz="1900" dirty="0">
                <a:highlight>
                  <a:srgbClr val="FFFF00"/>
                </a:highlight>
              </a:rPr>
              <a:t>that it has been done.</a:t>
            </a:r>
          </a:p>
          <a:p>
            <a:pPr lvl="1"/>
            <a:r>
              <a:rPr lang="en-GB" sz="1900" dirty="0"/>
              <a:t>Presumption is weaker than R1 and 2 because here parties intend to pass the property once the price has been paid.</a:t>
            </a:r>
          </a:p>
          <a:p>
            <a:pPr lvl="1">
              <a:buNone/>
            </a:pPr>
            <a:endParaRPr lang="en-GB" sz="1900" b="1" dirty="0"/>
          </a:p>
          <a:p>
            <a:r>
              <a:rPr lang="en-GB" sz="1900" b="1" i="1" dirty="0">
                <a:solidFill>
                  <a:srgbClr val="0070C0"/>
                </a:solidFill>
              </a:rPr>
              <a:t>Turley v Bates</a:t>
            </a:r>
          </a:p>
          <a:p>
            <a:pPr lvl="1"/>
            <a:r>
              <a:rPr lang="en-GB" sz="1900" dirty="0"/>
              <a:t>T sold fireclay to B which </a:t>
            </a:r>
            <a:r>
              <a:rPr lang="en-GB" sz="1900" b="1" u="sng" dirty="0"/>
              <a:t>B was to weigh</a:t>
            </a:r>
            <a:r>
              <a:rPr lang="en-GB" sz="1900" dirty="0"/>
              <a:t>. B only took delivery of some of the fireclay. T sued B for the price of the remaining goods. B argued the property had not passed and therefore that he was only liable to T for nominal damages.</a:t>
            </a:r>
          </a:p>
          <a:p>
            <a:pPr lvl="1"/>
            <a:r>
              <a:rPr lang="en-GB" sz="1900" b="1" dirty="0"/>
              <a:t>Held: </a:t>
            </a:r>
            <a:r>
              <a:rPr lang="en-GB" sz="1900" dirty="0"/>
              <a:t>Property had passed at the time the contract was concluded and B was liable for the price.  </a:t>
            </a:r>
            <a:r>
              <a:rPr lang="en-GB" sz="1900" b="1" u="sng" dirty="0"/>
              <a:t>Rule 3 does not apply where it was agreed that the act should be done by the buyer rather than the seller.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1"/>
                </a:solidFill>
              </a:rPr>
              <a:t>Rule 3</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a:p>
        </p:txBody>
      </p:sp>
      <p:sp>
        <p:nvSpPr>
          <p:cNvPr id="4" name="Content Placeholder 3"/>
          <p:cNvSpPr>
            <a:spLocks noGrp="1"/>
          </p:cNvSpPr>
          <p:nvPr>
            <p:ph sz="quarter" idx="1"/>
          </p:nvPr>
        </p:nvSpPr>
        <p:spPr/>
        <p:txBody>
          <a:bodyPr/>
          <a:lstStyle/>
          <a:p>
            <a:r>
              <a:rPr lang="en-GB" sz="2400" b="1" i="1" u="sng" dirty="0" err="1">
                <a:solidFill>
                  <a:srgbClr val="0070C0"/>
                </a:solidFill>
              </a:rPr>
              <a:t>Nanka</a:t>
            </a:r>
            <a:r>
              <a:rPr lang="en-GB" sz="2400" b="1" i="1" u="sng" dirty="0">
                <a:solidFill>
                  <a:srgbClr val="0070C0"/>
                </a:solidFill>
              </a:rPr>
              <a:t> Bruce v Commonwealth Trust</a:t>
            </a:r>
          </a:p>
          <a:p>
            <a:pPr>
              <a:buNone/>
            </a:pPr>
            <a:endParaRPr lang="en-GB" sz="2400" i="1" dirty="0"/>
          </a:p>
          <a:p>
            <a:pPr lvl="1"/>
            <a:r>
              <a:rPr lang="en-GB" dirty="0"/>
              <a:t>N entered into a sale of cocoa with L.  L then resold the cocoa to CT. During the resale CT would weigh the cocoa to ascertain the total amount due from L to N. </a:t>
            </a:r>
          </a:p>
          <a:p>
            <a:pPr lvl="1">
              <a:buNone/>
            </a:pPr>
            <a:endParaRPr lang="en-GB" dirty="0"/>
          </a:p>
          <a:p>
            <a:pPr lvl="1"/>
            <a:r>
              <a:rPr lang="en-GB" b="1" dirty="0"/>
              <a:t>Held: </a:t>
            </a:r>
            <a:r>
              <a:rPr lang="en-GB" dirty="0"/>
              <a:t>weighing did not make the K conditional (it was merely to see whether the goods fitted the weights as represented) and the property passed  to L before the price was ascertained. </a:t>
            </a:r>
          </a:p>
          <a:p>
            <a:pPr marL="0" indent="0">
              <a:buNone/>
            </a:pPr>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solidFill>
                  <a:srgbClr val="FF0000"/>
                </a:solidFill>
                <a:highlight>
                  <a:srgbClr val="FFFF00"/>
                </a:highlight>
              </a:rPr>
              <a:t>Rule 4</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25</a:t>
            </a:fld>
            <a:endParaRPr lang="en-US"/>
          </a:p>
        </p:txBody>
      </p:sp>
      <p:sp>
        <p:nvSpPr>
          <p:cNvPr id="4" name="Content Placeholder 3"/>
          <p:cNvSpPr>
            <a:spLocks noGrp="1"/>
          </p:cNvSpPr>
          <p:nvPr>
            <p:ph sz="quarter" idx="1"/>
          </p:nvPr>
        </p:nvSpPr>
        <p:spPr>
          <a:xfrm>
            <a:off x="381000" y="1447800"/>
            <a:ext cx="8305800" cy="5105400"/>
          </a:xfrm>
        </p:spPr>
        <p:txBody>
          <a:bodyPr>
            <a:normAutofit fontScale="85000" lnSpcReduction="10000"/>
          </a:bodyPr>
          <a:lstStyle/>
          <a:p>
            <a:r>
              <a:rPr lang="en-GB" u="sng" dirty="0">
                <a:solidFill>
                  <a:srgbClr val="FF0000"/>
                </a:solidFill>
              </a:rPr>
              <a:t>Two different types of K covered by Rule 4:</a:t>
            </a:r>
          </a:p>
          <a:p>
            <a:pPr>
              <a:buNone/>
            </a:pPr>
            <a:endParaRPr lang="en-GB" dirty="0"/>
          </a:p>
          <a:p>
            <a:pPr lvl="1"/>
            <a:r>
              <a:rPr lang="en-GB" dirty="0"/>
              <a:t>Goods are delivered to the B </a:t>
            </a:r>
            <a:r>
              <a:rPr lang="en-GB" i="1" u="sng" dirty="0"/>
              <a:t>on approval </a:t>
            </a:r>
            <a:r>
              <a:rPr lang="en-GB" dirty="0"/>
              <a:t>or </a:t>
            </a:r>
            <a:r>
              <a:rPr lang="en-GB" i="1" u="sng" dirty="0"/>
              <a:t>on sale </a:t>
            </a:r>
            <a:r>
              <a:rPr lang="en-GB" u="sng" dirty="0"/>
              <a:t>or</a:t>
            </a:r>
            <a:r>
              <a:rPr lang="en-GB" i="1" u="sng" dirty="0"/>
              <a:t> return </a:t>
            </a:r>
            <a:r>
              <a:rPr lang="en-GB" dirty="0"/>
              <a:t>or </a:t>
            </a:r>
            <a:r>
              <a:rPr lang="en-GB" i="1" dirty="0"/>
              <a:t>other similar terms…</a:t>
            </a:r>
          </a:p>
          <a:p>
            <a:pPr lvl="1">
              <a:buNone/>
            </a:pPr>
            <a:endParaRPr lang="en-GB" i="1" dirty="0"/>
          </a:p>
          <a:p>
            <a:pPr lvl="1"/>
            <a:r>
              <a:rPr lang="en-GB" sz="2800" i="1" dirty="0">
                <a:solidFill>
                  <a:srgbClr val="FF0000"/>
                </a:solidFill>
                <a:highlight>
                  <a:srgbClr val="FFFF00"/>
                </a:highlight>
              </a:rPr>
              <a:t>Sale on Approval </a:t>
            </a:r>
            <a:r>
              <a:rPr lang="en-GB" sz="2800" dirty="0">
                <a:solidFill>
                  <a:srgbClr val="FF0000"/>
                </a:solidFill>
                <a:highlight>
                  <a:srgbClr val="FFFF00"/>
                </a:highlight>
              </a:rPr>
              <a:t>and </a:t>
            </a:r>
            <a:r>
              <a:rPr lang="en-GB" sz="2800" i="1" dirty="0">
                <a:solidFill>
                  <a:srgbClr val="FF0000"/>
                </a:solidFill>
                <a:highlight>
                  <a:srgbClr val="FFFF00"/>
                </a:highlight>
              </a:rPr>
              <a:t>Sale on Return</a:t>
            </a:r>
          </a:p>
          <a:p>
            <a:pPr lvl="1">
              <a:buNone/>
            </a:pPr>
            <a:endParaRPr lang="en-GB" i="1" dirty="0"/>
          </a:p>
          <a:p>
            <a:pPr lvl="2"/>
            <a:r>
              <a:rPr lang="en-GB" b="1" dirty="0" err="1">
                <a:solidFill>
                  <a:srgbClr val="FF0000"/>
                </a:solidFill>
              </a:rPr>
              <a:t>SoA</a:t>
            </a:r>
            <a:r>
              <a:rPr lang="en-GB" dirty="0"/>
              <a:t> may legally amount to a contract of sale with a condition subsequent which permits the B to rescind the transaction if the goods are unsuitable.</a:t>
            </a:r>
          </a:p>
          <a:p>
            <a:pPr lvl="2"/>
            <a:endParaRPr lang="en-GB" dirty="0"/>
          </a:p>
          <a:p>
            <a:pPr lvl="2"/>
            <a:r>
              <a:rPr lang="en-GB" b="1" dirty="0" err="1">
                <a:solidFill>
                  <a:srgbClr val="FF0000"/>
                </a:solidFill>
              </a:rPr>
              <a:t>SoR</a:t>
            </a:r>
            <a:r>
              <a:rPr lang="en-GB" dirty="0"/>
              <a:t> may be a contract of sale but is initially an offer to sell accompanied by delivery.  The offer must be accepted before it becomes a contract for sale.</a:t>
            </a:r>
          </a:p>
          <a:p>
            <a:pPr lvl="2"/>
            <a:endParaRPr lang="en-GB" dirty="0"/>
          </a:p>
          <a:p>
            <a:pPr lvl="2"/>
            <a:r>
              <a:rPr lang="en-GB" u="sng" dirty="0"/>
              <a:t>No differentiation in the Act between these two contracts</a:t>
            </a:r>
            <a:r>
              <a:rPr lang="en-GB" dirty="0"/>
              <a:t> (both treated in the same way):</a:t>
            </a:r>
          </a:p>
          <a:p>
            <a:pPr lvl="3"/>
            <a:r>
              <a:rPr lang="en-GB" dirty="0"/>
              <a:t>No difference in treatment </a:t>
            </a:r>
            <a:r>
              <a:rPr lang="en-GB" b="1" dirty="0"/>
              <a:t>between</a:t>
            </a:r>
            <a:r>
              <a:rPr lang="en-GB" dirty="0"/>
              <a:t> a transaction where the goods are delivered to a prospective B who may keep or return the goods </a:t>
            </a:r>
            <a:r>
              <a:rPr lang="en-GB" b="1" dirty="0"/>
              <a:t>and </a:t>
            </a:r>
            <a:r>
              <a:rPr lang="en-GB" dirty="0"/>
              <a:t>where the goods are delivered to a dealer who is expected either to resell or return the goods (</a:t>
            </a:r>
            <a:r>
              <a:rPr lang="en-GB" i="1" dirty="0"/>
              <a:t>e.g. </a:t>
            </a:r>
            <a:r>
              <a:rPr lang="en-GB" dirty="0"/>
              <a:t>bookshop-publisher).</a:t>
            </a:r>
          </a:p>
          <a:p>
            <a:pPr lvl="3"/>
            <a:r>
              <a:rPr lang="en-GB" dirty="0"/>
              <a:t>Both within Rule 4 – </a:t>
            </a:r>
            <a:r>
              <a:rPr lang="en-GB" b="1" i="1" dirty="0">
                <a:solidFill>
                  <a:srgbClr val="0070C0"/>
                </a:solidFill>
              </a:rPr>
              <a:t>Poole v Smith’s Car Sales</a:t>
            </a:r>
            <a:endParaRPr lang="en-GB" b="1" dirty="0">
              <a:solidFill>
                <a:srgbClr val="0070C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Rule 4</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26</a:t>
            </a:fld>
            <a:endParaRPr lang="en-US"/>
          </a:p>
        </p:txBody>
      </p:sp>
      <p:sp>
        <p:nvSpPr>
          <p:cNvPr id="4" name="Content Placeholder 3"/>
          <p:cNvSpPr>
            <a:spLocks noGrp="1"/>
          </p:cNvSpPr>
          <p:nvPr>
            <p:ph sz="quarter" idx="1"/>
          </p:nvPr>
        </p:nvSpPr>
        <p:spPr>
          <a:xfrm>
            <a:off x="914400" y="1447800"/>
            <a:ext cx="7772400" cy="5135562"/>
          </a:xfrm>
        </p:spPr>
        <p:txBody>
          <a:bodyPr>
            <a:normAutofit fontScale="92500" lnSpcReduction="20000"/>
          </a:bodyPr>
          <a:lstStyle/>
          <a:p>
            <a:pPr marL="0" indent="0">
              <a:buNone/>
            </a:pPr>
            <a:r>
              <a:rPr lang="en-GB" i="1" u="sng" dirty="0"/>
              <a:t>Property in the goods will pass…..</a:t>
            </a:r>
          </a:p>
          <a:p>
            <a:pPr marL="0" indent="0">
              <a:buNone/>
            </a:pPr>
            <a:endParaRPr lang="en-GB" i="1" dirty="0"/>
          </a:p>
          <a:p>
            <a:r>
              <a:rPr lang="en-GB" i="1" dirty="0"/>
              <a:t>a</a:t>
            </a:r>
            <a:r>
              <a:rPr lang="en-GB" i="1" dirty="0">
                <a:solidFill>
                  <a:srgbClr val="0070C0"/>
                </a:solidFill>
              </a:rPr>
              <a:t>) </a:t>
            </a:r>
            <a:r>
              <a:rPr lang="en-GB" i="1" u="sng" dirty="0">
                <a:solidFill>
                  <a:srgbClr val="0070C0"/>
                </a:solidFill>
              </a:rPr>
              <a:t>when he signifies his approval or acceptance to the seller or does any other act adopting the transaction;</a:t>
            </a:r>
          </a:p>
          <a:p>
            <a:pPr lvl="1"/>
            <a:r>
              <a:rPr lang="en-GB" dirty="0"/>
              <a:t>Any act by the B inconsistent with his free power to return the goods is adopting the transaction.</a:t>
            </a:r>
          </a:p>
          <a:p>
            <a:pPr lvl="2"/>
            <a:r>
              <a:rPr lang="en-GB" dirty="0"/>
              <a:t>E.g. B obtains goods on approval, return or other similar terms and then </a:t>
            </a:r>
            <a:r>
              <a:rPr lang="en-GB" u="sng" dirty="0"/>
              <a:t>pledges them.  This is an act adopting the transaction. </a:t>
            </a:r>
            <a:r>
              <a:rPr lang="en-GB" dirty="0"/>
              <a:t>The third party is protected against the S.</a:t>
            </a:r>
          </a:p>
          <a:p>
            <a:pPr lvl="3"/>
            <a:r>
              <a:rPr lang="en-GB" dirty="0"/>
              <a:t>Why?</a:t>
            </a:r>
          </a:p>
          <a:p>
            <a:pPr lvl="3"/>
            <a:r>
              <a:rPr lang="en-GB" dirty="0"/>
              <a:t>The  3</a:t>
            </a:r>
            <a:r>
              <a:rPr lang="en-GB" baseline="30000" dirty="0"/>
              <a:t>rd</a:t>
            </a:r>
            <a:r>
              <a:rPr lang="en-GB" dirty="0"/>
              <a:t> party will have a property right.  B cannot normally pledge (provide property right) something that B doesn’t have property in.</a:t>
            </a:r>
          </a:p>
          <a:p>
            <a:pPr lvl="3">
              <a:buNone/>
            </a:pPr>
            <a:endParaRPr lang="en-GB" dirty="0">
              <a:highlight>
                <a:srgbClr val="FFFF00"/>
              </a:highlight>
            </a:endParaRPr>
          </a:p>
          <a:p>
            <a:pPr lvl="1"/>
            <a:r>
              <a:rPr lang="en-GB" b="1" dirty="0">
                <a:highlight>
                  <a:srgbClr val="FFFF00"/>
                </a:highlight>
              </a:rPr>
              <a:t>A contractual stipulation that the property is not to pass until the goods are paid for protects the seller. This is a </a:t>
            </a:r>
            <a:r>
              <a:rPr lang="en-GB" b="1" dirty="0">
                <a:solidFill>
                  <a:srgbClr val="FF0000"/>
                </a:solidFill>
                <a:highlight>
                  <a:srgbClr val="FFFF00"/>
                </a:highlight>
              </a:rPr>
              <a:t>contrary intention </a:t>
            </a:r>
            <a:r>
              <a:rPr lang="en-GB" b="1" dirty="0">
                <a:highlight>
                  <a:srgbClr val="FFFF00"/>
                </a:highlight>
              </a:rPr>
              <a:t>which overrides Rule 4.  </a:t>
            </a:r>
          </a:p>
          <a:p>
            <a:endParaRPr lang="en-GB"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u="sng" dirty="0">
                <a:solidFill>
                  <a:schemeClr val="tx1"/>
                </a:solidFill>
              </a:rPr>
              <a:t>Next week</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27</a:t>
            </a:fld>
            <a:endParaRPr lang="en-US"/>
          </a:p>
        </p:txBody>
      </p:sp>
      <p:sp>
        <p:nvSpPr>
          <p:cNvPr id="4" name="Content Placeholder 3"/>
          <p:cNvSpPr>
            <a:spLocks noGrp="1"/>
          </p:cNvSpPr>
          <p:nvPr>
            <p:ph sz="quarter" idx="1"/>
          </p:nvPr>
        </p:nvSpPr>
        <p:spPr/>
        <p:txBody>
          <a:bodyPr>
            <a:normAutofit/>
          </a:bodyPr>
          <a:lstStyle/>
          <a:p>
            <a:r>
              <a:rPr lang="en-GB" sz="4000" dirty="0"/>
              <a:t>Rest of Rule 4</a:t>
            </a:r>
          </a:p>
          <a:p>
            <a:r>
              <a:rPr lang="en-GB" sz="4000" dirty="0"/>
              <a:t>Rule 5</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A4B24C251BCD4291F2C2F3A608C810" ma:contentTypeVersion="9" ma:contentTypeDescription="Create a new document." ma:contentTypeScope="" ma:versionID="72b3ce0b9445f479dcd63669a849f70a">
  <xsd:schema xmlns:xsd="http://www.w3.org/2001/XMLSchema" xmlns:xs="http://www.w3.org/2001/XMLSchema" xmlns:p="http://schemas.microsoft.com/office/2006/metadata/properties" xmlns:ns3="3cc0b812-7f7d-4aca-acca-000f424f7da7" xmlns:ns4="6bff29df-e80b-4a73-953f-e802c634e429" targetNamespace="http://schemas.microsoft.com/office/2006/metadata/properties" ma:root="true" ma:fieldsID="90c94a25cb4c1a2cd21c07d5eefe7aa2" ns3:_="" ns4:_="">
    <xsd:import namespace="3cc0b812-7f7d-4aca-acca-000f424f7da7"/>
    <xsd:import namespace="6bff29df-e80b-4a73-953f-e802c634e42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c0b812-7f7d-4aca-acca-000f424f7da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bff29df-e80b-4a73-953f-e802c634e4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A4AA16-4764-4BA4-96AC-541D145F7723}">
  <ds:schemaRefs>
    <ds:schemaRef ds:uri="3cc0b812-7f7d-4aca-acca-000f424f7da7"/>
    <ds:schemaRef ds:uri="http://schemas.microsoft.com/office/2006/metadata/properties"/>
    <ds:schemaRef ds:uri="http://schemas.openxmlformats.org/package/2006/metadata/core-properties"/>
    <ds:schemaRef ds:uri="http://www.w3.org/XML/1998/namespace"/>
    <ds:schemaRef ds:uri="http://schemas.microsoft.com/office/infopath/2007/PartnerControls"/>
    <ds:schemaRef ds:uri="http://purl.org/dc/elements/1.1/"/>
    <ds:schemaRef ds:uri="http://schemas.microsoft.com/office/2006/documentManagement/types"/>
    <ds:schemaRef ds:uri="6bff29df-e80b-4a73-953f-e802c634e429"/>
    <ds:schemaRef ds:uri="http://purl.org/dc/dcmitype/"/>
    <ds:schemaRef ds:uri="http://purl.org/dc/terms/"/>
  </ds:schemaRefs>
</ds:datastoreItem>
</file>

<file path=customXml/itemProps2.xml><?xml version="1.0" encoding="utf-8"?>
<ds:datastoreItem xmlns:ds="http://schemas.openxmlformats.org/officeDocument/2006/customXml" ds:itemID="{160618BC-6AAF-4510-8BF7-8B0A85E9AD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c0b812-7f7d-4aca-acca-000f424f7da7"/>
    <ds:schemaRef ds:uri="6bff29df-e80b-4a73-953f-e802c634e4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24784A9-BF59-4399-BC47-B14AF951D83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Equity</Template>
  <TotalTime>1224</TotalTime>
  <Words>2728</Words>
  <Application>Microsoft Macintosh PowerPoint</Application>
  <PresentationFormat>On-screen Show (4:3)</PresentationFormat>
  <Paragraphs>274</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Franklin Gothic Book</vt:lpstr>
      <vt:lpstr>Palatino Linotype</vt:lpstr>
      <vt:lpstr>Perpetua</vt:lpstr>
      <vt:lpstr>Wingdings 2</vt:lpstr>
      <vt:lpstr>Equity</vt:lpstr>
      <vt:lpstr>Commercial Law  (Law 2241)</vt:lpstr>
      <vt:lpstr>The Passing of Property</vt:lpstr>
      <vt:lpstr>Basic rules</vt:lpstr>
      <vt:lpstr>Approach to problem questions on this topic</vt:lpstr>
      <vt:lpstr>Specific Goods</vt:lpstr>
      <vt:lpstr>The s.18 Rules</vt:lpstr>
      <vt:lpstr>Rule 1 - Unconditional </vt:lpstr>
      <vt:lpstr>Rule 1</vt:lpstr>
      <vt:lpstr>Rule 1</vt:lpstr>
      <vt:lpstr>Rule 1 - Specific goods</vt:lpstr>
      <vt:lpstr>Rule 1 – Specific Goods</vt:lpstr>
      <vt:lpstr>Rule 1</vt:lpstr>
      <vt:lpstr>Rule 1 - Deliverable state</vt:lpstr>
      <vt:lpstr>Rule 1 – Deliverable State</vt:lpstr>
      <vt:lpstr>Rule 1</vt:lpstr>
      <vt:lpstr>Rule 1 - Contrary intention</vt:lpstr>
      <vt:lpstr>PowerPoint Presentation</vt:lpstr>
      <vt:lpstr>Contrary intention</vt:lpstr>
      <vt:lpstr>Contrary intention</vt:lpstr>
      <vt:lpstr>Contrary intention</vt:lpstr>
      <vt:lpstr>Contrary intention</vt:lpstr>
      <vt:lpstr>Rule 2</vt:lpstr>
      <vt:lpstr>Rule 3</vt:lpstr>
      <vt:lpstr>Rule 3</vt:lpstr>
      <vt:lpstr>Rule 4</vt:lpstr>
      <vt:lpstr>Rule 4</vt:lpstr>
      <vt:lpstr>Next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Law  Law 2251</dc:title>
  <dc:creator>AKSELI N.O.</dc:creator>
  <cp:lastModifiedBy>TSANG, AGNES H.L. (Student)</cp:lastModifiedBy>
  <cp:revision>104</cp:revision>
  <dcterms:created xsi:type="dcterms:W3CDTF">2006-08-16T00:00:00Z</dcterms:created>
  <dcterms:modified xsi:type="dcterms:W3CDTF">2024-11-24T17:06:05Z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0x01010009A4B24C251BCD4291F2C2F3A608C810</vt:lpwstr>
  </property>
</Properties>
</file>