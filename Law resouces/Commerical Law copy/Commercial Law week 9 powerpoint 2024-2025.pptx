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56" r:id="rId5"/>
    <p:sldId id="260" r:id="rId6"/>
    <p:sldId id="262" r:id="rId7"/>
    <p:sldId id="263" r:id="rId8"/>
    <p:sldId id="261" r:id="rId9"/>
    <p:sldId id="264" r:id="rId10"/>
    <p:sldId id="284" r:id="rId11"/>
    <p:sldId id="259" r:id="rId12"/>
    <p:sldId id="265" r:id="rId13"/>
    <p:sldId id="266" r:id="rId14"/>
    <p:sldId id="282" r:id="rId15"/>
    <p:sldId id="267" r:id="rId16"/>
    <p:sldId id="268" r:id="rId17"/>
    <p:sldId id="269" r:id="rId18"/>
    <p:sldId id="271" r:id="rId19"/>
    <p:sldId id="272" r:id="rId20"/>
    <p:sldId id="270" r:id="rId21"/>
    <p:sldId id="274" r:id="rId22"/>
    <p:sldId id="275" r:id="rId23"/>
    <p:sldId id="276" r:id="rId24"/>
    <p:sldId id="283" r:id="rId25"/>
    <p:sldId id="277" r:id="rId26"/>
    <p:sldId id="279" r:id="rId27"/>
    <p:sldId id="280" r:id="rId28"/>
    <p:sldId id="281"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63" d="100"/>
          <a:sy n="63" d="100"/>
        </p:scale>
        <p:origin x="1864" y="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A81CE68-8A76-49C0-B82A-EDD92012E0C5}" type="datetimeFigureOut">
              <a:rPr lang="en-GB"/>
              <a:pPr>
                <a:defRPr/>
              </a:pPr>
              <a:t>10/09/2024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E9501DE2-B977-4966-8CFD-1891928F6691}" type="slidenum">
              <a:rPr lang="en-GB"/>
              <a:pPr>
                <a:defRPr/>
              </a:pPr>
              <a:t>‹#›</a:t>
            </a:fld>
            <a:endParaRPr lang="en-GB"/>
          </a:p>
        </p:txBody>
      </p:sp>
    </p:spTree>
    <p:extLst>
      <p:ext uri="{BB962C8B-B14F-4D97-AF65-F5344CB8AC3E}">
        <p14:creationId xmlns:p14="http://schemas.microsoft.com/office/powerpoint/2010/main" val="3794527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D91FE20B-6359-4A27-93D4-28E3B1CE5F3A}" type="datetime1">
              <a:rPr lang="en-US"/>
              <a:pPr>
                <a:defRPr/>
              </a:pPr>
              <a:t>9/10/2024</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447B0999-FF8D-4CD2-8A69-5B5173C12F1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pPr>
              <a:defRPr/>
            </a:pPr>
            <a:fld id="{E1B30F5C-7C94-47D2-BDAB-2B5E62465E46}" type="datetime1">
              <a:rPr lang="en-US"/>
              <a:pPr>
                <a:defRPr/>
              </a:pPr>
              <a:t>9/10/2024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85BFEF5D-1496-47A2-B4E5-2644E6C7125E}"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60170234-6CF1-431F-AF9B-DAD2C326BAF1}" type="datetime1">
              <a:rPr lang="en-US"/>
              <a:pPr>
                <a:defRPr/>
              </a:pPr>
              <a:t>9/10/2024</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extLst/>
          </a:lstStyle>
          <a:p>
            <a:pPr>
              <a:defRPr/>
            </a:pPr>
            <a:fld id="{78C6A068-EC11-4EA2-B7B2-BA954C71E122}"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fld id="{88FEFDB0-FCC6-4074-A21A-F6B05FD2E21B}" type="datetime1">
              <a:rPr lang="en-US"/>
              <a:pPr>
                <a:defRPr/>
              </a:pPr>
              <a:t>9/10/2024</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3F5E1414-7209-4C4A-BBEA-C8A4FB31DA8E}"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001C8245-A940-4B2A-B238-EA954D512A0E}" type="datetime1">
              <a:rPr lang="en-US"/>
              <a:pPr>
                <a:defRPr/>
              </a:pPr>
              <a:t>9/10/2024</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extLst/>
          </a:lstStyle>
          <a:p>
            <a:pPr>
              <a:defRPr/>
            </a:pPr>
            <a:fld id="{C9E34B88-348A-49D0-875A-43BE1EADF24E}"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fld id="{CCA92C4A-A49F-4876-BEE7-0A185A4005E6}" type="datetime1">
              <a:rPr lang="en-US"/>
              <a:pPr>
                <a:defRPr/>
              </a:pPr>
              <a:t>9/10/2024</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extLst/>
          </a:lstStyle>
          <a:p>
            <a:pPr>
              <a:defRPr/>
            </a:pPr>
            <a:fld id="{E0EB6448-2CEC-498F-8518-D712A25E529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877BDFE-0AAF-496D-9347-1438D2A06354}" type="datetime1">
              <a:rPr lang="en-US"/>
              <a:pPr>
                <a:defRPr/>
              </a:pPr>
              <a:t>9/10/2024</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F5D0868A-0CE7-4F7D-9884-94518DEDB0B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D1043AA-F128-4B0F-86E0-C7036BFDAFC0}" type="datetime1">
              <a:rPr lang="en-US"/>
              <a:pPr>
                <a:defRPr/>
              </a:pPr>
              <a:t>9/10/2024</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extLst/>
          </a:lstStyle>
          <a:p>
            <a:pPr>
              <a:defRPr/>
            </a:pPr>
            <a:fld id="{B382D521-781D-44F7-8952-6EAF9CC5E199}" type="slidenum">
              <a:rPr lang="en-US"/>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5"/>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55B8DA8C-BC38-439D-A9C5-29E2828EBBBA}" type="datetime1">
              <a:rPr lang="en-US"/>
              <a:pPr>
                <a:defRPr/>
              </a:pPr>
              <a:t>9/10/2024</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5599F12A-0FC8-4D16-9265-6DBAAB4C683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2366C3E4-8FB8-4B92-B241-937893C1A722}" type="datetime1">
              <a:rPr lang="en-US"/>
              <a:pPr>
                <a:defRPr/>
              </a:pPr>
              <a:t>9/10/2024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A0E3D470-DC00-457D-9094-CEEB8D7F652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7C3B349-0387-46DC-A4F3-035E1EFD1E06}" type="datetime1">
              <a:rPr lang="en-US"/>
              <a:pPr>
                <a:defRPr/>
              </a:pPr>
              <a:t>9/10/2024</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3C23BF54-D689-49A6-A871-2104A6A3A5E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2" name="Freeform 11"/>
          <p:cNvSpPr>
            <a:spLocks/>
          </p:cNvSpPr>
          <p:nvPr/>
        </p:nvSpPr>
        <p:spPr bwMode="auto">
          <a:xfrm>
            <a:off x="485775" y="5938838"/>
            <a:ext cx="3690938"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fld id="{8C44062F-5E3C-4F93-B211-31A5F17EE47C}" type="datetime1">
              <a:rPr lang="en-US"/>
              <a:pPr>
                <a:defRPr/>
              </a:pPr>
              <a:t>9/10/2024</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6F59DA63-EBBC-4A46-BAA5-F06D51FB0C8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91" r:id="rId1"/>
    <p:sldLayoutId id="2147483787" r:id="rId2"/>
    <p:sldLayoutId id="2147483792" r:id="rId3"/>
    <p:sldLayoutId id="2147483793" r:id="rId4"/>
    <p:sldLayoutId id="2147483794" r:id="rId5"/>
    <p:sldLayoutId id="2147483795" r:id="rId6"/>
    <p:sldLayoutId id="2147483788" r:id="rId7"/>
    <p:sldLayoutId id="2147483796" r:id="rId8"/>
    <p:sldLayoutId id="2147483797" r:id="rId9"/>
    <p:sldLayoutId id="2147483789" r:id="rId10"/>
    <p:sldLayoutId id="2147483790" r:id="rId11"/>
  </p:sldLayoutIdLst>
  <p:hf hdr="0" ft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685800" y="457201"/>
            <a:ext cx="7772400" cy="1676399"/>
          </a:xfrm>
        </p:spPr>
        <p:txBody>
          <a:bodyPr/>
          <a:lstStyle/>
          <a:p>
            <a:pPr eaLnBrk="1" fontAlgn="auto" hangingPunct="1">
              <a:spcAft>
                <a:spcPts val="0"/>
              </a:spcAft>
              <a:defRPr/>
            </a:pPr>
            <a:r>
              <a:rPr lang="en-GB" dirty="0">
                <a:solidFill>
                  <a:schemeClr val="tx1"/>
                </a:solidFill>
              </a:rPr>
              <a:t>Commercial Law </a:t>
            </a:r>
            <a:br>
              <a:rPr lang="en-GB" dirty="0">
                <a:solidFill>
                  <a:schemeClr val="tx1"/>
                </a:solidFill>
              </a:rPr>
            </a:br>
            <a:r>
              <a:rPr lang="en-GB" dirty="0">
                <a:solidFill>
                  <a:schemeClr val="tx1"/>
                </a:solidFill>
              </a:rPr>
              <a:t>(Law 2241)</a:t>
            </a:r>
          </a:p>
        </p:txBody>
      </p:sp>
      <p:sp>
        <p:nvSpPr>
          <p:cNvPr id="9219" name="Subtitle 2"/>
          <p:cNvSpPr>
            <a:spLocks noGrp="1"/>
          </p:cNvSpPr>
          <p:nvPr>
            <p:ph type="subTitle" idx="1"/>
          </p:nvPr>
        </p:nvSpPr>
        <p:spPr>
          <a:xfrm>
            <a:off x="685799" y="2514600"/>
            <a:ext cx="8328025" cy="2297113"/>
          </a:xfrm>
        </p:spPr>
        <p:txBody>
          <a:bodyPr/>
          <a:lstStyle/>
          <a:p>
            <a:pPr marR="0" eaLnBrk="1" hangingPunct="1">
              <a:buFont typeface="Arial" charset="0"/>
              <a:buNone/>
            </a:pPr>
            <a:r>
              <a:rPr lang="en-GB" sz="3200" b="1" dirty="0"/>
              <a:t>Passage of Property (2) </a:t>
            </a:r>
          </a:p>
          <a:p>
            <a:pPr marR="0" eaLnBrk="1" hangingPunct="1">
              <a:buFont typeface="Arial" charset="0"/>
              <a:buNone/>
            </a:pPr>
            <a:endParaRPr lang="en-GB" sz="2800" b="1" dirty="0"/>
          </a:p>
          <a:p>
            <a:pPr marR="0" eaLnBrk="1" hangingPunct="1">
              <a:buFont typeface="Arial" charset="0"/>
              <a:buNone/>
            </a:pPr>
            <a:r>
              <a:rPr lang="en-GB" sz="2800" b="1" dirty="0">
                <a:solidFill>
                  <a:schemeClr val="tx1"/>
                </a:solidFill>
              </a:rPr>
              <a:t>Rachel Avery</a:t>
            </a:r>
          </a:p>
        </p:txBody>
      </p:sp>
      <p:sp>
        <p:nvSpPr>
          <p:cNvPr id="9220"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77F30D2B-08AE-4151-B41E-0692C696DF12}" type="slidenum">
              <a:rPr lang="en-US" smtClean="0"/>
              <a:pPr/>
              <a:t>1</a:t>
            </a:fld>
            <a:endParaRPr lang="en-US"/>
          </a:p>
        </p:txBody>
      </p:sp>
      <p:pic>
        <p:nvPicPr>
          <p:cNvPr id="26626" name="Picture 2" descr="Image result for ownership of goods cartoon"/>
          <p:cNvPicPr>
            <a:picLocks noChangeAspect="1" noChangeArrowheads="1"/>
          </p:cNvPicPr>
          <p:nvPr/>
        </p:nvPicPr>
        <p:blipFill>
          <a:blip r:embed="rId2" cstate="print"/>
          <a:srcRect/>
          <a:stretch>
            <a:fillRect/>
          </a:stretch>
        </p:blipFill>
        <p:spPr bwMode="auto">
          <a:xfrm>
            <a:off x="-152399" y="2743200"/>
            <a:ext cx="4191000" cy="427672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p:cNvSpPr>
            <a:spLocks noGrp="1"/>
          </p:cNvSpPr>
          <p:nvPr>
            <p:ph idx="1"/>
          </p:nvPr>
        </p:nvSpPr>
        <p:spPr/>
        <p:txBody>
          <a:bodyPr/>
          <a:lstStyle/>
          <a:p>
            <a:pPr eaLnBrk="1" hangingPunct="1"/>
            <a:r>
              <a:rPr lang="en-GB" sz="3200" dirty="0"/>
              <a:t>Complete Rule 4</a:t>
            </a:r>
          </a:p>
          <a:p>
            <a:pPr eaLnBrk="1" hangingPunct="1"/>
            <a:r>
              <a:rPr lang="en-GB" sz="3200" dirty="0"/>
              <a:t>Unascertained goods and Rule 5</a:t>
            </a:r>
          </a:p>
        </p:txBody>
      </p:sp>
      <p:sp>
        <p:nvSpPr>
          <p:cNvPr id="3074" name="Title 1"/>
          <p:cNvSpPr>
            <a:spLocks noGrp="1"/>
          </p:cNvSpPr>
          <p:nvPr>
            <p:ph type="title"/>
          </p:nvPr>
        </p:nvSpPr>
        <p:spPr/>
        <p:txBody>
          <a:bodyPr/>
          <a:lstStyle/>
          <a:p>
            <a:pPr eaLnBrk="1" fontAlgn="auto" hangingPunct="1">
              <a:spcAft>
                <a:spcPts val="0"/>
              </a:spcAft>
              <a:defRPr/>
            </a:pPr>
            <a:r>
              <a:rPr lang="en-GB" dirty="0">
                <a:solidFill>
                  <a:schemeClr val="tx1"/>
                </a:solidFill>
              </a:rPr>
              <a:t>Today….	</a:t>
            </a:r>
          </a:p>
        </p:txBody>
      </p:sp>
      <p:sp>
        <p:nvSpPr>
          <p:cNvPr id="10244"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B27520B0-D242-4B79-A804-8B4F55F2D41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95400"/>
            <a:ext cx="8382000" cy="5105400"/>
          </a:xfrm>
        </p:spPr>
        <p:txBody>
          <a:bodyPr>
            <a:normAutofit fontScale="70000" lnSpcReduction="20000"/>
          </a:bodyPr>
          <a:lstStyle/>
          <a:p>
            <a:pPr marL="365760" indent="-256032" eaLnBrk="1" fontAlgn="auto" hangingPunct="1">
              <a:spcAft>
                <a:spcPts val="0"/>
              </a:spcAft>
              <a:buFont typeface="Wingdings 3"/>
              <a:buChar char=""/>
              <a:defRPr/>
            </a:pPr>
            <a:r>
              <a:rPr lang="en-GB" dirty="0">
                <a:solidFill>
                  <a:srgbClr val="FF0000"/>
                </a:solidFill>
              </a:rPr>
              <a:t>Rule 4 controls the passage of property and risk in the absence of K provisions dealing with these.</a:t>
            </a:r>
          </a:p>
          <a:p>
            <a:pPr marL="365760" indent="-256032" eaLnBrk="1" fontAlgn="auto" hangingPunct="1">
              <a:spcAft>
                <a:spcPts val="0"/>
              </a:spcAft>
              <a:buFont typeface="Wingdings 3" pitchFamily="18" charset="2"/>
              <a:buNone/>
              <a:defRPr/>
            </a:pPr>
            <a:endParaRPr lang="en-GB" dirty="0"/>
          </a:p>
          <a:p>
            <a:pPr marL="365760" indent="-256032" eaLnBrk="1" fontAlgn="auto" hangingPunct="1">
              <a:spcAft>
                <a:spcPts val="0"/>
              </a:spcAft>
              <a:buFont typeface="Wingdings 3"/>
              <a:buChar char=""/>
              <a:defRPr/>
            </a:pPr>
            <a:r>
              <a:rPr lang="en-GB" dirty="0"/>
              <a:t>Two different types of K.</a:t>
            </a:r>
          </a:p>
          <a:p>
            <a:pPr marL="365760" indent="-256032" eaLnBrk="1" fontAlgn="auto" hangingPunct="1">
              <a:spcAft>
                <a:spcPts val="0"/>
              </a:spcAft>
              <a:buFont typeface="Wingdings 3" pitchFamily="18" charset="2"/>
              <a:buNone/>
              <a:defRPr/>
            </a:pPr>
            <a:endParaRPr lang="en-GB" dirty="0"/>
          </a:p>
          <a:p>
            <a:pPr marL="621792" lvl="1" eaLnBrk="1" fontAlgn="auto" hangingPunct="1">
              <a:spcBef>
                <a:spcPts val="324"/>
              </a:spcBef>
              <a:spcAft>
                <a:spcPts val="0"/>
              </a:spcAft>
              <a:buFont typeface="Verdana"/>
              <a:buChar char="◦"/>
              <a:defRPr/>
            </a:pPr>
            <a:r>
              <a:rPr lang="en-GB" dirty="0"/>
              <a:t>Goods are delivered to the B </a:t>
            </a:r>
            <a:r>
              <a:rPr lang="en-GB" b="1" i="1" dirty="0">
                <a:solidFill>
                  <a:srgbClr val="FF0000"/>
                </a:solidFill>
                <a:highlight>
                  <a:srgbClr val="FFFF00"/>
                </a:highlight>
              </a:rPr>
              <a:t>on approval </a:t>
            </a:r>
            <a:r>
              <a:rPr lang="en-GB" dirty="0">
                <a:highlight>
                  <a:srgbClr val="FFFF00"/>
                </a:highlight>
              </a:rPr>
              <a:t>or</a:t>
            </a:r>
            <a:r>
              <a:rPr lang="en-GB" b="1" dirty="0">
                <a:highlight>
                  <a:srgbClr val="FFFF00"/>
                </a:highlight>
              </a:rPr>
              <a:t> </a:t>
            </a:r>
            <a:r>
              <a:rPr lang="en-GB" b="1" i="1" dirty="0">
                <a:highlight>
                  <a:srgbClr val="FFFF00"/>
                </a:highlight>
              </a:rPr>
              <a:t>on </a:t>
            </a:r>
            <a:r>
              <a:rPr lang="en-GB" b="1" i="1" dirty="0">
                <a:solidFill>
                  <a:srgbClr val="FF0000"/>
                </a:solidFill>
                <a:highlight>
                  <a:srgbClr val="FFFF00"/>
                </a:highlight>
              </a:rPr>
              <a:t>sale </a:t>
            </a:r>
            <a:r>
              <a:rPr lang="en-GB" b="1" dirty="0">
                <a:solidFill>
                  <a:srgbClr val="FF0000"/>
                </a:solidFill>
                <a:highlight>
                  <a:srgbClr val="FFFF00"/>
                </a:highlight>
              </a:rPr>
              <a:t>or</a:t>
            </a:r>
            <a:r>
              <a:rPr lang="en-GB" b="1" i="1" dirty="0">
                <a:solidFill>
                  <a:srgbClr val="FF0000"/>
                </a:solidFill>
                <a:highlight>
                  <a:srgbClr val="FFFF00"/>
                </a:highlight>
              </a:rPr>
              <a:t> return</a:t>
            </a:r>
            <a:r>
              <a:rPr lang="en-GB" b="1" i="1" dirty="0">
                <a:solidFill>
                  <a:srgbClr val="FF0000"/>
                </a:solidFill>
              </a:rPr>
              <a:t> </a:t>
            </a:r>
            <a:r>
              <a:rPr lang="en-GB" dirty="0"/>
              <a:t>or </a:t>
            </a:r>
            <a:r>
              <a:rPr lang="en-GB" i="1" dirty="0"/>
              <a:t>other similar terms…</a:t>
            </a:r>
          </a:p>
          <a:p>
            <a:pPr marL="621792" lvl="1" eaLnBrk="1" fontAlgn="auto" hangingPunct="1">
              <a:spcBef>
                <a:spcPts val="324"/>
              </a:spcBef>
              <a:spcAft>
                <a:spcPts val="0"/>
              </a:spcAft>
              <a:buFont typeface="Verdana" pitchFamily="34" charset="0"/>
              <a:buNone/>
              <a:defRPr/>
            </a:pPr>
            <a:endParaRPr lang="en-GB" i="1" dirty="0"/>
          </a:p>
          <a:p>
            <a:pPr marL="621792" lvl="1" eaLnBrk="1" fontAlgn="auto" hangingPunct="1">
              <a:spcBef>
                <a:spcPts val="324"/>
              </a:spcBef>
              <a:spcAft>
                <a:spcPts val="0"/>
              </a:spcAft>
              <a:buFont typeface="Verdana"/>
              <a:buChar char="◦"/>
              <a:defRPr/>
            </a:pPr>
            <a:r>
              <a:rPr lang="en-GB" sz="2900" b="1" i="1" dirty="0"/>
              <a:t>Sale on Approval </a:t>
            </a:r>
            <a:r>
              <a:rPr lang="en-GB" sz="2900" b="1" dirty="0"/>
              <a:t>and </a:t>
            </a:r>
            <a:r>
              <a:rPr lang="en-GB" sz="2900" b="1" i="1" dirty="0"/>
              <a:t>Sale on Return</a:t>
            </a:r>
          </a:p>
          <a:p>
            <a:pPr marL="859536" lvl="2" eaLnBrk="1" fontAlgn="auto" hangingPunct="1">
              <a:spcAft>
                <a:spcPts val="0"/>
              </a:spcAft>
              <a:buFont typeface="Wingdings 2"/>
              <a:buChar char=""/>
              <a:defRPr/>
            </a:pPr>
            <a:r>
              <a:rPr lang="en-GB" b="1" dirty="0" err="1">
                <a:solidFill>
                  <a:srgbClr val="FF0000"/>
                </a:solidFill>
              </a:rPr>
              <a:t>SoA</a:t>
            </a:r>
            <a:r>
              <a:rPr lang="en-GB" dirty="0"/>
              <a:t> may legally amount to a contract of sale with a condition subsequent which permits the B to rescind the transaction if the goods are unsuitable.</a:t>
            </a:r>
          </a:p>
          <a:p>
            <a:pPr marL="859536" lvl="2" eaLnBrk="1" fontAlgn="auto" hangingPunct="1">
              <a:spcAft>
                <a:spcPts val="0"/>
              </a:spcAft>
              <a:buFont typeface="Wingdings 2"/>
              <a:buChar char=""/>
              <a:defRPr/>
            </a:pPr>
            <a:r>
              <a:rPr lang="en-GB" b="1" dirty="0" err="1">
                <a:solidFill>
                  <a:srgbClr val="FF0000"/>
                </a:solidFill>
              </a:rPr>
              <a:t>SoR</a:t>
            </a:r>
            <a:r>
              <a:rPr lang="en-GB" dirty="0"/>
              <a:t> may be a contract of sale but is initially an offer to sell accompanied by delivery.  The offer must be accepted before it becomes a contract for sale.</a:t>
            </a:r>
          </a:p>
          <a:p>
            <a:pPr marL="859536" lvl="2" eaLnBrk="1" fontAlgn="auto" hangingPunct="1">
              <a:spcAft>
                <a:spcPts val="0"/>
              </a:spcAft>
              <a:buFont typeface="Wingdings 2"/>
              <a:buChar char=""/>
              <a:defRPr/>
            </a:pPr>
            <a:endParaRPr lang="en-GB" dirty="0"/>
          </a:p>
          <a:p>
            <a:pPr marL="859536" lvl="2" eaLnBrk="1" fontAlgn="auto" hangingPunct="1">
              <a:spcAft>
                <a:spcPts val="0"/>
              </a:spcAft>
              <a:buFont typeface="Wingdings 2"/>
              <a:buChar char=""/>
              <a:defRPr/>
            </a:pPr>
            <a:r>
              <a:rPr lang="en-GB" b="1" dirty="0">
                <a:solidFill>
                  <a:srgbClr val="FF0000"/>
                </a:solidFill>
              </a:rPr>
              <a:t>No differentiation in the Act between these two types of contract </a:t>
            </a:r>
            <a:r>
              <a:rPr lang="en-GB" dirty="0"/>
              <a:t>(both are treated the same):</a:t>
            </a:r>
          </a:p>
          <a:p>
            <a:pPr lvl="3" eaLnBrk="1" fontAlgn="auto" hangingPunct="1">
              <a:spcAft>
                <a:spcPts val="0"/>
              </a:spcAft>
              <a:buFont typeface="Wingdings 2"/>
              <a:buChar char=""/>
              <a:defRPr/>
            </a:pPr>
            <a:r>
              <a:rPr lang="en-GB" dirty="0"/>
              <a:t>No difference </a:t>
            </a:r>
            <a:r>
              <a:rPr lang="en-GB" b="1" dirty="0"/>
              <a:t>between</a:t>
            </a:r>
            <a:r>
              <a:rPr lang="en-GB" dirty="0"/>
              <a:t> a transaction where the goods are delivered to a prospective B who may keep or return the goods </a:t>
            </a:r>
            <a:r>
              <a:rPr lang="en-GB" b="1" dirty="0"/>
              <a:t>and </a:t>
            </a:r>
            <a:r>
              <a:rPr lang="en-GB" dirty="0"/>
              <a:t>where the goods are delivered to a dealer who is expected either to resell or return the goods (</a:t>
            </a:r>
            <a:r>
              <a:rPr lang="en-GB" i="1" dirty="0"/>
              <a:t>e.g. </a:t>
            </a:r>
            <a:r>
              <a:rPr lang="en-GB" dirty="0"/>
              <a:t>bookshop-publisher).</a:t>
            </a:r>
          </a:p>
          <a:p>
            <a:pPr lvl="3" eaLnBrk="1" fontAlgn="auto" hangingPunct="1">
              <a:spcAft>
                <a:spcPts val="0"/>
              </a:spcAft>
              <a:buFont typeface="Wingdings 2"/>
              <a:buChar char=""/>
              <a:defRPr/>
            </a:pPr>
            <a:r>
              <a:rPr lang="en-GB" dirty="0"/>
              <a:t>Both within Rule 4 – </a:t>
            </a:r>
            <a:r>
              <a:rPr lang="en-GB" b="1" i="1" dirty="0">
                <a:solidFill>
                  <a:srgbClr val="0070C0"/>
                </a:solidFill>
              </a:rPr>
              <a:t>Poole v Smith’s Car Sales</a:t>
            </a:r>
            <a:endParaRPr lang="en-GB" b="1" dirty="0">
              <a:solidFill>
                <a:srgbClr val="0070C0"/>
              </a:solidFill>
            </a:endParaRPr>
          </a:p>
          <a:p>
            <a:pPr marL="365760" indent="-256032" eaLnBrk="1" fontAlgn="auto" hangingPunct="1">
              <a:spcAft>
                <a:spcPts val="0"/>
              </a:spcAft>
              <a:buFont typeface="Wingdings 3"/>
              <a:buChar char=""/>
              <a:defRPr/>
            </a:pPr>
            <a:endParaRPr lang="en-GB" dirty="0"/>
          </a:p>
        </p:txBody>
      </p:sp>
      <p:sp>
        <p:nvSpPr>
          <p:cNvPr id="3" name="Title 2"/>
          <p:cNvSpPr>
            <a:spLocks noGrp="1"/>
          </p:cNvSpPr>
          <p:nvPr>
            <p:ph type="title"/>
          </p:nvPr>
        </p:nvSpPr>
        <p:spPr>
          <a:xfrm>
            <a:off x="457200" y="274638"/>
            <a:ext cx="8229600" cy="715962"/>
          </a:xfrm>
        </p:spPr>
        <p:txBody>
          <a:bodyPr>
            <a:normAutofit fontScale="90000"/>
          </a:bodyPr>
          <a:lstStyle/>
          <a:p>
            <a:pPr eaLnBrk="1" fontAlgn="auto" hangingPunct="1">
              <a:spcAft>
                <a:spcPts val="0"/>
              </a:spcAft>
              <a:defRPr/>
            </a:pPr>
            <a:r>
              <a:rPr lang="en-GB" u="sng" dirty="0">
                <a:solidFill>
                  <a:srgbClr val="FF0000"/>
                </a:solidFill>
                <a:highlight>
                  <a:srgbClr val="FFFF00"/>
                </a:highlight>
              </a:rPr>
              <a:t>Rule 4</a:t>
            </a:r>
          </a:p>
        </p:txBody>
      </p:sp>
      <p:sp>
        <p:nvSpPr>
          <p:cNvPr id="11268"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165D8C71-BF28-4E0D-8CD3-A9ABFA077F9D}"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229600" cy="4919662"/>
          </a:xfrm>
        </p:spPr>
        <p:txBody>
          <a:bodyPr>
            <a:normAutofit fontScale="77500" lnSpcReduction="20000"/>
          </a:bodyPr>
          <a:lstStyle/>
          <a:p>
            <a:pPr marL="365760" indent="-256032" eaLnBrk="1" fontAlgn="auto" hangingPunct="1">
              <a:spcAft>
                <a:spcPts val="0"/>
              </a:spcAft>
              <a:buFont typeface="Wingdings 3"/>
              <a:buChar char=""/>
              <a:defRPr/>
            </a:pPr>
            <a:r>
              <a:rPr lang="en-GB" i="1" dirty="0">
                <a:solidFill>
                  <a:srgbClr val="FF0000"/>
                </a:solidFill>
              </a:rPr>
              <a:t>a) when he signifies his approval or acceptance to the seller or does any other act adopting the transaction;</a:t>
            </a:r>
          </a:p>
          <a:p>
            <a:pPr marL="621792" lvl="1" eaLnBrk="1" fontAlgn="auto" hangingPunct="1">
              <a:spcBef>
                <a:spcPts val="324"/>
              </a:spcBef>
              <a:spcAft>
                <a:spcPts val="0"/>
              </a:spcAft>
              <a:buFont typeface="Verdana"/>
              <a:buChar char="◦"/>
              <a:defRPr/>
            </a:pPr>
            <a:endParaRPr lang="en-GB" dirty="0"/>
          </a:p>
          <a:p>
            <a:pPr marL="621792" lvl="1" eaLnBrk="1" fontAlgn="auto" hangingPunct="1">
              <a:spcBef>
                <a:spcPts val="324"/>
              </a:spcBef>
              <a:spcAft>
                <a:spcPts val="0"/>
              </a:spcAft>
              <a:buFont typeface="Verdana" pitchFamily="34" charset="0"/>
              <a:buNone/>
              <a:defRPr/>
            </a:pPr>
            <a:r>
              <a:rPr lang="en-GB" dirty="0"/>
              <a:t>Any action by the B inconsistent with his free power to return the goods adopts the transaction.</a:t>
            </a:r>
          </a:p>
          <a:p>
            <a:pPr marL="859536" lvl="2" eaLnBrk="1" fontAlgn="auto" hangingPunct="1">
              <a:spcAft>
                <a:spcPts val="0"/>
              </a:spcAft>
              <a:buFont typeface="Wingdings 2"/>
              <a:buChar char=""/>
              <a:defRPr/>
            </a:pPr>
            <a:r>
              <a:rPr lang="en-GB" dirty="0"/>
              <a:t>e.g. B obtains goods on approval, return or other similar terms and then </a:t>
            </a:r>
            <a:r>
              <a:rPr lang="en-GB" u="sng" dirty="0"/>
              <a:t>pledges/resells them.  This is an act adopting the transaction. </a:t>
            </a:r>
            <a:r>
              <a:rPr lang="en-GB" dirty="0"/>
              <a:t>Third party is protected against the S.</a:t>
            </a:r>
          </a:p>
          <a:p>
            <a:pPr lvl="3" eaLnBrk="1" fontAlgn="auto" hangingPunct="1">
              <a:spcAft>
                <a:spcPts val="0"/>
              </a:spcAft>
              <a:buFont typeface="Wingdings 2"/>
              <a:buChar char=""/>
              <a:defRPr/>
            </a:pPr>
            <a:r>
              <a:rPr lang="en-GB" dirty="0"/>
              <a:t>Why?</a:t>
            </a:r>
          </a:p>
          <a:p>
            <a:pPr lvl="3" eaLnBrk="1" fontAlgn="auto" hangingPunct="1">
              <a:spcAft>
                <a:spcPts val="0"/>
              </a:spcAft>
              <a:buFont typeface="Wingdings 2"/>
              <a:buChar char=""/>
              <a:defRPr/>
            </a:pPr>
            <a:r>
              <a:rPr lang="en-GB" dirty="0"/>
              <a:t>In this case, the 3</a:t>
            </a:r>
            <a:r>
              <a:rPr lang="en-GB" baseline="30000" dirty="0"/>
              <a:t>rd</a:t>
            </a:r>
            <a:r>
              <a:rPr lang="en-GB" dirty="0"/>
              <a:t> party will have a property right.  B cannot normally pledge (provide property right) something that B doesn’t have property in.</a:t>
            </a:r>
          </a:p>
          <a:p>
            <a:pPr lvl="3" eaLnBrk="1" fontAlgn="auto" hangingPunct="1">
              <a:spcAft>
                <a:spcPts val="0"/>
              </a:spcAft>
              <a:buFont typeface="Wingdings 2"/>
              <a:buChar char=""/>
              <a:defRPr/>
            </a:pPr>
            <a:endParaRPr lang="en-GB" b="1" dirty="0"/>
          </a:p>
          <a:p>
            <a:pPr lvl="3" eaLnBrk="1" fontAlgn="auto" hangingPunct="1">
              <a:spcAft>
                <a:spcPts val="0"/>
              </a:spcAft>
              <a:buFont typeface="Wingdings 2"/>
              <a:buChar char=""/>
              <a:defRPr/>
            </a:pPr>
            <a:r>
              <a:rPr lang="en-GB" b="1" i="1" dirty="0">
                <a:solidFill>
                  <a:srgbClr val="0070C0"/>
                </a:solidFill>
              </a:rPr>
              <a:t>Kirkham v Attenborough </a:t>
            </a:r>
          </a:p>
          <a:p>
            <a:pPr lvl="4" eaLnBrk="1" fontAlgn="auto" hangingPunct="1">
              <a:spcAft>
                <a:spcPts val="0"/>
              </a:spcAft>
              <a:buFont typeface="Wingdings 2"/>
              <a:buChar char=""/>
              <a:defRPr/>
            </a:pPr>
            <a:r>
              <a:rPr lang="en-GB" i="1" dirty="0"/>
              <a:t>K delivers jewellery to W on sale or return and W pledged it to A. K claimed goods were his property but was unsuccessful. </a:t>
            </a:r>
          </a:p>
          <a:p>
            <a:pPr lvl="4" eaLnBrk="1" fontAlgn="auto" hangingPunct="1">
              <a:spcAft>
                <a:spcPts val="0"/>
              </a:spcAft>
              <a:buFont typeface="Wingdings 2" pitchFamily="18" charset="2"/>
              <a:buNone/>
              <a:defRPr/>
            </a:pPr>
            <a:endParaRPr lang="en-GB" i="1" dirty="0">
              <a:highlight>
                <a:srgbClr val="FFFF00"/>
              </a:highlight>
            </a:endParaRPr>
          </a:p>
          <a:p>
            <a:pPr marL="621792" lvl="1" eaLnBrk="1" fontAlgn="auto" hangingPunct="1">
              <a:spcBef>
                <a:spcPts val="324"/>
              </a:spcBef>
              <a:spcAft>
                <a:spcPts val="0"/>
              </a:spcAft>
              <a:buFont typeface="Verdana"/>
              <a:buChar char="◦"/>
              <a:defRPr/>
            </a:pPr>
            <a:r>
              <a:rPr lang="en-GB" dirty="0">
                <a:solidFill>
                  <a:srgbClr val="FF0000"/>
                </a:solidFill>
                <a:highlight>
                  <a:srgbClr val="FFFF00"/>
                </a:highlight>
              </a:rPr>
              <a:t>A contractual stipulation that the property is not to pass until the goods are paid for protects the seller. This is a contrary intention which overrides </a:t>
            </a:r>
            <a:r>
              <a:rPr lang="en-GB" dirty="0" err="1">
                <a:solidFill>
                  <a:srgbClr val="FF0000"/>
                </a:solidFill>
                <a:highlight>
                  <a:srgbClr val="FFFF00"/>
                </a:highlight>
              </a:rPr>
              <a:t>R4</a:t>
            </a:r>
            <a:r>
              <a:rPr lang="en-GB" dirty="0">
                <a:solidFill>
                  <a:srgbClr val="FF0000"/>
                </a:solidFill>
                <a:highlight>
                  <a:srgbClr val="FFFF00"/>
                </a:highlight>
              </a:rPr>
              <a:t>.</a:t>
            </a:r>
          </a:p>
        </p:txBody>
      </p:sp>
      <p:sp>
        <p:nvSpPr>
          <p:cNvPr id="3" name="Title 2"/>
          <p:cNvSpPr>
            <a:spLocks noGrp="1"/>
          </p:cNvSpPr>
          <p:nvPr>
            <p:ph type="title"/>
          </p:nvPr>
        </p:nvSpPr>
        <p:spPr/>
        <p:txBody>
          <a:bodyPr/>
          <a:lstStyle/>
          <a:p>
            <a:pPr eaLnBrk="1" fontAlgn="auto" hangingPunct="1">
              <a:spcAft>
                <a:spcPts val="0"/>
              </a:spcAft>
              <a:defRPr/>
            </a:pPr>
            <a:r>
              <a:rPr lang="en-GB" dirty="0">
                <a:solidFill>
                  <a:schemeClr val="tx1"/>
                </a:solidFill>
              </a:rPr>
              <a:t>Rule 4</a:t>
            </a:r>
          </a:p>
        </p:txBody>
      </p:sp>
      <p:sp>
        <p:nvSpPr>
          <p:cNvPr id="12292"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28E27E14-0A3A-4E4C-9701-9C1A8B9C4F8D}"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a:spLocks noGrp="1"/>
          </p:cNvSpPr>
          <p:nvPr>
            <p:ph idx="1"/>
          </p:nvPr>
        </p:nvSpPr>
        <p:spPr>
          <a:xfrm>
            <a:off x="304800" y="838200"/>
            <a:ext cx="8458200" cy="5715000"/>
          </a:xfrm>
        </p:spPr>
        <p:txBody>
          <a:bodyPr/>
          <a:lstStyle/>
          <a:p>
            <a:pPr eaLnBrk="1" hangingPunct="1"/>
            <a:r>
              <a:rPr lang="en-GB" sz="2400" dirty="0">
                <a:solidFill>
                  <a:srgbClr val="FF0000"/>
                </a:solidFill>
              </a:rPr>
              <a:t>Defines what one needs to do in order to pass the property but </a:t>
            </a:r>
            <a:r>
              <a:rPr lang="en-GB" sz="2400" u="sng" dirty="0">
                <a:solidFill>
                  <a:srgbClr val="FF0000"/>
                </a:solidFill>
              </a:rPr>
              <a:t>no clarity as to what needs to be done to return the goods</a:t>
            </a:r>
            <a:r>
              <a:rPr lang="en-GB" sz="2400" dirty="0">
                <a:solidFill>
                  <a:srgbClr val="FF0000"/>
                </a:solidFill>
              </a:rPr>
              <a:t>.</a:t>
            </a:r>
          </a:p>
          <a:p>
            <a:pPr eaLnBrk="1" hangingPunct="1">
              <a:buFont typeface="Wingdings 3" pitchFamily="18" charset="2"/>
              <a:buNone/>
            </a:pPr>
            <a:endParaRPr lang="en-GB" sz="2400" dirty="0"/>
          </a:p>
          <a:p>
            <a:pPr eaLnBrk="1" hangingPunct="1"/>
            <a:r>
              <a:rPr lang="en-GB" sz="2400" dirty="0"/>
              <a:t>Property passes if the </a:t>
            </a:r>
            <a:r>
              <a:rPr lang="en-GB" sz="2400" b="1" dirty="0"/>
              <a:t>B retains the goods beyond a certain time without giving </a:t>
            </a:r>
            <a:r>
              <a:rPr lang="en-GB" sz="2400" b="1" i="1" u="sng" dirty="0">
                <a:highlight>
                  <a:srgbClr val="FFFF00"/>
                </a:highlight>
              </a:rPr>
              <a:t>notice of rejection</a:t>
            </a:r>
            <a:r>
              <a:rPr lang="en-GB" sz="2400" b="1" dirty="0">
                <a:highlight>
                  <a:srgbClr val="FFFF00"/>
                </a:highlight>
              </a:rPr>
              <a:t>. </a:t>
            </a:r>
          </a:p>
          <a:p>
            <a:pPr eaLnBrk="1" hangingPunct="1">
              <a:buFont typeface="Wingdings 3" pitchFamily="18" charset="2"/>
              <a:buNone/>
            </a:pPr>
            <a:endParaRPr lang="en-GB" sz="2400" dirty="0"/>
          </a:p>
          <a:p>
            <a:pPr lvl="1" eaLnBrk="1" hangingPunct="1"/>
            <a:r>
              <a:rPr lang="en-GB" sz="2000" i="1" u="sng" dirty="0"/>
              <a:t>Notice of rejection </a:t>
            </a:r>
            <a:r>
              <a:rPr lang="en-GB" sz="2000" u="sng" dirty="0"/>
              <a:t>is not used here in the same sense as rejection of defective goods. </a:t>
            </a:r>
            <a:r>
              <a:rPr lang="en-GB" sz="2000" dirty="0"/>
              <a:t>This distinction is important.</a:t>
            </a:r>
          </a:p>
          <a:p>
            <a:pPr lvl="1" eaLnBrk="1" hangingPunct="1">
              <a:buFont typeface="Verdana" pitchFamily="34" charset="0"/>
              <a:buNone/>
            </a:pPr>
            <a:endParaRPr lang="en-GB" sz="2000" dirty="0"/>
          </a:p>
          <a:p>
            <a:pPr lvl="2" eaLnBrk="1" hangingPunct="1"/>
            <a:r>
              <a:rPr lang="en-GB" sz="1800" dirty="0"/>
              <a:t>In sale or return K’s what needs to be done is expressly stated in the K. (</a:t>
            </a:r>
            <a:r>
              <a:rPr lang="en-GB" sz="1800" i="1" dirty="0"/>
              <a:t>e.g. “at the end of 12 months please return any unsold books with the invoice”.)</a:t>
            </a:r>
          </a:p>
          <a:p>
            <a:pPr lvl="2" eaLnBrk="1" hangingPunct="1"/>
            <a:r>
              <a:rPr lang="en-GB" sz="1800" dirty="0"/>
              <a:t>But when the goods are rejected in defective goods, the K will not say anything because it is not foreseen at the conclusion of the K that the goods will be defective.</a:t>
            </a:r>
          </a:p>
        </p:txBody>
      </p:sp>
      <p:sp>
        <p:nvSpPr>
          <p:cNvPr id="4098" name="Title 1"/>
          <p:cNvSpPr>
            <a:spLocks noGrp="1"/>
          </p:cNvSpPr>
          <p:nvPr>
            <p:ph type="title"/>
          </p:nvPr>
        </p:nvSpPr>
        <p:spPr>
          <a:xfrm>
            <a:off x="457200" y="274638"/>
            <a:ext cx="8229600" cy="792162"/>
          </a:xfrm>
        </p:spPr>
        <p:txBody>
          <a:bodyPr/>
          <a:lstStyle/>
          <a:p>
            <a:pPr eaLnBrk="1" fontAlgn="auto" hangingPunct="1">
              <a:spcAft>
                <a:spcPts val="0"/>
              </a:spcAft>
              <a:defRPr/>
            </a:pPr>
            <a:r>
              <a:rPr lang="en-GB" dirty="0">
                <a:solidFill>
                  <a:schemeClr val="tx1"/>
                </a:solidFill>
              </a:rPr>
              <a:t>Rule 4</a:t>
            </a:r>
          </a:p>
        </p:txBody>
      </p:sp>
      <p:sp>
        <p:nvSpPr>
          <p:cNvPr id="13316"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D8C647B9-9B0E-4B39-AD8E-62E37E476A0F}"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p:cNvSpPr>
            <a:spLocks noGrp="1"/>
          </p:cNvSpPr>
          <p:nvPr>
            <p:ph idx="1"/>
          </p:nvPr>
        </p:nvSpPr>
        <p:spPr>
          <a:xfrm>
            <a:off x="457200" y="1020762"/>
            <a:ext cx="8229600" cy="5380038"/>
          </a:xfrm>
        </p:spPr>
        <p:txBody>
          <a:bodyPr/>
          <a:lstStyle/>
          <a:p>
            <a:pPr eaLnBrk="1" hangingPunct="1"/>
            <a:r>
              <a:rPr lang="en-GB" b="1" i="1" u="sng" dirty="0">
                <a:solidFill>
                  <a:srgbClr val="0070C0"/>
                </a:solidFill>
              </a:rPr>
              <a:t>Atari Corp v Electronics Boutique Store</a:t>
            </a:r>
          </a:p>
          <a:p>
            <a:pPr lvl="1" eaLnBrk="1" hangingPunct="1"/>
            <a:r>
              <a:rPr lang="en-GB" b="1" dirty="0"/>
              <a:t>Held (CA): </a:t>
            </a:r>
            <a:r>
              <a:rPr lang="en-GB" dirty="0"/>
              <a:t>In the absence of a specific provision controlling the matter, in a sale or return K any notice to the S that the B does not wish to exercise his option to purchase suffices.</a:t>
            </a:r>
          </a:p>
          <a:p>
            <a:pPr lvl="1" eaLnBrk="1" hangingPunct="1">
              <a:buFont typeface="Verdana" pitchFamily="34" charset="0"/>
              <a:buNone/>
            </a:pPr>
            <a:endParaRPr lang="en-GB" dirty="0"/>
          </a:p>
          <a:p>
            <a:pPr lvl="1" eaLnBrk="1" hangingPunct="1"/>
            <a:r>
              <a:rPr lang="en-GB" dirty="0"/>
              <a:t>Commercially this makes sense as if after giving notice the B collects  the goods within a reasonable time the S can resume possession of them and resell them.</a:t>
            </a:r>
          </a:p>
          <a:p>
            <a:pPr lvl="1" eaLnBrk="1" hangingPunct="1">
              <a:buFont typeface="Verdana" pitchFamily="34" charset="0"/>
              <a:buNone/>
            </a:pPr>
            <a:endParaRPr lang="en-GB" dirty="0"/>
          </a:p>
          <a:p>
            <a:pPr lvl="1" eaLnBrk="1" hangingPunct="1"/>
            <a:r>
              <a:rPr lang="en-GB" dirty="0"/>
              <a:t>This decision also recognises that K’s for sale or return are K’s for bailment up until the time property passes.</a:t>
            </a:r>
          </a:p>
          <a:p>
            <a:pPr marL="392113" lvl="1" indent="0" eaLnBrk="1" hangingPunct="1">
              <a:buNone/>
            </a:pPr>
            <a:endParaRPr lang="en-GB" dirty="0"/>
          </a:p>
        </p:txBody>
      </p:sp>
      <p:sp>
        <p:nvSpPr>
          <p:cNvPr id="3" name="Title 2"/>
          <p:cNvSpPr>
            <a:spLocks noGrp="1"/>
          </p:cNvSpPr>
          <p:nvPr>
            <p:ph type="title"/>
          </p:nvPr>
        </p:nvSpPr>
        <p:spPr>
          <a:xfrm>
            <a:off x="457200" y="304800"/>
            <a:ext cx="8229600" cy="715962"/>
          </a:xfrm>
        </p:spPr>
        <p:txBody>
          <a:bodyPr>
            <a:normAutofit fontScale="90000"/>
          </a:bodyPr>
          <a:lstStyle/>
          <a:p>
            <a:pPr eaLnBrk="1" fontAlgn="auto" hangingPunct="1">
              <a:spcAft>
                <a:spcPts val="0"/>
              </a:spcAft>
              <a:defRPr/>
            </a:pPr>
            <a:r>
              <a:rPr lang="en-GB" dirty="0">
                <a:solidFill>
                  <a:schemeClr val="tx1"/>
                </a:solidFill>
              </a:rPr>
              <a:t>Rule 4</a:t>
            </a:r>
          </a:p>
        </p:txBody>
      </p:sp>
      <p:sp>
        <p:nvSpPr>
          <p:cNvPr id="14340"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A206EFEA-44CF-4601-AD59-9F155C1F2AEE}"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9F849C-9E68-4774-8CC1-726C3DA8DE4D}"/>
              </a:ext>
            </a:extLst>
          </p:cNvPr>
          <p:cNvSpPr>
            <a:spLocks noGrp="1"/>
          </p:cNvSpPr>
          <p:nvPr>
            <p:ph idx="1"/>
          </p:nvPr>
        </p:nvSpPr>
        <p:spPr/>
        <p:txBody>
          <a:bodyPr/>
          <a:lstStyle/>
          <a:p>
            <a:pPr marL="392113" lvl="1" indent="0" eaLnBrk="1" hangingPunct="1">
              <a:buNone/>
            </a:pPr>
            <a:endParaRPr lang="en-GB" dirty="0"/>
          </a:p>
          <a:p>
            <a:pPr lvl="2" eaLnBrk="1" hangingPunct="1"/>
            <a:r>
              <a:rPr lang="en-GB" sz="2800" dirty="0"/>
              <a:t>Significance of this decision is that if passing of property and time of payment are separate the goods will remain at the S’s risk notwithstanding payment by the B.</a:t>
            </a:r>
          </a:p>
          <a:p>
            <a:endParaRPr lang="en-GB" dirty="0"/>
          </a:p>
        </p:txBody>
      </p:sp>
      <p:sp>
        <p:nvSpPr>
          <p:cNvPr id="3" name="Title 2">
            <a:extLst>
              <a:ext uri="{FF2B5EF4-FFF2-40B4-BE49-F238E27FC236}">
                <a16:creationId xmlns:a16="http://schemas.microsoft.com/office/drawing/2014/main" id="{C00F6047-C698-41EA-9F4B-4B1A3687C741}"/>
              </a:ext>
            </a:extLst>
          </p:cNvPr>
          <p:cNvSpPr>
            <a:spLocks noGrp="1"/>
          </p:cNvSpPr>
          <p:nvPr>
            <p:ph type="title"/>
          </p:nvPr>
        </p:nvSpPr>
        <p:spPr>
          <a:xfrm>
            <a:off x="457200" y="1295400"/>
            <a:ext cx="8229600" cy="122238"/>
          </a:xfrm>
        </p:spPr>
        <p:txBody>
          <a:bodyPr>
            <a:normAutofit fontScale="90000"/>
          </a:bodyPr>
          <a:lstStyle/>
          <a:p>
            <a:r>
              <a:rPr lang="en-GB" sz="3600" dirty="0">
                <a:solidFill>
                  <a:schemeClr val="tx1"/>
                </a:solidFill>
              </a:rPr>
              <a:t>Rule 4</a:t>
            </a:r>
            <a:br>
              <a:rPr lang="en-GB" sz="3600" dirty="0">
                <a:solidFill>
                  <a:schemeClr val="tx1"/>
                </a:solidFill>
              </a:rPr>
            </a:br>
            <a:r>
              <a:rPr lang="en-GB" sz="3600" i="1" dirty="0">
                <a:solidFill>
                  <a:srgbClr val="0070C0"/>
                </a:solidFill>
              </a:rPr>
              <a:t>Atari Corp v Electronics Boutique Store (continued)</a:t>
            </a:r>
            <a:br>
              <a:rPr lang="en-GB" i="1" dirty="0"/>
            </a:br>
            <a:br>
              <a:rPr lang="en-GB" i="1" dirty="0"/>
            </a:br>
            <a:endParaRPr lang="en-GB" dirty="0"/>
          </a:p>
        </p:txBody>
      </p:sp>
      <p:sp>
        <p:nvSpPr>
          <p:cNvPr id="4" name="Slide Number Placeholder 3">
            <a:extLst>
              <a:ext uri="{FF2B5EF4-FFF2-40B4-BE49-F238E27FC236}">
                <a16:creationId xmlns:a16="http://schemas.microsoft.com/office/drawing/2014/main" id="{4453B003-C33B-42AD-AB40-4CBDEB5C421C}"/>
              </a:ext>
            </a:extLst>
          </p:cNvPr>
          <p:cNvSpPr>
            <a:spLocks noGrp="1"/>
          </p:cNvSpPr>
          <p:nvPr>
            <p:ph type="sldNum" sz="quarter" idx="12"/>
          </p:nvPr>
        </p:nvSpPr>
        <p:spPr/>
        <p:txBody>
          <a:bodyPr/>
          <a:lstStyle/>
          <a:p>
            <a:pPr>
              <a:defRPr/>
            </a:pPr>
            <a:fld id="{85BFEF5D-1496-47A2-B4E5-2644E6C7125E}" type="slidenum">
              <a:rPr lang="en-US" smtClean="0"/>
              <a:pPr>
                <a:defRPr/>
              </a:pPr>
              <a:t>7</a:t>
            </a:fld>
            <a:endParaRPr lang="en-US"/>
          </a:p>
        </p:txBody>
      </p:sp>
    </p:spTree>
    <p:extLst>
      <p:ext uri="{BB962C8B-B14F-4D97-AF65-F5344CB8AC3E}">
        <p14:creationId xmlns:p14="http://schemas.microsoft.com/office/powerpoint/2010/main" val="1499474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p:cNvSpPr>
            <a:spLocks noGrp="1"/>
          </p:cNvSpPr>
          <p:nvPr>
            <p:ph idx="1"/>
          </p:nvPr>
        </p:nvSpPr>
        <p:spPr>
          <a:xfrm>
            <a:off x="381000" y="914400"/>
            <a:ext cx="8305800" cy="5638800"/>
          </a:xfrm>
        </p:spPr>
        <p:txBody>
          <a:bodyPr/>
          <a:lstStyle/>
          <a:p>
            <a:pPr eaLnBrk="1" hangingPunct="1"/>
            <a:r>
              <a:rPr lang="en-GB" u="sng" dirty="0"/>
              <a:t>Resemblance of Reservation of title (retention of title) to sale or return K’s.</a:t>
            </a:r>
          </a:p>
          <a:p>
            <a:pPr lvl="1" eaLnBrk="1" hangingPunct="1"/>
            <a:r>
              <a:rPr lang="en-GB" sz="2100" dirty="0" err="1"/>
              <a:t>RoT</a:t>
            </a:r>
            <a:r>
              <a:rPr lang="en-GB" sz="2100" dirty="0"/>
              <a:t> generally applies to unascertained goods (S retains property on the goods until S is paid) and are governed by s. 19 and 17.</a:t>
            </a:r>
          </a:p>
          <a:p>
            <a:pPr lvl="1" eaLnBrk="1" hangingPunct="1">
              <a:buFont typeface="Verdana" pitchFamily="34" charset="0"/>
              <a:buNone/>
            </a:pPr>
            <a:endParaRPr lang="en-GB" sz="2100" dirty="0"/>
          </a:p>
          <a:p>
            <a:pPr lvl="2" eaLnBrk="1" hangingPunct="1"/>
            <a:r>
              <a:rPr lang="en-GB" dirty="0"/>
              <a:t>But </a:t>
            </a:r>
            <a:r>
              <a:rPr lang="en-GB" dirty="0">
                <a:solidFill>
                  <a:srgbClr val="FF0000"/>
                </a:solidFill>
              </a:rPr>
              <a:t>Rule 4 does not apply to unascertained goods.</a:t>
            </a:r>
          </a:p>
          <a:p>
            <a:pPr lvl="2" eaLnBrk="1" hangingPunct="1">
              <a:buFont typeface="Wingdings 2" pitchFamily="18" charset="2"/>
              <a:buNone/>
            </a:pPr>
            <a:endParaRPr lang="en-GB" u="sng" dirty="0"/>
          </a:p>
          <a:p>
            <a:pPr lvl="1" eaLnBrk="1" hangingPunct="1"/>
            <a:r>
              <a:rPr lang="en-GB" sz="2100" u="sng" dirty="0"/>
              <a:t>In </a:t>
            </a:r>
            <a:r>
              <a:rPr lang="en-GB" sz="2100" u="sng" dirty="0" err="1"/>
              <a:t>RoT</a:t>
            </a:r>
            <a:r>
              <a:rPr lang="en-GB" sz="2100" u="sng" dirty="0"/>
              <a:t> if the goods are used by the B and their nature is changed this usually passes the property to B. </a:t>
            </a:r>
          </a:p>
          <a:p>
            <a:pPr lvl="2" eaLnBrk="1" hangingPunct="1"/>
            <a:r>
              <a:rPr lang="en-GB" dirty="0"/>
              <a:t>Timber used to manufacture furniture; resin used to manufacture chipboard; aluminium used to manufacture wheels. </a:t>
            </a:r>
          </a:p>
          <a:p>
            <a:pPr lvl="1" eaLnBrk="1" hangingPunct="1"/>
            <a:r>
              <a:rPr lang="en-GB" sz="2100" b="1" dirty="0">
                <a:solidFill>
                  <a:srgbClr val="FF0000"/>
                </a:solidFill>
              </a:rPr>
              <a:t>Main difference: in </a:t>
            </a:r>
            <a:r>
              <a:rPr lang="en-GB" sz="2100" b="1" dirty="0" err="1">
                <a:solidFill>
                  <a:srgbClr val="FF0000"/>
                </a:solidFill>
              </a:rPr>
              <a:t>RoT</a:t>
            </a:r>
            <a:r>
              <a:rPr lang="en-GB" sz="2100" b="1" dirty="0">
                <a:solidFill>
                  <a:srgbClr val="FF0000"/>
                </a:solidFill>
              </a:rPr>
              <a:t> the B is committed to purchase the goods, whereas in sale or return the B is not committed to purchase.  </a:t>
            </a:r>
          </a:p>
          <a:p>
            <a:pPr lvl="1" eaLnBrk="1" hangingPunct="1"/>
            <a:endParaRPr lang="en-GB" dirty="0"/>
          </a:p>
          <a:p>
            <a:pPr lvl="1" eaLnBrk="1" hangingPunct="1"/>
            <a:endParaRPr lang="en-GB" dirty="0"/>
          </a:p>
        </p:txBody>
      </p:sp>
      <p:sp>
        <p:nvSpPr>
          <p:cNvPr id="5122" name="Title 1"/>
          <p:cNvSpPr>
            <a:spLocks noGrp="1"/>
          </p:cNvSpPr>
          <p:nvPr>
            <p:ph type="title"/>
          </p:nvPr>
        </p:nvSpPr>
        <p:spPr>
          <a:xfrm>
            <a:off x="457200" y="274638"/>
            <a:ext cx="8229600" cy="792162"/>
          </a:xfrm>
        </p:spPr>
        <p:txBody>
          <a:bodyPr/>
          <a:lstStyle/>
          <a:p>
            <a:pPr eaLnBrk="1" fontAlgn="auto" hangingPunct="1">
              <a:spcAft>
                <a:spcPts val="0"/>
              </a:spcAft>
              <a:defRPr/>
            </a:pPr>
            <a:r>
              <a:rPr lang="en-GB" dirty="0">
                <a:solidFill>
                  <a:schemeClr val="tx1"/>
                </a:solidFill>
              </a:rPr>
              <a:t>Rule 4</a:t>
            </a:r>
          </a:p>
        </p:txBody>
      </p:sp>
      <p:sp>
        <p:nvSpPr>
          <p:cNvPr id="15364"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76031AA7-6CC6-4F5C-B9D2-38A06D0ACD0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a:xfrm>
            <a:off x="304800" y="1143000"/>
            <a:ext cx="8458200" cy="5440362"/>
          </a:xfrm>
        </p:spPr>
        <p:txBody>
          <a:bodyPr/>
          <a:lstStyle/>
          <a:p>
            <a:pPr eaLnBrk="1" hangingPunct="1"/>
            <a:r>
              <a:rPr lang="en-GB" u="sng" dirty="0"/>
              <a:t>What if the B under sale or return sells the goods to a 3</a:t>
            </a:r>
            <a:r>
              <a:rPr lang="en-GB" u="sng" baseline="30000" dirty="0"/>
              <a:t>rd</a:t>
            </a:r>
            <a:r>
              <a:rPr lang="en-GB" u="sng" dirty="0"/>
              <a:t> Party despite a clause that states property is not to pass until payment?</a:t>
            </a:r>
          </a:p>
          <a:p>
            <a:pPr eaLnBrk="1" hangingPunct="1">
              <a:buFont typeface="Wingdings 3" pitchFamily="18" charset="2"/>
              <a:buNone/>
            </a:pPr>
            <a:endParaRPr lang="en-GB" dirty="0"/>
          </a:p>
          <a:p>
            <a:pPr lvl="1" eaLnBrk="1" hangingPunct="1"/>
            <a:r>
              <a:rPr lang="en-GB" b="1" dirty="0"/>
              <a:t>Clause overrides s. 18, Rule 4</a:t>
            </a:r>
            <a:r>
              <a:rPr lang="en-GB" dirty="0"/>
              <a:t>, contrary intention as to the time when the property passes.</a:t>
            </a:r>
          </a:p>
          <a:p>
            <a:pPr lvl="1" eaLnBrk="1" hangingPunct="1">
              <a:buFont typeface="Verdana" pitchFamily="34" charset="0"/>
              <a:buNone/>
            </a:pPr>
            <a:endParaRPr lang="en-GB" u="sng" dirty="0"/>
          </a:p>
          <a:p>
            <a:pPr lvl="1" eaLnBrk="1" hangingPunct="1"/>
            <a:r>
              <a:rPr lang="en-GB" b="1" i="1" u="sng" dirty="0">
                <a:solidFill>
                  <a:srgbClr val="0070C0"/>
                </a:solidFill>
              </a:rPr>
              <a:t>Weiner v Harris</a:t>
            </a:r>
          </a:p>
          <a:p>
            <a:pPr lvl="2" eaLnBrk="1" hangingPunct="1"/>
            <a:r>
              <a:rPr lang="en-GB" dirty="0"/>
              <a:t>W sent jewellery to F. There was a contractual clause which stated that property was to remain with W until goods were sold/paid for. F pledged jewels to H.</a:t>
            </a:r>
          </a:p>
          <a:p>
            <a:pPr lvl="3" eaLnBrk="1" hangingPunct="1"/>
            <a:r>
              <a:rPr lang="en-GB" dirty="0"/>
              <a:t>Sale or return K or Commercial Agency?</a:t>
            </a:r>
          </a:p>
          <a:p>
            <a:pPr lvl="4" eaLnBrk="1" hangingPunct="1"/>
            <a:r>
              <a:rPr lang="en-GB" b="1" dirty="0"/>
              <a:t>CA Held: </a:t>
            </a:r>
            <a:r>
              <a:rPr lang="en-GB" dirty="0"/>
              <a:t>F was a commercial agent and had the right to pledge goods.</a:t>
            </a:r>
          </a:p>
        </p:txBody>
      </p:sp>
      <p:sp>
        <p:nvSpPr>
          <p:cNvPr id="16387"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FBBDF9BC-ACCA-4E1B-87D1-C73A08A06CFD}" type="slidenum">
              <a:rPr lang="en-US" smtClean="0"/>
              <a:pPr/>
              <a:t>9</a:t>
            </a:fld>
            <a:endParaRPr lang="en-US"/>
          </a:p>
        </p:txBody>
      </p:sp>
      <p:sp>
        <p:nvSpPr>
          <p:cNvPr id="4" name="Title 3"/>
          <p:cNvSpPr>
            <a:spLocks noGrp="1"/>
          </p:cNvSpPr>
          <p:nvPr>
            <p:ph type="title"/>
          </p:nvPr>
        </p:nvSpPr>
        <p:spPr>
          <a:xfrm>
            <a:off x="457200" y="274638"/>
            <a:ext cx="8229600" cy="792162"/>
          </a:xfrm>
        </p:spPr>
        <p:txBody>
          <a:bodyPr/>
          <a:lstStyle/>
          <a:p>
            <a:pPr eaLnBrk="1" fontAlgn="auto" hangingPunct="1">
              <a:spcAft>
                <a:spcPts val="0"/>
              </a:spcAft>
              <a:defRPr/>
            </a:pPr>
            <a:r>
              <a:rPr lang="en-GB" dirty="0">
                <a:solidFill>
                  <a:schemeClr val="tx1"/>
                </a:solidFill>
              </a:rPr>
              <a:t>Rule 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a:xfrm>
            <a:off x="152400" y="1219200"/>
            <a:ext cx="8534400" cy="5257800"/>
          </a:xfrm>
        </p:spPr>
        <p:txBody>
          <a:bodyPr/>
          <a:lstStyle/>
          <a:p>
            <a:pPr eaLnBrk="1" hangingPunct="1"/>
            <a:endParaRPr lang="en-GB" sz="2400" dirty="0"/>
          </a:p>
          <a:p>
            <a:pPr eaLnBrk="1" hangingPunct="1"/>
            <a:r>
              <a:rPr lang="en-GB" sz="2400" dirty="0">
                <a:solidFill>
                  <a:srgbClr val="FF0000"/>
                </a:solidFill>
              </a:rPr>
              <a:t>4(b): </a:t>
            </a:r>
          </a:p>
          <a:p>
            <a:pPr lvl="1" eaLnBrk="1" hangingPunct="1"/>
            <a:r>
              <a:rPr lang="en-GB" sz="1600" dirty="0">
                <a:solidFill>
                  <a:srgbClr val="FF0000"/>
                </a:solidFill>
              </a:rPr>
              <a:t>“if he </a:t>
            </a:r>
            <a:r>
              <a:rPr lang="en-GB" sz="1600" u="sng" dirty="0">
                <a:solidFill>
                  <a:srgbClr val="FF0000"/>
                </a:solidFill>
              </a:rPr>
              <a:t>does not signify his approval or acceptance </a:t>
            </a:r>
            <a:r>
              <a:rPr lang="en-GB" sz="1600" dirty="0">
                <a:solidFill>
                  <a:srgbClr val="FF0000"/>
                </a:solidFill>
              </a:rPr>
              <a:t>to the seller but </a:t>
            </a:r>
            <a:r>
              <a:rPr lang="en-GB" sz="1600" u="sng" dirty="0">
                <a:solidFill>
                  <a:srgbClr val="FF0000"/>
                </a:solidFill>
              </a:rPr>
              <a:t>retains the goods without giving notice of rejection</a:t>
            </a:r>
            <a:r>
              <a:rPr lang="en-GB" sz="1600" dirty="0">
                <a:solidFill>
                  <a:srgbClr val="FF0000"/>
                </a:solidFill>
              </a:rPr>
              <a:t>, then, if a </a:t>
            </a:r>
            <a:r>
              <a:rPr lang="en-GB" sz="1600" u="sng" dirty="0">
                <a:solidFill>
                  <a:srgbClr val="FF0000"/>
                </a:solidFill>
              </a:rPr>
              <a:t>time has been fixed </a:t>
            </a:r>
            <a:r>
              <a:rPr lang="en-GB" sz="1600" dirty="0">
                <a:solidFill>
                  <a:srgbClr val="FF0000"/>
                </a:solidFill>
              </a:rPr>
              <a:t>for the return of the goods, on the </a:t>
            </a:r>
            <a:r>
              <a:rPr lang="en-GB" sz="1600" u="sng" dirty="0">
                <a:solidFill>
                  <a:srgbClr val="FF0000"/>
                </a:solidFill>
              </a:rPr>
              <a:t>expiration of that time</a:t>
            </a:r>
            <a:r>
              <a:rPr lang="en-GB" sz="1600" dirty="0">
                <a:solidFill>
                  <a:srgbClr val="FF0000"/>
                </a:solidFill>
              </a:rPr>
              <a:t>, and, if </a:t>
            </a:r>
            <a:r>
              <a:rPr lang="en-GB" sz="1600" u="sng" dirty="0">
                <a:solidFill>
                  <a:srgbClr val="FF0000"/>
                </a:solidFill>
              </a:rPr>
              <a:t>no time </a:t>
            </a:r>
            <a:r>
              <a:rPr lang="en-GB" sz="1600" dirty="0">
                <a:solidFill>
                  <a:srgbClr val="FF0000"/>
                </a:solidFill>
              </a:rPr>
              <a:t>has been fixed, on the expiration of a </a:t>
            </a:r>
            <a:r>
              <a:rPr lang="en-GB" sz="1600" u="sng" dirty="0">
                <a:solidFill>
                  <a:srgbClr val="FF0000"/>
                </a:solidFill>
              </a:rPr>
              <a:t>reasonable time</a:t>
            </a:r>
            <a:r>
              <a:rPr lang="en-GB" sz="1600" dirty="0">
                <a:solidFill>
                  <a:srgbClr val="FF0000"/>
                </a:solidFill>
              </a:rPr>
              <a:t>.”  </a:t>
            </a:r>
            <a:r>
              <a:rPr lang="en-GB" sz="1600" dirty="0"/>
              <a:t>(emphasis needed)</a:t>
            </a:r>
          </a:p>
          <a:p>
            <a:pPr lvl="1" eaLnBrk="1" hangingPunct="1">
              <a:buFont typeface="Verdana" pitchFamily="34" charset="0"/>
              <a:buNone/>
            </a:pPr>
            <a:endParaRPr lang="en-GB" sz="1600" dirty="0"/>
          </a:p>
          <a:p>
            <a:pPr eaLnBrk="1" hangingPunct="1"/>
            <a:r>
              <a:rPr lang="en-GB" sz="2400" dirty="0"/>
              <a:t>If a time has been fixed for the return of goods the B deemed to have exercised his option to buy them after this time has elapsed.</a:t>
            </a:r>
          </a:p>
          <a:p>
            <a:pPr eaLnBrk="1" hangingPunct="1">
              <a:buFont typeface="Wingdings 3" pitchFamily="18" charset="2"/>
              <a:buNone/>
            </a:pPr>
            <a:endParaRPr lang="en-GB" sz="2000" dirty="0"/>
          </a:p>
          <a:p>
            <a:pPr lvl="1" eaLnBrk="1" hangingPunct="1"/>
            <a:r>
              <a:rPr lang="en-GB" sz="1800" dirty="0"/>
              <a:t>K may be completed </a:t>
            </a:r>
            <a:r>
              <a:rPr lang="en-GB" sz="1800" u="sng" dirty="0">
                <a:solidFill>
                  <a:srgbClr val="FF0000"/>
                </a:solidFill>
              </a:rPr>
              <a:t>without a communication or the B may waive the time limit and accept the goods at once by so informing the S </a:t>
            </a:r>
            <a:r>
              <a:rPr lang="en-GB" sz="1800" dirty="0"/>
              <a:t>(</a:t>
            </a:r>
            <a:r>
              <a:rPr lang="en-GB" sz="1800" i="1" dirty="0"/>
              <a:t>e.g. </a:t>
            </a:r>
            <a:r>
              <a:rPr lang="en-GB" sz="1800" dirty="0"/>
              <a:t>producer or manufacturer (S) brings goods to a shop (B) for the shop to sell to 3</a:t>
            </a:r>
            <a:r>
              <a:rPr lang="en-GB" sz="1800" baseline="30000" dirty="0"/>
              <a:t>rd</a:t>
            </a:r>
            <a:r>
              <a:rPr lang="en-GB" sz="1800" dirty="0"/>
              <a:t> parties.).</a:t>
            </a:r>
          </a:p>
        </p:txBody>
      </p:sp>
      <p:sp>
        <p:nvSpPr>
          <p:cNvPr id="17411"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A1A9F60F-9B78-46B5-A661-D3DD69038D05}" type="slidenum">
              <a:rPr lang="en-US" smtClean="0"/>
              <a:pPr/>
              <a:t>10</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lstStyle/>
          <a:p>
            <a:pPr lvl="1" eaLnBrk="1" hangingPunct="1"/>
            <a:endParaRPr lang="en-GB" sz="2400" dirty="0"/>
          </a:p>
          <a:p>
            <a:pPr lvl="1" eaLnBrk="1" hangingPunct="1"/>
            <a:r>
              <a:rPr lang="en-GB" sz="2400" dirty="0"/>
              <a:t>If goods are not returned within a reasonable time due to </a:t>
            </a:r>
            <a:r>
              <a:rPr lang="en-GB" sz="2400" b="1" dirty="0">
                <a:solidFill>
                  <a:srgbClr val="FF0000"/>
                </a:solidFill>
              </a:rPr>
              <a:t>B’s employee</a:t>
            </a:r>
            <a:r>
              <a:rPr lang="en-GB" sz="2400" dirty="0">
                <a:solidFill>
                  <a:srgbClr val="FF0000"/>
                </a:solidFill>
              </a:rPr>
              <a:t> </a:t>
            </a:r>
            <a:r>
              <a:rPr lang="en-GB" sz="2400" dirty="0"/>
              <a:t>the property will be deemed to have passed to the B even though the B may have given instructions to the employee to return the goods. </a:t>
            </a:r>
          </a:p>
          <a:p>
            <a:pPr marL="392113" lvl="1" indent="0" eaLnBrk="1" hangingPunct="1">
              <a:buNone/>
            </a:pPr>
            <a:endParaRPr lang="en-GB" sz="2400" dirty="0"/>
          </a:p>
          <a:p>
            <a:pPr lvl="1" eaLnBrk="1" hangingPunct="1"/>
            <a:r>
              <a:rPr lang="en-GB" sz="2400" b="1" u="sng" dirty="0"/>
              <a:t>BUT:</a:t>
            </a:r>
            <a:r>
              <a:rPr lang="en-GB" sz="2400" dirty="0"/>
              <a:t> if the goods were held by </a:t>
            </a:r>
            <a:r>
              <a:rPr lang="en-GB" sz="2400" u="sng" dirty="0">
                <a:solidFill>
                  <a:srgbClr val="FF0000"/>
                </a:solidFill>
              </a:rPr>
              <a:t>creditors of the B</a:t>
            </a:r>
            <a:r>
              <a:rPr lang="en-GB" sz="2400" dirty="0"/>
              <a:t>, the property will not be deemed to have passed, because the B has no control over the creditors’ actions.</a:t>
            </a:r>
          </a:p>
          <a:p>
            <a:pPr marL="109537" indent="0">
              <a:buNone/>
            </a:pPr>
            <a:endParaRPr lang="en-GB" dirty="0"/>
          </a:p>
        </p:txBody>
      </p:sp>
      <p:sp>
        <p:nvSpPr>
          <p:cNvPr id="3" name="Title 2"/>
          <p:cNvSpPr>
            <a:spLocks noGrp="1"/>
          </p:cNvSpPr>
          <p:nvPr>
            <p:ph type="title"/>
          </p:nvPr>
        </p:nvSpPr>
        <p:spPr/>
        <p:txBody>
          <a:bodyPr/>
          <a:lstStyle/>
          <a:p>
            <a:pPr>
              <a:defRPr/>
            </a:pPr>
            <a:r>
              <a:rPr lang="en-GB" dirty="0">
                <a:solidFill>
                  <a:schemeClr val="tx1"/>
                </a:solidFill>
              </a:rPr>
              <a:t>Rule 4</a:t>
            </a:r>
          </a:p>
        </p:txBody>
      </p:sp>
      <p:sp>
        <p:nvSpPr>
          <p:cNvPr id="18436"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91185696-F0B0-479A-B1ED-2208AD518816}"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p:cNvSpPr>
            <a:spLocks noGrp="1"/>
          </p:cNvSpPr>
          <p:nvPr>
            <p:ph idx="1"/>
          </p:nvPr>
        </p:nvSpPr>
        <p:spPr>
          <a:xfrm>
            <a:off x="371475" y="1481138"/>
            <a:ext cx="8315325" cy="4691062"/>
          </a:xfrm>
        </p:spPr>
        <p:txBody>
          <a:bodyPr/>
          <a:lstStyle/>
          <a:p>
            <a:pPr eaLnBrk="1" hangingPunct="1"/>
            <a:r>
              <a:rPr lang="en-GB" u="sng" dirty="0"/>
              <a:t>Basic Rule:</a:t>
            </a:r>
          </a:p>
          <a:p>
            <a:pPr lvl="1" eaLnBrk="1" hangingPunct="1"/>
            <a:r>
              <a:rPr lang="en-GB" dirty="0">
                <a:highlight>
                  <a:srgbClr val="FFFF00"/>
                </a:highlight>
              </a:rPr>
              <a:t>It is not possible to transfer property in unascertained goods (s. 16).</a:t>
            </a:r>
          </a:p>
          <a:p>
            <a:pPr lvl="1" eaLnBrk="1" hangingPunct="1">
              <a:buFont typeface="Verdana" pitchFamily="34" charset="0"/>
              <a:buNone/>
            </a:pPr>
            <a:endParaRPr lang="en-GB" dirty="0"/>
          </a:p>
          <a:p>
            <a:pPr eaLnBrk="1" hangingPunct="1"/>
            <a:r>
              <a:rPr lang="en-GB" u="sng" dirty="0"/>
              <a:t>Unascertained goods</a:t>
            </a:r>
          </a:p>
          <a:p>
            <a:pPr marL="109537" indent="0" eaLnBrk="1" hangingPunct="1">
              <a:buNone/>
            </a:pPr>
            <a:r>
              <a:rPr lang="en-GB" sz="2400" dirty="0"/>
              <a:t>   </a:t>
            </a:r>
            <a:r>
              <a:rPr lang="en-GB" sz="2400" u="sng" dirty="0"/>
              <a:t>What are they?</a:t>
            </a:r>
          </a:p>
          <a:p>
            <a:pPr lvl="1" eaLnBrk="1" hangingPunct="1"/>
            <a:r>
              <a:rPr lang="en-GB" dirty="0"/>
              <a:t>Goods to be manufactured or grown by the S</a:t>
            </a:r>
          </a:p>
          <a:p>
            <a:pPr lvl="1" eaLnBrk="1" hangingPunct="1"/>
            <a:r>
              <a:rPr lang="en-GB" dirty="0"/>
              <a:t>Purely generic goods</a:t>
            </a:r>
          </a:p>
          <a:p>
            <a:pPr lvl="1" eaLnBrk="1" hangingPunct="1"/>
            <a:r>
              <a:rPr lang="en-GB" dirty="0"/>
              <a:t>Unidentified portion of a specified bulk or whole</a:t>
            </a:r>
          </a:p>
          <a:p>
            <a:pPr lvl="2" eaLnBrk="1" hangingPunct="1"/>
            <a:r>
              <a:rPr lang="en-GB" dirty="0"/>
              <a:t>Passing of risk in this last option may take place at a different time.</a:t>
            </a:r>
          </a:p>
          <a:p>
            <a:pPr lvl="2" eaLnBrk="1" hangingPunct="1">
              <a:buFont typeface="Wingdings 2" pitchFamily="18" charset="2"/>
              <a:buNone/>
            </a:pPr>
            <a:r>
              <a:rPr lang="en-GB" dirty="0"/>
              <a:t> </a:t>
            </a:r>
          </a:p>
        </p:txBody>
      </p:sp>
      <p:sp>
        <p:nvSpPr>
          <p:cNvPr id="19459"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5B291892-538C-4C48-939F-28F75EEBB9D2}" type="slidenum">
              <a:rPr lang="en-US" smtClean="0"/>
              <a:pPr/>
              <a:t>12</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u="sng" dirty="0">
                <a:solidFill>
                  <a:srgbClr val="FF0000"/>
                </a:solidFill>
                <a:highlight>
                  <a:srgbClr val="FFFF00"/>
                </a:highlight>
              </a:rPr>
              <a:t>Rule 5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a:xfrm>
            <a:off x="228600" y="990600"/>
            <a:ext cx="8458200" cy="5334000"/>
          </a:xfrm>
        </p:spPr>
        <p:txBody>
          <a:bodyPr/>
          <a:lstStyle/>
          <a:p>
            <a:pPr eaLnBrk="1" hangingPunct="1"/>
            <a:r>
              <a:rPr lang="en-GB" b="1" u="sng" dirty="0">
                <a:solidFill>
                  <a:srgbClr val="FF0000"/>
                </a:solidFill>
              </a:rPr>
              <a:t>ss. 16, 17 and 18</a:t>
            </a:r>
          </a:p>
          <a:p>
            <a:pPr lvl="1" eaLnBrk="1" hangingPunct="1"/>
            <a:r>
              <a:rPr lang="en-GB" b="1" u="sng" dirty="0">
                <a:solidFill>
                  <a:srgbClr val="FF0000"/>
                </a:solidFill>
              </a:rPr>
              <a:t>S. 16 </a:t>
            </a:r>
            <a:r>
              <a:rPr lang="en-GB" dirty="0"/>
              <a:t>is the starting point.</a:t>
            </a:r>
          </a:p>
          <a:p>
            <a:pPr lvl="2" eaLnBrk="1" hangingPunct="1"/>
            <a:r>
              <a:rPr lang="en-GB" dirty="0"/>
              <a:t>Mandatory rule and has precedence over the intentions of parties: </a:t>
            </a:r>
            <a:r>
              <a:rPr lang="en-GB" b="1" dirty="0"/>
              <a:t>Subject to s. 20A property cannot pass until goods are ascertained.</a:t>
            </a:r>
          </a:p>
          <a:p>
            <a:pPr lvl="2" eaLnBrk="1" hangingPunct="1">
              <a:buFont typeface="Wingdings 2" pitchFamily="18" charset="2"/>
              <a:buNone/>
            </a:pPr>
            <a:endParaRPr lang="en-GB" dirty="0"/>
          </a:p>
          <a:p>
            <a:pPr lvl="2" eaLnBrk="1" hangingPunct="1"/>
            <a:r>
              <a:rPr lang="en-GB" b="1" u="sng" dirty="0">
                <a:solidFill>
                  <a:srgbClr val="FF0000"/>
                </a:solidFill>
              </a:rPr>
              <a:t>S. 17 </a:t>
            </a:r>
            <a:r>
              <a:rPr lang="en-GB" dirty="0"/>
              <a:t>deals with intentions of parties and in sale of </a:t>
            </a:r>
            <a:r>
              <a:rPr lang="en-GB" b="1" dirty="0"/>
              <a:t>specific or ascertained goods</a:t>
            </a:r>
            <a:r>
              <a:rPr lang="en-GB" dirty="0"/>
              <a:t>.</a:t>
            </a:r>
          </a:p>
          <a:p>
            <a:pPr lvl="2" eaLnBrk="1" hangingPunct="1">
              <a:buFont typeface="Wingdings 2" pitchFamily="18" charset="2"/>
              <a:buNone/>
            </a:pPr>
            <a:endParaRPr lang="en-GB" dirty="0"/>
          </a:p>
          <a:p>
            <a:pPr lvl="2" eaLnBrk="1" hangingPunct="1"/>
            <a:r>
              <a:rPr lang="en-GB" b="1" u="sng" dirty="0">
                <a:solidFill>
                  <a:srgbClr val="FF0000"/>
                </a:solidFill>
              </a:rPr>
              <a:t>S. 18 R. 5 (1) </a:t>
            </a:r>
          </a:p>
          <a:p>
            <a:pPr lvl="3" eaLnBrk="1" hangingPunct="1"/>
            <a:r>
              <a:rPr lang="en-GB" dirty="0"/>
              <a:t>Goods must be in a </a:t>
            </a:r>
            <a:r>
              <a:rPr lang="en-GB" b="1" dirty="0"/>
              <a:t>deliverable state </a:t>
            </a:r>
            <a:r>
              <a:rPr lang="en-GB" dirty="0"/>
              <a:t>(covered earlier).</a:t>
            </a:r>
          </a:p>
          <a:p>
            <a:pPr lvl="3" eaLnBrk="1" hangingPunct="1"/>
            <a:r>
              <a:rPr lang="en-GB" b="1" dirty="0"/>
              <a:t>Unconditional appropriation, </a:t>
            </a:r>
            <a:r>
              <a:rPr lang="en-GB" dirty="0">
                <a:solidFill>
                  <a:srgbClr val="FF0000"/>
                </a:solidFill>
              </a:rPr>
              <a:t>R. 5(2)</a:t>
            </a:r>
            <a:r>
              <a:rPr lang="en-GB" dirty="0"/>
              <a:t>:</a:t>
            </a:r>
          </a:p>
          <a:p>
            <a:pPr lvl="4" eaLnBrk="1" hangingPunct="1"/>
            <a:r>
              <a:rPr lang="en-GB" dirty="0"/>
              <a:t>Ascertained or identified goods must be irrevocably attached or earmarked for the particular contract in question.</a:t>
            </a:r>
          </a:p>
          <a:p>
            <a:pPr lvl="4" eaLnBrk="1" hangingPunct="1"/>
            <a:r>
              <a:rPr lang="en-GB" dirty="0"/>
              <a:t>The property will then pass to the B.</a:t>
            </a:r>
          </a:p>
        </p:txBody>
      </p:sp>
      <p:sp>
        <p:nvSpPr>
          <p:cNvPr id="20483"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6D08E6C9-3521-4B10-8EC2-5BB00A3B6500}" type="slidenum">
              <a:rPr lang="en-US" smtClean="0"/>
              <a:pPr/>
              <a:t>13</a:t>
            </a:fld>
            <a:endParaRPr lang="en-US"/>
          </a:p>
        </p:txBody>
      </p:sp>
      <p:sp>
        <p:nvSpPr>
          <p:cNvPr id="4" name="Title 3"/>
          <p:cNvSpPr>
            <a:spLocks noGrp="1"/>
          </p:cNvSpPr>
          <p:nvPr>
            <p:ph type="title"/>
          </p:nvPr>
        </p:nvSpPr>
        <p:spPr>
          <a:xfrm>
            <a:off x="457200" y="274638"/>
            <a:ext cx="8229600" cy="715962"/>
          </a:xfrm>
        </p:spPr>
        <p:txBody>
          <a:bodyPr>
            <a:normAutofit fontScale="90000"/>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334000"/>
          </a:xfrm>
        </p:spPr>
        <p:txBody>
          <a:bodyPr>
            <a:normAutofit fontScale="92500" lnSpcReduction="20000"/>
          </a:bodyPr>
          <a:lstStyle/>
          <a:p>
            <a:pPr marL="365760" indent="-256032" eaLnBrk="1" fontAlgn="auto" hangingPunct="1">
              <a:spcAft>
                <a:spcPts val="0"/>
              </a:spcAft>
              <a:buFont typeface="Wingdings 3"/>
              <a:buChar char=""/>
              <a:defRPr/>
            </a:pPr>
            <a:r>
              <a:rPr lang="en-GB" u="sng" dirty="0">
                <a:solidFill>
                  <a:srgbClr val="FF0000"/>
                </a:solidFill>
              </a:rPr>
              <a:t>How do unascertained goods become unconditionally appropriated to the K? </a:t>
            </a:r>
          </a:p>
          <a:p>
            <a:pPr marL="365760" indent="-256032" eaLnBrk="1" fontAlgn="auto" hangingPunct="1">
              <a:spcAft>
                <a:spcPts val="0"/>
              </a:spcAft>
              <a:buFont typeface="Wingdings 3" pitchFamily="18" charset="2"/>
              <a:buNone/>
              <a:defRPr/>
            </a:pPr>
            <a:endParaRPr lang="en-GB" dirty="0"/>
          </a:p>
          <a:p>
            <a:pPr marL="621792" lvl="1" eaLnBrk="1" fontAlgn="auto" hangingPunct="1">
              <a:spcBef>
                <a:spcPts val="324"/>
              </a:spcBef>
              <a:spcAft>
                <a:spcPts val="0"/>
              </a:spcAft>
              <a:buFont typeface="Verdana"/>
              <a:buChar char="◦"/>
              <a:defRPr/>
            </a:pPr>
            <a:r>
              <a:rPr lang="en-GB" dirty="0"/>
              <a:t>Delivery of goods responding to the K description.</a:t>
            </a:r>
          </a:p>
          <a:p>
            <a:pPr marL="621792" lvl="1" eaLnBrk="1" fontAlgn="auto" hangingPunct="1">
              <a:spcBef>
                <a:spcPts val="324"/>
              </a:spcBef>
              <a:spcAft>
                <a:spcPts val="0"/>
              </a:spcAft>
              <a:buFont typeface="Verdana"/>
              <a:buChar char="◦"/>
              <a:defRPr/>
            </a:pPr>
            <a:r>
              <a:rPr lang="en-GB" dirty="0"/>
              <a:t>If the S delivers the goods to a carrier still mixed with other goods no property could pass because the goods are still unascertained, despite that would otherwise considered to be an unconditional appropriation (delivery to carrier – passage of property/risk)</a:t>
            </a:r>
          </a:p>
          <a:p>
            <a:pPr marL="621792" lvl="1" eaLnBrk="1" fontAlgn="auto" hangingPunct="1">
              <a:spcBef>
                <a:spcPts val="324"/>
              </a:spcBef>
              <a:spcAft>
                <a:spcPts val="0"/>
              </a:spcAft>
              <a:buFont typeface="Verdana" pitchFamily="34" charset="0"/>
              <a:buNone/>
              <a:defRPr/>
            </a:pPr>
            <a:endParaRPr lang="en-GB" dirty="0">
              <a:solidFill>
                <a:srgbClr val="0070C0"/>
              </a:solidFill>
            </a:endParaRPr>
          </a:p>
          <a:p>
            <a:pPr marL="859536" lvl="2" eaLnBrk="1" fontAlgn="auto" hangingPunct="1">
              <a:spcAft>
                <a:spcPts val="0"/>
              </a:spcAft>
              <a:buFont typeface="Wingdings 2"/>
              <a:buChar char=""/>
              <a:defRPr/>
            </a:pPr>
            <a:r>
              <a:rPr lang="en-GB" sz="2200" b="1" i="1" u="sng" dirty="0">
                <a:solidFill>
                  <a:srgbClr val="0070C0"/>
                </a:solidFill>
              </a:rPr>
              <a:t>Healy v </a:t>
            </a:r>
            <a:r>
              <a:rPr lang="en-GB" sz="2200" b="1" i="1" u="sng" dirty="0" err="1">
                <a:solidFill>
                  <a:srgbClr val="0070C0"/>
                </a:solidFill>
              </a:rPr>
              <a:t>Howlett</a:t>
            </a:r>
            <a:endParaRPr lang="en-GB" sz="2200" b="1" i="1" u="sng" dirty="0">
              <a:solidFill>
                <a:srgbClr val="0070C0"/>
              </a:solidFill>
            </a:endParaRPr>
          </a:p>
          <a:p>
            <a:pPr lvl="3" eaLnBrk="1" fontAlgn="auto" hangingPunct="1">
              <a:spcAft>
                <a:spcPts val="0"/>
              </a:spcAft>
              <a:buFont typeface="Wingdings 2"/>
              <a:buChar char=""/>
              <a:defRPr/>
            </a:pPr>
            <a:r>
              <a:rPr lang="en-GB" i="1" dirty="0"/>
              <a:t>D ordered 20 boxes of mackerel from P. P dispatched 190 boxes and instructed railway officials to earmark 20 boxes for D. Fish deteriorated during transit.</a:t>
            </a:r>
          </a:p>
          <a:p>
            <a:pPr lvl="3" eaLnBrk="1" fontAlgn="auto" hangingPunct="1">
              <a:spcAft>
                <a:spcPts val="0"/>
              </a:spcAft>
              <a:buFont typeface="Wingdings 2"/>
              <a:buChar char=""/>
              <a:defRPr/>
            </a:pPr>
            <a:r>
              <a:rPr lang="en-GB" b="1" i="1" dirty="0"/>
              <a:t>Held: </a:t>
            </a:r>
            <a:r>
              <a:rPr lang="en-GB" i="1" dirty="0"/>
              <a:t>property did not pass to the D.  No property could pass before the boxes were earmarked and even after earmarking as this was not irrevocable it was not possible to determine which boxes belonged to D.  </a:t>
            </a:r>
          </a:p>
        </p:txBody>
      </p:sp>
      <p:sp>
        <p:nvSpPr>
          <p:cNvPr id="21507"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06E04144-29C6-4FDF-B5F3-5A6F6FDECF2E}" type="slidenum">
              <a:rPr lang="en-US" smtClean="0"/>
              <a:pPr/>
              <a:t>14</a:t>
            </a:fld>
            <a:endParaRPr lang="en-US"/>
          </a:p>
        </p:txBody>
      </p:sp>
      <p:sp>
        <p:nvSpPr>
          <p:cNvPr id="4" name="Title 3"/>
          <p:cNvSpPr>
            <a:spLocks noGrp="1"/>
          </p:cNvSpPr>
          <p:nvPr>
            <p:ph type="title"/>
          </p:nvPr>
        </p:nvSpPr>
        <p:spPr>
          <a:xfrm>
            <a:off x="457200" y="274638"/>
            <a:ext cx="8229600" cy="792162"/>
          </a:xfrm>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90600"/>
            <a:ext cx="8229600" cy="5486400"/>
          </a:xfrm>
        </p:spPr>
        <p:txBody>
          <a:bodyPr>
            <a:normAutofit fontScale="25000" lnSpcReduction="20000"/>
          </a:bodyPr>
          <a:lstStyle/>
          <a:p>
            <a:pPr marL="365760" indent="-256032" eaLnBrk="1" fontAlgn="auto" hangingPunct="1">
              <a:spcAft>
                <a:spcPts val="0"/>
              </a:spcAft>
              <a:buFont typeface="Wingdings 3"/>
              <a:buChar char=""/>
              <a:defRPr/>
            </a:pPr>
            <a:r>
              <a:rPr lang="en-GB" sz="8000" b="1" i="1" u="sng" dirty="0">
                <a:solidFill>
                  <a:srgbClr val="0070C0"/>
                </a:solidFill>
              </a:rPr>
              <a:t>Aldridge v Johnson</a:t>
            </a:r>
          </a:p>
          <a:p>
            <a:pPr marL="365760" indent="-256032" eaLnBrk="1" fontAlgn="auto" hangingPunct="1">
              <a:spcAft>
                <a:spcPts val="0"/>
              </a:spcAft>
              <a:buFont typeface="Wingdings 3" pitchFamily="18" charset="2"/>
              <a:buNone/>
              <a:defRPr/>
            </a:pPr>
            <a:endParaRPr lang="en-GB" sz="6400" i="1" dirty="0"/>
          </a:p>
          <a:p>
            <a:pPr marL="621792" lvl="1" eaLnBrk="1" fontAlgn="auto" hangingPunct="1">
              <a:spcBef>
                <a:spcPts val="324"/>
              </a:spcBef>
              <a:spcAft>
                <a:spcPts val="0"/>
              </a:spcAft>
              <a:buFont typeface="Verdana"/>
              <a:buChar char="◦"/>
              <a:defRPr/>
            </a:pPr>
            <a:r>
              <a:rPr lang="en-GB" sz="6400" dirty="0"/>
              <a:t>A agreed to buy 100 quarters of barley out of a particular 200 quarters. J filled some sacks sent by A with barley.  </a:t>
            </a:r>
          </a:p>
          <a:p>
            <a:pPr marL="621792" lvl="1" eaLnBrk="1" fontAlgn="auto" hangingPunct="1">
              <a:spcBef>
                <a:spcPts val="324"/>
              </a:spcBef>
              <a:spcAft>
                <a:spcPts val="0"/>
              </a:spcAft>
              <a:buFont typeface="Verdana"/>
              <a:buChar char="◦"/>
              <a:defRPr/>
            </a:pPr>
            <a:endParaRPr lang="en-GB" sz="6400" dirty="0"/>
          </a:p>
          <a:p>
            <a:pPr marL="621792" lvl="1" eaLnBrk="1" fontAlgn="auto" hangingPunct="1">
              <a:spcBef>
                <a:spcPts val="324"/>
              </a:spcBef>
              <a:spcAft>
                <a:spcPts val="0"/>
              </a:spcAft>
              <a:buNone/>
              <a:defRPr/>
            </a:pPr>
            <a:r>
              <a:rPr lang="en-GB" sz="6400" b="1" dirty="0"/>
              <a:t>Held: </a:t>
            </a:r>
            <a:r>
              <a:rPr lang="en-GB" sz="6400" dirty="0"/>
              <a:t>Property had passed even though the sacks were in the Seller’s possession.</a:t>
            </a:r>
          </a:p>
          <a:p>
            <a:pPr marL="621792" lvl="1" eaLnBrk="1" fontAlgn="auto" hangingPunct="1">
              <a:spcBef>
                <a:spcPts val="324"/>
              </a:spcBef>
              <a:spcAft>
                <a:spcPts val="0"/>
              </a:spcAft>
              <a:buFont typeface="Verdana" pitchFamily="34" charset="0"/>
              <a:buNone/>
              <a:defRPr/>
            </a:pPr>
            <a:endParaRPr lang="en-GB" sz="6400" dirty="0">
              <a:solidFill>
                <a:srgbClr val="0070C0"/>
              </a:solidFill>
            </a:endParaRPr>
          </a:p>
          <a:p>
            <a:pPr marL="365760" indent="-256032" eaLnBrk="1" fontAlgn="auto" hangingPunct="1">
              <a:spcAft>
                <a:spcPts val="0"/>
              </a:spcAft>
              <a:buFont typeface="Wingdings 3"/>
              <a:buChar char=""/>
              <a:defRPr/>
            </a:pPr>
            <a:r>
              <a:rPr lang="en-GB" sz="8000" b="1" i="1" u="sng" dirty="0">
                <a:solidFill>
                  <a:srgbClr val="0070C0"/>
                </a:solidFill>
              </a:rPr>
              <a:t>Langton v Higgins</a:t>
            </a:r>
          </a:p>
          <a:p>
            <a:pPr marL="621792" lvl="1" eaLnBrk="1" fontAlgn="auto" hangingPunct="1">
              <a:spcBef>
                <a:spcPts val="324"/>
              </a:spcBef>
              <a:spcAft>
                <a:spcPts val="0"/>
              </a:spcAft>
              <a:buFont typeface="Verdana"/>
              <a:buChar char="◦"/>
              <a:defRPr/>
            </a:pPr>
            <a:r>
              <a:rPr lang="en-GB" sz="6400" dirty="0"/>
              <a:t>C owed money to L. In order to pay off his debt C offered to sell L some oil that he was producing. L sent bottles to be filled with the oil. C filled the bottles but then sold them to H.</a:t>
            </a:r>
          </a:p>
          <a:p>
            <a:pPr marL="621792" lvl="1" eaLnBrk="1" fontAlgn="auto" hangingPunct="1">
              <a:spcBef>
                <a:spcPts val="324"/>
              </a:spcBef>
              <a:spcAft>
                <a:spcPts val="0"/>
              </a:spcAft>
              <a:buFont typeface="Verdana"/>
              <a:buChar char="◦"/>
              <a:defRPr/>
            </a:pPr>
            <a:endParaRPr lang="en-GB" sz="6400" dirty="0"/>
          </a:p>
          <a:p>
            <a:pPr marL="393192" lvl="1" indent="0" eaLnBrk="1" fontAlgn="auto" hangingPunct="1">
              <a:spcBef>
                <a:spcPts val="324"/>
              </a:spcBef>
              <a:spcAft>
                <a:spcPts val="0"/>
              </a:spcAft>
              <a:buNone/>
              <a:defRPr/>
            </a:pPr>
            <a:r>
              <a:rPr lang="en-GB" sz="6400" b="1" dirty="0"/>
              <a:t>Held: </a:t>
            </a:r>
            <a:r>
              <a:rPr lang="en-GB" sz="6400" dirty="0"/>
              <a:t>Property had passed with the filling of the bottles.  By filling the bottles with 	the oil the oil had been unconditionally appropriated to the contract.  Therefore, L 	could sue H. </a:t>
            </a:r>
          </a:p>
          <a:p>
            <a:pPr marL="859536" lvl="2" eaLnBrk="1" fontAlgn="auto" hangingPunct="1">
              <a:spcAft>
                <a:spcPts val="0"/>
              </a:spcAft>
              <a:buFont typeface="Wingdings 2" pitchFamily="18" charset="2"/>
              <a:buNone/>
              <a:defRPr/>
            </a:pPr>
            <a:endParaRPr lang="en-GB" sz="7200" dirty="0"/>
          </a:p>
          <a:p>
            <a:pPr marL="365760" indent="-256032" eaLnBrk="1" fontAlgn="auto" hangingPunct="1">
              <a:spcAft>
                <a:spcPts val="0"/>
              </a:spcAft>
              <a:buFont typeface="Wingdings 3"/>
              <a:buChar char=""/>
              <a:defRPr/>
            </a:pPr>
            <a:r>
              <a:rPr lang="en-GB" sz="7200" b="1" i="1" u="sng" dirty="0" err="1">
                <a:solidFill>
                  <a:srgbClr val="0070C0"/>
                </a:solidFill>
              </a:rPr>
              <a:t>Pignataro</a:t>
            </a:r>
            <a:r>
              <a:rPr lang="en-GB" sz="7200" b="1" i="1" u="sng" dirty="0">
                <a:solidFill>
                  <a:srgbClr val="0070C0"/>
                </a:solidFill>
              </a:rPr>
              <a:t> v Gilroy</a:t>
            </a:r>
          </a:p>
          <a:p>
            <a:pPr marL="621792" lvl="1" eaLnBrk="1" fontAlgn="auto" hangingPunct="1">
              <a:spcBef>
                <a:spcPts val="324"/>
              </a:spcBef>
              <a:spcAft>
                <a:spcPts val="0"/>
              </a:spcAft>
              <a:buFont typeface="Verdana"/>
              <a:buChar char="◦"/>
              <a:defRPr/>
            </a:pPr>
            <a:r>
              <a:rPr lang="en-GB" sz="6400" dirty="0"/>
              <a:t>D (Gilroy) contracted to sell by sample 140 bags of rice to </a:t>
            </a:r>
            <a:r>
              <a:rPr lang="en-GB" sz="6400" dirty="0" err="1"/>
              <a:t>Pignataro</a:t>
            </a:r>
            <a:r>
              <a:rPr lang="en-GB" sz="6400" dirty="0"/>
              <a:t> (P). The rice was unascertained. D notified P to collect 125 bags in one collection and 15 in another. An inference of assent to make these two collections was drawn from the notice.  However, P did not collect the 15 bags.  D sued P.</a:t>
            </a:r>
          </a:p>
          <a:p>
            <a:pPr marL="393192" lvl="1" indent="0" eaLnBrk="1" fontAlgn="auto" hangingPunct="1">
              <a:spcBef>
                <a:spcPts val="324"/>
              </a:spcBef>
              <a:spcAft>
                <a:spcPts val="0"/>
              </a:spcAft>
              <a:buNone/>
              <a:defRPr/>
            </a:pPr>
            <a:endParaRPr lang="en-GB" sz="6400" b="1" dirty="0"/>
          </a:p>
          <a:p>
            <a:pPr marL="393192" lvl="1" indent="0" eaLnBrk="1" fontAlgn="auto" hangingPunct="1">
              <a:spcBef>
                <a:spcPts val="324"/>
              </a:spcBef>
              <a:spcAft>
                <a:spcPts val="0"/>
              </a:spcAft>
              <a:buNone/>
              <a:defRPr/>
            </a:pPr>
            <a:r>
              <a:rPr lang="en-GB" sz="6400" b="1" dirty="0"/>
              <a:t>Held: </a:t>
            </a:r>
            <a:r>
              <a:rPr lang="en-GB" sz="6400" dirty="0"/>
              <a:t>property had passed. P had already given assent to enter into a K for 140 bags and therefore the risk of loss was on P. </a:t>
            </a:r>
          </a:p>
          <a:p>
            <a:pPr marL="621792" lvl="1" eaLnBrk="1" fontAlgn="auto" hangingPunct="1">
              <a:spcBef>
                <a:spcPts val="324"/>
              </a:spcBef>
              <a:spcAft>
                <a:spcPts val="0"/>
              </a:spcAft>
              <a:buFont typeface="Verdana"/>
              <a:buChar char="◦"/>
              <a:defRPr/>
            </a:pPr>
            <a:endParaRPr lang="en-GB" sz="6400" i="1" dirty="0"/>
          </a:p>
          <a:p>
            <a:pPr marL="365760" indent="-256032" eaLnBrk="1" fontAlgn="auto" hangingPunct="1">
              <a:spcAft>
                <a:spcPts val="0"/>
              </a:spcAft>
              <a:buFont typeface="Wingdings 3"/>
              <a:buChar char=""/>
              <a:defRPr/>
            </a:pPr>
            <a:endParaRPr lang="en-GB" dirty="0"/>
          </a:p>
        </p:txBody>
      </p:sp>
      <p:sp>
        <p:nvSpPr>
          <p:cNvPr id="22531"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1B0EEC72-3A64-4EF0-B4C3-767F1234D9DC}" type="slidenum">
              <a:rPr lang="en-US" smtClean="0"/>
              <a:pPr/>
              <a:t>15</a:t>
            </a:fld>
            <a:endParaRPr lang="en-US"/>
          </a:p>
        </p:txBody>
      </p:sp>
      <p:sp>
        <p:nvSpPr>
          <p:cNvPr id="4" name="Title 3"/>
          <p:cNvSpPr>
            <a:spLocks noGrp="1"/>
          </p:cNvSpPr>
          <p:nvPr>
            <p:ph type="title"/>
          </p:nvPr>
        </p:nvSpPr>
        <p:spPr>
          <a:xfrm>
            <a:off x="457200" y="274638"/>
            <a:ext cx="8229600" cy="715962"/>
          </a:xfrm>
        </p:spPr>
        <p:txBody>
          <a:bodyPr>
            <a:normAutofit fontScale="90000"/>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229600" cy="4843462"/>
          </a:xfrm>
        </p:spPr>
        <p:txBody>
          <a:bodyPr>
            <a:normAutofit fontScale="85000" lnSpcReduction="20000"/>
          </a:bodyPr>
          <a:lstStyle/>
          <a:p>
            <a:pPr marL="365760" indent="-256032" eaLnBrk="1" fontAlgn="auto" hangingPunct="1">
              <a:spcAft>
                <a:spcPts val="0"/>
              </a:spcAft>
              <a:buFont typeface="Wingdings 3"/>
              <a:buChar char=""/>
              <a:defRPr/>
            </a:pPr>
            <a:r>
              <a:rPr lang="en-GB" sz="2200" b="1" i="1" u="sng" dirty="0">
                <a:solidFill>
                  <a:srgbClr val="0070C0"/>
                </a:solidFill>
              </a:rPr>
              <a:t>Carlos Federspiel v Charles Twigg</a:t>
            </a:r>
          </a:p>
          <a:p>
            <a:pPr marL="109728" indent="0" eaLnBrk="1" fontAlgn="auto" hangingPunct="1">
              <a:spcAft>
                <a:spcPts val="0"/>
              </a:spcAft>
              <a:buNone/>
              <a:defRPr/>
            </a:pPr>
            <a:endParaRPr lang="en-GB" sz="2200" b="1" i="1" u="sng" dirty="0"/>
          </a:p>
          <a:p>
            <a:pPr marL="621792" lvl="1" algn="just" eaLnBrk="1" fontAlgn="auto" hangingPunct="1">
              <a:spcBef>
                <a:spcPts val="324"/>
              </a:spcBef>
              <a:spcAft>
                <a:spcPts val="0"/>
              </a:spcAft>
              <a:buFont typeface="Verdana"/>
              <a:buChar char="◦"/>
              <a:defRPr/>
            </a:pPr>
            <a:r>
              <a:rPr lang="en-GB" sz="2200" i="1" dirty="0"/>
              <a:t>CF ordered bicycles from CT. The bicycles were  manufactured according to the K, packed in crates marked with CF’s details and steps were taken to ship them to Costa Rica from Liverpool with a specific ship. CF paid the price. CT went into receivership before the shipment. </a:t>
            </a:r>
            <a:r>
              <a:rPr lang="en-GB" sz="2200" i="1" u="sng" dirty="0"/>
              <a:t>CF argued that the property had passed</a:t>
            </a:r>
            <a:r>
              <a:rPr lang="en-GB" sz="2200" i="1" dirty="0"/>
              <a:t>.</a:t>
            </a:r>
          </a:p>
          <a:p>
            <a:pPr lvl="3" algn="just" eaLnBrk="1" fontAlgn="auto" hangingPunct="1">
              <a:spcAft>
                <a:spcPts val="0"/>
              </a:spcAft>
              <a:buFont typeface="Wingdings 2" pitchFamily="18" charset="2"/>
              <a:buNone/>
              <a:defRPr/>
            </a:pPr>
            <a:endParaRPr lang="en-GB" sz="2200" i="1" dirty="0"/>
          </a:p>
          <a:p>
            <a:pPr marL="859536" lvl="2" algn="just" eaLnBrk="1" fontAlgn="auto" hangingPunct="1">
              <a:spcAft>
                <a:spcPts val="0"/>
              </a:spcAft>
              <a:buFont typeface="Wingdings 2"/>
              <a:buChar char=""/>
              <a:defRPr/>
            </a:pPr>
            <a:r>
              <a:rPr lang="en-GB" sz="2200" b="1" i="1" dirty="0"/>
              <a:t>Held: </a:t>
            </a:r>
            <a:r>
              <a:rPr lang="en-GB" sz="2200" i="1" dirty="0"/>
              <a:t>Property had not passed: (1) Intention was that ownership should pass on shipment (which did not happen); (2) there was no correspondence evincing an intention to pass ownership before the shipment; (3) no actual/constructive delivery ; (4) no intention to put the goods in B’s risk at any time before shipment and; (5) no insistence by the B to the S to insure the goods.</a:t>
            </a:r>
          </a:p>
          <a:p>
            <a:pPr marL="859536" lvl="2" eaLnBrk="1" fontAlgn="auto" hangingPunct="1">
              <a:spcAft>
                <a:spcPts val="0"/>
              </a:spcAft>
              <a:buNone/>
              <a:defRPr/>
            </a:pPr>
            <a:r>
              <a:rPr lang="en-GB" sz="2200" i="1" dirty="0">
                <a:solidFill>
                  <a:srgbClr val="FF0000"/>
                </a:solidFill>
              </a:rPr>
              <a:t>	</a:t>
            </a:r>
          </a:p>
          <a:p>
            <a:pPr marL="859536" lvl="2" eaLnBrk="1" fontAlgn="auto" hangingPunct="1">
              <a:spcAft>
                <a:spcPts val="0"/>
              </a:spcAft>
              <a:buNone/>
              <a:defRPr/>
            </a:pPr>
            <a:r>
              <a:rPr lang="en-GB" sz="2200" b="1" i="1" dirty="0">
                <a:solidFill>
                  <a:srgbClr val="FF0000"/>
                </a:solidFill>
              </a:rPr>
              <a:t>Decisive factor here that S was responsible for arranging the shipment. </a:t>
            </a:r>
          </a:p>
          <a:p>
            <a:pPr marL="859536" lvl="2" eaLnBrk="1" fontAlgn="auto" hangingPunct="1">
              <a:spcAft>
                <a:spcPts val="0"/>
              </a:spcAft>
              <a:buFont typeface="Wingdings 2"/>
              <a:buChar char=""/>
              <a:defRPr/>
            </a:pPr>
            <a:endParaRPr lang="en-GB" i="1" dirty="0"/>
          </a:p>
        </p:txBody>
      </p:sp>
      <p:sp>
        <p:nvSpPr>
          <p:cNvPr id="23555"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63284C5B-6BDA-4543-AC24-CB67704F91E4}" type="slidenum">
              <a:rPr lang="en-US" smtClean="0"/>
              <a:pPr/>
              <a:t>16</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700"/>
          </a:xfrm>
        </p:spPr>
        <p:txBody>
          <a:bodyPr>
            <a:normAutofit fontScale="85000" lnSpcReduction="10000"/>
          </a:bodyPr>
          <a:lstStyle/>
          <a:p>
            <a:pPr marL="365760" indent="-256032" eaLnBrk="1" fontAlgn="auto" hangingPunct="1">
              <a:spcAft>
                <a:spcPts val="0"/>
              </a:spcAft>
              <a:buFont typeface="Wingdings 3"/>
              <a:buChar char=""/>
              <a:defRPr/>
            </a:pPr>
            <a:r>
              <a:rPr lang="en-GB" u="sng" dirty="0"/>
              <a:t>Where an unidentified part of a bulk was sold there could be no appropriation until there was a severance of the part sold from the rest and no property passed.</a:t>
            </a:r>
          </a:p>
          <a:p>
            <a:pPr marL="365760" indent="-256032" eaLnBrk="1" fontAlgn="auto" hangingPunct="1">
              <a:spcAft>
                <a:spcPts val="0"/>
              </a:spcAft>
              <a:buFont typeface="Wingdings 3" pitchFamily="18" charset="2"/>
              <a:buNone/>
              <a:defRPr/>
            </a:pPr>
            <a:endParaRPr lang="en-GB" b="1" dirty="0"/>
          </a:p>
          <a:p>
            <a:pPr marL="621792" lvl="1" eaLnBrk="1" fontAlgn="auto" hangingPunct="1">
              <a:spcBef>
                <a:spcPts val="324"/>
              </a:spcBef>
              <a:spcAft>
                <a:spcPts val="0"/>
              </a:spcAft>
              <a:buFont typeface="Verdana"/>
              <a:buChar char="◦"/>
              <a:defRPr/>
            </a:pPr>
            <a:r>
              <a:rPr lang="en-GB" b="1" dirty="0" err="1">
                <a:solidFill>
                  <a:srgbClr val="0070C0"/>
                </a:solidFill>
              </a:rPr>
              <a:t>Wardar</a:t>
            </a:r>
            <a:r>
              <a:rPr lang="en-GB" b="1" dirty="0">
                <a:solidFill>
                  <a:srgbClr val="0070C0"/>
                </a:solidFill>
              </a:rPr>
              <a:t> v Norwood </a:t>
            </a:r>
            <a:r>
              <a:rPr lang="en-GB" dirty="0"/>
              <a:t>(goods are in the possession of 3</a:t>
            </a:r>
            <a:r>
              <a:rPr lang="en-GB" baseline="30000" dirty="0"/>
              <a:t>rd</a:t>
            </a:r>
            <a:r>
              <a:rPr lang="en-GB" dirty="0"/>
              <a:t> party and the 3</a:t>
            </a:r>
            <a:r>
              <a:rPr lang="en-GB" baseline="30000" dirty="0"/>
              <a:t>rd</a:t>
            </a:r>
            <a:r>
              <a:rPr lang="en-GB" dirty="0"/>
              <a:t> party sets the goods aside for delivery – unconditional appropriation)</a:t>
            </a:r>
          </a:p>
          <a:p>
            <a:pPr marL="859536" lvl="2" eaLnBrk="1" fontAlgn="auto" hangingPunct="1">
              <a:spcAft>
                <a:spcPts val="0"/>
              </a:spcAft>
              <a:buFont typeface="Wingdings 2"/>
              <a:buChar char=""/>
              <a:defRPr/>
            </a:pPr>
            <a:r>
              <a:rPr lang="en-GB" dirty="0"/>
              <a:t>W (B) agreed to buy from N (S) 600 cartons of ox kidneys out of 1500 cartons. A delivery order was handed by the driver to the warehouse owner. During loading and delivery the goods became unfit for consumption. </a:t>
            </a:r>
          </a:p>
          <a:p>
            <a:pPr marL="859536" lvl="2" eaLnBrk="1" fontAlgn="auto" hangingPunct="1">
              <a:spcAft>
                <a:spcPts val="0"/>
              </a:spcAft>
              <a:buFont typeface="Wingdings 2" pitchFamily="18" charset="2"/>
              <a:buNone/>
              <a:defRPr/>
            </a:pPr>
            <a:endParaRPr lang="en-GB" dirty="0"/>
          </a:p>
          <a:p>
            <a:pPr marL="859536" lvl="2" eaLnBrk="1" fontAlgn="auto" hangingPunct="1">
              <a:spcAft>
                <a:spcPts val="0"/>
              </a:spcAft>
              <a:buFont typeface="Wingdings 2"/>
              <a:buChar char=""/>
              <a:defRPr/>
            </a:pPr>
            <a:r>
              <a:rPr lang="en-GB" b="1" dirty="0"/>
              <a:t>Held (CA): </a:t>
            </a:r>
            <a:r>
              <a:rPr lang="en-GB" dirty="0"/>
              <a:t>the loss fell on the B since property and risk had passed at the time the delivery order was handed to the warehouse owner and the deterioration occurred after that time.</a:t>
            </a:r>
          </a:p>
          <a:p>
            <a:pPr lvl="3" eaLnBrk="1" fontAlgn="auto" hangingPunct="1">
              <a:spcAft>
                <a:spcPts val="0"/>
              </a:spcAft>
              <a:buFont typeface="Wingdings 2"/>
              <a:buChar char=""/>
              <a:defRPr/>
            </a:pPr>
            <a:r>
              <a:rPr lang="en-GB" dirty="0"/>
              <a:t>B may have claims against the insurance or the carrier company.</a:t>
            </a:r>
          </a:p>
          <a:p>
            <a:pPr marL="365760" indent="-256032" eaLnBrk="1" fontAlgn="auto" hangingPunct="1">
              <a:spcAft>
                <a:spcPts val="0"/>
              </a:spcAft>
              <a:buFont typeface="Wingdings 3"/>
              <a:buChar char=""/>
              <a:defRPr/>
            </a:pPr>
            <a:endParaRPr lang="en-GB" dirty="0"/>
          </a:p>
        </p:txBody>
      </p:sp>
      <p:sp>
        <p:nvSpPr>
          <p:cNvPr id="24579"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BFF56B11-963F-4E7E-8603-9E2D5D3A92F7}" type="slidenum">
              <a:rPr lang="en-US" smtClean="0"/>
              <a:pPr/>
              <a:t>17</a:t>
            </a:fld>
            <a:endParaRPr lang="en-US"/>
          </a:p>
        </p:txBody>
      </p:sp>
      <p:sp>
        <p:nvSpPr>
          <p:cNvPr id="4" name="Title 3"/>
          <p:cNvSpPr>
            <a:spLocks noGrp="1"/>
          </p:cNvSpPr>
          <p:nvPr>
            <p:ph type="title"/>
          </p:nvPr>
        </p:nvSpPr>
        <p:spPr>
          <a:xfrm>
            <a:off x="457200" y="274638"/>
            <a:ext cx="8229600" cy="639762"/>
          </a:xfrm>
        </p:spPr>
        <p:txBody>
          <a:bodyPr>
            <a:normAutofit fontScale="90000"/>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914400"/>
            <a:ext cx="8229600" cy="5092700"/>
          </a:xfrm>
        </p:spPr>
        <p:txBody>
          <a:bodyPr>
            <a:normAutofit/>
          </a:bodyPr>
          <a:lstStyle/>
          <a:p>
            <a:pPr marL="365760" indent="-256032" eaLnBrk="1" fontAlgn="auto" hangingPunct="1">
              <a:spcAft>
                <a:spcPts val="0"/>
              </a:spcAft>
              <a:buFont typeface="Wingdings 3"/>
              <a:buChar char=""/>
              <a:defRPr/>
            </a:pPr>
            <a:r>
              <a:rPr lang="en-GB" u="sng" dirty="0"/>
              <a:t>Conditional appropriation</a:t>
            </a:r>
          </a:p>
          <a:p>
            <a:pPr marL="365760" indent="-256032" eaLnBrk="1" fontAlgn="auto" hangingPunct="1">
              <a:spcAft>
                <a:spcPts val="0"/>
              </a:spcAft>
              <a:buFont typeface="Wingdings 3" pitchFamily="18" charset="2"/>
              <a:buNone/>
              <a:defRPr/>
            </a:pPr>
            <a:endParaRPr lang="en-GB" dirty="0"/>
          </a:p>
          <a:p>
            <a:pPr marL="621792" lvl="1" eaLnBrk="1" fontAlgn="auto" hangingPunct="1">
              <a:spcBef>
                <a:spcPts val="324"/>
              </a:spcBef>
              <a:spcAft>
                <a:spcPts val="0"/>
              </a:spcAft>
              <a:buFont typeface="Verdana"/>
              <a:buChar char="◦"/>
              <a:defRPr/>
            </a:pPr>
            <a:r>
              <a:rPr lang="en-GB" dirty="0">
                <a:solidFill>
                  <a:srgbClr val="FF0000"/>
                </a:solidFill>
              </a:rPr>
              <a:t>If the S stipulates that the B will have the goods only on payment the appropriation is said to be conditional. </a:t>
            </a:r>
          </a:p>
          <a:p>
            <a:pPr marL="621792" lvl="1" eaLnBrk="1" fontAlgn="auto" hangingPunct="1">
              <a:spcBef>
                <a:spcPts val="324"/>
              </a:spcBef>
              <a:spcAft>
                <a:spcPts val="0"/>
              </a:spcAft>
              <a:buFont typeface="Verdana" pitchFamily="34" charset="0"/>
              <a:buNone/>
              <a:defRPr/>
            </a:pPr>
            <a:endParaRPr lang="en-GB" dirty="0"/>
          </a:p>
          <a:p>
            <a:pPr marL="621792" lvl="1" eaLnBrk="1" fontAlgn="auto" hangingPunct="1">
              <a:spcBef>
                <a:spcPts val="324"/>
              </a:spcBef>
              <a:spcAft>
                <a:spcPts val="0"/>
              </a:spcAft>
              <a:buFont typeface="Verdana"/>
              <a:buChar char="◦"/>
              <a:defRPr/>
            </a:pPr>
            <a:r>
              <a:rPr lang="en-GB" dirty="0"/>
              <a:t>S reserves some rights (implied/express terms) and this will prevent the property passing.</a:t>
            </a:r>
          </a:p>
          <a:p>
            <a:pPr marL="859536" lvl="2" eaLnBrk="1" fontAlgn="auto" hangingPunct="1">
              <a:spcAft>
                <a:spcPts val="0"/>
              </a:spcAft>
              <a:buFont typeface="Wingdings 2"/>
              <a:buChar char=""/>
              <a:defRPr/>
            </a:pPr>
            <a:endParaRPr lang="en-GB" dirty="0"/>
          </a:p>
        </p:txBody>
      </p:sp>
      <p:sp>
        <p:nvSpPr>
          <p:cNvPr id="26627"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426FDC3E-83EF-493C-94EF-6EB8032053BC}" type="slidenum">
              <a:rPr lang="en-US" smtClean="0"/>
              <a:pPr/>
              <a:t>18</a:t>
            </a:fld>
            <a:endParaRPr lang="en-US"/>
          </a:p>
        </p:txBody>
      </p:sp>
      <p:sp>
        <p:nvSpPr>
          <p:cNvPr id="4" name="Title 3"/>
          <p:cNvSpPr>
            <a:spLocks noGrp="1"/>
          </p:cNvSpPr>
          <p:nvPr>
            <p:ph type="title"/>
          </p:nvPr>
        </p:nvSpPr>
        <p:spPr>
          <a:xfrm>
            <a:off x="457200" y="274638"/>
            <a:ext cx="8229600" cy="715962"/>
          </a:xfrm>
        </p:spPr>
        <p:txBody>
          <a:bodyPr>
            <a:normAutofit fontScale="90000"/>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a:xfrm>
            <a:off x="457200" y="914400"/>
            <a:ext cx="8229600" cy="5092700"/>
          </a:xfrm>
        </p:spPr>
        <p:txBody>
          <a:bodyPr/>
          <a:lstStyle/>
          <a:p>
            <a:pPr eaLnBrk="1" hangingPunct="1"/>
            <a:r>
              <a:rPr lang="en-GB" u="sng" dirty="0"/>
              <a:t>What happens in a transfer without unconditional appropriation?</a:t>
            </a:r>
          </a:p>
          <a:p>
            <a:pPr eaLnBrk="1" hangingPunct="1"/>
            <a:endParaRPr lang="en-GB" dirty="0">
              <a:solidFill>
                <a:srgbClr val="0070C0"/>
              </a:solidFill>
            </a:endParaRPr>
          </a:p>
          <a:p>
            <a:pPr lvl="1" eaLnBrk="1" hangingPunct="1"/>
            <a:r>
              <a:rPr lang="en-GB" b="1" i="1" dirty="0" err="1">
                <a:solidFill>
                  <a:srgbClr val="0070C0"/>
                </a:solidFill>
              </a:rPr>
              <a:t>Karlshamns</a:t>
            </a:r>
            <a:r>
              <a:rPr lang="en-GB" b="1" i="1" dirty="0">
                <a:solidFill>
                  <a:srgbClr val="0070C0"/>
                </a:solidFill>
              </a:rPr>
              <a:t> v Eastport</a:t>
            </a:r>
          </a:p>
          <a:p>
            <a:pPr lvl="2" eaLnBrk="1" hangingPunct="1"/>
            <a:r>
              <a:rPr lang="en-GB" dirty="0"/>
              <a:t>Millet LJ: </a:t>
            </a:r>
            <a:r>
              <a:rPr lang="en-GB" u="sng" dirty="0"/>
              <a:t>Essential requirements </a:t>
            </a:r>
            <a:r>
              <a:rPr lang="en-GB" dirty="0"/>
              <a:t>(apart from s.18 R.5(1)): (a) goods should be ascertained (appropriation is the only way to ascertain the goods) and; (b) the parties should have intention to transfer the goods. </a:t>
            </a:r>
          </a:p>
        </p:txBody>
      </p:sp>
      <p:sp>
        <p:nvSpPr>
          <p:cNvPr id="27651"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902D6568-CB76-43CF-93DE-C68AF08A48C5}" type="slidenum">
              <a:rPr lang="en-US" smtClean="0"/>
              <a:pPr/>
              <a:t>19</a:t>
            </a:fld>
            <a:endParaRPr lang="en-US"/>
          </a:p>
        </p:txBody>
      </p:sp>
      <p:sp>
        <p:nvSpPr>
          <p:cNvPr id="4" name="Title 3"/>
          <p:cNvSpPr>
            <a:spLocks noGrp="1"/>
          </p:cNvSpPr>
          <p:nvPr>
            <p:ph type="title"/>
          </p:nvPr>
        </p:nvSpPr>
        <p:spPr>
          <a:xfrm>
            <a:off x="457200" y="274638"/>
            <a:ext cx="8229600" cy="639762"/>
          </a:xfrm>
        </p:spPr>
        <p:txBody>
          <a:bodyPr>
            <a:normAutofit fontScale="90000"/>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1"/>
          <p:cNvSpPr>
            <a:spLocks noGrp="1"/>
          </p:cNvSpPr>
          <p:nvPr>
            <p:ph idx="1"/>
          </p:nvPr>
        </p:nvSpPr>
        <p:spPr/>
        <p:txBody>
          <a:bodyPr/>
          <a:lstStyle/>
          <a:p>
            <a:pPr eaLnBrk="1" hangingPunct="1"/>
            <a:r>
              <a:rPr lang="en-GB" b="1" u="sng" dirty="0">
                <a:solidFill>
                  <a:srgbClr val="FF0000"/>
                </a:solidFill>
                <a:highlight>
                  <a:srgbClr val="FFFF00"/>
                </a:highlight>
              </a:rPr>
              <a:t>Sale of an unidentified part of an identified bulk</a:t>
            </a:r>
          </a:p>
          <a:p>
            <a:pPr eaLnBrk="1" hangingPunct="1">
              <a:buFont typeface="Wingdings 3" pitchFamily="18" charset="2"/>
              <a:buNone/>
            </a:pPr>
            <a:endParaRPr lang="en-GB" b="1" dirty="0"/>
          </a:p>
          <a:p>
            <a:pPr lvl="1" eaLnBrk="1" hangingPunct="1"/>
            <a:r>
              <a:rPr lang="en-GB" dirty="0">
                <a:solidFill>
                  <a:srgbClr val="FF0000"/>
                </a:solidFill>
              </a:rPr>
              <a:t>S. 16 in its original form caused </a:t>
            </a:r>
            <a:r>
              <a:rPr lang="en-GB" u="sng" dirty="0">
                <a:solidFill>
                  <a:srgbClr val="FF0000"/>
                </a:solidFill>
              </a:rPr>
              <a:t>some concerns</a:t>
            </a:r>
            <a:r>
              <a:rPr lang="en-GB" dirty="0">
                <a:solidFill>
                  <a:srgbClr val="FF0000"/>
                </a:solidFill>
              </a:rPr>
              <a:t>. </a:t>
            </a:r>
            <a:r>
              <a:rPr lang="en-US" dirty="0"/>
              <a:t>Law Commission prepared a Report on </a:t>
            </a:r>
            <a:r>
              <a:rPr lang="en-US" i="1" dirty="0"/>
              <a:t>Sale of Goods Forming Part of a Bulk</a:t>
            </a:r>
            <a:r>
              <a:rPr lang="en-US" dirty="0"/>
              <a:t> (1993).</a:t>
            </a:r>
          </a:p>
          <a:p>
            <a:pPr lvl="1" eaLnBrk="1" hangingPunct="1"/>
            <a:endParaRPr lang="en-US" dirty="0"/>
          </a:p>
          <a:p>
            <a:pPr lvl="1" eaLnBrk="1" hangingPunct="1"/>
            <a:r>
              <a:rPr lang="en-US" i="1" dirty="0"/>
              <a:t>Hence addition of  </a:t>
            </a:r>
            <a:r>
              <a:rPr lang="en-US" b="1" i="1" dirty="0">
                <a:solidFill>
                  <a:srgbClr val="FF0000"/>
                </a:solidFill>
                <a:highlight>
                  <a:srgbClr val="FFFF00"/>
                </a:highlight>
              </a:rPr>
              <a:t>‘Subject to s. 20A…’</a:t>
            </a:r>
          </a:p>
        </p:txBody>
      </p:sp>
      <p:sp>
        <p:nvSpPr>
          <p:cNvPr id="28675"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3613F6F5-4A35-4AD5-A158-77528774F43D}" type="slidenum">
              <a:rPr lang="en-US" smtClean="0"/>
              <a:pPr/>
              <a:t>20</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p:cNvSpPr>
            <a:spLocks noGrp="1"/>
          </p:cNvSpPr>
          <p:nvPr>
            <p:ph idx="1"/>
          </p:nvPr>
        </p:nvSpPr>
        <p:spPr/>
        <p:txBody>
          <a:bodyPr/>
          <a:lstStyle/>
          <a:p>
            <a:pPr lvl="1" eaLnBrk="1" hangingPunct="1"/>
            <a:endParaRPr lang="en-US" i="1" dirty="0"/>
          </a:p>
          <a:p>
            <a:pPr lvl="1" eaLnBrk="1" hangingPunct="1"/>
            <a:r>
              <a:rPr lang="en-GB" u="sng" dirty="0"/>
              <a:t>Usual position:</a:t>
            </a:r>
            <a:r>
              <a:rPr lang="en-GB" dirty="0"/>
              <a:t> after the transaction is completed and payment is made, if goods are ascertained and identified while in the hands of the S the property would pass to B.</a:t>
            </a:r>
          </a:p>
          <a:p>
            <a:pPr lvl="1" eaLnBrk="1" hangingPunct="1">
              <a:buFont typeface="Verdana" pitchFamily="34" charset="0"/>
              <a:buNone/>
            </a:pPr>
            <a:endParaRPr lang="en-GB" dirty="0"/>
          </a:p>
          <a:p>
            <a:pPr lvl="2" eaLnBrk="1" hangingPunct="1"/>
            <a:r>
              <a:rPr lang="en-GB" dirty="0"/>
              <a:t>(1) B would be protected from the risk of the S’s insolvency and can claim property rights against the creditors and administrator.</a:t>
            </a:r>
          </a:p>
          <a:p>
            <a:pPr lvl="2" eaLnBrk="1" hangingPunct="1">
              <a:buFont typeface="Wingdings 2" pitchFamily="18" charset="2"/>
              <a:buNone/>
            </a:pPr>
            <a:endParaRPr lang="en-GB" dirty="0"/>
          </a:p>
          <a:p>
            <a:pPr lvl="2" eaLnBrk="1" hangingPunct="1"/>
            <a:r>
              <a:rPr lang="en-GB" dirty="0"/>
              <a:t>(2) Goods would be at the B’s risk</a:t>
            </a:r>
            <a:endParaRPr lang="en-US" dirty="0"/>
          </a:p>
          <a:p>
            <a:endParaRPr lang="en-GB" dirty="0"/>
          </a:p>
        </p:txBody>
      </p:sp>
      <p:sp>
        <p:nvSpPr>
          <p:cNvPr id="3" name="Title 2"/>
          <p:cNvSpPr>
            <a:spLocks noGrp="1"/>
          </p:cNvSpPr>
          <p:nvPr>
            <p:ph type="title"/>
          </p:nvPr>
        </p:nvSpPr>
        <p:spPr/>
        <p:txBody>
          <a:bodyPr/>
          <a:lstStyle/>
          <a:p>
            <a:pPr>
              <a:defRPr/>
            </a:pPr>
            <a:r>
              <a:rPr lang="en-GB" dirty="0">
                <a:solidFill>
                  <a:schemeClr val="tx1"/>
                </a:solidFill>
              </a:rPr>
              <a:t>Rule 5</a:t>
            </a:r>
          </a:p>
        </p:txBody>
      </p:sp>
      <p:sp>
        <p:nvSpPr>
          <p:cNvPr id="29700" name="Slide Number Placeholder 3"/>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0A5F9B1D-76C0-467F-B407-1B849D82664C}"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219200"/>
            <a:ext cx="8229600" cy="4787900"/>
          </a:xfrm>
        </p:spPr>
        <p:txBody>
          <a:bodyPr>
            <a:normAutofit fontScale="85000" lnSpcReduction="20000"/>
          </a:bodyPr>
          <a:lstStyle/>
          <a:p>
            <a:pPr marL="365760" indent="-256032" eaLnBrk="1" fontAlgn="auto" hangingPunct="1">
              <a:spcAft>
                <a:spcPts val="0"/>
              </a:spcAft>
              <a:buFont typeface="Wingdings 3"/>
              <a:buChar char=""/>
              <a:defRPr/>
            </a:pPr>
            <a:r>
              <a:rPr lang="en-GB" b="1" u="sng" dirty="0"/>
              <a:t>BUT: </a:t>
            </a:r>
            <a:r>
              <a:rPr lang="en-GB" dirty="0"/>
              <a:t>where the goods are an unidentified part of a bulk so that property could not pass as a result of    s. 16’s original form these consequences would not follow.</a:t>
            </a:r>
          </a:p>
          <a:p>
            <a:pPr marL="365760" indent="-256032" eaLnBrk="1" fontAlgn="auto" hangingPunct="1">
              <a:spcAft>
                <a:spcPts val="0"/>
              </a:spcAft>
              <a:buFont typeface="Wingdings 3" pitchFamily="18" charset="2"/>
              <a:buNone/>
              <a:defRPr/>
            </a:pPr>
            <a:endParaRPr lang="en-GB" dirty="0"/>
          </a:p>
          <a:p>
            <a:pPr marL="621792" lvl="1" eaLnBrk="1" fontAlgn="auto" hangingPunct="1">
              <a:spcBef>
                <a:spcPts val="324"/>
              </a:spcBef>
              <a:spcAft>
                <a:spcPts val="0"/>
              </a:spcAft>
              <a:buFont typeface="Verdana"/>
              <a:buChar char="◦"/>
              <a:defRPr/>
            </a:pPr>
            <a:r>
              <a:rPr lang="en-GB" b="1" i="1" u="sng" dirty="0">
                <a:solidFill>
                  <a:srgbClr val="0070C0"/>
                </a:solidFill>
              </a:rPr>
              <a:t>Re London Wine</a:t>
            </a:r>
          </a:p>
          <a:p>
            <a:pPr marL="859536" lvl="2" eaLnBrk="1" fontAlgn="auto" hangingPunct="1">
              <a:spcAft>
                <a:spcPts val="0"/>
              </a:spcAft>
              <a:buFont typeface="Wingdings 2"/>
              <a:buChar char=""/>
              <a:defRPr/>
            </a:pPr>
            <a:r>
              <a:rPr lang="en-GB" i="1" dirty="0"/>
              <a:t>Company (C) sold wine to customers and retained possession of the wine. Customers paid for the wine and storage charges. C gave certificates of title to the owners. C became insolvent and the receiver claimed that all the wine belonged to the C and would be seized by the receiver in order to satisfy the claims of creditors. </a:t>
            </a:r>
          </a:p>
          <a:p>
            <a:pPr marL="859536" lvl="2" eaLnBrk="1" fontAlgn="auto" hangingPunct="1">
              <a:spcAft>
                <a:spcPts val="0"/>
              </a:spcAft>
              <a:buFont typeface="Wingdings 2"/>
              <a:buChar char=""/>
              <a:defRPr/>
            </a:pPr>
            <a:r>
              <a:rPr lang="en-GB" i="1" dirty="0"/>
              <a:t>One party of creditors claimed they bought the whole stock and that the wine had not been sold as part of a particular bulk (failed).</a:t>
            </a:r>
          </a:p>
          <a:p>
            <a:pPr marL="859536" lvl="2" eaLnBrk="1" fontAlgn="auto" hangingPunct="1">
              <a:spcAft>
                <a:spcPts val="0"/>
              </a:spcAft>
              <a:buFont typeface="Wingdings 2"/>
              <a:buChar char=""/>
              <a:defRPr/>
            </a:pPr>
            <a:r>
              <a:rPr lang="en-GB" i="1" dirty="0"/>
              <a:t>Another party of creditors claimed they bought the whole stock of a particular brand wine. (failed)</a:t>
            </a:r>
          </a:p>
          <a:p>
            <a:pPr marL="859536" lvl="2" eaLnBrk="1" fontAlgn="auto" hangingPunct="1">
              <a:spcAft>
                <a:spcPts val="0"/>
              </a:spcAft>
              <a:buFont typeface="Wingdings 2"/>
              <a:buChar char=""/>
              <a:defRPr/>
            </a:pPr>
            <a:r>
              <a:rPr lang="en-GB" i="1" dirty="0"/>
              <a:t>The third group failed as the wine had not been ascertained.</a:t>
            </a:r>
          </a:p>
        </p:txBody>
      </p:sp>
      <p:sp>
        <p:nvSpPr>
          <p:cNvPr id="30723"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64B7521F-5AB0-4781-871B-3709686CA6C9}" type="slidenum">
              <a:rPr lang="en-US" smtClean="0"/>
              <a:pPr/>
              <a:t>22</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pPr marL="365760" indent="-256032" eaLnBrk="1" fontAlgn="auto" hangingPunct="1">
              <a:spcAft>
                <a:spcPts val="0"/>
              </a:spcAft>
              <a:buFont typeface="Wingdings 3"/>
              <a:buChar char=""/>
              <a:defRPr/>
            </a:pPr>
            <a:r>
              <a:rPr lang="en-GB" b="1" i="1" u="sng" dirty="0">
                <a:solidFill>
                  <a:srgbClr val="0070C0"/>
                </a:solidFill>
              </a:rPr>
              <a:t>Re </a:t>
            </a:r>
            <a:r>
              <a:rPr lang="en-GB" b="1" i="1" u="sng" dirty="0" err="1">
                <a:solidFill>
                  <a:srgbClr val="0070C0"/>
                </a:solidFill>
              </a:rPr>
              <a:t>Stapylton</a:t>
            </a:r>
            <a:r>
              <a:rPr lang="en-GB" b="1" i="1" u="sng" dirty="0">
                <a:solidFill>
                  <a:srgbClr val="0070C0"/>
                </a:solidFill>
              </a:rPr>
              <a:t> Fletcher</a:t>
            </a:r>
          </a:p>
          <a:p>
            <a:pPr marL="621792" lvl="1" eaLnBrk="1" fontAlgn="auto" hangingPunct="1">
              <a:spcBef>
                <a:spcPts val="324"/>
              </a:spcBef>
              <a:spcAft>
                <a:spcPts val="0"/>
              </a:spcAft>
              <a:buFont typeface="Verdana"/>
              <a:buChar char="◦"/>
              <a:defRPr/>
            </a:pPr>
            <a:r>
              <a:rPr lang="en-GB" i="1" dirty="0"/>
              <a:t>Wines were sold and stored separately.  It was held that the property had passed to the B’s who took the property as tenants in common.</a:t>
            </a:r>
          </a:p>
          <a:p>
            <a:pPr marL="621792" lvl="1" eaLnBrk="1" fontAlgn="auto" hangingPunct="1">
              <a:spcBef>
                <a:spcPts val="324"/>
              </a:spcBef>
              <a:spcAft>
                <a:spcPts val="0"/>
              </a:spcAft>
              <a:buFont typeface="Verdana"/>
              <a:buChar char="◦"/>
              <a:defRPr/>
            </a:pPr>
            <a:r>
              <a:rPr lang="en-GB" i="1" dirty="0"/>
              <a:t>Parties intended to pass the property when they set aside the wine (separation of wines sold from the company’s trading assets).</a:t>
            </a:r>
          </a:p>
          <a:p>
            <a:pPr marL="621792" lvl="1" eaLnBrk="1" fontAlgn="auto" hangingPunct="1">
              <a:spcBef>
                <a:spcPts val="324"/>
              </a:spcBef>
              <a:spcAft>
                <a:spcPts val="0"/>
              </a:spcAft>
              <a:buFont typeface="Verdana"/>
              <a:buChar char="◦"/>
              <a:defRPr/>
            </a:pPr>
            <a:r>
              <a:rPr lang="en-GB" b="1" i="1" dirty="0"/>
              <a:t>A much criticised decision!</a:t>
            </a:r>
          </a:p>
          <a:p>
            <a:pPr marL="621792" lvl="1" eaLnBrk="1" fontAlgn="auto" hangingPunct="1">
              <a:spcBef>
                <a:spcPts val="324"/>
              </a:spcBef>
              <a:spcAft>
                <a:spcPts val="0"/>
              </a:spcAft>
              <a:buFont typeface="Verdana"/>
              <a:buChar char="◦"/>
              <a:defRPr/>
            </a:pPr>
            <a:endParaRPr lang="en-GB" b="1" i="1" dirty="0">
              <a:highlight>
                <a:srgbClr val="FFFF00"/>
              </a:highlight>
            </a:endParaRPr>
          </a:p>
          <a:p>
            <a:pPr marL="365760" indent="-256032" eaLnBrk="1" fontAlgn="auto" hangingPunct="1">
              <a:spcAft>
                <a:spcPts val="0"/>
              </a:spcAft>
              <a:buFont typeface="Wingdings 3"/>
              <a:buChar char=""/>
              <a:defRPr/>
            </a:pPr>
            <a:r>
              <a:rPr lang="en-GB" b="1" i="1" u="sng" dirty="0">
                <a:solidFill>
                  <a:srgbClr val="FF0000"/>
                </a:solidFill>
                <a:highlight>
                  <a:srgbClr val="FFFF00"/>
                </a:highlight>
              </a:rPr>
              <a:t>SGA 1995: </a:t>
            </a:r>
          </a:p>
          <a:p>
            <a:pPr marL="621792" lvl="1" eaLnBrk="1" fontAlgn="auto" hangingPunct="1">
              <a:spcBef>
                <a:spcPts val="324"/>
              </a:spcBef>
              <a:spcAft>
                <a:spcPts val="0"/>
              </a:spcAft>
              <a:buFont typeface="Verdana"/>
              <a:buChar char="◦"/>
              <a:defRPr/>
            </a:pPr>
            <a:r>
              <a:rPr lang="en-GB" i="1" dirty="0">
                <a:solidFill>
                  <a:srgbClr val="FF0000"/>
                </a:solidFill>
                <a:highlight>
                  <a:srgbClr val="FFFF00"/>
                </a:highlight>
              </a:rPr>
              <a:t>(1) the doctrine of </a:t>
            </a:r>
            <a:r>
              <a:rPr lang="en-GB" b="1" i="1" u="sng" dirty="0">
                <a:solidFill>
                  <a:srgbClr val="FF0000"/>
                </a:solidFill>
                <a:highlight>
                  <a:srgbClr val="FFFF00"/>
                </a:highlight>
              </a:rPr>
              <a:t>ascertainment by exhaustion</a:t>
            </a:r>
          </a:p>
          <a:p>
            <a:pPr marL="621792" lvl="1" eaLnBrk="1" fontAlgn="auto" hangingPunct="1">
              <a:spcBef>
                <a:spcPts val="324"/>
              </a:spcBef>
              <a:spcAft>
                <a:spcPts val="0"/>
              </a:spcAft>
              <a:buFont typeface="Verdana"/>
              <a:buChar char="◦"/>
              <a:defRPr/>
            </a:pPr>
            <a:r>
              <a:rPr lang="en-GB" i="1" dirty="0">
                <a:solidFill>
                  <a:srgbClr val="FF0000"/>
                </a:solidFill>
                <a:highlight>
                  <a:srgbClr val="FFFF00"/>
                </a:highlight>
              </a:rPr>
              <a:t>(2) enables property in an </a:t>
            </a:r>
            <a:r>
              <a:rPr lang="en-GB" b="1" i="1" u="sng" dirty="0">
                <a:solidFill>
                  <a:srgbClr val="FF0000"/>
                </a:solidFill>
                <a:highlight>
                  <a:srgbClr val="FFFF00"/>
                </a:highlight>
              </a:rPr>
              <a:t>undivided share forming the part of an identified bulk to pass before ascertainment </a:t>
            </a:r>
            <a:r>
              <a:rPr lang="en-GB" i="1" dirty="0">
                <a:solidFill>
                  <a:srgbClr val="FF0000"/>
                </a:solidFill>
                <a:highlight>
                  <a:srgbClr val="FFFF00"/>
                </a:highlight>
              </a:rPr>
              <a:t>of the goods relating to the specific sale.  </a:t>
            </a:r>
          </a:p>
        </p:txBody>
      </p:sp>
      <p:sp>
        <p:nvSpPr>
          <p:cNvPr id="31747"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A6056151-7355-41EF-BB91-00246FD1F614}" type="slidenum">
              <a:rPr lang="en-US" smtClean="0"/>
              <a:pPr/>
              <a:t>23</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066800"/>
            <a:ext cx="8229600" cy="5341938"/>
          </a:xfrm>
        </p:spPr>
        <p:txBody>
          <a:bodyPr>
            <a:normAutofit fontScale="77500" lnSpcReduction="20000"/>
          </a:bodyPr>
          <a:lstStyle/>
          <a:p>
            <a:pPr marL="365760" indent="-256032" eaLnBrk="1" fontAlgn="auto" hangingPunct="1">
              <a:spcAft>
                <a:spcPts val="0"/>
              </a:spcAft>
              <a:buFont typeface="Wingdings 3"/>
              <a:buChar char=""/>
              <a:defRPr/>
            </a:pPr>
            <a:r>
              <a:rPr lang="en-GB" b="1" u="sng" dirty="0">
                <a:solidFill>
                  <a:srgbClr val="FF0000"/>
                </a:solidFill>
                <a:highlight>
                  <a:srgbClr val="FFFF00"/>
                </a:highlight>
              </a:rPr>
              <a:t>S. 20 A </a:t>
            </a:r>
          </a:p>
          <a:p>
            <a:pPr marL="365760" indent="-256032" eaLnBrk="1" fontAlgn="auto" hangingPunct="1">
              <a:spcAft>
                <a:spcPts val="0"/>
              </a:spcAft>
              <a:buFont typeface="Wingdings 3" pitchFamily="18" charset="2"/>
              <a:buNone/>
              <a:defRPr/>
            </a:pPr>
            <a:r>
              <a:rPr lang="en-GB" b="1" dirty="0">
                <a:highlight>
                  <a:srgbClr val="FFFF00"/>
                </a:highlight>
              </a:rPr>
              <a:t>	(This also applies to contracts regulated by the CRA (s.4 CRA 2015)).</a:t>
            </a:r>
          </a:p>
          <a:p>
            <a:pPr marL="365760" indent="-256032" eaLnBrk="1" fontAlgn="auto" hangingPunct="1">
              <a:spcAft>
                <a:spcPts val="0"/>
              </a:spcAft>
              <a:buFont typeface="Wingdings 3"/>
              <a:buChar char=""/>
              <a:defRPr/>
            </a:pPr>
            <a:endParaRPr lang="en-GB" dirty="0">
              <a:highlight>
                <a:srgbClr val="FFFF00"/>
              </a:highlight>
            </a:endParaRPr>
          </a:p>
          <a:p>
            <a:pPr marL="621792" lvl="1" eaLnBrk="1" fontAlgn="auto" hangingPunct="1">
              <a:spcBef>
                <a:spcPts val="324"/>
              </a:spcBef>
              <a:spcAft>
                <a:spcPts val="0"/>
              </a:spcAft>
              <a:buFont typeface="Verdana"/>
              <a:buChar char="◦"/>
              <a:defRPr/>
            </a:pPr>
            <a:r>
              <a:rPr lang="en-GB" dirty="0">
                <a:solidFill>
                  <a:srgbClr val="FF0000"/>
                </a:solidFill>
                <a:highlight>
                  <a:srgbClr val="FFFF00"/>
                </a:highlight>
              </a:rPr>
              <a:t>Three conditions:</a:t>
            </a:r>
          </a:p>
          <a:p>
            <a:pPr marL="1088136" lvl="2" indent="-457200" eaLnBrk="1" fontAlgn="auto" hangingPunct="1">
              <a:spcAft>
                <a:spcPts val="0"/>
              </a:spcAft>
              <a:buFont typeface="Wingdings 2" pitchFamily="18" charset="2"/>
              <a:buAutoNum type="arabicParenBoth"/>
              <a:defRPr/>
            </a:pPr>
            <a:r>
              <a:rPr lang="en-GB" dirty="0">
                <a:solidFill>
                  <a:srgbClr val="FF0000"/>
                </a:solidFill>
                <a:highlight>
                  <a:srgbClr val="FFFF00"/>
                </a:highlight>
              </a:rPr>
              <a:t>Sale of a specified quantity.</a:t>
            </a:r>
          </a:p>
          <a:p>
            <a:pPr marL="1088136" lvl="2" indent="-457200" eaLnBrk="1" fontAlgn="auto" hangingPunct="1">
              <a:spcAft>
                <a:spcPts val="0"/>
              </a:spcAft>
              <a:buFont typeface="Wingdings 2" pitchFamily="18" charset="2"/>
              <a:buAutoNum type="arabicParenBoth"/>
              <a:defRPr/>
            </a:pPr>
            <a:r>
              <a:rPr lang="en-GB" dirty="0">
                <a:solidFill>
                  <a:srgbClr val="FF0000"/>
                </a:solidFill>
                <a:highlight>
                  <a:srgbClr val="FFFF00"/>
                </a:highlight>
              </a:rPr>
              <a:t>Bulk must be identified.</a:t>
            </a:r>
          </a:p>
          <a:p>
            <a:pPr marL="1088136" lvl="2" indent="-457200" eaLnBrk="1" fontAlgn="auto" hangingPunct="1">
              <a:spcAft>
                <a:spcPts val="0"/>
              </a:spcAft>
              <a:buFont typeface="Wingdings 2" pitchFamily="18" charset="2"/>
              <a:buAutoNum type="arabicParenBoth"/>
              <a:defRPr/>
            </a:pPr>
            <a:r>
              <a:rPr lang="en-GB" dirty="0">
                <a:solidFill>
                  <a:srgbClr val="FF0000"/>
                </a:solidFill>
                <a:highlight>
                  <a:srgbClr val="FFFF00"/>
                </a:highlight>
              </a:rPr>
              <a:t>The B must have paid for some or all of the goods</a:t>
            </a:r>
            <a:r>
              <a:rPr lang="en-GB" dirty="0">
                <a:highlight>
                  <a:srgbClr val="FFFF00"/>
                </a:highlight>
              </a:rPr>
              <a:t>.</a:t>
            </a:r>
          </a:p>
          <a:p>
            <a:pPr marL="859536" lvl="2" eaLnBrk="1" fontAlgn="auto" hangingPunct="1">
              <a:spcAft>
                <a:spcPts val="0"/>
              </a:spcAft>
              <a:buFont typeface="Wingdings 2"/>
              <a:buChar char=""/>
              <a:defRPr/>
            </a:pPr>
            <a:endParaRPr lang="en-GB" dirty="0"/>
          </a:p>
          <a:p>
            <a:pPr marL="109728" indent="0" eaLnBrk="1" fontAlgn="auto" hangingPunct="1">
              <a:spcAft>
                <a:spcPts val="0"/>
              </a:spcAft>
              <a:buNone/>
              <a:defRPr/>
            </a:pPr>
            <a:endParaRPr lang="en-GB" u="sng" dirty="0"/>
          </a:p>
          <a:p>
            <a:pPr marL="109728" indent="0" eaLnBrk="1" fontAlgn="auto" hangingPunct="1">
              <a:spcAft>
                <a:spcPts val="0"/>
              </a:spcAft>
              <a:buNone/>
              <a:defRPr/>
            </a:pPr>
            <a:r>
              <a:rPr lang="en-GB" b="1" u="sng" dirty="0"/>
              <a:t>The position in equity prior to the 1995 Act</a:t>
            </a:r>
          </a:p>
          <a:p>
            <a:pPr marL="365760" indent="-256032" eaLnBrk="1" fontAlgn="auto" hangingPunct="1">
              <a:spcAft>
                <a:spcPts val="0"/>
              </a:spcAft>
              <a:buFont typeface="Wingdings 3" pitchFamily="18" charset="2"/>
              <a:buNone/>
              <a:defRPr/>
            </a:pPr>
            <a:endParaRPr lang="en-GB" dirty="0"/>
          </a:p>
          <a:p>
            <a:pPr marL="365760" indent="-256032" eaLnBrk="1" fontAlgn="auto" hangingPunct="1">
              <a:spcAft>
                <a:spcPts val="0"/>
              </a:spcAft>
              <a:buFont typeface="Wingdings 3"/>
              <a:buChar char=""/>
              <a:defRPr/>
            </a:pPr>
            <a:r>
              <a:rPr lang="en-GB" b="1" i="1" dirty="0">
                <a:solidFill>
                  <a:srgbClr val="0070C0"/>
                </a:solidFill>
              </a:rPr>
              <a:t>Re Wait </a:t>
            </a:r>
          </a:p>
          <a:p>
            <a:pPr marL="621792" lvl="1" eaLnBrk="1" fontAlgn="auto" hangingPunct="1">
              <a:spcBef>
                <a:spcPts val="324"/>
              </a:spcBef>
              <a:spcAft>
                <a:spcPts val="0"/>
              </a:spcAft>
              <a:buFont typeface="Verdana"/>
              <a:buChar char="◦"/>
              <a:defRPr/>
            </a:pPr>
            <a:r>
              <a:rPr lang="en-GB" i="1" dirty="0"/>
              <a:t>W bought 1000 tons of wheat to be loaded on a specific vessel and contracted to sell 500 tons of this wheat to X. The wheat was shipped in an undivided load and one bill of lading was issued for the whole load. X paid W. W went bankrupt. W’s trustee claimed 1000 tons. X claimed  that he had an equitable assignment or charge on the 500 tons. </a:t>
            </a:r>
          </a:p>
          <a:p>
            <a:pPr marL="621792" lvl="1" eaLnBrk="1" fontAlgn="auto" hangingPunct="1">
              <a:spcBef>
                <a:spcPts val="324"/>
              </a:spcBef>
              <a:spcAft>
                <a:spcPts val="0"/>
              </a:spcAft>
              <a:buFont typeface="Verdana"/>
              <a:buChar char="◦"/>
              <a:defRPr/>
            </a:pPr>
            <a:r>
              <a:rPr lang="en-GB" i="1" dirty="0"/>
              <a:t>Majority of CA held against X (clearly insufficient appropriation).</a:t>
            </a:r>
          </a:p>
        </p:txBody>
      </p:sp>
      <p:sp>
        <p:nvSpPr>
          <p:cNvPr id="32771"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026C5077-AD2A-4862-A65E-8C4F096E328D}" type="slidenum">
              <a:rPr lang="en-US" smtClean="0"/>
              <a:pPr/>
              <a:t>24</a:t>
            </a:fld>
            <a:endParaRPr lang="en-US"/>
          </a:p>
        </p:txBody>
      </p:sp>
      <p:sp>
        <p:nvSpPr>
          <p:cNvPr id="4" name="Title 3"/>
          <p:cNvSpPr>
            <a:spLocks noGrp="1"/>
          </p:cNvSpPr>
          <p:nvPr>
            <p:ph type="title"/>
          </p:nvPr>
        </p:nvSpPr>
        <p:spPr/>
        <p:txBody>
          <a:bodyPr/>
          <a:lstStyle/>
          <a:p>
            <a:pPr eaLnBrk="1" fontAlgn="auto" hangingPunct="1">
              <a:spcAft>
                <a:spcPts val="0"/>
              </a:spcAft>
              <a:defRPr/>
            </a:pPr>
            <a:r>
              <a:rPr lang="en-GB" dirty="0">
                <a:solidFill>
                  <a:schemeClr val="tx1"/>
                </a:solidFill>
              </a:rPr>
              <a:t>Rule 5</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p:cNvSpPr>
            <a:spLocks noGrp="1"/>
          </p:cNvSpPr>
          <p:nvPr>
            <p:ph idx="1"/>
          </p:nvPr>
        </p:nvSpPr>
        <p:spPr>
          <a:xfrm>
            <a:off x="600869" y="1417638"/>
            <a:ext cx="8229600" cy="4632324"/>
          </a:xfrm>
        </p:spPr>
        <p:txBody>
          <a:bodyPr/>
          <a:lstStyle/>
          <a:p>
            <a:pPr eaLnBrk="1" hangingPunct="1"/>
            <a:r>
              <a:rPr lang="en-GB" sz="3600" u="sng" dirty="0">
                <a:solidFill>
                  <a:srgbClr val="FF0000"/>
                </a:solidFill>
              </a:rPr>
              <a:t>Nemo </a:t>
            </a:r>
            <a:r>
              <a:rPr lang="en-GB" sz="3600" u="sng" dirty="0" err="1">
                <a:solidFill>
                  <a:srgbClr val="FF0000"/>
                </a:solidFill>
              </a:rPr>
              <a:t>dat</a:t>
            </a:r>
            <a:r>
              <a:rPr lang="en-GB" sz="3600" u="sng" dirty="0">
                <a:solidFill>
                  <a:srgbClr val="FF0000"/>
                </a:solidFill>
              </a:rPr>
              <a:t> rule</a:t>
            </a:r>
          </a:p>
          <a:p>
            <a:pPr marL="109537" indent="0" eaLnBrk="1" hangingPunct="1">
              <a:buNone/>
            </a:pPr>
            <a:endParaRPr lang="en-GB" sz="3600" u="sng" dirty="0"/>
          </a:p>
          <a:p>
            <a:pPr lvl="1" eaLnBrk="1" hangingPunct="1"/>
            <a:r>
              <a:rPr lang="en-GB" sz="3600" dirty="0"/>
              <a:t>Exceptions 1-3</a:t>
            </a:r>
          </a:p>
        </p:txBody>
      </p:sp>
      <p:sp>
        <p:nvSpPr>
          <p:cNvPr id="33795" name="Slide Number Placeholder 2"/>
          <p:cNvSpPr>
            <a:spLocks noGrp="1"/>
          </p:cNvSpPr>
          <p:nvPr>
            <p:ph type="sldNum" sz="quarter" idx="12"/>
          </p:nvPr>
        </p:nvSpPr>
        <p:spPr bwMode="auto">
          <a:noFill/>
          <a:ln>
            <a:miter lim="800000"/>
            <a:headEnd/>
            <a:tailEnd/>
          </a:ln>
        </p:spPr>
        <p:txBody>
          <a:bodyPr wrap="square" lIns="91440" tIns="45720" rIns="91440" bIns="45720" numCol="1" anchorCtr="0" compatLnSpc="1">
            <a:prstTxWarp prst="textNoShape">
              <a:avLst/>
            </a:prstTxWarp>
          </a:bodyPr>
          <a:lstStyle/>
          <a:p>
            <a:fld id="{6BFCB372-6D2F-4299-BD6A-D2E6C6B6C950}" type="slidenum">
              <a:rPr lang="en-US" smtClean="0"/>
              <a:pPr/>
              <a:t>25</a:t>
            </a:fld>
            <a:endParaRPr lang="en-US"/>
          </a:p>
        </p:txBody>
      </p:sp>
      <p:sp>
        <p:nvSpPr>
          <p:cNvPr id="4" name="Title 3"/>
          <p:cNvSpPr>
            <a:spLocks noGrp="1"/>
          </p:cNvSpPr>
          <p:nvPr>
            <p:ph type="title"/>
          </p:nvPr>
        </p:nvSpPr>
        <p:spPr/>
        <p:txBody>
          <a:bodyPr/>
          <a:lstStyle/>
          <a:p>
            <a:pPr algn="ctr" eaLnBrk="1" fontAlgn="auto" hangingPunct="1">
              <a:spcAft>
                <a:spcPts val="0"/>
              </a:spcAft>
              <a:defRPr/>
            </a:pPr>
            <a:r>
              <a:rPr lang="en-GB" u="sng" dirty="0">
                <a:solidFill>
                  <a:schemeClr val="tx1"/>
                </a:solidFill>
              </a:rPr>
              <a:t>Next week</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72b3ce0b9445f479dcd63669a849f70a">
  <xsd:schema xmlns:xsd="http://www.w3.org/2001/XMLSchema" xmlns:xs="http://www.w3.org/2001/XMLSchema" xmlns:p="http://schemas.microsoft.com/office/2006/metadata/properties" xmlns:ns3="3cc0b812-7f7d-4aca-acca-000f424f7da7" xmlns:ns4="6bff29df-e80b-4a73-953f-e802c634e429" targetNamespace="http://schemas.microsoft.com/office/2006/metadata/properties" ma:root="true" ma:fieldsID="90c94a25cb4c1a2cd21c07d5eefe7aa2" ns3:_="" ns4:_="">
    <xsd:import namespace="3cc0b812-7f7d-4aca-acca-000f424f7da7"/>
    <xsd:import namespace="6bff29df-e80b-4a73-953f-e802c634e42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ff29df-e80b-4a73-953f-e802c634e42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4BFAA0-0D79-4C0A-9070-A228336FA939}">
  <ds:schemaRefs>
    <ds:schemaRef ds:uri="http://schemas.microsoft.com/sharepoint/v3/contenttype/forms"/>
  </ds:schemaRefs>
</ds:datastoreItem>
</file>

<file path=customXml/itemProps2.xml><?xml version="1.0" encoding="utf-8"?>
<ds:datastoreItem xmlns:ds="http://schemas.openxmlformats.org/officeDocument/2006/customXml" ds:itemID="{9DE1C072-8E7F-47B6-BD4D-B7ED84F5A9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c0b812-7f7d-4aca-acca-000f424f7da7"/>
    <ds:schemaRef ds:uri="6bff29df-e80b-4a73-953f-e802c634e4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BE91CB-D9E9-4240-8D2B-5BFD5C2E7763}">
  <ds:schemaRefs>
    <ds:schemaRef ds:uri="http://schemas.microsoft.com/office/2006/documentManagement/types"/>
    <ds:schemaRef ds:uri="http://purl.org/dc/dcmitype/"/>
    <ds:schemaRef ds:uri="http://www.w3.org/XML/1998/namespace"/>
    <ds:schemaRef ds:uri="http://purl.org/dc/terms/"/>
    <ds:schemaRef ds:uri="http://schemas.openxmlformats.org/package/2006/metadata/core-properties"/>
    <ds:schemaRef ds:uri="3cc0b812-7f7d-4aca-acca-000f424f7da7"/>
    <ds:schemaRef ds:uri="http://schemas.microsoft.com/office/infopath/2007/PartnerControls"/>
    <ds:schemaRef ds:uri="6bff29df-e80b-4a73-953f-e802c634e429"/>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Concourse</Template>
  <TotalTime>1061</TotalTime>
  <Words>2657</Words>
  <Application>Microsoft Office PowerPoint</Application>
  <PresentationFormat>On-screen Show (4:3)</PresentationFormat>
  <Paragraphs>232</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Lucida Sans Unicode</vt:lpstr>
      <vt:lpstr>Verdana</vt:lpstr>
      <vt:lpstr>Wingdings 2</vt:lpstr>
      <vt:lpstr>Wingdings 3</vt:lpstr>
      <vt:lpstr>Concourse</vt:lpstr>
      <vt:lpstr>Commercial Law  (Law 2241)</vt:lpstr>
      <vt:lpstr>Today…. </vt:lpstr>
      <vt:lpstr>Rule 4</vt:lpstr>
      <vt:lpstr>Rule 4</vt:lpstr>
      <vt:lpstr>Rule 4</vt:lpstr>
      <vt:lpstr>Rule 4</vt:lpstr>
      <vt:lpstr>Rule 4 Atari Corp v Electronics Boutique Store (continued)  </vt:lpstr>
      <vt:lpstr>Rule 4</vt:lpstr>
      <vt:lpstr>Rule 4</vt:lpstr>
      <vt:lpstr>Rule 4</vt:lpstr>
      <vt:lpstr>Rule 4</vt:lpstr>
      <vt:lpstr>Rule 5 </vt:lpstr>
      <vt:lpstr>Rule 5</vt:lpstr>
      <vt:lpstr>Rule 5</vt:lpstr>
      <vt:lpstr>Rule 5</vt:lpstr>
      <vt:lpstr>Rule 5</vt:lpstr>
      <vt:lpstr>Rule 5</vt:lpstr>
      <vt:lpstr>Rule 5</vt:lpstr>
      <vt:lpstr>Rule 5</vt:lpstr>
      <vt:lpstr>Rule 5</vt:lpstr>
      <vt:lpstr>Rule 5</vt:lpstr>
      <vt:lpstr>Rule 5</vt:lpstr>
      <vt:lpstr>Rule 5</vt:lpstr>
      <vt:lpstr>Rule 5</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law  Law 2241</dc:title>
  <dc:creator>Rachel</dc:creator>
  <cp:lastModifiedBy>AVERY, RACHEL J.</cp:lastModifiedBy>
  <cp:revision>103</cp:revision>
  <dcterms:created xsi:type="dcterms:W3CDTF">2006-08-16T00:00:00Z</dcterms:created>
  <dcterms:modified xsi:type="dcterms:W3CDTF">2024-09-10T14:08:30Z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0x01010009A4B24C251BCD4291F2C2F3A608C810</vt:lpwstr>
  </property>
</Properties>
</file>