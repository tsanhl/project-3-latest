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8" r:id="rId3"/>
    <p:sldId id="263" r:id="rId4"/>
    <p:sldId id="258" r:id="rId5"/>
    <p:sldId id="262" r:id="rId6"/>
    <p:sldId id="260" r:id="rId7"/>
    <p:sldId id="269" r:id="rId8"/>
    <p:sldId id="257" r:id="rId9"/>
    <p:sldId id="259" r:id="rId10"/>
    <p:sldId id="264" r:id="rId11"/>
    <p:sldId id="265" r:id="rId12"/>
    <p:sldId id="266" r:id="rId13"/>
    <p:sldId id="267" r:id="rId14"/>
    <p:sldId id="270" r:id="rId15"/>
  </p:sldIdLst>
  <p:sldSz cx="12192000" cy="6858000"/>
  <p:notesSz cx="6797675" cy="992822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0"/>
    <p:restoredTop sz="92803"/>
  </p:normalViewPr>
  <p:slideViewPr>
    <p:cSldViewPr snapToGrid="0" snapToObjects="1">
      <p:cViewPr varScale="1">
        <p:scale>
          <a:sx n="62" d="100"/>
          <a:sy n="62" d="100"/>
        </p:scale>
        <p:origin x="804" y="4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F24CB-9FFD-7D47-9F64-665B068A4E3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3F68763-6448-4043-81A4-C5FC2BE55E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32EDB83-DAA3-0F4C-888C-ACC555E76335}"/>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5" name="Footer Placeholder 4">
            <a:extLst>
              <a:ext uri="{FF2B5EF4-FFF2-40B4-BE49-F238E27FC236}">
                <a16:creationId xmlns:a16="http://schemas.microsoft.com/office/drawing/2014/main" id="{BDA13DD0-5BE5-9343-B9F0-E0C8ACE5C8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CB4126-09D2-C84A-9CB4-095351B803C5}"/>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37780182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A85B21-56DC-AB4E-BB74-ADEF2F2237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22E018-7900-914C-98CE-43D432E7FBD7}"/>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17DA07-D03E-144D-8467-712CED49B51F}"/>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5" name="Footer Placeholder 4">
            <a:extLst>
              <a:ext uri="{FF2B5EF4-FFF2-40B4-BE49-F238E27FC236}">
                <a16:creationId xmlns:a16="http://schemas.microsoft.com/office/drawing/2014/main" id="{4996D4CC-F531-6F43-98A9-B963302E95C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35AA0D-09EC-C748-B9C6-8C32691631BC}"/>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1559349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F2E19D-C03F-2B4B-B6DE-1917C23539D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4499926-212E-1B41-9C99-FEF4E5636D6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9AC01F62-A2B4-064C-A750-AB48D277D436}"/>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5" name="Footer Placeholder 4">
            <a:extLst>
              <a:ext uri="{FF2B5EF4-FFF2-40B4-BE49-F238E27FC236}">
                <a16:creationId xmlns:a16="http://schemas.microsoft.com/office/drawing/2014/main" id="{51108A35-56E1-2E46-9904-9CE1329257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9040DD-A3F3-F549-8654-9BB09DFAEBF1}"/>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13282522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24494-06A4-6F45-8FD9-8D7D50BAD5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2F1EFD9-8A7C-6440-A2B1-3D1F5FC2ABB2}"/>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93865E4-688E-E343-896B-429EA08B3C3F}"/>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F41D406-A17C-1049-AE52-3D64D0CA6BD0}"/>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6" name="Footer Placeholder 5">
            <a:extLst>
              <a:ext uri="{FF2B5EF4-FFF2-40B4-BE49-F238E27FC236}">
                <a16:creationId xmlns:a16="http://schemas.microsoft.com/office/drawing/2014/main" id="{49F5B249-485E-3D41-AECF-5B659853267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62368C-2A01-B04B-88C1-0D1822F5267C}"/>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3132458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D16DD-4844-364B-915B-282CE86DC9E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8A44170-6D7C-F149-A04C-A73F5D3E05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168BB572-5DB1-774A-909C-9C2448C3A77E}"/>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6345CC0-2332-264E-8E8A-FA3C6AFEE9B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F636CFCA-EC81-C64E-9E98-E736562028ED}"/>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AC4B93E-D644-F549-AECE-BCCB4205364E}"/>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8" name="Footer Placeholder 7">
            <a:extLst>
              <a:ext uri="{FF2B5EF4-FFF2-40B4-BE49-F238E27FC236}">
                <a16:creationId xmlns:a16="http://schemas.microsoft.com/office/drawing/2014/main" id="{1E366A1C-FE69-EC4F-8610-39CC429152A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B7D64549-F21B-494B-AFBF-1BA4545E46D4}"/>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42382603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EE614-F492-F743-A096-870107BC7F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DC9EAC9-5C4F-0D45-9E41-5DD95F45F770}"/>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4" name="Footer Placeholder 3">
            <a:extLst>
              <a:ext uri="{FF2B5EF4-FFF2-40B4-BE49-F238E27FC236}">
                <a16:creationId xmlns:a16="http://schemas.microsoft.com/office/drawing/2014/main" id="{9418715A-1253-E745-83FE-D05DEC22EBC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D56D8DA-9677-C947-9272-A6DC24FEAF46}"/>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2662577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72364E-15C7-2A40-B6C0-3CD4AB99C84B}"/>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3" name="Footer Placeholder 2">
            <a:extLst>
              <a:ext uri="{FF2B5EF4-FFF2-40B4-BE49-F238E27FC236}">
                <a16:creationId xmlns:a16="http://schemas.microsoft.com/office/drawing/2014/main" id="{3B6280FA-F88F-CB4D-971C-03892F1B94F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69FFC6A-F80B-7445-A725-B2D8F00205A9}"/>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2375846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F5AE5-4489-914D-97FE-5F6FC50741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296ABF4-492C-404D-AEF8-2417BF81DB0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CF385EC-114E-A342-BDC7-FCC8E3998F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4D8CDA90-96EF-6740-ACE3-B74A1750C28B}"/>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6" name="Footer Placeholder 5">
            <a:extLst>
              <a:ext uri="{FF2B5EF4-FFF2-40B4-BE49-F238E27FC236}">
                <a16:creationId xmlns:a16="http://schemas.microsoft.com/office/drawing/2014/main" id="{01E1D1CA-ADF4-EF4A-AF3D-C8DBF665B8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3C65BF9-FA70-824F-B368-35D116D9D6DC}"/>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5097062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5F4B8F-B3DE-394F-8F5E-ED0E8FB7E45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4CCF78C-CDA0-3B49-A53C-B58CFFDD5B3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BAF5CE6-91CF-074A-BBC1-835018BFF4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624FAC7-4BFA-5B40-AC3B-7D123EEA3571}"/>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6" name="Footer Placeholder 5">
            <a:extLst>
              <a:ext uri="{FF2B5EF4-FFF2-40B4-BE49-F238E27FC236}">
                <a16:creationId xmlns:a16="http://schemas.microsoft.com/office/drawing/2014/main" id="{1CB5BE40-E385-FC44-A211-B9DE8F4768E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CB848-6747-CD4C-8F4A-FE01380DF61D}"/>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472298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E8CD-879C-A842-9652-C8CFF44F111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CB46EBE-1DD1-D040-9A54-C70BC1E39A38}"/>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42A773-6C94-BF40-BF06-0305FDFDED02}"/>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5" name="Footer Placeholder 4">
            <a:extLst>
              <a:ext uri="{FF2B5EF4-FFF2-40B4-BE49-F238E27FC236}">
                <a16:creationId xmlns:a16="http://schemas.microsoft.com/office/drawing/2014/main" id="{178DE161-F519-984C-8BE5-17E25CBACD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00D4686-91B1-6546-ABF8-A91A7E07BE8D}"/>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25811815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F1E10B-1C20-874D-9A95-6783189766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F0F57F3-822C-2548-977C-AB8C8542A40B}"/>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2539DBD-B696-D44E-BFBD-0DD85CC1AB48}"/>
              </a:ext>
            </a:extLst>
          </p:cNvPr>
          <p:cNvSpPr>
            <a:spLocks noGrp="1"/>
          </p:cNvSpPr>
          <p:nvPr>
            <p:ph type="dt" sz="half" idx="10"/>
          </p:nvPr>
        </p:nvSpPr>
        <p:spPr/>
        <p:txBody>
          <a:bodyPr/>
          <a:lstStyle/>
          <a:p>
            <a:fld id="{C3EDD381-902E-5F48-A860-FF073F038644}" type="datetimeFigureOut">
              <a:rPr lang="en-US" smtClean="0"/>
              <a:pPr/>
              <a:t>2/23/2022</a:t>
            </a:fld>
            <a:endParaRPr lang="en-US"/>
          </a:p>
        </p:txBody>
      </p:sp>
      <p:sp>
        <p:nvSpPr>
          <p:cNvPr id="5" name="Footer Placeholder 4">
            <a:extLst>
              <a:ext uri="{FF2B5EF4-FFF2-40B4-BE49-F238E27FC236}">
                <a16:creationId xmlns:a16="http://schemas.microsoft.com/office/drawing/2014/main" id="{4D418897-B8C3-804A-8199-CFCC38C69F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211E7F5-12EF-1B46-AC88-DABE329BD615}"/>
              </a:ext>
            </a:extLst>
          </p:cNvPr>
          <p:cNvSpPr>
            <a:spLocks noGrp="1"/>
          </p:cNvSpPr>
          <p:nvPr>
            <p:ph type="sldNum" sz="quarter" idx="12"/>
          </p:nvPr>
        </p:nvSpPr>
        <p:spPr/>
        <p:txBody>
          <a:bodyPr/>
          <a:lstStyle/>
          <a:p>
            <a:fld id="{2BE03C5E-02EF-614B-8563-549D37D88A11}" type="slidenum">
              <a:rPr lang="en-US" smtClean="0"/>
              <a:pPr/>
              <a:t>‹#›</a:t>
            </a:fld>
            <a:endParaRPr lang="en-US"/>
          </a:p>
        </p:txBody>
      </p:sp>
    </p:spTree>
    <p:extLst>
      <p:ext uri="{BB962C8B-B14F-4D97-AF65-F5344CB8AC3E}">
        <p14:creationId xmlns:p14="http://schemas.microsoft.com/office/powerpoint/2010/main" val="14097490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BAB9E6E-8161-1B49-B344-923C8DCFE8E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63D2A49-33E4-914F-8AE5-A455830CC50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3EA788-FCD4-7541-A358-2DD16395284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3EDD381-902E-5F48-A860-FF073F038644}" type="datetimeFigureOut">
              <a:rPr lang="en-US" smtClean="0"/>
              <a:pPr/>
              <a:t>2/23/2022</a:t>
            </a:fld>
            <a:endParaRPr lang="en-US"/>
          </a:p>
        </p:txBody>
      </p:sp>
      <p:sp>
        <p:nvSpPr>
          <p:cNvPr id="5" name="Footer Placeholder 4">
            <a:extLst>
              <a:ext uri="{FF2B5EF4-FFF2-40B4-BE49-F238E27FC236}">
                <a16:creationId xmlns:a16="http://schemas.microsoft.com/office/drawing/2014/main" id="{05090439-37A7-1D4A-9789-CF3E0026C7E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3E8FA88-1D40-674E-87DB-0A34C19C7E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BE03C5E-02EF-614B-8563-549D37D88A11}" type="slidenum">
              <a:rPr lang="en-US" smtClean="0"/>
              <a:pPr/>
              <a:t>‹#›</a:t>
            </a:fld>
            <a:endParaRPr lang="en-US"/>
          </a:p>
        </p:txBody>
      </p:sp>
    </p:spTree>
    <p:extLst>
      <p:ext uri="{BB962C8B-B14F-4D97-AF65-F5344CB8AC3E}">
        <p14:creationId xmlns:p14="http://schemas.microsoft.com/office/powerpoint/2010/main" val="2857077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google.com/url?sa=i&amp;rct=j&amp;q=&amp;esrc=s&amp;source=images&amp;cd=&amp;cad=rja&amp;uact=8&amp;ved=2ahUKEwi9_5-ryOThAhWDxIUKHZ0mBtYQjRx6BAgBEAU&amp;url=https%3A%2F%2Femojipedia.org%2Ffacebook%2F3.0%2Ffour-leaf-clover%2F&amp;psig=AOvVaw1XOR8rHA52Slk5Ed8iSGxh&amp;ust=1556052206278939" TargetMode="External"/><Relationship Id="rId1" Type="http://schemas.openxmlformats.org/officeDocument/2006/relationships/slideLayout" Target="../slideLayouts/slideLayout1.xml"/><Relationship Id="rId6" Type="http://schemas.openxmlformats.org/officeDocument/2006/relationships/image" Target="../media/image3.jpeg"/><Relationship Id="rId5" Type="http://schemas.openxmlformats.org/officeDocument/2006/relationships/hyperlink" Target="https://www.google.com/url?sa=i&amp;rct=j&amp;q=&amp;esrc=s&amp;source=images&amp;cd=&amp;ved=2ahUKEwj6iLS3yuThAhXBzoUKHdcdDx4QjRx6BAgBEAU&amp;url=https%3A%2F%2Fwww.pinterest.com%2Fpin%2F266697609163419574%2F&amp;psig=AOvVaw3Yc-mbFmT_NOQT90UQ6E3B&amp;ust=1556052768709028" TargetMode="Externa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com/url?sa=i&amp;rct=j&amp;q=&amp;esrc=s&amp;source=images&amp;cd=&amp;ved=2ahUKEwj6iLS3yuThAhXBzoUKHdcdDx4QjRx6BAgBEAU&amp;url=https%3A%2F%2Fwww.pinterest.com%2Fpin%2F266697609163419574%2F&amp;psig=AOvVaw3Yc-mbFmT_NOQT90UQ6E3B&amp;ust=1556052768709028"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google.com/url?sa=i&amp;rct=j&amp;q=&amp;esrc=s&amp;source=images&amp;cd=&amp;cad=rja&amp;uact=8&amp;ved=2ahUKEwi9_5-ryOThAhWDxIUKHZ0mBtYQjRx6BAgBEAU&amp;url=https%3A%2F%2Femojipedia.org%2Ffacebook%2F3.0%2Ffour-leaf-clover%2F&amp;psig=AOvVaw1XOR8rHA52Slk5Ed8iSGxh&amp;ust=1556052206278939"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com/url?sa=i&amp;rct=j&amp;q=&amp;esrc=s&amp;source=images&amp;cd=&amp;ved=2ahUKEwj6iLS3yuThAhXBzoUKHdcdDx4QjRx6BAgBEAU&amp;url=https%3A%2F%2Fwww.pinterest.com%2Fpin%2F266697609163419574%2F&amp;psig=AOvVaw3Yc-mbFmT_NOQT90UQ6E3B&amp;ust=1556052768709028"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google.com/url?sa=i&amp;rct=j&amp;q=&amp;esrc=s&amp;source=images&amp;cd=&amp;cad=rja&amp;uact=8&amp;ved=2ahUKEwi9_5-ryOThAhWDxIUKHZ0mBtYQjRx6BAgBEAU&amp;url=https%3A%2F%2Femojipedia.org%2Ffacebook%2F3.0%2Ffour-leaf-clover%2F&amp;psig=AOvVaw1XOR8rHA52Slk5Ed8iSGxh&amp;ust=1556052206278939"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com/url?sa=i&amp;rct=j&amp;q=&amp;esrc=s&amp;source=images&amp;cd=&amp;ved=2ahUKEwj6iLS3yuThAhXBzoUKHdcdDx4QjRx6BAgBEAU&amp;url=https%3A%2F%2Fwww.pinterest.com%2Fpin%2F266697609163419574%2F&amp;psig=AOvVaw3Yc-mbFmT_NOQT90UQ6E3B&amp;ust=1556052768709028"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google.com/url?sa=i&amp;rct=j&amp;q=&amp;esrc=s&amp;source=images&amp;cd=&amp;cad=rja&amp;uact=8&amp;ved=2ahUKEwi9_5-ryOThAhWDxIUKHZ0mBtYQjRx6BAgBEAU&amp;url=https%3A%2F%2Femojipedia.org%2Ffacebook%2F3.0%2Ffour-leaf-clover%2F&amp;psig=AOvVaw1XOR8rHA52Slk5Ed8iSGxh&amp;ust=1556052206278939"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com/url?sa=i&amp;rct=j&amp;q=&amp;esrc=s&amp;source=images&amp;cd=&amp;ved=2ahUKEwj6iLS3yuThAhXBzoUKHdcdDx4QjRx6BAgBEAU&amp;url=https%3A%2F%2Fwww.pinterest.com%2Fpin%2F266697609163419574%2F&amp;psig=AOvVaw3Yc-mbFmT_NOQT90UQ6E3B&amp;ust=1556052768709028"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google.com/url?sa=i&amp;rct=j&amp;q=&amp;esrc=s&amp;source=images&amp;cd=&amp;cad=rja&amp;uact=8&amp;ved=2ahUKEwi9_5-ryOThAhWDxIUKHZ0mBtYQjRx6BAgBEAU&amp;url=https%3A%2F%2Femojipedia.org%2Ffacebook%2F3.0%2Ffour-leaf-clover%2F&amp;psig=AOvVaw1XOR8rHA52Slk5Ed8iSGxh&amp;ust=1556052206278939"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com/url?sa=i&amp;rct=j&amp;q=&amp;esrc=s&amp;source=images&amp;cd=&amp;ved=2ahUKEwj6iLS3yuThAhXBzoUKHdcdDx4QjRx6BAgBEAU&amp;url=https%3A%2F%2Fwww.pinterest.com%2Fpin%2F266697609163419574%2F&amp;psig=AOvVaw3Yc-mbFmT_NOQT90UQ6E3B&amp;ust=1556052768709028"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google.com/url?sa=i&amp;rct=j&amp;q=&amp;esrc=s&amp;source=images&amp;cd=&amp;cad=rja&amp;uact=8&amp;ved=2ahUKEwi9_5-ryOThAhWDxIUKHZ0mBtYQjRx6BAgBEAU&amp;url=https%3A%2F%2Femojipedia.org%2Ffacebook%2F3.0%2Ffour-leaf-clover%2F&amp;psig=AOvVaw1XOR8rHA52Slk5Ed8iSGxh&amp;ust=1556052206278939"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hyperlink" Target="https://www.google.com/url?sa=i&amp;rct=j&amp;q=&amp;esrc=s&amp;source=images&amp;cd=&amp;ved=2ahUKEwj6iLS3yuThAhXBzoUKHdcdDx4QjRx6BAgBEAU&amp;url=https%3A%2F%2Fwww.pinterest.com%2Fpin%2F266697609163419574%2F&amp;psig=AOvVaw3Yc-mbFmT_NOQT90UQ6E3B&amp;ust=1556052768709028" TargetMode="Externa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hyperlink" Target="https://www.google.com/url?sa=i&amp;rct=j&amp;q=&amp;esrc=s&amp;source=images&amp;cd=&amp;cad=rja&amp;uact=8&amp;ved=2ahUKEwi9_5-ryOThAhWDxIUKHZ0mBtYQjRx6BAgBEAU&amp;url=https%3A%2F%2Femojipedia.org%2Ffacebook%2F3.0%2Ffour-leaf-clover%2F&amp;psig=AOvVaw1XOR8rHA52Slk5Ed8iSGxh&amp;ust=1556052206278939"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google.com/url?sa=i&amp;rct=j&amp;q=&amp;esrc=s&amp;source=images&amp;cd=&amp;cad=rja&amp;uact=8&amp;ved=2ahUKEwi9_5-ryOThAhWDxIUKHZ0mBtYQjRx6BAgBEAU&amp;url=https%3A%2F%2Femojipedia.org%2Ffacebook%2F3.0%2Ffour-leaf-clover%2F&amp;psig=AOvVaw1XOR8rHA52Slk5Ed8iSGxh&amp;ust=1556052206278939" TargetMode="External"/><Relationship Id="rId1" Type="http://schemas.openxmlformats.org/officeDocument/2006/relationships/slideLayout" Target="../slideLayouts/slideLayout3.xml"/><Relationship Id="rId6" Type="http://schemas.openxmlformats.org/officeDocument/2006/relationships/image" Target="../media/image3.jpeg"/><Relationship Id="rId5" Type="http://schemas.openxmlformats.org/officeDocument/2006/relationships/hyperlink" Target="https://www.google.com/url?sa=i&amp;rct=j&amp;q=&amp;esrc=s&amp;source=images&amp;cd=&amp;ved=2ahUKEwj6iLS3yuThAhXBzoUKHdcdDx4QjRx6BAgBEAU&amp;url=https%3A%2F%2Fwww.pinterest.com%2Fpin%2F266697609163419574%2F&amp;psig=AOvVaw3Yc-mbFmT_NOQT90UQ6E3B&amp;ust=1556052768709028"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1370C-C225-4F46-AB17-040E406F5840}"/>
              </a:ext>
            </a:extLst>
          </p:cNvPr>
          <p:cNvSpPr>
            <a:spLocks noGrp="1"/>
          </p:cNvSpPr>
          <p:nvPr>
            <p:ph type="ctrTitle"/>
          </p:nvPr>
        </p:nvSpPr>
        <p:spPr/>
        <p:txBody>
          <a:bodyPr>
            <a:normAutofit/>
          </a:bodyPr>
          <a:lstStyle/>
          <a:p>
            <a:r>
              <a:rPr lang="en-US" b="1" dirty="0"/>
              <a:t>Revision Notes</a:t>
            </a:r>
            <a:endParaRPr lang="en-US" sz="4000" b="1" dirty="0"/>
          </a:p>
        </p:txBody>
      </p:sp>
      <p:sp>
        <p:nvSpPr>
          <p:cNvPr id="3" name="Subtitle 2">
            <a:extLst>
              <a:ext uri="{FF2B5EF4-FFF2-40B4-BE49-F238E27FC236}">
                <a16:creationId xmlns:a16="http://schemas.microsoft.com/office/drawing/2014/main" id="{98F73237-8AB2-094B-9315-2C3F6EF02982}"/>
              </a:ext>
            </a:extLst>
          </p:cNvPr>
          <p:cNvSpPr>
            <a:spLocks noGrp="1"/>
          </p:cNvSpPr>
          <p:nvPr>
            <p:ph type="subTitle" idx="1"/>
          </p:nvPr>
        </p:nvSpPr>
        <p:spPr/>
        <p:txBody>
          <a:bodyPr>
            <a:normAutofit lnSpcReduction="10000"/>
          </a:bodyPr>
          <a:lstStyle/>
          <a:p>
            <a:endParaRPr lang="en-US" dirty="0"/>
          </a:p>
          <a:p>
            <a:r>
              <a:rPr lang="en-US" dirty="0"/>
              <a:t>Commercial Law</a:t>
            </a:r>
          </a:p>
          <a:p>
            <a:r>
              <a:rPr lang="en-US" dirty="0"/>
              <a:t>Lecture 21</a:t>
            </a:r>
          </a:p>
          <a:p>
            <a:r>
              <a:rPr lang="en-US" dirty="0"/>
              <a:t>Rachel Avery</a:t>
            </a:r>
          </a:p>
        </p:txBody>
      </p:sp>
      <p:pic>
        <p:nvPicPr>
          <p:cNvPr id="14338" name="Picture 2" descr="Image result for four leaf clover emoji">
            <a:hlinkClick r:id="rId2"/>
          </p:cNvPr>
          <p:cNvPicPr>
            <a:picLocks noChangeAspect="1" noChangeArrowheads="1"/>
          </p:cNvPicPr>
          <p:nvPr/>
        </p:nvPicPr>
        <p:blipFill>
          <a:blip r:embed="rId3"/>
          <a:srcRect/>
          <a:stretch>
            <a:fillRect/>
          </a:stretch>
        </p:blipFill>
        <p:spPr bwMode="auto">
          <a:xfrm>
            <a:off x="523710" y="360362"/>
            <a:ext cx="1524000" cy="1524001"/>
          </a:xfrm>
          <a:prstGeom prst="rect">
            <a:avLst/>
          </a:prstGeom>
          <a:noFill/>
        </p:spPr>
      </p:pic>
      <p:pic>
        <p:nvPicPr>
          <p:cNvPr id="14340" name="Picture 4" descr="Image result for four leaf clover emoji">
            <a:hlinkClick r:id="rId2"/>
          </p:cNvPr>
          <p:cNvPicPr>
            <a:picLocks noChangeAspect="1" noChangeArrowheads="1"/>
          </p:cNvPicPr>
          <p:nvPr/>
        </p:nvPicPr>
        <p:blipFill>
          <a:blip r:embed="rId3"/>
          <a:srcRect/>
          <a:stretch>
            <a:fillRect/>
          </a:stretch>
        </p:blipFill>
        <p:spPr bwMode="auto">
          <a:xfrm>
            <a:off x="10130848" y="4778313"/>
            <a:ext cx="1524000" cy="1524001"/>
          </a:xfrm>
          <a:prstGeom prst="rect">
            <a:avLst/>
          </a:prstGeom>
          <a:noFill/>
        </p:spPr>
      </p:pic>
      <p:pic>
        <p:nvPicPr>
          <p:cNvPr id="7" name="Picture 6" descr="Blue horseshoe.svg"/>
          <p:cNvPicPr>
            <a:picLocks noChangeAspect="1" noChangeArrowheads="1"/>
          </p:cNvPicPr>
          <p:nvPr/>
        </p:nvPicPr>
        <p:blipFill>
          <a:blip r:embed="rId4"/>
          <a:srcRect/>
          <a:stretch>
            <a:fillRect/>
          </a:stretch>
        </p:blipFill>
        <p:spPr bwMode="auto">
          <a:xfrm>
            <a:off x="-163698" y="4474339"/>
            <a:ext cx="2660073" cy="2559441"/>
          </a:xfrm>
          <a:prstGeom prst="rect">
            <a:avLst/>
          </a:prstGeom>
          <a:noFill/>
        </p:spPr>
      </p:pic>
      <p:pic>
        <p:nvPicPr>
          <p:cNvPr id="8" name="Picture 6" descr="Blue horseshoe.svg"/>
          <p:cNvPicPr>
            <a:picLocks noChangeAspect="1" noChangeArrowheads="1"/>
          </p:cNvPicPr>
          <p:nvPr/>
        </p:nvPicPr>
        <p:blipFill>
          <a:blip r:embed="rId4"/>
          <a:srcRect/>
          <a:stretch>
            <a:fillRect/>
          </a:stretch>
        </p:blipFill>
        <p:spPr bwMode="auto">
          <a:xfrm>
            <a:off x="9823450" y="199222"/>
            <a:ext cx="2660073" cy="2559441"/>
          </a:xfrm>
          <a:prstGeom prst="rect">
            <a:avLst/>
          </a:prstGeom>
          <a:noFill/>
        </p:spPr>
      </p:pic>
      <p:sp>
        <p:nvSpPr>
          <p:cNvPr id="14344" name="AutoShape 8" descr="Image result for elephant pictures cartoon"/>
          <p:cNvSpPr>
            <a:spLocks noChangeAspect="1" noChangeArrowheads="1"/>
          </p:cNvSpPr>
          <p:nvPr/>
        </p:nvSpPr>
        <p:spPr bwMode="auto">
          <a:xfrm>
            <a:off x="63500" y="-136525"/>
            <a:ext cx="1676400" cy="1247775"/>
          </a:xfrm>
          <a:prstGeom prst="rect">
            <a:avLst/>
          </a:prstGeom>
          <a:noFill/>
        </p:spPr>
        <p:txBody>
          <a:bodyPr vert="horz" wrap="square" lIns="91440" tIns="45720" rIns="91440" bIns="45720" numCol="1" anchor="t" anchorCtr="0" compatLnSpc="1">
            <a:prstTxWarp prst="textNoShape">
              <a:avLst/>
            </a:prstTxWarp>
          </a:bodyPr>
          <a:lstStyle/>
          <a:p>
            <a:endParaRPr lang="en-GB"/>
          </a:p>
        </p:txBody>
      </p:sp>
      <p:sp>
        <p:nvSpPr>
          <p:cNvPr id="14346" name="AutoShape 10" descr="Image result for elephant pictures cartoon"/>
          <p:cNvSpPr>
            <a:spLocks noChangeAspect="1" noChangeArrowheads="1"/>
          </p:cNvSpPr>
          <p:nvPr/>
        </p:nvSpPr>
        <p:spPr bwMode="auto">
          <a:xfrm>
            <a:off x="63500" y="-136525"/>
            <a:ext cx="1676400" cy="1247775"/>
          </a:xfrm>
          <a:prstGeom prst="rect">
            <a:avLst/>
          </a:prstGeom>
          <a:noFill/>
        </p:spPr>
        <p:txBody>
          <a:bodyPr vert="horz" wrap="square" lIns="91440" tIns="45720" rIns="91440" bIns="45720" numCol="1" anchor="t" anchorCtr="0" compatLnSpc="1">
            <a:prstTxWarp prst="textNoShape">
              <a:avLst/>
            </a:prstTxWarp>
          </a:bodyPr>
          <a:lstStyle/>
          <a:p>
            <a:endParaRPr lang="en-GB"/>
          </a:p>
        </p:txBody>
      </p:sp>
      <p:pic>
        <p:nvPicPr>
          <p:cNvPr id="14348" name="Picture 12" descr="Image result for elephant pictures cartoon">
            <a:hlinkClick r:id="rId5"/>
          </p:cNvPr>
          <p:cNvPicPr>
            <a:picLocks noChangeAspect="1" noChangeArrowheads="1"/>
          </p:cNvPicPr>
          <p:nvPr/>
        </p:nvPicPr>
        <p:blipFill>
          <a:blip r:embed="rId6"/>
          <a:srcRect/>
          <a:stretch>
            <a:fillRect/>
          </a:stretch>
        </p:blipFill>
        <p:spPr bwMode="auto">
          <a:xfrm>
            <a:off x="4644448" y="360362"/>
            <a:ext cx="2238375" cy="1666875"/>
          </a:xfrm>
          <a:prstGeom prst="rect">
            <a:avLst/>
          </a:prstGeom>
          <a:noFill/>
        </p:spPr>
      </p:pic>
      <p:pic>
        <p:nvPicPr>
          <p:cNvPr id="14350" name="Picture 14" descr="Image result for elephant pictures cartoon">
            <a:hlinkClick r:id="rId5"/>
          </p:cNvPr>
          <p:cNvPicPr>
            <a:picLocks noChangeAspect="1" noChangeArrowheads="1"/>
          </p:cNvPicPr>
          <p:nvPr/>
        </p:nvPicPr>
        <p:blipFill>
          <a:blip r:embed="rId6"/>
          <a:srcRect/>
          <a:stretch>
            <a:fillRect/>
          </a:stretch>
        </p:blipFill>
        <p:spPr bwMode="auto">
          <a:xfrm>
            <a:off x="4842370" y="5191125"/>
            <a:ext cx="2238375" cy="1666875"/>
          </a:xfrm>
          <a:prstGeom prst="rect">
            <a:avLst/>
          </a:prstGeom>
          <a:noFill/>
        </p:spPr>
      </p:pic>
    </p:spTree>
    <p:extLst>
      <p:ext uri="{BB962C8B-B14F-4D97-AF65-F5344CB8AC3E}">
        <p14:creationId xmlns:p14="http://schemas.microsoft.com/office/powerpoint/2010/main" val="6925103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79815-7183-9241-83BD-587449211AC5}"/>
              </a:ext>
            </a:extLst>
          </p:cNvPr>
          <p:cNvSpPr>
            <a:spLocks noGrp="1"/>
          </p:cNvSpPr>
          <p:nvPr>
            <p:ph type="title"/>
          </p:nvPr>
        </p:nvSpPr>
        <p:spPr/>
        <p:txBody>
          <a:bodyPr/>
          <a:lstStyle/>
          <a:p>
            <a:pPr algn="ctr"/>
            <a:r>
              <a:rPr lang="en-US" b="1" dirty="0"/>
              <a:t>Answering problem questions:</a:t>
            </a:r>
          </a:p>
        </p:txBody>
      </p:sp>
      <p:sp>
        <p:nvSpPr>
          <p:cNvPr id="3" name="Content Placeholder 2">
            <a:extLst>
              <a:ext uri="{FF2B5EF4-FFF2-40B4-BE49-F238E27FC236}">
                <a16:creationId xmlns:a16="http://schemas.microsoft.com/office/drawing/2014/main" id="{1F953E19-0BB9-3F4B-B443-15A17512CD4D}"/>
              </a:ext>
            </a:extLst>
          </p:cNvPr>
          <p:cNvSpPr>
            <a:spLocks noGrp="1"/>
          </p:cNvSpPr>
          <p:nvPr>
            <p:ph idx="1"/>
          </p:nvPr>
        </p:nvSpPr>
        <p:spPr>
          <a:xfrm>
            <a:off x="838200" y="1690688"/>
            <a:ext cx="10661542" cy="4741109"/>
          </a:xfrm>
        </p:spPr>
        <p:txBody>
          <a:bodyPr>
            <a:normAutofit lnSpcReduction="10000"/>
          </a:bodyPr>
          <a:lstStyle/>
          <a:p>
            <a:r>
              <a:rPr lang="en-US" b="1" dirty="0"/>
              <a:t>Clearly</a:t>
            </a:r>
            <a:r>
              <a:rPr lang="en-US" dirty="0"/>
              <a:t> </a:t>
            </a:r>
            <a:r>
              <a:rPr lang="en-US" b="1" dirty="0"/>
              <a:t>Identify the facts </a:t>
            </a:r>
            <a:r>
              <a:rPr lang="en-US" dirty="0"/>
              <a:t>in the problem that give rise to the legal issue – why has the person you’re advising come to see you?</a:t>
            </a:r>
          </a:p>
          <a:p>
            <a:r>
              <a:rPr lang="en-US" b="1" dirty="0"/>
              <a:t>Identify the legal issue</a:t>
            </a:r>
            <a:r>
              <a:rPr lang="en-US" dirty="0"/>
              <a:t>. E.g. goods appear to be not of satisfactory quality</a:t>
            </a:r>
          </a:p>
          <a:p>
            <a:r>
              <a:rPr lang="en-US" b="1" dirty="0"/>
              <a:t>Identify the law</a:t>
            </a:r>
            <a:r>
              <a:rPr lang="en-US" dirty="0"/>
              <a:t>. E.g. s.14 – implied term that goods are to be of satisfactory quality – s.14(2A) and 14(2B): test of satisfactory quality and relevant factors of quality </a:t>
            </a:r>
          </a:p>
          <a:p>
            <a:r>
              <a:rPr lang="en-US" b="1" dirty="0"/>
              <a:t>Apply the law to the facts</a:t>
            </a:r>
            <a:r>
              <a:rPr lang="en-US" dirty="0"/>
              <a:t>:   - what in the facts points to the goods failing the test? - are there any defenses available to seller?</a:t>
            </a:r>
            <a:endParaRPr lang="en-US" b="1" dirty="0"/>
          </a:p>
          <a:p>
            <a:r>
              <a:rPr lang="en-US" b="1" dirty="0"/>
              <a:t>Conclusion</a:t>
            </a:r>
            <a:r>
              <a:rPr lang="en-US" dirty="0"/>
              <a:t>:  - What happens to the contract or the goods? Or what is the </a:t>
            </a:r>
            <a:r>
              <a:rPr lang="en-US" b="1" dirty="0"/>
              <a:t>remedy</a:t>
            </a:r>
            <a:r>
              <a:rPr lang="en-US" dirty="0"/>
              <a:t> your client can expect?</a:t>
            </a:r>
          </a:p>
        </p:txBody>
      </p:sp>
      <p:pic>
        <p:nvPicPr>
          <p:cNvPr id="13314" name="Picture 2" descr="Image result for elephant pictures cartoon">
            <a:hlinkClick r:id="rId2"/>
          </p:cNvPr>
          <p:cNvPicPr>
            <a:picLocks noChangeAspect="1" noChangeArrowheads="1"/>
          </p:cNvPicPr>
          <p:nvPr/>
        </p:nvPicPr>
        <p:blipFill>
          <a:blip r:embed="rId3"/>
          <a:srcRect/>
          <a:stretch>
            <a:fillRect/>
          </a:stretch>
        </p:blipFill>
        <p:spPr bwMode="auto">
          <a:xfrm>
            <a:off x="155576" y="365124"/>
            <a:ext cx="1929570" cy="1325563"/>
          </a:xfrm>
          <a:prstGeom prst="rect">
            <a:avLst/>
          </a:prstGeom>
          <a:noFill/>
        </p:spPr>
      </p:pic>
      <p:pic>
        <p:nvPicPr>
          <p:cNvPr id="13316" name="Picture 4" descr="Image result for elephant pictures cartoon">
            <a:hlinkClick r:id="rId2"/>
          </p:cNvPr>
          <p:cNvPicPr>
            <a:picLocks noChangeAspect="1" noChangeArrowheads="1"/>
          </p:cNvPicPr>
          <p:nvPr/>
        </p:nvPicPr>
        <p:blipFill>
          <a:blip r:embed="rId3"/>
          <a:srcRect/>
          <a:stretch>
            <a:fillRect/>
          </a:stretch>
        </p:blipFill>
        <p:spPr bwMode="auto">
          <a:xfrm>
            <a:off x="9810214" y="365124"/>
            <a:ext cx="2238375" cy="1301751"/>
          </a:xfrm>
          <a:prstGeom prst="rect">
            <a:avLst/>
          </a:prstGeom>
          <a:noFill/>
        </p:spPr>
      </p:pic>
      <p:pic>
        <p:nvPicPr>
          <p:cNvPr id="6" name="Picture 2" descr="Image result for four leaf clover emoji">
            <a:hlinkClick r:id="rId4"/>
          </p:cNvPr>
          <p:cNvPicPr>
            <a:picLocks noChangeAspect="1" noChangeArrowheads="1"/>
          </p:cNvPicPr>
          <p:nvPr/>
        </p:nvPicPr>
        <p:blipFill>
          <a:blip r:embed="rId5"/>
          <a:srcRect/>
          <a:stretch>
            <a:fillRect/>
          </a:stretch>
        </p:blipFill>
        <p:spPr bwMode="auto">
          <a:xfrm>
            <a:off x="10737742" y="5664530"/>
            <a:ext cx="1524000" cy="1193470"/>
          </a:xfrm>
          <a:prstGeom prst="rect">
            <a:avLst/>
          </a:prstGeom>
          <a:noFill/>
        </p:spPr>
      </p:pic>
      <p:pic>
        <p:nvPicPr>
          <p:cNvPr id="7" name="Picture 2" descr="Image result for four leaf clover emoji">
            <a:hlinkClick r:id="rId4"/>
          </p:cNvPr>
          <p:cNvPicPr>
            <a:picLocks noChangeAspect="1" noChangeArrowheads="1"/>
          </p:cNvPicPr>
          <p:nvPr/>
        </p:nvPicPr>
        <p:blipFill>
          <a:blip r:embed="rId5"/>
          <a:srcRect/>
          <a:stretch>
            <a:fillRect/>
          </a:stretch>
        </p:blipFill>
        <p:spPr bwMode="auto">
          <a:xfrm>
            <a:off x="0" y="5973288"/>
            <a:ext cx="1193469" cy="884712"/>
          </a:xfrm>
          <a:prstGeom prst="rect">
            <a:avLst/>
          </a:prstGeom>
          <a:noFill/>
        </p:spPr>
      </p:pic>
    </p:spTree>
    <p:extLst>
      <p:ext uri="{BB962C8B-B14F-4D97-AF65-F5344CB8AC3E}">
        <p14:creationId xmlns:p14="http://schemas.microsoft.com/office/powerpoint/2010/main" val="1198305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8302B-8A60-4E40-A36D-183DE961545F}"/>
              </a:ext>
            </a:extLst>
          </p:cNvPr>
          <p:cNvSpPr>
            <a:spLocks noGrp="1"/>
          </p:cNvSpPr>
          <p:nvPr>
            <p:ph type="title"/>
          </p:nvPr>
        </p:nvSpPr>
        <p:spPr/>
        <p:txBody>
          <a:bodyPr>
            <a:normAutofit/>
          </a:bodyPr>
          <a:lstStyle/>
          <a:p>
            <a:pPr algn="ctr"/>
            <a:r>
              <a:rPr lang="en-US" b="1" dirty="0"/>
              <a:t>Pre - Contractual Impossibility &amp; </a:t>
            </a:r>
            <a:br>
              <a:rPr lang="en-US" b="1" dirty="0"/>
            </a:br>
            <a:r>
              <a:rPr lang="en-US" b="1" dirty="0"/>
              <a:t>Post-contractual Frustration</a:t>
            </a:r>
          </a:p>
        </p:txBody>
      </p:sp>
      <p:sp>
        <p:nvSpPr>
          <p:cNvPr id="3" name="Content Placeholder 2">
            <a:extLst>
              <a:ext uri="{FF2B5EF4-FFF2-40B4-BE49-F238E27FC236}">
                <a16:creationId xmlns:a16="http://schemas.microsoft.com/office/drawing/2014/main" id="{67C6118D-89A4-0E42-8CA4-402DBB04B90B}"/>
              </a:ext>
            </a:extLst>
          </p:cNvPr>
          <p:cNvSpPr>
            <a:spLocks noGrp="1"/>
          </p:cNvSpPr>
          <p:nvPr>
            <p:ph idx="1"/>
          </p:nvPr>
        </p:nvSpPr>
        <p:spPr>
          <a:xfrm>
            <a:off x="838199" y="1996106"/>
            <a:ext cx="10692539" cy="4482186"/>
          </a:xfrm>
        </p:spPr>
        <p:txBody>
          <a:bodyPr>
            <a:normAutofit lnSpcReduction="10000"/>
          </a:bodyPr>
          <a:lstStyle/>
          <a:p>
            <a:r>
              <a:rPr lang="en-GB" sz="2200" dirty="0"/>
              <a:t>Arises where neither party is at fault. </a:t>
            </a:r>
          </a:p>
          <a:p>
            <a:pPr algn="just"/>
            <a:r>
              <a:rPr lang="en-GB" sz="2200" dirty="0"/>
              <a:t>Concerns an event which either makes the contract impossible to perform or it completely changes the nature of the parties’ obligations. When this happens, </a:t>
            </a:r>
            <a:r>
              <a:rPr lang="en-GB" sz="2200" b="1" dirty="0"/>
              <a:t>the contract is deemed discharged</a:t>
            </a:r>
            <a:r>
              <a:rPr lang="en-GB" sz="2200" dirty="0"/>
              <a:t> – both parties are </a:t>
            </a:r>
            <a:r>
              <a:rPr lang="en-GB" sz="2200" b="1" dirty="0"/>
              <a:t>relieved from their respective obligations</a:t>
            </a:r>
            <a:r>
              <a:rPr lang="en-GB" sz="2200" dirty="0"/>
              <a:t>. This means that neither party is liable and therefore neither party can be sued with respect to an obligation that arises under that contract.</a:t>
            </a:r>
          </a:p>
          <a:p>
            <a:pPr algn="just"/>
            <a:r>
              <a:rPr lang="en-GB" sz="2200" dirty="0"/>
              <a:t>Note that the contract is </a:t>
            </a:r>
            <a:r>
              <a:rPr lang="en-GB" sz="2200" b="1" dirty="0"/>
              <a:t>not</a:t>
            </a:r>
            <a:r>
              <a:rPr lang="en-GB" sz="2200" dirty="0"/>
              <a:t> rendered void </a:t>
            </a:r>
            <a:r>
              <a:rPr lang="en-GB" sz="2200" i="1" dirty="0"/>
              <a:t>ab initio </a:t>
            </a:r>
            <a:r>
              <a:rPr lang="en-GB" sz="2200" dirty="0"/>
              <a:t>– the parties may well be saddled with losses and expenses they incurred while the contract was under way.</a:t>
            </a:r>
          </a:p>
          <a:p>
            <a:pPr algn="just"/>
            <a:r>
              <a:rPr lang="en-GB" sz="2200" dirty="0"/>
              <a:t>It is generally raised as a </a:t>
            </a:r>
            <a:r>
              <a:rPr lang="en-GB" sz="2200" b="1" dirty="0"/>
              <a:t>defence</a:t>
            </a:r>
            <a:r>
              <a:rPr lang="en-GB" sz="2200" dirty="0"/>
              <a:t>.</a:t>
            </a:r>
            <a:endParaRPr lang="en-US" sz="2200" dirty="0"/>
          </a:p>
          <a:p>
            <a:r>
              <a:rPr lang="en-US" sz="2200" dirty="0"/>
              <a:t>The principle is reflected in Sections 6 and 7 of the SGA 1979 which apply </a:t>
            </a:r>
            <a:r>
              <a:rPr lang="en-US" sz="2200" b="1" dirty="0"/>
              <a:t>only</a:t>
            </a:r>
            <a:r>
              <a:rPr lang="en-US" sz="2200" dirty="0"/>
              <a:t> to </a:t>
            </a:r>
            <a:r>
              <a:rPr lang="en-US" sz="2200" b="1" dirty="0"/>
              <a:t>specific goods</a:t>
            </a:r>
            <a:r>
              <a:rPr lang="en-US" sz="2200" dirty="0"/>
              <a:t>.</a:t>
            </a:r>
          </a:p>
          <a:p>
            <a:r>
              <a:rPr lang="en-US" sz="2200" dirty="0"/>
              <a:t>Where the goods are unascertained, </a:t>
            </a:r>
            <a:r>
              <a:rPr lang="en-US" sz="2200" b="1" dirty="0"/>
              <a:t>the common law will apply</a:t>
            </a:r>
            <a:r>
              <a:rPr lang="en-US" sz="2200" dirty="0"/>
              <a:t>. The common law will apply also where the SGA does not apply or where the parties so intend.</a:t>
            </a:r>
          </a:p>
        </p:txBody>
      </p:sp>
      <p:pic>
        <p:nvPicPr>
          <p:cNvPr id="12290" name="Picture 2" descr="Image result for elephant pictures cartoon">
            <a:hlinkClick r:id="rId2"/>
          </p:cNvPr>
          <p:cNvPicPr>
            <a:picLocks noChangeAspect="1" noChangeArrowheads="1"/>
          </p:cNvPicPr>
          <p:nvPr/>
        </p:nvPicPr>
        <p:blipFill>
          <a:blip r:embed="rId3"/>
          <a:srcRect/>
          <a:stretch>
            <a:fillRect/>
          </a:stretch>
        </p:blipFill>
        <p:spPr bwMode="auto">
          <a:xfrm>
            <a:off x="155575" y="365125"/>
            <a:ext cx="2238375" cy="1301750"/>
          </a:xfrm>
          <a:prstGeom prst="rect">
            <a:avLst/>
          </a:prstGeom>
          <a:noFill/>
        </p:spPr>
      </p:pic>
      <p:pic>
        <p:nvPicPr>
          <p:cNvPr id="12292" name="Picture 4" descr="Image result for elephant pictures cartoon">
            <a:hlinkClick r:id="rId2"/>
          </p:cNvPr>
          <p:cNvPicPr>
            <a:picLocks noChangeAspect="1" noChangeArrowheads="1"/>
          </p:cNvPicPr>
          <p:nvPr/>
        </p:nvPicPr>
        <p:blipFill>
          <a:blip r:embed="rId3"/>
          <a:srcRect/>
          <a:stretch>
            <a:fillRect/>
          </a:stretch>
        </p:blipFill>
        <p:spPr bwMode="auto">
          <a:xfrm>
            <a:off x="9774588" y="329231"/>
            <a:ext cx="2238375" cy="1666875"/>
          </a:xfrm>
          <a:prstGeom prst="rect">
            <a:avLst/>
          </a:prstGeom>
          <a:noFill/>
        </p:spPr>
      </p:pic>
      <p:pic>
        <p:nvPicPr>
          <p:cNvPr id="6" name="Picture 2" descr="Image result for four leaf clover emoji">
            <a:hlinkClick r:id="rId4"/>
          </p:cNvPr>
          <p:cNvPicPr>
            <a:picLocks noChangeAspect="1" noChangeArrowheads="1"/>
          </p:cNvPicPr>
          <p:nvPr/>
        </p:nvPicPr>
        <p:blipFill>
          <a:blip r:embed="rId5"/>
          <a:srcRect/>
          <a:stretch>
            <a:fillRect/>
          </a:stretch>
        </p:blipFill>
        <p:spPr bwMode="auto">
          <a:xfrm>
            <a:off x="0" y="6014766"/>
            <a:ext cx="1033153" cy="843234"/>
          </a:xfrm>
          <a:prstGeom prst="rect">
            <a:avLst/>
          </a:prstGeom>
          <a:noFill/>
        </p:spPr>
      </p:pic>
      <p:pic>
        <p:nvPicPr>
          <p:cNvPr id="7" name="Picture 2" descr="Image result for four leaf clover emoji">
            <a:hlinkClick r:id="rId4"/>
          </p:cNvPr>
          <p:cNvPicPr>
            <a:picLocks noChangeAspect="1" noChangeArrowheads="1"/>
          </p:cNvPicPr>
          <p:nvPr/>
        </p:nvPicPr>
        <p:blipFill>
          <a:blip r:embed="rId5"/>
          <a:srcRect/>
          <a:stretch>
            <a:fillRect/>
          </a:stretch>
        </p:blipFill>
        <p:spPr bwMode="auto">
          <a:xfrm>
            <a:off x="11014161" y="6014766"/>
            <a:ext cx="1033153" cy="843234"/>
          </a:xfrm>
          <a:prstGeom prst="rect">
            <a:avLst/>
          </a:prstGeom>
          <a:noFill/>
        </p:spPr>
      </p:pic>
    </p:spTree>
    <p:extLst>
      <p:ext uri="{BB962C8B-B14F-4D97-AF65-F5344CB8AC3E}">
        <p14:creationId xmlns:p14="http://schemas.microsoft.com/office/powerpoint/2010/main" val="29969447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C122735-7830-4F47-BAC4-5355416E9890}"/>
              </a:ext>
            </a:extLst>
          </p:cNvPr>
          <p:cNvGraphicFramePr>
            <a:graphicFrameLocks noGrp="1"/>
          </p:cNvGraphicFramePr>
          <p:nvPr>
            <p:ph idx="1"/>
            <p:extLst>
              <p:ext uri="{D42A27DB-BD31-4B8C-83A1-F6EECF244321}">
                <p14:modId xmlns:p14="http://schemas.microsoft.com/office/powerpoint/2010/main" val="1050459414"/>
              </p:ext>
            </p:extLst>
          </p:nvPr>
        </p:nvGraphicFramePr>
        <p:xfrm>
          <a:off x="0" y="1"/>
          <a:ext cx="12170765" cy="6857999"/>
        </p:xfrm>
        <a:graphic>
          <a:graphicData uri="http://schemas.openxmlformats.org/drawingml/2006/table">
            <a:tbl>
              <a:tblPr firstRow="1" firstCol="1" bandRow="1">
                <a:tableStyleId>{5C22544A-7EE6-4342-B048-85BDC9FD1C3A}</a:tableStyleId>
              </a:tblPr>
              <a:tblGrid>
                <a:gridCol w="2138766">
                  <a:extLst>
                    <a:ext uri="{9D8B030D-6E8A-4147-A177-3AD203B41FA5}">
                      <a16:colId xmlns:a16="http://schemas.microsoft.com/office/drawing/2014/main" val="3186998222"/>
                    </a:ext>
                  </a:extLst>
                </a:gridCol>
                <a:gridCol w="4324027">
                  <a:extLst>
                    <a:ext uri="{9D8B030D-6E8A-4147-A177-3AD203B41FA5}">
                      <a16:colId xmlns:a16="http://schemas.microsoft.com/office/drawing/2014/main" val="1533584714"/>
                    </a:ext>
                  </a:extLst>
                </a:gridCol>
                <a:gridCol w="5707972">
                  <a:extLst>
                    <a:ext uri="{9D8B030D-6E8A-4147-A177-3AD203B41FA5}">
                      <a16:colId xmlns:a16="http://schemas.microsoft.com/office/drawing/2014/main" val="888579676"/>
                    </a:ext>
                  </a:extLst>
                </a:gridCol>
              </a:tblGrid>
              <a:tr h="546600">
                <a:tc rowSpan="2">
                  <a:txBody>
                    <a:bodyPr/>
                    <a:lstStyle/>
                    <a:p>
                      <a:pPr>
                        <a:spcAft>
                          <a:spcPts val="0"/>
                        </a:spcAft>
                      </a:pPr>
                      <a:r>
                        <a:rPr lang="en-GB" sz="1500" dirty="0">
                          <a:effectLst/>
                          <a:latin typeface="Calibri" panose="020F0502020204030204" pitchFamily="34" charset="0"/>
                          <a:ea typeface="Calibri" panose="020F0502020204030204" pitchFamily="34" charset="0"/>
                          <a:cs typeface="Times New Roman" panose="02020603050405020304" pitchFamily="18" charset="0"/>
                        </a:rPr>
                        <a:t>Key Questions:</a:t>
                      </a:r>
                    </a:p>
                  </a:txBody>
                  <a:tcPr marL="67990" marR="67990" marT="0" marB="0" anchor="ctr"/>
                </a:tc>
                <a:tc gridSpan="2">
                  <a:txBody>
                    <a:bodyPr/>
                    <a:lstStyle/>
                    <a:p>
                      <a:pPr algn="ctr">
                        <a:spcAft>
                          <a:spcPts val="0"/>
                        </a:spcAft>
                      </a:pPr>
                      <a:r>
                        <a:rPr lang="en-GB" sz="1500" dirty="0">
                          <a:effectLst/>
                        </a:rPr>
                        <a:t>The Law, where the SGA1979 applies (Specific Goods only)</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tc hMerge="1">
                  <a:txBody>
                    <a:bodyPr/>
                    <a:lstStyle/>
                    <a:p>
                      <a:endParaRPr lang="en-US"/>
                    </a:p>
                  </a:txBody>
                  <a:tcPr/>
                </a:tc>
                <a:extLst>
                  <a:ext uri="{0D108BD9-81ED-4DB2-BD59-A6C34878D82A}">
                    <a16:rowId xmlns:a16="http://schemas.microsoft.com/office/drawing/2014/main" val="772273547"/>
                  </a:ext>
                </a:extLst>
              </a:tr>
              <a:tr h="470918">
                <a:tc vMerge="1">
                  <a:txBody>
                    <a:bodyPr/>
                    <a:lstStyle/>
                    <a:p>
                      <a:endParaRPr lang="en-US"/>
                    </a:p>
                  </a:txBody>
                  <a:tcPr/>
                </a:tc>
                <a:tc>
                  <a:txBody>
                    <a:bodyPr/>
                    <a:lstStyle/>
                    <a:p>
                      <a:pPr algn="ctr">
                        <a:spcAft>
                          <a:spcPts val="0"/>
                        </a:spcAft>
                      </a:pPr>
                      <a:r>
                        <a:rPr lang="en-GB" sz="1500" dirty="0">
                          <a:effectLst/>
                        </a:rPr>
                        <a:t>Before sale</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tc>
                  <a:txBody>
                    <a:bodyPr/>
                    <a:lstStyle/>
                    <a:p>
                      <a:pPr algn="ctr">
                        <a:spcAft>
                          <a:spcPts val="0"/>
                        </a:spcAft>
                      </a:pPr>
                      <a:r>
                        <a:rPr lang="en-GB" sz="1500" dirty="0">
                          <a:effectLst/>
                        </a:rPr>
                        <a:t>After sale </a:t>
                      </a:r>
                      <a:r>
                        <a:rPr lang="en-GB" sz="1500" dirty="0">
                          <a:effectLst/>
                          <a:latin typeface="Calibri" panose="020F0502020204030204" pitchFamily="34" charset="0"/>
                          <a:cs typeface="Calibri" panose="020F0502020204030204" pitchFamily="34" charset="0"/>
                        </a:rPr>
                        <a:t>(but before property/risk passes)</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extLst>
                  <a:ext uri="{0D108BD9-81ED-4DB2-BD59-A6C34878D82A}">
                    <a16:rowId xmlns:a16="http://schemas.microsoft.com/office/drawing/2014/main" val="1913046379"/>
                  </a:ext>
                </a:extLst>
              </a:tr>
              <a:tr h="624531">
                <a:tc>
                  <a:txBody>
                    <a:bodyPr/>
                    <a:lstStyle/>
                    <a:p>
                      <a:pPr>
                        <a:spcAft>
                          <a:spcPts val="0"/>
                        </a:spcAft>
                      </a:pPr>
                      <a:r>
                        <a:rPr lang="en-GB" sz="1500">
                          <a:effectLst/>
                        </a:rPr>
                        <a:t>When did the frustrating event take place?</a:t>
                      </a:r>
                      <a:endParaRPr lang="en-GB" sz="150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tc>
                  <a:txBody>
                    <a:bodyPr/>
                    <a:lstStyle/>
                    <a:p>
                      <a:pPr>
                        <a:spcAft>
                          <a:spcPts val="0"/>
                        </a:spcAft>
                      </a:pPr>
                      <a:r>
                        <a:rPr lang="en-GB" sz="1500">
                          <a:effectLst/>
                        </a:rPr>
                        <a:t>s.6 SGA 1979</a:t>
                      </a:r>
                      <a:endParaRPr lang="en-GB" sz="150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tc>
                  <a:txBody>
                    <a:bodyPr/>
                    <a:lstStyle/>
                    <a:p>
                      <a:pPr>
                        <a:spcAft>
                          <a:spcPts val="0"/>
                        </a:spcAft>
                      </a:pPr>
                      <a:r>
                        <a:rPr lang="en-GB" sz="1500" dirty="0">
                          <a:effectLst/>
                        </a:rPr>
                        <a:t>s.7 SGA 1979</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extLst>
                  <a:ext uri="{0D108BD9-81ED-4DB2-BD59-A6C34878D82A}">
                    <a16:rowId xmlns:a16="http://schemas.microsoft.com/office/drawing/2014/main" val="1990719144"/>
                  </a:ext>
                </a:extLst>
              </a:tr>
              <a:tr h="1888552">
                <a:tc>
                  <a:txBody>
                    <a:bodyPr/>
                    <a:lstStyle/>
                    <a:p>
                      <a:pPr>
                        <a:spcAft>
                          <a:spcPts val="0"/>
                        </a:spcAft>
                      </a:pPr>
                      <a:r>
                        <a:rPr lang="en-GB" sz="1500">
                          <a:effectLst/>
                        </a:rPr>
                        <a:t>Did the goods perish?</a:t>
                      </a:r>
                      <a:endParaRPr lang="en-GB" sz="150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tc>
                  <a:txBody>
                    <a:bodyPr/>
                    <a:lstStyle/>
                    <a:p>
                      <a:pPr>
                        <a:spcAft>
                          <a:spcPts val="0"/>
                        </a:spcAft>
                      </a:pPr>
                      <a:r>
                        <a:rPr lang="en-GB" sz="1500" dirty="0">
                          <a:effectLst/>
                        </a:rPr>
                        <a:t>Definition is very wide:</a:t>
                      </a:r>
                    </a:p>
                    <a:p>
                      <a:pPr>
                        <a:spcAft>
                          <a:spcPts val="0"/>
                        </a:spcAft>
                      </a:pPr>
                      <a:r>
                        <a:rPr lang="en-GB" sz="1500" i="1" dirty="0">
                          <a:effectLst/>
                        </a:rPr>
                        <a:t>Barrow Lane Ballard v Phillips </a:t>
                      </a:r>
                      <a:r>
                        <a:rPr lang="en-GB" sz="1500" dirty="0">
                          <a:effectLst/>
                        </a:rPr>
                        <a:t>(part of promised quantity stolen at time of contract), </a:t>
                      </a:r>
                      <a:r>
                        <a:rPr lang="en-GB" sz="1500" i="1" dirty="0" err="1">
                          <a:effectLst/>
                        </a:rPr>
                        <a:t>Asfar</a:t>
                      </a:r>
                      <a:r>
                        <a:rPr lang="en-GB" sz="1500" i="1" dirty="0">
                          <a:effectLst/>
                        </a:rPr>
                        <a:t> v Blundell </a:t>
                      </a:r>
                      <a:r>
                        <a:rPr lang="en-GB" sz="1500" dirty="0">
                          <a:effectLst/>
                        </a:rPr>
                        <a:t>(goods lost their substantive identity under the contract and most commercial value when rendered unfit for human consumption)</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tc>
                  <a:txBody>
                    <a:bodyPr/>
                    <a:lstStyle/>
                    <a:p>
                      <a:pPr>
                        <a:spcAft>
                          <a:spcPts val="0"/>
                        </a:spcAft>
                      </a:pPr>
                      <a:r>
                        <a:rPr lang="en-GB" sz="1500" dirty="0">
                          <a:effectLst/>
                        </a:rPr>
                        <a:t>‘Perish’ is very difficult to demonstrate:</a:t>
                      </a:r>
                    </a:p>
                    <a:p>
                      <a:pPr>
                        <a:spcAft>
                          <a:spcPts val="0"/>
                        </a:spcAft>
                      </a:pPr>
                      <a:r>
                        <a:rPr lang="en-GB" sz="1500" i="1" dirty="0">
                          <a:effectLst/>
                        </a:rPr>
                        <a:t>Horn v. Minister for Food</a:t>
                      </a:r>
                      <a:r>
                        <a:rPr lang="en-GB" sz="1500" dirty="0">
                          <a:effectLst/>
                        </a:rPr>
                        <a:t> (potatoes did not perish when rendered unfit for human consumption), </a:t>
                      </a:r>
                      <a:r>
                        <a:rPr lang="en-GB" sz="1500" i="1" dirty="0">
                          <a:effectLst/>
                        </a:rPr>
                        <a:t>Sainsbury v Street </a:t>
                      </a:r>
                      <a:r>
                        <a:rPr lang="en-GB" sz="1500" dirty="0">
                          <a:effectLst/>
                        </a:rPr>
                        <a:t>(crop yielded smaller than promised quantity – seller was still liable to deliver what was produced), </a:t>
                      </a:r>
                      <a:r>
                        <a:rPr lang="en-GB" sz="1500" i="1" dirty="0">
                          <a:effectLst/>
                        </a:rPr>
                        <a:t>Howell v Coupland </a:t>
                      </a:r>
                      <a:r>
                        <a:rPr lang="en-GB" sz="1500" dirty="0">
                          <a:effectLst/>
                        </a:rPr>
                        <a:t>(contract was frustrated when crop of  potatoes to be grown on specified field was largely destroyed due to disease – seller was allowed to deliver only potatoes produced)</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extLst>
                  <a:ext uri="{0D108BD9-81ED-4DB2-BD59-A6C34878D82A}">
                    <a16:rowId xmlns:a16="http://schemas.microsoft.com/office/drawing/2014/main" val="3149613029"/>
                  </a:ext>
                </a:extLst>
              </a:tr>
              <a:tr h="3327398">
                <a:tc>
                  <a:txBody>
                    <a:bodyPr/>
                    <a:lstStyle/>
                    <a:p>
                      <a:pPr>
                        <a:spcAft>
                          <a:spcPts val="0"/>
                        </a:spcAft>
                      </a:pPr>
                      <a:r>
                        <a:rPr lang="en-GB" sz="1500" dirty="0">
                          <a:effectLst/>
                        </a:rPr>
                        <a:t>What is the effect of the law?</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tc>
                  <a:txBody>
                    <a:bodyPr/>
                    <a:lstStyle/>
                    <a:p>
                      <a:pPr>
                        <a:spcAft>
                          <a:spcPts val="0"/>
                        </a:spcAft>
                      </a:pPr>
                      <a:r>
                        <a:rPr lang="en-GB" sz="1500" dirty="0">
                          <a:effectLst/>
                        </a:rPr>
                        <a:t>Agreement to sell is void</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tc>
                  <a:txBody>
                    <a:bodyPr/>
                    <a:lstStyle/>
                    <a:p>
                      <a:pPr lvl="0"/>
                      <a:r>
                        <a:rPr lang="en-GB" sz="1500" b="1" kern="1200" dirty="0">
                          <a:solidFill>
                            <a:schemeClr val="dk1"/>
                          </a:solidFill>
                          <a:effectLst/>
                          <a:latin typeface="+mn-lt"/>
                          <a:ea typeface="+mn-ea"/>
                          <a:cs typeface="+mn-cs"/>
                        </a:rPr>
                        <a:t>Common law </a:t>
                      </a:r>
                      <a:r>
                        <a:rPr lang="en-GB" sz="1500" kern="1200" dirty="0">
                          <a:solidFill>
                            <a:schemeClr val="dk1"/>
                          </a:solidFill>
                          <a:effectLst/>
                          <a:latin typeface="+mn-lt"/>
                          <a:ea typeface="+mn-ea"/>
                          <a:cs typeface="+mn-cs"/>
                        </a:rPr>
                        <a:t>rules apply: </a:t>
                      </a:r>
                    </a:p>
                    <a:p>
                      <a:pPr marL="342900" lvl="0" indent="-342900">
                        <a:buAutoNum type="alphaLcParenR"/>
                      </a:pPr>
                      <a:r>
                        <a:rPr lang="en-GB" sz="1500" kern="1200" dirty="0">
                          <a:solidFill>
                            <a:schemeClr val="dk1"/>
                          </a:solidFill>
                          <a:effectLst/>
                          <a:latin typeface="+mn-lt"/>
                          <a:ea typeface="+mn-ea"/>
                          <a:cs typeface="+mn-cs"/>
                        </a:rPr>
                        <a:t>The contract comes to an end immediately and automatically, in the sense that it </a:t>
                      </a:r>
                      <a:r>
                        <a:rPr lang="en-GB" sz="1500" b="1" kern="1200" dirty="0">
                          <a:solidFill>
                            <a:schemeClr val="dk1"/>
                          </a:solidFill>
                          <a:effectLst/>
                          <a:latin typeface="+mn-lt"/>
                          <a:ea typeface="+mn-ea"/>
                          <a:cs typeface="+mn-cs"/>
                        </a:rPr>
                        <a:t>releases both parties from any further performance</a:t>
                      </a:r>
                      <a:r>
                        <a:rPr lang="en-GB" sz="1500" kern="1200" dirty="0">
                          <a:solidFill>
                            <a:schemeClr val="dk1"/>
                          </a:solidFill>
                          <a:effectLst/>
                          <a:latin typeface="+mn-lt"/>
                          <a:ea typeface="+mn-ea"/>
                          <a:cs typeface="+mn-cs"/>
                        </a:rPr>
                        <a:t> of the contract. It is NOT rescinded </a:t>
                      </a:r>
                      <a:r>
                        <a:rPr lang="en-GB" sz="1500" i="1" kern="1200" dirty="0">
                          <a:solidFill>
                            <a:schemeClr val="dk1"/>
                          </a:solidFill>
                          <a:effectLst/>
                          <a:latin typeface="+mn-lt"/>
                          <a:ea typeface="+mn-ea"/>
                          <a:cs typeface="+mn-cs"/>
                        </a:rPr>
                        <a:t>ab initio</a:t>
                      </a:r>
                      <a:r>
                        <a:rPr lang="en-GB" sz="1500" kern="1200" dirty="0">
                          <a:solidFill>
                            <a:schemeClr val="dk1"/>
                          </a:solidFill>
                          <a:effectLst/>
                          <a:latin typeface="+mn-lt"/>
                          <a:ea typeface="+mn-ea"/>
                          <a:cs typeface="+mn-cs"/>
                        </a:rPr>
                        <a:t>.</a:t>
                      </a:r>
                    </a:p>
                    <a:p>
                      <a:pPr marL="342900" lvl="0" indent="-342900">
                        <a:buAutoNum type="alphaLcParenR"/>
                      </a:pPr>
                      <a:r>
                        <a:rPr lang="en-GB" sz="1500" kern="1200" dirty="0">
                          <a:solidFill>
                            <a:schemeClr val="dk1"/>
                          </a:solidFill>
                          <a:effectLst/>
                          <a:latin typeface="+mn-lt"/>
                          <a:ea typeface="+mn-ea"/>
                          <a:cs typeface="+mn-cs"/>
                        </a:rPr>
                        <a:t>If the price has been paid, it can be recovered, only if there has been a </a:t>
                      </a:r>
                      <a:r>
                        <a:rPr lang="en-GB" sz="1500" b="1" kern="1200" dirty="0">
                          <a:solidFill>
                            <a:schemeClr val="dk1"/>
                          </a:solidFill>
                          <a:effectLst/>
                          <a:latin typeface="+mn-lt"/>
                          <a:ea typeface="+mn-ea"/>
                          <a:cs typeface="+mn-cs"/>
                        </a:rPr>
                        <a:t>total failure of consideration</a:t>
                      </a:r>
                      <a:r>
                        <a:rPr lang="en-GB" sz="1500" kern="1200" dirty="0">
                          <a:solidFill>
                            <a:schemeClr val="dk1"/>
                          </a:solidFill>
                          <a:effectLst/>
                          <a:latin typeface="+mn-lt"/>
                          <a:ea typeface="+mn-ea"/>
                          <a:cs typeface="+mn-cs"/>
                        </a:rPr>
                        <a:t>: </a:t>
                      </a:r>
                      <a:r>
                        <a:rPr lang="en-GB" sz="1500" i="1" kern="1200" dirty="0">
                          <a:solidFill>
                            <a:schemeClr val="dk1"/>
                          </a:solidFill>
                          <a:effectLst/>
                          <a:latin typeface="+mn-lt"/>
                          <a:ea typeface="+mn-ea"/>
                          <a:cs typeface="+mn-cs"/>
                        </a:rPr>
                        <a:t>Fibrosa v </a:t>
                      </a:r>
                      <a:r>
                        <a:rPr lang="en-GB" sz="1500" i="1" kern="1200" dirty="0" err="1">
                          <a:solidFill>
                            <a:schemeClr val="dk1"/>
                          </a:solidFill>
                          <a:effectLst/>
                          <a:latin typeface="+mn-lt"/>
                          <a:ea typeface="+mn-ea"/>
                          <a:cs typeface="+mn-cs"/>
                        </a:rPr>
                        <a:t>Fairbain</a:t>
                      </a:r>
                      <a:r>
                        <a:rPr lang="en-GB" sz="1500" i="1" kern="1200" dirty="0">
                          <a:solidFill>
                            <a:schemeClr val="dk1"/>
                          </a:solidFill>
                          <a:effectLst/>
                          <a:latin typeface="+mn-lt"/>
                          <a:ea typeface="+mn-ea"/>
                          <a:cs typeface="+mn-cs"/>
                        </a:rPr>
                        <a:t> Lawson</a:t>
                      </a:r>
                      <a:r>
                        <a:rPr lang="en-GB" sz="1500" i="0" kern="1200" dirty="0">
                          <a:solidFill>
                            <a:schemeClr val="dk1"/>
                          </a:solidFill>
                          <a:effectLst/>
                          <a:latin typeface="+mn-lt"/>
                          <a:ea typeface="+mn-ea"/>
                          <a:cs typeface="+mn-cs"/>
                        </a:rPr>
                        <a:t>; </a:t>
                      </a:r>
                      <a:r>
                        <a:rPr lang="en-GB" sz="1500" i="1" kern="1200" dirty="0" err="1">
                          <a:solidFill>
                            <a:schemeClr val="dk1"/>
                          </a:solidFill>
                          <a:effectLst/>
                          <a:latin typeface="+mn-lt"/>
                          <a:ea typeface="+mn-ea"/>
                          <a:cs typeface="+mn-cs"/>
                        </a:rPr>
                        <a:t>Whincup</a:t>
                      </a:r>
                      <a:r>
                        <a:rPr lang="en-GB" sz="1500" i="1" kern="1200" dirty="0">
                          <a:solidFill>
                            <a:schemeClr val="dk1"/>
                          </a:solidFill>
                          <a:effectLst/>
                          <a:latin typeface="+mn-lt"/>
                          <a:ea typeface="+mn-ea"/>
                          <a:cs typeface="+mn-cs"/>
                        </a:rPr>
                        <a:t> </a:t>
                      </a:r>
                      <a:r>
                        <a:rPr lang="en-GB" sz="1500" kern="1200" dirty="0">
                          <a:solidFill>
                            <a:schemeClr val="dk1"/>
                          </a:solidFill>
                          <a:effectLst/>
                          <a:latin typeface="+mn-lt"/>
                          <a:ea typeface="+mn-ea"/>
                          <a:cs typeface="+mn-cs"/>
                        </a:rPr>
                        <a:t>v</a:t>
                      </a:r>
                      <a:r>
                        <a:rPr lang="en-GB" sz="1500" i="1" kern="1200" dirty="0">
                          <a:solidFill>
                            <a:schemeClr val="dk1"/>
                          </a:solidFill>
                          <a:effectLst/>
                          <a:latin typeface="+mn-lt"/>
                          <a:ea typeface="+mn-ea"/>
                          <a:cs typeface="+mn-cs"/>
                        </a:rPr>
                        <a:t> Hughes</a:t>
                      </a:r>
                      <a:r>
                        <a:rPr lang="en-GB" sz="1500" kern="1200" dirty="0">
                          <a:solidFill>
                            <a:schemeClr val="dk1"/>
                          </a:solidFill>
                          <a:effectLst/>
                          <a:latin typeface="+mn-lt"/>
                          <a:ea typeface="+mn-ea"/>
                          <a:cs typeface="+mn-cs"/>
                        </a:rPr>
                        <a:t> </a:t>
                      </a:r>
                      <a:endParaRPr lang="en-GB" sz="1500" i="1" dirty="0">
                        <a:effectLst/>
                      </a:endParaRPr>
                    </a:p>
                    <a:p>
                      <a:pPr marL="342900" lvl="0" indent="-342900">
                        <a:buAutoNum type="alphaLcParenR"/>
                      </a:pPr>
                      <a:r>
                        <a:rPr lang="en-GB" sz="1500" kern="1200" dirty="0">
                          <a:solidFill>
                            <a:schemeClr val="dk1"/>
                          </a:solidFill>
                          <a:effectLst/>
                          <a:latin typeface="+mn-lt"/>
                          <a:ea typeface="+mn-ea"/>
                          <a:cs typeface="+mn-cs"/>
                        </a:rPr>
                        <a:t>The </a:t>
                      </a:r>
                      <a:r>
                        <a:rPr lang="en-GB" sz="1500" b="1" kern="1200" dirty="0">
                          <a:solidFill>
                            <a:schemeClr val="dk1"/>
                          </a:solidFill>
                          <a:effectLst/>
                          <a:latin typeface="+mn-lt"/>
                          <a:ea typeface="+mn-ea"/>
                          <a:cs typeface="+mn-cs"/>
                        </a:rPr>
                        <a:t>‘entire contract’ rule applies</a:t>
                      </a:r>
                      <a:r>
                        <a:rPr lang="en-GB" sz="1500" kern="1200" dirty="0">
                          <a:solidFill>
                            <a:schemeClr val="dk1"/>
                          </a:solidFill>
                          <a:effectLst/>
                          <a:latin typeface="+mn-lt"/>
                          <a:ea typeface="+mn-ea"/>
                          <a:cs typeface="+mn-cs"/>
                        </a:rPr>
                        <a:t>: where payment was due only upon complete performance of the contract and the contract has has been partly performed, the party receiving the benefit of the part-performance cannot be compelled to pay for that benefit – </a:t>
                      </a:r>
                      <a:r>
                        <a:rPr lang="en-GB" sz="1500" i="1" kern="1200" dirty="0">
                          <a:solidFill>
                            <a:schemeClr val="dk1"/>
                          </a:solidFill>
                          <a:effectLst/>
                          <a:latin typeface="+mn-lt"/>
                          <a:ea typeface="+mn-ea"/>
                          <a:cs typeface="+mn-cs"/>
                        </a:rPr>
                        <a:t>Appleby v Myers</a:t>
                      </a:r>
                      <a:endParaRPr lang="en-GB" sz="1500" i="1" dirty="0">
                        <a:effectLst/>
                        <a:latin typeface="Calibri" panose="020F0502020204030204" pitchFamily="34" charset="0"/>
                        <a:ea typeface="Calibri" panose="020F0502020204030204" pitchFamily="34" charset="0"/>
                        <a:cs typeface="Times New Roman" panose="02020603050405020304" pitchFamily="18" charset="0"/>
                      </a:endParaRPr>
                    </a:p>
                  </a:txBody>
                  <a:tcPr marL="67990" marR="67990" marT="0" marB="0" anchor="ctr"/>
                </a:tc>
                <a:extLst>
                  <a:ext uri="{0D108BD9-81ED-4DB2-BD59-A6C34878D82A}">
                    <a16:rowId xmlns:a16="http://schemas.microsoft.com/office/drawing/2014/main" val="193308703"/>
                  </a:ext>
                </a:extLst>
              </a:tr>
            </a:tbl>
          </a:graphicData>
        </a:graphic>
      </p:graphicFrame>
    </p:spTree>
    <p:extLst>
      <p:ext uri="{BB962C8B-B14F-4D97-AF65-F5344CB8AC3E}">
        <p14:creationId xmlns:p14="http://schemas.microsoft.com/office/powerpoint/2010/main" val="3753509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C122735-7830-4F47-BAC4-5355416E9890}"/>
              </a:ext>
            </a:extLst>
          </p:cNvPr>
          <p:cNvGraphicFramePr>
            <a:graphicFrameLocks noGrp="1"/>
          </p:cNvGraphicFramePr>
          <p:nvPr>
            <p:ph idx="1"/>
            <p:extLst>
              <p:ext uri="{D42A27DB-BD31-4B8C-83A1-F6EECF244321}">
                <p14:modId xmlns:p14="http://schemas.microsoft.com/office/powerpoint/2010/main" val="2035470423"/>
              </p:ext>
            </p:extLst>
          </p:nvPr>
        </p:nvGraphicFramePr>
        <p:xfrm>
          <a:off x="0" y="0"/>
          <a:ext cx="12191999" cy="6857999"/>
        </p:xfrm>
        <a:graphic>
          <a:graphicData uri="http://schemas.openxmlformats.org/drawingml/2006/table">
            <a:tbl>
              <a:tblPr firstRow="1" firstCol="1" bandRow="1">
                <a:tableStyleId>{5C22544A-7EE6-4342-B048-85BDC9FD1C3A}</a:tableStyleId>
              </a:tblPr>
              <a:tblGrid>
                <a:gridCol w="2183196">
                  <a:extLst>
                    <a:ext uri="{9D8B030D-6E8A-4147-A177-3AD203B41FA5}">
                      <a16:colId xmlns:a16="http://schemas.microsoft.com/office/drawing/2014/main" val="3186998222"/>
                    </a:ext>
                  </a:extLst>
                </a:gridCol>
                <a:gridCol w="5133275">
                  <a:extLst>
                    <a:ext uri="{9D8B030D-6E8A-4147-A177-3AD203B41FA5}">
                      <a16:colId xmlns:a16="http://schemas.microsoft.com/office/drawing/2014/main" val="1533584714"/>
                    </a:ext>
                  </a:extLst>
                </a:gridCol>
                <a:gridCol w="4875528">
                  <a:extLst>
                    <a:ext uri="{9D8B030D-6E8A-4147-A177-3AD203B41FA5}">
                      <a16:colId xmlns:a16="http://schemas.microsoft.com/office/drawing/2014/main" val="888579676"/>
                    </a:ext>
                  </a:extLst>
                </a:gridCol>
              </a:tblGrid>
              <a:tr h="482201">
                <a:tc rowSpan="2">
                  <a:txBody>
                    <a:bodyPr/>
                    <a:lstStyle/>
                    <a:p>
                      <a:pPr>
                        <a:spcAft>
                          <a:spcPts val="0"/>
                        </a:spcAft>
                      </a:pPr>
                      <a:r>
                        <a:rPr lang="en-GB" sz="1500" dirty="0">
                          <a:effectLst/>
                          <a:latin typeface="Calibri" panose="020F0502020204030204" pitchFamily="34" charset="0"/>
                          <a:ea typeface="Calibri" panose="020F0502020204030204" pitchFamily="34" charset="0"/>
                          <a:cs typeface="Calibri" panose="020F0502020204030204" pitchFamily="34" charset="0"/>
                        </a:rPr>
                        <a:t>Key Questions:</a:t>
                      </a:r>
                    </a:p>
                  </a:txBody>
                  <a:tcPr marL="67990" marR="67990" marT="0" marB="0" anchor="ctr"/>
                </a:tc>
                <a:tc gridSpan="2">
                  <a:txBody>
                    <a:bodyPr/>
                    <a:lstStyle/>
                    <a:p>
                      <a:pPr algn="ctr">
                        <a:spcAft>
                          <a:spcPts val="0"/>
                        </a:spcAft>
                      </a:pPr>
                      <a:r>
                        <a:rPr lang="en-GB" sz="1500" dirty="0">
                          <a:effectLst/>
                          <a:latin typeface="Calibri" panose="020F0502020204030204" pitchFamily="34" charset="0"/>
                          <a:cs typeface="Calibri" panose="020F0502020204030204" pitchFamily="34" charset="0"/>
                        </a:rPr>
                        <a:t>The Common Law position (Unascertained Goods and where SGA does not apply)</a:t>
                      </a:r>
                      <a:endParaRPr lang="en-GB" sz="150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tc hMerge="1">
                  <a:txBody>
                    <a:bodyPr/>
                    <a:lstStyle/>
                    <a:p>
                      <a:endParaRPr lang="en-US"/>
                    </a:p>
                  </a:txBody>
                  <a:tcPr/>
                </a:tc>
                <a:extLst>
                  <a:ext uri="{0D108BD9-81ED-4DB2-BD59-A6C34878D82A}">
                    <a16:rowId xmlns:a16="http://schemas.microsoft.com/office/drawing/2014/main" val="772273547"/>
                  </a:ext>
                </a:extLst>
              </a:tr>
              <a:tr h="264196">
                <a:tc vMerge="1">
                  <a:txBody>
                    <a:bodyPr/>
                    <a:lstStyle/>
                    <a:p>
                      <a:endParaRPr lang="en-US"/>
                    </a:p>
                  </a:txBody>
                  <a:tcPr/>
                </a:tc>
                <a:tc>
                  <a:txBody>
                    <a:bodyPr/>
                    <a:lstStyle/>
                    <a:p>
                      <a:pPr algn="ctr">
                        <a:spcAft>
                          <a:spcPts val="0"/>
                        </a:spcAft>
                      </a:pPr>
                      <a:r>
                        <a:rPr lang="en-GB" sz="1500" dirty="0">
                          <a:effectLst/>
                          <a:latin typeface="Calibri" panose="020F0502020204030204" pitchFamily="34" charset="0"/>
                          <a:cs typeface="Calibri" panose="020F0502020204030204" pitchFamily="34" charset="0"/>
                        </a:rPr>
                        <a:t>Before sale</a:t>
                      </a:r>
                      <a:endParaRPr lang="en-GB" sz="150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tc>
                  <a:txBody>
                    <a:bodyPr/>
                    <a:lstStyle/>
                    <a:p>
                      <a:pPr algn="ctr">
                        <a:spcAft>
                          <a:spcPts val="0"/>
                        </a:spcAft>
                      </a:pPr>
                      <a:r>
                        <a:rPr lang="en-GB" sz="1500" dirty="0">
                          <a:effectLst/>
                          <a:latin typeface="Calibri" panose="020F0502020204030204" pitchFamily="34" charset="0"/>
                          <a:cs typeface="Calibri" panose="020F0502020204030204" pitchFamily="34" charset="0"/>
                        </a:rPr>
                        <a:t>After sale (but before property/risk passes)</a:t>
                      </a:r>
                      <a:endParaRPr lang="en-GB" sz="150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extLst>
                  <a:ext uri="{0D108BD9-81ED-4DB2-BD59-A6C34878D82A}">
                    <a16:rowId xmlns:a16="http://schemas.microsoft.com/office/drawing/2014/main" val="1913046379"/>
                  </a:ext>
                </a:extLst>
              </a:tr>
              <a:tr h="1954566">
                <a:tc>
                  <a:txBody>
                    <a:bodyPr/>
                    <a:lstStyle/>
                    <a:p>
                      <a:pPr>
                        <a:spcAft>
                          <a:spcPts val="0"/>
                        </a:spcAft>
                      </a:pPr>
                      <a:r>
                        <a:rPr lang="en-GB" sz="1500" dirty="0">
                          <a:effectLst/>
                          <a:latin typeface="Calibri" panose="020F0502020204030204" pitchFamily="34" charset="0"/>
                          <a:cs typeface="Calibri" panose="020F0502020204030204" pitchFamily="34" charset="0"/>
                        </a:rPr>
                        <a:t>Did the goods perish?</a:t>
                      </a:r>
                      <a:endParaRPr lang="en-GB" sz="150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tc>
                  <a:txBody>
                    <a:bodyPr/>
                    <a:lstStyle/>
                    <a:p>
                      <a:r>
                        <a:rPr lang="en-GB" sz="1500" b="1" dirty="0">
                          <a:effectLst/>
                          <a:latin typeface="Calibri" panose="020F0502020204030204" pitchFamily="34" charset="0"/>
                          <a:ea typeface="Calibri" panose="020F0502020204030204" pitchFamily="34" charset="0"/>
                          <a:cs typeface="Calibri" panose="020F0502020204030204" pitchFamily="34" charset="0"/>
                        </a:rPr>
                        <a:t>Specific Goods: </a:t>
                      </a:r>
                      <a:r>
                        <a:rPr lang="en-GB" sz="1500" b="0" i="1" dirty="0">
                          <a:effectLst/>
                          <a:latin typeface="Calibri" panose="020F0502020204030204" pitchFamily="34" charset="0"/>
                          <a:ea typeface="Calibri" panose="020F0502020204030204" pitchFamily="34" charset="0"/>
                          <a:cs typeface="Calibri" panose="020F0502020204030204" pitchFamily="34" charset="0"/>
                        </a:rPr>
                        <a:t>Barrow Lane</a:t>
                      </a:r>
                      <a:r>
                        <a:rPr lang="en-GB" sz="1500" b="0" i="0" dirty="0">
                          <a:effectLst/>
                          <a:latin typeface="Calibri" panose="020F0502020204030204" pitchFamily="34" charset="0"/>
                          <a:ea typeface="Calibri" panose="020F0502020204030204" pitchFamily="34" charset="0"/>
                          <a:cs typeface="Calibri" panose="020F0502020204030204" pitchFamily="34" charset="0"/>
                        </a:rPr>
                        <a:t>,</a:t>
                      </a:r>
                      <a:r>
                        <a:rPr lang="en-GB" sz="1500" b="0" i="1" dirty="0">
                          <a:effectLst/>
                          <a:latin typeface="Calibri" panose="020F0502020204030204" pitchFamily="34" charset="0"/>
                          <a:ea typeface="Calibri" panose="020F0502020204030204" pitchFamily="34" charset="0"/>
                          <a:cs typeface="Calibri" panose="020F0502020204030204" pitchFamily="34" charset="0"/>
                        </a:rPr>
                        <a:t> </a:t>
                      </a:r>
                      <a:r>
                        <a:rPr lang="en-GB" sz="1500" b="0" i="1" dirty="0" err="1">
                          <a:effectLst/>
                          <a:latin typeface="Calibri" panose="020F0502020204030204" pitchFamily="34" charset="0"/>
                          <a:ea typeface="Calibri" panose="020F0502020204030204" pitchFamily="34" charset="0"/>
                          <a:cs typeface="Calibri" panose="020F0502020204030204" pitchFamily="34" charset="0"/>
                        </a:rPr>
                        <a:t>Asfar</a:t>
                      </a:r>
                      <a:r>
                        <a:rPr lang="en-GB" sz="1500" b="0" i="1" dirty="0">
                          <a:effectLst/>
                          <a:latin typeface="Calibri" panose="020F0502020204030204" pitchFamily="34" charset="0"/>
                          <a:ea typeface="Calibri" panose="020F0502020204030204" pitchFamily="34" charset="0"/>
                          <a:cs typeface="Calibri" panose="020F0502020204030204" pitchFamily="34" charset="0"/>
                        </a:rPr>
                        <a:t> v Blundell</a:t>
                      </a:r>
                    </a:p>
                    <a:p>
                      <a:endParaRPr lang="en-GB" sz="1500" b="1" dirty="0">
                        <a:effectLst/>
                        <a:latin typeface="Calibri" panose="020F0502020204030204" pitchFamily="34" charset="0"/>
                        <a:ea typeface="Calibri" panose="020F0502020204030204" pitchFamily="34" charset="0"/>
                        <a:cs typeface="Calibri" panose="020F0502020204030204" pitchFamily="34" charset="0"/>
                      </a:endParaRPr>
                    </a:p>
                    <a:p>
                      <a:r>
                        <a:rPr lang="en-GB" sz="1500" b="1" dirty="0">
                          <a:effectLst/>
                          <a:latin typeface="Calibri" panose="020F0502020204030204" pitchFamily="34" charset="0"/>
                          <a:ea typeface="Calibri" panose="020F0502020204030204" pitchFamily="34" charset="0"/>
                          <a:cs typeface="Calibri" panose="020F0502020204030204" pitchFamily="34" charset="0"/>
                        </a:rPr>
                        <a:t>Unascertained Good</a:t>
                      </a:r>
                      <a:r>
                        <a:rPr lang="en-GB" sz="1500" dirty="0">
                          <a:effectLst/>
                          <a:latin typeface="Calibri" panose="020F0502020204030204" pitchFamily="34" charset="0"/>
                          <a:ea typeface="Calibri" panose="020F0502020204030204" pitchFamily="34" charset="0"/>
                          <a:cs typeface="Calibri" panose="020F0502020204030204" pitchFamily="34" charset="0"/>
                        </a:rPr>
                        <a:t>s: </a:t>
                      </a:r>
                      <a:r>
                        <a:rPr lang="en-GB" sz="1500" i="1" kern="1200" dirty="0" err="1">
                          <a:solidFill>
                            <a:schemeClr val="dk1"/>
                          </a:solidFill>
                          <a:effectLst/>
                          <a:latin typeface="Calibri" panose="020F0502020204030204" pitchFamily="34" charset="0"/>
                          <a:ea typeface="+mn-ea"/>
                          <a:cs typeface="Calibri" panose="020F0502020204030204" pitchFamily="34" charset="0"/>
                        </a:rPr>
                        <a:t>Intertradex</a:t>
                      </a:r>
                      <a:r>
                        <a:rPr lang="en-GB" sz="1500" i="1" kern="1200" dirty="0">
                          <a:solidFill>
                            <a:schemeClr val="dk1"/>
                          </a:solidFill>
                          <a:effectLst/>
                          <a:latin typeface="Calibri" panose="020F0502020204030204" pitchFamily="34" charset="0"/>
                          <a:ea typeface="+mn-ea"/>
                          <a:cs typeface="Calibri" panose="020F0502020204030204" pitchFamily="34" charset="0"/>
                        </a:rPr>
                        <a:t> SA v </a:t>
                      </a:r>
                      <a:r>
                        <a:rPr lang="en-GB" sz="1500" i="1" kern="1200" dirty="0" err="1">
                          <a:solidFill>
                            <a:schemeClr val="dk1"/>
                          </a:solidFill>
                          <a:effectLst/>
                          <a:latin typeface="Calibri" panose="020F0502020204030204" pitchFamily="34" charset="0"/>
                          <a:ea typeface="+mn-ea"/>
                          <a:cs typeface="Calibri" panose="020F0502020204030204" pitchFamily="34" charset="0"/>
                        </a:rPr>
                        <a:t>Lesieur-Tourteaux</a:t>
                      </a:r>
                      <a:r>
                        <a:rPr lang="en-GB" sz="1500" i="1" kern="1200" dirty="0">
                          <a:solidFill>
                            <a:schemeClr val="dk1"/>
                          </a:solidFill>
                          <a:effectLst/>
                          <a:latin typeface="Calibri" panose="020F0502020204030204" pitchFamily="34" charset="0"/>
                          <a:ea typeface="+mn-ea"/>
                          <a:cs typeface="Calibri" panose="020F0502020204030204" pitchFamily="34" charset="0"/>
                        </a:rPr>
                        <a:t> </a:t>
                      </a:r>
                      <a:r>
                        <a:rPr lang="en-GB" sz="1500" i="0" kern="1200" dirty="0">
                          <a:solidFill>
                            <a:schemeClr val="dk1"/>
                          </a:solidFill>
                          <a:effectLst/>
                          <a:latin typeface="Calibri" panose="020F0502020204030204" pitchFamily="34" charset="0"/>
                          <a:ea typeface="+mn-ea"/>
                          <a:cs typeface="Calibri" panose="020F0502020204030204" pitchFamily="34" charset="0"/>
                        </a:rPr>
                        <a:t>(contract for the sale of groundnut could not be fulfilled because seller’s own supplier unable to deliver) and also </a:t>
                      </a:r>
                      <a:r>
                        <a:rPr lang="en-GB" sz="1500" i="1" kern="1200" dirty="0">
                          <a:solidFill>
                            <a:schemeClr val="dk1"/>
                          </a:solidFill>
                          <a:effectLst/>
                          <a:latin typeface="Calibri" panose="020F0502020204030204" pitchFamily="34" charset="0"/>
                          <a:ea typeface="+mn-ea"/>
                          <a:cs typeface="Calibri" panose="020F0502020204030204" pitchFamily="34" charset="0"/>
                        </a:rPr>
                        <a:t>Howell v Coupland.</a:t>
                      </a:r>
                      <a:endParaRPr lang="en-GB" sz="1500" i="1"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tc>
                  <a:txBody>
                    <a:bodyPr/>
                    <a:lstStyle/>
                    <a:p>
                      <a:pPr>
                        <a:spcAft>
                          <a:spcPts val="0"/>
                        </a:spcAft>
                      </a:pPr>
                      <a:r>
                        <a:rPr lang="en-GB" sz="1500" b="1" dirty="0">
                          <a:effectLst/>
                          <a:latin typeface="Calibri" panose="020F0502020204030204" pitchFamily="34" charset="0"/>
                          <a:ea typeface="Calibri" panose="020F0502020204030204" pitchFamily="34" charset="0"/>
                          <a:cs typeface="Calibri" panose="020F0502020204030204" pitchFamily="34" charset="0"/>
                        </a:rPr>
                        <a:t>Specific Goods: </a:t>
                      </a:r>
                      <a:r>
                        <a:rPr lang="en-GB" sz="1500" i="1" dirty="0">
                          <a:effectLst/>
                          <a:latin typeface="Calibri" panose="020F0502020204030204" pitchFamily="34" charset="0"/>
                          <a:ea typeface="Calibri" panose="020F0502020204030204" pitchFamily="34" charset="0"/>
                          <a:cs typeface="Calibri" panose="020F0502020204030204" pitchFamily="34" charset="0"/>
                        </a:rPr>
                        <a:t>Re Shipton Anderson </a:t>
                      </a:r>
                      <a:r>
                        <a:rPr lang="en-GB" sz="1500" i="0" dirty="0">
                          <a:effectLst/>
                          <a:latin typeface="Calibri" panose="020F0502020204030204" pitchFamily="34" charset="0"/>
                          <a:ea typeface="Calibri" panose="020F0502020204030204" pitchFamily="34" charset="0"/>
                          <a:cs typeface="Calibri" panose="020F0502020204030204" pitchFamily="34" charset="0"/>
                        </a:rPr>
                        <a:t>(specific parcel of wheat was lawfully requisitioned by government prior to delivery – the contract was frustrated</a:t>
                      </a:r>
                      <a:r>
                        <a:rPr lang="en-GB" sz="1500" b="0" i="0" dirty="0">
                          <a:effectLst/>
                          <a:latin typeface="Calibri" panose="020F0502020204030204" pitchFamily="34" charset="0"/>
                          <a:ea typeface="Calibri" panose="020F0502020204030204" pitchFamily="34" charset="0"/>
                          <a:cs typeface="Calibri" panose="020F0502020204030204" pitchFamily="34" charset="0"/>
                        </a:rPr>
                        <a:t>.), </a:t>
                      </a:r>
                      <a:r>
                        <a:rPr lang="en-GB" sz="1500" b="0" i="1" dirty="0">
                          <a:effectLst/>
                          <a:latin typeface="Calibri" panose="020F0502020204030204" pitchFamily="34" charset="0"/>
                          <a:ea typeface="Calibri" panose="020F0502020204030204" pitchFamily="34" charset="0"/>
                          <a:cs typeface="Calibri" panose="020F0502020204030204" pitchFamily="34" charset="0"/>
                        </a:rPr>
                        <a:t>Sainsbury v Street</a:t>
                      </a:r>
                    </a:p>
                    <a:p>
                      <a:pPr>
                        <a:spcAft>
                          <a:spcPts val="0"/>
                        </a:spcAft>
                      </a:pPr>
                      <a:r>
                        <a:rPr lang="en-GB" sz="1500" b="1" dirty="0">
                          <a:effectLst/>
                          <a:latin typeface="Calibri" panose="020F0502020204030204" pitchFamily="34" charset="0"/>
                          <a:ea typeface="Calibri" panose="020F0502020204030204" pitchFamily="34" charset="0"/>
                          <a:cs typeface="Calibri" panose="020F0502020204030204" pitchFamily="34" charset="0"/>
                        </a:rPr>
                        <a:t>Unascertained goods</a:t>
                      </a:r>
                      <a:r>
                        <a:rPr lang="en-GB" sz="1500" dirty="0">
                          <a:effectLst/>
                          <a:latin typeface="Calibri" panose="020F0502020204030204" pitchFamily="34" charset="0"/>
                          <a:ea typeface="Calibri" panose="020F0502020204030204" pitchFamily="34" charset="0"/>
                          <a:cs typeface="Calibri" panose="020F0502020204030204" pitchFamily="34" charset="0"/>
                        </a:rPr>
                        <a:t>: </a:t>
                      </a:r>
                      <a:r>
                        <a:rPr lang="en-GB" sz="1500" i="1" kern="1200" dirty="0">
                          <a:solidFill>
                            <a:schemeClr val="dk1"/>
                          </a:solidFill>
                          <a:effectLst/>
                          <a:latin typeface="Calibri" panose="020F0502020204030204" pitchFamily="34" charset="0"/>
                          <a:ea typeface="+mn-ea"/>
                          <a:cs typeface="Calibri" panose="020F0502020204030204" pitchFamily="34" charset="0"/>
                        </a:rPr>
                        <a:t>CTI Group Inc </a:t>
                      </a:r>
                      <a:r>
                        <a:rPr lang="en-GB" sz="1500" kern="1200" dirty="0">
                          <a:solidFill>
                            <a:schemeClr val="dk1"/>
                          </a:solidFill>
                          <a:effectLst/>
                          <a:latin typeface="Calibri" panose="020F0502020204030204" pitchFamily="34" charset="0"/>
                          <a:ea typeface="+mn-ea"/>
                          <a:cs typeface="Calibri" panose="020F0502020204030204" pitchFamily="34" charset="0"/>
                        </a:rPr>
                        <a:t>v</a:t>
                      </a:r>
                      <a:r>
                        <a:rPr lang="en-GB" sz="1500" i="1" kern="1200" dirty="0">
                          <a:solidFill>
                            <a:schemeClr val="dk1"/>
                          </a:solidFill>
                          <a:effectLst/>
                          <a:latin typeface="Calibri" panose="020F0502020204030204" pitchFamily="34" charset="0"/>
                          <a:ea typeface="+mn-ea"/>
                          <a:cs typeface="Calibri" panose="020F0502020204030204" pitchFamily="34" charset="0"/>
                        </a:rPr>
                        <a:t> </a:t>
                      </a:r>
                      <a:r>
                        <a:rPr lang="en-GB" sz="1500" i="1" kern="1200" dirty="0" err="1">
                          <a:solidFill>
                            <a:schemeClr val="dk1"/>
                          </a:solidFill>
                          <a:effectLst/>
                          <a:latin typeface="Calibri" panose="020F0502020204030204" pitchFamily="34" charset="0"/>
                          <a:ea typeface="+mn-ea"/>
                          <a:cs typeface="Calibri" panose="020F0502020204030204" pitchFamily="34" charset="0"/>
                        </a:rPr>
                        <a:t>Transclear</a:t>
                      </a:r>
                      <a:r>
                        <a:rPr lang="en-GB" sz="1500" i="1" kern="1200" dirty="0">
                          <a:solidFill>
                            <a:schemeClr val="dk1"/>
                          </a:solidFill>
                          <a:effectLst/>
                          <a:latin typeface="Calibri" panose="020F0502020204030204" pitchFamily="34" charset="0"/>
                          <a:ea typeface="+mn-ea"/>
                          <a:cs typeface="Calibri" panose="020F0502020204030204" pitchFamily="34" charset="0"/>
                        </a:rPr>
                        <a:t> SA </a:t>
                      </a:r>
                      <a:r>
                        <a:rPr lang="en-GB" sz="1500" i="0" kern="1200" dirty="0">
                          <a:solidFill>
                            <a:schemeClr val="dk1"/>
                          </a:solidFill>
                          <a:effectLst/>
                          <a:latin typeface="Calibri" panose="020F0502020204030204" pitchFamily="34" charset="0"/>
                          <a:ea typeface="+mn-ea"/>
                          <a:cs typeface="Calibri" panose="020F0502020204030204" pitchFamily="34" charset="0"/>
                        </a:rPr>
                        <a:t>(buyer’s competitor preventing seller from procuring cement to provide to buyer was not sufficient to frustrate the contract), </a:t>
                      </a:r>
                      <a:r>
                        <a:rPr lang="en-GB" sz="1500" i="1" kern="1200" dirty="0">
                          <a:solidFill>
                            <a:schemeClr val="dk1"/>
                          </a:solidFill>
                          <a:effectLst/>
                          <a:latin typeface="Calibri" panose="020F0502020204030204" pitchFamily="34" charset="0"/>
                          <a:ea typeface="+mn-ea"/>
                          <a:cs typeface="Calibri" panose="020F0502020204030204" pitchFamily="34" charset="0"/>
                        </a:rPr>
                        <a:t>Re </a:t>
                      </a:r>
                      <a:r>
                        <a:rPr lang="en-GB" sz="1500" i="1" kern="1200" dirty="0" err="1">
                          <a:solidFill>
                            <a:schemeClr val="dk1"/>
                          </a:solidFill>
                          <a:effectLst/>
                          <a:latin typeface="Calibri" panose="020F0502020204030204" pitchFamily="34" charset="0"/>
                          <a:ea typeface="+mn-ea"/>
                          <a:cs typeface="Calibri" panose="020F0502020204030204" pitchFamily="34" charset="0"/>
                        </a:rPr>
                        <a:t>Badisc</a:t>
                      </a:r>
                      <a:r>
                        <a:rPr lang="en-GB" sz="1500" i="0" kern="1200" dirty="0" err="1">
                          <a:solidFill>
                            <a:schemeClr val="dk1"/>
                          </a:solidFill>
                          <a:effectLst/>
                          <a:latin typeface="Calibri" panose="020F0502020204030204" pitchFamily="34" charset="0"/>
                          <a:ea typeface="+mn-ea"/>
                          <a:cs typeface="Calibri" panose="020F0502020204030204" pitchFamily="34" charset="0"/>
                        </a:rPr>
                        <a:t>he</a:t>
                      </a:r>
                      <a:r>
                        <a:rPr lang="en-GB" sz="1500" i="0" kern="1200" dirty="0">
                          <a:solidFill>
                            <a:schemeClr val="dk1"/>
                          </a:solidFill>
                          <a:effectLst/>
                          <a:latin typeface="Calibri" panose="020F0502020204030204" pitchFamily="34" charset="0"/>
                          <a:ea typeface="+mn-ea"/>
                          <a:cs typeface="Calibri" panose="020F0502020204030204" pitchFamily="34" charset="0"/>
                        </a:rPr>
                        <a:t> (contract for German manufactured dye was frustrated with the outbreak of WWI)</a:t>
                      </a:r>
                      <a:endParaRPr lang="en-GB" sz="1500" i="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extLst>
                  <a:ext uri="{0D108BD9-81ED-4DB2-BD59-A6C34878D82A}">
                    <a16:rowId xmlns:a16="http://schemas.microsoft.com/office/drawing/2014/main" val="1908551226"/>
                  </a:ext>
                </a:extLst>
              </a:tr>
              <a:tr h="1958149">
                <a:tc>
                  <a:txBody>
                    <a:bodyPr/>
                    <a:lstStyle/>
                    <a:p>
                      <a:pPr>
                        <a:spcAft>
                          <a:spcPts val="0"/>
                        </a:spcAft>
                      </a:pPr>
                      <a:r>
                        <a:rPr lang="en-GB" sz="1500" dirty="0">
                          <a:effectLst/>
                          <a:latin typeface="Calibri" panose="020F0502020204030204" pitchFamily="34" charset="0"/>
                          <a:cs typeface="Calibri" panose="020F0502020204030204" pitchFamily="34" charset="0"/>
                        </a:rPr>
                        <a:t>When did the frustrating event (i.e. the goods having perished) take place?</a:t>
                      </a:r>
                      <a:endParaRPr lang="en-GB" sz="150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tc>
                  <a:txBody>
                    <a:bodyPr/>
                    <a:lstStyle/>
                    <a:p>
                      <a:pPr>
                        <a:spcAft>
                          <a:spcPts val="0"/>
                        </a:spcAft>
                      </a:pPr>
                      <a:r>
                        <a:rPr lang="en-GB" sz="1500" dirty="0">
                          <a:effectLst/>
                          <a:latin typeface="Calibri" panose="020F0502020204030204" pitchFamily="34" charset="0"/>
                          <a:ea typeface="Calibri" panose="020F0502020204030204" pitchFamily="34" charset="0"/>
                          <a:cs typeface="Calibri" panose="020F0502020204030204" pitchFamily="34" charset="0"/>
                        </a:rPr>
                        <a:t>The law will depend on what the parties have agreed:</a:t>
                      </a:r>
                    </a:p>
                    <a:p>
                      <a:pPr marL="342900" indent="-342900">
                        <a:spcAft>
                          <a:spcPts val="0"/>
                        </a:spcAft>
                        <a:buAutoNum type="alphaLcParenR"/>
                      </a:pPr>
                      <a:r>
                        <a:rPr lang="en-GB" sz="1500" dirty="0">
                          <a:effectLst/>
                          <a:latin typeface="Calibri" panose="020F0502020204030204" pitchFamily="34" charset="0"/>
                          <a:ea typeface="Calibri" panose="020F0502020204030204" pitchFamily="34" charset="0"/>
                          <a:cs typeface="Calibri" panose="020F0502020204030204" pitchFamily="34" charset="0"/>
                        </a:rPr>
                        <a:t>Has the seller </a:t>
                      </a:r>
                      <a:r>
                        <a:rPr lang="en-GB" sz="1500" b="1" dirty="0">
                          <a:effectLst/>
                          <a:latin typeface="Calibri" panose="020F0502020204030204" pitchFamily="34" charset="0"/>
                          <a:ea typeface="Calibri" panose="020F0502020204030204" pitchFamily="34" charset="0"/>
                          <a:cs typeface="Calibri" panose="020F0502020204030204" pitchFamily="34" charset="0"/>
                        </a:rPr>
                        <a:t>promised</a:t>
                      </a:r>
                      <a:r>
                        <a:rPr lang="en-GB" sz="1500" dirty="0">
                          <a:effectLst/>
                          <a:latin typeface="Calibri" panose="020F0502020204030204" pitchFamily="34" charset="0"/>
                          <a:ea typeface="Calibri" panose="020F0502020204030204" pitchFamily="34" charset="0"/>
                          <a:cs typeface="Calibri" panose="020F0502020204030204" pitchFamily="34" charset="0"/>
                        </a:rPr>
                        <a:t> the goods exist?</a:t>
                      </a:r>
                    </a:p>
                    <a:p>
                      <a:pPr marL="342900" indent="-342900">
                        <a:spcAft>
                          <a:spcPts val="0"/>
                        </a:spcAft>
                        <a:buAutoNum type="alphaLcParenR"/>
                      </a:pPr>
                      <a:r>
                        <a:rPr lang="en-GB" sz="1500" dirty="0">
                          <a:effectLst/>
                          <a:latin typeface="Calibri" panose="020F0502020204030204" pitchFamily="34" charset="0"/>
                          <a:ea typeface="Calibri" panose="020F0502020204030204" pitchFamily="34" charset="0"/>
                          <a:cs typeface="Calibri" panose="020F0502020204030204" pitchFamily="34" charset="0"/>
                        </a:rPr>
                        <a:t>Has the buyer </a:t>
                      </a:r>
                      <a:r>
                        <a:rPr lang="en-GB" sz="1500" b="1" dirty="0">
                          <a:effectLst/>
                          <a:latin typeface="Calibri" panose="020F0502020204030204" pitchFamily="34" charset="0"/>
                          <a:ea typeface="Calibri" panose="020F0502020204030204" pitchFamily="34" charset="0"/>
                          <a:cs typeface="Calibri" panose="020F0502020204030204" pitchFamily="34" charset="0"/>
                        </a:rPr>
                        <a:t>taken the chance </a:t>
                      </a:r>
                      <a:r>
                        <a:rPr lang="en-GB" sz="1500" b="0" dirty="0">
                          <a:effectLst/>
                          <a:latin typeface="Calibri" panose="020F0502020204030204" pitchFamily="34" charset="0"/>
                          <a:ea typeface="Calibri" panose="020F0502020204030204" pitchFamily="34" charset="0"/>
                          <a:cs typeface="Calibri" panose="020F0502020204030204" pitchFamily="34" charset="0"/>
                        </a:rPr>
                        <a:t>that the goods do not exist</a:t>
                      </a:r>
                      <a:r>
                        <a:rPr lang="en-GB" sz="1500" dirty="0">
                          <a:effectLst/>
                          <a:latin typeface="Calibri" panose="020F0502020204030204" pitchFamily="34" charset="0"/>
                          <a:ea typeface="Calibri" panose="020F0502020204030204" pitchFamily="34" charset="0"/>
                          <a:cs typeface="Calibri" panose="020F0502020204030204" pitchFamily="34" charset="0"/>
                        </a:rPr>
                        <a:t>?</a:t>
                      </a:r>
                    </a:p>
                    <a:p>
                      <a:pPr marL="342900" indent="-342900">
                        <a:spcAft>
                          <a:spcPts val="0"/>
                        </a:spcAft>
                        <a:buAutoNum type="alphaLcParenR"/>
                      </a:pPr>
                      <a:r>
                        <a:rPr lang="en-GB" sz="1500" dirty="0">
                          <a:effectLst/>
                          <a:latin typeface="Calibri" panose="020F0502020204030204" pitchFamily="34" charset="0"/>
                          <a:ea typeface="Calibri" panose="020F0502020204030204" pitchFamily="34" charset="0"/>
                          <a:cs typeface="Calibri" panose="020F0502020204030204" pitchFamily="34" charset="0"/>
                        </a:rPr>
                        <a:t>Was the existence of the goods a </a:t>
                      </a:r>
                      <a:r>
                        <a:rPr lang="en-GB" sz="1500" b="1" dirty="0">
                          <a:effectLst/>
                          <a:latin typeface="Calibri" panose="020F0502020204030204" pitchFamily="34" charset="0"/>
                          <a:ea typeface="Calibri" panose="020F0502020204030204" pitchFamily="34" charset="0"/>
                          <a:cs typeface="Calibri" panose="020F0502020204030204" pitchFamily="34" charset="0"/>
                        </a:rPr>
                        <a:t>condition precedent</a:t>
                      </a:r>
                      <a:r>
                        <a:rPr lang="en-GB" sz="1500" dirty="0">
                          <a:effectLst/>
                          <a:latin typeface="Calibri" panose="020F0502020204030204" pitchFamily="34" charset="0"/>
                          <a:ea typeface="Calibri" panose="020F0502020204030204" pitchFamily="34" charset="0"/>
                          <a:cs typeface="Calibri" panose="020F0502020204030204" pitchFamily="34" charset="0"/>
                        </a:rPr>
                        <a:t> of the contract?</a:t>
                      </a:r>
                    </a:p>
                    <a:p>
                      <a:pPr marL="342900" indent="-342900">
                        <a:spcAft>
                          <a:spcPts val="0"/>
                        </a:spcAft>
                        <a:buAutoNum type="alphaLcParenR"/>
                      </a:pPr>
                      <a:r>
                        <a:rPr lang="en-GB" sz="1500" dirty="0">
                          <a:effectLst/>
                          <a:latin typeface="Calibri" panose="020F0502020204030204" pitchFamily="34" charset="0"/>
                          <a:ea typeface="Calibri" panose="020F0502020204030204" pitchFamily="34" charset="0"/>
                          <a:cs typeface="Calibri" panose="020F0502020204030204" pitchFamily="34" charset="0"/>
                        </a:rPr>
                        <a:t>Did the buyer assume the existence of the goods and did that assumption go to the heart of the contract?</a:t>
                      </a:r>
                    </a:p>
                  </a:txBody>
                  <a:tcPr marL="67990" marR="67990" marT="0" marB="0" anchor="ctr"/>
                </a:tc>
                <a:tc>
                  <a:txBody>
                    <a:bodyPr/>
                    <a:lstStyle/>
                    <a:p>
                      <a:pPr>
                        <a:spcAft>
                          <a:spcPts val="0"/>
                        </a:spcAft>
                      </a:pPr>
                      <a:r>
                        <a:rPr lang="en-GB" sz="1500" dirty="0">
                          <a:effectLst/>
                          <a:latin typeface="Calibri" panose="020F0502020204030204" pitchFamily="34" charset="0"/>
                          <a:ea typeface="Calibri" panose="020F0502020204030204" pitchFamily="34" charset="0"/>
                          <a:cs typeface="Calibri" panose="020F0502020204030204" pitchFamily="34" charset="0"/>
                        </a:rPr>
                        <a:t>The law will depend on the facts and what the parties have agreed:</a:t>
                      </a:r>
                    </a:p>
                    <a:p>
                      <a:pPr marL="342900" indent="-342900">
                        <a:spcAft>
                          <a:spcPts val="0"/>
                        </a:spcAft>
                        <a:buAutoNum type="alphaLcParenR"/>
                      </a:pPr>
                      <a:r>
                        <a:rPr lang="en-GB" sz="1500" dirty="0">
                          <a:effectLst/>
                          <a:latin typeface="Calibri" panose="020F0502020204030204" pitchFamily="34" charset="0"/>
                          <a:ea typeface="Calibri" panose="020F0502020204030204" pitchFamily="34" charset="0"/>
                          <a:cs typeface="Calibri" panose="020F0502020204030204" pitchFamily="34" charset="0"/>
                        </a:rPr>
                        <a:t>The frustrating event must have rendered the contract impossible to perform, or substantially different to what was originally contemplated.</a:t>
                      </a:r>
                    </a:p>
                    <a:p>
                      <a:pPr marL="342900" indent="-342900">
                        <a:spcAft>
                          <a:spcPts val="0"/>
                        </a:spcAft>
                        <a:buAutoNum type="alphaLcParenR"/>
                      </a:pPr>
                      <a:r>
                        <a:rPr lang="en-GB" sz="1500" dirty="0">
                          <a:effectLst/>
                          <a:latin typeface="Calibri" panose="020F0502020204030204" pitchFamily="34" charset="0"/>
                          <a:ea typeface="Calibri" panose="020F0502020204030204" pitchFamily="34" charset="0"/>
                          <a:cs typeface="Calibri" panose="020F0502020204030204" pitchFamily="34" charset="0"/>
                        </a:rPr>
                        <a:t>Neither party must be responsible for the frustrating event</a:t>
                      </a:r>
                    </a:p>
                  </a:txBody>
                  <a:tcPr marL="67990" marR="67990" marT="0" marB="0" anchor="ctr"/>
                </a:tc>
                <a:extLst>
                  <a:ext uri="{0D108BD9-81ED-4DB2-BD59-A6C34878D82A}">
                    <a16:rowId xmlns:a16="http://schemas.microsoft.com/office/drawing/2014/main" val="3283310437"/>
                  </a:ext>
                </a:extLst>
              </a:tr>
              <a:tr h="2198887">
                <a:tc>
                  <a:txBody>
                    <a:bodyPr/>
                    <a:lstStyle/>
                    <a:p>
                      <a:pPr>
                        <a:spcAft>
                          <a:spcPts val="0"/>
                        </a:spcAft>
                      </a:pPr>
                      <a:r>
                        <a:rPr lang="en-GB" sz="1500" dirty="0">
                          <a:effectLst/>
                          <a:latin typeface="Calibri" panose="020F0502020204030204" pitchFamily="34" charset="0"/>
                          <a:cs typeface="Calibri" panose="020F0502020204030204" pitchFamily="34" charset="0"/>
                        </a:rPr>
                        <a:t>What is the effect of the law?</a:t>
                      </a:r>
                      <a:endParaRPr lang="en-GB" sz="150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tc>
                  <a:txBody>
                    <a:bodyPr/>
                    <a:lstStyle/>
                    <a:p>
                      <a:pPr>
                        <a:spcAft>
                          <a:spcPts val="0"/>
                        </a:spcAft>
                      </a:pPr>
                      <a:r>
                        <a:rPr lang="en-GB" sz="1500" dirty="0">
                          <a:effectLst/>
                          <a:latin typeface="Calibri" panose="020F0502020204030204" pitchFamily="34" charset="0"/>
                          <a:ea typeface="Calibri" panose="020F0502020204030204" pitchFamily="34" charset="0"/>
                          <a:cs typeface="Calibri" panose="020F0502020204030204" pitchFamily="34" charset="0"/>
                        </a:rPr>
                        <a:t>With regard to the 4 possibilities identified above:</a:t>
                      </a:r>
                    </a:p>
                    <a:p>
                      <a:pPr marL="342900" indent="-342900">
                        <a:spcAft>
                          <a:spcPts val="0"/>
                        </a:spcAft>
                        <a:buAutoNum type="alphaLcParenR"/>
                      </a:pPr>
                      <a:r>
                        <a:rPr lang="en-GB" sz="1500" dirty="0">
                          <a:effectLst/>
                          <a:latin typeface="Calibri" panose="020F0502020204030204" pitchFamily="34" charset="0"/>
                          <a:ea typeface="Calibri" panose="020F0502020204030204" pitchFamily="34" charset="0"/>
                          <a:cs typeface="Calibri" panose="020F0502020204030204" pitchFamily="34" charset="0"/>
                        </a:rPr>
                        <a:t>The seller will be liable for breach of contract (non-delivery) </a:t>
                      </a:r>
                      <a:r>
                        <a:rPr lang="en-GB" sz="1500" i="1" dirty="0">
                          <a:effectLst/>
                          <a:latin typeface="Calibri" panose="020F0502020204030204" pitchFamily="34" charset="0"/>
                          <a:ea typeface="Calibri" panose="020F0502020204030204" pitchFamily="34" charset="0"/>
                          <a:cs typeface="Calibri" panose="020F0502020204030204" pitchFamily="34" charset="0"/>
                        </a:rPr>
                        <a:t>– McRae v </a:t>
                      </a:r>
                      <a:r>
                        <a:rPr lang="en-GB" sz="1500" i="1" kern="1200" dirty="0">
                          <a:solidFill>
                            <a:schemeClr val="dk1"/>
                          </a:solidFill>
                          <a:effectLst/>
                          <a:latin typeface="Calibri" panose="020F0502020204030204" pitchFamily="34" charset="0"/>
                          <a:ea typeface="+mn-ea"/>
                          <a:cs typeface="Calibri" panose="020F0502020204030204" pitchFamily="34" charset="0"/>
                        </a:rPr>
                        <a:t>Commonwealth Disposals</a:t>
                      </a:r>
                    </a:p>
                    <a:p>
                      <a:pPr marL="342900" indent="-342900">
                        <a:spcAft>
                          <a:spcPts val="0"/>
                        </a:spcAft>
                        <a:buAutoNum type="alphaLcParenR"/>
                      </a:pPr>
                      <a:r>
                        <a:rPr lang="en-GB" sz="1500" i="0" kern="1200" dirty="0">
                          <a:solidFill>
                            <a:schemeClr val="dk1"/>
                          </a:solidFill>
                          <a:effectLst/>
                          <a:latin typeface="Calibri" panose="020F0502020204030204" pitchFamily="34" charset="0"/>
                          <a:ea typeface="+mn-ea"/>
                          <a:cs typeface="Calibri" panose="020F0502020204030204" pitchFamily="34" charset="0"/>
                        </a:rPr>
                        <a:t>The buyer will be liable for the price – </a:t>
                      </a:r>
                      <a:r>
                        <a:rPr lang="en-GB" sz="1500" i="1" kern="1200" dirty="0">
                          <a:solidFill>
                            <a:schemeClr val="dk1"/>
                          </a:solidFill>
                          <a:effectLst/>
                          <a:latin typeface="Calibri" panose="020F0502020204030204" pitchFamily="34" charset="0"/>
                          <a:ea typeface="+mn-ea"/>
                          <a:cs typeface="Calibri" panose="020F0502020204030204" pitchFamily="34" charset="0"/>
                        </a:rPr>
                        <a:t>Couturier v Hastie</a:t>
                      </a:r>
                    </a:p>
                    <a:p>
                      <a:pPr marL="342900" indent="-342900">
                        <a:spcAft>
                          <a:spcPts val="0"/>
                        </a:spcAft>
                        <a:buAutoNum type="alphaLcParenR"/>
                      </a:pPr>
                      <a:r>
                        <a:rPr lang="en-GB" sz="1500" i="0" kern="1200" dirty="0">
                          <a:solidFill>
                            <a:schemeClr val="dk1"/>
                          </a:solidFill>
                          <a:effectLst/>
                          <a:latin typeface="Calibri" panose="020F0502020204030204" pitchFamily="34" charset="0"/>
                          <a:ea typeface="+mn-ea"/>
                          <a:cs typeface="Calibri" panose="020F0502020204030204" pitchFamily="34" charset="0"/>
                        </a:rPr>
                        <a:t>The contract is void for common mistake – </a:t>
                      </a:r>
                      <a:r>
                        <a:rPr lang="en-GB" sz="1500" i="1" kern="1200" dirty="0">
                          <a:solidFill>
                            <a:schemeClr val="dk1"/>
                          </a:solidFill>
                          <a:effectLst/>
                          <a:latin typeface="Calibri" panose="020F0502020204030204" pitchFamily="34" charset="0"/>
                          <a:ea typeface="+mn-ea"/>
                          <a:cs typeface="Calibri" panose="020F0502020204030204" pitchFamily="34" charset="0"/>
                        </a:rPr>
                        <a:t>Associated Japanese Bank v Credit du Nord</a:t>
                      </a:r>
                    </a:p>
                    <a:p>
                      <a:pPr marL="342900" indent="-342900">
                        <a:spcAft>
                          <a:spcPts val="0"/>
                        </a:spcAft>
                        <a:buAutoNum type="alphaLcParenR"/>
                      </a:pPr>
                      <a:r>
                        <a:rPr lang="en-GB" sz="1500" i="0" kern="1200" dirty="0">
                          <a:solidFill>
                            <a:schemeClr val="dk1"/>
                          </a:solidFill>
                          <a:effectLst/>
                          <a:latin typeface="Calibri" panose="020F0502020204030204" pitchFamily="34" charset="0"/>
                          <a:ea typeface="+mn-ea"/>
                          <a:cs typeface="Calibri" panose="020F0502020204030204" pitchFamily="34" charset="0"/>
                        </a:rPr>
                        <a:t>The contract is void for unilateral mistake – </a:t>
                      </a:r>
                      <a:r>
                        <a:rPr lang="en-GB" sz="1500" i="1" kern="1200" dirty="0">
                          <a:solidFill>
                            <a:schemeClr val="dk1"/>
                          </a:solidFill>
                          <a:effectLst/>
                          <a:latin typeface="Calibri" panose="020F0502020204030204" pitchFamily="34" charset="0"/>
                          <a:ea typeface="+mn-ea"/>
                          <a:cs typeface="Calibri" panose="020F0502020204030204" pitchFamily="34" charset="0"/>
                        </a:rPr>
                        <a:t>Bell v Lever Bros</a:t>
                      </a:r>
                    </a:p>
                    <a:p>
                      <a:pPr marL="342900" indent="-342900">
                        <a:spcAft>
                          <a:spcPts val="0"/>
                        </a:spcAft>
                        <a:buAutoNum type="alphaLcParenR"/>
                      </a:pPr>
                      <a:endParaRPr lang="en-GB" sz="150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tc>
                  <a:txBody>
                    <a:bodyPr/>
                    <a:lstStyle/>
                    <a:p>
                      <a:pPr lvl="0"/>
                      <a:r>
                        <a:rPr lang="en-GB" sz="1500" i="0" dirty="0">
                          <a:effectLst/>
                          <a:latin typeface="Calibri" panose="020F0502020204030204" pitchFamily="34" charset="0"/>
                          <a:ea typeface="Calibri" panose="020F0502020204030204" pitchFamily="34" charset="0"/>
                          <a:cs typeface="Calibri" panose="020F0502020204030204" pitchFamily="34" charset="0"/>
                        </a:rPr>
                        <a:t>The </a:t>
                      </a:r>
                      <a:r>
                        <a:rPr lang="en-GB" sz="1500" b="1" i="0" dirty="0">
                          <a:effectLst/>
                          <a:latin typeface="Calibri" panose="020F0502020204030204" pitchFamily="34" charset="0"/>
                          <a:ea typeface="Calibri" panose="020F0502020204030204" pitchFamily="34" charset="0"/>
                          <a:cs typeface="Calibri" panose="020F0502020204030204" pitchFamily="34" charset="0"/>
                        </a:rPr>
                        <a:t>Sale of Goods (Frustrated Contracts) Act 1943, ss. 1(2) and 1(3):</a:t>
                      </a:r>
                      <a:r>
                        <a:rPr lang="en-GB" sz="1500" kern="1200" dirty="0">
                          <a:solidFill>
                            <a:schemeClr val="dk1"/>
                          </a:solidFill>
                          <a:effectLst/>
                          <a:latin typeface="+mn-lt"/>
                          <a:ea typeface="+mn-ea"/>
                          <a:cs typeface="+mn-cs"/>
                        </a:rPr>
                        <a:t> </a:t>
                      </a:r>
                    </a:p>
                    <a:p>
                      <a:pPr marL="342900" lvl="0" indent="-342900">
                        <a:buAutoNum type="alphaLcParenR"/>
                      </a:pPr>
                      <a:r>
                        <a:rPr lang="en-GB" sz="1500" kern="1200" dirty="0">
                          <a:solidFill>
                            <a:schemeClr val="dk1"/>
                          </a:solidFill>
                          <a:effectLst/>
                          <a:latin typeface="+mn-lt"/>
                          <a:ea typeface="+mn-ea"/>
                          <a:cs typeface="+mn-cs"/>
                        </a:rPr>
                        <a:t>Payments made may be recovered even where there is only a partial failure of consideration</a:t>
                      </a:r>
                    </a:p>
                    <a:p>
                      <a:pPr marL="342900" lvl="0" indent="-342900">
                        <a:buAutoNum type="alphaLcParenR"/>
                      </a:pPr>
                      <a:r>
                        <a:rPr lang="en-GB" sz="1500" kern="1200" dirty="0">
                          <a:solidFill>
                            <a:schemeClr val="dk1"/>
                          </a:solidFill>
                          <a:effectLst/>
                          <a:latin typeface="+mn-lt"/>
                          <a:ea typeface="+mn-ea"/>
                          <a:cs typeface="+mn-cs"/>
                        </a:rPr>
                        <a:t>However, seller may retain part or all of these sums if he has incurred expenses in performance of the contract</a:t>
                      </a:r>
                    </a:p>
                    <a:p>
                      <a:pPr marL="342900" lvl="0" indent="-342900">
                        <a:buAutoNum type="alphaLcParenR"/>
                      </a:pPr>
                      <a:r>
                        <a:rPr lang="en-GB" sz="1500" kern="1200" dirty="0">
                          <a:solidFill>
                            <a:schemeClr val="dk1"/>
                          </a:solidFill>
                          <a:effectLst/>
                          <a:latin typeface="+mn-lt"/>
                          <a:ea typeface="+mn-ea"/>
                          <a:cs typeface="+mn-cs"/>
                        </a:rPr>
                        <a:t>a party may recover payment, where the other party has obtained a valuable benefit under the contract.</a:t>
                      </a:r>
                      <a:r>
                        <a:rPr lang="en-GB" sz="1500" dirty="0">
                          <a:effectLst/>
                        </a:rPr>
                        <a:t> </a:t>
                      </a:r>
                      <a:endParaRPr lang="en-GB" sz="1500" i="0" dirty="0">
                        <a:effectLst/>
                        <a:latin typeface="Calibri" panose="020F0502020204030204" pitchFamily="34" charset="0"/>
                        <a:ea typeface="Calibri" panose="020F0502020204030204" pitchFamily="34" charset="0"/>
                        <a:cs typeface="Calibri" panose="020F0502020204030204" pitchFamily="34" charset="0"/>
                      </a:endParaRPr>
                    </a:p>
                  </a:txBody>
                  <a:tcPr marL="67990" marR="67990" marT="0" marB="0" anchor="ctr"/>
                </a:tc>
                <a:extLst>
                  <a:ext uri="{0D108BD9-81ED-4DB2-BD59-A6C34878D82A}">
                    <a16:rowId xmlns:a16="http://schemas.microsoft.com/office/drawing/2014/main" val="193308703"/>
                  </a:ext>
                </a:extLst>
              </a:tr>
            </a:tbl>
          </a:graphicData>
        </a:graphic>
      </p:graphicFrame>
    </p:spTree>
    <p:extLst>
      <p:ext uri="{BB962C8B-B14F-4D97-AF65-F5344CB8AC3E}">
        <p14:creationId xmlns:p14="http://schemas.microsoft.com/office/powerpoint/2010/main" val="29996285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586A6-6210-9F45-B14C-10EA6C641938}"/>
              </a:ext>
            </a:extLst>
          </p:cNvPr>
          <p:cNvSpPr>
            <a:spLocks noGrp="1"/>
          </p:cNvSpPr>
          <p:nvPr>
            <p:ph type="title"/>
          </p:nvPr>
        </p:nvSpPr>
        <p:spPr/>
        <p:txBody>
          <a:bodyPr/>
          <a:lstStyle/>
          <a:p>
            <a:r>
              <a:rPr lang="en-US" b="1" dirty="0"/>
              <a:t>The </a:t>
            </a:r>
            <a:r>
              <a:rPr lang="en-US" b="1" i="1" dirty="0"/>
              <a:t>Nemo Dat </a:t>
            </a:r>
            <a:r>
              <a:rPr lang="en-US" b="1" dirty="0"/>
              <a:t>rule and its exceptions</a:t>
            </a:r>
          </a:p>
        </p:txBody>
      </p:sp>
      <p:sp>
        <p:nvSpPr>
          <p:cNvPr id="3" name="Content Placeholder 2">
            <a:extLst>
              <a:ext uri="{FF2B5EF4-FFF2-40B4-BE49-F238E27FC236}">
                <a16:creationId xmlns:a16="http://schemas.microsoft.com/office/drawing/2014/main" id="{90FA403E-6B02-854B-BA4E-438AE27AFD8A}"/>
              </a:ext>
            </a:extLst>
          </p:cNvPr>
          <p:cNvSpPr>
            <a:spLocks noGrp="1"/>
          </p:cNvSpPr>
          <p:nvPr>
            <p:ph idx="1"/>
          </p:nvPr>
        </p:nvSpPr>
        <p:spPr>
          <a:xfrm>
            <a:off x="838200" y="1825625"/>
            <a:ext cx="10515600" cy="4351338"/>
          </a:xfrm>
        </p:spPr>
        <p:txBody>
          <a:bodyPr>
            <a:normAutofit lnSpcReduction="10000"/>
          </a:bodyPr>
          <a:lstStyle/>
          <a:p>
            <a:pPr marL="0" indent="0">
              <a:buNone/>
            </a:pPr>
            <a:r>
              <a:rPr lang="en-US" dirty="0"/>
              <a:t>Crucial questions:</a:t>
            </a:r>
          </a:p>
          <a:p>
            <a:pPr marL="0" indent="0">
              <a:buNone/>
            </a:pPr>
            <a:endParaRPr lang="en-US" dirty="0"/>
          </a:p>
          <a:p>
            <a:r>
              <a:rPr lang="en-US" dirty="0"/>
              <a:t>Who benefits from the Nemo </a:t>
            </a:r>
            <a:r>
              <a:rPr lang="en-US" dirty="0" err="1"/>
              <a:t>dat</a:t>
            </a:r>
            <a:r>
              <a:rPr lang="en-US" dirty="0"/>
              <a:t> rule? </a:t>
            </a:r>
          </a:p>
          <a:p>
            <a:r>
              <a:rPr lang="en-US" dirty="0"/>
              <a:t>Who benefits from the exceptions? </a:t>
            </a:r>
          </a:p>
          <a:p>
            <a:pPr marL="0" indent="0">
              <a:buNone/>
            </a:pPr>
            <a:endParaRPr lang="en-US" dirty="0"/>
          </a:p>
          <a:p>
            <a:pPr marL="0" indent="0">
              <a:buNone/>
            </a:pPr>
            <a:r>
              <a:rPr lang="en-US" dirty="0"/>
              <a:t>In a problem question, identifying </a:t>
            </a:r>
            <a:r>
              <a:rPr lang="en-US" b="1" dirty="0"/>
              <a:t>the relevant parties </a:t>
            </a:r>
            <a:r>
              <a:rPr lang="en-US" dirty="0"/>
              <a:t>in the dispute will shape your argument and therefore your answer, because depending on whom you are advising, you have to </a:t>
            </a:r>
            <a:r>
              <a:rPr lang="en-US" b="1" dirty="0"/>
              <a:t>anticipate</a:t>
            </a:r>
            <a:r>
              <a:rPr lang="en-US" dirty="0"/>
              <a:t> the other party’s response.</a:t>
            </a:r>
          </a:p>
          <a:p>
            <a:pPr marL="0" indent="0">
              <a:buNone/>
            </a:pPr>
            <a:r>
              <a:rPr lang="en-US" dirty="0"/>
              <a:t> </a:t>
            </a:r>
          </a:p>
          <a:p>
            <a:endParaRPr lang="en-US" dirty="0"/>
          </a:p>
        </p:txBody>
      </p:sp>
      <p:pic>
        <p:nvPicPr>
          <p:cNvPr id="9218" name="Picture 2" descr="Image result for elephant pictures cartoon">
            <a:hlinkClick r:id="rId2"/>
          </p:cNvPr>
          <p:cNvPicPr>
            <a:picLocks noChangeAspect="1" noChangeArrowheads="1"/>
          </p:cNvPicPr>
          <p:nvPr/>
        </p:nvPicPr>
        <p:blipFill>
          <a:blip r:embed="rId3"/>
          <a:srcRect/>
          <a:stretch>
            <a:fillRect/>
          </a:stretch>
        </p:blipFill>
        <p:spPr bwMode="auto">
          <a:xfrm>
            <a:off x="9727087" y="158750"/>
            <a:ext cx="2238375" cy="1666875"/>
          </a:xfrm>
          <a:prstGeom prst="rect">
            <a:avLst/>
          </a:prstGeom>
          <a:noFill/>
        </p:spPr>
      </p:pic>
      <p:pic>
        <p:nvPicPr>
          <p:cNvPr id="5" name="Picture 2" descr="Image result for four leaf clover emoji">
            <a:hlinkClick r:id="rId4"/>
          </p:cNvPr>
          <p:cNvPicPr>
            <a:picLocks noChangeAspect="1" noChangeArrowheads="1"/>
          </p:cNvPicPr>
          <p:nvPr/>
        </p:nvPicPr>
        <p:blipFill>
          <a:blip r:embed="rId5"/>
          <a:srcRect/>
          <a:stretch>
            <a:fillRect/>
          </a:stretch>
        </p:blipFill>
        <p:spPr bwMode="auto">
          <a:xfrm>
            <a:off x="0" y="5593148"/>
            <a:ext cx="1591294" cy="1264851"/>
          </a:xfrm>
          <a:prstGeom prst="rect">
            <a:avLst/>
          </a:prstGeom>
          <a:noFill/>
        </p:spPr>
      </p:pic>
    </p:spTree>
    <p:extLst>
      <p:ext uri="{BB962C8B-B14F-4D97-AF65-F5344CB8AC3E}">
        <p14:creationId xmlns:p14="http://schemas.microsoft.com/office/powerpoint/2010/main" val="20260722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i="1" dirty="0" err="1"/>
              <a:t>Estoppel</a:t>
            </a:r>
            <a:endParaRPr lang="en-GB" b="1" i="1" dirty="0"/>
          </a:p>
        </p:txBody>
      </p:sp>
      <p:sp>
        <p:nvSpPr>
          <p:cNvPr id="3" name="Content Placeholder 2"/>
          <p:cNvSpPr>
            <a:spLocks noGrp="1"/>
          </p:cNvSpPr>
          <p:nvPr>
            <p:ph idx="1"/>
          </p:nvPr>
        </p:nvSpPr>
        <p:spPr/>
        <p:txBody>
          <a:bodyPr>
            <a:normAutofit fontScale="92500" lnSpcReduction="10000"/>
          </a:bodyPr>
          <a:lstStyle/>
          <a:p>
            <a:r>
              <a:rPr lang="en-GB" b="1" dirty="0"/>
              <a:t>S.21</a:t>
            </a:r>
            <a:r>
              <a:rPr lang="en-GB" dirty="0"/>
              <a:t> – the basis of the exceptions to the </a:t>
            </a:r>
            <a:r>
              <a:rPr lang="en-GB" dirty="0" err="1"/>
              <a:t>nemo</a:t>
            </a:r>
            <a:r>
              <a:rPr lang="en-GB" dirty="0"/>
              <a:t> </a:t>
            </a:r>
            <a:r>
              <a:rPr lang="en-GB" dirty="0" err="1"/>
              <a:t>dat</a:t>
            </a:r>
            <a:r>
              <a:rPr lang="en-GB" dirty="0"/>
              <a:t> rule</a:t>
            </a:r>
          </a:p>
          <a:p>
            <a:r>
              <a:rPr lang="en-GB" dirty="0"/>
              <a:t>Where an </a:t>
            </a:r>
            <a:r>
              <a:rPr lang="en-GB" dirty="0" err="1"/>
              <a:t>estoppel</a:t>
            </a:r>
            <a:r>
              <a:rPr lang="en-GB" dirty="0"/>
              <a:t> is raised the original owner is </a:t>
            </a:r>
            <a:r>
              <a:rPr lang="en-GB" dirty="0" err="1"/>
              <a:t>estopped</a:t>
            </a:r>
            <a:r>
              <a:rPr lang="en-GB" dirty="0"/>
              <a:t> (precluded) from asserting that the sale was unauthorised </a:t>
            </a:r>
            <a:r>
              <a:rPr lang="en-GB" dirty="0">
                <a:sym typeface="Wingdings" pitchFamily="2" charset="2"/>
              </a:rPr>
              <a:t> the unauthorised sale takes effect as if it was authorised i.e. it transfers ownership to the buyer in the ordinary way</a:t>
            </a:r>
          </a:p>
          <a:p>
            <a:r>
              <a:rPr lang="en-GB" dirty="0">
                <a:sym typeface="Wingdings" pitchFamily="2" charset="2"/>
              </a:rPr>
              <a:t>2 types:</a:t>
            </a:r>
          </a:p>
          <a:p>
            <a:pPr>
              <a:buNone/>
            </a:pPr>
            <a:r>
              <a:rPr lang="en-GB" dirty="0">
                <a:sym typeface="Wingdings" pitchFamily="2" charset="2"/>
              </a:rPr>
              <a:t>	(1) By representation (one of fact, unambiguous, acted upon and voluntary):  </a:t>
            </a:r>
            <a:r>
              <a:rPr lang="en-GB" i="1" dirty="0">
                <a:sym typeface="Wingdings" pitchFamily="2" charset="2"/>
              </a:rPr>
              <a:t>Eastern Distributors v </a:t>
            </a:r>
            <a:r>
              <a:rPr lang="en-GB" i="1" dirty="0" err="1">
                <a:sym typeface="Wingdings" pitchFamily="2" charset="2"/>
              </a:rPr>
              <a:t>Goldring</a:t>
            </a:r>
            <a:r>
              <a:rPr lang="en-GB" i="1" dirty="0">
                <a:sym typeface="Wingdings" pitchFamily="2" charset="2"/>
              </a:rPr>
              <a:t> </a:t>
            </a:r>
            <a:r>
              <a:rPr lang="en-GB" dirty="0">
                <a:sym typeface="Wingdings" pitchFamily="2" charset="2"/>
              </a:rPr>
              <a:t>(</a:t>
            </a:r>
            <a:r>
              <a:rPr lang="en-GB" dirty="0" err="1">
                <a:sym typeface="Wingdings" pitchFamily="2" charset="2"/>
              </a:rPr>
              <a:t>estoppel</a:t>
            </a:r>
            <a:r>
              <a:rPr lang="en-GB" dirty="0">
                <a:sym typeface="Wingdings" pitchFamily="2" charset="2"/>
              </a:rPr>
              <a:t> succeeded), </a:t>
            </a:r>
            <a:r>
              <a:rPr lang="en-GB" i="1" dirty="0" err="1">
                <a:sym typeface="Wingdings" pitchFamily="2" charset="2"/>
              </a:rPr>
              <a:t>Farquharson</a:t>
            </a:r>
            <a:r>
              <a:rPr lang="en-GB" i="1" dirty="0">
                <a:sym typeface="Wingdings" pitchFamily="2" charset="2"/>
              </a:rPr>
              <a:t> Bros v King </a:t>
            </a:r>
            <a:r>
              <a:rPr lang="en-GB" dirty="0">
                <a:sym typeface="Wingdings" pitchFamily="2" charset="2"/>
              </a:rPr>
              <a:t>(must act on the representation)</a:t>
            </a:r>
          </a:p>
          <a:p>
            <a:pPr>
              <a:buNone/>
            </a:pPr>
            <a:r>
              <a:rPr lang="en-GB" dirty="0">
                <a:sym typeface="Wingdings" pitchFamily="2" charset="2"/>
              </a:rPr>
              <a:t>	(2)  By negligence:  </a:t>
            </a:r>
            <a:r>
              <a:rPr lang="en-GB" i="1" dirty="0">
                <a:sym typeface="Wingdings" pitchFamily="2" charset="2"/>
              </a:rPr>
              <a:t>Mercantile Credit v Hamblin </a:t>
            </a:r>
            <a:r>
              <a:rPr lang="en-GB" dirty="0">
                <a:sym typeface="Wingdings" pitchFamily="2" charset="2"/>
              </a:rPr>
              <a:t>(</a:t>
            </a:r>
            <a:r>
              <a:rPr lang="en-GB" dirty="0" err="1">
                <a:sym typeface="Wingdings" pitchFamily="2" charset="2"/>
              </a:rPr>
              <a:t>estoppel</a:t>
            </a:r>
            <a:r>
              <a:rPr lang="en-GB" dirty="0">
                <a:sym typeface="Wingdings" pitchFamily="2" charset="2"/>
              </a:rPr>
              <a:t> failed), </a:t>
            </a:r>
            <a:r>
              <a:rPr lang="en-GB" i="1" dirty="0">
                <a:sym typeface="Wingdings" pitchFamily="2" charset="2"/>
              </a:rPr>
              <a:t>Moorgate</a:t>
            </a:r>
            <a:r>
              <a:rPr lang="en-GB" dirty="0">
                <a:sym typeface="Wingdings" pitchFamily="2" charset="2"/>
              </a:rPr>
              <a:t> </a:t>
            </a:r>
            <a:r>
              <a:rPr lang="en-GB" i="1" dirty="0">
                <a:sym typeface="Wingdings" pitchFamily="2" charset="2"/>
              </a:rPr>
              <a:t>Mercantile v </a:t>
            </a:r>
            <a:r>
              <a:rPr lang="en-GB" i="1" dirty="0" err="1">
                <a:sym typeface="Wingdings" pitchFamily="2" charset="2"/>
              </a:rPr>
              <a:t>Twitchings</a:t>
            </a:r>
            <a:r>
              <a:rPr lang="en-GB" dirty="0">
                <a:sym typeface="Wingdings" pitchFamily="2" charset="2"/>
              </a:rPr>
              <a:t> (a duty of care is required).</a:t>
            </a:r>
            <a:endParaRPr lang="en-GB" dirty="0"/>
          </a:p>
          <a:p>
            <a:endParaRPr lang="en-GB" dirty="0"/>
          </a:p>
        </p:txBody>
      </p:sp>
      <p:pic>
        <p:nvPicPr>
          <p:cNvPr id="2050" name="Picture 2" descr="Image result for elephant pictures cartoon">
            <a:hlinkClick r:id="rId2"/>
          </p:cNvPr>
          <p:cNvPicPr>
            <a:picLocks noChangeAspect="1" noChangeArrowheads="1"/>
          </p:cNvPicPr>
          <p:nvPr/>
        </p:nvPicPr>
        <p:blipFill>
          <a:blip r:embed="rId3"/>
          <a:srcRect/>
          <a:stretch>
            <a:fillRect/>
          </a:stretch>
        </p:blipFill>
        <p:spPr bwMode="auto">
          <a:xfrm>
            <a:off x="155575" y="33337"/>
            <a:ext cx="2238375" cy="1666875"/>
          </a:xfrm>
          <a:prstGeom prst="rect">
            <a:avLst/>
          </a:prstGeom>
          <a:noFill/>
        </p:spPr>
      </p:pic>
      <p:pic>
        <p:nvPicPr>
          <p:cNvPr id="2052" name="Picture 4" descr="Image result for elephant pictures cartoon">
            <a:hlinkClick r:id="rId2"/>
          </p:cNvPr>
          <p:cNvPicPr>
            <a:picLocks noChangeAspect="1" noChangeArrowheads="1"/>
          </p:cNvPicPr>
          <p:nvPr/>
        </p:nvPicPr>
        <p:blipFill>
          <a:blip r:embed="rId3"/>
          <a:srcRect/>
          <a:stretch>
            <a:fillRect/>
          </a:stretch>
        </p:blipFill>
        <p:spPr bwMode="auto">
          <a:xfrm>
            <a:off x="9608334" y="158750"/>
            <a:ext cx="2238375" cy="1666875"/>
          </a:xfrm>
          <a:prstGeom prst="rect">
            <a:avLst/>
          </a:prstGeom>
          <a:noFill/>
        </p:spPr>
      </p:pic>
      <p:pic>
        <p:nvPicPr>
          <p:cNvPr id="6" name="Picture 2" descr="Image result for four leaf clover emoji">
            <a:hlinkClick r:id="rId4"/>
          </p:cNvPr>
          <p:cNvPicPr>
            <a:picLocks noChangeAspect="1" noChangeArrowheads="1"/>
          </p:cNvPicPr>
          <p:nvPr/>
        </p:nvPicPr>
        <p:blipFill>
          <a:blip r:embed="rId5"/>
          <a:srcRect/>
          <a:stretch>
            <a:fillRect/>
          </a:stretch>
        </p:blipFill>
        <p:spPr bwMode="auto">
          <a:xfrm>
            <a:off x="0" y="6014766"/>
            <a:ext cx="1033153" cy="843234"/>
          </a:xfrm>
          <a:prstGeom prst="rect">
            <a:avLst/>
          </a:prstGeom>
          <a:noFill/>
        </p:spPr>
      </p:pic>
      <p:pic>
        <p:nvPicPr>
          <p:cNvPr id="7" name="Picture 2" descr="Image result for four leaf clover emoji">
            <a:hlinkClick r:id="rId4"/>
          </p:cNvPr>
          <p:cNvPicPr>
            <a:picLocks noChangeAspect="1" noChangeArrowheads="1"/>
          </p:cNvPicPr>
          <p:nvPr/>
        </p:nvPicPr>
        <p:blipFill>
          <a:blip r:embed="rId5"/>
          <a:srcRect/>
          <a:stretch>
            <a:fillRect/>
          </a:stretch>
        </p:blipFill>
        <p:spPr bwMode="auto">
          <a:xfrm>
            <a:off x="10999519" y="6014766"/>
            <a:ext cx="1033153" cy="843234"/>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AA5EBC4-D82C-844B-8AAC-BC79F467CA21}"/>
              </a:ext>
            </a:extLst>
          </p:cNvPr>
          <p:cNvGraphicFramePr>
            <a:graphicFrameLocks noGrp="1"/>
          </p:cNvGraphicFramePr>
          <p:nvPr>
            <p:ph idx="1"/>
            <p:extLst>
              <p:ext uri="{D42A27DB-BD31-4B8C-83A1-F6EECF244321}">
                <p14:modId xmlns:p14="http://schemas.microsoft.com/office/powerpoint/2010/main" val="3025924308"/>
              </p:ext>
            </p:extLst>
          </p:nvPr>
        </p:nvGraphicFramePr>
        <p:xfrm>
          <a:off x="0" y="0"/>
          <a:ext cx="12192000" cy="6858001"/>
        </p:xfrm>
        <a:graphic>
          <a:graphicData uri="http://schemas.openxmlformats.org/drawingml/2006/table">
            <a:tbl>
              <a:tblPr firstRow="1" firstCol="1" bandRow="1">
                <a:tableStyleId>{5C22544A-7EE6-4342-B048-85BDC9FD1C3A}</a:tableStyleId>
              </a:tblPr>
              <a:tblGrid>
                <a:gridCol w="1363018">
                  <a:extLst>
                    <a:ext uri="{9D8B030D-6E8A-4147-A177-3AD203B41FA5}">
                      <a16:colId xmlns:a16="http://schemas.microsoft.com/office/drawing/2014/main" val="1967900714"/>
                    </a:ext>
                  </a:extLst>
                </a:gridCol>
                <a:gridCol w="1035408">
                  <a:extLst>
                    <a:ext uri="{9D8B030D-6E8A-4147-A177-3AD203B41FA5}">
                      <a16:colId xmlns:a16="http://schemas.microsoft.com/office/drawing/2014/main" val="1693273724"/>
                    </a:ext>
                  </a:extLst>
                </a:gridCol>
                <a:gridCol w="1104191">
                  <a:extLst>
                    <a:ext uri="{9D8B030D-6E8A-4147-A177-3AD203B41FA5}">
                      <a16:colId xmlns:a16="http://schemas.microsoft.com/office/drawing/2014/main" val="45769685"/>
                    </a:ext>
                  </a:extLst>
                </a:gridCol>
                <a:gridCol w="8689383">
                  <a:extLst>
                    <a:ext uri="{9D8B030D-6E8A-4147-A177-3AD203B41FA5}">
                      <a16:colId xmlns:a16="http://schemas.microsoft.com/office/drawing/2014/main" val="4178315521"/>
                    </a:ext>
                  </a:extLst>
                </a:gridCol>
              </a:tblGrid>
              <a:tr h="317916">
                <a:tc rowSpan="2">
                  <a:txBody>
                    <a:bodyPr/>
                    <a:lstStyle/>
                    <a:p>
                      <a:pPr algn="ctr">
                        <a:spcAft>
                          <a:spcPts val="0"/>
                        </a:spcAft>
                      </a:pPr>
                      <a:r>
                        <a:rPr lang="en-GB" sz="1800" dirty="0">
                          <a:effectLst/>
                        </a:rPr>
                        <a:t>Legal Basis for Action/ Defence: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gridSpan="2">
                  <a:txBody>
                    <a:bodyPr/>
                    <a:lstStyle/>
                    <a:p>
                      <a:pPr algn="ctr">
                        <a:spcAft>
                          <a:spcPts val="0"/>
                        </a:spcAft>
                      </a:pPr>
                      <a:r>
                        <a:rPr lang="en-GB" sz="1800" dirty="0">
                          <a:effectLst/>
                        </a:rPr>
                        <a:t>Party relying on it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hMerge="1">
                  <a:txBody>
                    <a:bodyPr/>
                    <a:lstStyle/>
                    <a:p>
                      <a:endParaRPr lang="en-US"/>
                    </a:p>
                  </a:txBody>
                  <a:tcPr/>
                </a:tc>
                <a:tc rowSpan="2">
                  <a:txBody>
                    <a:bodyPr/>
                    <a:lstStyle/>
                    <a:p>
                      <a:pPr algn="ctr">
                        <a:spcAft>
                          <a:spcPts val="0"/>
                        </a:spcAft>
                      </a:pPr>
                      <a:r>
                        <a:rPr lang="en-GB" sz="1800" dirty="0">
                          <a:effectLst/>
                        </a:rPr>
                        <a:t>Application (what we need to demonstrate):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extLst>
                  <a:ext uri="{0D108BD9-81ED-4DB2-BD59-A6C34878D82A}">
                    <a16:rowId xmlns:a16="http://schemas.microsoft.com/office/drawing/2014/main" val="3837878428"/>
                  </a:ext>
                </a:extLst>
              </a:tr>
              <a:tr h="635830">
                <a:tc vMerge="1">
                  <a:txBody>
                    <a:bodyPr/>
                    <a:lstStyle/>
                    <a:p>
                      <a:endParaRPr lang="en-US"/>
                    </a:p>
                  </a:txBody>
                  <a:tcPr/>
                </a:tc>
                <a:tc>
                  <a:txBody>
                    <a:bodyPr/>
                    <a:lstStyle/>
                    <a:p>
                      <a:pPr algn="ctr">
                        <a:spcAft>
                          <a:spcPts val="0"/>
                        </a:spcAft>
                      </a:pPr>
                      <a:r>
                        <a:rPr lang="en-GB" sz="1800" dirty="0">
                          <a:effectLst/>
                        </a:rPr>
                        <a:t>Original Owner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800" dirty="0">
                          <a:effectLst/>
                        </a:rPr>
                        <a:t>End Buyer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vMerge="1">
                  <a:txBody>
                    <a:bodyPr/>
                    <a:lstStyle/>
                    <a:p>
                      <a:endParaRPr lang="en-US"/>
                    </a:p>
                  </a:txBody>
                  <a:tcPr/>
                </a:tc>
                <a:extLst>
                  <a:ext uri="{0D108BD9-81ED-4DB2-BD59-A6C34878D82A}">
                    <a16:rowId xmlns:a16="http://schemas.microsoft.com/office/drawing/2014/main" val="1869625444"/>
                  </a:ext>
                </a:extLst>
              </a:tr>
              <a:tr h="741731">
                <a:tc>
                  <a:txBody>
                    <a:bodyPr/>
                    <a:lstStyle/>
                    <a:p>
                      <a:pPr algn="ctr">
                        <a:spcAft>
                          <a:spcPts val="0"/>
                        </a:spcAft>
                      </a:pPr>
                      <a:r>
                        <a:rPr lang="en-GB" sz="1600">
                          <a:effectLst/>
                        </a:rPr>
                        <a:t>Nemo dat Rule (s.21 SGA 1979)</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dirty="0">
                          <a:effectLst/>
                        </a:rPr>
                        <a:t>x</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tc>
                  <a:txBody>
                    <a:bodyPr/>
                    <a:lstStyle/>
                    <a:p>
                      <a:pPr algn="ctr">
                        <a:spcAft>
                          <a:spcPts val="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tc>
                  <a:txBody>
                    <a:bodyPr/>
                    <a:lstStyle/>
                    <a:p>
                      <a:pPr algn="ctr">
                        <a:spcAft>
                          <a:spcPts val="0"/>
                        </a:spcAft>
                      </a:pPr>
                      <a:r>
                        <a:rPr lang="en-GB" sz="1600" dirty="0">
                          <a:effectLst/>
                        </a:rPr>
                        <a:t>Original owner simply demonstrates better title than End Buyer</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extLst>
                  <a:ext uri="{0D108BD9-81ED-4DB2-BD59-A6C34878D82A}">
                    <a16:rowId xmlns:a16="http://schemas.microsoft.com/office/drawing/2014/main" val="2633638088"/>
                  </a:ext>
                </a:extLst>
              </a:tr>
              <a:tr h="1755515">
                <a:tc>
                  <a:txBody>
                    <a:bodyPr/>
                    <a:lstStyle/>
                    <a:p>
                      <a:pPr algn="ctr">
                        <a:spcAft>
                          <a:spcPts val="0"/>
                        </a:spcAft>
                      </a:pPr>
                      <a:r>
                        <a:rPr lang="en-GB" sz="1600" dirty="0">
                          <a:effectLst/>
                        </a:rPr>
                        <a:t>Sale pursuant to court-mandated power of sale (s.21(2)(b) SGA 1979)</a:t>
                      </a:r>
                    </a:p>
                    <a:p>
                      <a:pPr algn="ctr">
                        <a:spcAft>
                          <a:spcPts val="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a:effectLst/>
                        </a:rPr>
                        <a:t> </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a:effectLst/>
                        </a:rPr>
                        <a:t>x</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dirty="0">
                          <a:effectLst/>
                        </a:rPr>
                        <a:t>End Buyer simply produces the court order (this applies generally to foreclosures)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extLst>
                  <a:ext uri="{0D108BD9-81ED-4DB2-BD59-A6C34878D82A}">
                    <a16:rowId xmlns:a16="http://schemas.microsoft.com/office/drawing/2014/main" val="2592778438"/>
                  </a:ext>
                </a:extLst>
              </a:tr>
              <a:tr h="3407009">
                <a:tc>
                  <a:txBody>
                    <a:bodyPr/>
                    <a:lstStyle/>
                    <a:p>
                      <a:pPr algn="ctr">
                        <a:spcAft>
                          <a:spcPts val="0"/>
                        </a:spcAft>
                      </a:pPr>
                      <a:r>
                        <a:rPr lang="en-GB" sz="1600" dirty="0">
                          <a:effectLst/>
                        </a:rPr>
                        <a:t>Sale by Mercantile Agent (s.2 FA 1889)</a:t>
                      </a:r>
                    </a:p>
                    <a:p>
                      <a:pPr algn="ctr">
                        <a:spcAft>
                          <a:spcPts val="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tc>
                  <a:txBody>
                    <a:bodyPr/>
                    <a:lstStyle/>
                    <a:p>
                      <a:pPr algn="ctr">
                        <a:spcAft>
                          <a:spcPts val="0"/>
                        </a:spcAft>
                      </a:pPr>
                      <a:r>
                        <a:rPr lang="en-GB" sz="1600" dirty="0">
                          <a:effectLst/>
                        </a:rPr>
                        <a:t>x</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tc>
                  <a:txBody>
                    <a:bodyPr/>
                    <a:lstStyle/>
                    <a:p>
                      <a:pPr marL="342900" lvl="0" indent="-342900">
                        <a:spcAft>
                          <a:spcPts val="0"/>
                        </a:spcAft>
                        <a:buFont typeface="+mj-lt"/>
                        <a:buAutoNum type="alphaLcParenR"/>
                      </a:pPr>
                      <a:r>
                        <a:rPr lang="en-GB" sz="1600" b="1" dirty="0">
                          <a:effectLst/>
                        </a:rPr>
                        <a:t>‘Mercantile agent’</a:t>
                      </a:r>
                      <a:r>
                        <a:rPr lang="en-GB" sz="1600" dirty="0">
                          <a:effectLst/>
                        </a:rPr>
                        <a:t> – defined in s.1 and see </a:t>
                      </a:r>
                      <a:r>
                        <a:rPr lang="en-GB" sz="1600" i="1" dirty="0">
                          <a:effectLst/>
                        </a:rPr>
                        <a:t>Weiner v Harris </a:t>
                      </a:r>
                      <a:r>
                        <a:rPr lang="en-GB" sz="1600" dirty="0">
                          <a:effectLst/>
                        </a:rPr>
                        <a:t>and </a:t>
                      </a:r>
                      <a:r>
                        <a:rPr lang="en-GB" sz="1600" i="1" dirty="0">
                          <a:effectLst/>
                        </a:rPr>
                        <a:t>Lowther v Harris </a:t>
                      </a:r>
                      <a:r>
                        <a:rPr lang="en-GB" sz="1600" dirty="0">
                          <a:effectLst/>
                        </a:rPr>
                        <a:t>for examples from the common law, demonstrating how wide the definition is.</a:t>
                      </a:r>
                    </a:p>
                    <a:p>
                      <a:pPr marL="342900" lvl="0" indent="-342900">
                        <a:spcAft>
                          <a:spcPts val="0"/>
                        </a:spcAft>
                        <a:buFont typeface="+mj-lt"/>
                        <a:buAutoNum type="alphaLcParenR"/>
                      </a:pPr>
                      <a:r>
                        <a:rPr lang="en-GB" sz="1600" dirty="0">
                          <a:effectLst/>
                        </a:rPr>
                        <a:t>Operating in </a:t>
                      </a:r>
                      <a:r>
                        <a:rPr lang="en-GB" sz="1600" b="1" dirty="0">
                          <a:effectLst/>
                        </a:rPr>
                        <a:t>ordinary course of business</a:t>
                      </a:r>
                      <a:r>
                        <a:rPr lang="en-GB" sz="1600" dirty="0">
                          <a:effectLst/>
                        </a:rPr>
                        <a:t> - </a:t>
                      </a:r>
                      <a:r>
                        <a:rPr lang="en-GB" sz="1600" i="1" dirty="0">
                          <a:effectLst/>
                        </a:rPr>
                        <a:t>Astley Industrial Trust v. Miller </a:t>
                      </a:r>
                      <a:r>
                        <a:rPr lang="en-GB" sz="1600" dirty="0">
                          <a:effectLst/>
                        </a:rPr>
                        <a:t>(MA must have consent of original owner to hold goods in some capacity connected with MA’s business), </a:t>
                      </a:r>
                      <a:r>
                        <a:rPr lang="en-GB" sz="1600" i="1" dirty="0">
                          <a:effectLst/>
                        </a:rPr>
                        <a:t>Oppenheimer v Attenborough &amp; Son</a:t>
                      </a:r>
                      <a:r>
                        <a:rPr lang="en-GB" sz="1600" dirty="0">
                          <a:effectLst/>
                        </a:rPr>
                        <a:t> (business hours, at a proper place of business)</a:t>
                      </a:r>
                    </a:p>
                    <a:p>
                      <a:pPr marL="342900" lvl="0" indent="-342900">
                        <a:spcAft>
                          <a:spcPts val="0"/>
                        </a:spcAft>
                        <a:buFont typeface="+mj-lt"/>
                        <a:buAutoNum type="alphaLcParenR"/>
                      </a:pPr>
                      <a:r>
                        <a:rPr lang="en-GB" sz="1600" dirty="0">
                          <a:effectLst/>
                        </a:rPr>
                        <a:t>Has goods with the </a:t>
                      </a:r>
                      <a:r>
                        <a:rPr lang="en-GB" sz="1600" b="1" dirty="0">
                          <a:effectLst/>
                        </a:rPr>
                        <a:t>consent of original owner</a:t>
                      </a:r>
                      <a:r>
                        <a:rPr lang="en-GB" sz="1600" dirty="0">
                          <a:effectLst/>
                        </a:rPr>
                        <a:t>: </a:t>
                      </a:r>
                      <a:r>
                        <a:rPr lang="en-GB" sz="1600" i="1" dirty="0">
                          <a:effectLst/>
                        </a:rPr>
                        <a:t>Pearson v Rose and Young </a:t>
                      </a:r>
                      <a:r>
                        <a:rPr lang="en-GB" sz="1600" dirty="0">
                          <a:effectLst/>
                        </a:rPr>
                        <a:t>(consent obtained by trick is valid. Here, no actual consent on the facts), </a:t>
                      </a:r>
                      <a:r>
                        <a:rPr lang="en-GB" sz="1600" i="1" dirty="0">
                          <a:effectLst/>
                        </a:rPr>
                        <a:t>Stadium Finance v Robbins</a:t>
                      </a:r>
                    </a:p>
                    <a:p>
                      <a:pPr marL="342900" lvl="0" indent="-342900">
                        <a:spcAft>
                          <a:spcPts val="0"/>
                        </a:spcAft>
                        <a:buFont typeface="+mj-lt"/>
                        <a:buAutoNum type="alphaLcParenR"/>
                      </a:pPr>
                      <a:r>
                        <a:rPr lang="en-GB" sz="1600" dirty="0">
                          <a:effectLst/>
                        </a:rPr>
                        <a:t>The end buyer acts in </a:t>
                      </a:r>
                      <a:r>
                        <a:rPr lang="en-GB" sz="1600" b="1" dirty="0">
                          <a:effectLst/>
                        </a:rPr>
                        <a:t>good faith and with no notice of original owner’s claim</a:t>
                      </a:r>
                      <a:r>
                        <a:rPr lang="en-GB" sz="1600" dirty="0">
                          <a:effectLst/>
                        </a:rPr>
                        <a:t>. Note the personal circumstances of the purchaser here will be relevant: are they involved in the MA’s or a similar industry or are they a lay person? </a:t>
                      </a:r>
                      <a:r>
                        <a:rPr lang="en-GB" sz="1600" i="1" dirty="0">
                          <a:effectLst/>
                        </a:rPr>
                        <a:t>Summers v </a:t>
                      </a:r>
                      <a:r>
                        <a:rPr lang="en-GB" sz="1600" i="1" dirty="0" err="1">
                          <a:effectLst/>
                        </a:rPr>
                        <a:t>Havard</a:t>
                      </a:r>
                      <a:r>
                        <a:rPr lang="en-GB" sz="1600" i="1" dirty="0">
                          <a:effectLst/>
                        </a:rPr>
                        <a:t> </a:t>
                      </a:r>
                      <a:r>
                        <a:rPr lang="en-GB" sz="1600" dirty="0">
                          <a:effectLst/>
                        </a:rPr>
                        <a:t>(cars sold to </a:t>
                      </a:r>
                      <a:r>
                        <a:rPr lang="en-GB" sz="1600" u="sng" dirty="0">
                          <a:effectLst/>
                        </a:rPr>
                        <a:t>used car salesman</a:t>
                      </a:r>
                      <a:r>
                        <a:rPr lang="en-GB" sz="1600" u="none" dirty="0">
                          <a:effectLst/>
                        </a:rPr>
                        <a:t> </a:t>
                      </a:r>
                      <a:r>
                        <a:rPr lang="en-GB" sz="1600" dirty="0">
                          <a:effectLst/>
                        </a:rPr>
                        <a:t>at an undervalue should have raised suspicion and therefore buyer was deemed to have notice of defect in seller’s title), and see: </a:t>
                      </a:r>
                      <a:r>
                        <a:rPr lang="en-GB" sz="1600" i="1" dirty="0">
                          <a:effectLst/>
                        </a:rPr>
                        <a:t>Heap v Motorists' Advisory Agency.</a:t>
                      </a:r>
                      <a:endParaRPr lang="en-GB" sz="1600" i="1"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extLst>
                  <a:ext uri="{0D108BD9-81ED-4DB2-BD59-A6C34878D82A}">
                    <a16:rowId xmlns:a16="http://schemas.microsoft.com/office/drawing/2014/main" val="2573045531"/>
                  </a:ext>
                </a:extLst>
              </a:tr>
            </a:tbl>
          </a:graphicData>
        </a:graphic>
      </p:graphicFrame>
    </p:spTree>
    <p:extLst>
      <p:ext uri="{BB962C8B-B14F-4D97-AF65-F5344CB8AC3E}">
        <p14:creationId xmlns:p14="http://schemas.microsoft.com/office/powerpoint/2010/main" val="14660879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ECF3D9FE-5651-8F42-8D83-5E131381B0EF}"/>
              </a:ext>
            </a:extLst>
          </p:cNvPr>
          <p:cNvGraphicFramePr>
            <a:graphicFrameLocks noGrp="1"/>
          </p:cNvGraphicFramePr>
          <p:nvPr>
            <p:extLst>
              <p:ext uri="{D42A27DB-BD31-4B8C-83A1-F6EECF244321}">
                <p14:modId xmlns:p14="http://schemas.microsoft.com/office/powerpoint/2010/main" val="3303120050"/>
              </p:ext>
            </p:extLst>
          </p:nvPr>
        </p:nvGraphicFramePr>
        <p:xfrm>
          <a:off x="0" y="856989"/>
          <a:ext cx="12192000" cy="6114835"/>
        </p:xfrm>
        <a:graphic>
          <a:graphicData uri="http://schemas.openxmlformats.org/drawingml/2006/table">
            <a:tbl>
              <a:tblPr firstRow="1" firstCol="1" bandRow="1">
                <a:tableStyleId>{5C22544A-7EE6-4342-B048-85BDC9FD1C3A}</a:tableStyleId>
              </a:tblPr>
              <a:tblGrid>
                <a:gridCol w="1363018">
                  <a:extLst>
                    <a:ext uri="{9D8B030D-6E8A-4147-A177-3AD203B41FA5}">
                      <a16:colId xmlns:a16="http://schemas.microsoft.com/office/drawing/2014/main" val="572477141"/>
                    </a:ext>
                  </a:extLst>
                </a:gridCol>
                <a:gridCol w="1170320">
                  <a:extLst>
                    <a:ext uri="{9D8B030D-6E8A-4147-A177-3AD203B41FA5}">
                      <a16:colId xmlns:a16="http://schemas.microsoft.com/office/drawing/2014/main" val="3697150404"/>
                    </a:ext>
                  </a:extLst>
                </a:gridCol>
                <a:gridCol w="899411">
                  <a:extLst>
                    <a:ext uri="{9D8B030D-6E8A-4147-A177-3AD203B41FA5}">
                      <a16:colId xmlns:a16="http://schemas.microsoft.com/office/drawing/2014/main" val="3761456111"/>
                    </a:ext>
                  </a:extLst>
                </a:gridCol>
                <a:gridCol w="8759251">
                  <a:extLst>
                    <a:ext uri="{9D8B030D-6E8A-4147-A177-3AD203B41FA5}">
                      <a16:colId xmlns:a16="http://schemas.microsoft.com/office/drawing/2014/main" val="1999729779"/>
                    </a:ext>
                  </a:extLst>
                </a:gridCol>
              </a:tblGrid>
              <a:tr h="2280968">
                <a:tc>
                  <a:txBody>
                    <a:bodyPr/>
                    <a:lstStyle/>
                    <a:p>
                      <a:pPr algn="ctr">
                        <a:spcAft>
                          <a:spcPts val="0"/>
                        </a:spcAft>
                      </a:pPr>
                      <a:r>
                        <a:rPr lang="en-GB" sz="1600" dirty="0">
                          <a:effectLst/>
                        </a:rPr>
                        <a:t>Sale under voidable title (s.23 SGA 1979)</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b="0" dirty="0">
                          <a:solidFill>
                            <a:schemeClr val="tx1"/>
                          </a:solidFill>
                          <a:effectLst/>
                        </a:rPr>
                        <a:t>x</a:t>
                      </a:r>
                      <a:endParaRPr lang="en-GB" sz="1600" b="0" dirty="0">
                        <a:solidFill>
                          <a:schemeClr val="tx1"/>
                        </a:solidFill>
                        <a:effectLst/>
                        <a:latin typeface="Calibri" panose="020F0502020204030204" pitchFamily="34" charset="0"/>
                        <a:ea typeface="+mn-ea"/>
                        <a:cs typeface="Times New Roman" panose="02020603050405020304" pitchFamily="18" charset="0"/>
                      </a:endParaRPr>
                    </a:p>
                  </a:txBody>
                  <a:tcPr marL="13086" marR="13086" marT="0" marB="0" anchor="ctr">
                    <a:solidFill>
                      <a:schemeClr val="accent1">
                        <a:lumMod val="20000"/>
                        <a:lumOff val="80000"/>
                      </a:schemeClr>
                    </a:solidFill>
                  </a:tcPr>
                </a:tc>
                <a:tc>
                  <a:txBody>
                    <a:bodyPr/>
                    <a:lstStyle/>
                    <a:p>
                      <a:pPr algn="ctr">
                        <a:spcAft>
                          <a:spcPts val="0"/>
                        </a:spcAft>
                      </a:pPr>
                      <a:r>
                        <a:rPr lang="en-GB" sz="1600" dirty="0">
                          <a:solidFill>
                            <a:schemeClr val="tx1"/>
                          </a:solidFill>
                          <a:effectLst/>
                        </a:rPr>
                        <a:t> </a:t>
                      </a:r>
                      <a:endParaRPr lang="en-GB" sz="1600" dirty="0">
                        <a:solidFill>
                          <a:schemeClr val="tx1"/>
                        </a:solidFill>
                        <a:effectLst/>
                        <a:latin typeface="Calibri" panose="020F0502020204030204" pitchFamily="34" charset="0"/>
                        <a:ea typeface="+mn-ea"/>
                        <a:cs typeface="Times New Roman" panose="02020603050405020304" pitchFamily="18" charset="0"/>
                      </a:endParaRPr>
                    </a:p>
                  </a:txBody>
                  <a:tcPr marL="13086" marR="13086" marT="0" marB="0" anchor="ctr">
                    <a:solidFill>
                      <a:schemeClr val="accent1">
                        <a:lumMod val="20000"/>
                        <a:lumOff val="80000"/>
                      </a:schemeClr>
                    </a:solidFill>
                  </a:tcPr>
                </a:tc>
                <a:tc>
                  <a:txBody>
                    <a:bodyPr/>
                    <a:lstStyle/>
                    <a:p>
                      <a:pPr>
                        <a:spcAft>
                          <a:spcPts val="0"/>
                        </a:spcAft>
                      </a:pPr>
                      <a:r>
                        <a:rPr lang="en-GB" sz="1500" b="0" dirty="0">
                          <a:solidFill>
                            <a:schemeClr val="tx1"/>
                          </a:solidFill>
                          <a:effectLst/>
                        </a:rPr>
                        <a:t>Is the title void or voidable? The difference was noted in </a:t>
                      </a:r>
                      <a:r>
                        <a:rPr lang="en-GB" sz="1500" b="0" i="1" dirty="0">
                          <a:solidFill>
                            <a:schemeClr val="tx1"/>
                          </a:solidFill>
                          <a:effectLst/>
                        </a:rPr>
                        <a:t>Shogun Finance</a:t>
                      </a:r>
                      <a:r>
                        <a:rPr lang="en-GB" sz="1500" b="0" dirty="0">
                          <a:solidFill>
                            <a:schemeClr val="tx1"/>
                          </a:solidFill>
                          <a:effectLst/>
                        </a:rPr>
                        <a:t>. Note: there is a </a:t>
                      </a:r>
                      <a:r>
                        <a:rPr lang="en-GB" sz="1500" b="0" u="sng" dirty="0">
                          <a:solidFill>
                            <a:schemeClr val="tx1"/>
                          </a:solidFill>
                          <a:effectLst/>
                        </a:rPr>
                        <a:t>presumption</a:t>
                      </a:r>
                      <a:r>
                        <a:rPr lang="en-GB" sz="1500" b="0" dirty="0">
                          <a:solidFill>
                            <a:schemeClr val="tx1"/>
                          </a:solidFill>
                          <a:effectLst/>
                        </a:rPr>
                        <a:t> that the seller intends to deal with the person in front them not with whom that person claims to be: </a:t>
                      </a:r>
                      <a:r>
                        <a:rPr lang="en-GB" sz="1500" b="0" i="1" dirty="0">
                          <a:solidFill>
                            <a:schemeClr val="tx1"/>
                          </a:solidFill>
                          <a:effectLst/>
                        </a:rPr>
                        <a:t>Phillips v Brooks</a:t>
                      </a:r>
                    </a:p>
                    <a:p>
                      <a:pPr>
                        <a:spcAft>
                          <a:spcPts val="0"/>
                        </a:spcAft>
                      </a:pPr>
                      <a:r>
                        <a:rPr lang="en-GB" sz="1500" b="0" dirty="0">
                          <a:solidFill>
                            <a:schemeClr val="tx1"/>
                          </a:solidFill>
                          <a:effectLst/>
                        </a:rPr>
                        <a:t> </a:t>
                      </a:r>
                    </a:p>
                    <a:p>
                      <a:pPr>
                        <a:spcAft>
                          <a:spcPts val="0"/>
                        </a:spcAft>
                      </a:pPr>
                      <a:r>
                        <a:rPr lang="en-GB" sz="1500" b="0" dirty="0">
                          <a:solidFill>
                            <a:schemeClr val="tx1"/>
                          </a:solidFill>
                          <a:effectLst/>
                        </a:rPr>
                        <a:t>It will be </a:t>
                      </a:r>
                      <a:r>
                        <a:rPr lang="en-GB" sz="1500" b="0" u="sng" dirty="0">
                          <a:solidFill>
                            <a:schemeClr val="tx1"/>
                          </a:solidFill>
                          <a:effectLst/>
                        </a:rPr>
                        <a:t>void</a:t>
                      </a:r>
                      <a:r>
                        <a:rPr lang="en-GB" sz="1500" b="0" dirty="0">
                          <a:solidFill>
                            <a:schemeClr val="tx1"/>
                          </a:solidFill>
                          <a:effectLst/>
                        </a:rPr>
                        <a:t> if the seller gave no consent, e.g. where the goods were stolen:</a:t>
                      </a:r>
                      <a:r>
                        <a:rPr lang="en-GB" sz="1500" b="0" u="none" dirty="0">
                          <a:solidFill>
                            <a:schemeClr val="tx1"/>
                          </a:solidFill>
                          <a:effectLst/>
                        </a:rPr>
                        <a:t> </a:t>
                      </a:r>
                      <a:r>
                        <a:rPr lang="en-GB" sz="1500" b="0" i="1" dirty="0">
                          <a:solidFill>
                            <a:schemeClr val="tx1"/>
                          </a:solidFill>
                          <a:effectLst/>
                        </a:rPr>
                        <a:t>National Employers' Mutual General Insurance Assoc. v Jones</a:t>
                      </a:r>
                    </a:p>
                    <a:p>
                      <a:pPr>
                        <a:spcBef>
                          <a:spcPts val="1000"/>
                        </a:spcBef>
                        <a:spcAft>
                          <a:spcPts val="1000"/>
                        </a:spcAft>
                      </a:pPr>
                      <a:r>
                        <a:rPr lang="en-GB" sz="1500" b="0" dirty="0">
                          <a:solidFill>
                            <a:schemeClr val="tx1"/>
                          </a:solidFill>
                          <a:effectLst/>
                        </a:rPr>
                        <a:t>If title is </a:t>
                      </a:r>
                      <a:r>
                        <a:rPr lang="en-GB" sz="1500" b="0" u="sng" dirty="0">
                          <a:solidFill>
                            <a:schemeClr val="tx1"/>
                          </a:solidFill>
                          <a:effectLst/>
                        </a:rPr>
                        <a:t>voidable</a:t>
                      </a:r>
                      <a:r>
                        <a:rPr lang="en-GB" sz="1500" b="0" dirty="0">
                          <a:solidFill>
                            <a:schemeClr val="tx1"/>
                          </a:solidFill>
                          <a:effectLst/>
                        </a:rPr>
                        <a:t>, seller must show they avoided the contract by communicating this intention to the buyer. But note: </a:t>
                      </a:r>
                      <a:r>
                        <a:rPr lang="en-GB" sz="1500" b="0" i="1" dirty="0">
                          <a:solidFill>
                            <a:schemeClr val="tx1"/>
                          </a:solidFill>
                          <a:effectLst/>
                        </a:rPr>
                        <a:t>Car &amp; Universal Finance v Caldwell </a:t>
                      </a:r>
                      <a:r>
                        <a:rPr lang="en-GB" sz="1500" b="0" dirty="0">
                          <a:solidFill>
                            <a:schemeClr val="tx1"/>
                          </a:solidFill>
                          <a:effectLst/>
                        </a:rPr>
                        <a:t>(if all reasonable steps have been taken, communication to rogue buyer of intention to rescind the contract is not essential). </a:t>
                      </a:r>
                      <a:endParaRPr lang="en-GB" sz="1500" b="0" dirty="0">
                        <a:solidFill>
                          <a:schemeClr val="tx1"/>
                        </a:solidFill>
                        <a:effectLst/>
                        <a:latin typeface="Calibri" panose="020F0502020204030204" pitchFamily="34" charset="0"/>
                        <a:ea typeface="+mn-ea"/>
                        <a:cs typeface="Times New Roman" panose="02020603050405020304" pitchFamily="18" charset="0"/>
                      </a:endParaRPr>
                    </a:p>
                  </a:txBody>
                  <a:tcPr marL="13086" marR="13086" marT="0" marB="0" anchor="ctr">
                    <a:solidFill>
                      <a:schemeClr val="accent1">
                        <a:lumMod val="20000"/>
                        <a:lumOff val="80000"/>
                      </a:schemeClr>
                    </a:solidFill>
                  </a:tcPr>
                </a:tc>
                <a:extLst>
                  <a:ext uri="{0D108BD9-81ED-4DB2-BD59-A6C34878D82A}">
                    <a16:rowId xmlns:a16="http://schemas.microsoft.com/office/drawing/2014/main" val="3851563864"/>
                  </a:ext>
                </a:extLst>
              </a:tr>
              <a:tr h="1197883">
                <a:tc>
                  <a:txBody>
                    <a:bodyPr/>
                    <a:lstStyle/>
                    <a:p>
                      <a:pPr algn="ctr">
                        <a:spcAft>
                          <a:spcPts val="0"/>
                        </a:spcAft>
                      </a:pPr>
                      <a:r>
                        <a:rPr lang="en-GB" sz="1600" dirty="0">
                          <a:effectLst/>
                        </a:rPr>
                        <a:t>Seller in possession after sale (s.24 SGA 1979)</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a:effectLst/>
                        </a:rPr>
                        <a:t> </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dirty="0">
                          <a:effectLst/>
                        </a:rPr>
                        <a:t>x</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spcAft>
                          <a:spcPts val="0"/>
                        </a:spcAft>
                      </a:pPr>
                      <a:r>
                        <a:rPr lang="en-GB" sz="1500" dirty="0">
                          <a:effectLst/>
                        </a:rPr>
                        <a:t>End buyer must show seller was in </a:t>
                      </a:r>
                      <a:r>
                        <a:rPr lang="en-GB" sz="1500" b="1" dirty="0">
                          <a:effectLst/>
                        </a:rPr>
                        <a:t>continuous possession </a:t>
                      </a:r>
                      <a:r>
                        <a:rPr lang="en-GB" sz="1500" b="0" i="0" dirty="0">
                          <a:effectLst/>
                        </a:rPr>
                        <a:t>(Physical possession suffices: </a:t>
                      </a:r>
                      <a:r>
                        <a:rPr lang="en-GB" sz="1500" b="0" i="1" u="none" dirty="0">
                          <a:effectLst/>
                        </a:rPr>
                        <a:t>Pacific Motor </a:t>
                      </a:r>
                      <a:r>
                        <a:rPr lang="en-GB" sz="1500" b="0" i="1" u="none" kern="1200" dirty="0">
                          <a:solidFill>
                            <a:schemeClr val="dk1"/>
                          </a:solidFill>
                          <a:effectLst/>
                          <a:latin typeface="+mn-lt"/>
                          <a:ea typeface="+mn-ea"/>
                          <a:cs typeface="+mn-cs"/>
                        </a:rPr>
                        <a:t>Auctions Pty v Motor Credits (Hire Finance) </a:t>
                      </a:r>
                      <a:r>
                        <a:rPr lang="en-GB" sz="1500" b="0" i="0" u="none" kern="1200" dirty="0">
                          <a:solidFill>
                            <a:schemeClr val="dk1"/>
                          </a:solidFill>
                          <a:effectLst/>
                          <a:latin typeface="+mn-lt"/>
                          <a:ea typeface="+mn-ea"/>
                          <a:cs typeface="+mn-cs"/>
                        </a:rPr>
                        <a:t>and </a:t>
                      </a:r>
                      <a:r>
                        <a:rPr lang="en-GB" sz="1500" b="0" i="1" kern="1200" dirty="0">
                          <a:solidFill>
                            <a:schemeClr val="dk1"/>
                          </a:solidFill>
                          <a:effectLst/>
                          <a:latin typeface="+mn-lt"/>
                          <a:ea typeface="+mn-ea"/>
                          <a:cs typeface="+mn-cs"/>
                        </a:rPr>
                        <a:t>Worcester Works Finance</a:t>
                      </a:r>
                      <a:r>
                        <a:rPr lang="en-GB" sz="1500" b="0" i="0" kern="1200" dirty="0">
                          <a:solidFill>
                            <a:schemeClr val="dk1"/>
                          </a:solidFill>
                          <a:effectLst/>
                          <a:latin typeface="+mn-lt"/>
                          <a:ea typeface="+mn-ea"/>
                          <a:cs typeface="+mn-cs"/>
                        </a:rPr>
                        <a:t>), the goods were </a:t>
                      </a:r>
                      <a:r>
                        <a:rPr lang="en-GB" sz="1500" b="1" i="0" kern="1200" dirty="0">
                          <a:solidFill>
                            <a:schemeClr val="dk1"/>
                          </a:solidFill>
                          <a:effectLst/>
                          <a:latin typeface="+mn-lt"/>
                          <a:ea typeface="+mn-ea"/>
                          <a:cs typeface="+mn-cs"/>
                        </a:rPr>
                        <a:t>delivered</a:t>
                      </a:r>
                      <a:r>
                        <a:rPr lang="en-GB" sz="1500" b="0" i="0" kern="1200" dirty="0">
                          <a:solidFill>
                            <a:schemeClr val="dk1"/>
                          </a:solidFill>
                          <a:effectLst/>
                          <a:latin typeface="+mn-lt"/>
                          <a:ea typeface="+mn-ea"/>
                          <a:cs typeface="+mn-cs"/>
                        </a:rPr>
                        <a:t> to End Buyer (constructive delivery suffices but there must be some attornment/ acknowledgement by the seller), and End Buyer acted in </a:t>
                      </a:r>
                      <a:r>
                        <a:rPr lang="en-GB" sz="1500" b="1" i="0" kern="1200" dirty="0">
                          <a:solidFill>
                            <a:schemeClr val="dk1"/>
                          </a:solidFill>
                          <a:effectLst/>
                          <a:latin typeface="+mn-lt"/>
                          <a:ea typeface="+mn-ea"/>
                          <a:cs typeface="+mn-cs"/>
                        </a:rPr>
                        <a:t>good faith, and without notice</a:t>
                      </a:r>
                      <a:r>
                        <a:rPr lang="en-GB" sz="1500" b="0" i="0" kern="1200" dirty="0">
                          <a:solidFill>
                            <a:schemeClr val="dk1"/>
                          </a:solidFill>
                          <a:effectLst/>
                          <a:latin typeface="+mn-lt"/>
                          <a:ea typeface="+mn-ea"/>
                          <a:cs typeface="+mn-cs"/>
                        </a:rPr>
                        <a:t> of previous buyer’s / original owner’s claim to goods</a:t>
                      </a:r>
                      <a:endParaRPr lang="en-GB" sz="1500" b="0" i="0" u="none"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extLst>
                  <a:ext uri="{0D108BD9-81ED-4DB2-BD59-A6C34878D82A}">
                    <a16:rowId xmlns:a16="http://schemas.microsoft.com/office/drawing/2014/main" val="2894488224"/>
                  </a:ext>
                </a:extLst>
              </a:tr>
              <a:tr h="1257777">
                <a:tc>
                  <a:txBody>
                    <a:bodyPr/>
                    <a:lstStyle/>
                    <a:p>
                      <a:pPr algn="ctr">
                        <a:spcAft>
                          <a:spcPts val="0"/>
                        </a:spcAft>
                      </a:pPr>
                      <a:r>
                        <a:rPr lang="en-GB" sz="1600">
                          <a:effectLst/>
                        </a:rPr>
                        <a:t>Buyer in possession after sale (s.25 SGA 1979)</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tc>
                  <a:txBody>
                    <a:bodyPr/>
                    <a:lstStyle/>
                    <a:p>
                      <a:pPr algn="ctr">
                        <a:spcAft>
                          <a:spcPts val="0"/>
                        </a:spcAft>
                      </a:pPr>
                      <a:r>
                        <a:rPr lang="en-GB" sz="1600">
                          <a:effectLst/>
                        </a:rPr>
                        <a:t>x</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tc>
                  <a:txBody>
                    <a:bodyPr/>
                    <a:lstStyle/>
                    <a:p>
                      <a:pPr>
                        <a:spcAft>
                          <a:spcPts val="0"/>
                        </a:spcAft>
                      </a:pPr>
                      <a:r>
                        <a:rPr lang="en-GB" sz="1500" dirty="0">
                          <a:effectLst/>
                        </a:rPr>
                        <a:t>This is the end buyer’s  response to a s.23 claim by the seller/ original owner.</a:t>
                      </a:r>
                    </a:p>
                    <a:p>
                      <a:pPr>
                        <a:spcAft>
                          <a:spcPts val="0"/>
                        </a:spcAft>
                      </a:pPr>
                      <a:r>
                        <a:rPr lang="en-GB" sz="1500" dirty="0">
                          <a:effectLst/>
                        </a:rPr>
                        <a:t> </a:t>
                      </a:r>
                    </a:p>
                    <a:p>
                      <a:pPr>
                        <a:spcAft>
                          <a:spcPts val="0"/>
                        </a:spcAft>
                      </a:pPr>
                      <a:r>
                        <a:rPr lang="en-GB" sz="1500" dirty="0">
                          <a:effectLst/>
                        </a:rPr>
                        <a:t>Under s.25, the End Buyer must demonstrate they had no notice of the original owner withdrawing their consent (to ‘rogue’ seller possessing the goods) and end buyer was acting in good faith. See </a:t>
                      </a:r>
                      <a:r>
                        <a:rPr lang="en-GB" sz="1500" b="0" i="1" u="none" strike="noStrike" kern="1200" dirty="0">
                          <a:solidFill>
                            <a:schemeClr val="dk1"/>
                          </a:solidFill>
                          <a:effectLst/>
                          <a:latin typeface="+mn-lt"/>
                          <a:ea typeface="+mn-ea"/>
                          <a:cs typeface="+mn-cs"/>
                        </a:rPr>
                        <a:t>Newtons of Wembley v Williams. Note: </a:t>
                      </a:r>
                      <a:r>
                        <a:rPr lang="en-GB" sz="1500" b="0" i="0" u="none" strike="noStrike" kern="1200" dirty="0">
                          <a:solidFill>
                            <a:schemeClr val="dk1"/>
                          </a:solidFill>
                          <a:effectLst/>
                          <a:latin typeface="+mn-lt"/>
                          <a:ea typeface="+mn-ea"/>
                          <a:cs typeface="+mn-cs"/>
                        </a:rPr>
                        <a:t>Consent is crucial. The End Buyer can never get title to stolen goods: </a:t>
                      </a:r>
                      <a:r>
                        <a:rPr lang="en-GB" sz="1500" b="0" i="1" dirty="0">
                          <a:solidFill>
                            <a:schemeClr val="tx1"/>
                          </a:solidFill>
                          <a:effectLst/>
                        </a:rPr>
                        <a:t>National Employers' Mutual General Insurance Assoc. v Jones</a:t>
                      </a:r>
                      <a:endParaRPr lang="en-GB" sz="1500" i="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solidFill>
                      <a:schemeClr val="accent1">
                        <a:lumMod val="20000"/>
                        <a:lumOff val="80000"/>
                      </a:schemeClr>
                    </a:solidFill>
                  </a:tcPr>
                </a:tc>
                <a:extLst>
                  <a:ext uri="{0D108BD9-81ED-4DB2-BD59-A6C34878D82A}">
                    <a16:rowId xmlns:a16="http://schemas.microsoft.com/office/drawing/2014/main" val="3133068477"/>
                  </a:ext>
                </a:extLst>
              </a:tr>
              <a:tr h="1264384">
                <a:tc>
                  <a:txBody>
                    <a:bodyPr/>
                    <a:lstStyle/>
                    <a:p>
                      <a:pPr algn="ctr">
                        <a:spcAft>
                          <a:spcPts val="0"/>
                        </a:spcAft>
                      </a:pPr>
                      <a:r>
                        <a:rPr lang="en-GB" sz="1600" dirty="0">
                          <a:effectLst/>
                        </a:rPr>
                        <a:t>Sale of car hired under hire-purchase (s.27 HPA 1997)</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a:effectLst/>
                        </a:rPr>
                        <a:t> </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600">
                          <a:effectLst/>
                        </a:rPr>
                        <a:t>x</a:t>
                      </a:r>
                      <a:endParaRPr lang="en-GB" sz="16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spcAft>
                          <a:spcPts val="0"/>
                        </a:spcAft>
                      </a:pPr>
                      <a:r>
                        <a:rPr lang="en-GB" sz="1500" dirty="0">
                          <a:effectLst/>
                        </a:rPr>
                        <a:t>End buyer must demonstrate they were acting as a </a:t>
                      </a:r>
                      <a:r>
                        <a:rPr lang="en-GB" sz="1500" b="1" dirty="0">
                          <a:effectLst/>
                        </a:rPr>
                        <a:t>private purchaser </a:t>
                      </a:r>
                      <a:r>
                        <a:rPr lang="en-GB" sz="1500" dirty="0">
                          <a:effectLst/>
                        </a:rPr>
                        <a:t>(i.e. not in any commercial capacity) </a:t>
                      </a:r>
                      <a:r>
                        <a:rPr lang="en-GB" sz="1500" b="1" dirty="0">
                          <a:effectLst/>
                        </a:rPr>
                        <a:t>in good faith and without notice</a:t>
                      </a:r>
                      <a:r>
                        <a:rPr lang="en-GB" sz="1500" dirty="0">
                          <a:effectLst/>
                        </a:rPr>
                        <a:t> of original owner’s (i.e. the finance company’s) claim. Note: </a:t>
                      </a:r>
                      <a:r>
                        <a:rPr lang="en-GB" sz="1500" b="0" i="1" u="none" strike="noStrike" kern="1200" dirty="0">
                          <a:solidFill>
                            <a:schemeClr val="dk1"/>
                          </a:solidFill>
                          <a:effectLst/>
                          <a:latin typeface="+mn-lt"/>
                          <a:ea typeface="+mn-ea"/>
                          <a:cs typeface="+mn-cs"/>
                        </a:rPr>
                        <a:t>Stevenson v. Beverley Bentinck </a:t>
                      </a:r>
                      <a:r>
                        <a:rPr lang="en-GB" sz="1500" b="0" i="0" u="none" strike="noStrike" kern="1200" dirty="0">
                          <a:solidFill>
                            <a:schemeClr val="dk1"/>
                          </a:solidFill>
                          <a:effectLst/>
                          <a:latin typeface="+mn-lt"/>
                          <a:ea typeface="+mn-ea"/>
                          <a:cs typeface="+mn-cs"/>
                        </a:rPr>
                        <a:t>– car dealer buying car for private use is not acting as private purchaser.</a:t>
                      </a:r>
                      <a:endParaRPr lang="en-GB"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extLst>
                  <a:ext uri="{0D108BD9-81ED-4DB2-BD59-A6C34878D82A}">
                    <a16:rowId xmlns:a16="http://schemas.microsoft.com/office/drawing/2014/main" val="3346572963"/>
                  </a:ext>
                </a:extLst>
              </a:tr>
            </a:tbl>
          </a:graphicData>
        </a:graphic>
      </p:graphicFrame>
      <p:graphicFrame>
        <p:nvGraphicFramePr>
          <p:cNvPr id="5" name="Table 4">
            <a:extLst>
              <a:ext uri="{FF2B5EF4-FFF2-40B4-BE49-F238E27FC236}">
                <a16:creationId xmlns:a16="http://schemas.microsoft.com/office/drawing/2014/main" id="{21AADB65-A6FB-6249-8705-D890675E426D}"/>
              </a:ext>
            </a:extLst>
          </p:cNvPr>
          <p:cNvGraphicFramePr>
            <a:graphicFrameLocks noGrp="1"/>
          </p:cNvGraphicFramePr>
          <p:nvPr>
            <p:extLst>
              <p:ext uri="{D42A27DB-BD31-4B8C-83A1-F6EECF244321}">
                <p14:modId xmlns:p14="http://schemas.microsoft.com/office/powerpoint/2010/main" val="1279539267"/>
              </p:ext>
            </p:extLst>
          </p:nvPr>
        </p:nvGraphicFramePr>
        <p:xfrm>
          <a:off x="0" y="0"/>
          <a:ext cx="12192000" cy="856988"/>
        </p:xfrm>
        <a:graphic>
          <a:graphicData uri="http://schemas.openxmlformats.org/drawingml/2006/table">
            <a:tbl>
              <a:tblPr firstRow="1" firstCol="1" bandRow="1">
                <a:tableStyleId>{5C22544A-7EE6-4342-B048-85BDC9FD1C3A}</a:tableStyleId>
              </a:tblPr>
              <a:tblGrid>
                <a:gridCol w="1363018">
                  <a:extLst>
                    <a:ext uri="{9D8B030D-6E8A-4147-A177-3AD203B41FA5}">
                      <a16:colId xmlns:a16="http://schemas.microsoft.com/office/drawing/2014/main" val="4038139645"/>
                    </a:ext>
                  </a:extLst>
                </a:gridCol>
                <a:gridCol w="1155330">
                  <a:extLst>
                    <a:ext uri="{9D8B030D-6E8A-4147-A177-3AD203B41FA5}">
                      <a16:colId xmlns:a16="http://schemas.microsoft.com/office/drawing/2014/main" val="3293045687"/>
                    </a:ext>
                  </a:extLst>
                </a:gridCol>
                <a:gridCol w="929390">
                  <a:extLst>
                    <a:ext uri="{9D8B030D-6E8A-4147-A177-3AD203B41FA5}">
                      <a16:colId xmlns:a16="http://schemas.microsoft.com/office/drawing/2014/main" val="2451068686"/>
                    </a:ext>
                  </a:extLst>
                </a:gridCol>
                <a:gridCol w="8744262">
                  <a:extLst>
                    <a:ext uri="{9D8B030D-6E8A-4147-A177-3AD203B41FA5}">
                      <a16:colId xmlns:a16="http://schemas.microsoft.com/office/drawing/2014/main" val="3103653201"/>
                    </a:ext>
                  </a:extLst>
                </a:gridCol>
              </a:tblGrid>
              <a:tr h="285663">
                <a:tc rowSpan="2">
                  <a:txBody>
                    <a:bodyPr/>
                    <a:lstStyle/>
                    <a:p>
                      <a:pPr algn="ctr">
                        <a:spcAft>
                          <a:spcPts val="0"/>
                        </a:spcAft>
                      </a:pPr>
                      <a:r>
                        <a:rPr lang="en-GB" sz="1800" dirty="0">
                          <a:effectLst/>
                        </a:rPr>
                        <a:t>Legal Basis for Action/ Defence: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800" dirty="0">
                          <a:effectLst/>
                        </a:rPr>
                        <a:t>Party relying on it :</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hMerge="1">
                  <a:txBody>
                    <a:bodyPr/>
                    <a:lstStyle/>
                    <a:p>
                      <a:endParaRPr lang="en-US"/>
                    </a:p>
                  </a:txBody>
                  <a:tcPr/>
                </a:tc>
                <a:tc rowSpan="2">
                  <a:txBody>
                    <a:bodyPr/>
                    <a:lstStyle/>
                    <a:p>
                      <a:pPr algn="ctr">
                        <a:spcAft>
                          <a:spcPts val="0"/>
                        </a:spcAft>
                      </a:pPr>
                      <a:r>
                        <a:rPr lang="en-GB" sz="1800" dirty="0">
                          <a:effectLst/>
                        </a:rPr>
                        <a:t>Application (what we need to demonstrate):</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extLst>
                  <a:ext uri="{0D108BD9-81ED-4DB2-BD59-A6C34878D82A}">
                    <a16:rowId xmlns:a16="http://schemas.microsoft.com/office/drawing/2014/main" val="2569952176"/>
                  </a:ext>
                </a:extLst>
              </a:tr>
              <a:tr h="571325">
                <a:tc vMerge="1">
                  <a:txBody>
                    <a:bodyPr/>
                    <a:lstStyle/>
                    <a:p>
                      <a:endParaRPr lang="en-US"/>
                    </a:p>
                  </a:txBody>
                  <a:tcPr/>
                </a:tc>
                <a:tc>
                  <a:txBody>
                    <a:bodyPr/>
                    <a:lstStyle/>
                    <a:p>
                      <a:pPr algn="ctr">
                        <a:spcAft>
                          <a:spcPts val="0"/>
                        </a:spcAft>
                      </a:pPr>
                      <a:r>
                        <a:rPr lang="en-GB" sz="1800">
                          <a:effectLst/>
                        </a:rPr>
                        <a:t>Original Owner</a:t>
                      </a:r>
                      <a:endParaRPr lang="en-GB" sz="180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a:txBody>
                    <a:bodyPr/>
                    <a:lstStyle/>
                    <a:p>
                      <a:pPr algn="ctr">
                        <a:spcAft>
                          <a:spcPts val="0"/>
                        </a:spcAft>
                      </a:pPr>
                      <a:r>
                        <a:rPr lang="en-GB" sz="1800" dirty="0">
                          <a:effectLst/>
                        </a:rPr>
                        <a:t>End Buyer</a:t>
                      </a:r>
                      <a:endParaRPr lang="en-GB"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13086" marR="13086" marT="0" marB="0" anchor="ctr"/>
                </a:tc>
                <a:tc vMerge="1">
                  <a:txBody>
                    <a:bodyPr/>
                    <a:lstStyle/>
                    <a:p>
                      <a:endParaRPr lang="en-US"/>
                    </a:p>
                  </a:txBody>
                  <a:tcPr/>
                </a:tc>
                <a:extLst>
                  <a:ext uri="{0D108BD9-81ED-4DB2-BD59-A6C34878D82A}">
                    <a16:rowId xmlns:a16="http://schemas.microsoft.com/office/drawing/2014/main" val="2256295272"/>
                  </a:ext>
                </a:extLst>
              </a:tr>
            </a:tbl>
          </a:graphicData>
        </a:graphic>
      </p:graphicFrame>
    </p:spTree>
    <p:extLst>
      <p:ext uri="{BB962C8B-B14F-4D97-AF65-F5344CB8AC3E}">
        <p14:creationId xmlns:p14="http://schemas.microsoft.com/office/powerpoint/2010/main" val="2246322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BD3B2C-9454-0241-B067-A0A2DEFECEFD}"/>
              </a:ext>
            </a:extLst>
          </p:cNvPr>
          <p:cNvSpPr>
            <a:spLocks noGrp="1"/>
          </p:cNvSpPr>
          <p:nvPr>
            <p:ph type="title"/>
          </p:nvPr>
        </p:nvSpPr>
        <p:spPr/>
        <p:txBody>
          <a:bodyPr/>
          <a:lstStyle/>
          <a:p>
            <a:pPr algn="ctr"/>
            <a:r>
              <a:rPr lang="en-US" b="1" dirty="0"/>
              <a:t>Implied terms under the SGA 1979</a:t>
            </a:r>
          </a:p>
        </p:txBody>
      </p:sp>
      <p:sp>
        <p:nvSpPr>
          <p:cNvPr id="3" name="Content Placeholder 2">
            <a:extLst>
              <a:ext uri="{FF2B5EF4-FFF2-40B4-BE49-F238E27FC236}">
                <a16:creationId xmlns:a16="http://schemas.microsoft.com/office/drawing/2014/main" id="{BB89214C-96A7-1E43-8214-3F8B22E77990}"/>
              </a:ext>
            </a:extLst>
          </p:cNvPr>
          <p:cNvSpPr>
            <a:spLocks noGrp="1"/>
          </p:cNvSpPr>
          <p:nvPr>
            <p:ph idx="1"/>
          </p:nvPr>
        </p:nvSpPr>
        <p:spPr>
          <a:xfrm>
            <a:off x="838200" y="1690688"/>
            <a:ext cx="10515600" cy="4486275"/>
          </a:xfrm>
        </p:spPr>
        <p:txBody>
          <a:bodyPr>
            <a:normAutofit lnSpcReduction="10000"/>
          </a:bodyPr>
          <a:lstStyle/>
          <a:p>
            <a:pPr marL="0" indent="0" algn="just">
              <a:buNone/>
            </a:pPr>
            <a:r>
              <a:rPr lang="en-US" dirty="0"/>
              <a:t>Can they be excluded?</a:t>
            </a:r>
          </a:p>
          <a:p>
            <a:pPr algn="just"/>
            <a:r>
              <a:rPr lang="en-US" dirty="0"/>
              <a:t>Apart from the implied duty in s.12 (seller’s warranty as to title), the implied duties imposed on the seller under the SGA 1979 can be varied or excluded by the agreement of the parties only so long as the exclusion meets the requirement of reasonableness in s.11 UCTA 1977 (s.6, UCTA 1977)</a:t>
            </a:r>
          </a:p>
          <a:p>
            <a:r>
              <a:rPr lang="en-US" dirty="0"/>
              <a:t>The reasonableness of such exclusion is to be determined by the factors set out in schedule 2 of the UCTA 1977.</a:t>
            </a:r>
          </a:p>
          <a:p>
            <a:r>
              <a:rPr lang="en-US" dirty="0"/>
              <a:t>The CRA 2015 makes its own provision placing duties on traders dealing with consumers in ss.9-17 CRA 2015. These duties </a:t>
            </a:r>
            <a:r>
              <a:rPr lang="en-US" b="1" dirty="0"/>
              <a:t>cannot</a:t>
            </a:r>
            <a:r>
              <a:rPr lang="en-US" dirty="0"/>
              <a:t> be excluded.</a:t>
            </a:r>
          </a:p>
          <a:p>
            <a:endParaRPr lang="en-US" dirty="0"/>
          </a:p>
          <a:p>
            <a:endParaRPr lang="en-US" dirty="0"/>
          </a:p>
        </p:txBody>
      </p:sp>
      <p:pic>
        <p:nvPicPr>
          <p:cNvPr id="6146" name="Picture 2" descr="Image result for elephant pictures cartoon">
            <a:hlinkClick r:id="rId2"/>
          </p:cNvPr>
          <p:cNvPicPr>
            <a:picLocks noChangeAspect="1" noChangeArrowheads="1"/>
          </p:cNvPicPr>
          <p:nvPr/>
        </p:nvPicPr>
        <p:blipFill>
          <a:blip r:embed="rId3"/>
          <a:srcRect/>
          <a:stretch>
            <a:fillRect/>
          </a:stretch>
        </p:blipFill>
        <p:spPr bwMode="auto">
          <a:xfrm>
            <a:off x="0" y="0"/>
            <a:ext cx="2238375" cy="1666875"/>
          </a:xfrm>
          <a:prstGeom prst="rect">
            <a:avLst/>
          </a:prstGeom>
          <a:noFill/>
        </p:spPr>
      </p:pic>
      <p:pic>
        <p:nvPicPr>
          <p:cNvPr id="6148" name="Picture 4" descr="Image result for elephant pictures cartoon">
            <a:hlinkClick r:id="rId2"/>
          </p:cNvPr>
          <p:cNvPicPr>
            <a:picLocks noChangeAspect="1" noChangeArrowheads="1"/>
          </p:cNvPicPr>
          <p:nvPr/>
        </p:nvPicPr>
        <p:blipFill>
          <a:blip r:embed="rId3"/>
          <a:srcRect/>
          <a:stretch>
            <a:fillRect/>
          </a:stretch>
        </p:blipFill>
        <p:spPr bwMode="auto">
          <a:xfrm>
            <a:off x="9953625" y="197428"/>
            <a:ext cx="2238375" cy="1666875"/>
          </a:xfrm>
          <a:prstGeom prst="rect">
            <a:avLst/>
          </a:prstGeom>
          <a:noFill/>
        </p:spPr>
      </p:pic>
      <p:pic>
        <p:nvPicPr>
          <p:cNvPr id="6" name="Picture 2" descr="Image result for four leaf clover emoji">
            <a:hlinkClick r:id="rId4"/>
          </p:cNvPr>
          <p:cNvPicPr>
            <a:picLocks noChangeAspect="1" noChangeArrowheads="1"/>
          </p:cNvPicPr>
          <p:nvPr/>
        </p:nvPicPr>
        <p:blipFill>
          <a:blip r:embed="rId5"/>
          <a:srcRect/>
          <a:stretch>
            <a:fillRect/>
          </a:stretch>
        </p:blipFill>
        <p:spPr bwMode="auto">
          <a:xfrm>
            <a:off x="0" y="6014766"/>
            <a:ext cx="1033153" cy="843234"/>
          </a:xfrm>
          <a:prstGeom prst="rect">
            <a:avLst/>
          </a:prstGeom>
          <a:noFill/>
        </p:spPr>
      </p:pic>
      <p:pic>
        <p:nvPicPr>
          <p:cNvPr id="7" name="Picture 2" descr="Image result for four leaf clover emoji">
            <a:hlinkClick r:id="rId4"/>
          </p:cNvPr>
          <p:cNvPicPr>
            <a:picLocks noChangeAspect="1" noChangeArrowheads="1"/>
          </p:cNvPicPr>
          <p:nvPr/>
        </p:nvPicPr>
        <p:blipFill>
          <a:blip r:embed="rId5"/>
          <a:srcRect/>
          <a:stretch>
            <a:fillRect/>
          </a:stretch>
        </p:blipFill>
        <p:spPr bwMode="auto">
          <a:xfrm>
            <a:off x="11006447" y="6014766"/>
            <a:ext cx="1033153" cy="843234"/>
          </a:xfrm>
          <a:prstGeom prst="rect">
            <a:avLst/>
          </a:prstGeom>
          <a:noFill/>
        </p:spPr>
      </p:pic>
    </p:spTree>
    <p:extLst>
      <p:ext uri="{BB962C8B-B14F-4D97-AF65-F5344CB8AC3E}">
        <p14:creationId xmlns:p14="http://schemas.microsoft.com/office/powerpoint/2010/main" val="3033684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91BB0E27-BEA4-9141-BEBE-437882FF9A77}"/>
              </a:ext>
            </a:extLst>
          </p:cNvPr>
          <p:cNvGraphicFramePr>
            <a:graphicFrameLocks noGrp="1"/>
          </p:cNvGraphicFramePr>
          <p:nvPr>
            <p:extLst>
              <p:ext uri="{D42A27DB-BD31-4B8C-83A1-F6EECF244321}">
                <p14:modId xmlns:p14="http://schemas.microsoft.com/office/powerpoint/2010/main" val="1201068023"/>
              </p:ext>
            </p:extLst>
          </p:nvPr>
        </p:nvGraphicFramePr>
        <p:xfrm>
          <a:off x="0" y="15498"/>
          <a:ext cx="12191999" cy="6815313"/>
        </p:xfrm>
        <a:graphic>
          <a:graphicData uri="http://schemas.openxmlformats.org/drawingml/2006/table">
            <a:tbl>
              <a:tblPr firstRow="1" firstCol="1" bandRow="1">
                <a:tableStyleId>{5C22544A-7EE6-4342-B048-85BDC9FD1C3A}</a:tableStyleId>
              </a:tblPr>
              <a:tblGrid>
                <a:gridCol w="1682548">
                  <a:extLst>
                    <a:ext uri="{9D8B030D-6E8A-4147-A177-3AD203B41FA5}">
                      <a16:colId xmlns:a16="http://schemas.microsoft.com/office/drawing/2014/main" val="2294101844"/>
                    </a:ext>
                  </a:extLst>
                </a:gridCol>
                <a:gridCol w="1959554">
                  <a:extLst>
                    <a:ext uri="{9D8B030D-6E8A-4147-A177-3AD203B41FA5}">
                      <a16:colId xmlns:a16="http://schemas.microsoft.com/office/drawing/2014/main" val="93557962"/>
                    </a:ext>
                  </a:extLst>
                </a:gridCol>
                <a:gridCol w="3456122">
                  <a:extLst>
                    <a:ext uri="{9D8B030D-6E8A-4147-A177-3AD203B41FA5}">
                      <a16:colId xmlns:a16="http://schemas.microsoft.com/office/drawing/2014/main" val="1967883170"/>
                    </a:ext>
                  </a:extLst>
                </a:gridCol>
                <a:gridCol w="2856849">
                  <a:extLst>
                    <a:ext uri="{9D8B030D-6E8A-4147-A177-3AD203B41FA5}">
                      <a16:colId xmlns:a16="http://schemas.microsoft.com/office/drawing/2014/main" val="1570215696"/>
                    </a:ext>
                  </a:extLst>
                </a:gridCol>
                <a:gridCol w="2236926">
                  <a:extLst>
                    <a:ext uri="{9D8B030D-6E8A-4147-A177-3AD203B41FA5}">
                      <a16:colId xmlns:a16="http://schemas.microsoft.com/office/drawing/2014/main" val="2499393332"/>
                    </a:ext>
                  </a:extLst>
                </a:gridCol>
              </a:tblGrid>
              <a:tr h="278636">
                <a:tc rowSpan="2">
                  <a:txBody>
                    <a:bodyPr/>
                    <a:lstStyle/>
                    <a:p>
                      <a:pPr>
                        <a:spcAft>
                          <a:spcPts val="0"/>
                        </a:spcAft>
                      </a:pPr>
                      <a:r>
                        <a:rPr lang="en-GB" sz="1600" dirty="0">
                          <a:effectLst/>
                        </a:rPr>
                        <a:t> To be determined on the facts: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gridSpan="4">
                  <a:txBody>
                    <a:bodyPr/>
                    <a:lstStyle/>
                    <a:p>
                      <a:pPr algn="ctr">
                        <a:spcAft>
                          <a:spcPts val="0"/>
                        </a:spcAft>
                      </a:pPr>
                      <a:r>
                        <a:rPr lang="en-GB" sz="1600" dirty="0">
                          <a:effectLst/>
                        </a:rPr>
                        <a:t>Implied terms under SGA 1979: Application</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867114525"/>
                  </a:ext>
                </a:extLst>
              </a:tr>
              <a:tr h="251368">
                <a:tc vMerge="1">
                  <a:txBody>
                    <a:bodyPr/>
                    <a:lstStyle/>
                    <a:p>
                      <a:endParaRPr lang="en-US"/>
                    </a:p>
                  </a:txBody>
                  <a:tcPr/>
                </a:tc>
                <a:tc>
                  <a:txBody>
                    <a:bodyPr/>
                    <a:lstStyle/>
                    <a:p>
                      <a:pPr>
                        <a:spcAft>
                          <a:spcPts val="0"/>
                        </a:spcAft>
                      </a:pPr>
                      <a:r>
                        <a:rPr lang="en-GB" sz="1600" dirty="0">
                          <a:effectLst/>
                        </a:rPr>
                        <a:t>s.12</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r>
                        <a:rPr lang="en-GB" sz="1600" dirty="0">
                          <a:effectLst/>
                        </a:rPr>
                        <a:t>s.13</a:t>
                      </a:r>
                      <a:endParaRPr lang="en-US" dirty="0"/>
                    </a:p>
                  </a:txBody>
                  <a:tcPr marL="68580" marR="68580" marT="0" marB="0"/>
                </a:tc>
                <a:tc>
                  <a:txBody>
                    <a:bodyPr/>
                    <a:lstStyle/>
                    <a:p>
                      <a:r>
                        <a:rPr lang="en-GB" sz="1600">
                          <a:effectLst/>
                        </a:rPr>
                        <a:t>s.14</a:t>
                      </a:r>
                      <a:endParaRPr lang="en-US" dirty="0"/>
                    </a:p>
                  </a:txBody>
                  <a:tcPr marL="68580" marR="68580" marT="0" marB="0"/>
                </a:tc>
                <a:tc>
                  <a:txBody>
                    <a:bodyPr/>
                    <a:lstStyle/>
                    <a:p>
                      <a:pPr>
                        <a:spcAft>
                          <a:spcPts val="0"/>
                        </a:spcAft>
                      </a:pPr>
                      <a:r>
                        <a:rPr lang="en-GB" sz="1600">
                          <a:effectLst/>
                        </a:rPr>
                        <a:t>s.15</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37938209"/>
                  </a:ext>
                </a:extLst>
              </a:tr>
              <a:tr h="4506945">
                <a:tc>
                  <a:txBody>
                    <a:bodyPr/>
                    <a:lstStyle/>
                    <a:p>
                      <a:r>
                        <a:rPr lang="en-US" dirty="0"/>
                        <a:t>Key questions:</a:t>
                      </a:r>
                    </a:p>
                  </a:txBody>
                  <a:tcPr anchor="ctr"/>
                </a:tc>
                <a:tc>
                  <a:txBody>
                    <a:bodyPr/>
                    <a:lstStyle/>
                    <a:p>
                      <a:pPr>
                        <a:spcAft>
                          <a:spcPts val="0"/>
                        </a:spcAft>
                      </a:pPr>
                      <a:endParaRPr lang="en-GB" sz="1600" dirty="0">
                        <a:effectLst/>
                      </a:endParaRPr>
                    </a:p>
                    <a:p>
                      <a:pPr>
                        <a:spcAft>
                          <a:spcPts val="0"/>
                        </a:spcAft>
                      </a:pPr>
                      <a:r>
                        <a:rPr lang="en-GB" sz="1600" dirty="0">
                          <a:effectLst/>
                        </a:rPr>
                        <a:t>Did the seller have the right to sell the goods?</a:t>
                      </a:r>
                    </a:p>
                    <a:p>
                      <a:pPr>
                        <a:spcAft>
                          <a:spcPts val="0"/>
                        </a:spcAft>
                      </a:pPr>
                      <a:endParaRPr lang="en-GB" sz="1600" dirty="0">
                        <a:effectLst/>
                      </a:endParaRPr>
                    </a:p>
                    <a:p>
                      <a:pPr>
                        <a:spcAft>
                          <a:spcPts val="0"/>
                        </a:spcAft>
                      </a:pPr>
                      <a:endParaRPr lang="en-GB" sz="1600" dirty="0">
                        <a:effectLst/>
                      </a:endParaRPr>
                    </a:p>
                    <a:p>
                      <a:pPr>
                        <a:spcAft>
                          <a:spcPts val="0"/>
                        </a:spcAft>
                      </a:pPr>
                      <a:r>
                        <a:rPr lang="en-GB" sz="1600" dirty="0">
                          <a:effectLst/>
                        </a:rPr>
                        <a:t>[Also relevant: </a:t>
                      </a:r>
                      <a:r>
                        <a:rPr lang="en-GB" sz="1600" i="1" dirty="0">
                          <a:effectLst/>
                        </a:rPr>
                        <a:t>Did the seller interfere with buyer’s right to quiet possession? </a:t>
                      </a:r>
                      <a:r>
                        <a:rPr lang="en-GB" sz="1600" dirty="0">
                          <a:effectLst/>
                        </a:rPr>
                        <a:t>(</a:t>
                      </a:r>
                      <a:r>
                        <a:rPr lang="en-GB" sz="1600" b="1" dirty="0">
                          <a:effectLst/>
                        </a:rPr>
                        <a:t>Note</a:t>
                      </a:r>
                      <a:r>
                        <a:rPr lang="en-GB" sz="1600" dirty="0">
                          <a:effectLst/>
                        </a:rPr>
                        <a:t>: this is a breach of warranty – only remedy is damages, no right on Buyer to treat the contract as at an end/ repudiated) ]</a:t>
                      </a:r>
                    </a:p>
                    <a:p>
                      <a:pPr>
                        <a:spcAft>
                          <a:spcPts val="0"/>
                        </a:spcAft>
                      </a:pP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GB" sz="1600" dirty="0">
                          <a:effectLst/>
                        </a:rPr>
                        <a:t>Is it a </a:t>
                      </a:r>
                      <a:r>
                        <a:rPr lang="en-GB" sz="1600" b="1" dirty="0">
                          <a:effectLst/>
                        </a:rPr>
                        <a:t>sale by description</a:t>
                      </a:r>
                      <a:r>
                        <a:rPr lang="en-GB" sz="1600" dirty="0">
                          <a:effectLst/>
                        </a:rPr>
                        <a:t>? (NB: not affected by examination by buyer)</a:t>
                      </a:r>
                    </a:p>
                    <a:p>
                      <a:pPr>
                        <a:spcAft>
                          <a:spcPts val="0"/>
                        </a:spcAft>
                      </a:pPr>
                      <a:endParaRPr lang="en-GB" sz="1600" dirty="0">
                        <a:effectLst/>
                      </a:endParaRPr>
                    </a:p>
                    <a:p>
                      <a:pPr marL="342900" indent="-342900">
                        <a:spcAft>
                          <a:spcPts val="0"/>
                        </a:spcAft>
                        <a:buAutoNum type="alphaLcParenR"/>
                      </a:pPr>
                      <a:r>
                        <a:rPr lang="en-GB" sz="1600" dirty="0">
                          <a:effectLst/>
                        </a:rPr>
                        <a:t>Description must go to the </a:t>
                      </a:r>
                      <a:r>
                        <a:rPr lang="en-GB" sz="1600" b="1" dirty="0">
                          <a:effectLst/>
                        </a:rPr>
                        <a:t>substantive</a:t>
                      </a:r>
                      <a:r>
                        <a:rPr lang="en-GB" sz="1600" dirty="0">
                          <a:effectLst/>
                        </a:rPr>
                        <a:t> </a:t>
                      </a:r>
                      <a:r>
                        <a:rPr lang="en-GB" sz="1600" b="1" dirty="0">
                          <a:effectLst/>
                        </a:rPr>
                        <a:t>identity</a:t>
                      </a:r>
                      <a:r>
                        <a:rPr lang="en-GB" sz="1600" dirty="0">
                          <a:effectLst/>
                        </a:rPr>
                        <a:t> of the goods – </a:t>
                      </a:r>
                      <a:r>
                        <a:rPr lang="en-GB" sz="1600" i="1" dirty="0">
                          <a:effectLst/>
                        </a:rPr>
                        <a:t>Reardon Smith Line </a:t>
                      </a:r>
                      <a:r>
                        <a:rPr lang="en-GB" sz="1600" i="0" dirty="0">
                          <a:effectLst/>
                        </a:rPr>
                        <a:t>(ship built in different yard and given different hull number did not breach contract)</a:t>
                      </a:r>
                    </a:p>
                    <a:p>
                      <a:pPr marL="342900" indent="-342900">
                        <a:spcAft>
                          <a:spcPts val="0"/>
                        </a:spcAft>
                        <a:buAutoNum type="alphaLcParenR"/>
                      </a:pPr>
                      <a:r>
                        <a:rPr lang="en-GB" sz="1600" i="0" dirty="0">
                          <a:effectLst/>
                        </a:rPr>
                        <a:t>Description must be </a:t>
                      </a:r>
                      <a:r>
                        <a:rPr lang="en-GB" sz="1600" b="1" i="0" dirty="0">
                          <a:effectLst/>
                        </a:rPr>
                        <a:t>intended to be part of the contract </a:t>
                      </a:r>
                      <a:r>
                        <a:rPr lang="en-GB" sz="1600" i="0" dirty="0">
                          <a:effectLst/>
                        </a:rPr>
                        <a:t>– </a:t>
                      </a:r>
                      <a:r>
                        <a:rPr lang="en-GB" sz="1600" i="1" dirty="0">
                          <a:effectLst/>
                        </a:rPr>
                        <a:t>Drake v Agnew</a:t>
                      </a:r>
                      <a:r>
                        <a:rPr lang="en-GB" sz="1600" i="0" dirty="0">
                          <a:effectLst/>
                        </a:rPr>
                        <a:t> (expression of opinion, rather than intention to form part of contract)</a:t>
                      </a:r>
                    </a:p>
                    <a:p>
                      <a:pPr marL="342900" indent="-342900">
                        <a:spcAft>
                          <a:spcPts val="0"/>
                        </a:spcAft>
                        <a:buAutoNum type="alphaLcParenR"/>
                      </a:pPr>
                      <a:r>
                        <a:rPr lang="en-GB" sz="1600" i="0" dirty="0">
                          <a:effectLst/>
                        </a:rPr>
                        <a:t>Description must be </a:t>
                      </a:r>
                      <a:r>
                        <a:rPr lang="en-GB" sz="1600" b="1" i="0" dirty="0">
                          <a:effectLst/>
                        </a:rPr>
                        <a:t>relied upon</a:t>
                      </a:r>
                      <a:r>
                        <a:rPr lang="en-GB" sz="1600" i="0" dirty="0">
                          <a:effectLst/>
                        </a:rPr>
                        <a:t> – </a:t>
                      </a:r>
                      <a:r>
                        <a:rPr lang="en-GB" sz="1600" i="1" dirty="0">
                          <a:effectLst/>
                        </a:rPr>
                        <a:t>Harlington v Christopher Hull Fine Art</a:t>
                      </a:r>
                    </a:p>
                  </a:txBody>
                  <a:tcPr marL="68580" marR="68580" marT="0" marB="0"/>
                </a:tc>
                <a:tc>
                  <a:txBody>
                    <a:bodyPr/>
                    <a:lstStyle/>
                    <a:p>
                      <a:pPr>
                        <a:spcAft>
                          <a:spcPts val="0"/>
                        </a:spcAft>
                      </a:pPr>
                      <a:r>
                        <a:rPr lang="en-GB" sz="1600" dirty="0">
                          <a:effectLst/>
                        </a:rPr>
                        <a:t>Is the sale in the </a:t>
                      </a:r>
                      <a:r>
                        <a:rPr lang="en-GB" sz="1600" b="1" dirty="0">
                          <a:effectLst/>
                        </a:rPr>
                        <a:t>course of business</a:t>
                      </a:r>
                      <a:r>
                        <a:rPr lang="en-GB" sz="1600" dirty="0">
                          <a:effectLst/>
                        </a:rPr>
                        <a:t>?</a:t>
                      </a:r>
                    </a:p>
                    <a:p>
                      <a:pPr>
                        <a:spcAft>
                          <a:spcPts val="0"/>
                        </a:spcAft>
                      </a:pPr>
                      <a:endParaRPr lang="en-GB" sz="1600" dirty="0">
                        <a:effectLst/>
                      </a:endParaRPr>
                    </a:p>
                    <a:p>
                      <a:pPr>
                        <a:spcAft>
                          <a:spcPts val="0"/>
                        </a:spcAft>
                      </a:pPr>
                      <a:r>
                        <a:rPr lang="en-GB" sz="1600" dirty="0">
                          <a:effectLst/>
                        </a:rPr>
                        <a:t>Are the goods of </a:t>
                      </a:r>
                      <a:r>
                        <a:rPr lang="en-GB" sz="1600" b="1" dirty="0">
                          <a:effectLst/>
                        </a:rPr>
                        <a:t>satisfactory quality (s.14(2) SGA)</a:t>
                      </a:r>
                      <a:r>
                        <a:rPr lang="en-GB" sz="1600" dirty="0">
                          <a:effectLst/>
                        </a:rPr>
                        <a:t>?</a:t>
                      </a:r>
                    </a:p>
                    <a:p>
                      <a:pPr marL="342900" indent="-342900">
                        <a:spcAft>
                          <a:spcPts val="0"/>
                        </a:spcAft>
                        <a:buAutoNum type="alphaLcParenR"/>
                      </a:pPr>
                      <a:r>
                        <a:rPr lang="en-GB" sz="1600" dirty="0">
                          <a:effectLst/>
                        </a:rPr>
                        <a:t>Goods must satisfy the standard that a </a:t>
                      </a:r>
                      <a:r>
                        <a:rPr lang="en-GB" sz="1600" b="1" dirty="0">
                          <a:effectLst/>
                        </a:rPr>
                        <a:t>reasonable person</a:t>
                      </a:r>
                      <a:r>
                        <a:rPr lang="en-GB" sz="1600" dirty="0">
                          <a:effectLst/>
                        </a:rPr>
                        <a:t> would regard as satisfactory, taking account of price and </a:t>
                      </a:r>
                      <a:r>
                        <a:rPr lang="en-GB" sz="1600" dirty="0" err="1">
                          <a:effectLst/>
                        </a:rPr>
                        <a:t>desciption</a:t>
                      </a:r>
                      <a:r>
                        <a:rPr lang="en-GB" sz="1600" dirty="0">
                          <a:effectLst/>
                        </a:rPr>
                        <a:t> (s.14(2A))</a:t>
                      </a:r>
                    </a:p>
                    <a:p>
                      <a:pPr marL="342900" indent="-342900">
                        <a:spcAft>
                          <a:spcPts val="0"/>
                        </a:spcAft>
                        <a:buAutoNum type="alphaLcParenR"/>
                      </a:pPr>
                      <a:r>
                        <a:rPr lang="en-GB" sz="1600" dirty="0">
                          <a:effectLst/>
                        </a:rPr>
                        <a:t>Relevant factors (s.14(2B))</a:t>
                      </a:r>
                    </a:p>
                    <a:p>
                      <a:pPr marL="342900" indent="-342900">
                        <a:spcAft>
                          <a:spcPts val="0"/>
                        </a:spcAft>
                        <a:buAutoNum type="alphaLcParenR"/>
                      </a:pPr>
                      <a:endParaRPr lang="en-GB" sz="1600" dirty="0">
                        <a:effectLst/>
                      </a:endParaRPr>
                    </a:p>
                    <a:p>
                      <a:pPr>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If applicable, are the goods fit for the </a:t>
                      </a:r>
                      <a:r>
                        <a:rPr lang="en-GB" sz="1600" b="1" dirty="0">
                          <a:effectLst/>
                          <a:latin typeface="Calibri" panose="020F0502020204030204" pitchFamily="34" charset="0"/>
                          <a:ea typeface="Calibri" panose="020F0502020204030204" pitchFamily="34" charset="0"/>
                          <a:cs typeface="Times New Roman" panose="02020603050405020304" pitchFamily="18" charset="0"/>
                        </a:rPr>
                        <a:t>specific purpose for which they were bought</a:t>
                      </a:r>
                      <a:r>
                        <a:rPr lang="en-GB" sz="1600" dirty="0">
                          <a:effectLst/>
                          <a:latin typeface="Calibri" panose="020F0502020204030204" pitchFamily="34" charset="0"/>
                          <a:ea typeface="Calibri" panose="020F0502020204030204" pitchFamily="34" charset="0"/>
                          <a:cs typeface="Times New Roman" panose="02020603050405020304" pitchFamily="18" charset="0"/>
                        </a:rPr>
                        <a:t>? (s.14(3) SGA) – see </a:t>
                      </a:r>
                      <a:r>
                        <a:rPr lang="en-GB" sz="1600" i="1" dirty="0">
                          <a:effectLst/>
                          <a:latin typeface="Calibri" panose="020F0502020204030204" pitchFamily="34" charset="0"/>
                          <a:ea typeface="Calibri" panose="020F0502020204030204" pitchFamily="34" charset="0"/>
                          <a:cs typeface="Times New Roman" panose="02020603050405020304" pitchFamily="18" charset="0"/>
                        </a:rPr>
                        <a:t>Jewson v Kelly, Ashington Piggeries</a:t>
                      </a:r>
                      <a:endParaRPr lang="en-GB" sz="1600" i="0" dirty="0">
                        <a:effectLst/>
                      </a:endParaRPr>
                    </a:p>
                  </a:txBody>
                  <a:tcPr marL="68580" marR="68580" marT="0" marB="0"/>
                </a:tc>
                <a:tc>
                  <a:txBody>
                    <a:bodyPr/>
                    <a:lstStyle/>
                    <a:p>
                      <a:pPr>
                        <a:spcAft>
                          <a:spcPts val="0"/>
                        </a:spcAft>
                      </a:pPr>
                      <a:r>
                        <a:rPr lang="en-GB" sz="1600" dirty="0">
                          <a:effectLst/>
                        </a:rPr>
                        <a:t>Is it a </a:t>
                      </a:r>
                      <a:r>
                        <a:rPr lang="en-GB" sz="1600" b="1" dirty="0">
                          <a:effectLst/>
                        </a:rPr>
                        <a:t>sale by sample</a:t>
                      </a:r>
                      <a:r>
                        <a:rPr lang="en-GB" sz="1600" dirty="0">
                          <a:effectLst/>
                        </a:rPr>
                        <a:t>? – </a:t>
                      </a:r>
                      <a:r>
                        <a:rPr lang="en-GB" sz="1600" dirty="0">
                          <a:effectLst/>
                          <a:latin typeface="Calibri" panose="020F0502020204030204" pitchFamily="34" charset="0"/>
                          <a:ea typeface="Calibri" panose="020F0502020204030204" pitchFamily="34" charset="0"/>
                          <a:cs typeface="Times New Roman" panose="02020603050405020304" pitchFamily="18" charset="0"/>
                        </a:rPr>
                        <a:t>parties must intend it to be so (s.15(1) SGA) – see </a:t>
                      </a:r>
                      <a:r>
                        <a:rPr lang="en-GB" sz="1600" i="1" dirty="0">
                          <a:effectLst/>
                          <a:latin typeface="Calibri" panose="020F0502020204030204" pitchFamily="34" charset="0"/>
                          <a:ea typeface="Calibri" panose="020F0502020204030204" pitchFamily="34" charset="0"/>
                          <a:cs typeface="Times New Roman" panose="02020603050405020304" pitchFamily="18" charset="0"/>
                        </a:rPr>
                        <a:t>Godley v. Perry</a:t>
                      </a:r>
                    </a:p>
                    <a:p>
                      <a:pPr>
                        <a:spcAft>
                          <a:spcPts val="0"/>
                        </a:spcAft>
                      </a:pPr>
                      <a:endParaRPr lang="en-GB" sz="1600" i="1"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spcAft>
                          <a:spcPts val="0"/>
                        </a:spcAft>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Does the bulk </a:t>
                      </a:r>
                      <a:r>
                        <a:rPr lang="en-GB" sz="1600" b="1" dirty="0">
                          <a:effectLst/>
                          <a:latin typeface="Calibri" panose="020F0502020204030204" pitchFamily="34" charset="0"/>
                          <a:ea typeface="Calibri" panose="020F0502020204030204" pitchFamily="34" charset="0"/>
                          <a:cs typeface="Times New Roman" panose="02020603050405020304" pitchFamily="18" charset="0"/>
                        </a:rPr>
                        <a:t>correspond to the sample</a:t>
                      </a:r>
                      <a:r>
                        <a:rPr lang="en-GB" sz="1600" dirty="0">
                          <a:effectLst/>
                          <a:latin typeface="Calibri" panose="020F0502020204030204" pitchFamily="34" charset="0"/>
                          <a:ea typeface="Calibri" panose="020F0502020204030204" pitchFamily="34" charset="0"/>
                          <a:cs typeface="Times New Roman" panose="02020603050405020304" pitchFamily="18" charset="0"/>
                        </a:rPr>
                        <a:t>?</a:t>
                      </a:r>
                    </a:p>
                    <a:p>
                      <a:pPr marL="285750" indent="-285750">
                        <a:spcAft>
                          <a:spcPts val="0"/>
                        </a:spcAft>
                        <a:buFont typeface="Arial" panose="020B0604020202020204" pitchFamily="34" charset="0"/>
                        <a:buChar char="•"/>
                      </a:pP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marL="285750" indent="-285750">
                        <a:spcAft>
                          <a:spcPts val="0"/>
                        </a:spcAft>
                        <a:buFont typeface="Arial" panose="020B0604020202020204" pitchFamily="34" charset="0"/>
                        <a:buChar char="•"/>
                      </a:pPr>
                      <a:r>
                        <a:rPr lang="en-GB" sz="1600" dirty="0">
                          <a:effectLst/>
                          <a:latin typeface="Calibri" panose="020F0502020204030204" pitchFamily="34" charset="0"/>
                          <a:ea typeface="Calibri" panose="020F0502020204030204" pitchFamily="34" charset="0"/>
                          <a:cs typeface="Times New Roman" panose="02020603050405020304" pitchFamily="18" charset="0"/>
                        </a:rPr>
                        <a:t>If not, were the defects complained of </a:t>
                      </a:r>
                      <a:r>
                        <a:rPr lang="en-GB" sz="1600" b="1" dirty="0">
                          <a:effectLst/>
                          <a:latin typeface="Calibri" panose="020F0502020204030204" pitchFamily="34" charset="0"/>
                          <a:ea typeface="Calibri" panose="020F0502020204030204" pitchFamily="34" charset="0"/>
                          <a:cs typeface="Times New Roman" panose="02020603050405020304" pitchFamily="18" charset="0"/>
                        </a:rPr>
                        <a:t>discoverable upon reasonable examination </a:t>
                      </a:r>
                      <a:r>
                        <a:rPr lang="en-GB" sz="1600" dirty="0">
                          <a:effectLst/>
                          <a:latin typeface="Calibri" panose="020F0502020204030204" pitchFamily="34" charset="0"/>
                          <a:ea typeface="Calibri" panose="020F0502020204030204" pitchFamily="34" charset="0"/>
                          <a:cs typeface="Times New Roman" panose="02020603050405020304" pitchFamily="18" charset="0"/>
                        </a:rPr>
                        <a:t>of the sample? (</a:t>
                      </a:r>
                      <a:r>
                        <a:rPr lang="en-GB" sz="1600" b="1" dirty="0">
                          <a:effectLst/>
                          <a:latin typeface="Calibri" panose="020F0502020204030204" pitchFamily="34" charset="0"/>
                          <a:ea typeface="Calibri" panose="020F0502020204030204" pitchFamily="34" charset="0"/>
                          <a:cs typeface="Times New Roman" panose="02020603050405020304" pitchFamily="18" charset="0"/>
                        </a:rPr>
                        <a:t>Note</a:t>
                      </a:r>
                      <a:r>
                        <a:rPr lang="en-GB" sz="1600" dirty="0">
                          <a:effectLst/>
                          <a:latin typeface="Calibri" panose="020F0502020204030204" pitchFamily="34" charset="0"/>
                          <a:ea typeface="Calibri" panose="020F0502020204030204" pitchFamily="34" charset="0"/>
                          <a:cs typeface="Times New Roman" panose="02020603050405020304" pitchFamily="18" charset="0"/>
                        </a:rPr>
                        <a:t>: the sample </a:t>
                      </a:r>
                      <a:r>
                        <a:rPr lang="en-GB" sz="1600" u="sng" dirty="0">
                          <a:effectLst/>
                          <a:latin typeface="Calibri" panose="020F0502020204030204" pitchFamily="34" charset="0"/>
                          <a:ea typeface="Calibri" panose="020F0502020204030204" pitchFamily="34" charset="0"/>
                          <a:cs typeface="Times New Roman" panose="02020603050405020304" pitchFamily="18" charset="0"/>
                        </a:rPr>
                        <a:t>MUST be examined</a:t>
                      </a:r>
                      <a:r>
                        <a:rPr lang="en-GB" sz="1600" dirty="0">
                          <a:effectLst/>
                          <a:latin typeface="Calibri" panose="020F0502020204030204" pitchFamily="34" charset="0"/>
                          <a:ea typeface="Calibri" panose="020F0502020204030204" pitchFamily="34" charset="0"/>
                          <a:cs typeface="Times New Roman" panose="02020603050405020304" pitchFamily="18" charset="0"/>
                        </a:rPr>
                        <a:t>)</a:t>
                      </a:r>
                    </a:p>
                  </a:txBody>
                  <a:tcPr marL="68580" marR="68580" marT="0" marB="0"/>
                </a:tc>
                <a:extLst>
                  <a:ext uri="{0D108BD9-81ED-4DB2-BD59-A6C34878D82A}">
                    <a16:rowId xmlns:a16="http://schemas.microsoft.com/office/drawing/2014/main" val="3741154336"/>
                  </a:ext>
                </a:extLst>
              </a:tr>
              <a:tr h="1047915">
                <a:tc>
                  <a:txBody>
                    <a:bodyPr/>
                    <a:lstStyle/>
                    <a:p>
                      <a:r>
                        <a:rPr lang="en-US" dirty="0" err="1"/>
                        <a:t>Defences</a:t>
                      </a:r>
                      <a:r>
                        <a:rPr lang="en-US" dirty="0"/>
                        <a:t> or mitigating factors?</a:t>
                      </a:r>
                    </a:p>
                  </a:txBody>
                  <a:tcPr anchor="ctr"/>
                </a:tc>
                <a:tc gridSpan="2">
                  <a:txBody>
                    <a:bodyPr/>
                    <a:lstStyle/>
                    <a:p>
                      <a:pPr>
                        <a:spcAft>
                          <a:spcPts val="0"/>
                        </a:spcAft>
                      </a:pP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GB" sz="1600" dirty="0">
                          <a:effectLst/>
                        </a:rPr>
                        <a:t> </a:t>
                      </a:r>
                      <a:endParaRPr lang="en-US" dirty="0"/>
                    </a:p>
                  </a:txBody>
                  <a:tcPr marL="68580" marR="68580" marT="0" marB="0"/>
                </a:tc>
                <a:tc hMerge="1">
                  <a:txBody>
                    <a:bodyPr/>
                    <a:lstStyle/>
                    <a:p>
                      <a:endParaRPr lang="en-US"/>
                    </a:p>
                  </a:txBody>
                  <a:tcPr/>
                </a:tc>
                <a:tc>
                  <a:txBody>
                    <a:bodyPr/>
                    <a:lstStyle/>
                    <a:p>
                      <a:pPr>
                        <a:spcAft>
                          <a:spcPts val="0"/>
                        </a:spcAft>
                      </a:pPr>
                      <a:r>
                        <a:rPr lang="en-GB" sz="1600" dirty="0">
                          <a:effectLst/>
                        </a:rPr>
                        <a:t>Did the buyer examine the goods before the sale? Were any defects discoverable on a reasonable examination? (s.14(2C) SGA 1979)</a:t>
                      </a:r>
                      <a:endParaRPr lang="en-US" dirty="0"/>
                    </a:p>
                  </a:txBody>
                  <a:tcPr marL="68580" marR="68580" marT="0" marB="0"/>
                </a:tc>
                <a:tc>
                  <a:txBody>
                    <a:bodyPr/>
                    <a:lstStyle/>
                    <a:p>
                      <a:r>
                        <a:rPr lang="en-GB" sz="1600" dirty="0">
                          <a:effectLst/>
                        </a:rPr>
                        <a:t> ss.11(2) SGA (buyer has waived breach of condition) and 11(4) SGA (buyer has accepted part of the goods)</a:t>
                      </a:r>
                      <a:endParaRPr lang="en-US" dirty="0"/>
                    </a:p>
                  </a:txBody>
                  <a:tcPr marL="68580" marR="68580" marT="0" marB="0"/>
                </a:tc>
                <a:extLst>
                  <a:ext uri="{0D108BD9-81ED-4DB2-BD59-A6C34878D82A}">
                    <a16:rowId xmlns:a16="http://schemas.microsoft.com/office/drawing/2014/main" val="1782289385"/>
                  </a:ext>
                </a:extLst>
              </a:tr>
              <a:tr h="433149">
                <a:tc>
                  <a:txBody>
                    <a:bodyPr/>
                    <a:lstStyle/>
                    <a:p>
                      <a:r>
                        <a:rPr lang="en-US" dirty="0"/>
                        <a:t>Consequences?</a:t>
                      </a:r>
                    </a:p>
                  </a:txBody>
                  <a:tcPr anchor="ctr"/>
                </a:tc>
                <a:tc gridSpan="4">
                  <a:txBody>
                    <a:bodyPr/>
                    <a:lstStyle/>
                    <a:p>
                      <a:pPr algn="ctr">
                        <a:spcAft>
                          <a:spcPts val="0"/>
                        </a:spcAft>
                      </a:pPr>
                      <a:r>
                        <a:rPr lang="en-GB" sz="1600" dirty="0">
                          <a:effectLst/>
                        </a:rPr>
                        <a:t>Breach of condition means the buyer may treat the contract as repudiated and seek damages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269659343"/>
                  </a:ext>
                </a:extLst>
              </a:tr>
            </a:tbl>
          </a:graphicData>
        </a:graphic>
      </p:graphicFrame>
    </p:spTree>
    <p:extLst>
      <p:ext uri="{BB962C8B-B14F-4D97-AF65-F5344CB8AC3E}">
        <p14:creationId xmlns:p14="http://schemas.microsoft.com/office/powerpoint/2010/main" val="15310134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44DAB-93CC-BE46-8FD2-609E5EAA702C}"/>
              </a:ext>
            </a:extLst>
          </p:cNvPr>
          <p:cNvSpPr>
            <a:spLocks noGrp="1"/>
          </p:cNvSpPr>
          <p:nvPr>
            <p:ph type="title"/>
          </p:nvPr>
        </p:nvSpPr>
        <p:spPr/>
        <p:txBody>
          <a:bodyPr/>
          <a:lstStyle/>
          <a:p>
            <a:pPr algn="ctr"/>
            <a:r>
              <a:rPr lang="en-US" b="1" dirty="0"/>
              <a:t>Passing of property</a:t>
            </a:r>
          </a:p>
        </p:txBody>
      </p:sp>
      <p:sp>
        <p:nvSpPr>
          <p:cNvPr id="3" name="Content Placeholder 2">
            <a:extLst>
              <a:ext uri="{FF2B5EF4-FFF2-40B4-BE49-F238E27FC236}">
                <a16:creationId xmlns:a16="http://schemas.microsoft.com/office/drawing/2014/main" id="{9A317D3D-6947-804D-9B59-388BCB493594}"/>
              </a:ext>
            </a:extLst>
          </p:cNvPr>
          <p:cNvSpPr>
            <a:spLocks noGrp="1"/>
          </p:cNvSpPr>
          <p:nvPr>
            <p:ph idx="1"/>
          </p:nvPr>
        </p:nvSpPr>
        <p:spPr>
          <a:xfrm>
            <a:off x="838200" y="1690688"/>
            <a:ext cx="10515600" cy="4486275"/>
          </a:xfrm>
        </p:spPr>
        <p:txBody>
          <a:bodyPr>
            <a:normAutofit fontScale="92500"/>
          </a:bodyPr>
          <a:lstStyle/>
          <a:p>
            <a:r>
              <a:rPr lang="en-US" dirty="0"/>
              <a:t>The key question here is whether we are dealing with </a:t>
            </a:r>
            <a:r>
              <a:rPr lang="en-US" b="1" dirty="0"/>
              <a:t>specific</a:t>
            </a:r>
            <a:r>
              <a:rPr lang="en-US" dirty="0"/>
              <a:t> or </a:t>
            </a:r>
            <a:r>
              <a:rPr lang="en-US" b="1" dirty="0"/>
              <a:t>unascertained</a:t>
            </a:r>
            <a:r>
              <a:rPr lang="en-US" dirty="0"/>
              <a:t> goods.</a:t>
            </a:r>
          </a:p>
          <a:p>
            <a:r>
              <a:rPr lang="en-US" dirty="0"/>
              <a:t>Ascertained goods – not defined in Act – are presumably those which are to be identified according to a process set out in the contract (</a:t>
            </a:r>
            <a:r>
              <a:rPr lang="en-US" i="1" dirty="0"/>
              <a:t>Re Wait</a:t>
            </a:r>
            <a:r>
              <a:rPr lang="en-US" dirty="0"/>
              <a:t>)</a:t>
            </a:r>
          </a:p>
          <a:p>
            <a:r>
              <a:rPr lang="en-US" dirty="0"/>
              <a:t>Specific goods are those which have been </a:t>
            </a:r>
            <a:r>
              <a:rPr lang="en-US" i="1" dirty="0"/>
              <a:t>identified</a:t>
            </a:r>
            <a:r>
              <a:rPr lang="en-US" dirty="0"/>
              <a:t> in the contract – the seller </a:t>
            </a:r>
            <a:r>
              <a:rPr lang="en-US" i="1" dirty="0"/>
              <a:t>cannot simply replace them </a:t>
            </a:r>
            <a:r>
              <a:rPr lang="en-US" dirty="0"/>
              <a:t>with goods that fit the description in the contract and still be in compliance with her obligations under the contract (see </a:t>
            </a:r>
            <a:r>
              <a:rPr lang="en-US" i="1" dirty="0"/>
              <a:t>Carlos Federspiel</a:t>
            </a:r>
            <a:r>
              <a:rPr lang="en-US" dirty="0"/>
              <a:t>)</a:t>
            </a:r>
          </a:p>
          <a:p>
            <a:r>
              <a:rPr lang="en-US" dirty="0"/>
              <a:t>Examples of specific goods: contract referring to the serial numbers on the goods (</a:t>
            </a:r>
            <a:r>
              <a:rPr lang="en-US" i="1" dirty="0"/>
              <a:t>Hendy Lennox</a:t>
            </a:r>
            <a:r>
              <a:rPr lang="en-US" dirty="0"/>
              <a:t>), buyer specifically pointing to goods at the seller’s store</a:t>
            </a:r>
          </a:p>
        </p:txBody>
      </p:sp>
      <p:pic>
        <p:nvPicPr>
          <p:cNvPr id="4098" name="Picture 2" descr="Image result for elephant pictures cartoon">
            <a:hlinkClick r:id="rId2"/>
          </p:cNvPr>
          <p:cNvPicPr>
            <a:picLocks noChangeAspect="1" noChangeArrowheads="1"/>
          </p:cNvPicPr>
          <p:nvPr/>
        </p:nvPicPr>
        <p:blipFill>
          <a:blip r:embed="rId3"/>
          <a:srcRect/>
          <a:stretch>
            <a:fillRect/>
          </a:stretch>
        </p:blipFill>
        <p:spPr bwMode="auto">
          <a:xfrm>
            <a:off x="298079" y="33337"/>
            <a:ext cx="2238375" cy="1666875"/>
          </a:xfrm>
          <a:prstGeom prst="rect">
            <a:avLst/>
          </a:prstGeom>
          <a:noFill/>
        </p:spPr>
      </p:pic>
      <p:pic>
        <p:nvPicPr>
          <p:cNvPr id="4100" name="Picture 4" descr="Image result for elephant pictures cartoon">
            <a:hlinkClick r:id="rId2"/>
          </p:cNvPr>
          <p:cNvPicPr>
            <a:picLocks noChangeAspect="1" noChangeArrowheads="1"/>
          </p:cNvPicPr>
          <p:nvPr/>
        </p:nvPicPr>
        <p:blipFill>
          <a:blip r:embed="rId3"/>
          <a:srcRect/>
          <a:stretch>
            <a:fillRect/>
          </a:stretch>
        </p:blipFill>
        <p:spPr bwMode="auto">
          <a:xfrm>
            <a:off x="9667710" y="33337"/>
            <a:ext cx="2238375" cy="1666875"/>
          </a:xfrm>
          <a:prstGeom prst="rect">
            <a:avLst/>
          </a:prstGeom>
          <a:noFill/>
        </p:spPr>
      </p:pic>
      <p:pic>
        <p:nvPicPr>
          <p:cNvPr id="6" name="Picture 2" descr="Image result for four leaf clover emoji">
            <a:hlinkClick r:id="rId4"/>
          </p:cNvPr>
          <p:cNvPicPr>
            <a:picLocks noChangeAspect="1" noChangeArrowheads="1"/>
          </p:cNvPicPr>
          <p:nvPr/>
        </p:nvPicPr>
        <p:blipFill>
          <a:blip r:embed="rId5"/>
          <a:srcRect/>
          <a:stretch>
            <a:fillRect/>
          </a:stretch>
        </p:blipFill>
        <p:spPr bwMode="auto">
          <a:xfrm>
            <a:off x="0" y="6014766"/>
            <a:ext cx="1033153" cy="843234"/>
          </a:xfrm>
          <a:prstGeom prst="rect">
            <a:avLst/>
          </a:prstGeom>
          <a:noFill/>
        </p:spPr>
      </p:pic>
      <p:pic>
        <p:nvPicPr>
          <p:cNvPr id="7" name="Picture 2" descr="Image result for four leaf clover emoji">
            <a:hlinkClick r:id="rId4"/>
          </p:cNvPr>
          <p:cNvPicPr>
            <a:picLocks noChangeAspect="1" noChangeArrowheads="1"/>
          </p:cNvPicPr>
          <p:nvPr/>
        </p:nvPicPr>
        <p:blipFill>
          <a:blip r:embed="rId5"/>
          <a:srcRect/>
          <a:stretch>
            <a:fillRect/>
          </a:stretch>
        </p:blipFill>
        <p:spPr bwMode="auto">
          <a:xfrm>
            <a:off x="10872932" y="6014766"/>
            <a:ext cx="1033153" cy="843234"/>
          </a:xfrm>
          <a:prstGeom prst="rect">
            <a:avLst/>
          </a:prstGeom>
          <a:noFill/>
        </p:spPr>
      </p:pic>
    </p:spTree>
    <p:extLst>
      <p:ext uri="{BB962C8B-B14F-4D97-AF65-F5344CB8AC3E}">
        <p14:creationId xmlns:p14="http://schemas.microsoft.com/office/powerpoint/2010/main" val="42647120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B2EA3813-3D60-174A-8DB7-47581E529D8A}"/>
              </a:ext>
            </a:extLst>
          </p:cNvPr>
          <p:cNvGraphicFramePr>
            <a:graphicFrameLocks noGrp="1"/>
          </p:cNvGraphicFramePr>
          <p:nvPr>
            <p:extLst>
              <p:ext uri="{D42A27DB-BD31-4B8C-83A1-F6EECF244321}">
                <p14:modId xmlns:p14="http://schemas.microsoft.com/office/powerpoint/2010/main" val="2926194922"/>
              </p:ext>
            </p:extLst>
          </p:nvPr>
        </p:nvGraphicFramePr>
        <p:xfrm>
          <a:off x="1" y="-96782"/>
          <a:ext cx="12191999" cy="6996788"/>
        </p:xfrm>
        <a:graphic>
          <a:graphicData uri="http://schemas.openxmlformats.org/drawingml/2006/table">
            <a:tbl>
              <a:tblPr firstRow="1" firstCol="1" bandRow="1">
                <a:tableStyleId>{5C22544A-7EE6-4342-B048-85BDC9FD1C3A}</a:tableStyleId>
              </a:tblPr>
              <a:tblGrid>
                <a:gridCol w="1921790">
                  <a:extLst>
                    <a:ext uri="{9D8B030D-6E8A-4147-A177-3AD203B41FA5}">
                      <a16:colId xmlns:a16="http://schemas.microsoft.com/office/drawing/2014/main" val="1959833782"/>
                    </a:ext>
                  </a:extLst>
                </a:gridCol>
                <a:gridCol w="4866468">
                  <a:extLst>
                    <a:ext uri="{9D8B030D-6E8A-4147-A177-3AD203B41FA5}">
                      <a16:colId xmlns:a16="http://schemas.microsoft.com/office/drawing/2014/main" val="2716606422"/>
                    </a:ext>
                  </a:extLst>
                </a:gridCol>
                <a:gridCol w="5403741">
                  <a:extLst>
                    <a:ext uri="{9D8B030D-6E8A-4147-A177-3AD203B41FA5}">
                      <a16:colId xmlns:a16="http://schemas.microsoft.com/office/drawing/2014/main" val="3718981139"/>
                    </a:ext>
                  </a:extLst>
                </a:gridCol>
              </a:tblGrid>
              <a:tr h="309415">
                <a:tc>
                  <a:txBody>
                    <a:bodyPr/>
                    <a:lstStyle/>
                    <a:p>
                      <a:pPr>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Key questions:</a:t>
                      </a:r>
                    </a:p>
                  </a:txBody>
                  <a:tcPr marL="68580" marR="68580" marT="0" marB="0" anchor="ctr"/>
                </a:tc>
                <a:tc gridSpan="2">
                  <a:txBody>
                    <a:bodyPr/>
                    <a:lstStyle/>
                    <a:p>
                      <a:pPr algn="ctr">
                        <a:spcAft>
                          <a:spcPts val="0"/>
                        </a:spcAft>
                      </a:pPr>
                      <a:r>
                        <a:rPr lang="en-GB" sz="1600" dirty="0">
                          <a:effectLst/>
                        </a:rPr>
                        <a:t>Type of goods</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hMerge="1">
                  <a:txBody>
                    <a:bodyPr/>
                    <a:lstStyle/>
                    <a:p>
                      <a:endParaRPr lang="en-US"/>
                    </a:p>
                  </a:txBody>
                  <a:tcPr/>
                </a:tc>
                <a:extLst>
                  <a:ext uri="{0D108BD9-81ED-4DB2-BD59-A6C34878D82A}">
                    <a16:rowId xmlns:a16="http://schemas.microsoft.com/office/drawing/2014/main" val="2834689958"/>
                  </a:ext>
                </a:extLst>
              </a:tr>
              <a:tr h="995111">
                <a:tc>
                  <a:txBody>
                    <a:bodyPr/>
                    <a:lstStyle/>
                    <a:p>
                      <a:pPr algn="ctr">
                        <a:spcAft>
                          <a:spcPts val="0"/>
                        </a:spcAft>
                      </a:pPr>
                      <a:r>
                        <a:rPr lang="en-GB" sz="1600" dirty="0">
                          <a:effectLst/>
                        </a:rPr>
                        <a:t>What type of goods are we dealing with?</a:t>
                      </a:r>
                    </a:p>
                  </a:txBody>
                  <a:tcPr marL="68580" marR="68580" marT="0" marB="0" anchor="ctr"/>
                </a:tc>
                <a:tc>
                  <a:txBody>
                    <a:bodyPr/>
                    <a:lstStyle/>
                    <a:p>
                      <a:pPr algn="ctr">
                        <a:spcAft>
                          <a:spcPts val="0"/>
                        </a:spcAft>
                      </a:pPr>
                      <a:r>
                        <a:rPr lang="en-GB" sz="1600" b="1" dirty="0">
                          <a:effectLst/>
                        </a:rPr>
                        <a:t>Specific</a:t>
                      </a:r>
                      <a:endParaRPr lang="en-GB" sz="1600" b="1" dirty="0">
                        <a:effectLst/>
                        <a:latin typeface="Calibri" panose="020F0502020204030204" pitchFamily="34" charset="0"/>
                        <a:ea typeface="Calibri" panose="020F0502020204030204" pitchFamily="34" charset="0"/>
                        <a:cs typeface="Times New Roman" panose="02020603050405020304" pitchFamily="18" charset="0"/>
                      </a:endParaRPr>
                    </a:p>
                    <a:p>
                      <a:pPr algn="ctr">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(goods which have been identified and attached to the contract)</a:t>
                      </a:r>
                    </a:p>
                  </a:txBody>
                  <a:tcPr marL="68580" marR="68580" marT="0" marB="0" anchor="ctr"/>
                </a:tc>
                <a:tc>
                  <a:txBody>
                    <a:bodyPr/>
                    <a:lstStyle/>
                    <a:p>
                      <a:pPr algn="ctr">
                        <a:spcAft>
                          <a:spcPts val="0"/>
                        </a:spcAft>
                      </a:pPr>
                      <a:r>
                        <a:rPr lang="en-GB" sz="1600" b="1" dirty="0">
                          <a:effectLst/>
                        </a:rPr>
                        <a:t>Unascertained</a:t>
                      </a:r>
                    </a:p>
                    <a:p>
                      <a:pPr algn="ctr">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(goods which have been been identified in generic terms but have not yet been appropriated/attached to the contract of sale)</a:t>
                      </a:r>
                    </a:p>
                  </a:txBody>
                  <a:tcPr marL="68580" marR="68580" marT="0" marB="0" anchor="ctr"/>
                </a:tc>
                <a:extLst>
                  <a:ext uri="{0D108BD9-81ED-4DB2-BD59-A6C34878D82A}">
                    <a16:rowId xmlns:a16="http://schemas.microsoft.com/office/drawing/2014/main" val="2381845082"/>
                  </a:ext>
                </a:extLst>
              </a:tr>
              <a:tr h="7463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effectLst/>
                        </a:rPr>
                        <a:t>How does property pass in such goods?</a:t>
                      </a:r>
                    </a:p>
                    <a:p>
                      <a:pPr marL="0" marR="0" lvl="0" indent="0" algn="ctr" defTabSz="914400" rtl="0" eaLnBrk="1" fontAlgn="auto" latinLnBrk="0" hangingPunct="1">
                        <a:lnSpc>
                          <a:spcPct val="100000"/>
                        </a:lnSpc>
                        <a:spcBef>
                          <a:spcPts val="0"/>
                        </a:spcBef>
                        <a:spcAft>
                          <a:spcPts val="0"/>
                        </a:spcAft>
                        <a:buClrTx/>
                        <a:buSzTx/>
                        <a:buFontTx/>
                        <a:buNone/>
                        <a:tabLst/>
                        <a:defRPr/>
                      </a:pPr>
                      <a:endParaRPr lang="en-GB" sz="1600" dirty="0">
                        <a:effectLst/>
                      </a:endParaRPr>
                    </a:p>
                  </a:txBody>
                  <a:tcPr marL="68580" marR="68580" marT="0" marB="0" anchor="ctr"/>
                </a:tc>
                <a:tc>
                  <a:txBody>
                    <a:bodyPr/>
                    <a:lstStyle/>
                    <a:p>
                      <a:pPr>
                        <a:spcAft>
                          <a:spcPts val="0"/>
                        </a:spcAft>
                      </a:pPr>
                      <a:r>
                        <a:rPr lang="en-GB" sz="1600" b="1" dirty="0">
                          <a:effectLst/>
                        </a:rPr>
                        <a:t>s.17</a:t>
                      </a:r>
                      <a:r>
                        <a:rPr lang="en-GB" sz="1600" dirty="0">
                          <a:effectLst/>
                        </a:rPr>
                        <a:t> – property passes when intended to pass</a:t>
                      </a:r>
                    </a:p>
                  </a:txBody>
                  <a:tcPr marL="68580" marR="68580" marT="0" marB="0"/>
                </a:tc>
                <a:tc>
                  <a:txBody>
                    <a:bodyPr/>
                    <a:lstStyle/>
                    <a:p>
                      <a:pPr>
                        <a:spcAft>
                          <a:spcPts val="0"/>
                        </a:spcAft>
                      </a:pPr>
                      <a:r>
                        <a:rPr lang="en-GB" sz="1600" b="1" dirty="0">
                          <a:effectLst/>
                        </a:rPr>
                        <a:t>s.16 </a:t>
                      </a:r>
                      <a:r>
                        <a:rPr lang="en-GB" sz="1600" dirty="0">
                          <a:effectLst/>
                        </a:rPr>
                        <a:t>– property in unascertained goods does not pass until </a:t>
                      </a:r>
                      <a:r>
                        <a:rPr lang="en-GB" sz="1600" b="1" dirty="0">
                          <a:effectLst/>
                        </a:rPr>
                        <a:t>goods are ascertained</a:t>
                      </a:r>
                      <a:r>
                        <a:rPr lang="en-GB" sz="1600" dirty="0">
                          <a:effectLst/>
                        </a:rPr>
                        <a:t>.</a:t>
                      </a:r>
                    </a:p>
                  </a:txBody>
                  <a:tcPr marL="68580" marR="68580" marT="0" marB="0"/>
                </a:tc>
                <a:extLst>
                  <a:ext uri="{0D108BD9-81ED-4DB2-BD59-A6C34878D82A}">
                    <a16:rowId xmlns:a16="http://schemas.microsoft.com/office/drawing/2014/main" val="2272414650"/>
                  </a:ext>
                </a:extLst>
              </a:tr>
              <a:tr h="348288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a:effectLst/>
                        </a:rPr>
                        <a:t>How is the intention of the parties determined?</a:t>
                      </a:r>
                      <a:endParaRPr lang="en-GB" sz="1600" dirty="0">
                        <a:effectLst/>
                      </a:endParaRPr>
                    </a:p>
                  </a:txBody>
                  <a:tcPr marL="68580" marR="68580" marT="0" marB="0" anchor="ctr"/>
                </a:tc>
                <a:tc>
                  <a:txBody>
                    <a:bodyPr/>
                    <a:lstStyle/>
                    <a:p>
                      <a:pPr>
                        <a:spcAft>
                          <a:spcPts val="0"/>
                        </a:spcAft>
                      </a:pPr>
                      <a:endParaRPr lang="en-GB" sz="1600" dirty="0">
                        <a:effectLst/>
                      </a:endParaRPr>
                    </a:p>
                    <a:p>
                      <a:pPr>
                        <a:spcAft>
                          <a:spcPts val="0"/>
                        </a:spcAft>
                      </a:pPr>
                      <a:r>
                        <a:rPr lang="en-GB" sz="1600" dirty="0">
                          <a:effectLst/>
                        </a:rPr>
                        <a:t>Parties’ intention regarding </a:t>
                      </a:r>
                      <a:r>
                        <a:rPr lang="en-GB" sz="1600" i="1" dirty="0">
                          <a:effectLst/>
                        </a:rPr>
                        <a:t>when</a:t>
                      </a:r>
                      <a:r>
                        <a:rPr lang="en-GB" sz="1600" dirty="0">
                          <a:effectLst/>
                        </a:rPr>
                        <a:t> property is to pass to be  determined according to </a:t>
                      </a:r>
                      <a:r>
                        <a:rPr lang="en-GB" sz="1600" b="1" dirty="0">
                          <a:effectLst/>
                        </a:rPr>
                        <a:t>s.18 – </a:t>
                      </a:r>
                    </a:p>
                    <a:p>
                      <a:pPr>
                        <a:spcAft>
                          <a:spcPts val="0"/>
                        </a:spcAft>
                      </a:pPr>
                      <a:endParaRPr lang="en-GB" sz="1600" b="1" dirty="0">
                        <a:effectLst/>
                      </a:endParaRPr>
                    </a:p>
                    <a:p>
                      <a:pPr>
                        <a:spcAft>
                          <a:spcPts val="0"/>
                        </a:spcAft>
                      </a:pPr>
                      <a:r>
                        <a:rPr lang="en-GB" sz="1600" b="1" dirty="0">
                          <a:effectLst/>
                        </a:rPr>
                        <a:t>Rule 1: </a:t>
                      </a:r>
                      <a:r>
                        <a:rPr lang="en-GB" sz="1600" i="0" kern="1200" dirty="0">
                          <a:solidFill>
                            <a:schemeClr val="dk1"/>
                          </a:solidFill>
                          <a:effectLst/>
                          <a:latin typeface="+mn-lt"/>
                          <a:ea typeface="+mn-ea"/>
                          <a:cs typeface="+mn-cs"/>
                        </a:rPr>
                        <a:t>unconditional contract for the sale of specific goods, in a deliverable state, the property passes when the contract is made ...</a:t>
                      </a:r>
                      <a:r>
                        <a:rPr lang="en-GB" sz="1600" i="0" dirty="0">
                          <a:effectLst/>
                        </a:rPr>
                        <a:t> </a:t>
                      </a:r>
                      <a:endParaRPr lang="en-GB" sz="1600" b="1" i="0" dirty="0">
                        <a:effectLst/>
                      </a:endParaRPr>
                    </a:p>
                    <a:p>
                      <a:pPr>
                        <a:spcAft>
                          <a:spcPts val="0"/>
                        </a:spcAft>
                      </a:pPr>
                      <a:r>
                        <a:rPr lang="en-GB" sz="1600" b="1" dirty="0">
                          <a:effectLst/>
                        </a:rPr>
                        <a:t>Rule 2: </a:t>
                      </a:r>
                      <a:r>
                        <a:rPr lang="en-GB" sz="1600" kern="1200" dirty="0">
                          <a:solidFill>
                            <a:schemeClr val="dk1"/>
                          </a:solidFill>
                          <a:effectLst/>
                          <a:latin typeface="+mn-lt"/>
                          <a:ea typeface="+mn-ea"/>
                          <a:cs typeface="+mn-cs"/>
                        </a:rPr>
                        <a:t>specific goods which are not in a deliverable state</a:t>
                      </a:r>
                      <a:r>
                        <a:rPr lang="en-GB" sz="1600" dirty="0">
                          <a:effectLst/>
                        </a:rPr>
                        <a:t> </a:t>
                      </a:r>
                      <a:endParaRPr lang="en-GB" sz="1600" b="1" dirty="0">
                        <a:effectLst/>
                      </a:endParaRPr>
                    </a:p>
                    <a:p>
                      <a:pPr>
                        <a:spcAft>
                          <a:spcPts val="0"/>
                        </a:spcAft>
                      </a:pPr>
                      <a:r>
                        <a:rPr lang="en-GB" sz="1600" b="1" dirty="0">
                          <a:effectLst/>
                        </a:rPr>
                        <a:t>Rule 3: </a:t>
                      </a:r>
                      <a:r>
                        <a:rPr lang="en-GB" sz="1600" b="0" kern="1200" dirty="0">
                          <a:solidFill>
                            <a:schemeClr val="dk1"/>
                          </a:solidFill>
                          <a:effectLst/>
                          <a:latin typeface="+mn-lt"/>
                          <a:ea typeface="+mn-ea"/>
                          <a:cs typeface="+mn-cs"/>
                        </a:rPr>
                        <a:t>the seller has to do some “act or thing with reference to the goods for the purpose of ascertaining the price”</a:t>
                      </a:r>
                      <a:r>
                        <a:rPr lang="en-GB" sz="1600" b="0" dirty="0">
                          <a:effectLst/>
                        </a:rPr>
                        <a:t> </a:t>
                      </a:r>
                    </a:p>
                    <a:p>
                      <a:pPr>
                        <a:spcAft>
                          <a:spcPts val="0"/>
                        </a:spcAft>
                      </a:pPr>
                      <a:r>
                        <a:rPr lang="en-GB" sz="1600" b="1" dirty="0">
                          <a:effectLst/>
                        </a:rPr>
                        <a:t>Rule 4: </a:t>
                      </a:r>
                      <a:r>
                        <a:rPr lang="en-GB" sz="1600" kern="1200" dirty="0">
                          <a:solidFill>
                            <a:schemeClr val="dk1"/>
                          </a:solidFill>
                          <a:effectLst/>
                          <a:latin typeface="+mn-lt"/>
                          <a:ea typeface="+mn-ea"/>
                          <a:cs typeface="+mn-cs"/>
                        </a:rPr>
                        <a:t>Goods Delivered on Approval or on Sale or Return</a:t>
                      </a:r>
                      <a:r>
                        <a:rPr lang="en-GB" sz="1600" dirty="0">
                          <a:effectLst/>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spcAft>
                          <a:spcPts val="0"/>
                        </a:spcAft>
                      </a:pPr>
                      <a:r>
                        <a:rPr lang="en-GB" sz="1600" b="1" dirty="0">
                          <a:effectLst/>
                        </a:rPr>
                        <a:t>s.18 Rule 5 </a:t>
                      </a:r>
                      <a:r>
                        <a:rPr lang="en-GB" sz="1600" dirty="0">
                          <a:effectLst/>
                        </a:rPr>
                        <a:t>– </a:t>
                      </a:r>
                    </a:p>
                    <a:p>
                      <a:pPr marL="342900" indent="-342900">
                        <a:spcAft>
                          <a:spcPts val="0"/>
                        </a:spcAft>
                        <a:buAutoNum type="arabicParenBoth"/>
                      </a:pPr>
                      <a:r>
                        <a:rPr lang="en-GB" sz="1600" kern="1200" dirty="0">
                          <a:solidFill>
                            <a:schemeClr val="dk1"/>
                          </a:solidFill>
                          <a:effectLst/>
                          <a:latin typeface="+mn-lt"/>
                          <a:ea typeface="+mn-ea"/>
                          <a:cs typeface="+mn-cs"/>
                        </a:rPr>
                        <a:t>when goods </a:t>
                      </a:r>
                      <a:r>
                        <a:rPr lang="en-GB" sz="1600" b="1" kern="1200" dirty="0">
                          <a:solidFill>
                            <a:schemeClr val="dk1"/>
                          </a:solidFill>
                          <a:effectLst/>
                          <a:latin typeface="+mn-lt"/>
                          <a:ea typeface="+mn-ea"/>
                          <a:cs typeface="+mn-cs"/>
                        </a:rPr>
                        <a:t>in deliverable state </a:t>
                      </a:r>
                      <a:r>
                        <a:rPr lang="en-GB" sz="1600" kern="1200" dirty="0">
                          <a:solidFill>
                            <a:schemeClr val="dk1"/>
                          </a:solidFill>
                          <a:effectLst/>
                          <a:latin typeface="+mn-lt"/>
                          <a:ea typeface="+mn-ea"/>
                          <a:cs typeface="+mn-cs"/>
                        </a:rPr>
                        <a:t>and </a:t>
                      </a:r>
                      <a:r>
                        <a:rPr lang="en-GB" sz="1600" b="1" kern="1200" dirty="0">
                          <a:solidFill>
                            <a:schemeClr val="dk1"/>
                          </a:solidFill>
                          <a:effectLst/>
                          <a:latin typeface="+mn-lt"/>
                          <a:ea typeface="+mn-ea"/>
                          <a:cs typeface="+mn-cs"/>
                        </a:rPr>
                        <a:t>meeting the description in the contract</a:t>
                      </a:r>
                      <a:r>
                        <a:rPr lang="en-GB" sz="1600" kern="1200" dirty="0">
                          <a:solidFill>
                            <a:schemeClr val="dk1"/>
                          </a:solidFill>
                          <a:effectLst/>
                          <a:latin typeface="+mn-lt"/>
                          <a:ea typeface="+mn-ea"/>
                          <a:cs typeface="+mn-cs"/>
                        </a:rPr>
                        <a:t> have been </a:t>
                      </a:r>
                      <a:r>
                        <a:rPr lang="en-GB" sz="1600" b="1" kern="1200" dirty="0">
                          <a:solidFill>
                            <a:schemeClr val="dk1"/>
                          </a:solidFill>
                          <a:effectLst/>
                          <a:latin typeface="+mn-lt"/>
                          <a:ea typeface="+mn-ea"/>
                          <a:cs typeface="+mn-cs"/>
                        </a:rPr>
                        <a:t>unconditionally appropriated</a:t>
                      </a:r>
                      <a:r>
                        <a:rPr lang="en-GB" sz="1600" kern="1200" dirty="0">
                          <a:solidFill>
                            <a:schemeClr val="dk1"/>
                          </a:solidFill>
                          <a:effectLst/>
                          <a:latin typeface="+mn-lt"/>
                          <a:ea typeface="+mn-ea"/>
                          <a:cs typeface="+mn-cs"/>
                        </a:rPr>
                        <a:t> to the contract with the assent of either the buyer or the seller</a:t>
                      </a:r>
                    </a:p>
                    <a:p>
                      <a:pPr marL="342900" indent="-342900">
                        <a:spcAft>
                          <a:spcPts val="0"/>
                        </a:spcAft>
                        <a:buAutoNum type="arabicParenBoth"/>
                      </a:pPr>
                      <a:r>
                        <a:rPr lang="en-GB" sz="1600" kern="1200" dirty="0">
                          <a:solidFill>
                            <a:schemeClr val="dk1"/>
                          </a:solidFill>
                          <a:effectLst/>
                          <a:latin typeface="+mn-lt"/>
                          <a:ea typeface="+mn-ea"/>
                          <a:cs typeface="+mn-cs"/>
                        </a:rPr>
                        <a:t>when the goods </a:t>
                      </a:r>
                      <a:r>
                        <a:rPr lang="en-GB" sz="1600" b="1" kern="1200" dirty="0">
                          <a:solidFill>
                            <a:schemeClr val="dk1"/>
                          </a:solidFill>
                          <a:effectLst/>
                          <a:latin typeface="+mn-lt"/>
                          <a:ea typeface="+mn-ea"/>
                          <a:cs typeface="+mn-cs"/>
                        </a:rPr>
                        <a:t>have been delivered to the buyer or taken to a carrier </a:t>
                      </a:r>
                      <a:r>
                        <a:rPr lang="en-GB" sz="1600" kern="1200" dirty="0">
                          <a:solidFill>
                            <a:schemeClr val="dk1"/>
                          </a:solidFill>
                          <a:effectLst/>
                          <a:latin typeface="+mn-lt"/>
                          <a:ea typeface="+mn-ea"/>
                          <a:cs typeface="+mn-cs"/>
                        </a:rPr>
                        <a:t>for transmission to the buyer</a:t>
                      </a:r>
                    </a:p>
                    <a:p>
                      <a:pPr marL="342900" indent="-342900">
                        <a:spcAft>
                          <a:spcPts val="0"/>
                        </a:spcAft>
                        <a:buAutoNum type="arabicParenBoth"/>
                      </a:pPr>
                      <a:r>
                        <a:rPr lang="en-GB" sz="1600" b="0" kern="1200" dirty="0">
                          <a:solidFill>
                            <a:schemeClr val="dk1"/>
                          </a:solidFill>
                          <a:effectLst/>
                          <a:latin typeface="+mn-lt"/>
                          <a:ea typeface="+mn-ea"/>
                          <a:cs typeface="+mn-cs"/>
                        </a:rPr>
                        <a:t>ascertainment</a:t>
                      </a:r>
                      <a:r>
                        <a:rPr lang="en-GB" sz="1600" b="1" kern="1200" dirty="0">
                          <a:solidFill>
                            <a:schemeClr val="dk1"/>
                          </a:solidFill>
                          <a:effectLst/>
                          <a:latin typeface="+mn-lt"/>
                          <a:ea typeface="+mn-ea"/>
                          <a:cs typeface="+mn-cs"/>
                        </a:rPr>
                        <a:t> by exhaustion </a:t>
                      </a:r>
                      <a:r>
                        <a:rPr lang="en-GB" sz="1600" kern="1200" dirty="0">
                          <a:solidFill>
                            <a:schemeClr val="dk1"/>
                          </a:solidFill>
                          <a:effectLst/>
                          <a:latin typeface="+mn-lt"/>
                          <a:ea typeface="+mn-ea"/>
                          <a:cs typeface="+mn-cs"/>
                        </a:rPr>
                        <a:t>– goods are unconditionally appropriated to the contract when they represent the </a:t>
                      </a:r>
                      <a:r>
                        <a:rPr lang="en-GB" sz="1600" b="1" kern="1200" dirty="0">
                          <a:solidFill>
                            <a:schemeClr val="dk1"/>
                          </a:solidFill>
                          <a:effectLst/>
                          <a:latin typeface="+mn-lt"/>
                          <a:ea typeface="+mn-ea"/>
                          <a:cs typeface="+mn-cs"/>
                        </a:rPr>
                        <a:t>remainder of an identified bulk </a:t>
                      </a:r>
                      <a:r>
                        <a:rPr lang="en-GB" sz="1600" b="0" kern="1200" dirty="0">
                          <a:solidFill>
                            <a:schemeClr val="dk1"/>
                          </a:solidFill>
                          <a:effectLst/>
                          <a:latin typeface="+mn-lt"/>
                          <a:ea typeface="+mn-ea"/>
                          <a:cs typeface="+mn-cs"/>
                        </a:rPr>
                        <a:t>(</a:t>
                      </a:r>
                      <a:r>
                        <a:rPr lang="en-GB" sz="1600" i="1" kern="1200" dirty="0">
                          <a:solidFill>
                            <a:schemeClr val="dk1"/>
                          </a:solidFill>
                          <a:effectLst/>
                          <a:latin typeface="+mn-lt"/>
                          <a:ea typeface="+mn-ea"/>
                          <a:cs typeface="+mn-cs"/>
                        </a:rPr>
                        <a:t>Wait and James v Midland Bank</a:t>
                      </a:r>
                      <a:r>
                        <a:rPr lang="en-GB" sz="1600" b="0" kern="1200" dirty="0">
                          <a:solidFill>
                            <a:schemeClr val="dk1"/>
                          </a:solidFill>
                          <a:effectLst/>
                          <a:latin typeface="+mn-lt"/>
                          <a:ea typeface="+mn-ea"/>
                          <a:cs typeface="+mn-cs"/>
                        </a:rPr>
                        <a:t>)</a:t>
                      </a:r>
                    </a:p>
                    <a:p>
                      <a:pPr marL="342900" indent="-342900">
                        <a:spcAft>
                          <a:spcPts val="0"/>
                        </a:spcAft>
                        <a:buAutoNum type="arabicParenBoth"/>
                      </a:pPr>
                      <a:r>
                        <a:rPr lang="en-GB" sz="1600" i="0" kern="1200" dirty="0">
                          <a:solidFill>
                            <a:schemeClr val="dk1"/>
                          </a:solidFill>
                          <a:effectLst/>
                          <a:latin typeface="+mn-lt"/>
                          <a:ea typeface="+mn-ea"/>
                          <a:cs typeface="+mn-cs"/>
                        </a:rPr>
                        <a:t>The facts in </a:t>
                      </a:r>
                      <a:r>
                        <a:rPr lang="en-GB" sz="1600" i="1" kern="1200" dirty="0">
                          <a:solidFill>
                            <a:schemeClr val="dk1"/>
                          </a:solidFill>
                          <a:effectLst/>
                          <a:latin typeface="+mn-lt"/>
                          <a:ea typeface="+mn-ea"/>
                          <a:cs typeface="+mn-cs"/>
                        </a:rPr>
                        <a:t>The </a:t>
                      </a:r>
                      <a:r>
                        <a:rPr lang="en-GB" sz="1600" i="1" kern="1200" dirty="0" err="1">
                          <a:solidFill>
                            <a:schemeClr val="dk1"/>
                          </a:solidFill>
                          <a:effectLst/>
                          <a:latin typeface="+mn-lt"/>
                          <a:ea typeface="+mn-ea"/>
                          <a:cs typeface="+mn-cs"/>
                        </a:rPr>
                        <a:t>Elafi</a:t>
                      </a:r>
                      <a:r>
                        <a:rPr lang="en-GB" sz="1600" i="1" kern="1200" dirty="0">
                          <a:solidFill>
                            <a:schemeClr val="dk1"/>
                          </a:solidFill>
                          <a:effectLst/>
                          <a:latin typeface="+mn-lt"/>
                          <a:ea typeface="+mn-ea"/>
                          <a:cs typeface="+mn-cs"/>
                        </a:rPr>
                        <a:t> </a:t>
                      </a:r>
                      <a:r>
                        <a:rPr lang="en-GB" sz="1600" i="0" kern="1200" dirty="0">
                          <a:solidFill>
                            <a:schemeClr val="dk1"/>
                          </a:solidFill>
                          <a:effectLst/>
                          <a:latin typeface="+mn-lt"/>
                          <a:ea typeface="+mn-ea"/>
                          <a:cs typeface="+mn-cs"/>
                        </a:rPr>
                        <a:t>(</a:t>
                      </a:r>
                      <a:r>
                        <a:rPr lang="en-GB" sz="1600" kern="1200" dirty="0">
                          <a:solidFill>
                            <a:schemeClr val="dk1"/>
                          </a:solidFill>
                          <a:effectLst/>
                          <a:latin typeface="+mn-lt"/>
                          <a:ea typeface="+mn-ea"/>
                          <a:cs typeface="+mn-cs"/>
                        </a:rPr>
                        <a:t>single buyer purchases the whole bulk in separate contracts, and the parties intend property to pass)</a:t>
                      </a:r>
                      <a:endParaRPr lang="en-GB" sz="1600" i="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95048944"/>
                  </a:ext>
                </a:extLst>
              </a:tr>
              <a:tr h="14210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600" dirty="0">
                          <a:effectLst/>
                        </a:rPr>
                        <a:t>Other key questions</a:t>
                      </a:r>
                      <a:r>
                        <a:rPr lang="en-GB" sz="1600" dirty="0">
                          <a:effectLst/>
                          <a:latin typeface="Calibri" panose="020F0502020204030204" pitchFamily="34" charset="0"/>
                          <a:cs typeface="Times New Roman" panose="02020603050405020304" pitchFamily="18" charset="0"/>
                        </a:rPr>
                        <a:t>:</a:t>
                      </a:r>
                      <a:endParaRPr lang="en-GB" sz="1600" dirty="0">
                        <a:effectLst/>
                      </a:endParaRPr>
                    </a:p>
                  </a:txBody>
                  <a:tcPr marL="68580" marR="68580" marT="0" marB="0" anchor="ctr"/>
                </a:tc>
                <a:tc>
                  <a:txBody>
                    <a:bodyPr/>
                    <a:lstStyle/>
                    <a:p>
                      <a:pPr>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Is the </a:t>
                      </a:r>
                      <a:r>
                        <a:rPr lang="en-GB" sz="1600" b="1" dirty="0">
                          <a:effectLst/>
                          <a:latin typeface="Calibri" panose="020F0502020204030204" pitchFamily="34" charset="0"/>
                          <a:ea typeface="Calibri" panose="020F0502020204030204" pitchFamily="34" charset="0"/>
                          <a:cs typeface="Times New Roman" panose="02020603050405020304" pitchFamily="18" charset="0"/>
                        </a:rPr>
                        <a:t>contract unconditional</a:t>
                      </a:r>
                      <a:r>
                        <a:rPr lang="en-GB" sz="1600" dirty="0">
                          <a:effectLst/>
                          <a:latin typeface="Calibri" panose="020F0502020204030204" pitchFamily="34" charset="0"/>
                          <a:ea typeface="Calibri" panose="020F0502020204030204" pitchFamily="34" charset="0"/>
                          <a:cs typeface="Times New Roman" panose="02020603050405020304" pitchFamily="18" charset="0"/>
                        </a:rPr>
                        <a:t>?</a:t>
                      </a:r>
                    </a:p>
                    <a:p>
                      <a:pPr>
                        <a:spcAft>
                          <a:spcPts val="0"/>
                        </a:spcAft>
                      </a:pP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p>
                      <a:pPr>
                        <a:spcAft>
                          <a:spcPts val="0"/>
                        </a:spcAft>
                      </a:pPr>
                      <a:r>
                        <a:rPr lang="en-GB" sz="1600" dirty="0">
                          <a:effectLst/>
                          <a:latin typeface="Calibri" panose="020F0502020204030204" pitchFamily="34" charset="0"/>
                          <a:ea typeface="Calibri" panose="020F0502020204030204" pitchFamily="34" charset="0"/>
                          <a:cs typeface="Times New Roman" panose="02020603050405020304" pitchFamily="18" charset="0"/>
                        </a:rPr>
                        <a:t>Are the goods in a </a:t>
                      </a:r>
                      <a:r>
                        <a:rPr lang="en-GB" sz="1600" b="1" dirty="0">
                          <a:effectLst/>
                          <a:latin typeface="Calibri" panose="020F0502020204030204" pitchFamily="34" charset="0"/>
                          <a:ea typeface="Calibri" panose="020F0502020204030204" pitchFamily="34" charset="0"/>
                          <a:cs typeface="Times New Roman" panose="02020603050405020304" pitchFamily="18" charset="0"/>
                        </a:rPr>
                        <a:t>deliverable state</a:t>
                      </a:r>
                      <a:r>
                        <a:rPr lang="en-GB" sz="1600" dirty="0">
                          <a:effectLst/>
                          <a:latin typeface="Calibri" panose="020F0502020204030204" pitchFamily="34" charset="0"/>
                          <a:ea typeface="Calibri" panose="020F0502020204030204" pitchFamily="34" charset="0"/>
                          <a:cs typeface="Times New Roman" panose="02020603050405020304" pitchFamily="18" charset="0"/>
                        </a:rPr>
                        <a:t>?  - </a:t>
                      </a:r>
                      <a:r>
                        <a:rPr lang="en-GB" sz="1600" i="1" kern="1200" dirty="0">
                          <a:solidFill>
                            <a:schemeClr val="dk1"/>
                          </a:solidFill>
                          <a:effectLst/>
                          <a:latin typeface="+mn-lt"/>
                          <a:ea typeface="+mn-ea"/>
                          <a:cs typeface="+mn-cs"/>
                        </a:rPr>
                        <a:t>Underwood Ltd </a:t>
                      </a:r>
                      <a:r>
                        <a:rPr lang="en-GB" sz="1600" kern="1200" dirty="0">
                          <a:solidFill>
                            <a:schemeClr val="dk1"/>
                          </a:solidFill>
                          <a:effectLst/>
                          <a:latin typeface="+mn-lt"/>
                          <a:ea typeface="+mn-ea"/>
                          <a:cs typeface="+mn-cs"/>
                        </a:rPr>
                        <a:t>v</a:t>
                      </a:r>
                      <a:r>
                        <a:rPr lang="en-GB" sz="1600" i="1" kern="1200" dirty="0">
                          <a:solidFill>
                            <a:schemeClr val="dk1"/>
                          </a:solidFill>
                          <a:effectLst/>
                          <a:latin typeface="+mn-lt"/>
                          <a:ea typeface="+mn-ea"/>
                          <a:cs typeface="+mn-cs"/>
                        </a:rPr>
                        <a:t> Burgh Castle Brick</a:t>
                      </a:r>
                      <a:r>
                        <a:rPr lang="en-GB" sz="1600" i="0" kern="1200" dirty="0">
                          <a:solidFill>
                            <a:schemeClr val="dk1"/>
                          </a:solidFill>
                          <a:effectLst/>
                          <a:latin typeface="+mn-lt"/>
                          <a:ea typeface="+mn-ea"/>
                          <a:cs typeface="+mn-cs"/>
                        </a:rPr>
                        <a:t>,</a:t>
                      </a:r>
                      <a:r>
                        <a:rPr lang="en-GB" sz="1600" kern="1200" dirty="0">
                          <a:solidFill>
                            <a:schemeClr val="dk1"/>
                          </a:solidFill>
                          <a:effectLst/>
                          <a:latin typeface="+mn-lt"/>
                          <a:ea typeface="+mn-ea"/>
                          <a:cs typeface="+mn-cs"/>
                        </a:rPr>
                        <a:t> </a:t>
                      </a:r>
                      <a:r>
                        <a:rPr lang="en-GB" sz="1600" i="1" kern="1200" dirty="0">
                          <a:solidFill>
                            <a:schemeClr val="dk1"/>
                          </a:solidFill>
                          <a:effectLst/>
                          <a:latin typeface="+mn-lt"/>
                          <a:ea typeface="+mn-ea"/>
                          <a:cs typeface="+mn-cs"/>
                        </a:rPr>
                        <a:t>Head </a:t>
                      </a:r>
                      <a:r>
                        <a:rPr lang="en-GB" sz="1600" kern="1200" dirty="0">
                          <a:solidFill>
                            <a:schemeClr val="dk1"/>
                          </a:solidFill>
                          <a:effectLst/>
                          <a:latin typeface="+mn-lt"/>
                          <a:ea typeface="+mn-ea"/>
                          <a:cs typeface="+mn-cs"/>
                        </a:rPr>
                        <a:t>v</a:t>
                      </a:r>
                      <a:r>
                        <a:rPr lang="en-GB" sz="1600" i="1" kern="1200" dirty="0">
                          <a:solidFill>
                            <a:schemeClr val="dk1"/>
                          </a:solidFill>
                          <a:effectLst/>
                          <a:latin typeface="+mn-lt"/>
                          <a:ea typeface="+mn-ea"/>
                          <a:cs typeface="+mn-cs"/>
                        </a:rPr>
                        <a:t> </a:t>
                      </a:r>
                      <a:r>
                        <a:rPr lang="en-GB" sz="1600" i="1" kern="1200" dirty="0" err="1">
                          <a:solidFill>
                            <a:schemeClr val="dk1"/>
                          </a:solidFill>
                          <a:effectLst/>
                          <a:latin typeface="+mn-lt"/>
                          <a:ea typeface="+mn-ea"/>
                          <a:cs typeface="+mn-cs"/>
                        </a:rPr>
                        <a:t>Showfronts</a:t>
                      </a:r>
                      <a:r>
                        <a:rPr lang="en-GB" sz="1600" kern="1200" dirty="0">
                          <a:solidFill>
                            <a:schemeClr val="dk1"/>
                          </a:solidFill>
                          <a:effectLst/>
                          <a:latin typeface="+mn-lt"/>
                          <a:ea typeface="+mn-ea"/>
                          <a:cs typeface="+mn-cs"/>
                        </a:rPr>
                        <a:t> </a:t>
                      </a:r>
                      <a:endParaRPr lang="en-GB" sz="16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indent="0">
                        <a:spcAft>
                          <a:spcPts val="0"/>
                        </a:spcAft>
                        <a:buNone/>
                      </a:pPr>
                      <a:r>
                        <a:rPr lang="en-GB" sz="1600" i="0" dirty="0">
                          <a:effectLst/>
                          <a:latin typeface="Calibri" panose="020F0502020204030204" pitchFamily="34" charset="0"/>
                          <a:ea typeface="Calibri" panose="020F0502020204030204" pitchFamily="34" charset="0"/>
                          <a:cs typeface="Times New Roman" panose="02020603050405020304" pitchFamily="18" charset="0"/>
                        </a:rPr>
                        <a:t>Have the goods been </a:t>
                      </a:r>
                      <a:r>
                        <a:rPr lang="en-GB" sz="1600" b="1" i="0" dirty="0">
                          <a:effectLst/>
                          <a:latin typeface="Calibri" panose="020F0502020204030204" pitchFamily="34" charset="0"/>
                          <a:ea typeface="Calibri" panose="020F0502020204030204" pitchFamily="34" charset="0"/>
                          <a:cs typeface="Times New Roman" panose="02020603050405020304" pitchFamily="18" charset="0"/>
                        </a:rPr>
                        <a:t>unconditionally appropriated </a:t>
                      </a:r>
                      <a:r>
                        <a:rPr lang="en-GB" sz="1600" i="0" dirty="0">
                          <a:effectLst/>
                          <a:latin typeface="Calibri" panose="020F0502020204030204" pitchFamily="34" charset="0"/>
                          <a:ea typeface="Calibri" panose="020F0502020204030204" pitchFamily="34" charset="0"/>
                          <a:cs typeface="Times New Roman" panose="02020603050405020304" pitchFamily="18" charset="0"/>
                        </a:rPr>
                        <a:t>to the contract? </a:t>
                      </a:r>
                      <a:r>
                        <a:rPr lang="en-GB" sz="1600" i="1" dirty="0">
                          <a:effectLst/>
                          <a:latin typeface="Calibri" panose="020F0502020204030204" pitchFamily="34" charset="0"/>
                          <a:ea typeface="Calibri" panose="020F0502020204030204" pitchFamily="34" charset="0"/>
                          <a:cs typeface="Times New Roman" panose="02020603050405020304" pitchFamily="18" charset="0"/>
                        </a:rPr>
                        <a:t>– Carlos Federspiel, Re London Wine, Healy </a:t>
                      </a:r>
                      <a:r>
                        <a:rPr lang="en-GB" sz="1600" i="1" dirty="0" err="1">
                          <a:effectLst/>
                          <a:latin typeface="Calibri" panose="020F0502020204030204" pitchFamily="34" charset="0"/>
                          <a:ea typeface="Calibri" panose="020F0502020204030204" pitchFamily="34" charset="0"/>
                          <a:cs typeface="Times New Roman" panose="02020603050405020304" pitchFamily="18" charset="0"/>
                        </a:rPr>
                        <a:t>Howlett</a:t>
                      </a:r>
                      <a:endParaRPr lang="en-GB" sz="1600" i="1"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Aft>
                          <a:spcPts val="0"/>
                        </a:spcAft>
                        <a:buNone/>
                      </a:pPr>
                      <a:endParaRPr lang="en-GB" sz="1600" i="0" dirty="0">
                        <a:effectLst/>
                        <a:latin typeface="Calibri" panose="020F0502020204030204" pitchFamily="34" charset="0"/>
                        <a:ea typeface="Calibri" panose="020F0502020204030204" pitchFamily="34" charset="0"/>
                        <a:cs typeface="Times New Roman" panose="02020603050405020304" pitchFamily="18" charset="0"/>
                      </a:endParaRPr>
                    </a:p>
                    <a:p>
                      <a:pPr marL="0" indent="0">
                        <a:spcAft>
                          <a:spcPts val="0"/>
                        </a:spcAft>
                        <a:buNone/>
                      </a:pPr>
                      <a:r>
                        <a:rPr lang="en-GB" sz="1600" i="0" dirty="0">
                          <a:effectLst/>
                          <a:latin typeface="Calibri" panose="020F0502020204030204" pitchFamily="34" charset="0"/>
                          <a:ea typeface="Calibri" panose="020F0502020204030204" pitchFamily="34" charset="0"/>
                          <a:cs typeface="Times New Roman" panose="02020603050405020304" pitchFamily="18" charset="0"/>
                        </a:rPr>
                        <a:t>If applicable: Is there an </a:t>
                      </a:r>
                      <a:r>
                        <a:rPr lang="en-GB" sz="1600" b="1" i="0" dirty="0">
                          <a:effectLst/>
                          <a:latin typeface="Calibri" panose="020F0502020204030204" pitchFamily="34" charset="0"/>
                          <a:ea typeface="Calibri" panose="020F0502020204030204" pitchFamily="34" charset="0"/>
                          <a:cs typeface="Times New Roman" panose="02020603050405020304" pitchFamily="18" charset="0"/>
                        </a:rPr>
                        <a:t>unspecified part of an identified bulk</a:t>
                      </a:r>
                      <a:r>
                        <a:rPr lang="en-GB" sz="1600" i="0" dirty="0">
                          <a:effectLst/>
                          <a:latin typeface="Calibri" panose="020F0502020204030204" pitchFamily="34" charset="0"/>
                          <a:ea typeface="Calibri" panose="020F0502020204030204" pitchFamily="34" charset="0"/>
                          <a:cs typeface="Times New Roman" panose="02020603050405020304" pitchFamily="18" charset="0"/>
                        </a:rPr>
                        <a:t>? (</a:t>
                      </a:r>
                      <a:r>
                        <a:rPr lang="en-GB" sz="1600" i="1" dirty="0">
                          <a:effectLst/>
                          <a:latin typeface="Calibri" panose="020F0502020204030204" pitchFamily="34" charset="0"/>
                          <a:ea typeface="Calibri" panose="020F0502020204030204" pitchFamily="34" charset="0"/>
                          <a:cs typeface="Times New Roman" panose="02020603050405020304" pitchFamily="18" charset="0"/>
                        </a:rPr>
                        <a:t>Re Wait, Re </a:t>
                      </a:r>
                      <a:r>
                        <a:rPr lang="en-GB" sz="1600" i="1" dirty="0" err="1">
                          <a:effectLst/>
                          <a:latin typeface="Calibri" panose="020F0502020204030204" pitchFamily="34" charset="0"/>
                          <a:ea typeface="Calibri" panose="020F0502020204030204" pitchFamily="34" charset="0"/>
                          <a:cs typeface="Times New Roman" panose="02020603050405020304" pitchFamily="18" charset="0"/>
                        </a:rPr>
                        <a:t>Stapylton</a:t>
                      </a:r>
                      <a:r>
                        <a:rPr lang="en-GB" sz="1600" i="1" dirty="0">
                          <a:effectLst/>
                          <a:latin typeface="Calibri" panose="020F0502020204030204" pitchFamily="34" charset="0"/>
                          <a:ea typeface="Calibri" panose="020F0502020204030204" pitchFamily="34" charset="0"/>
                          <a:cs typeface="Times New Roman" panose="02020603050405020304" pitchFamily="18" charset="0"/>
                        </a:rPr>
                        <a:t> Fletcher</a:t>
                      </a:r>
                      <a:r>
                        <a:rPr lang="en-GB" sz="1600" i="0" dirty="0">
                          <a:effectLst/>
                          <a:latin typeface="Calibri" panose="020F0502020204030204" pitchFamily="34" charset="0"/>
                          <a:ea typeface="Calibri" panose="020F0502020204030204" pitchFamily="34" charset="0"/>
                          <a:cs typeface="Times New Roman" panose="02020603050405020304" pitchFamily="18" charset="0"/>
                        </a:rPr>
                        <a:t> and now, s.20A &amp; 20B SGA 1979)</a:t>
                      </a:r>
                    </a:p>
                  </a:txBody>
                  <a:tcPr marL="68580" marR="68580" marT="0" marB="0"/>
                </a:tc>
                <a:extLst>
                  <a:ext uri="{0D108BD9-81ED-4DB2-BD59-A6C34878D82A}">
                    <a16:rowId xmlns:a16="http://schemas.microsoft.com/office/drawing/2014/main" val="1489490288"/>
                  </a:ext>
                </a:extLst>
              </a:tr>
            </a:tbl>
          </a:graphicData>
        </a:graphic>
      </p:graphicFrame>
    </p:spTree>
    <p:extLst>
      <p:ext uri="{BB962C8B-B14F-4D97-AF65-F5344CB8AC3E}">
        <p14:creationId xmlns:p14="http://schemas.microsoft.com/office/powerpoint/2010/main" val="3085548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a:t>Good Luck!!</a:t>
            </a:r>
            <a:br>
              <a:rPr lang="en-GB" b="1" dirty="0"/>
            </a:br>
            <a:endParaRPr lang="en-GB" b="1" dirty="0"/>
          </a:p>
        </p:txBody>
      </p:sp>
      <p:pic>
        <p:nvPicPr>
          <p:cNvPr id="1026" name="Picture 2" descr="Image result for four leaf clover emoji">
            <a:hlinkClick r:id="rId2"/>
          </p:cNvPr>
          <p:cNvPicPr>
            <a:picLocks noChangeAspect="1" noChangeArrowheads="1"/>
          </p:cNvPicPr>
          <p:nvPr/>
        </p:nvPicPr>
        <p:blipFill>
          <a:blip r:embed="rId3"/>
          <a:srcRect/>
          <a:stretch>
            <a:fillRect/>
          </a:stretch>
        </p:blipFill>
        <p:spPr bwMode="auto">
          <a:xfrm>
            <a:off x="155575" y="403761"/>
            <a:ext cx="1524000" cy="1912403"/>
          </a:xfrm>
          <a:prstGeom prst="rect">
            <a:avLst/>
          </a:prstGeom>
          <a:noFill/>
        </p:spPr>
      </p:pic>
      <p:pic>
        <p:nvPicPr>
          <p:cNvPr id="1028" name="Picture 4" descr="Image result for four leaf clover emoji">
            <a:hlinkClick r:id="rId2"/>
          </p:cNvPr>
          <p:cNvPicPr>
            <a:picLocks noChangeAspect="1" noChangeArrowheads="1"/>
          </p:cNvPicPr>
          <p:nvPr/>
        </p:nvPicPr>
        <p:blipFill>
          <a:blip r:embed="rId3"/>
          <a:srcRect/>
          <a:stretch>
            <a:fillRect/>
          </a:stretch>
        </p:blipFill>
        <p:spPr bwMode="auto">
          <a:xfrm>
            <a:off x="10402784" y="4813939"/>
            <a:ext cx="1579418" cy="1859993"/>
          </a:xfrm>
          <a:prstGeom prst="rect">
            <a:avLst/>
          </a:prstGeom>
          <a:noFill/>
        </p:spPr>
      </p:pic>
      <p:pic>
        <p:nvPicPr>
          <p:cNvPr id="1030" name="Picture 6" descr="Blue horseshoe.svg"/>
          <p:cNvPicPr>
            <a:picLocks noChangeAspect="1" noChangeArrowheads="1"/>
          </p:cNvPicPr>
          <p:nvPr/>
        </p:nvPicPr>
        <p:blipFill>
          <a:blip r:embed="rId4"/>
          <a:srcRect/>
          <a:stretch>
            <a:fillRect/>
          </a:stretch>
        </p:blipFill>
        <p:spPr bwMode="auto">
          <a:xfrm>
            <a:off x="-175574" y="4298559"/>
            <a:ext cx="2660073" cy="2559441"/>
          </a:xfrm>
          <a:prstGeom prst="rect">
            <a:avLst/>
          </a:prstGeom>
          <a:noFill/>
        </p:spPr>
      </p:pic>
      <p:pic>
        <p:nvPicPr>
          <p:cNvPr id="7" name="Picture 6" descr="Blue horseshoe.svg"/>
          <p:cNvPicPr>
            <a:picLocks noChangeAspect="1" noChangeArrowheads="1"/>
          </p:cNvPicPr>
          <p:nvPr/>
        </p:nvPicPr>
        <p:blipFill>
          <a:blip r:embed="rId4"/>
          <a:srcRect/>
          <a:stretch>
            <a:fillRect/>
          </a:stretch>
        </p:blipFill>
        <p:spPr bwMode="auto">
          <a:xfrm>
            <a:off x="9823450" y="199222"/>
            <a:ext cx="2660073" cy="2559441"/>
          </a:xfrm>
          <a:prstGeom prst="rect">
            <a:avLst/>
          </a:prstGeom>
          <a:noFill/>
        </p:spPr>
      </p:pic>
      <p:pic>
        <p:nvPicPr>
          <p:cNvPr id="1032" name="Picture 8" descr="Image result for elephant pictures cartoon">
            <a:hlinkClick r:id="rId5"/>
          </p:cNvPr>
          <p:cNvPicPr>
            <a:picLocks noChangeAspect="1" noChangeArrowheads="1"/>
          </p:cNvPicPr>
          <p:nvPr/>
        </p:nvPicPr>
        <p:blipFill>
          <a:blip r:embed="rId6"/>
          <a:srcRect/>
          <a:stretch>
            <a:fillRect/>
          </a:stretch>
        </p:blipFill>
        <p:spPr bwMode="auto">
          <a:xfrm>
            <a:off x="4786952" y="403761"/>
            <a:ext cx="2238375" cy="1666875"/>
          </a:xfrm>
          <a:prstGeom prst="rect">
            <a:avLst/>
          </a:prstGeom>
          <a:noFill/>
        </p:spPr>
      </p:pic>
      <p:pic>
        <p:nvPicPr>
          <p:cNvPr id="1034" name="Picture 10" descr="Image result for elephant pictures cartoon">
            <a:hlinkClick r:id="rId5"/>
          </p:cNvPr>
          <p:cNvPicPr>
            <a:picLocks noChangeAspect="1" noChangeArrowheads="1"/>
          </p:cNvPicPr>
          <p:nvPr/>
        </p:nvPicPr>
        <p:blipFill>
          <a:blip r:embed="rId6"/>
          <a:srcRect/>
          <a:stretch>
            <a:fillRect/>
          </a:stretch>
        </p:blipFill>
        <p:spPr bwMode="auto">
          <a:xfrm>
            <a:off x="4965082" y="5007057"/>
            <a:ext cx="2238375" cy="1666875"/>
          </a:xfrm>
          <a:prstGeom prst="rect">
            <a:avLst/>
          </a:prstGeom>
          <a:noFill/>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763</TotalTime>
  <Words>2987</Words>
  <Application>Microsoft Office PowerPoint</Application>
  <PresentationFormat>Widescreen</PresentationFormat>
  <Paragraphs>204</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Office Theme</vt:lpstr>
      <vt:lpstr>Revision Notes</vt:lpstr>
      <vt:lpstr>Answering problem questions:</vt:lpstr>
      <vt:lpstr>Pre - Contractual Impossibility &amp;  Post-contractual Frustration</vt:lpstr>
      <vt:lpstr>PowerPoint Presentation</vt:lpstr>
      <vt:lpstr>PowerPoint Presentation</vt:lpstr>
      <vt:lpstr>The Nemo Dat rule and its exceptions</vt:lpstr>
      <vt:lpstr>Estoppel</vt:lpstr>
      <vt:lpstr>PowerPoint Presentation</vt:lpstr>
      <vt:lpstr>PowerPoint Presentation</vt:lpstr>
      <vt:lpstr>Implied terms under the SGA 1979</vt:lpstr>
      <vt:lpstr>PowerPoint Presentation</vt:lpstr>
      <vt:lpstr>Passing of property</vt:lpstr>
      <vt:lpstr>PowerPoint Presentation</vt:lpstr>
      <vt:lpstr>Good Luck!!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20</dc:title>
  <dc:creator>GOUNARI, ZOI</dc:creator>
  <cp:lastModifiedBy>AVERY, RACHEL J.</cp:lastModifiedBy>
  <cp:revision>78</cp:revision>
  <cp:lastPrinted>2018-09-10T13:36:44Z</cp:lastPrinted>
  <dcterms:created xsi:type="dcterms:W3CDTF">2018-04-22T13:58:47Z</dcterms:created>
  <dcterms:modified xsi:type="dcterms:W3CDTF">2022-02-23T18:15:02Z</dcterms:modified>
</cp:coreProperties>
</file>