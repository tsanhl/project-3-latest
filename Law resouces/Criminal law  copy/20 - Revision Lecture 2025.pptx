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792" r:id="rId5"/>
  </p:sldMasterIdLst>
  <p:notesMasterIdLst>
    <p:notesMasterId r:id="rId28"/>
  </p:notesMasterIdLst>
  <p:sldIdLst>
    <p:sldId id="274" r:id="rId6"/>
    <p:sldId id="278" r:id="rId7"/>
    <p:sldId id="435" r:id="rId8"/>
    <p:sldId id="281" r:id="rId9"/>
    <p:sldId id="282" r:id="rId10"/>
    <p:sldId id="260" r:id="rId11"/>
    <p:sldId id="319" r:id="rId12"/>
    <p:sldId id="393" r:id="rId13"/>
    <p:sldId id="437" r:id="rId14"/>
    <p:sldId id="416" r:id="rId15"/>
    <p:sldId id="417" r:id="rId16"/>
    <p:sldId id="458" r:id="rId17"/>
    <p:sldId id="426" r:id="rId18"/>
    <p:sldId id="460" r:id="rId19"/>
    <p:sldId id="454" r:id="rId20"/>
    <p:sldId id="444" r:id="rId21"/>
    <p:sldId id="445" r:id="rId22"/>
    <p:sldId id="459" r:id="rId23"/>
    <p:sldId id="453" r:id="rId24"/>
    <p:sldId id="451" r:id="rId25"/>
    <p:sldId id="457" r:id="rId26"/>
    <p:sldId id="436" r:id="rId27"/>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89" autoAdjust="0"/>
    <p:restoredTop sz="65405"/>
  </p:normalViewPr>
  <p:slideViewPr>
    <p:cSldViewPr>
      <p:cViewPr varScale="1">
        <p:scale>
          <a:sx n="59" d="100"/>
          <a:sy n="59" d="100"/>
        </p:scale>
        <p:origin x="1696" y="19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FB690A-C259-44F2-AB10-EB06D76A9E24}" type="doc">
      <dgm:prSet loTypeId="urn:microsoft.com/office/officeart/2005/8/layout/process1" loCatId="process" qsTypeId="urn:microsoft.com/office/officeart/2005/8/quickstyle/simple1" qsCatId="simple" csTypeId="urn:microsoft.com/office/officeart/2005/8/colors/accent0_2" csCatId="mainScheme" phldr="1"/>
      <dgm:spPr/>
    </dgm:pt>
    <dgm:pt modelId="{10B33090-2F38-4AED-9247-013760C9B347}">
      <dgm:prSet phldrT="[Text]"/>
      <dgm:spPr/>
      <dgm:t>
        <a:bodyPr/>
        <a:lstStyle/>
        <a:p>
          <a:r>
            <a:rPr lang="en-GB" dirty="0"/>
            <a:t>Structure</a:t>
          </a:r>
        </a:p>
      </dgm:t>
    </dgm:pt>
    <dgm:pt modelId="{E5180C83-DF6B-4BDB-933F-CAD3BBAD3D57}" type="parTrans" cxnId="{3D7ED12E-86D2-47CA-9BB9-9272DBF40911}">
      <dgm:prSet/>
      <dgm:spPr/>
      <dgm:t>
        <a:bodyPr/>
        <a:lstStyle/>
        <a:p>
          <a:endParaRPr lang="en-GB"/>
        </a:p>
      </dgm:t>
    </dgm:pt>
    <dgm:pt modelId="{5A9D33B2-E4C4-43BE-A775-64270A75D625}" type="sibTrans" cxnId="{3D7ED12E-86D2-47CA-9BB9-9272DBF40911}">
      <dgm:prSet/>
      <dgm:spPr/>
      <dgm:t>
        <a:bodyPr/>
        <a:lstStyle/>
        <a:p>
          <a:endParaRPr lang="en-GB"/>
        </a:p>
      </dgm:t>
    </dgm:pt>
    <dgm:pt modelId="{57AEDC90-0D7B-43F9-8E22-5DBC025A78BE}">
      <dgm:prSet phldrT="[Text]"/>
      <dgm:spPr/>
      <dgm:t>
        <a:bodyPr/>
        <a:lstStyle/>
        <a:p>
          <a:r>
            <a:rPr lang="en-GB" dirty="0"/>
            <a:t>Analysis</a:t>
          </a:r>
        </a:p>
      </dgm:t>
    </dgm:pt>
    <dgm:pt modelId="{D6FAF32B-0795-49C0-B6DC-27D7484FB027}" type="parTrans" cxnId="{90D836C8-87A0-4893-9AFF-551999D85ADC}">
      <dgm:prSet/>
      <dgm:spPr/>
      <dgm:t>
        <a:bodyPr/>
        <a:lstStyle/>
        <a:p>
          <a:endParaRPr lang="en-GB"/>
        </a:p>
      </dgm:t>
    </dgm:pt>
    <dgm:pt modelId="{018869FE-EF2A-496B-9A9A-2DBB905D187F}" type="sibTrans" cxnId="{90D836C8-87A0-4893-9AFF-551999D85ADC}">
      <dgm:prSet/>
      <dgm:spPr/>
      <dgm:t>
        <a:bodyPr/>
        <a:lstStyle/>
        <a:p>
          <a:endParaRPr lang="en-GB"/>
        </a:p>
      </dgm:t>
    </dgm:pt>
    <dgm:pt modelId="{757EC5BA-790A-47E2-9101-E582977CCB33}">
      <dgm:prSet phldrT="[Text]"/>
      <dgm:spPr/>
      <dgm:t>
        <a:bodyPr/>
        <a:lstStyle/>
        <a:p>
          <a:r>
            <a:rPr lang="en-GB" dirty="0"/>
            <a:t>Argument</a:t>
          </a:r>
        </a:p>
      </dgm:t>
    </dgm:pt>
    <dgm:pt modelId="{BABDE65C-C521-48FF-A385-EE92A16483B3}" type="parTrans" cxnId="{A5F2BD11-8EC3-40BF-9B5B-9348F7C1AA28}">
      <dgm:prSet/>
      <dgm:spPr/>
      <dgm:t>
        <a:bodyPr/>
        <a:lstStyle/>
        <a:p>
          <a:endParaRPr lang="en-GB"/>
        </a:p>
      </dgm:t>
    </dgm:pt>
    <dgm:pt modelId="{2902E49C-1C96-43F6-B36D-7A90D8DA0F8C}" type="sibTrans" cxnId="{A5F2BD11-8EC3-40BF-9B5B-9348F7C1AA28}">
      <dgm:prSet/>
      <dgm:spPr/>
      <dgm:t>
        <a:bodyPr/>
        <a:lstStyle/>
        <a:p>
          <a:endParaRPr lang="en-GB"/>
        </a:p>
      </dgm:t>
    </dgm:pt>
    <dgm:pt modelId="{4ABD134F-7BC7-4BCA-AB00-0DF78FE3FDE0}">
      <dgm:prSet phldrT="[Text]"/>
      <dgm:spPr/>
      <dgm:t>
        <a:bodyPr/>
        <a:lstStyle/>
        <a:p>
          <a:r>
            <a:rPr lang="en-GB" dirty="0"/>
            <a:t>Evidence</a:t>
          </a:r>
        </a:p>
      </dgm:t>
    </dgm:pt>
    <dgm:pt modelId="{20D69E05-1524-4D12-A234-541510F3A177}" type="parTrans" cxnId="{B983AC98-B312-44AD-89C5-86935EA09304}">
      <dgm:prSet/>
      <dgm:spPr/>
      <dgm:t>
        <a:bodyPr/>
        <a:lstStyle/>
        <a:p>
          <a:endParaRPr lang="en-GB"/>
        </a:p>
      </dgm:t>
    </dgm:pt>
    <dgm:pt modelId="{F83EE512-5395-49B1-A088-128B4C127F9F}" type="sibTrans" cxnId="{B983AC98-B312-44AD-89C5-86935EA09304}">
      <dgm:prSet/>
      <dgm:spPr/>
      <dgm:t>
        <a:bodyPr/>
        <a:lstStyle/>
        <a:p>
          <a:endParaRPr lang="en-GB"/>
        </a:p>
      </dgm:t>
    </dgm:pt>
    <dgm:pt modelId="{DA31F504-B7E5-4725-BDA2-831657755365}" type="pres">
      <dgm:prSet presAssocID="{63FB690A-C259-44F2-AB10-EB06D76A9E24}" presName="Name0" presStyleCnt="0">
        <dgm:presLayoutVars>
          <dgm:dir/>
          <dgm:resizeHandles val="exact"/>
        </dgm:presLayoutVars>
      </dgm:prSet>
      <dgm:spPr/>
    </dgm:pt>
    <dgm:pt modelId="{86CA89F0-8259-45CD-A4A7-5E8239973307}" type="pres">
      <dgm:prSet presAssocID="{10B33090-2F38-4AED-9247-013760C9B347}" presName="node" presStyleLbl="node1" presStyleIdx="0" presStyleCnt="4">
        <dgm:presLayoutVars>
          <dgm:bulletEnabled val="1"/>
        </dgm:presLayoutVars>
      </dgm:prSet>
      <dgm:spPr/>
    </dgm:pt>
    <dgm:pt modelId="{AB671D8A-807C-4E8A-A1B2-A0EEEFC04DCC}" type="pres">
      <dgm:prSet presAssocID="{5A9D33B2-E4C4-43BE-A775-64270A75D625}" presName="sibTrans" presStyleLbl="sibTrans2D1" presStyleIdx="0" presStyleCnt="3"/>
      <dgm:spPr/>
    </dgm:pt>
    <dgm:pt modelId="{023E4DB5-52E0-4CEC-A7D9-B1A421364468}" type="pres">
      <dgm:prSet presAssocID="{5A9D33B2-E4C4-43BE-A775-64270A75D625}" presName="connectorText" presStyleLbl="sibTrans2D1" presStyleIdx="0" presStyleCnt="3"/>
      <dgm:spPr/>
    </dgm:pt>
    <dgm:pt modelId="{F03597E1-AC19-459B-AB24-B55998466105}" type="pres">
      <dgm:prSet presAssocID="{4ABD134F-7BC7-4BCA-AB00-0DF78FE3FDE0}" presName="node" presStyleLbl="node1" presStyleIdx="1" presStyleCnt="4">
        <dgm:presLayoutVars>
          <dgm:bulletEnabled val="1"/>
        </dgm:presLayoutVars>
      </dgm:prSet>
      <dgm:spPr/>
    </dgm:pt>
    <dgm:pt modelId="{EF316D2C-7327-47FA-9165-D7DA88113895}" type="pres">
      <dgm:prSet presAssocID="{F83EE512-5395-49B1-A088-128B4C127F9F}" presName="sibTrans" presStyleLbl="sibTrans2D1" presStyleIdx="1" presStyleCnt="3"/>
      <dgm:spPr/>
    </dgm:pt>
    <dgm:pt modelId="{8D64B1B4-3B98-4AC9-8AA2-02DE3A76B020}" type="pres">
      <dgm:prSet presAssocID="{F83EE512-5395-49B1-A088-128B4C127F9F}" presName="connectorText" presStyleLbl="sibTrans2D1" presStyleIdx="1" presStyleCnt="3"/>
      <dgm:spPr/>
    </dgm:pt>
    <dgm:pt modelId="{882CBF00-0710-4DA9-AE52-EE258E2E6CB4}" type="pres">
      <dgm:prSet presAssocID="{57AEDC90-0D7B-43F9-8E22-5DBC025A78BE}" presName="node" presStyleLbl="node1" presStyleIdx="2" presStyleCnt="4">
        <dgm:presLayoutVars>
          <dgm:bulletEnabled val="1"/>
        </dgm:presLayoutVars>
      </dgm:prSet>
      <dgm:spPr/>
    </dgm:pt>
    <dgm:pt modelId="{6ACC208D-C7F8-4F7E-963B-D3147EB1B0F3}" type="pres">
      <dgm:prSet presAssocID="{018869FE-EF2A-496B-9A9A-2DBB905D187F}" presName="sibTrans" presStyleLbl="sibTrans2D1" presStyleIdx="2" presStyleCnt="3"/>
      <dgm:spPr/>
    </dgm:pt>
    <dgm:pt modelId="{D38AD1F7-FE68-4A46-A180-8CAB4D5F465B}" type="pres">
      <dgm:prSet presAssocID="{018869FE-EF2A-496B-9A9A-2DBB905D187F}" presName="connectorText" presStyleLbl="sibTrans2D1" presStyleIdx="2" presStyleCnt="3"/>
      <dgm:spPr/>
    </dgm:pt>
    <dgm:pt modelId="{1FFB38F8-EB57-482B-868E-2E23407FEDF2}" type="pres">
      <dgm:prSet presAssocID="{757EC5BA-790A-47E2-9101-E582977CCB33}" presName="node" presStyleLbl="node1" presStyleIdx="3" presStyleCnt="4">
        <dgm:presLayoutVars>
          <dgm:bulletEnabled val="1"/>
        </dgm:presLayoutVars>
      </dgm:prSet>
      <dgm:spPr/>
    </dgm:pt>
  </dgm:ptLst>
  <dgm:cxnLst>
    <dgm:cxn modelId="{AFD8EC03-FF10-426B-A6B3-833A7443BBE0}" type="presOf" srcId="{018869FE-EF2A-496B-9A9A-2DBB905D187F}" destId="{D38AD1F7-FE68-4A46-A180-8CAB4D5F465B}" srcOrd="1" destOrd="0" presId="urn:microsoft.com/office/officeart/2005/8/layout/process1"/>
    <dgm:cxn modelId="{E836380A-5717-44E2-962F-5EEF115BEE6E}" type="presOf" srcId="{757EC5BA-790A-47E2-9101-E582977CCB33}" destId="{1FFB38F8-EB57-482B-868E-2E23407FEDF2}" srcOrd="0" destOrd="0" presId="urn:microsoft.com/office/officeart/2005/8/layout/process1"/>
    <dgm:cxn modelId="{A5F2BD11-8EC3-40BF-9B5B-9348F7C1AA28}" srcId="{63FB690A-C259-44F2-AB10-EB06D76A9E24}" destId="{757EC5BA-790A-47E2-9101-E582977CCB33}" srcOrd="3" destOrd="0" parTransId="{BABDE65C-C521-48FF-A385-EE92A16483B3}" sibTransId="{2902E49C-1C96-43F6-B36D-7A90D8DA0F8C}"/>
    <dgm:cxn modelId="{1AE6521E-43B2-42F9-9436-93E6D3D961A1}" type="presOf" srcId="{F83EE512-5395-49B1-A088-128B4C127F9F}" destId="{EF316D2C-7327-47FA-9165-D7DA88113895}" srcOrd="0" destOrd="0" presId="urn:microsoft.com/office/officeart/2005/8/layout/process1"/>
    <dgm:cxn modelId="{3D7ED12E-86D2-47CA-9BB9-9272DBF40911}" srcId="{63FB690A-C259-44F2-AB10-EB06D76A9E24}" destId="{10B33090-2F38-4AED-9247-013760C9B347}" srcOrd="0" destOrd="0" parTransId="{E5180C83-DF6B-4BDB-933F-CAD3BBAD3D57}" sibTransId="{5A9D33B2-E4C4-43BE-A775-64270A75D625}"/>
    <dgm:cxn modelId="{BF7B633C-C9A5-4FB9-814C-3AD001B06A87}" type="presOf" srcId="{5A9D33B2-E4C4-43BE-A775-64270A75D625}" destId="{AB671D8A-807C-4E8A-A1B2-A0EEEFC04DCC}" srcOrd="0" destOrd="0" presId="urn:microsoft.com/office/officeart/2005/8/layout/process1"/>
    <dgm:cxn modelId="{F5F7ED40-D9A9-466A-810E-A4E649055969}" type="presOf" srcId="{018869FE-EF2A-496B-9A9A-2DBB905D187F}" destId="{6ACC208D-C7F8-4F7E-963B-D3147EB1B0F3}" srcOrd="0" destOrd="0" presId="urn:microsoft.com/office/officeart/2005/8/layout/process1"/>
    <dgm:cxn modelId="{53D34542-6D03-4583-B0B5-40F7E1E6F544}" type="presOf" srcId="{4ABD134F-7BC7-4BCA-AB00-0DF78FE3FDE0}" destId="{F03597E1-AC19-459B-AB24-B55998466105}" srcOrd="0" destOrd="0" presId="urn:microsoft.com/office/officeart/2005/8/layout/process1"/>
    <dgm:cxn modelId="{947B0444-1DBF-46C3-BC25-326EF6D68B70}" type="presOf" srcId="{10B33090-2F38-4AED-9247-013760C9B347}" destId="{86CA89F0-8259-45CD-A4A7-5E8239973307}" srcOrd="0" destOrd="0" presId="urn:microsoft.com/office/officeart/2005/8/layout/process1"/>
    <dgm:cxn modelId="{7152F774-BDCC-401B-AF01-94C7E52A3CDA}" type="presOf" srcId="{63FB690A-C259-44F2-AB10-EB06D76A9E24}" destId="{DA31F504-B7E5-4725-BDA2-831657755365}" srcOrd="0" destOrd="0" presId="urn:microsoft.com/office/officeart/2005/8/layout/process1"/>
    <dgm:cxn modelId="{B983AC98-B312-44AD-89C5-86935EA09304}" srcId="{63FB690A-C259-44F2-AB10-EB06D76A9E24}" destId="{4ABD134F-7BC7-4BCA-AB00-0DF78FE3FDE0}" srcOrd="1" destOrd="0" parTransId="{20D69E05-1524-4D12-A234-541510F3A177}" sibTransId="{F83EE512-5395-49B1-A088-128B4C127F9F}"/>
    <dgm:cxn modelId="{63F7A2B4-6E46-4A74-A003-CD1508601305}" type="presOf" srcId="{57AEDC90-0D7B-43F9-8E22-5DBC025A78BE}" destId="{882CBF00-0710-4DA9-AE52-EE258E2E6CB4}" srcOrd="0" destOrd="0" presId="urn:microsoft.com/office/officeart/2005/8/layout/process1"/>
    <dgm:cxn modelId="{E75AC7C4-D6C5-473C-A3B1-E9ED5AEE546E}" type="presOf" srcId="{5A9D33B2-E4C4-43BE-A775-64270A75D625}" destId="{023E4DB5-52E0-4CEC-A7D9-B1A421364468}" srcOrd="1" destOrd="0" presId="urn:microsoft.com/office/officeart/2005/8/layout/process1"/>
    <dgm:cxn modelId="{90D836C8-87A0-4893-9AFF-551999D85ADC}" srcId="{63FB690A-C259-44F2-AB10-EB06D76A9E24}" destId="{57AEDC90-0D7B-43F9-8E22-5DBC025A78BE}" srcOrd="2" destOrd="0" parTransId="{D6FAF32B-0795-49C0-B6DC-27D7484FB027}" sibTransId="{018869FE-EF2A-496B-9A9A-2DBB905D187F}"/>
    <dgm:cxn modelId="{113027F4-E6C2-4F9C-B4B4-E5DFBCCB54FE}" type="presOf" srcId="{F83EE512-5395-49B1-A088-128B4C127F9F}" destId="{8D64B1B4-3B98-4AC9-8AA2-02DE3A76B020}" srcOrd="1" destOrd="0" presId="urn:microsoft.com/office/officeart/2005/8/layout/process1"/>
    <dgm:cxn modelId="{8FD46DBB-A9BC-4513-8293-44D3516E6C55}" type="presParOf" srcId="{DA31F504-B7E5-4725-BDA2-831657755365}" destId="{86CA89F0-8259-45CD-A4A7-5E8239973307}" srcOrd="0" destOrd="0" presId="urn:microsoft.com/office/officeart/2005/8/layout/process1"/>
    <dgm:cxn modelId="{218159A4-117F-4687-9806-657047B3465D}" type="presParOf" srcId="{DA31F504-B7E5-4725-BDA2-831657755365}" destId="{AB671D8A-807C-4E8A-A1B2-A0EEEFC04DCC}" srcOrd="1" destOrd="0" presId="urn:microsoft.com/office/officeart/2005/8/layout/process1"/>
    <dgm:cxn modelId="{373BA1FE-7D57-49BD-8BFE-956AD2161658}" type="presParOf" srcId="{AB671D8A-807C-4E8A-A1B2-A0EEEFC04DCC}" destId="{023E4DB5-52E0-4CEC-A7D9-B1A421364468}" srcOrd="0" destOrd="0" presId="urn:microsoft.com/office/officeart/2005/8/layout/process1"/>
    <dgm:cxn modelId="{EC027AD7-D361-4027-A96D-DCB8152565F5}" type="presParOf" srcId="{DA31F504-B7E5-4725-BDA2-831657755365}" destId="{F03597E1-AC19-459B-AB24-B55998466105}" srcOrd="2" destOrd="0" presId="urn:microsoft.com/office/officeart/2005/8/layout/process1"/>
    <dgm:cxn modelId="{A83AA8BB-2430-4F85-B65E-DC231BE2E744}" type="presParOf" srcId="{DA31F504-B7E5-4725-BDA2-831657755365}" destId="{EF316D2C-7327-47FA-9165-D7DA88113895}" srcOrd="3" destOrd="0" presId="urn:microsoft.com/office/officeart/2005/8/layout/process1"/>
    <dgm:cxn modelId="{1931A9E3-383C-41AB-9979-979734D96F8B}" type="presParOf" srcId="{EF316D2C-7327-47FA-9165-D7DA88113895}" destId="{8D64B1B4-3B98-4AC9-8AA2-02DE3A76B020}" srcOrd="0" destOrd="0" presId="urn:microsoft.com/office/officeart/2005/8/layout/process1"/>
    <dgm:cxn modelId="{C2AC34F1-570C-4292-9ADF-61670C75AFD6}" type="presParOf" srcId="{DA31F504-B7E5-4725-BDA2-831657755365}" destId="{882CBF00-0710-4DA9-AE52-EE258E2E6CB4}" srcOrd="4" destOrd="0" presId="urn:microsoft.com/office/officeart/2005/8/layout/process1"/>
    <dgm:cxn modelId="{AD27ED42-C698-4D20-87A1-CEBC8CFFC43E}" type="presParOf" srcId="{DA31F504-B7E5-4725-BDA2-831657755365}" destId="{6ACC208D-C7F8-4F7E-963B-D3147EB1B0F3}" srcOrd="5" destOrd="0" presId="urn:microsoft.com/office/officeart/2005/8/layout/process1"/>
    <dgm:cxn modelId="{061DEBF0-F939-4EB9-BF98-65198765223C}" type="presParOf" srcId="{6ACC208D-C7F8-4F7E-963B-D3147EB1B0F3}" destId="{D38AD1F7-FE68-4A46-A180-8CAB4D5F465B}" srcOrd="0" destOrd="0" presId="urn:microsoft.com/office/officeart/2005/8/layout/process1"/>
    <dgm:cxn modelId="{48ACBE7E-1D9D-4EF5-B5E7-974146F1463B}" type="presParOf" srcId="{DA31F504-B7E5-4725-BDA2-831657755365}" destId="{1FFB38F8-EB57-482B-868E-2E23407FEDF2}"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58FD47-7C92-4A45-B908-3B403F714ED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696555C-0F83-4811-ABD4-90A8A0C12B4A}">
      <dgm:prSet/>
      <dgm:spPr/>
      <dgm:t>
        <a:bodyPr/>
        <a:lstStyle/>
        <a:p>
          <a:r>
            <a:rPr lang="en-US"/>
            <a:t>Time management</a:t>
          </a:r>
        </a:p>
      </dgm:t>
    </dgm:pt>
    <dgm:pt modelId="{D5B0F674-E096-4A4C-987A-8547C8C57C43}" type="parTrans" cxnId="{1A82E5DA-B016-4058-873C-D01855B537D8}">
      <dgm:prSet/>
      <dgm:spPr/>
      <dgm:t>
        <a:bodyPr/>
        <a:lstStyle/>
        <a:p>
          <a:endParaRPr lang="en-US"/>
        </a:p>
      </dgm:t>
    </dgm:pt>
    <dgm:pt modelId="{EDABF29B-142C-4861-ADFF-BB8D19475630}" type="sibTrans" cxnId="{1A82E5DA-B016-4058-873C-D01855B537D8}">
      <dgm:prSet/>
      <dgm:spPr/>
      <dgm:t>
        <a:bodyPr/>
        <a:lstStyle/>
        <a:p>
          <a:endParaRPr lang="en-US"/>
        </a:p>
      </dgm:t>
    </dgm:pt>
    <dgm:pt modelId="{2DCA7D89-874D-42F0-9052-D317B3F86691}">
      <dgm:prSet/>
      <dgm:spPr/>
      <dgm:t>
        <a:bodyPr/>
        <a:lstStyle/>
        <a:p>
          <a:r>
            <a:rPr lang="en-US"/>
            <a:t>Word count management</a:t>
          </a:r>
        </a:p>
      </dgm:t>
    </dgm:pt>
    <dgm:pt modelId="{1F32FC5C-22FA-45D2-B84A-355CE2F1EC72}" type="parTrans" cxnId="{FFF7CAD8-B446-417B-A84B-EB7BFA6CDCE2}">
      <dgm:prSet/>
      <dgm:spPr/>
      <dgm:t>
        <a:bodyPr/>
        <a:lstStyle/>
        <a:p>
          <a:endParaRPr lang="en-US"/>
        </a:p>
      </dgm:t>
    </dgm:pt>
    <dgm:pt modelId="{81F337DC-D566-496A-A64F-CFFC043AF446}" type="sibTrans" cxnId="{FFF7CAD8-B446-417B-A84B-EB7BFA6CDCE2}">
      <dgm:prSet/>
      <dgm:spPr/>
      <dgm:t>
        <a:bodyPr/>
        <a:lstStyle/>
        <a:p>
          <a:endParaRPr lang="en-US"/>
        </a:p>
      </dgm:t>
    </dgm:pt>
    <dgm:pt modelId="{8A330D53-B2E5-4D6E-B456-19B96AF5E6A7}">
      <dgm:prSet/>
      <dgm:spPr/>
      <dgm:t>
        <a:bodyPr/>
        <a:lstStyle/>
        <a:p>
          <a:r>
            <a:rPr lang="en-US"/>
            <a:t>Planning</a:t>
          </a:r>
        </a:p>
      </dgm:t>
    </dgm:pt>
    <dgm:pt modelId="{2C6872EC-B880-4D11-935E-0B277C36EBB7}" type="parTrans" cxnId="{890F75A8-CA30-4FB3-8F3E-27F32B4965E7}">
      <dgm:prSet/>
      <dgm:spPr/>
      <dgm:t>
        <a:bodyPr/>
        <a:lstStyle/>
        <a:p>
          <a:endParaRPr lang="en-US"/>
        </a:p>
      </dgm:t>
    </dgm:pt>
    <dgm:pt modelId="{665448B0-BA94-4281-9171-AF0C14EEC6DA}" type="sibTrans" cxnId="{890F75A8-CA30-4FB3-8F3E-27F32B4965E7}">
      <dgm:prSet/>
      <dgm:spPr/>
      <dgm:t>
        <a:bodyPr/>
        <a:lstStyle/>
        <a:p>
          <a:endParaRPr lang="en-US"/>
        </a:p>
      </dgm:t>
    </dgm:pt>
    <dgm:pt modelId="{1DE1DAA7-4728-48EB-A5C5-282C8F221235}">
      <dgm:prSet/>
      <dgm:spPr/>
      <dgm:t>
        <a:bodyPr/>
        <a:lstStyle/>
        <a:p>
          <a:r>
            <a:rPr lang="en-US"/>
            <a:t>Problem Question technique</a:t>
          </a:r>
        </a:p>
      </dgm:t>
    </dgm:pt>
    <dgm:pt modelId="{E9966CCA-744B-4B9E-BCF5-7B59A56B1141}" type="parTrans" cxnId="{C9C20AA5-805A-4939-B10E-7AE744F8ADA6}">
      <dgm:prSet/>
      <dgm:spPr/>
      <dgm:t>
        <a:bodyPr/>
        <a:lstStyle/>
        <a:p>
          <a:endParaRPr lang="en-US"/>
        </a:p>
      </dgm:t>
    </dgm:pt>
    <dgm:pt modelId="{41F14A8C-9A95-4510-9246-8D17B6AC0E1B}" type="sibTrans" cxnId="{C9C20AA5-805A-4939-B10E-7AE744F8ADA6}">
      <dgm:prSet/>
      <dgm:spPr/>
      <dgm:t>
        <a:bodyPr/>
        <a:lstStyle/>
        <a:p>
          <a:endParaRPr lang="en-US"/>
        </a:p>
      </dgm:t>
    </dgm:pt>
    <dgm:pt modelId="{11A3C579-9497-41DD-92CF-A9E0992AC085}">
      <dgm:prSet/>
      <dgm:spPr/>
      <dgm:t>
        <a:bodyPr/>
        <a:lstStyle/>
        <a:p>
          <a:r>
            <a:rPr lang="en-US"/>
            <a:t>Sources</a:t>
          </a:r>
        </a:p>
      </dgm:t>
    </dgm:pt>
    <dgm:pt modelId="{2733A52A-581E-49F1-A7B4-3907A6D3F3EE}" type="parTrans" cxnId="{FC0B03CB-04D1-4129-8E7A-7315627D8342}">
      <dgm:prSet/>
      <dgm:spPr/>
      <dgm:t>
        <a:bodyPr/>
        <a:lstStyle/>
        <a:p>
          <a:endParaRPr lang="en-US"/>
        </a:p>
      </dgm:t>
    </dgm:pt>
    <dgm:pt modelId="{A0DF69E9-F848-4C78-BE34-8208324BD410}" type="sibTrans" cxnId="{FC0B03CB-04D1-4129-8E7A-7315627D8342}">
      <dgm:prSet/>
      <dgm:spPr/>
      <dgm:t>
        <a:bodyPr/>
        <a:lstStyle/>
        <a:p>
          <a:endParaRPr lang="en-US"/>
        </a:p>
      </dgm:t>
    </dgm:pt>
    <dgm:pt modelId="{5BE18BB4-2812-4337-BFF5-11DD02DF2AB6}">
      <dgm:prSet/>
      <dgm:spPr/>
      <dgm:t>
        <a:bodyPr/>
        <a:lstStyle/>
        <a:p>
          <a:r>
            <a:rPr lang="en-US"/>
            <a:t>Proof Reading</a:t>
          </a:r>
        </a:p>
      </dgm:t>
    </dgm:pt>
    <dgm:pt modelId="{BDB2B7A8-1D3C-445C-9B45-810FDB0BF065}" type="parTrans" cxnId="{A223160A-80F2-4341-95E2-A32FD2B51255}">
      <dgm:prSet/>
      <dgm:spPr/>
      <dgm:t>
        <a:bodyPr/>
        <a:lstStyle/>
        <a:p>
          <a:endParaRPr lang="en-US"/>
        </a:p>
      </dgm:t>
    </dgm:pt>
    <dgm:pt modelId="{11C355CA-7F27-4529-BA34-CB3CE6CF9D99}" type="sibTrans" cxnId="{A223160A-80F2-4341-95E2-A32FD2B51255}">
      <dgm:prSet/>
      <dgm:spPr/>
      <dgm:t>
        <a:bodyPr/>
        <a:lstStyle/>
        <a:p>
          <a:endParaRPr lang="en-US"/>
        </a:p>
      </dgm:t>
    </dgm:pt>
    <dgm:pt modelId="{944AED62-914F-4D4E-946F-257F03C89578}" type="pres">
      <dgm:prSet presAssocID="{EE58FD47-7C92-4A45-B908-3B403F714EDF}" presName="root" presStyleCnt="0">
        <dgm:presLayoutVars>
          <dgm:dir/>
          <dgm:resizeHandles val="exact"/>
        </dgm:presLayoutVars>
      </dgm:prSet>
      <dgm:spPr/>
    </dgm:pt>
    <dgm:pt modelId="{26AB950B-47B6-4C86-B8E2-549C15906B10}" type="pres">
      <dgm:prSet presAssocID="{E696555C-0F83-4811-ABD4-90A8A0C12B4A}" presName="compNode" presStyleCnt="0"/>
      <dgm:spPr/>
    </dgm:pt>
    <dgm:pt modelId="{4F26FC9B-8F73-4C94-96E7-DACB9EF3F03D}" type="pres">
      <dgm:prSet presAssocID="{E696555C-0F83-4811-ABD4-90A8A0C12B4A}" presName="bgRect" presStyleLbl="bgShp" presStyleIdx="0" presStyleCnt="6"/>
      <dgm:spPr/>
    </dgm:pt>
    <dgm:pt modelId="{013AEB58-B0D7-43F0-B1CB-4798EFB76E51}" type="pres">
      <dgm:prSet presAssocID="{E696555C-0F83-4811-ABD4-90A8A0C12B4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8E4E5A60-288A-4850-BB83-DD02461D9184}" type="pres">
      <dgm:prSet presAssocID="{E696555C-0F83-4811-ABD4-90A8A0C12B4A}" presName="spaceRect" presStyleCnt="0"/>
      <dgm:spPr/>
    </dgm:pt>
    <dgm:pt modelId="{19AE8BDF-1CC8-4AAC-A9D5-6A83B91F7E36}" type="pres">
      <dgm:prSet presAssocID="{E696555C-0F83-4811-ABD4-90A8A0C12B4A}" presName="parTx" presStyleLbl="revTx" presStyleIdx="0" presStyleCnt="6">
        <dgm:presLayoutVars>
          <dgm:chMax val="0"/>
          <dgm:chPref val="0"/>
        </dgm:presLayoutVars>
      </dgm:prSet>
      <dgm:spPr/>
    </dgm:pt>
    <dgm:pt modelId="{1970FD9B-77F5-44EC-88EB-FA58AC218A29}" type="pres">
      <dgm:prSet presAssocID="{EDABF29B-142C-4861-ADFF-BB8D19475630}" presName="sibTrans" presStyleCnt="0"/>
      <dgm:spPr/>
    </dgm:pt>
    <dgm:pt modelId="{3B13455A-C460-4500-B76A-3B4C12E2EE72}" type="pres">
      <dgm:prSet presAssocID="{2DCA7D89-874D-42F0-9052-D317B3F86691}" presName="compNode" presStyleCnt="0"/>
      <dgm:spPr/>
    </dgm:pt>
    <dgm:pt modelId="{E478B441-E5ED-46D3-90A7-6464E9E9FF0B}" type="pres">
      <dgm:prSet presAssocID="{2DCA7D89-874D-42F0-9052-D317B3F86691}" presName="bgRect" presStyleLbl="bgShp" presStyleIdx="1" presStyleCnt="6"/>
      <dgm:spPr/>
    </dgm:pt>
    <dgm:pt modelId="{DB3FBBFE-13AC-42E7-B87F-2D43EF5BE039}" type="pres">
      <dgm:prSet presAssocID="{2DCA7D89-874D-42F0-9052-D317B3F8669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1EBFD2D0-F77D-4D25-9032-05A3A844EF48}" type="pres">
      <dgm:prSet presAssocID="{2DCA7D89-874D-42F0-9052-D317B3F86691}" presName="spaceRect" presStyleCnt="0"/>
      <dgm:spPr/>
    </dgm:pt>
    <dgm:pt modelId="{CE5500AE-E148-4CDF-AB9D-7B1AEBF27632}" type="pres">
      <dgm:prSet presAssocID="{2DCA7D89-874D-42F0-9052-D317B3F86691}" presName="parTx" presStyleLbl="revTx" presStyleIdx="1" presStyleCnt="6">
        <dgm:presLayoutVars>
          <dgm:chMax val="0"/>
          <dgm:chPref val="0"/>
        </dgm:presLayoutVars>
      </dgm:prSet>
      <dgm:spPr/>
    </dgm:pt>
    <dgm:pt modelId="{AB5BF488-141D-487E-8FB4-86B135C7AD8C}" type="pres">
      <dgm:prSet presAssocID="{81F337DC-D566-496A-A64F-CFFC043AF446}" presName="sibTrans" presStyleCnt="0"/>
      <dgm:spPr/>
    </dgm:pt>
    <dgm:pt modelId="{38E166EC-F64A-4DEF-B698-F1262177EF56}" type="pres">
      <dgm:prSet presAssocID="{8A330D53-B2E5-4D6E-B456-19B96AF5E6A7}" presName="compNode" presStyleCnt="0"/>
      <dgm:spPr/>
    </dgm:pt>
    <dgm:pt modelId="{74F85D56-0FA1-48D0-BC8A-CFA6D5F7775D}" type="pres">
      <dgm:prSet presAssocID="{8A330D53-B2E5-4D6E-B456-19B96AF5E6A7}" presName="bgRect" presStyleLbl="bgShp" presStyleIdx="2" presStyleCnt="6"/>
      <dgm:spPr/>
    </dgm:pt>
    <dgm:pt modelId="{DC4AB488-F38C-47DC-B628-519D63257AB3}" type="pres">
      <dgm:prSet presAssocID="{8A330D53-B2E5-4D6E-B456-19B96AF5E6A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List"/>
        </a:ext>
      </dgm:extLst>
    </dgm:pt>
    <dgm:pt modelId="{726060FC-A94C-4A48-8F04-E10ED8237B50}" type="pres">
      <dgm:prSet presAssocID="{8A330D53-B2E5-4D6E-B456-19B96AF5E6A7}" presName="spaceRect" presStyleCnt="0"/>
      <dgm:spPr/>
    </dgm:pt>
    <dgm:pt modelId="{E54DF5ED-4FE9-4CFC-A3C2-1620BA4B438F}" type="pres">
      <dgm:prSet presAssocID="{8A330D53-B2E5-4D6E-B456-19B96AF5E6A7}" presName="parTx" presStyleLbl="revTx" presStyleIdx="2" presStyleCnt="6">
        <dgm:presLayoutVars>
          <dgm:chMax val="0"/>
          <dgm:chPref val="0"/>
        </dgm:presLayoutVars>
      </dgm:prSet>
      <dgm:spPr/>
    </dgm:pt>
    <dgm:pt modelId="{3644B98F-A208-4CA3-8955-19E55D757ADA}" type="pres">
      <dgm:prSet presAssocID="{665448B0-BA94-4281-9171-AF0C14EEC6DA}" presName="sibTrans" presStyleCnt="0"/>
      <dgm:spPr/>
    </dgm:pt>
    <dgm:pt modelId="{ABCAF0BF-943A-4E72-8883-25B35AFF4D16}" type="pres">
      <dgm:prSet presAssocID="{1DE1DAA7-4728-48EB-A5C5-282C8F221235}" presName="compNode" presStyleCnt="0"/>
      <dgm:spPr/>
    </dgm:pt>
    <dgm:pt modelId="{632F5B32-7649-4D6B-BA11-2B7737411104}" type="pres">
      <dgm:prSet presAssocID="{1DE1DAA7-4728-48EB-A5C5-282C8F221235}" presName="bgRect" presStyleLbl="bgShp" presStyleIdx="3" presStyleCnt="6"/>
      <dgm:spPr/>
    </dgm:pt>
    <dgm:pt modelId="{1B9AA587-3248-4216-9B31-3D7F3D7920D2}" type="pres">
      <dgm:prSet presAssocID="{1DE1DAA7-4728-48EB-A5C5-282C8F22123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6BFE7FE7-E578-4A49-AE88-39707A84747B}" type="pres">
      <dgm:prSet presAssocID="{1DE1DAA7-4728-48EB-A5C5-282C8F221235}" presName="spaceRect" presStyleCnt="0"/>
      <dgm:spPr/>
    </dgm:pt>
    <dgm:pt modelId="{E8BEC9A6-DABB-4E90-AFE8-97FBC4D54F02}" type="pres">
      <dgm:prSet presAssocID="{1DE1DAA7-4728-48EB-A5C5-282C8F221235}" presName="parTx" presStyleLbl="revTx" presStyleIdx="3" presStyleCnt="6">
        <dgm:presLayoutVars>
          <dgm:chMax val="0"/>
          <dgm:chPref val="0"/>
        </dgm:presLayoutVars>
      </dgm:prSet>
      <dgm:spPr/>
    </dgm:pt>
    <dgm:pt modelId="{C47603C7-A4D6-423F-95A4-9E717CC4A0F6}" type="pres">
      <dgm:prSet presAssocID="{41F14A8C-9A95-4510-9246-8D17B6AC0E1B}" presName="sibTrans" presStyleCnt="0"/>
      <dgm:spPr/>
    </dgm:pt>
    <dgm:pt modelId="{09630225-49DE-4078-ABE9-C7A18B235AE5}" type="pres">
      <dgm:prSet presAssocID="{11A3C579-9497-41DD-92CF-A9E0992AC085}" presName="compNode" presStyleCnt="0"/>
      <dgm:spPr/>
    </dgm:pt>
    <dgm:pt modelId="{A9DD591B-E5BE-4636-A660-620C02CD3469}" type="pres">
      <dgm:prSet presAssocID="{11A3C579-9497-41DD-92CF-A9E0992AC085}" presName="bgRect" presStyleLbl="bgShp" presStyleIdx="4" presStyleCnt="6"/>
      <dgm:spPr/>
    </dgm:pt>
    <dgm:pt modelId="{8D1F0864-F466-43E6-A98A-DC8C4BA2BEDD}" type="pres">
      <dgm:prSet presAssocID="{11A3C579-9497-41DD-92CF-A9E0992AC08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453F9CAA-1A39-4B83-A489-9D58FC750DE7}" type="pres">
      <dgm:prSet presAssocID="{11A3C579-9497-41DD-92CF-A9E0992AC085}" presName="spaceRect" presStyleCnt="0"/>
      <dgm:spPr/>
    </dgm:pt>
    <dgm:pt modelId="{BAE89B51-1A76-45C5-8442-6854F9D4499E}" type="pres">
      <dgm:prSet presAssocID="{11A3C579-9497-41DD-92CF-A9E0992AC085}" presName="parTx" presStyleLbl="revTx" presStyleIdx="4" presStyleCnt="6">
        <dgm:presLayoutVars>
          <dgm:chMax val="0"/>
          <dgm:chPref val="0"/>
        </dgm:presLayoutVars>
      </dgm:prSet>
      <dgm:spPr/>
    </dgm:pt>
    <dgm:pt modelId="{0B3B6622-9B44-4D7A-94C5-D5797A56859C}" type="pres">
      <dgm:prSet presAssocID="{A0DF69E9-F848-4C78-BE34-8208324BD410}" presName="sibTrans" presStyleCnt="0"/>
      <dgm:spPr/>
    </dgm:pt>
    <dgm:pt modelId="{FC27418C-1020-4E89-B9A0-C77B25C8BC7E}" type="pres">
      <dgm:prSet presAssocID="{5BE18BB4-2812-4337-BFF5-11DD02DF2AB6}" presName="compNode" presStyleCnt="0"/>
      <dgm:spPr/>
    </dgm:pt>
    <dgm:pt modelId="{1EAD3C5C-74FF-4C73-B2FC-9667FDC72292}" type="pres">
      <dgm:prSet presAssocID="{5BE18BB4-2812-4337-BFF5-11DD02DF2AB6}" presName="bgRect" presStyleLbl="bgShp" presStyleIdx="5" presStyleCnt="6"/>
      <dgm:spPr/>
    </dgm:pt>
    <dgm:pt modelId="{CA8325C3-673F-4DE4-AB81-0006B5AB19C8}" type="pres">
      <dgm:prSet presAssocID="{5BE18BB4-2812-4337-BFF5-11DD02DF2AB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ooks"/>
        </a:ext>
      </dgm:extLst>
    </dgm:pt>
    <dgm:pt modelId="{FB3FCC1C-8319-4802-AB13-0EA705B46C70}" type="pres">
      <dgm:prSet presAssocID="{5BE18BB4-2812-4337-BFF5-11DD02DF2AB6}" presName="spaceRect" presStyleCnt="0"/>
      <dgm:spPr/>
    </dgm:pt>
    <dgm:pt modelId="{1F254B1D-FB70-42B8-A060-3AD4C7232A74}" type="pres">
      <dgm:prSet presAssocID="{5BE18BB4-2812-4337-BFF5-11DD02DF2AB6}" presName="parTx" presStyleLbl="revTx" presStyleIdx="5" presStyleCnt="6">
        <dgm:presLayoutVars>
          <dgm:chMax val="0"/>
          <dgm:chPref val="0"/>
        </dgm:presLayoutVars>
      </dgm:prSet>
      <dgm:spPr/>
    </dgm:pt>
  </dgm:ptLst>
  <dgm:cxnLst>
    <dgm:cxn modelId="{A223160A-80F2-4341-95E2-A32FD2B51255}" srcId="{EE58FD47-7C92-4A45-B908-3B403F714EDF}" destId="{5BE18BB4-2812-4337-BFF5-11DD02DF2AB6}" srcOrd="5" destOrd="0" parTransId="{BDB2B7A8-1D3C-445C-9B45-810FDB0BF065}" sibTransId="{11C355CA-7F27-4529-BA34-CB3CE6CF9D99}"/>
    <dgm:cxn modelId="{EF13192A-1C5D-4822-89A8-F6CCE3E37702}" type="presOf" srcId="{1DE1DAA7-4728-48EB-A5C5-282C8F221235}" destId="{E8BEC9A6-DABB-4E90-AFE8-97FBC4D54F02}" srcOrd="0" destOrd="0" presId="urn:microsoft.com/office/officeart/2018/2/layout/IconVerticalSolidList"/>
    <dgm:cxn modelId="{BFCFB944-7C72-4472-9252-30E2464F82B4}" type="presOf" srcId="{E696555C-0F83-4811-ABD4-90A8A0C12B4A}" destId="{19AE8BDF-1CC8-4AAC-A9D5-6A83B91F7E36}" srcOrd="0" destOrd="0" presId="urn:microsoft.com/office/officeart/2018/2/layout/IconVerticalSolidList"/>
    <dgm:cxn modelId="{C9C20AA5-805A-4939-B10E-7AE744F8ADA6}" srcId="{EE58FD47-7C92-4A45-B908-3B403F714EDF}" destId="{1DE1DAA7-4728-48EB-A5C5-282C8F221235}" srcOrd="3" destOrd="0" parTransId="{E9966CCA-744B-4B9E-BCF5-7B59A56B1141}" sibTransId="{41F14A8C-9A95-4510-9246-8D17B6AC0E1B}"/>
    <dgm:cxn modelId="{CDA90DA8-6025-414F-AE71-18811334D661}" type="presOf" srcId="{11A3C579-9497-41DD-92CF-A9E0992AC085}" destId="{BAE89B51-1A76-45C5-8442-6854F9D4499E}" srcOrd="0" destOrd="0" presId="urn:microsoft.com/office/officeart/2018/2/layout/IconVerticalSolidList"/>
    <dgm:cxn modelId="{890F75A8-CA30-4FB3-8F3E-27F32B4965E7}" srcId="{EE58FD47-7C92-4A45-B908-3B403F714EDF}" destId="{8A330D53-B2E5-4D6E-B456-19B96AF5E6A7}" srcOrd="2" destOrd="0" parTransId="{2C6872EC-B880-4D11-935E-0B277C36EBB7}" sibTransId="{665448B0-BA94-4281-9171-AF0C14EEC6DA}"/>
    <dgm:cxn modelId="{E40F61CA-024A-449F-B328-C773F0FD1AC4}" type="presOf" srcId="{8A330D53-B2E5-4D6E-B456-19B96AF5E6A7}" destId="{E54DF5ED-4FE9-4CFC-A3C2-1620BA4B438F}" srcOrd="0" destOrd="0" presId="urn:microsoft.com/office/officeart/2018/2/layout/IconVerticalSolidList"/>
    <dgm:cxn modelId="{FC0B03CB-04D1-4129-8E7A-7315627D8342}" srcId="{EE58FD47-7C92-4A45-B908-3B403F714EDF}" destId="{11A3C579-9497-41DD-92CF-A9E0992AC085}" srcOrd="4" destOrd="0" parTransId="{2733A52A-581E-49F1-A7B4-3907A6D3F3EE}" sibTransId="{A0DF69E9-F848-4C78-BE34-8208324BD410}"/>
    <dgm:cxn modelId="{88CFF8CC-49BA-42AC-9968-DBA05849E8CE}" type="presOf" srcId="{2DCA7D89-874D-42F0-9052-D317B3F86691}" destId="{CE5500AE-E148-4CDF-AB9D-7B1AEBF27632}" srcOrd="0" destOrd="0" presId="urn:microsoft.com/office/officeart/2018/2/layout/IconVerticalSolidList"/>
    <dgm:cxn modelId="{FFF7CAD8-B446-417B-A84B-EB7BFA6CDCE2}" srcId="{EE58FD47-7C92-4A45-B908-3B403F714EDF}" destId="{2DCA7D89-874D-42F0-9052-D317B3F86691}" srcOrd="1" destOrd="0" parTransId="{1F32FC5C-22FA-45D2-B84A-355CE2F1EC72}" sibTransId="{81F337DC-D566-496A-A64F-CFFC043AF446}"/>
    <dgm:cxn modelId="{1A82E5DA-B016-4058-873C-D01855B537D8}" srcId="{EE58FD47-7C92-4A45-B908-3B403F714EDF}" destId="{E696555C-0F83-4811-ABD4-90A8A0C12B4A}" srcOrd="0" destOrd="0" parTransId="{D5B0F674-E096-4A4C-987A-8547C8C57C43}" sibTransId="{EDABF29B-142C-4861-ADFF-BB8D19475630}"/>
    <dgm:cxn modelId="{DD06AAF0-ABA2-4528-9AD5-30A5FCDD5515}" type="presOf" srcId="{EE58FD47-7C92-4A45-B908-3B403F714EDF}" destId="{944AED62-914F-4D4E-946F-257F03C89578}" srcOrd="0" destOrd="0" presId="urn:microsoft.com/office/officeart/2018/2/layout/IconVerticalSolidList"/>
    <dgm:cxn modelId="{2CE601FD-9850-4C8C-838A-17D0C9C9DD5C}" type="presOf" srcId="{5BE18BB4-2812-4337-BFF5-11DD02DF2AB6}" destId="{1F254B1D-FB70-42B8-A060-3AD4C7232A74}" srcOrd="0" destOrd="0" presId="urn:microsoft.com/office/officeart/2018/2/layout/IconVerticalSolidList"/>
    <dgm:cxn modelId="{274FF602-B2E3-4198-A6BD-F65898A41A33}" type="presParOf" srcId="{944AED62-914F-4D4E-946F-257F03C89578}" destId="{26AB950B-47B6-4C86-B8E2-549C15906B10}" srcOrd="0" destOrd="0" presId="urn:microsoft.com/office/officeart/2018/2/layout/IconVerticalSolidList"/>
    <dgm:cxn modelId="{F65B5809-9BB7-4CD5-85CD-E6A36B1FB5DF}" type="presParOf" srcId="{26AB950B-47B6-4C86-B8E2-549C15906B10}" destId="{4F26FC9B-8F73-4C94-96E7-DACB9EF3F03D}" srcOrd="0" destOrd="0" presId="urn:microsoft.com/office/officeart/2018/2/layout/IconVerticalSolidList"/>
    <dgm:cxn modelId="{04A7C884-4D4D-4112-9A79-79211C636415}" type="presParOf" srcId="{26AB950B-47B6-4C86-B8E2-549C15906B10}" destId="{013AEB58-B0D7-43F0-B1CB-4798EFB76E51}" srcOrd="1" destOrd="0" presId="urn:microsoft.com/office/officeart/2018/2/layout/IconVerticalSolidList"/>
    <dgm:cxn modelId="{564F4B35-133E-4758-8F2C-41406CF4A2FA}" type="presParOf" srcId="{26AB950B-47B6-4C86-B8E2-549C15906B10}" destId="{8E4E5A60-288A-4850-BB83-DD02461D9184}" srcOrd="2" destOrd="0" presId="urn:microsoft.com/office/officeart/2018/2/layout/IconVerticalSolidList"/>
    <dgm:cxn modelId="{2F1B25C7-1F2A-465B-A2FB-3E577CD401DC}" type="presParOf" srcId="{26AB950B-47B6-4C86-B8E2-549C15906B10}" destId="{19AE8BDF-1CC8-4AAC-A9D5-6A83B91F7E36}" srcOrd="3" destOrd="0" presId="urn:microsoft.com/office/officeart/2018/2/layout/IconVerticalSolidList"/>
    <dgm:cxn modelId="{B984AE5D-608D-4BBA-9572-0548E8B781BA}" type="presParOf" srcId="{944AED62-914F-4D4E-946F-257F03C89578}" destId="{1970FD9B-77F5-44EC-88EB-FA58AC218A29}" srcOrd="1" destOrd="0" presId="urn:microsoft.com/office/officeart/2018/2/layout/IconVerticalSolidList"/>
    <dgm:cxn modelId="{A9FFA295-3898-4876-88A7-B198D4C625C7}" type="presParOf" srcId="{944AED62-914F-4D4E-946F-257F03C89578}" destId="{3B13455A-C460-4500-B76A-3B4C12E2EE72}" srcOrd="2" destOrd="0" presId="urn:microsoft.com/office/officeart/2018/2/layout/IconVerticalSolidList"/>
    <dgm:cxn modelId="{C272E96A-434F-4BE5-8231-F1483B256B01}" type="presParOf" srcId="{3B13455A-C460-4500-B76A-3B4C12E2EE72}" destId="{E478B441-E5ED-46D3-90A7-6464E9E9FF0B}" srcOrd="0" destOrd="0" presId="urn:microsoft.com/office/officeart/2018/2/layout/IconVerticalSolidList"/>
    <dgm:cxn modelId="{CAF48D52-DA93-4D52-B150-49F5414EA51E}" type="presParOf" srcId="{3B13455A-C460-4500-B76A-3B4C12E2EE72}" destId="{DB3FBBFE-13AC-42E7-B87F-2D43EF5BE039}" srcOrd="1" destOrd="0" presId="urn:microsoft.com/office/officeart/2018/2/layout/IconVerticalSolidList"/>
    <dgm:cxn modelId="{D35DF1B0-1218-4CF1-B6FF-F24798247B39}" type="presParOf" srcId="{3B13455A-C460-4500-B76A-3B4C12E2EE72}" destId="{1EBFD2D0-F77D-4D25-9032-05A3A844EF48}" srcOrd="2" destOrd="0" presId="urn:microsoft.com/office/officeart/2018/2/layout/IconVerticalSolidList"/>
    <dgm:cxn modelId="{CE4CDD86-D8B3-428D-A4F5-437085F7298E}" type="presParOf" srcId="{3B13455A-C460-4500-B76A-3B4C12E2EE72}" destId="{CE5500AE-E148-4CDF-AB9D-7B1AEBF27632}" srcOrd="3" destOrd="0" presId="urn:microsoft.com/office/officeart/2018/2/layout/IconVerticalSolidList"/>
    <dgm:cxn modelId="{EE91B00D-DA7A-4B23-AE87-E0B90F9F5B71}" type="presParOf" srcId="{944AED62-914F-4D4E-946F-257F03C89578}" destId="{AB5BF488-141D-487E-8FB4-86B135C7AD8C}" srcOrd="3" destOrd="0" presId="urn:microsoft.com/office/officeart/2018/2/layout/IconVerticalSolidList"/>
    <dgm:cxn modelId="{2DE08BE4-CB65-4926-92D4-0D980D8570C4}" type="presParOf" srcId="{944AED62-914F-4D4E-946F-257F03C89578}" destId="{38E166EC-F64A-4DEF-B698-F1262177EF56}" srcOrd="4" destOrd="0" presId="urn:microsoft.com/office/officeart/2018/2/layout/IconVerticalSolidList"/>
    <dgm:cxn modelId="{2E0B7521-C2D8-4FD6-860D-049F41CC7B19}" type="presParOf" srcId="{38E166EC-F64A-4DEF-B698-F1262177EF56}" destId="{74F85D56-0FA1-48D0-BC8A-CFA6D5F7775D}" srcOrd="0" destOrd="0" presId="urn:microsoft.com/office/officeart/2018/2/layout/IconVerticalSolidList"/>
    <dgm:cxn modelId="{C2BEA32F-E0FB-4DE9-9A74-695B806D2F45}" type="presParOf" srcId="{38E166EC-F64A-4DEF-B698-F1262177EF56}" destId="{DC4AB488-F38C-47DC-B628-519D63257AB3}" srcOrd="1" destOrd="0" presId="urn:microsoft.com/office/officeart/2018/2/layout/IconVerticalSolidList"/>
    <dgm:cxn modelId="{EB822D05-C504-4084-B28E-B0BFD1112AB4}" type="presParOf" srcId="{38E166EC-F64A-4DEF-B698-F1262177EF56}" destId="{726060FC-A94C-4A48-8F04-E10ED8237B50}" srcOrd="2" destOrd="0" presId="urn:microsoft.com/office/officeart/2018/2/layout/IconVerticalSolidList"/>
    <dgm:cxn modelId="{357338DF-363A-43B3-8389-C8243CABF253}" type="presParOf" srcId="{38E166EC-F64A-4DEF-B698-F1262177EF56}" destId="{E54DF5ED-4FE9-4CFC-A3C2-1620BA4B438F}" srcOrd="3" destOrd="0" presId="urn:microsoft.com/office/officeart/2018/2/layout/IconVerticalSolidList"/>
    <dgm:cxn modelId="{E48FA220-E87F-44FB-83ED-678AD709FC9C}" type="presParOf" srcId="{944AED62-914F-4D4E-946F-257F03C89578}" destId="{3644B98F-A208-4CA3-8955-19E55D757ADA}" srcOrd="5" destOrd="0" presId="urn:microsoft.com/office/officeart/2018/2/layout/IconVerticalSolidList"/>
    <dgm:cxn modelId="{7C01F77D-BDC2-44FB-A274-EBCF6E198FEC}" type="presParOf" srcId="{944AED62-914F-4D4E-946F-257F03C89578}" destId="{ABCAF0BF-943A-4E72-8883-25B35AFF4D16}" srcOrd="6" destOrd="0" presId="urn:microsoft.com/office/officeart/2018/2/layout/IconVerticalSolidList"/>
    <dgm:cxn modelId="{BC03EF5D-1917-4165-9D01-3D81AE4F1E8A}" type="presParOf" srcId="{ABCAF0BF-943A-4E72-8883-25B35AFF4D16}" destId="{632F5B32-7649-4D6B-BA11-2B7737411104}" srcOrd="0" destOrd="0" presId="urn:microsoft.com/office/officeart/2018/2/layout/IconVerticalSolidList"/>
    <dgm:cxn modelId="{B6C5D9F3-AE54-408A-9513-3F403AF5DEA6}" type="presParOf" srcId="{ABCAF0BF-943A-4E72-8883-25B35AFF4D16}" destId="{1B9AA587-3248-4216-9B31-3D7F3D7920D2}" srcOrd="1" destOrd="0" presId="urn:microsoft.com/office/officeart/2018/2/layout/IconVerticalSolidList"/>
    <dgm:cxn modelId="{67842F4B-C18F-4D29-B413-E07179697315}" type="presParOf" srcId="{ABCAF0BF-943A-4E72-8883-25B35AFF4D16}" destId="{6BFE7FE7-E578-4A49-AE88-39707A84747B}" srcOrd="2" destOrd="0" presId="urn:microsoft.com/office/officeart/2018/2/layout/IconVerticalSolidList"/>
    <dgm:cxn modelId="{F7A0E432-C303-4212-B999-2FB2EE9D0044}" type="presParOf" srcId="{ABCAF0BF-943A-4E72-8883-25B35AFF4D16}" destId="{E8BEC9A6-DABB-4E90-AFE8-97FBC4D54F02}" srcOrd="3" destOrd="0" presId="urn:microsoft.com/office/officeart/2018/2/layout/IconVerticalSolidList"/>
    <dgm:cxn modelId="{D6DC4047-3AE6-4236-857D-7CE410BAB979}" type="presParOf" srcId="{944AED62-914F-4D4E-946F-257F03C89578}" destId="{C47603C7-A4D6-423F-95A4-9E717CC4A0F6}" srcOrd="7" destOrd="0" presId="urn:microsoft.com/office/officeart/2018/2/layout/IconVerticalSolidList"/>
    <dgm:cxn modelId="{D2893AD8-B469-4584-98CD-BEB7124F315A}" type="presParOf" srcId="{944AED62-914F-4D4E-946F-257F03C89578}" destId="{09630225-49DE-4078-ABE9-C7A18B235AE5}" srcOrd="8" destOrd="0" presId="urn:microsoft.com/office/officeart/2018/2/layout/IconVerticalSolidList"/>
    <dgm:cxn modelId="{4BAD1828-A058-4640-85F3-43530F168332}" type="presParOf" srcId="{09630225-49DE-4078-ABE9-C7A18B235AE5}" destId="{A9DD591B-E5BE-4636-A660-620C02CD3469}" srcOrd="0" destOrd="0" presId="urn:microsoft.com/office/officeart/2018/2/layout/IconVerticalSolidList"/>
    <dgm:cxn modelId="{113A5D1D-37B3-4B7C-8444-84DCF0D6403D}" type="presParOf" srcId="{09630225-49DE-4078-ABE9-C7A18B235AE5}" destId="{8D1F0864-F466-43E6-A98A-DC8C4BA2BEDD}" srcOrd="1" destOrd="0" presId="urn:microsoft.com/office/officeart/2018/2/layout/IconVerticalSolidList"/>
    <dgm:cxn modelId="{771C1B9C-34B5-4989-B014-DC0317730F39}" type="presParOf" srcId="{09630225-49DE-4078-ABE9-C7A18B235AE5}" destId="{453F9CAA-1A39-4B83-A489-9D58FC750DE7}" srcOrd="2" destOrd="0" presId="urn:microsoft.com/office/officeart/2018/2/layout/IconVerticalSolidList"/>
    <dgm:cxn modelId="{5114C4BD-6EC2-4B2C-B463-992C080DC764}" type="presParOf" srcId="{09630225-49DE-4078-ABE9-C7A18B235AE5}" destId="{BAE89B51-1A76-45C5-8442-6854F9D4499E}" srcOrd="3" destOrd="0" presId="urn:microsoft.com/office/officeart/2018/2/layout/IconVerticalSolidList"/>
    <dgm:cxn modelId="{77C8C813-E773-4136-B1C5-7F57AF0F86CD}" type="presParOf" srcId="{944AED62-914F-4D4E-946F-257F03C89578}" destId="{0B3B6622-9B44-4D7A-94C5-D5797A56859C}" srcOrd="9" destOrd="0" presId="urn:microsoft.com/office/officeart/2018/2/layout/IconVerticalSolidList"/>
    <dgm:cxn modelId="{CB4DE3F7-B72D-402C-8AE8-590D3027E92B}" type="presParOf" srcId="{944AED62-914F-4D4E-946F-257F03C89578}" destId="{FC27418C-1020-4E89-B9A0-C77B25C8BC7E}" srcOrd="10" destOrd="0" presId="urn:microsoft.com/office/officeart/2018/2/layout/IconVerticalSolidList"/>
    <dgm:cxn modelId="{758BAE06-5662-417C-97DB-F02B0DC6FDCF}" type="presParOf" srcId="{FC27418C-1020-4E89-B9A0-C77B25C8BC7E}" destId="{1EAD3C5C-74FF-4C73-B2FC-9667FDC72292}" srcOrd="0" destOrd="0" presId="urn:microsoft.com/office/officeart/2018/2/layout/IconVerticalSolidList"/>
    <dgm:cxn modelId="{D43E3329-86A9-45A6-9850-18E4AA39AAC6}" type="presParOf" srcId="{FC27418C-1020-4E89-B9A0-C77B25C8BC7E}" destId="{CA8325C3-673F-4DE4-AB81-0006B5AB19C8}" srcOrd="1" destOrd="0" presId="urn:microsoft.com/office/officeart/2018/2/layout/IconVerticalSolidList"/>
    <dgm:cxn modelId="{32E6CD32-31E1-42C0-B7A3-BE9FBBC8CF37}" type="presParOf" srcId="{FC27418C-1020-4E89-B9A0-C77B25C8BC7E}" destId="{FB3FCC1C-8319-4802-AB13-0EA705B46C70}" srcOrd="2" destOrd="0" presId="urn:microsoft.com/office/officeart/2018/2/layout/IconVerticalSolidList"/>
    <dgm:cxn modelId="{26C4EDF6-4935-4FB6-A661-0ABAC878FB12}" type="presParOf" srcId="{FC27418C-1020-4E89-B9A0-C77B25C8BC7E}" destId="{1F254B1D-FB70-42B8-A060-3AD4C7232A7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A89F0-8259-45CD-A4A7-5E8239973307}">
      <dsp:nvSpPr>
        <dsp:cNvPr id="0" name=""/>
        <dsp:cNvSpPr/>
      </dsp:nvSpPr>
      <dsp:spPr>
        <a:xfrm>
          <a:off x="3734" y="235412"/>
          <a:ext cx="1632591" cy="97955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Structure</a:t>
          </a:r>
        </a:p>
      </dsp:txBody>
      <dsp:txXfrm>
        <a:off x="32424" y="264102"/>
        <a:ext cx="1575211" cy="922174"/>
      </dsp:txXfrm>
    </dsp:sp>
    <dsp:sp modelId="{AB671D8A-807C-4E8A-A1B2-A0EEEFC04DCC}">
      <dsp:nvSpPr>
        <dsp:cNvPr id="0" name=""/>
        <dsp:cNvSpPr/>
      </dsp:nvSpPr>
      <dsp:spPr>
        <a:xfrm>
          <a:off x="1799584" y="522748"/>
          <a:ext cx="346109" cy="40488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1799584" y="603724"/>
        <a:ext cx="242276" cy="242930"/>
      </dsp:txXfrm>
    </dsp:sp>
    <dsp:sp modelId="{F03597E1-AC19-459B-AB24-B55998466105}">
      <dsp:nvSpPr>
        <dsp:cNvPr id="0" name=""/>
        <dsp:cNvSpPr/>
      </dsp:nvSpPr>
      <dsp:spPr>
        <a:xfrm>
          <a:off x="2289362" y="235412"/>
          <a:ext cx="1632591" cy="97955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Evidence</a:t>
          </a:r>
        </a:p>
      </dsp:txBody>
      <dsp:txXfrm>
        <a:off x="2318052" y="264102"/>
        <a:ext cx="1575211" cy="922174"/>
      </dsp:txXfrm>
    </dsp:sp>
    <dsp:sp modelId="{EF316D2C-7327-47FA-9165-D7DA88113895}">
      <dsp:nvSpPr>
        <dsp:cNvPr id="0" name=""/>
        <dsp:cNvSpPr/>
      </dsp:nvSpPr>
      <dsp:spPr>
        <a:xfrm>
          <a:off x="4085212" y="522748"/>
          <a:ext cx="346109" cy="40488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4085212" y="603724"/>
        <a:ext cx="242276" cy="242930"/>
      </dsp:txXfrm>
    </dsp:sp>
    <dsp:sp modelId="{882CBF00-0710-4DA9-AE52-EE258E2E6CB4}">
      <dsp:nvSpPr>
        <dsp:cNvPr id="0" name=""/>
        <dsp:cNvSpPr/>
      </dsp:nvSpPr>
      <dsp:spPr>
        <a:xfrm>
          <a:off x="4574990" y="235412"/>
          <a:ext cx="1632591" cy="97955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Analysis</a:t>
          </a:r>
        </a:p>
      </dsp:txBody>
      <dsp:txXfrm>
        <a:off x="4603680" y="264102"/>
        <a:ext cx="1575211" cy="922174"/>
      </dsp:txXfrm>
    </dsp:sp>
    <dsp:sp modelId="{6ACC208D-C7F8-4F7E-963B-D3147EB1B0F3}">
      <dsp:nvSpPr>
        <dsp:cNvPr id="0" name=""/>
        <dsp:cNvSpPr/>
      </dsp:nvSpPr>
      <dsp:spPr>
        <a:xfrm>
          <a:off x="6370840" y="522748"/>
          <a:ext cx="346109" cy="40488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6370840" y="603724"/>
        <a:ext cx="242276" cy="242930"/>
      </dsp:txXfrm>
    </dsp:sp>
    <dsp:sp modelId="{1FFB38F8-EB57-482B-868E-2E23407FEDF2}">
      <dsp:nvSpPr>
        <dsp:cNvPr id="0" name=""/>
        <dsp:cNvSpPr/>
      </dsp:nvSpPr>
      <dsp:spPr>
        <a:xfrm>
          <a:off x="6860618" y="235412"/>
          <a:ext cx="1632591" cy="97955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Argument</a:t>
          </a:r>
        </a:p>
      </dsp:txBody>
      <dsp:txXfrm>
        <a:off x="6889308" y="264102"/>
        <a:ext cx="1575211" cy="922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6FC9B-8F73-4C94-96E7-DACB9EF3F03D}">
      <dsp:nvSpPr>
        <dsp:cNvPr id="0" name=""/>
        <dsp:cNvSpPr/>
      </dsp:nvSpPr>
      <dsp:spPr>
        <a:xfrm>
          <a:off x="0" y="1234"/>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3AEB58-B0D7-43F0-B1CB-4798EFB76E51}">
      <dsp:nvSpPr>
        <dsp:cNvPr id="0" name=""/>
        <dsp:cNvSpPr/>
      </dsp:nvSpPr>
      <dsp:spPr>
        <a:xfrm>
          <a:off x="159130" y="119596"/>
          <a:ext cx="289328" cy="2893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AE8BDF-1CC8-4AAC-A9D5-6A83B91F7E36}">
      <dsp:nvSpPr>
        <dsp:cNvPr id="0" name=""/>
        <dsp:cNvSpPr/>
      </dsp:nvSpPr>
      <dsp:spPr>
        <a:xfrm>
          <a:off x="607590" y="1234"/>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Time management</a:t>
          </a:r>
        </a:p>
      </dsp:txBody>
      <dsp:txXfrm>
        <a:off x="607590" y="1234"/>
        <a:ext cx="7164809" cy="526052"/>
      </dsp:txXfrm>
    </dsp:sp>
    <dsp:sp modelId="{E478B441-E5ED-46D3-90A7-6464E9E9FF0B}">
      <dsp:nvSpPr>
        <dsp:cNvPr id="0" name=""/>
        <dsp:cNvSpPr/>
      </dsp:nvSpPr>
      <dsp:spPr>
        <a:xfrm>
          <a:off x="0" y="658800"/>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3FBBFE-13AC-42E7-B87F-2D43EF5BE039}">
      <dsp:nvSpPr>
        <dsp:cNvPr id="0" name=""/>
        <dsp:cNvSpPr/>
      </dsp:nvSpPr>
      <dsp:spPr>
        <a:xfrm>
          <a:off x="159130" y="777162"/>
          <a:ext cx="289328" cy="2893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5500AE-E148-4CDF-AB9D-7B1AEBF27632}">
      <dsp:nvSpPr>
        <dsp:cNvPr id="0" name=""/>
        <dsp:cNvSpPr/>
      </dsp:nvSpPr>
      <dsp:spPr>
        <a:xfrm>
          <a:off x="607590" y="658800"/>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Word count management</a:t>
          </a:r>
        </a:p>
      </dsp:txBody>
      <dsp:txXfrm>
        <a:off x="607590" y="658800"/>
        <a:ext cx="7164809" cy="526052"/>
      </dsp:txXfrm>
    </dsp:sp>
    <dsp:sp modelId="{74F85D56-0FA1-48D0-BC8A-CFA6D5F7775D}">
      <dsp:nvSpPr>
        <dsp:cNvPr id="0" name=""/>
        <dsp:cNvSpPr/>
      </dsp:nvSpPr>
      <dsp:spPr>
        <a:xfrm>
          <a:off x="0" y="1316365"/>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4AB488-F38C-47DC-B628-519D63257AB3}">
      <dsp:nvSpPr>
        <dsp:cNvPr id="0" name=""/>
        <dsp:cNvSpPr/>
      </dsp:nvSpPr>
      <dsp:spPr>
        <a:xfrm>
          <a:off x="159130" y="1434727"/>
          <a:ext cx="289328" cy="2893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4DF5ED-4FE9-4CFC-A3C2-1620BA4B438F}">
      <dsp:nvSpPr>
        <dsp:cNvPr id="0" name=""/>
        <dsp:cNvSpPr/>
      </dsp:nvSpPr>
      <dsp:spPr>
        <a:xfrm>
          <a:off x="607590" y="1316365"/>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Planning</a:t>
          </a:r>
        </a:p>
      </dsp:txBody>
      <dsp:txXfrm>
        <a:off x="607590" y="1316365"/>
        <a:ext cx="7164809" cy="526052"/>
      </dsp:txXfrm>
    </dsp:sp>
    <dsp:sp modelId="{632F5B32-7649-4D6B-BA11-2B7737411104}">
      <dsp:nvSpPr>
        <dsp:cNvPr id="0" name=""/>
        <dsp:cNvSpPr/>
      </dsp:nvSpPr>
      <dsp:spPr>
        <a:xfrm>
          <a:off x="0" y="1973931"/>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9AA587-3248-4216-9B31-3D7F3D7920D2}">
      <dsp:nvSpPr>
        <dsp:cNvPr id="0" name=""/>
        <dsp:cNvSpPr/>
      </dsp:nvSpPr>
      <dsp:spPr>
        <a:xfrm>
          <a:off x="159130" y="2092293"/>
          <a:ext cx="289328" cy="2893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BEC9A6-DABB-4E90-AFE8-97FBC4D54F02}">
      <dsp:nvSpPr>
        <dsp:cNvPr id="0" name=""/>
        <dsp:cNvSpPr/>
      </dsp:nvSpPr>
      <dsp:spPr>
        <a:xfrm>
          <a:off x="607590" y="1973931"/>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Problem Question technique</a:t>
          </a:r>
        </a:p>
      </dsp:txBody>
      <dsp:txXfrm>
        <a:off x="607590" y="1973931"/>
        <a:ext cx="7164809" cy="526052"/>
      </dsp:txXfrm>
    </dsp:sp>
    <dsp:sp modelId="{A9DD591B-E5BE-4636-A660-620C02CD3469}">
      <dsp:nvSpPr>
        <dsp:cNvPr id="0" name=""/>
        <dsp:cNvSpPr/>
      </dsp:nvSpPr>
      <dsp:spPr>
        <a:xfrm>
          <a:off x="0" y="2631497"/>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1F0864-F466-43E6-A98A-DC8C4BA2BEDD}">
      <dsp:nvSpPr>
        <dsp:cNvPr id="0" name=""/>
        <dsp:cNvSpPr/>
      </dsp:nvSpPr>
      <dsp:spPr>
        <a:xfrm>
          <a:off x="159130" y="2749859"/>
          <a:ext cx="289328" cy="2893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E89B51-1A76-45C5-8442-6854F9D4499E}">
      <dsp:nvSpPr>
        <dsp:cNvPr id="0" name=""/>
        <dsp:cNvSpPr/>
      </dsp:nvSpPr>
      <dsp:spPr>
        <a:xfrm>
          <a:off x="607590" y="2631497"/>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Sources</a:t>
          </a:r>
        </a:p>
      </dsp:txBody>
      <dsp:txXfrm>
        <a:off x="607590" y="2631497"/>
        <a:ext cx="7164809" cy="526052"/>
      </dsp:txXfrm>
    </dsp:sp>
    <dsp:sp modelId="{1EAD3C5C-74FF-4C73-B2FC-9667FDC72292}">
      <dsp:nvSpPr>
        <dsp:cNvPr id="0" name=""/>
        <dsp:cNvSpPr/>
      </dsp:nvSpPr>
      <dsp:spPr>
        <a:xfrm>
          <a:off x="0" y="3289062"/>
          <a:ext cx="7772400" cy="52605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8325C3-673F-4DE4-AB81-0006B5AB19C8}">
      <dsp:nvSpPr>
        <dsp:cNvPr id="0" name=""/>
        <dsp:cNvSpPr/>
      </dsp:nvSpPr>
      <dsp:spPr>
        <a:xfrm>
          <a:off x="159130" y="3407424"/>
          <a:ext cx="289328" cy="2893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254B1D-FB70-42B8-A060-3AD4C7232A74}">
      <dsp:nvSpPr>
        <dsp:cNvPr id="0" name=""/>
        <dsp:cNvSpPr/>
      </dsp:nvSpPr>
      <dsp:spPr>
        <a:xfrm>
          <a:off x="607590" y="3289062"/>
          <a:ext cx="7164809" cy="526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674" tIns="55674" rIns="55674" bIns="55674" numCol="1" spcCol="1270" anchor="ctr" anchorCtr="0">
          <a:noAutofit/>
        </a:bodyPr>
        <a:lstStyle/>
        <a:p>
          <a:pPr marL="0" lvl="0" indent="0" algn="l" defTabSz="844550">
            <a:lnSpc>
              <a:spcPct val="90000"/>
            </a:lnSpc>
            <a:spcBef>
              <a:spcPct val="0"/>
            </a:spcBef>
            <a:spcAft>
              <a:spcPct val="35000"/>
            </a:spcAft>
            <a:buNone/>
          </a:pPr>
          <a:r>
            <a:rPr lang="en-US" sz="1900" kern="1200"/>
            <a:t>Proof Reading</a:t>
          </a:r>
        </a:p>
      </dsp:txBody>
      <dsp:txXfrm>
        <a:off x="607590" y="3289062"/>
        <a:ext cx="7164809" cy="5260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0C86D8E-C94A-9F36-C191-A8FB803FD9F7}"/>
              </a:ext>
            </a:extLst>
          </p:cNvPr>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a:extLst>
              <a:ext uri="{FF2B5EF4-FFF2-40B4-BE49-F238E27FC236}">
                <a16:creationId xmlns:a16="http://schemas.microsoft.com/office/drawing/2014/main" id="{D7E1BE5F-63C1-BB74-0705-D3F27B24CDA9}"/>
              </a:ext>
            </a:extLst>
          </p:cNvPr>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3076" name="Rectangle 4">
            <a:extLst>
              <a:ext uri="{FF2B5EF4-FFF2-40B4-BE49-F238E27FC236}">
                <a16:creationId xmlns:a16="http://schemas.microsoft.com/office/drawing/2014/main" id="{3C7BDF8E-E7D1-E05A-418E-2DFFF056AC63}"/>
              </a:ext>
            </a:extLst>
          </p:cNvPr>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60FB724C-FCFE-DCEA-9D31-6FB75B5A35A7}"/>
              </a:ext>
            </a:extLst>
          </p:cNvPr>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6FF55FF9-BCD1-30D1-D092-92670D9036AC}"/>
              </a:ext>
            </a:extLst>
          </p:cNvPr>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a:extLst>
              <a:ext uri="{FF2B5EF4-FFF2-40B4-BE49-F238E27FC236}">
                <a16:creationId xmlns:a16="http://schemas.microsoft.com/office/drawing/2014/main" id="{45ABAA2A-BAC6-3A6F-A98A-C9372A7A2884}"/>
              </a:ext>
            </a:extLst>
          </p:cNvPr>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44CD1A8-5C76-4CEA-967B-2A7D1C20292C}"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150"/>
              </a:spcBef>
              <a:spcAft>
                <a:spcPts val="450"/>
              </a:spcAft>
              <a:buNone/>
            </a:pPr>
            <a:r>
              <a:rPr lang="en-GB" b="0" i="0" u="none" strike="noStrike" dirty="0">
                <a:solidFill>
                  <a:srgbClr val="424242"/>
                </a:solidFill>
                <a:effectLst/>
                <a:latin typeface="Segoe Sans"/>
              </a:rPr>
              <a:t>Tips for Approaching Legal Problem Questions</a:t>
            </a:r>
          </a:p>
          <a:p>
            <a:pPr algn="l">
              <a:spcAft>
                <a:spcPts val="600"/>
              </a:spcAft>
              <a:buFont typeface="+mj-lt"/>
              <a:buAutoNum type="arabicPeriod"/>
            </a:pPr>
            <a:r>
              <a:rPr lang="en-GB" b="0" i="0" u="none" strike="noStrike" dirty="0">
                <a:solidFill>
                  <a:srgbClr val="424242"/>
                </a:solidFill>
                <a:effectLst/>
                <a:latin typeface="Segoe Sans"/>
              </a:rPr>
              <a:t>Read the Question Carefully:</a:t>
            </a:r>
          </a:p>
          <a:p>
            <a:pPr marL="742950" lvl="1" indent="-285750" algn="l">
              <a:spcAft>
                <a:spcPts val="600"/>
              </a:spcAft>
              <a:buFont typeface="+mj-lt"/>
              <a:buAutoNum type="arabicPeriod"/>
            </a:pPr>
            <a:r>
              <a:rPr lang="en-GB" b="0" i="0" u="none" strike="noStrike" dirty="0">
                <a:solidFill>
                  <a:srgbClr val="424242"/>
                </a:solidFill>
                <a:effectLst/>
                <a:latin typeface="Segoe Sans"/>
              </a:rPr>
              <a:t>Understand the facts and identify the key issues.</a:t>
            </a:r>
          </a:p>
          <a:p>
            <a:pPr marL="742950" lvl="1" indent="-285750" algn="l">
              <a:spcAft>
                <a:spcPts val="600"/>
              </a:spcAft>
              <a:buFont typeface="+mj-lt"/>
              <a:buAutoNum type="arabicPeriod"/>
            </a:pPr>
            <a:r>
              <a:rPr lang="en-GB" b="0" i="0" u="none" strike="noStrike" dirty="0">
                <a:solidFill>
                  <a:srgbClr val="424242"/>
                </a:solidFill>
                <a:effectLst/>
                <a:latin typeface="Segoe Sans"/>
              </a:rPr>
              <a:t>Pay attention to any specific instructions or requirements.</a:t>
            </a:r>
          </a:p>
          <a:p>
            <a:pPr algn="l">
              <a:spcAft>
                <a:spcPts val="600"/>
              </a:spcAft>
              <a:buFont typeface="+mj-lt"/>
              <a:buAutoNum type="arabicPeriod"/>
            </a:pPr>
            <a:r>
              <a:rPr lang="en-GB" b="0" i="0" u="none" strike="noStrike" dirty="0">
                <a:solidFill>
                  <a:srgbClr val="424242"/>
                </a:solidFill>
                <a:effectLst/>
                <a:latin typeface="Segoe Sans"/>
              </a:rPr>
              <a:t>Identify the Relevant Law:</a:t>
            </a:r>
          </a:p>
          <a:p>
            <a:pPr marL="742950" lvl="1" indent="-285750" algn="l">
              <a:spcAft>
                <a:spcPts val="600"/>
              </a:spcAft>
              <a:buFont typeface="+mj-lt"/>
              <a:buAutoNum type="arabicPeriod"/>
            </a:pPr>
            <a:r>
              <a:rPr lang="en-GB" b="0" i="0" u="none" strike="noStrike" dirty="0">
                <a:solidFill>
                  <a:srgbClr val="424242"/>
                </a:solidFill>
                <a:effectLst/>
                <a:latin typeface="Segoe Sans"/>
              </a:rPr>
              <a:t>Determine which areas of law are applicable (e.g., contract law, criminal law, tort law).</a:t>
            </a:r>
          </a:p>
          <a:p>
            <a:pPr marL="742950" lvl="1" indent="-285750" algn="l">
              <a:spcAft>
                <a:spcPts val="600"/>
              </a:spcAft>
              <a:buFont typeface="+mj-lt"/>
              <a:buAutoNum type="arabicPeriod"/>
            </a:pPr>
            <a:r>
              <a:rPr lang="en-GB" b="0" i="0" u="none" strike="noStrike" dirty="0">
                <a:solidFill>
                  <a:srgbClr val="424242"/>
                </a:solidFill>
                <a:effectLst/>
                <a:latin typeface="Segoe Sans"/>
              </a:rPr>
              <a:t>Identify relevant statutes, case law, and legal principles.</a:t>
            </a:r>
          </a:p>
          <a:p>
            <a:pPr algn="l">
              <a:spcAft>
                <a:spcPts val="600"/>
              </a:spcAft>
              <a:buFont typeface="+mj-lt"/>
              <a:buAutoNum type="arabicPeriod"/>
            </a:pPr>
            <a:r>
              <a:rPr lang="en-GB" b="0" i="0" u="none" strike="noStrike" dirty="0">
                <a:solidFill>
                  <a:srgbClr val="424242"/>
                </a:solidFill>
                <a:effectLst/>
                <a:latin typeface="Segoe Sans"/>
              </a:rPr>
              <a:t>Structure Your Answer:</a:t>
            </a:r>
          </a:p>
          <a:p>
            <a:pPr marL="742950" lvl="1" indent="-285750" algn="l">
              <a:spcAft>
                <a:spcPts val="600"/>
              </a:spcAft>
              <a:buFont typeface="+mj-lt"/>
              <a:buAutoNum type="arabicPeriod"/>
            </a:pPr>
            <a:r>
              <a:rPr lang="en-GB" b="0" i="0" u="none" strike="noStrike" dirty="0">
                <a:solidFill>
                  <a:srgbClr val="424242"/>
                </a:solidFill>
                <a:effectLst/>
                <a:latin typeface="Segoe Sans"/>
              </a:rPr>
              <a:t>Use a clear and logical structure, such as IRAC (Issue, Rule, Application, Conclusion).</a:t>
            </a:r>
          </a:p>
          <a:p>
            <a:pPr marL="742950" lvl="1" indent="-285750" algn="l">
              <a:spcAft>
                <a:spcPts val="600"/>
              </a:spcAft>
              <a:buFont typeface="+mj-lt"/>
              <a:buAutoNum type="arabicPeriod"/>
            </a:pPr>
            <a:r>
              <a:rPr lang="en-GB" b="0" i="0" u="none" strike="noStrike" dirty="0">
                <a:solidFill>
                  <a:srgbClr val="424242"/>
                </a:solidFill>
                <a:effectLst/>
                <a:latin typeface="Segoe Sans"/>
              </a:rPr>
              <a:t>Break down your answer into manageable sections.</a:t>
            </a:r>
          </a:p>
          <a:p>
            <a:pPr algn="l">
              <a:spcAft>
                <a:spcPts val="600"/>
              </a:spcAft>
              <a:buFont typeface="+mj-lt"/>
              <a:buAutoNum type="arabicPeriod"/>
            </a:pPr>
            <a:r>
              <a:rPr lang="en-GB" b="0" i="0" u="none" strike="noStrike" dirty="0">
                <a:solidFill>
                  <a:srgbClr val="424242"/>
                </a:solidFill>
                <a:effectLst/>
                <a:latin typeface="Segoe Sans"/>
              </a:rPr>
              <a:t>Issue Identification:</a:t>
            </a:r>
          </a:p>
          <a:p>
            <a:pPr marL="742950" lvl="1" indent="-285750" algn="l">
              <a:spcAft>
                <a:spcPts val="600"/>
              </a:spcAft>
              <a:buFont typeface="+mj-lt"/>
              <a:buAutoNum type="arabicPeriod"/>
            </a:pPr>
            <a:r>
              <a:rPr lang="en-GB" b="0" i="0" u="none" strike="noStrike" dirty="0">
                <a:solidFill>
                  <a:srgbClr val="424242"/>
                </a:solidFill>
                <a:effectLst/>
                <a:latin typeface="Segoe Sans"/>
              </a:rPr>
              <a:t>Identify the legal issues raised by the facts.</a:t>
            </a:r>
          </a:p>
          <a:p>
            <a:pPr marL="742950" lvl="1" indent="-285750" algn="l">
              <a:spcAft>
                <a:spcPts val="600"/>
              </a:spcAft>
              <a:buFont typeface="+mj-lt"/>
              <a:buAutoNum type="arabicPeriod"/>
            </a:pPr>
            <a:r>
              <a:rPr lang="en-GB" b="0" i="0" u="none" strike="noStrike" dirty="0">
                <a:solidFill>
                  <a:srgbClr val="424242"/>
                </a:solidFill>
                <a:effectLst/>
                <a:latin typeface="Segoe Sans"/>
              </a:rPr>
              <a:t>Prioritize the issues based on their importance and relevance.</a:t>
            </a:r>
          </a:p>
          <a:p>
            <a:pPr algn="l">
              <a:spcAft>
                <a:spcPts val="600"/>
              </a:spcAft>
              <a:buFont typeface="+mj-lt"/>
              <a:buAutoNum type="arabicPeriod"/>
            </a:pPr>
            <a:r>
              <a:rPr lang="en-GB" b="0" i="0" u="none" strike="noStrike" dirty="0">
                <a:solidFill>
                  <a:srgbClr val="424242"/>
                </a:solidFill>
                <a:effectLst/>
                <a:latin typeface="Segoe Sans"/>
              </a:rPr>
              <a:t>State the Rule:</a:t>
            </a:r>
          </a:p>
          <a:p>
            <a:pPr marL="742950" lvl="1" indent="-285750" algn="l">
              <a:spcAft>
                <a:spcPts val="600"/>
              </a:spcAft>
              <a:buFont typeface="+mj-lt"/>
              <a:buAutoNum type="arabicPeriod"/>
            </a:pPr>
            <a:r>
              <a:rPr lang="en-GB" b="0" i="0" u="none" strike="noStrike" dirty="0">
                <a:solidFill>
                  <a:srgbClr val="424242"/>
                </a:solidFill>
                <a:effectLst/>
                <a:latin typeface="Segoe Sans"/>
              </a:rPr>
              <a:t>Clearly state the relevant legal rules and principles.</a:t>
            </a:r>
          </a:p>
          <a:p>
            <a:pPr marL="742950" lvl="1" indent="-285750" algn="l">
              <a:spcAft>
                <a:spcPts val="600"/>
              </a:spcAft>
              <a:buFont typeface="+mj-lt"/>
              <a:buAutoNum type="arabicPeriod"/>
            </a:pPr>
            <a:r>
              <a:rPr lang="en-GB" b="0" i="0" u="none" strike="noStrike" dirty="0">
                <a:solidFill>
                  <a:srgbClr val="424242"/>
                </a:solidFill>
                <a:effectLst/>
                <a:latin typeface="Segoe Sans"/>
              </a:rPr>
              <a:t>Cite statutes and case law where applicable.</a:t>
            </a:r>
          </a:p>
          <a:p>
            <a:pPr algn="l">
              <a:spcAft>
                <a:spcPts val="600"/>
              </a:spcAft>
              <a:buFont typeface="+mj-lt"/>
              <a:buAutoNum type="arabicPeriod"/>
            </a:pPr>
            <a:r>
              <a:rPr lang="en-GB" b="0" i="0" u="none" strike="noStrike" dirty="0">
                <a:solidFill>
                  <a:srgbClr val="424242"/>
                </a:solidFill>
                <a:effectLst/>
                <a:latin typeface="Segoe Sans"/>
              </a:rPr>
              <a:t>Application:</a:t>
            </a:r>
          </a:p>
          <a:p>
            <a:pPr marL="742950" lvl="1" indent="-285750" algn="l">
              <a:spcAft>
                <a:spcPts val="600"/>
              </a:spcAft>
              <a:buFont typeface="+mj-lt"/>
              <a:buAutoNum type="arabicPeriod"/>
            </a:pPr>
            <a:r>
              <a:rPr lang="en-GB" b="0" i="0" u="none" strike="noStrike" dirty="0">
                <a:solidFill>
                  <a:srgbClr val="424242"/>
                </a:solidFill>
                <a:effectLst/>
                <a:latin typeface="Segoe Sans"/>
              </a:rPr>
              <a:t>Apply the legal rules to the facts of the problem.</a:t>
            </a:r>
          </a:p>
          <a:p>
            <a:pPr marL="742950" lvl="1" indent="-285750" algn="l">
              <a:spcAft>
                <a:spcPts val="600"/>
              </a:spcAft>
              <a:buFont typeface="+mj-lt"/>
              <a:buAutoNum type="arabicPeriod"/>
            </a:pPr>
            <a:r>
              <a:rPr lang="en-GB" b="0" i="0" u="none" strike="noStrike" dirty="0" err="1">
                <a:solidFill>
                  <a:srgbClr val="424242"/>
                </a:solidFill>
                <a:effectLst/>
                <a:latin typeface="Segoe Sans"/>
              </a:rPr>
              <a:t>Analyze</a:t>
            </a:r>
            <a:r>
              <a:rPr lang="en-GB" b="0" i="0" u="none" strike="noStrike" dirty="0">
                <a:solidFill>
                  <a:srgbClr val="424242"/>
                </a:solidFill>
                <a:effectLst/>
                <a:latin typeface="Segoe Sans"/>
              </a:rPr>
              <a:t> how the facts fit within the legal framework.</a:t>
            </a:r>
          </a:p>
          <a:p>
            <a:pPr marL="742950" lvl="1" indent="-285750" algn="l">
              <a:spcAft>
                <a:spcPts val="600"/>
              </a:spcAft>
              <a:buFont typeface="+mj-lt"/>
              <a:buAutoNum type="arabicPeriod"/>
            </a:pPr>
            <a:r>
              <a:rPr lang="en-GB" b="0" i="0" u="none" strike="noStrike" dirty="0">
                <a:solidFill>
                  <a:srgbClr val="424242"/>
                </a:solidFill>
                <a:effectLst/>
                <a:latin typeface="Segoe Sans"/>
              </a:rPr>
              <a:t>Discuss any ambiguities or uncertainties.</a:t>
            </a:r>
          </a:p>
          <a:p>
            <a:pPr algn="l">
              <a:spcAft>
                <a:spcPts val="600"/>
              </a:spcAft>
              <a:buFont typeface="+mj-lt"/>
              <a:buAutoNum type="arabicPeriod"/>
            </a:pPr>
            <a:r>
              <a:rPr lang="en-GB" b="0" i="0" u="none" strike="noStrike" dirty="0">
                <a:solidFill>
                  <a:srgbClr val="424242"/>
                </a:solidFill>
                <a:effectLst/>
                <a:latin typeface="Segoe Sans"/>
              </a:rPr>
              <a:t>Conclusion:</a:t>
            </a:r>
          </a:p>
          <a:p>
            <a:pPr marL="742950" lvl="1" indent="-285750" algn="l">
              <a:spcAft>
                <a:spcPts val="600"/>
              </a:spcAft>
              <a:buFont typeface="+mj-lt"/>
              <a:buAutoNum type="arabicPeriod"/>
            </a:pPr>
            <a:r>
              <a:rPr lang="en-GB" b="0" i="0" u="none" strike="noStrike" dirty="0">
                <a:solidFill>
                  <a:srgbClr val="424242"/>
                </a:solidFill>
                <a:effectLst/>
                <a:latin typeface="Segoe Sans"/>
              </a:rPr>
              <a:t>Summarize your findings and provide a clear conclusion.</a:t>
            </a:r>
          </a:p>
          <a:p>
            <a:pPr marL="742950" lvl="1" indent="-285750" algn="l">
              <a:spcAft>
                <a:spcPts val="600"/>
              </a:spcAft>
              <a:buFont typeface="+mj-lt"/>
              <a:buAutoNum type="arabicPeriod"/>
            </a:pPr>
            <a:r>
              <a:rPr lang="en-GB" b="0" i="0" u="none" strike="noStrike" dirty="0">
                <a:solidFill>
                  <a:srgbClr val="424242"/>
                </a:solidFill>
                <a:effectLst/>
                <a:latin typeface="Segoe Sans"/>
              </a:rPr>
              <a:t>Address each issue separately and conclude on each point.</a:t>
            </a:r>
          </a:p>
          <a:p>
            <a:pPr algn="l">
              <a:spcAft>
                <a:spcPts val="600"/>
              </a:spcAft>
              <a:buFont typeface="+mj-lt"/>
              <a:buAutoNum type="arabicPeriod"/>
            </a:pPr>
            <a:r>
              <a:rPr lang="en-GB" b="0" i="0" u="none" strike="noStrike" dirty="0">
                <a:solidFill>
                  <a:srgbClr val="424242"/>
                </a:solidFill>
                <a:effectLst/>
                <a:latin typeface="Segoe Sans"/>
              </a:rPr>
              <a:t>Use Case Law Effectively:</a:t>
            </a:r>
          </a:p>
          <a:p>
            <a:pPr marL="742950" lvl="1" indent="-285750" algn="l">
              <a:spcAft>
                <a:spcPts val="600"/>
              </a:spcAft>
              <a:buFont typeface="+mj-lt"/>
              <a:buAutoNum type="arabicPeriod"/>
            </a:pPr>
            <a:r>
              <a:rPr lang="en-GB" b="0" i="0" u="none" strike="noStrike" dirty="0">
                <a:solidFill>
                  <a:srgbClr val="424242"/>
                </a:solidFill>
                <a:effectLst/>
                <a:latin typeface="Segoe Sans"/>
              </a:rPr>
              <a:t>Reference relevant cases to support your arguments.</a:t>
            </a:r>
          </a:p>
          <a:p>
            <a:pPr marL="742950" lvl="1" indent="-285750" algn="l">
              <a:spcAft>
                <a:spcPts val="600"/>
              </a:spcAft>
              <a:buFont typeface="+mj-lt"/>
              <a:buAutoNum type="arabicPeriod"/>
            </a:pPr>
            <a:r>
              <a:rPr lang="en-GB" b="0" i="0" u="none" strike="noStrike" dirty="0">
                <a:solidFill>
                  <a:srgbClr val="424242"/>
                </a:solidFill>
                <a:effectLst/>
                <a:latin typeface="Segoe Sans"/>
              </a:rPr>
              <a:t>Explain how the case law applies to the facts of the problem.</a:t>
            </a:r>
          </a:p>
          <a:p>
            <a:pPr algn="l">
              <a:spcAft>
                <a:spcPts val="600"/>
              </a:spcAft>
              <a:buFont typeface="+mj-lt"/>
              <a:buAutoNum type="arabicPeriod"/>
            </a:pPr>
            <a:r>
              <a:rPr lang="en-GB" b="0" i="0" u="none" strike="noStrike" dirty="0">
                <a:solidFill>
                  <a:srgbClr val="424242"/>
                </a:solidFill>
                <a:effectLst/>
                <a:latin typeface="Segoe Sans"/>
              </a:rPr>
              <a:t>Be Concise and Clear:</a:t>
            </a:r>
          </a:p>
          <a:p>
            <a:pPr marL="742950" lvl="1" indent="-285750" algn="l">
              <a:spcAft>
                <a:spcPts val="600"/>
              </a:spcAft>
              <a:buFont typeface="+mj-lt"/>
              <a:buAutoNum type="arabicPeriod"/>
            </a:pPr>
            <a:r>
              <a:rPr lang="en-GB" b="0" i="0" u="none" strike="noStrike" dirty="0">
                <a:solidFill>
                  <a:srgbClr val="424242"/>
                </a:solidFill>
                <a:effectLst/>
                <a:latin typeface="Segoe Sans"/>
              </a:rPr>
              <a:t>Avoid unnecessary jargon and complex language.</a:t>
            </a:r>
          </a:p>
          <a:p>
            <a:pPr marL="742950" lvl="1" indent="-285750" algn="l">
              <a:spcAft>
                <a:spcPts val="600"/>
              </a:spcAft>
              <a:buFont typeface="+mj-lt"/>
              <a:buAutoNum type="arabicPeriod"/>
            </a:pPr>
            <a:r>
              <a:rPr lang="en-GB" b="0" i="0" u="none" strike="noStrike" dirty="0">
                <a:solidFill>
                  <a:srgbClr val="424242"/>
                </a:solidFill>
                <a:effectLst/>
                <a:latin typeface="Segoe Sans"/>
              </a:rPr>
              <a:t>Write clearly and concisely to ensure your answer is easy to follow.</a:t>
            </a:r>
          </a:p>
          <a:p>
            <a:pPr algn="l">
              <a:spcAft>
                <a:spcPts val="600"/>
              </a:spcAft>
              <a:buFont typeface="+mj-lt"/>
              <a:buAutoNum type="arabicPeriod"/>
            </a:pPr>
            <a:r>
              <a:rPr lang="en-GB" b="0" i="0" u="none" strike="noStrike" dirty="0">
                <a:solidFill>
                  <a:srgbClr val="424242"/>
                </a:solidFill>
                <a:effectLst/>
                <a:latin typeface="Segoe Sans"/>
              </a:rPr>
              <a:t>Review and Edit:</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Review your answer for any errors or omissions.</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Ensure your argument is coherent and well-supported.</a:t>
            </a:r>
          </a:p>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8</a:t>
            </a:fld>
            <a:endParaRPr lang="en-GB" altLang="en-US"/>
          </a:p>
        </p:txBody>
      </p:sp>
    </p:spTree>
    <p:extLst>
      <p:ext uri="{BB962C8B-B14F-4D97-AF65-F5344CB8AC3E}">
        <p14:creationId xmlns:p14="http://schemas.microsoft.com/office/powerpoint/2010/main" val="3738226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buNone/>
            </a:pPr>
            <a:br>
              <a:rPr lang="en-GB" b="0" dirty="0">
                <a:effectLst/>
              </a:rPr>
            </a:br>
            <a:r>
              <a:rPr lang="en-GB" b="0" dirty="0">
                <a:effectLst/>
              </a:rPr>
              <a:t>Dishonesty</a:t>
            </a:r>
            <a:r>
              <a:rPr lang="en-GB" dirty="0">
                <a:effectLst/>
              </a:rPr>
              <a:t>:</a:t>
            </a:r>
          </a:p>
          <a:p>
            <a:pPr>
              <a:buFont typeface="Arial" panose="020B0604020202020204" pitchFamily="34" charset="0"/>
              <a:buChar char="•"/>
            </a:pPr>
            <a:r>
              <a:rPr lang="en-GB" dirty="0">
                <a:effectLst/>
              </a:rPr>
              <a:t>Defined in Section 2 of the Theft Act 1968. A person is not considered dishonest if they believe:</a:t>
            </a:r>
          </a:p>
          <a:p>
            <a:pPr marL="742950" lvl="1" indent="-285750">
              <a:buFont typeface="Arial" panose="020B0604020202020204" pitchFamily="34" charset="0"/>
              <a:buChar char="•"/>
            </a:pPr>
            <a:r>
              <a:rPr lang="en-GB" dirty="0">
                <a:effectLst/>
              </a:rPr>
              <a:t>They have the legal right to deprive the other person of the property.</a:t>
            </a:r>
          </a:p>
          <a:p>
            <a:pPr marL="742950" lvl="1" indent="-285750">
              <a:buFont typeface="Arial" panose="020B0604020202020204" pitchFamily="34" charset="0"/>
              <a:buChar char="•"/>
            </a:pPr>
            <a:r>
              <a:rPr lang="en-GB" dirty="0">
                <a:effectLst/>
              </a:rPr>
              <a:t>The owner would consent if they knew of the appropriation and the circumstances.</a:t>
            </a:r>
          </a:p>
          <a:p>
            <a:pPr marL="742950" lvl="1" indent="-285750">
              <a:buFont typeface="Arial" panose="020B0604020202020204" pitchFamily="34" charset="0"/>
              <a:buChar char="•"/>
            </a:pPr>
            <a:r>
              <a:rPr lang="en-GB" dirty="0">
                <a:effectLst/>
              </a:rPr>
              <a:t>The owner cannot be discovered by taking reasonable steps </a:t>
            </a:r>
            <a:r>
              <a:rPr lang="en-GB" u="none" strike="noStrike" dirty="0">
                <a:effectLst/>
                <a:latin typeface="var(--fontFamilyBase)"/>
              </a:rPr>
              <a:t>1</a:t>
            </a:r>
            <a:endParaRPr lang="en-GB" dirty="0">
              <a:effectLst/>
            </a:endParaRPr>
          </a:p>
          <a:p>
            <a:pPr marL="742950" lvl="1" indent="-285750">
              <a:buFont typeface="Arial" panose="020B0604020202020204" pitchFamily="34" charset="0"/>
              <a:buChar char="•"/>
            </a:pPr>
            <a:r>
              <a:rPr lang="en-GB" dirty="0">
                <a:effectLst/>
              </a:rPr>
              <a:t>.</a:t>
            </a:r>
          </a:p>
          <a:p>
            <a:pPr>
              <a:buFont typeface="Arial" panose="020B0604020202020204" pitchFamily="34" charset="0"/>
              <a:buChar char="•"/>
            </a:pPr>
            <a:r>
              <a:rPr lang="en-GB" dirty="0">
                <a:effectLst/>
              </a:rPr>
              <a:t>The </a:t>
            </a:r>
            <a:r>
              <a:rPr lang="en-GB" b="0" dirty="0">
                <a:effectLst/>
              </a:rPr>
              <a:t>Ivey Test</a:t>
            </a:r>
            <a:r>
              <a:rPr lang="en-GB" dirty="0">
                <a:effectLst/>
              </a:rPr>
              <a:t> is used to determine dishonesty:</a:t>
            </a:r>
          </a:p>
          <a:p>
            <a:pPr marL="742950" lvl="1" indent="-285750">
              <a:buFont typeface="Arial" panose="020B0604020202020204" pitchFamily="34" charset="0"/>
              <a:buChar char="•"/>
            </a:pPr>
            <a:r>
              <a:rPr lang="en-GB" b="0" dirty="0">
                <a:effectLst/>
              </a:rPr>
              <a:t>Subjective Test</a:t>
            </a:r>
            <a:r>
              <a:rPr lang="en-GB" dirty="0">
                <a:effectLst/>
              </a:rPr>
              <a:t>: What was the defendant's actual state of knowledge or belief as to the facts?</a:t>
            </a:r>
          </a:p>
          <a:p>
            <a:pPr marL="742950" lvl="1" indent="-285750">
              <a:buFont typeface="Arial" panose="020B0604020202020204" pitchFamily="34" charset="0"/>
              <a:buChar char="•"/>
            </a:pPr>
            <a:r>
              <a:rPr lang="en-GB" b="0" dirty="0">
                <a:effectLst/>
              </a:rPr>
              <a:t>Objective Test</a:t>
            </a:r>
            <a:r>
              <a:rPr lang="en-GB" dirty="0">
                <a:effectLst/>
              </a:rPr>
              <a:t>: Was the defendant's conduct dishonest by the standards of ordinary decent people? </a:t>
            </a:r>
            <a:r>
              <a:rPr lang="en-GB" u="none" strike="noStrike" dirty="0">
                <a:effectLst/>
                <a:latin typeface="var(--fontFamilyBase)"/>
              </a:rPr>
              <a:t>1</a:t>
            </a:r>
            <a:endParaRPr lang="en-GB" dirty="0">
              <a:effectLst/>
            </a:endParaRPr>
          </a:p>
          <a:p>
            <a:pPr>
              <a:spcAft>
                <a:spcPts val="600"/>
              </a:spcAft>
              <a:buNone/>
            </a:pPr>
            <a:r>
              <a:rPr lang="en-GB" b="0" dirty="0">
                <a:effectLst/>
              </a:rPr>
              <a:t>Intention to Permanently Deprive</a:t>
            </a:r>
            <a:r>
              <a:rPr lang="en-GB" dirty="0">
                <a:effectLst/>
              </a:rPr>
              <a:t>:</a:t>
            </a:r>
          </a:p>
          <a:p>
            <a:pPr>
              <a:buFont typeface="Arial" panose="020B0604020202020204" pitchFamily="34" charset="0"/>
              <a:buChar char="•"/>
            </a:pPr>
            <a:r>
              <a:rPr lang="en-GB" dirty="0">
                <a:effectLst/>
              </a:rPr>
              <a:t>Defined in Section 6 of the Theft Act 1968. This means the defendant must intend to treat the property as their own to dispose of regardless of the owner's rights </a:t>
            </a:r>
            <a:r>
              <a:rPr lang="en-GB" u="none" strike="noStrike" dirty="0">
                <a:effectLst/>
                <a:latin typeface="var(--fontFamilyBase)"/>
              </a:rPr>
              <a:t>2</a:t>
            </a:r>
            <a:endParaRPr lang="en-GB" dirty="0">
              <a:effectLst/>
            </a:endParaRPr>
          </a:p>
          <a:p>
            <a:pPr>
              <a:buFont typeface="Arial" panose="020B0604020202020204" pitchFamily="34" charset="0"/>
              <a:buChar char="•"/>
            </a:pPr>
            <a:r>
              <a:rPr lang="en-GB" dirty="0">
                <a:effectLst/>
              </a:rPr>
              <a:t>.</a:t>
            </a:r>
          </a:p>
          <a:p>
            <a:pPr>
              <a:buFont typeface="Arial" panose="020B0604020202020204" pitchFamily="34" charset="0"/>
              <a:buChar char="•"/>
            </a:pPr>
            <a:r>
              <a:rPr lang="en-GB" dirty="0">
                <a:effectLst/>
              </a:rPr>
              <a:t>Key cases:</a:t>
            </a:r>
          </a:p>
          <a:p>
            <a:pPr marL="742950" lvl="1" indent="-285750">
              <a:buFont typeface="Arial" panose="020B0604020202020204" pitchFamily="34" charset="0"/>
              <a:buChar char="•"/>
            </a:pPr>
            <a:r>
              <a:rPr lang="en-GB" b="0" dirty="0">
                <a:effectLst/>
              </a:rPr>
              <a:t>R v </a:t>
            </a:r>
            <a:r>
              <a:rPr lang="en-GB" b="0" dirty="0" err="1">
                <a:effectLst/>
              </a:rPr>
              <a:t>Velumyl</a:t>
            </a:r>
            <a:r>
              <a:rPr lang="en-GB" b="0" dirty="0">
                <a:effectLst/>
              </a:rPr>
              <a:t> (1989)</a:t>
            </a:r>
            <a:r>
              <a:rPr lang="en-GB" dirty="0">
                <a:effectLst/>
              </a:rPr>
              <a:t>: Taking money with the intention to return different notes and coins constitutes an intention to permanently deprive </a:t>
            </a:r>
            <a:r>
              <a:rPr lang="en-GB" u="none" strike="noStrike" dirty="0">
                <a:effectLst/>
                <a:latin typeface="var(--fontFamilyBase)"/>
              </a:rPr>
              <a:t>2</a:t>
            </a:r>
            <a:endParaRPr lang="en-GB" dirty="0">
              <a:effectLst/>
            </a:endParaRPr>
          </a:p>
          <a:p>
            <a:pPr marL="742950" lvl="1" indent="-285750">
              <a:buFont typeface="Arial" panose="020B0604020202020204" pitchFamily="34" charset="0"/>
              <a:buChar char="•"/>
            </a:pPr>
            <a:r>
              <a:rPr lang="en-GB" dirty="0">
                <a:effectLst/>
              </a:rPr>
              <a:t>.</a:t>
            </a:r>
          </a:p>
          <a:p>
            <a:pPr marL="742950" lvl="1" indent="-285750">
              <a:buFont typeface="Arial" panose="020B0604020202020204" pitchFamily="34" charset="0"/>
              <a:buChar char="•"/>
            </a:pPr>
            <a:r>
              <a:rPr lang="en-GB" b="0" dirty="0">
                <a:effectLst/>
              </a:rPr>
              <a:t>R v Lloyd (1985)</a:t>
            </a:r>
            <a:r>
              <a:rPr lang="en-GB" dirty="0">
                <a:effectLst/>
              </a:rPr>
              <a:t>: Borrowing property and returning it in such a changed state that it has lost all its goodness, virtue, and practical value constitutes an intention to permanently deprive </a:t>
            </a:r>
            <a:r>
              <a:rPr lang="en-GB" u="none" strike="noStrike" dirty="0">
                <a:effectLst/>
                <a:latin typeface="var(--fontFamilyBase)"/>
              </a:rPr>
              <a:t>2</a:t>
            </a:r>
            <a:endParaRPr lang="en-GB" dirty="0">
              <a:effectLst/>
            </a:endParaRPr>
          </a:p>
          <a:p>
            <a:pPr marL="742950" lvl="1" indent="-285750">
              <a:buFont typeface="Arial" panose="020B0604020202020204" pitchFamily="34" charset="0"/>
              <a:buChar char="•"/>
            </a:pPr>
            <a:r>
              <a:rPr lang="en-GB" dirty="0">
                <a:effectLst/>
              </a:rPr>
              <a:t>.</a:t>
            </a:r>
          </a:p>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10</a:t>
            </a:fld>
            <a:endParaRPr lang="en-GB" altLang="en-US"/>
          </a:p>
        </p:txBody>
      </p:sp>
    </p:spTree>
    <p:extLst>
      <p:ext uri="{BB962C8B-B14F-4D97-AF65-F5344CB8AC3E}">
        <p14:creationId xmlns:p14="http://schemas.microsoft.com/office/powerpoint/2010/main" val="64932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600"/>
              </a:spcAft>
              <a:buFont typeface="+mj-lt"/>
              <a:buAutoNum type="arabicPeriod"/>
            </a:pPr>
            <a:br>
              <a:rPr lang="en-GB" b="0" i="0" u="none" strike="noStrike" dirty="0">
                <a:solidFill>
                  <a:srgbClr val="424242"/>
                </a:solidFill>
                <a:effectLst/>
                <a:latin typeface="Segoe Sans"/>
              </a:rPr>
            </a:br>
            <a:r>
              <a:rPr lang="en-GB" b="0" i="0" u="none" strike="noStrike" dirty="0">
                <a:solidFill>
                  <a:srgbClr val="424242"/>
                </a:solidFill>
                <a:effectLst/>
                <a:latin typeface="Segoe Sans"/>
              </a:rPr>
              <a:t>Appropriation: Did Alice assume the rights of the owner over the smartphone?</a:t>
            </a:r>
          </a:p>
          <a:p>
            <a:pPr algn="l">
              <a:spcAft>
                <a:spcPts val="600"/>
              </a:spcAft>
              <a:buFont typeface="+mj-lt"/>
              <a:buAutoNum type="arabicPeriod"/>
            </a:pPr>
            <a:r>
              <a:rPr lang="en-GB" b="0" i="0" u="none" strike="noStrike" dirty="0">
                <a:solidFill>
                  <a:srgbClr val="424242"/>
                </a:solidFill>
                <a:effectLst/>
                <a:latin typeface="Segoe Sans"/>
              </a:rPr>
              <a:t>Property: Is the smartphone considered property under the Theft Act 1968?</a:t>
            </a:r>
          </a:p>
          <a:p>
            <a:pPr algn="l">
              <a:spcAft>
                <a:spcPts val="600"/>
              </a:spcAft>
              <a:buFont typeface="+mj-lt"/>
              <a:buAutoNum type="arabicPeriod"/>
            </a:pPr>
            <a:r>
              <a:rPr lang="en-GB" b="0" i="0" u="none" strike="noStrike" dirty="0">
                <a:solidFill>
                  <a:srgbClr val="424242"/>
                </a:solidFill>
                <a:effectLst/>
                <a:latin typeface="Segoe Sans"/>
              </a:rPr>
              <a:t>Belonging to Another: Did the smartphone belong to the electronics store?</a:t>
            </a:r>
          </a:p>
          <a:p>
            <a:pPr algn="l">
              <a:spcAft>
                <a:spcPts val="600"/>
              </a:spcAft>
              <a:buFont typeface="+mj-lt"/>
              <a:buAutoNum type="arabicPeriod"/>
            </a:pPr>
            <a:r>
              <a:rPr lang="en-GB" b="0" i="0" u="none" strike="noStrike" dirty="0">
                <a:solidFill>
                  <a:srgbClr val="424242"/>
                </a:solidFill>
                <a:effectLst/>
                <a:latin typeface="Segoe Sans"/>
              </a:rPr>
              <a:t>Dishonesty: Was Alice's act of taking the smartphone dishonest by the standards of ordinary decent people?</a:t>
            </a:r>
          </a:p>
          <a:p>
            <a:pPr algn="l">
              <a:spcAft>
                <a:spcPts val="600"/>
              </a:spcAft>
              <a:buFont typeface="+mj-lt"/>
              <a:buAutoNum type="arabicPeriod"/>
            </a:pPr>
            <a:r>
              <a:rPr lang="en-GB" b="0" i="0" u="none" strike="noStrike" dirty="0">
                <a:solidFill>
                  <a:srgbClr val="424242"/>
                </a:solidFill>
                <a:effectLst/>
                <a:latin typeface="Segoe Sans"/>
              </a:rPr>
              <a:t>Intention to Permanently Deprive: Did Alice intend to permanently deprive the store of the smartphone, even if she planned to return it later?</a:t>
            </a:r>
          </a:p>
          <a:p>
            <a:pPr algn="l">
              <a:spcBef>
                <a:spcPts val="450"/>
              </a:spcBef>
              <a:spcAft>
                <a:spcPts val="750"/>
              </a:spcAft>
              <a:buNone/>
            </a:pPr>
            <a:r>
              <a:rPr lang="en-GB" b="0" i="0" u="none" strike="noStrike" dirty="0">
                <a:solidFill>
                  <a:srgbClr val="424242"/>
                </a:solidFill>
                <a:effectLst/>
                <a:latin typeface="Segoe Sans"/>
              </a:rPr>
              <a:t>Discussion Points:</a:t>
            </a:r>
          </a:p>
          <a:p>
            <a:pPr algn="l">
              <a:spcAft>
                <a:spcPts val="600"/>
              </a:spcAft>
              <a:buFont typeface="Arial" panose="020B0604020202020204" pitchFamily="34" charset="0"/>
              <a:buChar char="•"/>
            </a:pPr>
            <a:r>
              <a:rPr lang="en-GB" b="0" i="0" u="none" strike="noStrike" dirty="0" err="1">
                <a:solidFill>
                  <a:srgbClr val="424242"/>
                </a:solidFill>
                <a:effectLst/>
                <a:latin typeface="Segoe Sans"/>
              </a:rPr>
              <a:t>Analyze</a:t>
            </a:r>
            <a:r>
              <a:rPr lang="en-GB" b="0" i="0" u="none" strike="noStrike" dirty="0">
                <a:solidFill>
                  <a:srgbClr val="424242"/>
                </a:solidFill>
                <a:effectLst/>
                <a:latin typeface="Segoe Sans"/>
              </a:rPr>
              <a:t> whether Alice's actions meet the criteria for appropriation, considering she took the phone without permission.</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Confirm that the smartphone qualifies as property under the Theft Act 1968.</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Establish that the smartphone belonged to the electronics store at the time of the appropriation.</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Apply the Ivey Test to determine if Alice's actions were dishonest.</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Evaluate Alice's intention to permanently deprive the store of the smartphone, considering her plan to return it after use.</a:t>
            </a:r>
          </a:p>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11</a:t>
            </a:fld>
            <a:endParaRPr lang="en-GB" altLang="en-US"/>
          </a:p>
        </p:txBody>
      </p:sp>
    </p:spTree>
    <p:extLst>
      <p:ext uri="{BB962C8B-B14F-4D97-AF65-F5344CB8AC3E}">
        <p14:creationId xmlns:p14="http://schemas.microsoft.com/office/powerpoint/2010/main" val="1269468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C28F-45B4-D2AA-5A62-5E3E33121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A4EA1-3504-265C-F9A9-095A969D4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7FBFC-0E71-7EE3-A55A-58DC751B22BF}"/>
              </a:ext>
            </a:extLst>
          </p:cNvPr>
          <p:cNvSpPr>
            <a:spLocks noGrp="1"/>
          </p:cNvSpPr>
          <p:nvPr>
            <p:ph type="body" idx="1"/>
          </p:nvPr>
        </p:nvSpPr>
        <p:spPr/>
        <p:txBody>
          <a:bodyPr/>
          <a:lstStyle/>
          <a:p>
            <a:pPr algn="l">
              <a:spcBef>
                <a:spcPts val="450"/>
              </a:spcBef>
              <a:spcAft>
                <a:spcPts val="750"/>
              </a:spcAft>
              <a:buNone/>
            </a:pPr>
            <a:r>
              <a:rPr lang="en-GB" b="0" i="0" u="none" strike="noStrike" dirty="0">
                <a:solidFill>
                  <a:srgbClr val="424242"/>
                </a:solidFill>
                <a:effectLst/>
                <a:latin typeface="Segoe Sans"/>
              </a:rPr>
              <a:t>Questions for Assessment:</a:t>
            </a:r>
          </a:p>
          <a:p>
            <a:pPr algn="l">
              <a:spcAft>
                <a:spcPts val="600"/>
              </a:spcAft>
              <a:buFont typeface="+mj-lt"/>
              <a:buAutoNum type="arabicPeriod"/>
            </a:pPr>
            <a:r>
              <a:rPr lang="en-GB" b="0" i="0" u="none" strike="noStrike" dirty="0">
                <a:solidFill>
                  <a:srgbClr val="424242"/>
                </a:solidFill>
                <a:effectLst/>
                <a:latin typeface="Segoe Sans"/>
              </a:rPr>
              <a:t>Appropriation: Did John assume the rights of the owner over the laptop after initially having permission to use it?</a:t>
            </a:r>
          </a:p>
          <a:p>
            <a:pPr algn="l">
              <a:spcAft>
                <a:spcPts val="600"/>
              </a:spcAft>
              <a:buFont typeface="+mj-lt"/>
              <a:buAutoNum type="arabicPeriod"/>
            </a:pPr>
            <a:r>
              <a:rPr lang="en-GB" b="0" i="0" u="none" strike="noStrike" dirty="0">
                <a:solidFill>
                  <a:srgbClr val="424242"/>
                </a:solidFill>
                <a:effectLst/>
                <a:latin typeface="Segoe Sans"/>
              </a:rPr>
              <a:t>Property: Is the laptop considered property under the Theft Act 1968?</a:t>
            </a:r>
          </a:p>
          <a:p>
            <a:pPr algn="l">
              <a:spcAft>
                <a:spcPts val="600"/>
              </a:spcAft>
              <a:buFont typeface="+mj-lt"/>
              <a:buAutoNum type="arabicPeriod"/>
            </a:pPr>
            <a:r>
              <a:rPr lang="en-GB" b="0" i="0" u="none" strike="noStrike" dirty="0">
                <a:solidFill>
                  <a:srgbClr val="424242"/>
                </a:solidFill>
                <a:effectLst/>
                <a:latin typeface="Segoe Sans"/>
              </a:rPr>
              <a:t>Belonging to Another: Did the laptop belong to Sarah?</a:t>
            </a:r>
          </a:p>
          <a:p>
            <a:pPr algn="l">
              <a:spcAft>
                <a:spcPts val="600"/>
              </a:spcAft>
              <a:buFont typeface="+mj-lt"/>
              <a:buAutoNum type="arabicPeriod"/>
            </a:pPr>
            <a:r>
              <a:rPr lang="en-GB" b="0" i="0" u="none" strike="noStrike" dirty="0">
                <a:solidFill>
                  <a:srgbClr val="424242"/>
                </a:solidFill>
                <a:effectLst/>
                <a:latin typeface="Segoe Sans"/>
              </a:rPr>
              <a:t>Dishonesty: Was John's act of keeping the laptop dishonest by the standards of ordinary decent people?</a:t>
            </a:r>
          </a:p>
          <a:p>
            <a:pPr algn="l">
              <a:spcAft>
                <a:spcPts val="600"/>
              </a:spcAft>
              <a:buFont typeface="+mj-lt"/>
              <a:buAutoNum type="arabicPeriod"/>
            </a:pPr>
            <a:r>
              <a:rPr lang="en-GB" b="0" i="0" u="none" strike="noStrike" dirty="0">
                <a:solidFill>
                  <a:srgbClr val="424242"/>
                </a:solidFill>
                <a:effectLst/>
                <a:latin typeface="Segoe Sans"/>
              </a:rPr>
              <a:t>Intention to Permanently Deprive: Did John intend to permanently deprive Sarah of the laptop, even if he initially had permission to use it?</a:t>
            </a:r>
          </a:p>
          <a:p>
            <a:pPr algn="l">
              <a:spcBef>
                <a:spcPts val="450"/>
              </a:spcBef>
              <a:spcAft>
                <a:spcPts val="750"/>
              </a:spcAft>
              <a:buNone/>
            </a:pPr>
            <a:r>
              <a:rPr lang="en-GB" b="0" i="0" u="none" strike="noStrike" dirty="0">
                <a:solidFill>
                  <a:srgbClr val="424242"/>
                </a:solidFill>
                <a:effectLst/>
                <a:latin typeface="Segoe Sans"/>
              </a:rPr>
              <a:t>Discussion Points:</a:t>
            </a:r>
          </a:p>
          <a:p>
            <a:pPr algn="l">
              <a:spcAft>
                <a:spcPts val="600"/>
              </a:spcAft>
              <a:buFont typeface="Arial" panose="020B0604020202020204" pitchFamily="34" charset="0"/>
              <a:buChar char="•"/>
            </a:pPr>
            <a:r>
              <a:rPr lang="en-GB" b="0" i="0" u="none" strike="noStrike" dirty="0" err="1">
                <a:solidFill>
                  <a:srgbClr val="424242"/>
                </a:solidFill>
                <a:effectLst/>
                <a:latin typeface="Segoe Sans"/>
              </a:rPr>
              <a:t>Analyze</a:t>
            </a:r>
            <a:r>
              <a:rPr lang="en-GB" b="0" i="0" u="none" strike="noStrike" dirty="0">
                <a:solidFill>
                  <a:srgbClr val="424242"/>
                </a:solidFill>
                <a:effectLst/>
                <a:latin typeface="Segoe Sans"/>
              </a:rPr>
              <a:t> whether John's actions meet the criteria for appropriation, considering he initially had permission but later decided to keep the laptop without Sarah's consent.</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Confirm that the laptop qualifies as property under the Theft Act 1968.</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Establish that the laptop belonged to Sarah at the time of the appropriation.</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Apply the Ivey Test to determine if John's actions were dishonest.</a:t>
            </a:r>
          </a:p>
          <a:p>
            <a:pPr algn="l">
              <a:spcAft>
                <a:spcPts val="600"/>
              </a:spcAft>
              <a:buFont typeface="Arial" panose="020B0604020202020204" pitchFamily="34" charset="0"/>
              <a:buChar char="•"/>
            </a:pPr>
            <a:r>
              <a:rPr lang="en-GB" b="0" i="0" u="none" strike="noStrike" dirty="0">
                <a:solidFill>
                  <a:srgbClr val="424242"/>
                </a:solidFill>
                <a:effectLst/>
                <a:latin typeface="Segoe Sans"/>
              </a:rPr>
              <a:t>Evaluate John's intention to permanently deprive Sarah of the laptop, considering his decision to keep it after using it.</a:t>
            </a:r>
          </a:p>
          <a:p>
            <a:endParaRPr lang="en-US" dirty="0"/>
          </a:p>
        </p:txBody>
      </p:sp>
      <p:sp>
        <p:nvSpPr>
          <p:cNvPr id="4" name="Slide Number Placeholder 3">
            <a:extLst>
              <a:ext uri="{FF2B5EF4-FFF2-40B4-BE49-F238E27FC236}">
                <a16:creationId xmlns:a16="http://schemas.microsoft.com/office/drawing/2014/main" id="{782BC399-6D6E-5B58-F816-47CBEE675E72}"/>
              </a:ext>
            </a:extLst>
          </p:cNvPr>
          <p:cNvSpPr>
            <a:spLocks noGrp="1"/>
          </p:cNvSpPr>
          <p:nvPr>
            <p:ph type="sldNum" sz="quarter" idx="5"/>
          </p:nvPr>
        </p:nvSpPr>
        <p:spPr/>
        <p:txBody>
          <a:bodyPr/>
          <a:lstStyle/>
          <a:p>
            <a:fld id="{D44CD1A8-5C76-4CEA-967B-2A7D1C20292C}" type="slidenum">
              <a:rPr lang="en-GB" altLang="en-US" smtClean="0"/>
              <a:pPr/>
              <a:t>12</a:t>
            </a:fld>
            <a:endParaRPr lang="en-GB" altLang="en-US"/>
          </a:p>
        </p:txBody>
      </p:sp>
    </p:spTree>
    <p:extLst>
      <p:ext uri="{BB962C8B-B14F-4D97-AF65-F5344CB8AC3E}">
        <p14:creationId xmlns:p14="http://schemas.microsoft.com/office/powerpoint/2010/main" val="4261551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13</a:t>
            </a:fld>
            <a:endParaRPr lang="en-GB" altLang="en-US"/>
          </a:p>
        </p:txBody>
      </p:sp>
    </p:spTree>
    <p:extLst>
      <p:ext uri="{BB962C8B-B14F-4D97-AF65-F5344CB8AC3E}">
        <p14:creationId xmlns:p14="http://schemas.microsoft.com/office/powerpoint/2010/main" val="2238732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AB6C-B04A-9855-A060-94DAD33C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744F3-D176-016F-F55F-1862BA120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3A6EB-038F-C5BE-F647-5C9171D4E2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348936-2B2C-A3D1-CCD7-45A57E5B7C21}"/>
              </a:ext>
            </a:extLst>
          </p:cNvPr>
          <p:cNvSpPr>
            <a:spLocks noGrp="1"/>
          </p:cNvSpPr>
          <p:nvPr>
            <p:ph type="sldNum" sz="quarter" idx="5"/>
          </p:nvPr>
        </p:nvSpPr>
        <p:spPr/>
        <p:txBody>
          <a:bodyPr/>
          <a:lstStyle/>
          <a:p>
            <a:fld id="{D44CD1A8-5C76-4CEA-967B-2A7D1C20292C}" type="slidenum">
              <a:rPr lang="en-GB" altLang="en-US" smtClean="0"/>
              <a:pPr/>
              <a:t>14</a:t>
            </a:fld>
            <a:endParaRPr lang="en-GB" altLang="en-US"/>
          </a:p>
        </p:txBody>
      </p:sp>
    </p:spTree>
    <p:extLst>
      <p:ext uri="{BB962C8B-B14F-4D97-AF65-F5344CB8AC3E}">
        <p14:creationId xmlns:p14="http://schemas.microsoft.com/office/powerpoint/2010/main" val="4018515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0" i="0" u="none" strike="noStrike" kern="1200" dirty="0">
                <a:solidFill>
                  <a:schemeClr val="dk1"/>
                </a:solidFill>
                <a:effectLst/>
                <a:latin typeface="+mn-lt"/>
                <a:ea typeface="+mn-ea"/>
                <a:cs typeface="+mn-cs"/>
              </a:rPr>
              <a:t>Whether a belief is reasonable is determined by considering all the circumstances, including any steps the defendant has taken to ascertain whether the complainant consents</a:t>
            </a:r>
          </a:p>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15</a:t>
            </a:fld>
            <a:endParaRPr lang="en-GB" altLang="en-US"/>
          </a:p>
        </p:txBody>
      </p:sp>
    </p:spTree>
    <p:extLst>
      <p:ext uri="{BB962C8B-B14F-4D97-AF65-F5344CB8AC3E}">
        <p14:creationId xmlns:p14="http://schemas.microsoft.com/office/powerpoint/2010/main" val="3378745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fontAlgn="base">
              <a:lnSpc>
                <a:spcPts val="1457"/>
              </a:lnSpc>
              <a:spcAft>
                <a:spcPts val="600"/>
              </a:spcAft>
              <a:buNone/>
            </a:pPr>
            <a:r>
              <a:rPr lang="en-GB" sz="1800" b="0" i="0" u="none" strike="noStrike" dirty="0">
                <a:effectLst/>
                <a:latin typeface="Calibri" panose="020F0502020204030204" pitchFamily="34" charset="0"/>
              </a:rPr>
              <a:t> </a:t>
            </a:r>
            <a:endParaRPr lang="en-GB" b="0" i="0" u="none" strike="noStrike" dirty="0">
              <a:effectLst/>
              <a:latin typeface="Segoe UI" panose="020B0502040204020203" pitchFamily="34" charset="0"/>
            </a:endParaRPr>
          </a:p>
          <a:p>
            <a:pPr algn="just" rtl="0" fontAlgn="base">
              <a:lnSpc>
                <a:spcPts val="1457"/>
              </a:lnSpc>
              <a:buFont typeface="+mj-lt"/>
              <a:buAutoNum type="arabicPeriod"/>
            </a:pPr>
            <a:r>
              <a:rPr lang="en-GB" sz="1800" b="0" i="0" u="none" strike="noStrike" dirty="0">
                <a:effectLst/>
                <a:latin typeface="Calibri" panose="020F0502020204030204" pitchFamily="34" charset="0"/>
              </a:rPr>
              <a:t>It is clear above that there is reasonable doubt as to whether the D has MR - Kingston </a:t>
            </a:r>
          </a:p>
          <a:p>
            <a:pPr algn="just" rtl="0" fontAlgn="base">
              <a:lnSpc>
                <a:spcPts val="1457"/>
              </a:lnSpc>
              <a:spcAft>
                <a:spcPts val="600"/>
              </a:spcAft>
              <a:buNone/>
            </a:pPr>
            <a:r>
              <a:rPr lang="en-GB" sz="1800" b="0" i="0" u="none" strike="noStrike" dirty="0">
                <a:effectLst/>
                <a:latin typeface="Calibri" panose="020F0502020204030204" pitchFamily="34" charset="0"/>
              </a:rPr>
              <a:t> </a:t>
            </a:r>
            <a:endParaRPr lang="en-GB" b="0" i="0" u="none" strike="noStrike" dirty="0">
              <a:effectLst/>
              <a:latin typeface="Segoe UI" panose="020B0502040204020203" pitchFamily="34" charset="0"/>
            </a:endParaRPr>
          </a:p>
          <a:p>
            <a:pPr algn="just" rtl="0" fontAlgn="base">
              <a:lnSpc>
                <a:spcPts val="1457"/>
              </a:lnSpc>
              <a:buFont typeface="+mj-lt"/>
              <a:buAutoNum type="arabicPeriod" startAt="2"/>
            </a:pPr>
            <a:r>
              <a:rPr lang="en-GB" sz="1800" b="0" i="0" u="none" strike="noStrike" dirty="0">
                <a:effectLst/>
                <a:latin typeface="Calibri" panose="020F0502020204030204" pitchFamily="34" charset="0"/>
              </a:rPr>
              <a:t>Was the intoxication voluntary? </a:t>
            </a:r>
          </a:p>
          <a:p>
            <a:pPr algn="l" rtl="0" fontAlgn="base">
              <a:lnSpc>
                <a:spcPts val="1457"/>
              </a:lnSpc>
              <a:buNone/>
            </a:pPr>
            <a:r>
              <a:rPr lang="en-GB" sz="1800" b="0" i="0" u="none" strike="noStrike" dirty="0">
                <a:effectLst/>
                <a:latin typeface="Calibri" panose="020F0502020204030204" pitchFamily="34" charset="0"/>
              </a:rPr>
              <a:t> </a:t>
            </a:r>
            <a:endParaRPr lang="en-GB" b="0" i="0" u="none" strike="noStrike" dirty="0">
              <a:effectLst/>
              <a:latin typeface="Segoe UI" panose="020B0502040204020203" pitchFamily="34" charset="0"/>
            </a:endParaRPr>
          </a:p>
          <a:p>
            <a:pPr algn="just" rtl="0" fontAlgn="base">
              <a:lnSpc>
                <a:spcPts val="1457"/>
              </a:lnSpc>
              <a:buFont typeface="Arial" panose="020B0604020202020204" pitchFamily="34" charset="0"/>
              <a:buChar char="•"/>
            </a:pPr>
            <a:r>
              <a:rPr lang="en-GB" sz="1800" b="0" i="0" u="none" strike="noStrike" dirty="0">
                <a:effectLst/>
                <a:latin typeface="Calibri" panose="020F0502020204030204" pitchFamily="34" charset="0"/>
              </a:rPr>
              <a:t>It is essential to show that D acted voluntarily in becoming intoxicated. </a:t>
            </a:r>
          </a:p>
          <a:p>
            <a:pPr algn="just" rtl="0" fontAlgn="base">
              <a:lnSpc>
                <a:spcPts val="1457"/>
              </a:lnSpc>
              <a:buFont typeface="Arial" panose="020B0604020202020204" pitchFamily="34" charset="0"/>
              <a:buChar char="•"/>
            </a:pPr>
            <a:r>
              <a:rPr lang="en-GB" sz="1800" b="0" i="0" u="none" strike="noStrike" dirty="0">
                <a:effectLst/>
                <a:latin typeface="Calibri" panose="020F0502020204030204" pitchFamily="34" charset="0"/>
              </a:rPr>
              <a:t>Where a D knows he is consuming an intoxicant known to create unpredictable behaviour this does not qualify as involuntary simply because he was not aware of the quantity or possible effects. </a:t>
            </a:r>
          </a:p>
          <a:p>
            <a:pPr algn="just" rtl="0" fontAlgn="base">
              <a:lnSpc>
                <a:spcPts val="1457"/>
              </a:lnSpc>
              <a:buFont typeface="Arial" panose="020B0604020202020204" pitchFamily="34" charset="0"/>
              <a:buChar char="•"/>
            </a:pPr>
            <a:r>
              <a:rPr lang="en-GB" sz="1800" b="0" i="0" u="none" strike="noStrike" dirty="0">
                <a:effectLst/>
                <a:latin typeface="Calibri" panose="020F0502020204030204" pitchFamily="34" charset="0"/>
              </a:rPr>
              <a:t>Apply case of Allen 1988 – D claimed involuntary intoxication as did not know the strength of a friends wine. D’s intoxication was voluntary </a:t>
            </a:r>
          </a:p>
          <a:p>
            <a:pPr algn="just" rtl="0" fontAlgn="base">
              <a:lnSpc>
                <a:spcPts val="1457"/>
              </a:lnSpc>
              <a:spcAft>
                <a:spcPts val="600"/>
              </a:spcAft>
              <a:buNone/>
            </a:pPr>
            <a:r>
              <a:rPr lang="en-GB" sz="1800" b="0" i="0" u="none" strike="noStrike" dirty="0">
                <a:effectLst/>
                <a:latin typeface="Calibri" panose="020F0502020204030204" pitchFamily="34" charset="0"/>
              </a:rPr>
              <a:t> </a:t>
            </a:r>
            <a:endParaRPr lang="en-GB" b="0" i="0" u="none" strike="noStrike" dirty="0">
              <a:effectLst/>
              <a:latin typeface="Segoe UI" panose="020B0502040204020203" pitchFamily="34" charset="0"/>
            </a:endParaRPr>
          </a:p>
          <a:p>
            <a:pPr algn="just" rtl="0" fontAlgn="base">
              <a:lnSpc>
                <a:spcPts val="1457"/>
              </a:lnSpc>
              <a:buFont typeface="+mj-lt"/>
              <a:buAutoNum type="arabicPeriod" startAt="3"/>
            </a:pPr>
            <a:r>
              <a:rPr lang="en-GB" sz="1800" b="0" i="0" u="none" strike="noStrike" dirty="0">
                <a:effectLst/>
                <a:latin typeface="Calibri" panose="020F0502020204030204" pitchFamily="34" charset="0"/>
              </a:rPr>
              <a:t>Is D charged with a specific or basic intent offence </a:t>
            </a:r>
          </a:p>
          <a:p>
            <a:pPr algn="just" rtl="0" fontAlgn="base">
              <a:lnSpc>
                <a:spcPts val="1457"/>
              </a:lnSpc>
              <a:buNone/>
            </a:pPr>
            <a:r>
              <a:rPr lang="en-GB" sz="1800" b="0" i="0" u="none" strike="noStrike" dirty="0">
                <a:effectLst/>
                <a:latin typeface="Calibri" panose="020F0502020204030204" pitchFamily="34" charset="0"/>
              </a:rPr>
              <a:t> </a:t>
            </a:r>
            <a:endParaRPr lang="en-GB" b="0" i="0" u="none" strike="noStrike" dirty="0">
              <a:effectLst/>
              <a:latin typeface="Segoe UI" panose="020B0502040204020203" pitchFamily="34" charset="0"/>
            </a:endParaRPr>
          </a:p>
          <a:p>
            <a:pPr algn="just" rtl="0" fontAlgn="base">
              <a:lnSpc>
                <a:spcPts val="1457"/>
              </a:lnSpc>
              <a:buFont typeface="Arial" panose="020B0604020202020204" pitchFamily="34" charset="0"/>
              <a:buChar char="•"/>
            </a:pPr>
            <a:r>
              <a:rPr lang="en-GB" sz="1800" b="0" i="0" u="none" strike="noStrike" dirty="0">
                <a:effectLst/>
                <a:latin typeface="Calibri" panose="020F0502020204030204" pitchFamily="34" charset="0"/>
              </a:rPr>
              <a:t>There is no definition of basic/specific. The courts deal with this on a case-by-case basis. Usually, a basic offence is one which can be committed recklessly. </a:t>
            </a:r>
          </a:p>
          <a:p>
            <a:pPr algn="just" rtl="0" fontAlgn="base">
              <a:lnSpc>
                <a:spcPts val="1457"/>
              </a:lnSpc>
              <a:buFont typeface="Arial" panose="020B0604020202020204" pitchFamily="34" charset="0"/>
              <a:buChar char="•"/>
            </a:pPr>
            <a:r>
              <a:rPr lang="en-GB" sz="1800" b="0" i="0" u="none" strike="noStrike" dirty="0">
                <a:effectLst/>
                <a:latin typeface="Calibri" panose="020F0502020204030204" pitchFamily="34" charset="0"/>
              </a:rPr>
              <a:t>Majewski [1977] – basic intent offences include AOABH. D’s voluntary intoxication can be used as a substitute for the MR at the time of his conduct. </a:t>
            </a:r>
          </a:p>
          <a:p>
            <a:endParaRPr lang="en-US" dirty="0"/>
          </a:p>
        </p:txBody>
      </p:sp>
      <p:sp>
        <p:nvSpPr>
          <p:cNvPr id="4" name="Slide Number Placeholder 3"/>
          <p:cNvSpPr>
            <a:spLocks noGrp="1"/>
          </p:cNvSpPr>
          <p:nvPr>
            <p:ph type="sldNum" sz="quarter" idx="5"/>
          </p:nvPr>
        </p:nvSpPr>
        <p:spPr/>
        <p:txBody>
          <a:bodyPr/>
          <a:lstStyle/>
          <a:p>
            <a:fld id="{D44CD1A8-5C76-4CEA-967B-2A7D1C20292C}" type="slidenum">
              <a:rPr lang="en-GB" altLang="en-US" smtClean="0"/>
              <a:pPr/>
              <a:t>17</a:t>
            </a:fld>
            <a:endParaRPr lang="en-GB" altLang="en-US"/>
          </a:p>
        </p:txBody>
      </p:sp>
    </p:spTree>
    <p:extLst>
      <p:ext uri="{BB962C8B-B14F-4D97-AF65-F5344CB8AC3E}">
        <p14:creationId xmlns:p14="http://schemas.microsoft.com/office/powerpoint/2010/main" val="31816100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3575F9B4-B7F1-EA3D-EACF-3C60AE9BB4BE}"/>
              </a:ext>
            </a:extLst>
          </p:cNvPr>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3" name="Picture 8">
            <a:extLst>
              <a:ext uri="{FF2B5EF4-FFF2-40B4-BE49-F238E27FC236}">
                <a16:creationId xmlns:a16="http://schemas.microsoft.com/office/drawing/2014/main" id="{FEFD0E99-7AC8-A2DA-A95B-796DEB2B6EE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4" name="Rectangle 6">
            <a:extLst>
              <a:ext uri="{FF2B5EF4-FFF2-40B4-BE49-F238E27FC236}">
                <a16:creationId xmlns:a16="http://schemas.microsoft.com/office/drawing/2014/main" id="{1640F496-17EE-90CC-7FB1-E5D848DA809D}"/>
              </a:ext>
            </a:extLst>
          </p:cNvPr>
          <p:cNvSpPr>
            <a:spLocks noGrp="1" noChangeArrowheads="1"/>
          </p:cNvSpPr>
          <p:nvPr>
            <p:ph type="sldNum" sz="quarter" idx="10"/>
          </p:nvPr>
        </p:nvSpPr>
        <p:spPr>
          <a:xfrm>
            <a:off x="6553200" y="6245225"/>
            <a:ext cx="2133600" cy="476250"/>
          </a:xfrm>
        </p:spPr>
        <p:txBody>
          <a:bodyPr/>
          <a:lstStyle>
            <a:lvl1pPr>
              <a:defRPr/>
            </a:lvl1pPr>
          </a:lstStyle>
          <a:p>
            <a:fld id="{DD3CC963-22E1-4BA7-A5C9-23D581898E6E}" type="slidenum">
              <a:rPr lang="en-GB" altLang="en-US"/>
              <a:pPr/>
              <a:t>‹#›</a:t>
            </a:fld>
            <a:endParaRPr lang="en-GB" altLang="en-US"/>
          </a:p>
        </p:txBody>
      </p:sp>
    </p:spTree>
    <p:extLst>
      <p:ext uri="{BB962C8B-B14F-4D97-AF65-F5344CB8AC3E}">
        <p14:creationId xmlns:p14="http://schemas.microsoft.com/office/powerpoint/2010/main" val="4001544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CC267779-FB1B-B641-E4FE-2BFD0306B6E8}"/>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CF5E2F12-EDE1-8873-0DF6-94D22ECFF54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ABC6EDE6-CA71-F54A-00CA-B6F5E4D2E638}"/>
              </a:ext>
            </a:extLst>
          </p:cNvPr>
          <p:cNvSpPr>
            <a:spLocks noGrp="1" noChangeArrowheads="1"/>
          </p:cNvSpPr>
          <p:nvPr>
            <p:ph type="sldNum" sz="quarter" idx="12"/>
          </p:nvPr>
        </p:nvSpPr>
        <p:spPr>
          <a:ln/>
        </p:spPr>
        <p:txBody>
          <a:bodyPr/>
          <a:lstStyle>
            <a:lvl1pPr>
              <a:defRPr/>
            </a:lvl1pPr>
          </a:lstStyle>
          <a:p>
            <a:fld id="{B0014388-C37A-49F3-880A-E5668367DA0D}" type="slidenum">
              <a:rPr lang="en-GB" altLang="en-US"/>
              <a:pPr/>
              <a:t>‹#›</a:t>
            </a:fld>
            <a:endParaRPr lang="en-GB" altLang="en-US"/>
          </a:p>
        </p:txBody>
      </p:sp>
    </p:spTree>
    <p:extLst>
      <p:ext uri="{BB962C8B-B14F-4D97-AF65-F5344CB8AC3E}">
        <p14:creationId xmlns:p14="http://schemas.microsoft.com/office/powerpoint/2010/main" val="3306671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60C1C9E-0C70-3BD7-33C6-C26C470ADE70}"/>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9E7D6E2-6035-7074-9014-C44237385D4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F443A913-7D6A-DDF0-BE8F-F93C6107A961}"/>
              </a:ext>
            </a:extLst>
          </p:cNvPr>
          <p:cNvSpPr>
            <a:spLocks noGrp="1" noChangeArrowheads="1"/>
          </p:cNvSpPr>
          <p:nvPr>
            <p:ph type="sldNum" sz="quarter" idx="12"/>
          </p:nvPr>
        </p:nvSpPr>
        <p:spPr>
          <a:ln/>
        </p:spPr>
        <p:txBody>
          <a:bodyPr/>
          <a:lstStyle>
            <a:lvl1pPr>
              <a:defRPr/>
            </a:lvl1pPr>
          </a:lstStyle>
          <a:p>
            <a:fld id="{FE038C3B-8460-4FF6-BAE1-5C4EB7F720D0}" type="slidenum">
              <a:rPr lang="en-GB" altLang="en-US"/>
              <a:pPr/>
              <a:t>‹#›</a:t>
            </a:fld>
            <a:endParaRPr lang="en-GB" altLang="en-US"/>
          </a:p>
        </p:txBody>
      </p:sp>
    </p:spTree>
    <p:extLst>
      <p:ext uri="{BB962C8B-B14F-4D97-AF65-F5344CB8AC3E}">
        <p14:creationId xmlns:p14="http://schemas.microsoft.com/office/powerpoint/2010/main" val="3876966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16D0900B-601D-0CB0-745A-2FF75D4598AB}"/>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95E8901A-19B3-7939-3DAD-0D2BADB51E8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3FCAF9B9-7559-6056-2E18-F367306A899A}"/>
              </a:ext>
            </a:extLst>
          </p:cNvPr>
          <p:cNvSpPr>
            <a:spLocks noGrp="1" noChangeArrowheads="1"/>
          </p:cNvSpPr>
          <p:nvPr>
            <p:ph type="sldNum" sz="quarter" idx="12"/>
          </p:nvPr>
        </p:nvSpPr>
        <p:spPr>
          <a:ln/>
        </p:spPr>
        <p:txBody>
          <a:bodyPr/>
          <a:lstStyle>
            <a:lvl1pPr>
              <a:defRPr/>
            </a:lvl1pPr>
          </a:lstStyle>
          <a:p>
            <a:fld id="{A3A88403-B38B-4A7F-B47A-1578CC20865F}" type="slidenum">
              <a:rPr lang="en-GB" altLang="en-US"/>
              <a:pPr/>
              <a:t>‹#›</a:t>
            </a:fld>
            <a:endParaRPr lang="en-GB" altLang="en-US"/>
          </a:p>
        </p:txBody>
      </p:sp>
    </p:spTree>
    <p:extLst>
      <p:ext uri="{BB962C8B-B14F-4D97-AF65-F5344CB8AC3E}">
        <p14:creationId xmlns:p14="http://schemas.microsoft.com/office/powerpoint/2010/main" val="41055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5191A6D5-A11F-0504-5D1F-6BDC30401428}"/>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84128385-B801-B58F-A688-1EAED795592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25C20999-EC48-6082-4474-55E3E239B81E}"/>
              </a:ext>
            </a:extLst>
          </p:cNvPr>
          <p:cNvSpPr>
            <a:spLocks noGrp="1" noChangeArrowheads="1"/>
          </p:cNvSpPr>
          <p:nvPr>
            <p:ph type="sldNum" sz="quarter" idx="12"/>
          </p:nvPr>
        </p:nvSpPr>
        <p:spPr>
          <a:ln/>
        </p:spPr>
        <p:txBody>
          <a:bodyPr/>
          <a:lstStyle>
            <a:lvl1pPr>
              <a:defRPr/>
            </a:lvl1pPr>
          </a:lstStyle>
          <a:p>
            <a:fld id="{450DC0D5-7156-4239-A174-A5E7E87F92B6}" type="slidenum">
              <a:rPr lang="en-GB" altLang="en-US"/>
              <a:pPr/>
              <a:t>‹#›</a:t>
            </a:fld>
            <a:endParaRPr lang="en-GB" altLang="en-US"/>
          </a:p>
        </p:txBody>
      </p:sp>
    </p:spTree>
    <p:extLst>
      <p:ext uri="{BB962C8B-B14F-4D97-AF65-F5344CB8AC3E}">
        <p14:creationId xmlns:p14="http://schemas.microsoft.com/office/powerpoint/2010/main" val="3701579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747E2C7C-1A2D-7875-EC1F-04E6616CF94F}"/>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375F4687-9075-122F-E52A-B5A299D4491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4823E511-DD97-C125-84FF-17498EA0B123}"/>
              </a:ext>
            </a:extLst>
          </p:cNvPr>
          <p:cNvSpPr>
            <a:spLocks noGrp="1" noChangeArrowheads="1"/>
          </p:cNvSpPr>
          <p:nvPr>
            <p:ph type="sldNum" sz="quarter" idx="12"/>
          </p:nvPr>
        </p:nvSpPr>
        <p:spPr>
          <a:ln/>
        </p:spPr>
        <p:txBody>
          <a:bodyPr/>
          <a:lstStyle>
            <a:lvl1pPr>
              <a:defRPr/>
            </a:lvl1pPr>
          </a:lstStyle>
          <a:p>
            <a:fld id="{80B5345D-4A05-4228-8FFF-E01A6E70ED27}" type="slidenum">
              <a:rPr lang="en-GB" altLang="en-US"/>
              <a:pPr/>
              <a:t>‹#›</a:t>
            </a:fld>
            <a:endParaRPr lang="en-GB" altLang="en-US"/>
          </a:p>
        </p:txBody>
      </p:sp>
    </p:spTree>
    <p:extLst>
      <p:ext uri="{BB962C8B-B14F-4D97-AF65-F5344CB8AC3E}">
        <p14:creationId xmlns:p14="http://schemas.microsoft.com/office/powerpoint/2010/main" val="1919478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3863C6B-10F4-40C8-584A-791FF5D5EF9D}"/>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C287B2A9-70B9-1491-DE4B-04826D54E0F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F5B0A283-B60E-C09A-77BB-EB2EC182291E}"/>
              </a:ext>
            </a:extLst>
          </p:cNvPr>
          <p:cNvSpPr>
            <a:spLocks noGrp="1" noChangeArrowheads="1"/>
          </p:cNvSpPr>
          <p:nvPr>
            <p:ph type="sldNum" sz="quarter" idx="12"/>
          </p:nvPr>
        </p:nvSpPr>
        <p:spPr>
          <a:ln/>
        </p:spPr>
        <p:txBody>
          <a:bodyPr/>
          <a:lstStyle>
            <a:lvl1pPr>
              <a:defRPr/>
            </a:lvl1pPr>
          </a:lstStyle>
          <a:p>
            <a:fld id="{73CB5798-DA3B-4DF4-8C62-5A316EAD324A}" type="slidenum">
              <a:rPr lang="en-GB" altLang="en-US"/>
              <a:pPr/>
              <a:t>‹#›</a:t>
            </a:fld>
            <a:endParaRPr lang="en-GB" altLang="en-US"/>
          </a:p>
        </p:txBody>
      </p:sp>
    </p:spTree>
    <p:extLst>
      <p:ext uri="{BB962C8B-B14F-4D97-AF65-F5344CB8AC3E}">
        <p14:creationId xmlns:p14="http://schemas.microsoft.com/office/powerpoint/2010/main" val="13070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7391D04-7E9B-4139-9E4C-CCF186B7E059}"/>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D3C856FB-3FDA-3722-8503-7E58740A0D3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574C8FAA-59CE-3A9A-B9A4-F9B805F6838E}"/>
              </a:ext>
            </a:extLst>
          </p:cNvPr>
          <p:cNvSpPr>
            <a:spLocks noGrp="1" noChangeArrowheads="1"/>
          </p:cNvSpPr>
          <p:nvPr>
            <p:ph type="sldNum" sz="quarter" idx="12"/>
          </p:nvPr>
        </p:nvSpPr>
        <p:spPr>
          <a:ln/>
        </p:spPr>
        <p:txBody>
          <a:bodyPr/>
          <a:lstStyle>
            <a:lvl1pPr>
              <a:defRPr/>
            </a:lvl1pPr>
          </a:lstStyle>
          <a:p>
            <a:fld id="{90B29443-7482-4DB7-9F61-C8B82F2AB6FB}" type="slidenum">
              <a:rPr lang="en-GB" altLang="en-US"/>
              <a:pPr/>
              <a:t>‹#›</a:t>
            </a:fld>
            <a:endParaRPr lang="en-GB" altLang="en-US"/>
          </a:p>
        </p:txBody>
      </p:sp>
    </p:spTree>
    <p:extLst>
      <p:ext uri="{BB962C8B-B14F-4D97-AF65-F5344CB8AC3E}">
        <p14:creationId xmlns:p14="http://schemas.microsoft.com/office/powerpoint/2010/main" val="3300889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1B95435-1BE0-443A-A6F1-10122AFB7EC7}"/>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7F7F40C-E0D6-3B85-B528-6D08BDA1A6C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151D50CE-7330-BB8B-4551-890D25EF1560}"/>
              </a:ext>
            </a:extLst>
          </p:cNvPr>
          <p:cNvSpPr>
            <a:spLocks noGrp="1" noChangeArrowheads="1"/>
          </p:cNvSpPr>
          <p:nvPr>
            <p:ph type="sldNum" sz="quarter" idx="12"/>
          </p:nvPr>
        </p:nvSpPr>
        <p:spPr>
          <a:ln/>
        </p:spPr>
        <p:txBody>
          <a:bodyPr/>
          <a:lstStyle>
            <a:lvl1pPr>
              <a:defRPr/>
            </a:lvl1pPr>
          </a:lstStyle>
          <a:p>
            <a:fld id="{BB3ED563-757E-4B4B-9ADE-0A4D4B393918}" type="slidenum">
              <a:rPr lang="en-GB" altLang="en-US"/>
              <a:pPr/>
              <a:t>‹#›</a:t>
            </a:fld>
            <a:endParaRPr lang="en-GB" altLang="en-US"/>
          </a:p>
        </p:txBody>
      </p:sp>
    </p:spTree>
    <p:extLst>
      <p:ext uri="{BB962C8B-B14F-4D97-AF65-F5344CB8AC3E}">
        <p14:creationId xmlns:p14="http://schemas.microsoft.com/office/powerpoint/2010/main" val="1208196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1498CAFC-DF02-0B08-DD43-1C03A9264DE9}"/>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F4EF302-FD01-7A5A-B29B-FD2C3BB2D81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16045FBD-3C91-2306-FB0D-3DF8BDA20FFB}"/>
              </a:ext>
            </a:extLst>
          </p:cNvPr>
          <p:cNvSpPr>
            <a:spLocks noGrp="1" noChangeArrowheads="1"/>
          </p:cNvSpPr>
          <p:nvPr>
            <p:ph type="sldNum" sz="quarter" idx="12"/>
          </p:nvPr>
        </p:nvSpPr>
        <p:spPr>
          <a:ln/>
        </p:spPr>
        <p:txBody>
          <a:bodyPr/>
          <a:lstStyle>
            <a:lvl1pPr>
              <a:defRPr/>
            </a:lvl1pPr>
          </a:lstStyle>
          <a:p>
            <a:fld id="{180FD989-81D8-47D8-A8A7-278C8C36220E}" type="slidenum">
              <a:rPr lang="en-GB" altLang="en-US"/>
              <a:pPr/>
              <a:t>‹#›</a:t>
            </a:fld>
            <a:endParaRPr lang="en-GB" altLang="en-US"/>
          </a:p>
        </p:txBody>
      </p:sp>
    </p:spTree>
    <p:extLst>
      <p:ext uri="{BB962C8B-B14F-4D97-AF65-F5344CB8AC3E}">
        <p14:creationId xmlns:p14="http://schemas.microsoft.com/office/powerpoint/2010/main" val="2285755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91E0408F-8799-3C9E-6E35-81FB1E0B6ACB}"/>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67AF18A2-BD07-09DE-4F8F-5B331F8CEC7D}"/>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1C58E8A6-1078-0E1D-605D-D174AA18D1CE}"/>
              </a:ext>
            </a:extLst>
          </p:cNvPr>
          <p:cNvSpPr>
            <a:spLocks noGrp="1" noChangeArrowheads="1"/>
          </p:cNvSpPr>
          <p:nvPr>
            <p:ph type="sldNum" sz="quarter" idx="12"/>
          </p:nvPr>
        </p:nvSpPr>
        <p:spPr>
          <a:ln/>
        </p:spPr>
        <p:txBody>
          <a:bodyPr/>
          <a:lstStyle>
            <a:lvl1pPr>
              <a:defRPr/>
            </a:lvl1pPr>
          </a:lstStyle>
          <a:p>
            <a:fld id="{BAB39722-7D10-467B-A78A-0034680E9C3A}" type="slidenum">
              <a:rPr lang="en-GB" altLang="en-US"/>
              <a:pPr/>
              <a:t>‹#›</a:t>
            </a:fld>
            <a:endParaRPr lang="en-GB" altLang="en-US"/>
          </a:p>
        </p:txBody>
      </p:sp>
    </p:spTree>
    <p:extLst>
      <p:ext uri="{BB962C8B-B14F-4D97-AF65-F5344CB8AC3E}">
        <p14:creationId xmlns:p14="http://schemas.microsoft.com/office/powerpoint/2010/main" val="1424633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02F4D9C-CC12-98F7-197A-BC180484A1A6}"/>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pic>
        <p:nvPicPr>
          <p:cNvPr id="3" name="Picture 8">
            <a:extLst>
              <a:ext uri="{FF2B5EF4-FFF2-40B4-BE49-F238E27FC236}">
                <a16:creationId xmlns:a16="http://schemas.microsoft.com/office/drawing/2014/main" id="{487245EC-010F-1BC7-2CBA-C163683FE5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4" name="Rectangle 6">
            <a:extLst>
              <a:ext uri="{FF2B5EF4-FFF2-40B4-BE49-F238E27FC236}">
                <a16:creationId xmlns:a16="http://schemas.microsoft.com/office/drawing/2014/main" id="{C2E3616B-7377-711D-59FA-232481BA710E}"/>
              </a:ext>
            </a:extLst>
          </p:cNvPr>
          <p:cNvSpPr>
            <a:spLocks noGrp="1" noChangeArrowheads="1"/>
          </p:cNvSpPr>
          <p:nvPr>
            <p:ph type="sldNum" sz="quarter" idx="10"/>
          </p:nvPr>
        </p:nvSpPr>
        <p:spPr>
          <a:xfrm>
            <a:off x="6553200" y="6245225"/>
            <a:ext cx="2133600" cy="476250"/>
          </a:xfrm>
        </p:spPr>
        <p:txBody>
          <a:bodyPr/>
          <a:lstStyle>
            <a:lvl1pPr>
              <a:defRPr smtClean="0"/>
            </a:lvl1pPr>
          </a:lstStyle>
          <a:p>
            <a:pPr>
              <a:defRPr/>
            </a:pPr>
            <a:fld id="{F43ABA87-2EBD-484D-9B9D-E215E2EF9CA5}" type="slidenum">
              <a:rPr lang="en-GB" altLang="en-US"/>
              <a:pPr>
                <a:defRPr/>
              </a:pPr>
              <a:t>‹#›</a:t>
            </a:fld>
            <a:endParaRPr lang="en-GB" altLang="en-US"/>
          </a:p>
        </p:txBody>
      </p:sp>
    </p:spTree>
    <p:extLst>
      <p:ext uri="{BB962C8B-B14F-4D97-AF65-F5344CB8AC3E}">
        <p14:creationId xmlns:p14="http://schemas.microsoft.com/office/powerpoint/2010/main" val="2564529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CFD2852-EEE6-5D0B-C1B8-D83C0357BEAA}"/>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4CCC5A1A-0DF9-F90F-E508-AD7F631826B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41E6D767-924F-7CB7-B2D2-79B0EA10EDF7}"/>
              </a:ext>
            </a:extLst>
          </p:cNvPr>
          <p:cNvSpPr>
            <a:spLocks noGrp="1" noChangeArrowheads="1"/>
          </p:cNvSpPr>
          <p:nvPr>
            <p:ph type="sldNum" sz="quarter" idx="12"/>
          </p:nvPr>
        </p:nvSpPr>
        <p:spPr>
          <a:ln/>
        </p:spPr>
        <p:txBody>
          <a:bodyPr/>
          <a:lstStyle>
            <a:lvl1pPr>
              <a:defRPr/>
            </a:lvl1pPr>
          </a:lstStyle>
          <a:p>
            <a:pPr>
              <a:defRPr/>
            </a:pPr>
            <a:fld id="{A6F715ED-972E-4D40-89B1-F90F6809C770}" type="slidenum">
              <a:rPr lang="en-GB" altLang="en-US"/>
              <a:pPr>
                <a:defRPr/>
              </a:pPr>
              <a:t>‹#›</a:t>
            </a:fld>
            <a:endParaRPr lang="en-GB" altLang="en-US"/>
          </a:p>
        </p:txBody>
      </p:sp>
    </p:spTree>
    <p:extLst>
      <p:ext uri="{BB962C8B-B14F-4D97-AF65-F5344CB8AC3E}">
        <p14:creationId xmlns:p14="http://schemas.microsoft.com/office/powerpoint/2010/main" val="3905613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77A6766-0EBB-74EE-F4A8-852CE4F62E2E}"/>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7D8C9DC-5A4C-24F0-6B58-CCE0C400D11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987DD82-A349-9B05-86CA-4E8136FF1EDE}"/>
              </a:ext>
            </a:extLst>
          </p:cNvPr>
          <p:cNvSpPr>
            <a:spLocks noGrp="1" noChangeArrowheads="1"/>
          </p:cNvSpPr>
          <p:nvPr>
            <p:ph type="sldNum" sz="quarter" idx="12"/>
          </p:nvPr>
        </p:nvSpPr>
        <p:spPr>
          <a:ln/>
        </p:spPr>
        <p:txBody>
          <a:bodyPr/>
          <a:lstStyle>
            <a:lvl1pPr>
              <a:defRPr/>
            </a:lvl1pPr>
          </a:lstStyle>
          <a:p>
            <a:pPr>
              <a:defRPr/>
            </a:pPr>
            <a:fld id="{216BDA24-5510-4692-ADB5-437B9FC5F86D}" type="slidenum">
              <a:rPr lang="en-GB" altLang="en-US"/>
              <a:pPr>
                <a:defRPr/>
              </a:pPr>
              <a:t>‹#›</a:t>
            </a:fld>
            <a:endParaRPr lang="en-GB" altLang="en-US"/>
          </a:p>
        </p:txBody>
      </p:sp>
    </p:spTree>
    <p:extLst>
      <p:ext uri="{BB962C8B-B14F-4D97-AF65-F5344CB8AC3E}">
        <p14:creationId xmlns:p14="http://schemas.microsoft.com/office/powerpoint/2010/main" val="3894773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542663BF-94D1-BBEF-3E47-960C564E09F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FF8A0269-4FEE-3472-201D-CDBF1961ECC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87BF09AA-4A42-6B41-225E-2B5808867586}"/>
              </a:ext>
            </a:extLst>
          </p:cNvPr>
          <p:cNvSpPr>
            <a:spLocks noGrp="1" noChangeArrowheads="1"/>
          </p:cNvSpPr>
          <p:nvPr>
            <p:ph type="sldNum" sz="quarter" idx="12"/>
          </p:nvPr>
        </p:nvSpPr>
        <p:spPr>
          <a:ln/>
        </p:spPr>
        <p:txBody>
          <a:bodyPr/>
          <a:lstStyle>
            <a:lvl1pPr>
              <a:defRPr/>
            </a:lvl1pPr>
          </a:lstStyle>
          <a:p>
            <a:pPr>
              <a:defRPr/>
            </a:pPr>
            <a:fld id="{9A346EFB-FCD0-4689-A3D4-BA2A5CDC8DDB}" type="slidenum">
              <a:rPr lang="en-GB" altLang="en-US"/>
              <a:pPr>
                <a:defRPr/>
              </a:pPr>
              <a:t>‹#›</a:t>
            </a:fld>
            <a:endParaRPr lang="en-GB" altLang="en-US"/>
          </a:p>
        </p:txBody>
      </p:sp>
    </p:spTree>
    <p:extLst>
      <p:ext uri="{BB962C8B-B14F-4D97-AF65-F5344CB8AC3E}">
        <p14:creationId xmlns:p14="http://schemas.microsoft.com/office/powerpoint/2010/main" val="1519231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689310BC-F929-E301-45CA-2C373A474BAB}"/>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4CD68F2D-8601-3424-F5DD-6BC76EE87EF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90AB8BB6-56A7-93BD-8FF8-14D2AC3C1A53}"/>
              </a:ext>
            </a:extLst>
          </p:cNvPr>
          <p:cNvSpPr>
            <a:spLocks noGrp="1" noChangeArrowheads="1"/>
          </p:cNvSpPr>
          <p:nvPr>
            <p:ph type="sldNum" sz="quarter" idx="12"/>
          </p:nvPr>
        </p:nvSpPr>
        <p:spPr>
          <a:ln/>
        </p:spPr>
        <p:txBody>
          <a:bodyPr/>
          <a:lstStyle>
            <a:lvl1pPr>
              <a:defRPr/>
            </a:lvl1pPr>
          </a:lstStyle>
          <a:p>
            <a:pPr>
              <a:defRPr/>
            </a:pPr>
            <a:fld id="{FE02A0E8-D4AC-4865-87B8-5B19B18AD951}" type="slidenum">
              <a:rPr lang="en-GB" altLang="en-US"/>
              <a:pPr>
                <a:defRPr/>
              </a:pPr>
              <a:t>‹#›</a:t>
            </a:fld>
            <a:endParaRPr lang="en-GB" altLang="en-US"/>
          </a:p>
        </p:txBody>
      </p:sp>
    </p:spTree>
    <p:extLst>
      <p:ext uri="{BB962C8B-B14F-4D97-AF65-F5344CB8AC3E}">
        <p14:creationId xmlns:p14="http://schemas.microsoft.com/office/powerpoint/2010/main" val="3184462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ADD15885-1EE0-5855-0776-4D6879AA204A}"/>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A268F859-367C-2F01-F557-0E40AA1A5D7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8A6777DD-10B1-42ED-B474-8DDF86BAE743}"/>
              </a:ext>
            </a:extLst>
          </p:cNvPr>
          <p:cNvSpPr>
            <a:spLocks noGrp="1" noChangeArrowheads="1"/>
          </p:cNvSpPr>
          <p:nvPr>
            <p:ph type="sldNum" sz="quarter" idx="12"/>
          </p:nvPr>
        </p:nvSpPr>
        <p:spPr>
          <a:ln/>
        </p:spPr>
        <p:txBody>
          <a:bodyPr/>
          <a:lstStyle>
            <a:lvl1pPr>
              <a:defRPr/>
            </a:lvl1pPr>
          </a:lstStyle>
          <a:p>
            <a:pPr>
              <a:defRPr/>
            </a:pPr>
            <a:fld id="{A8CF3CC1-E1BD-4614-89D5-C67F05420096}" type="slidenum">
              <a:rPr lang="en-GB" altLang="en-US"/>
              <a:pPr>
                <a:defRPr/>
              </a:pPr>
              <a:t>‹#›</a:t>
            </a:fld>
            <a:endParaRPr lang="en-GB" altLang="en-US"/>
          </a:p>
        </p:txBody>
      </p:sp>
    </p:spTree>
    <p:extLst>
      <p:ext uri="{BB962C8B-B14F-4D97-AF65-F5344CB8AC3E}">
        <p14:creationId xmlns:p14="http://schemas.microsoft.com/office/powerpoint/2010/main" val="2941370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C264EF2-B048-9F81-3637-8529165CC91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560CC96A-E156-C405-6254-CAFE9EACDB8C}"/>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DC611EEF-D76E-6F88-63F3-3DD2F38EFFA3}"/>
              </a:ext>
            </a:extLst>
          </p:cNvPr>
          <p:cNvSpPr>
            <a:spLocks noGrp="1" noChangeArrowheads="1"/>
          </p:cNvSpPr>
          <p:nvPr>
            <p:ph type="sldNum" sz="quarter" idx="12"/>
          </p:nvPr>
        </p:nvSpPr>
        <p:spPr>
          <a:ln/>
        </p:spPr>
        <p:txBody>
          <a:bodyPr/>
          <a:lstStyle>
            <a:lvl1pPr>
              <a:defRPr/>
            </a:lvl1pPr>
          </a:lstStyle>
          <a:p>
            <a:pPr>
              <a:defRPr/>
            </a:pPr>
            <a:fld id="{E9ED6DB4-0FB6-4118-9174-746391ABFD1F}" type="slidenum">
              <a:rPr lang="en-GB" altLang="en-US"/>
              <a:pPr>
                <a:defRPr/>
              </a:pPr>
              <a:t>‹#›</a:t>
            </a:fld>
            <a:endParaRPr lang="en-GB" altLang="en-US"/>
          </a:p>
        </p:txBody>
      </p:sp>
    </p:spTree>
    <p:extLst>
      <p:ext uri="{BB962C8B-B14F-4D97-AF65-F5344CB8AC3E}">
        <p14:creationId xmlns:p14="http://schemas.microsoft.com/office/powerpoint/2010/main" val="1640568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4EB23E1-5B3F-C911-1BE8-560E002C832C}"/>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F9C15834-B356-DD4A-3283-19F90E98E8E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6AA31583-F453-BFA5-D0F8-35E8AE9D704C}"/>
              </a:ext>
            </a:extLst>
          </p:cNvPr>
          <p:cNvSpPr>
            <a:spLocks noGrp="1" noChangeArrowheads="1"/>
          </p:cNvSpPr>
          <p:nvPr>
            <p:ph type="sldNum" sz="quarter" idx="12"/>
          </p:nvPr>
        </p:nvSpPr>
        <p:spPr>
          <a:ln/>
        </p:spPr>
        <p:txBody>
          <a:bodyPr/>
          <a:lstStyle>
            <a:lvl1pPr>
              <a:defRPr/>
            </a:lvl1pPr>
          </a:lstStyle>
          <a:p>
            <a:pPr>
              <a:defRPr/>
            </a:pPr>
            <a:fld id="{8630439E-9715-45A6-BE63-46BD2BCB4E07}" type="slidenum">
              <a:rPr lang="en-GB" altLang="en-US"/>
              <a:pPr>
                <a:defRPr/>
              </a:pPr>
              <a:t>‹#›</a:t>
            </a:fld>
            <a:endParaRPr lang="en-GB" altLang="en-US"/>
          </a:p>
        </p:txBody>
      </p:sp>
    </p:spTree>
    <p:extLst>
      <p:ext uri="{BB962C8B-B14F-4D97-AF65-F5344CB8AC3E}">
        <p14:creationId xmlns:p14="http://schemas.microsoft.com/office/powerpoint/2010/main" val="27291209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7CF05A3-2F84-0C4E-D67E-A5158B6C7569}"/>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27EFD60A-C9C7-243D-7EC3-B6F5952BE51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95556BBF-2E12-03D6-3507-EF2E4479F582}"/>
              </a:ext>
            </a:extLst>
          </p:cNvPr>
          <p:cNvSpPr>
            <a:spLocks noGrp="1" noChangeArrowheads="1"/>
          </p:cNvSpPr>
          <p:nvPr>
            <p:ph type="sldNum" sz="quarter" idx="12"/>
          </p:nvPr>
        </p:nvSpPr>
        <p:spPr>
          <a:ln/>
        </p:spPr>
        <p:txBody>
          <a:bodyPr/>
          <a:lstStyle>
            <a:lvl1pPr>
              <a:defRPr/>
            </a:lvl1pPr>
          </a:lstStyle>
          <a:p>
            <a:pPr>
              <a:defRPr/>
            </a:pPr>
            <a:fld id="{3426C6AF-D246-4C72-AA79-3924D495F4A1}" type="slidenum">
              <a:rPr lang="en-GB" altLang="en-US"/>
              <a:pPr>
                <a:defRPr/>
              </a:pPr>
              <a:t>‹#›</a:t>
            </a:fld>
            <a:endParaRPr lang="en-GB" altLang="en-US"/>
          </a:p>
        </p:txBody>
      </p:sp>
    </p:spTree>
    <p:extLst>
      <p:ext uri="{BB962C8B-B14F-4D97-AF65-F5344CB8AC3E}">
        <p14:creationId xmlns:p14="http://schemas.microsoft.com/office/powerpoint/2010/main" val="2121503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F2D0728-DB74-542E-202E-4B6184E1610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FBE41E7-5CB5-5A8B-684B-E2E269F0064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39A4770-1A33-0AAC-0EAF-B5C4C5557C5B}"/>
              </a:ext>
            </a:extLst>
          </p:cNvPr>
          <p:cNvSpPr>
            <a:spLocks noGrp="1" noChangeArrowheads="1"/>
          </p:cNvSpPr>
          <p:nvPr>
            <p:ph type="sldNum" sz="quarter" idx="12"/>
          </p:nvPr>
        </p:nvSpPr>
        <p:spPr>
          <a:ln/>
        </p:spPr>
        <p:txBody>
          <a:bodyPr/>
          <a:lstStyle>
            <a:lvl1pPr>
              <a:defRPr/>
            </a:lvl1pPr>
          </a:lstStyle>
          <a:p>
            <a:pPr>
              <a:defRPr/>
            </a:pPr>
            <a:fld id="{B7B5DDC5-C9E2-4349-979A-336E086DA6BB}" type="slidenum">
              <a:rPr lang="en-GB" altLang="en-US"/>
              <a:pPr>
                <a:defRPr/>
              </a:pPr>
              <a:t>‹#›</a:t>
            </a:fld>
            <a:endParaRPr lang="en-GB" altLang="en-US"/>
          </a:p>
        </p:txBody>
      </p:sp>
    </p:spTree>
    <p:extLst>
      <p:ext uri="{BB962C8B-B14F-4D97-AF65-F5344CB8AC3E}">
        <p14:creationId xmlns:p14="http://schemas.microsoft.com/office/powerpoint/2010/main" val="2853854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295BE53-A706-EE5E-1F62-34807F59708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2845B691-B98E-8AEC-BB02-36603DF40B4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C711F149-15B1-F099-1DA0-E5A0B3C7D345}"/>
              </a:ext>
            </a:extLst>
          </p:cNvPr>
          <p:cNvSpPr>
            <a:spLocks noGrp="1" noChangeArrowheads="1"/>
          </p:cNvSpPr>
          <p:nvPr>
            <p:ph type="sldNum" sz="quarter" idx="12"/>
          </p:nvPr>
        </p:nvSpPr>
        <p:spPr>
          <a:ln/>
        </p:spPr>
        <p:txBody>
          <a:bodyPr/>
          <a:lstStyle>
            <a:lvl1pPr>
              <a:defRPr/>
            </a:lvl1pPr>
          </a:lstStyle>
          <a:p>
            <a:pPr>
              <a:defRPr/>
            </a:pPr>
            <a:fld id="{9C25D986-D7B4-4C8D-9345-C69C5B35E0D5}" type="slidenum">
              <a:rPr lang="en-GB" altLang="en-US"/>
              <a:pPr>
                <a:defRPr/>
              </a:pPr>
              <a:t>‹#›</a:t>
            </a:fld>
            <a:endParaRPr lang="en-GB" altLang="en-US"/>
          </a:p>
        </p:txBody>
      </p:sp>
    </p:spTree>
    <p:extLst>
      <p:ext uri="{BB962C8B-B14F-4D97-AF65-F5344CB8AC3E}">
        <p14:creationId xmlns:p14="http://schemas.microsoft.com/office/powerpoint/2010/main" val="2558167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18F24E94-149A-E093-ECFB-9B476A0D2DA4}"/>
              </a:ext>
            </a:extLst>
          </p:cNvPr>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71B10C40-FB9D-61A7-CFBF-304FD454EAE2}"/>
              </a:ext>
            </a:extLst>
          </p:cNvPr>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a:extLst>
              <a:ext uri="{FF2B5EF4-FFF2-40B4-BE49-F238E27FC236}">
                <a16:creationId xmlns:a16="http://schemas.microsoft.com/office/drawing/2014/main" id="{C004FA58-BBE7-0C26-28DF-5F16D82450D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3FDA09CD-CAD0-458D-3FCF-AC33E531AAAF}"/>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B3DFC6AA-F15D-4D77-F366-2D8A0201B6BD}"/>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a:extLst>
              <a:ext uri="{FF2B5EF4-FFF2-40B4-BE49-F238E27FC236}">
                <a16:creationId xmlns:a16="http://schemas.microsoft.com/office/drawing/2014/main" id="{EEEB0EAB-E23C-5F2D-9C74-A145C196E17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a:extLst>
              <a:ext uri="{FF2B5EF4-FFF2-40B4-BE49-F238E27FC236}">
                <a16:creationId xmlns:a16="http://schemas.microsoft.com/office/drawing/2014/main" id="{79FAFD5A-156B-825F-4948-DF4A0F8A5C8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26EEF51E-8D08-4609-BB34-38678025B830}" type="slidenum">
              <a:rPr lang="en-GB" altLang="en-US"/>
              <a:pPr/>
              <a:t>‹#›</a:t>
            </a:fld>
            <a:endParaRPr lang="en-GB" altLang="en-US"/>
          </a:p>
        </p:txBody>
      </p:sp>
      <p:sp>
        <p:nvSpPr>
          <p:cNvPr id="1033" name="Rectangle 9">
            <a:extLst>
              <a:ext uri="{FF2B5EF4-FFF2-40B4-BE49-F238E27FC236}">
                <a16:creationId xmlns:a16="http://schemas.microsoft.com/office/drawing/2014/main" id="{386042FB-01E7-ED19-D69B-939C5863EDBE}"/>
              </a:ext>
            </a:extLst>
          </p:cNvPr>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a:extLst>
              <a:ext uri="{FF2B5EF4-FFF2-40B4-BE49-F238E27FC236}">
                <a16:creationId xmlns:a16="http://schemas.microsoft.com/office/drawing/2014/main" id="{87518C43-6BFB-58B2-0FCC-E23F0975AA6C}"/>
              </a:ext>
            </a:extLst>
          </p:cNvPr>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a:extLst>
              <a:ext uri="{FF2B5EF4-FFF2-40B4-BE49-F238E27FC236}">
                <a16:creationId xmlns:a16="http://schemas.microsoft.com/office/drawing/2014/main" id="{8003F676-913B-7C13-1950-5A0642BED2DC}"/>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1"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4B71832-A0C4-1985-7D3D-2F098716A147}"/>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5B463438-BE70-59E4-B0A6-9B62CEA61215}"/>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defRPr/>
            </a:pPr>
            <a:endParaRPr lang="en-US" altLang="en-US">
              <a:solidFill>
                <a:srgbClr val="663366"/>
              </a:solidFill>
            </a:endParaRPr>
          </a:p>
        </p:txBody>
      </p:sp>
      <p:sp>
        <p:nvSpPr>
          <p:cNvPr id="1028" name="Rectangle 2">
            <a:extLst>
              <a:ext uri="{FF2B5EF4-FFF2-40B4-BE49-F238E27FC236}">
                <a16:creationId xmlns:a16="http://schemas.microsoft.com/office/drawing/2014/main" id="{158AE9EB-7072-7674-611C-B7AF2752427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D053E1F1-F245-F7BD-1903-B2C7129C8E63}"/>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926561C8-64B0-29EC-62D8-8EF590EB38C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a:extLst>
              <a:ext uri="{FF2B5EF4-FFF2-40B4-BE49-F238E27FC236}">
                <a16:creationId xmlns:a16="http://schemas.microsoft.com/office/drawing/2014/main" id="{621FEEF6-97EF-5FCC-CF31-8E3A82A70E1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a:extLst>
              <a:ext uri="{FF2B5EF4-FFF2-40B4-BE49-F238E27FC236}">
                <a16:creationId xmlns:a16="http://schemas.microsoft.com/office/drawing/2014/main" id="{69B0B2B7-CF13-D38F-2E2D-BEF84466764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D8D0EC2E-3E6C-4FF1-842A-F252D8B1B83F}" type="slidenum">
              <a:rPr lang="en-GB" altLang="en-US"/>
              <a:pPr>
                <a:defRPr/>
              </a:pPr>
              <a:t>‹#›</a:t>
            </a:fld>
            <a:endParaRPr lang="en-GB" altLang="en-US"/>
          </a:p>
        </p:txBody>
      </p:sp>
      <p:sp>
        <p:nvSpPr>
          <p:cNvPr id="1033" name="Rectangle 9">
            <a:extLst>
              <a:ext uri="{FF2B5EF4-FFF2-40B4-BE49-F238E27FC236}">
                <a16:creationId xmlns:a16="http://schemas.microsoft.com/office/drawing/2014/main" id="{056F642D-B683-9F3F-2FC3-71E14C6D7F17}"/>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defRPr/>
            </a:pPr>
            <a:endParaRPr lang="en-US" altLang="en-US" sz="4400">
              <a:solidFill>
                <a:schemeClr val="bg1"/>
              </a:solidFill>
            </a:endParaRPr>
          </a:p>
        </p:txBody>
      </p:sp>
      <p:sp>
        <p:nvSpPr>
          <p:cNvPr id="1034" name="Rectangle 10">
            <a:extLst>
              <a:ext uri="{FF2B5EF4-FFF2-40B4-BE49-F238E27FC236}">
                <a16:creationId xmlns:a16="http://schemas.microsoft.com/office/drawing/2014/main" id="{6AFBB9FD-8577-1E42-A7A2-E742270DA77D}"/>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20000"/>
              </a:spcBef>
              <a:defRPr/>
            </a:pPr>
            <a:endParaRPr lang="en-US" altLang="en-US" sz="1800" b="1">
              <a:solidFill>
                <a:schemeClr val="bg1"/>
              </a:solidFill>
              <a:latin typeface="Arial" panose="020B0604020202020204" pitchFamily="34" charset="0"/>
            </a:endParaRPr>
          </a:p>
        </p:txBody>
      </p:sp>
      <p:pic>
        <p:nvPicPr>
          <p:cNvPr id="1035" name="Picture 11">
            <a:extLst>
              <a:ext uri="{FF2B5EF4-FFF2-40B4-BE49-F238E27FC236}">
                <a16:creationId xmlns:a16="http://schemas.microsoft.com/office/drawing/2014/main" id="{8E44ABA9-DDB0-4756-737F-E0011B04C9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34864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2A27B78-1F24-0F1B-E6D2-C4E7AE5E06DB}"/>
              </a:ext>
            </a:extLst>
          </p:cNvPr>
          <p:cNvSpPr>
            <a:spLocks noGrp="1"/>
          </p:cNvSpPr>
          <p:nvPr>
            <p:ph type="ctrTitle" sz="quarter"/>
          </p:nvPr>
        </p:nvSpPr>
        <p:spPr>
          <a:xfrm>
            <a:off x="755650" y="476250"/>
            <a:ext cx="8064500" cy="1470025"/>
          </a:xfrm>
        </p:spPr>
        <p:txBody>
          <a:bodyPr/>
          <a:lstStyle/>
          <a:p>
            <a:pPr eaLnBrk="1" hangingPunct="1"/>
            <a:r>
              <a:rPr lang="en-GB" altLang="en-US" sz="5000" dirty="0">
                <a:latin typeface="Cambria Math" panose="02040503050406030204" pitchFamily="18" charset="0"/>
                <a:ea typeface="Cambria Math" panose="02040503050406030204" pitchFamily="18" charset="0"/>
                <a:cs typeface="Cambria Math" panose="02040503050406030204" pitchFamily="18" charset="0"/>
              </a:rPr>
              <a:t>Revision Lecture</a:t>
            </a:r>
          </a:p>
        </p:txBody>
      </p:sp>
      <p:sp>
        <p:nvSpPr>
          <p:cNvPr id="4099" name="Subtitle 2">
            <a:extLst>
              <a:ext uri="{FF2B5EF4-FFF2-40B4-BE49-F238E27FC236}">
                <a16:creationId xmlns:a16="http://schemas.microsoft.com/office/drawing/2014/main" id="{93DDA7E3-23C5-1223-B0D7-2EB2D52FEE36}"/>
              </a:ext>
            </a:extLst>
          </p:cNvPr>
          <p:cNvSpPr>
            <a:spLocks noGrp="1"/>
          </p:cNvSpPr>
          <p:nvPr>
            <p:ph type="subTitle" sz="quarter" idx="1"/>
          </p:nvPr>
        </p:nvSpPr>
        <p:spPr>
          <a:xfrm>
            <a:off x="755650" y="3213100"/>
            <a:ext cx="7561263" cy="1752600"/>
          </a:xfrm>
        </p:spPr>
        <p:txBody>
          <a:bodyPr/>
          <a:lstStyle/>
          <a:p>
            <a:pPr eaLnBrk="1" hangingPunct="1">
              <a:lnSpc>
                <a:spcPct val="150000"/>
              </a:lnSpc>
              <a:spcBef>
                <a:spcPct val="0"/>
              </a:spcBef>
            </a:pPr>
            <a:r>
              <a:rPr lang="en-GB" altLang="en-US" sz="2400" b="0" dirty="0">
                <a:latin typeface="Cambria Math" panose="02040503050406030204" pitchFamily="18" charset="0"/>
                <a:ea typeface="Cambria Math" panose="02040503050406030204" pitchFamily="18" charset="0"/>
                <a:cs typeface="Cambria Math" panose="02040503050406030204" pitchFamily="18" charset="0"/>
              </a:rPr>
              <a:t>Dr Kat Langley</a:t>
            </a:r>
          </a:p>
          <a:p>
            <a:pPr eaLnBrk="1" hangingPunct="1">
              <a:lnSpc>
                <a:spcPct val="150000"/>
              </a:lnSpc>
              <a:spcBef>
                <a:spcPct val="0"/>
              </a:spcBef>
            </a:pPr>
            <a:r>
              <a:rPr lang="en-GB" altLang="en-US" sz="2400" b="0" dirty="0">
                <a:latin typeface="Cambria Math" panose="02040503050406030204" pitchFamily="18" charset="0"/>
                <a:ea typeface="Cambria Math" panose="02040503050406030204" pitchFamily="18" charset="0"/>
                <a:cs typeface="Cambria Math" panose="02040503050406030204" pitchFamily="18" charset="0"/>
              </a:rPr>
              <a:t>Tuesday 29 April 2025</a:t>
            </a:r>
            <a:endParaRPr lang="en-GB" altLang="en-US" sz="2800" b="0" dirty="0">
              <a:latin typeface="Cambria Math" panose="02040503050406030204" pitchFamily="18" charset="0"/>
              <a:ea typeface="Cambria Math" panose="02040503050406030204" pitchFamily="18" charset="0"/>
              <a:cs typeface="Cambria Math" panose="02040503050406030204" pitchFamily="18" charset="0"/>
            </a:endParaRPr>
          </a:p>
          <a:p>
            <a:pPr eaLnBrk="1" hangingPunct="1"/>
            <a:endParaRPr lang="en-GB" altLang="en-US" sz="2400" dirty="0">
              <a:latin typeface="Cambria Math" panose="02040503050406030204" pitchFamily="18" charset="0"/>
              <a:ea typeface="Cambria Math" panose="02040503050406030204" pitchFamily="18" charset="0"/>
              <a:cs typeface="Cambria Math"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DC0B9A4-4DAA-C3D9-E947-EB1CCA7CADC3}"/>
              </a:ext>
            </a:extLst>
          </p:cNvPr>
          <p:cNvSpPr>
            <a:spLocks noGrp="1"/>
          </p:cNvSpPr>
          <p:nvPr>
            <p:ph type="title"/>
          </p:nvPr>
        </p:nvSpPr>
        <p:spPr/>
        <p:txBody>
          <a:bodyPr/>
          <a:lstStyle/>
          <a:p>
            <a:r>
              <a:rPr lang="en-US" altLang="en-US" sz="3200" dirty="0">
                <a:latin typeface="Cambria Math" panose="02040503050406030204" pitchFamily="18" charset="0"/>
                <a:ea typeface="Cambria Math" panose="02040503050406030204" pitchFamily="18" charset="0"/>
                <a:cs typeface="Cambria Math" panose="02040503050406030204" pitchFamily="18" charset="0"/>
              </a:rPr>
              <a:t>Exam Format</a:t>
            </a:r>
          </a:p>
        </p:txBody>
      </p:sp>
      <p:sp>
        <p:nvSpPr>
          <p:cNvPr id="5123" name="Content Placeholder 2">
            <a:extLst>
              <a:ext uri="{FF2B5EF4-FFF2-40B4-BE49-F238E27FC236}">
                <a16:creationId xmlns:a16="http://schemas.microsoft.com/office/drawing/2014/main" id="{3DD1CCCF-7795-E38E-4877-09E9A65113A3}"/>
              </a:ext>
            </a:extLst>
          </p:cNvPr>
          <p:cNvSpPr>
            <a:spLocks noGrp="1"/>
          </p:cNvSpPr>
          <p:nvPr>
            <p:ph idx="1"/>
          </p:nvPr>
        </p:nvSpPr>
        <p:spPr/>
        <p:txBody>
          <a:bodyPr/>
          <a:lstStyle/>
          <a:p>
            <a:pPr marL="457200" indent="-457200" algn="just">
              <a:buFont typeface="Arial" panose="020B0604020202020204" pitchFamily="34" charset="0"/>
              <a:buChar char="•"/>
            </a:pPr>
            <a:r>
              <a:rPr lang="en-US" altLang="en-US" sz="2800" dirty="0"/>
              <a:t>3,500 Words</a:t>
            </a:r>
          </a:p>
          <a:p>
            <a:pPr marL="457200" indent="-457200">
              <a:buFont typeface="Arial" panose="020B0604020202020204" pitchFamily="34" charset="0"/>
              <a:buChar char="•"/>
            </a:pPr>
            <a:r>
              <a:rPr lang="en-US" sz="2800" dirty="0"/>
              <a:t>Answer </a:t>
            </a:r>
            <a:r>
              <a:rPr lang="en-US" sz="2800" u="sng" dirty="0"/>
              <a:t>three</a:t>
            </a:r>
            <a:r>
              <a:rPr lang="en-US" sz="2800" dirty="0"/>
              <a:t> questions; one from Part A and </a:t>
            </a:r>
            <a:r>
              <a:rPr lang="en-US" sz="2800" u="sng" dirty="0"/>
              <a:t>both</a:t>
            </a:r>
            <a:r>
              <a:rPr lang="en-US" sz="2800" dirty="0"/>
              <a:t> from Part B</a:t>
            </a:r>
          </a:p>
          <a:p>
            <a:pPr marL="457200" indent="-457200">
              <a:buFont typeface="Arial" panose="020B0604020202020204" pitchFamily="34" charset="0"/>
              <a:buChar char="•"/>
            </a:pPr>
            <a:r>
              <a:rPr lang="en-US" sz="2800" dirty="0"/>
              <a:t>Equal weight</a:t>
            </a:r>
          </a:p>
          <a:p>
            <a:pPr marL="857250" lvl="1" indent="-457200">
              <a:buFont typeface="Arial" panose="020B0604020202020204" pitchFamily="34" charset="0"/>
              <a:buChar char="•"/>
            </a:pPr>
            <a:r>
              <a:rPr lang="en-US" sz="2400" dirty="0"/>
              <a:t>Part A: 2 essay questions</a:t>
            </a:r>
          </a:p>
          <a:p>
            <a:pPr marL="857250" lvl="1" indent="-457200">
              <a:buFont typeface="Arial" panose="020B0604020202020204" pitchFamily="34" charset="0"/>
              <a:buChar char="•"/>
            </a:pPr>
            <a:r>
              <a:rPr lang="en-US" sz="2400" dirty="0"/>
              <a:t>Part B: 2 problem questions</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4480-D58D-AC38-9579-5DD66975D2B2}"/>
              </a:ext>
            </a:extLst>
          </p:cNvPr>
          <p:cNvSpPr>
            <a:spLocks noGrp="1"/>
          </p:cNvSpPr>
          <p:nvPr>
            <p:ph type="title"/>
          </p:nvPr>
        </p:nvSpPr>
        <p:spPr/>
        <p:txBody>
          <a:bodyPr/>
          <a:lstStyle/>
          <a:p>
            <a:r>
              <a:rPr lang="en-GB" dirty="0"/>
              <a:t>Lecture Structure</a:t>
            </a:r>
          </a:p>
        </p:txBody>
      </p:sp>
      <p:sp>
        <p:nvSpPr>
          <p:cNvPr id="3" name="Content Placeholder 2">
            <a:extLst>
              <a:ext uri="{FF2B5EF4-FFF2-40B4-BE49-F238E27FC236}">
                <a16:creationId xmlns:a16="http://schemas.microsoft.com/office/drawing/2014/main" id="{FB56A990-9263-53E8-CA15-82B11A4DFB7A}"/>
              </a:ext>
            </a:extLst>
          </p:cNvPr>
          <p:cNvSpPr>
            <a:spLocks noGrp="1"/>
          </p:cNvSpPr>
          <p:nvPr>
            <p:ph idx="1"/>
          </p:nvPr>
        </p:nvSpPr>
        <p:spPr/>
        <p:txBody>
          <a:bodyPr/>
          <a:lstStyle/>
          <a:p>
            <a:pPr>
              <a:buFont typeface="Arial" panose="020B0604020202020204" pitchFamily="34" charset="0"/>
              <a:buChar char="•"/>
            </a:pPr>
            <a:r>
              <a:rPr lang="en-GB" dirty="0"/>
              <a:t>Writing an essay</a:t>
            </a:r>
          </a:p>
          <a:p>
            <a:pPr>
              <a:buFont typeface="Arial" panose="020B0604020202020204" pitchFamily="34" charset="0"/>
              <a:buChar char="•"/>
            </a:pPr>
            <a:r>
              <a:rPr lang="en-GB" dirty="0"/>
              <a:t>Problem Question technique</a:t>
            </a:r>
          </a:p>
          <a:p>
            <a:pPr>
              <a:buFont typeface="Arial" panose="020B0604020202020204" pitchFamily="34" charset="0"/>
              <a:buChar char="•"/>
            </a:pPr>
            <a:r>
              <a:rPr lang="en-GB" dirty="0"/>
              <a:t>Theft</a:t>
            </a:r>
          </a:p>
          <a:p>
            <a:pPr>
              <a:buFont typeface="Arial" panose="020B0604020202020204" pitchFamily="34" charset="0"/>
              <a:buChar char="•"/>
            </a:pPr>
            <a:r>
              <a:rPr lang="en-GB" dirty="0"/>
              <a:t>Self- Defence</a:t>
            </a:r>
          </a:p>
          <a:p>
            <a:pPr>
              <a:buFont typeface="Arial" panose="020B0604020202020204" pitchFamily="34" charset="0"/>
              <a:buChar char="•"/>
            </a:pPr>
            <a:r>
              <a:rPr lang="en-GB" dirty="0"/>
              <a:t>Sexual Offences</a:t>
            </a:r>
          </a:p>
          <a:p>
            <a:pPr>
              <a:buFont typeface="Arial" panose="020B0604020202020204" pitchFamily="34" charset="0"/>
              <a:buChar char="•"/>
            </a:pPr>
            <a:r>
              <a:rPr lang="en-GB" dirty="0"/>
              <a:t>Defences</a:t>
            </a:r>
          </a:p>
          <a:p>
            <a:pPr>
              <a:buFont typeface="Arial" panose="020B0604020202020204" pitchFamily="34" charset="0"/>
              <a:buChar char="•"/>
            </a:pPr>
            <a:r>
              <a:rPr lang="en-GB" dirty="0"/>
              <a:t>Intoxication</a:t>
            </a:r>
          </a:p>
        </p:txBody>
      </p:sp>
    </p:spTree>
    <p:extLst>
      <p:ext uri="{BB962C8B-B14F-4D97-AF65-F5344CB8AC3E}">
        <p14:creationId xmlns:p14="http://schemas.microsoft.com/office/powerpoint/2010/main" val="38093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99408-4D5D-6E8E-5C88-3074D1A41F7A}"/>
              </a:ext>
            </a:extLst>
          </p:cNvPr>
          <p:cNvSpPr>
            <a:spLocks noGrp="1"/>
          </p:cNvSpPr>
          <p:nvPr>
            <p:ph type="title"/>
          </p:nvPr>
        </p:nvSpPr>
        <p:spPr>
          <a:xfrm>
            <a:off x="395536" y="260648"/>
            <a:ext cx="8062664" cy="864096"/>
          </a:xfrm>
        </p:spPr>
        <p:txBody>
          <a:bodyPr/>
          <a:lstStyle/>
          <a:p>
            <a:r>
              <a:rPr lang="en-GB" dirty="0"/>
              <a:t>Qualities of a Good Essay</a:t>
            </a:r>
          </a:p>
        </p:txBody>
      </p:sp>
      <p:sp>
        <p:nvSpPr>
          <p:cNvPr id="3" name="Content Placeholder 2">
            <a:extLst>
              <a:ext uri="{FF2B5EF4-FFF2-40B4-BE49-F238E27FC236}">
                <a16:creationId xmlns:a16="http://schemas.microsoft.com/office/drawing/2014/main" id="{E12B7792-B7BC-71BF-26CA-66C207E00A9E}"/>
              </a:ext>
            </a:extLst>
          </p:cNvPr>
          <p:cNvSpPr>
            <a:spLocks noGrp="1"/>
          </p:cNvSpPr>
          <p:nvPr>
            <p:ph idx="1"/>
          </p:nvPr>
        </p:nvSpPr>
        <p:spPr>
          <a:xfrm>
            <a:off x="395536" y="2575123"/>
            <a:ext cx="8208912" cy="3230365"/>
          </a:xfrm>
        </p:spPr>
        <p:txBody>
          <a:bodyPr anchor="b"/>
          <a:lstStyle/>
          <a:p>
            <a:pPr>
              <a:buFont typeface="Arial" panose="020B0604020202020204" pitchFamily="34" charset="0"/>
              <a:buChar char="•"/>
            </a:pPr>
            <a:r>
              <a:rPr lang="en-GB" altLang="en-US" sz="1200" dirty="0"/>
              <a:t>Structure</a:t>
            </a:r>
          </a:p>
          <a:p>
            <a:pPr lvl="1">
              <a:buFont typeface="Arial" panose="020B0604020202020204" pitchFamily="34" charset="0"/>
              <a:buChar char="•"/>
            </a:pPr>
            <a:r>
              <a:rPr lang="en-GB" altLang="en-US" sz="1100" dirty="0"/>
              <a:t>A clear introduction; signposted main text; and a concise but complete conclusion</a:t>
            </a:r>
          </a:p>
          <a:p>
            <a:pPr>
              <a:buFont typeface="Arial" panose="020B0604020202020204" pitchFamily="34" charset="0"/>
              <a:buChar char="•"/>
            </a:pPr>
            <a:r>
              <a:rPr lang="en-GB" altLang="en-US" sz="1200" dirty="0"/>
              <a:t>Evidence</a:t>
            </a:r>
          </a:p>
          <a:p>
            <a:pPr lvl="1">
              <a:buFont typeface="Arial" panose="020B0604020202020204" pitchFamily="34" charset="0"/>
              <a:buChar char="•"/>
            </a:pPr>
            <a:r>
              <a:rPr lang="en-GB" sz="1100" dirty="0"/>
              <a:t>An essay may be well written, but if you fail to engage with the literature on a topic then you will not get a good mark</a:t>
            </a:r>
          </a:p>
          <a:p>
            <a:pPr lvl="1">
              <a:buFont typeface="Arial" panose="020B0604020202020204" pitchFamily="34" charset="0"/>
              <a:buChar char="•"/>
            </a:pPr>
            <a:r>
              <a:rPr lang="en-GB" altLang="en-US" sz="1100" dirty="0"/>
              <a:t>Make sure you refer to cases, academic articles, and other relevant sources in your answer (not just the textbook)</a:t>
            </a:r>
          </a:p>
          <a:p>
            <a:pPr>
              <a:buFont typeface="Arial" panose="020B0604020202020204" pitchFamily="34" charset="0"/>
              <a:buChar char="•"/>
            </a:pPr>
            <a:r>
              <a:rPr lang="en-GB" altLang="en-US" sz="1200" dirty="0"/>
              <a:t>Analysis</a:t>
            </a:r>
          </a:p>
          <a:p>
            <a:pPr lvl="1">
              <a:buFont typeface="Arial" panose="020B0604020202020204" pitchFamily="34" charset="0"/>
              <a:buChar char="•"/>
            </a:pPr>
            <a:r>
              <a:rPr lang="en-GB" sz="1100" dirty="0"/>
              <a:t>What does the law say? What is your view on the law? </a:t>
            </a:r>
          </a:p>
          <a:p>
            <a:pPr lvl="1">
              <a:buFont typeface="Arial" panose="020B0604020202020204" pitchFamily="34" charset="0"/>
              <a:buChar char="•"/>
            </a:pPr>
            <a:r>
              <a:rPr lang="en-GB" sz="1100" dirty="0"/>
              <a:t>What has been written on the subject? What is your own view of what has been written?</a:t>
            </a:r>
          </a:p>
          <a:p>
            <a:pPr lvl="1">
              <a:buFont typeface="Arial" panose="020B0604020202020204" pitchFamily="34" charset="0"/>
              <a:buChar char="•"/>
            </a:pPr>
            <a:r>
              <a:rPr lang="en-GB" sz="1100" dirty="0"/>
              <a:t>Pay attention to where an article has been published (practitioners’ journals vs peer-reviewed journals); generally speaking, the more academic the article, the more authoritative it will be</a:t>
            </a:r>
          </a:p>
          <a:p>
            <a:pPr lvl="1">
              <a:buFont typeface="Arial" panose="020B0604020202020204" pitchFamily="34" charset="0"/>
              <a:buChar char="•"/>
            </a:pPr>
            <a:r>
              <a:rPr lang="en-GB" sz="1100" dirty="0"/>
              <a:t>Check the reading list online, lecture notes, and seminar worksheets for good academic sources</a:t>
            </a:r>
          </a:p>
          <a:p>
            <a:pPr>
              <a:buFont typeface="Arial" panose="020B0604020202020204" pitchFamily="34" charset="0"/>
              <a:buChar char="•"/>
            </a:pPr>
            <a:r>
              <a:rPr lang="en-GB" altLang="en-US" sz="1200" dirty="0"/>
              <a:t>Argument</a:t>
            </a:r>
          </a:p>
          <a:p>
            <a:pPr lvl="1">
              <a:buFont typeface="Arial" panose="020B0604020202020204" pitchFamily="34" charset="0"/>
              <a:buChar char="•"/>
            </a:pPr>
            <a:r>
              <a:rPr lang="en-GB" altLang="en-US" sz="1100" b="1" dirty="0"/>
              <a:t>Answer the question </a:t>
            </a:r>
            <a:r>
              <a:rPr lang="en-GB" altLang="en-US" sz="1100" dirty="0"/>
              <a:t>and </a:t>
            </a:r>
            <a:r>
              <a:rPr lang="en-GB" altLang="en-US" sz="1100" b="1" dirty="0"/>
              <a:t>provide an argument</a:t>
            </a:r>
            <a:r>
              <a:rPr lang="en-GB" altLang="en-US" sz="1100" dirty="0"/>
              <a:t>; do not simply provide a list of everything you know on the subject</a:t>
            </a:r>
          </a:p>
          <a:p>
            <a:pPr lvl="1">
              <a:buFont typeface="Arial" panose="020B0604020202020204" pitchFamily="34" charset="0"/>
              <a:buChar char="•"/>
            </a:pPr>
            <a:r>
              <a:rPr lang="en-GB" altLang="en-US" sz="1100" dirty="0"/>
              <a:t>Make the course of the argument clear from the beginning and signpost your argument throughout the essay</a:t>
            </a:r>
          </a:p>
          <a:p>
            <a:pPr lvl="1">
              <a:buFont typeface="Arial" panose="020B0604020202020204" pitchFamily="34" charset="0"/>
              <a:buChar char="•"/>
            </a:pPr>
            <a:r>
              <a:rPr lang="en-GB" sz="1100" dirty="0"/>
              <a:t>Make sure you reason your way logically through the argument from the introduction to the conclusion</a:t>
            </a:r>
            <a:endParaRPr lang="en-GB" dirty="0"/>
          </a:p>
        </p:txBody>
      </p:sp>
      <p:graphicFrame>
        <p:nvGraphicFramePr>
          <p:cNvPr id="5" name="Diagram 4">
            <a:extLst>
              <a:ext uri="{FF2B5EF4-FFF2-40B4-BE49-F238E27FC236}">
                <a16:creationId xmlns:a16="http://schemas.microsoft.com/office/drawing/2014/main" id="{DD944132-DB0F-97D8-720C-82351DFABD77}"/>
              </a:ext>
            </a:extLst>
          </p:cNvPr>
          <p:cNvGraphicFramePr/>
          <p:nvPr>
            <p:extLst>
              <p:ext uri="{D42A27DB-BD31-4B8C-83A1-F6EECF244321}">
                <p14:modId xmlns:p14="http://schemas.microsoft.com/office/powerpoint/2010/main" val="3803105982"/>
              </p:ext>
            </p:extLst>
          </p:nvPr>
        </p:nvGraphicFramePr>
        <p:xfrm>
          <a:off x="323528" y="1124744"/>
          <a:ext cx="8496944" cy="1450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5973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BDE2-B952-B4C5-825B-C75E65913DB0}"/>
              </a:ext>
            </a:extLst>
          </p:cNvPr>
          <p:cNvSpPr>
            <a:spLocks noGrp="1"/>
          </p:cNvSpPr>
          <p:nvPr>
            <p:ph type="title"/>
          </p:nvPr>
        </p:nvSpPr>
        <p:spPr/>
        <p:txBody>
          <a:bodyPr/>
          <a:lstStyle/>
          <a:p>
            <a:r>
              <a:rPr lang="en-GB" dirty="0"/>
              <a:t>Identifying essay-based questions</a:t>
            </a:r>
          </a:p>
        </p:txBody>
      </p:sp>
      <p:sp>
        <p:nvSpPr>
          <p:cNvPr id="3" name="Content Placeholder 2">
            <a:extLst>
              <a:ext uri="{FF2B5EF4-FFF2-40B4-BE49-F238E27FC236}">
                <a16:creationId xmlns:a16="http://schemas.microsoft.com/office/drawing/2014/main" id="{F12C9C60-DF82-2D17-423C-9EB78209B205}"/>
              </a:ext>
            </a:extLst>
          </p:cNvPr>
          <p:cNvSpPr>
            <a:spLocks noGrp="1"/>
          </p:cNvSpPr>
          <p:nvPr>
            <p:ph idx="1"/>
          </p:nvPr>
        </p:nvSpPr>
        <p:spPr/>
        <p:txBody>
          <a:bodyPr anchor="ctr"/>
          <a:lstStyle/>
          <a:p>
            <a:pPr>
              <a:buFont typeface="Arial" panose="020B0604020202020204" pitchFamily="34" charset="0"/>
              <a:buChar char="•"/>
            </a:pPr>
            <a:r>
              <a:rPr lang="en-GB" sz="2000" b="1" dirty="0"/>
              <a:t>General Principles:</a:t>
            </a:r>
          </a:p>
          <a:p>
            <a:pPr>
              <a:buFont typeface="Arial" panose="020B0604020202020204" pitchFamily="34" charset="0"/>
              <a:buChar char="•"/>
            </a:pPr>
            <a:r>
              <a:rPr lang="en-GB" dirty="0"/>
              <a:t>An essay can be on any examinable topic.</a:t>
            </a:r>
          </a:p>
          <a:p>
            <a:pPr>
              <a:buFont typeface="Arial" panose="020B0604020202020204" pitchFamily="34" charset="0"/>
              <a:buChar char="•"/>
            </a:pPr>
            <a:r>
              <a:rPr lang="en-GB" dirty="0"/>
              <a:t>An essay will usually highlight an area which is problematic and in need of reform, codification or abolition. </a:t>
            </a:r>
          </a:p>
          <a:p>
            <a:pPr>
              <a:buFont typeface="Arial" panose="020B0604020202020204" pitchFamily="34" charset="0"/>
              <a:buChar char="•"/>
            </a:pPr>
            <a:r>
              <a:rPr lang="en-GB" dirty="0"/>
              <a:t>Make notes from the reform section in key textbooks. i.e. Child and Ormerod para 7.10.1</a:t>
            </a:r>
          </a:p>
          <a:p>
            <a:pPr>
              <a:buFont typeface="Arial" panose="020B0604020202020204" pitchFamily="34" charset="0"/>
              <a:buChar char="•"/>
            </a:pPr>
            <a:r>
              <a:rPr lang="en-GB" dirty="0"/>
              <a:t>Read and summarise key arguments from academic articles in the reading list, particularly those in the seminar reading list or further reading.</a:t>
            </a:r>
          </a:p>
          <a:p>
            <a:pPr>
              <a:buFont typeface="Arial" panose="020B0604020202020204" pitchFamily="34" charset="0"/>
              <a:buChar char="•"/>
            </a:pPr>
            <a:r>
              <a:rPr lang="en-GB" dirty="0"/>
              <a:t>Consider case law critically. Make notes of case law which is confusing, contradictory or led to an unfair outcome. Some cases will have significant commentary i.e. R v Brown(1992) in Allen 10.7.2</a:t>
            </a:r>
          </a:p>
          <a:p>
            <a:pPr>
              <a:buFont typeface="Arial" panose="020B0604020202020204" pitchFamily="34" charset="0"/>
              <a:buChar char="•"/>
            </a:pPr>
            <a:r>
              <a:rPr lang="en-GB" dirty="0"/>
              <a:t>Are there proposals to reform the law? Make notes on the key proposals and whether there are any issues with them. Why have the proposals not yet been enacted? If reform has been made in recent years, is there evidence it is working?</a:t>
            </a:r>
          </a:p>
        </p:txBody>
      </p:sp>
    </p:spTree>
    <p:extLst>
      <p:ext uri="{BB962C8B-B14F-4D97-AF65-F5344CB8AC3E}">
        <p14:creationId xmlns:p14="http://schemas.microsoft.com/office/powerpoint/2010/main" val="2150385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7610ECE-B476-679C-0428-270421C7272E}"/>
              </a:ext>
            </a:extLst>
          </p:cNvPr>
          <p:cNvSpPr>
            <a:spLocks noGrp="1" noChangeArrowheads="1"/>
          </p:cNvSpPr>
          <p:nvPr>
            <p:ph type="title"/>
          </p:nvPr>
        </p:nvSpPr>
        <p:spPr/>
        <p:txBody>
          <a:bodyPr/>
          <a:lstStyle/>
          <a:p>
            <a:pPr eaLnBrk="1" hangingPunct="1"/>
            <a:r>
              <a:rPr lang="de-DE" altLang="en-US" dirty="0"/>
              <a:t>Problem Question </a:t>
            </a:r>
            <a:r>
              <a:rPr lang="de-DE" altLang="en-US" dirty="0" err="1"/>
              <a:t>Techniques</a:t>
            </a:r>
            <a:endParaRPr lang="en-GB" altLang="en-US" dirty="0"/>
          </a:p>
        </p:txBody>
      </p:sp>
      <p:sp>
        <p:nvSpPr>
          <p:cNvPr id="8195" name="Rectangle 3">
            <a:extLst>
              <a:ext uri="{FF2B5EF4-FFF2-40B4-BE49-F238E27FC236}">
                <a16:creationId xmlns:a16="http://schemas.microsoft.com/office/drawing/2014/main" id="{CE0BB785-E0FC-0B33-06F1-8B89B61965AB}"/>
              </a:ext>
            </a:extLst>
          </p:cNvPr>
          <p:cNvSpPr>
            <a:spLocks noGrp="1" noChangeArrowheads="1"/>
          </p:cNvSpPr>
          <p:nvPr>
            <p:ph idx="1"/>
          </p:nvPr>
        </p:nvSpPr>
        <p:spPr>
          <a:xfrm>
            <a:off x="714375" y="1628775"/>
            <a:ext cx="7772400" cy="4116388"/>
          </a:xfrm>
        </p:spPr>
        <p:txBody>
          <a:bodyPr/>
          <a:lstStyle/>
          <a:p>
            <a:pPr eaLnBrk="1" hangingPunct="1">
              <a:buFont typeface="Arial" panose="020B0604020202020204" pitchFamily="34" charset="0"/>
              <a:buChar char="•"/>
              <a:defRPr/>
            </a:pPr>
            <a:r>
              <a:rPr lang="en-GB" altLang="en-US" sz="2400" dirty="0"/>
              <a:t>Do not add </a:t>
            </a:r>
            <a:r>
              <a:rPr lang="en-GB" altLang="en-US" sz="2400" b="1" dirty="0"/>
              <a:t>introductions and conclusions </a:t>
            </a:r>
            <a:r>
              <a:rPr lang="en-GB" altLang="en-US" sz="2400" dirty="0"/>
              <a:t>to the essay – they are a waste of word count. Go straight	 to the offence examination.</a:t>
            </a:r>
          </a:p>
          <a:p>
            <a:pPr marL="0" indent="0" eaLnBrk="1" hangingPunct="1">
              <a:defRPr/>
            </a:pPr>
            <a:r>
              <a:rPr lang="en-GB" altLang="en-US" sz="2400" dirty="0"/>
              <a:t>	</a:t>
            </a:r>
          </a:p>
          <a:p>
            <a:pPr marL="457200" indent="-457200" eaLnBrk="1" hangingPunct="1">
              <a:buFont typeface="Arial" panose="020B0604020202020204" pitchFamily="34" charset="0"/>
              <a:buChar char="•"/>
              <a:defRPr/>
            </a:pPr>
            <a:r>
              <a:rPr lang="en-GB" altLang="en-US" sz="2400" dirty="0"/>
              <a:t>You </a:t>
            </a:r>
            <a:r>
              <a:rPr lang="en-GB" altLang="en-US" sz="2400" b="1" dirty="0"/>
              <a:t>CANNOT</a:t>
            </a:r>
            <a:r>
              <a:rPr lang="en-GB" altLang="en-US" sz="2400" dirty="0"/>
              <a:t> apply the discursive essay-writing technique you used in Sixth Form. </a:t>
            </a:r>
          </a:p>
          <a:p>
            <a:pPr marL="457200" indent="-457200" eaLnBrk="1" hangingPunct="1">
              <a:buFont typeface="Arial" panose="020B0604020202020204" pitchFamily="34" charset="0"/>
              <a:buChar char="•"/>
              <a:defRPr/>
            </a:pPr>
            <a:endParaRPr lang="de-DE" altLang="en-US" sz="2400" dirty="0"/>
          </a:p>
          <a:p>
            <a:pPr marL="457200" indent="-457200" eaLnBrk="1" hangingPunct="1">
              <a:buFont typeface="Arial" panose="020B0604020202020204" pitchFamily="34" charset="0"/>
              <a:buChar char="•"/>
              <a:defRPr/>
            </a:pPr>
            <a:r>
              <a:rPr lang="de-DE" altLang="en-US" sz="2400" dirty="0"/>
              <a:t>Nor </a:t>
            </a:r>
            <a:r>
              <a:rPr lang="de-DE" altLang="en-US" sz="2400" dirty="0" err="1"/>
              <a:t>is</a:t>
            </a:r>
            <a:r>
              <a:rPr lang="de-DE" altLang="en-US" sz="2400" dirty="0"/>
              <a:t> a </a:t>
            </a:r>
            <a:r>
              <a:rPr lang="de-DE" altLang="en-US" sz="2400" dirty="0" err="1"/>
              <a:t>problem</a:t>
            </a:r>
            <a:r>
              <a:rPr lang="de-DE" altLang="en-US" sz="2400" dirty="0"/>
              <a:t> </a:t>
            </a:r>
            <a:r>
              <a:rPr lang="de-DE" altLang="en-US" sz="2400" dirty="0" err="1"/>
              <a:t>question</a:t>
            </a:r>
            <a:r>
              <a:rPr lang="de-DE" altLang="en-US" sz="2400" dirty="0"/>
              <a:t> an </a:t>
            </a:r>
            <a:r>
              <a:rPr lang="de-DE" altLang="en-US" sz="2400" dirty="0" err="1"/>
              <a:t>essay</a:t>
            </a:r>
            <a:r>
              <a:rPr lang="de-DE" altLang="en-US" sz="2400" dirty="0"/>
              <a:t> </a:t>
            </a:r>
            <a:r>
              <a:rPr lang="de-DE" altLang="en-US" sz="2400" dirty="0" err="1"/>
              <a:t>about</a:t>
            </a:r>
            <a:r>
              <a:rPr lang="de-DE" altLang="en-US" sz="2400" dirty="0"/>
              <a:t> </a:t>
            </a:r>
            <a:r>
              <a:rPr lang="de-DE" altLang="en-US" sz="2400" dirty="0" err="1"/>
              <a:t>telling</a:t>
            </a:r>
            <a:r>
              <a:rPr lang="de-DE" altLang="en-US" sz="2400" dirty="0"/>
              <a:t> </a:t>
            </a:r>
            <a:r>
              <a:rPr lang="de-DE" altLang="en-US" sz="2400" dirty="0" err="1"/>
              <a:t>the</a:t>
            </a:r>
            <a:r>
              <a:rPr lang="de-DE" altLang="en-US" sz="2400" dirty="0"/>
              <a:t> </a:t>
            </a:r>
            <a:r>
              <a:rPr lang="de-DE" altLang="en-US" sz="2400" dirty="0" err="1"/>
              <a:t>reader</a:t>
            </a:r>
            <a:r>
              <a:rPr lang="de-DE" altLang="en-US" sz="2400" dirty="0"/>
              <a:t> </a:t>
            </a:r>
            <a:r>
              <a:rPr lang="de-DE" altLang="en-US" sz="2400" dirty="0" err="1"/>
              <a:t>the</a:t>
            </a:r>
            <a:r>
              <a:rPr lang="de-DE" altLang="en-US" sz="2400" dirty="0"/>
              <a:t> </a:t>
            </a:r>
            <a:r>
              <a:rPr lang="de-DE" altLang="en-US" sz="2400" dirty="0" err="1"/>
              <a:t>theory</a:t>
            </a:r>
            <a:r>
              <a:rPr lang="de-DE" altLang="en-US" sz="2400" dirty="0"/>
              <a:t> – </a:t>
            </a:r>
            <a:r>
              <a:rPr lang="de-DE" altLang="en-US" sz="2400" dirty="0" err="1"/>
              <a:t>it</a:t>
            </a:r>
            <a:r>
              <a:rPr lang="de-DE" altLang="en-US" sz="2400" dirty="0"/>
              <a:t> </a:t>
            </a:r>
            <a:r>
              <a:rPr lang="de-DE" altLang="en-US" sz="2400" dirty="0" err="1"/>
              <a:t>is</a:t>
            </a:r>
            <a:r>
              <a:rPr lang="de-DE" altLang="en-US" sz="2400" dirty="0"/>
              <a:t> </a:t>
            </a:r>
            <a:r>
              <a:rPr lang="de-DE" altLang="en-US" sz="2400" dirty="0" err="1"/>
              <a:t>about</a:t>
            </a:r>
            <a:r>
              <a:rPr lang="de-DE" altLang="en-US" sz="2400" dirty="0"/>
              <a:t> </a:t>
            </a:r>
            <a:r>
              <a:rPr lang="de-DE" altLang="en-US" sz="2400" b="1" dirty="0" err="1"/>
              <a:t>applying</a:t>
            </a:r>
            <a:r>
              <a:rPr lang="de-DE" altLang="en-US" sz="2400" b="1" dirty="0"/>
              <a:t> </a:t>
            </a:r>
            <a:r>
              <a:rPr lang="de-DE" altLang="en-US" sz="2400" b="1" dirty="0" err="1"/>
              <a:t>theory</a:t>
            </a:r>
            <a:r>
              <a:rPr lang="de-DE" altLang="en-US" sz="2400" b="1" dirty="0"/>
              <a:t> </a:t>
            </a:r>
            <a:r>
              <a:rPr lang="de-DE" altLang="en-US" sz="2400" b="1" dirty="0" err="1"/>
              <a:t>to</a:t>
            </a:r>
            <a:r>
              <a:rPr lang="de-DE" altLang="en-US" sz="2400" b="1" dirty="0"/>
              <a:t> </a:t>
            </a:r>
            <a:r>
              <a:rPr lang="de-DE" altLang="en-US" sz="2400" b="1" dirty="0" err="1"/>
              <a:t>practice</a:t>
            </a:r>
            <a:r>
              <a:rPr lang="de-DE" altLang="en-US" sz="2800" b="1" dirty="0"/>
              <a:t>.</a:t>
            </a:r>
            <a:endParaRPr lang="en-GB" altLang="en-US" sz="2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a:extLst>
              <a:ext uri="{FF2B5EF4-FFF2-40B4-BE49-F238E27FC236}">
                <a16:creationId xmlns:a16="http://schemas.microsoft.com/office/drawing/2014/main" id="{2E8554FE-87EE-7274-D9BA-78EB4BCC7F5C}"/>
              </a:ext>
            </a:extLst>
          </p:cNvPr>
          <p:cNvSpPr>
            <a:spLocks noGrp="1" noChangeArrowheads="1"/>
          </p:cNvSpPr>
          <p:nvPr>
            <p:ph type="title"/>
          </p:nvPr>
        </p:nvSpPr>
        <p:spPr/>
        <p:txBody>
          <a:bodyPr/>
          <a:lstStyle/>
          <a:p>
            <a:r>
              <a:rPr lang="de-DE" altLang="en-US"/>
              <a:t>Presentation tips</a:t>
            </a:r>
          </a:p>
        </p:txBody>
      </p:sp>
      <p:sp>
        <p:nvSpPr>
          <p:cNvPr id="10243" name="Inhaltsplatzhalter 2">
            <a:extLst>
              <a:ext uri="{FF2B5EF4-FFF2-40B4-BE49-F238E27FC236}">
                <a16:creationId xmlns:a16="http://schemas.microsoft.com/office/drawing/2014/main" id="{CE6ADAAE-F535-E926-5A91-D2BCB738D7CD}"/>
              </a:ext>
            </a:extLst>
          </p:cNvPr>
          <p:cNvSpPr>
            <a:spLocks noGrp="1" noChangeArrowheads="1"/>
          </p:cNvSpPr>
          <p:nvPr>
            <p:ph idx="1"/>
          </p:nvPr>
        </p:nvSpPr>
        <p:spPr>
          <a:xfrm>
            <a:off x="684213" y="1628775"/>
            <a:ext cx="7772400" cy="4321175"/>
          </a:xfrm>
        </p:spPr>
        <p:txBody>
          <a:bodyPr/>
          <a:lstStyle/>
          <a:p>
            <a:pPr>
              <a:buFontTx/>
              <a:buChar char="•"/>
            </a:pPr>
            <a:r>
              <a:rPr lang="de-DE" altLang="en-US" sz="2200"/>
              <a:t>Use academic language register.</a:t>
            </a:r>
          </a:p>
          <a:p>
            <a:pPr>
              <a:buFontTx/>
              <a:buChar char="•"/>
            </a:pPr>
            <a:r>
              <a:rPr lang="de-DE" altLang="en-US" sz="2200"/>
              <a:t>Try to avoid “I“ or “we“ style.</a:t>
            </a:r>
          </a:p>
          <a:p>
            <a:pPr>
              <a:buFontTx/>
              <a:buChar char="•"/>
            </a:pPr>
            <a:r>
              <a:rPr lang="de-DE" altLang="en-US" sz="2200"/>
              <a:t>Do not use colloquialisms.</a:t>
            </a:r>
          </a:p>
          <a:p>
            <a:pPr>
              <a:buFontTx/>
              <a:buChar char="•"/>
            </a:pPr>
            <a:r>
              <a:rPr lang="de-DE" altLang="en-US" sz="2200"/>
              <a:t>Do not use forms such as “isn‘t“, “should‘ve“ etc.</a:t>
            </a:r>
          </a:p>
          <a:p>
            <a:pPr>
              <a:buFontTx/>
              <a:buChar char="•"/>
            </a:pPr>
            <a:r>
              <a:rPr lang="de-DE" altLang="en-US" sz="2200"/>
              <a:t>Do not give us a mini intro to each offence examination.</a:t>
            </a:r>
          </a:p>
          <a:p>
            <a:pPr>
              <a:buFontTx/>
              <a:buChar char="•"/>
            </a:pPr>
            <a:r>
              <a:rPr lang="de-DE" altLang="en-US" sz="2200"/>
              <a:t>Do not say “the next issue is“ etc. all the time.</a:t>
            </a:r>
          </a:p>
          <a:p>
            <a:pPr>
              <a:buFontTx/>
              <a:buChar char="•"/>
            </a:pPr>
            <a:r>
              <a:rPr lang="de-DE" altLang="en-US" sz="2200"/>
              <a:t>Do not tell us that you need to establish both actus reus and mens rea for each offence.</a:t>
            </a:r>
          </a:p>
          <a:p>
            <a:pPr>
              <a:buFontTx/>
              <a:buChar char="•"/>
            </a:pPr>
            <a:r>
              <a:rPr lang="de-DE" altLang="en-US" sz="2200"/>
              <a:t>Do not hide behind the jury – make up your mind where you can and stick with it.</a:t>
            </a:r>
          </a:p>
          <a:p>
            <a:pPr>
              <a:buFontTx/>
              <a:buChar char="•"/>
            </a:pPr>
            <a:r>
              <a:rPr lang="de-DE" altLang="en-US" sz="2200"/>
              <a:t>Avoid words such as “likely“, “clearly“ etc.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313DF-4E12-8C8B-8999-543F48AB11B8}"/>
              </a:ext>
            </a:extLst>
          </p:cNvPr>
          <p:cNvSpPr>
            <a:spLocks noGrp="1"/>
          </p:cNvSpPr>
          <p:nvPr>
            <p:ph type="title"/>
          </p:nvPr>
        </p:nvSpPr>
        <p:spPr/>
        <p:txBody>
          <a:bodyPr/>
          <a:lstStyle/>
          <a:p>
            <a:r>
              <a:rPr lang="en-GB" dirty="0"/>
              <a:t>Identifying offences in a scenario</a:t>
            </a:r>
          </a:p>
        </p:txBody>
      </p:sp>
      <p:sp>
        <p:nvSpPr>
          <p:cNvPr id="6" name="Content Placeholder 5">
            <a:extLst>
              <a:ext uri="{FF2B5EF4-FFF2-40B4-BE49-F238E27FC236}">
                <a16:creationId xmlns:a16="http://schemas.microsoft.com/office/drawing/2014/main" id="{0BC11EC1-5109-7501-B88E-2DE30EBB4CCA}"/>
              </a:ext>
            </a:extLst>
          </p:cNvPr>
          <p:cNvSpPr>
            <a:spLocks noGrp="1"/>
          </p:cNvSpPr>
          <p:nvPr>
            <p:ph idx="1"/>
          </p:nvPr>
        </p:nvSpPr>
        <p:spPr/>
        <p:txBody>
          <a:bodyPr/>
          <a:lstStyle/>
          <a:p>
            <a:pPr>
              <a:buAutoNum type="arabicPeriod"/>
            </a:pPr>
            <a:r>
              <a:rPr lang="en-GB" dirty="0"/>
              <a:t>Read through and identify possible offences.</a:t>
            </a:r>
          </a:p>
          <a:p>
            <a:pPr lvl="1"/>
            <a:r>
              <a:rPr lang="en-GB" dirty="0"/>
              <a:t>You need to have a good grasp of how the offences are defined</a:t>
            </a:r>
          </a:p>
          <a:p>
            <a:pPr>
              <a:buAutoNum type="arabicPeriod"/>
            </a:pPr>
            <a:r>
              <a:rPr lang="en-GB" dirty="0"/>
              <a:t>Start by looking for the </a:t>
            </a:r>
            <a:r>
              <a:rPr lang="en-GB" b="1" dirty="0"/>
              <a:t>actus reus</a:t>
            </a:r>
          </a:p>
          <a:p>
            <a:pPr lvl="1"/>
            <a:r>
              <a:rPr lang="en-GB" dirty="0"/>
              <a:t>For NFOAP you are looking for </a:t>
            </a:r>
            <a:r>
              <a:rPr lang="en-GB" b="1" dirty="0"/>
              <a:t>harms</a:t>
            </a:r>
            <a:r>
              <a:rPr lang="en-GB" dirty="0"/>
              <a:t> caused to individuals by other parties; these are the actus reus elements of the offences</a:t>
            </a:r>
          </a:p>
          <a:p>
            <a:pPr lvl="1"/>
            <a:r>
              <a:rPr lang="en-GB" dirty="0"/>
              <a:t>Read through the scenario, </a:t>
            </a:r>
            <a:r>
              <a:rPr lang="en-GB" dirty="0">
                <a:highlight>
                  <a:srgbClr val="FFFF00"/>
                </a:highlight>
              </a:rPr>
              <a:t>highlighting</a:t>
            </a:r>
            <a:r>
              <a:rPr lang="en-GB" dirty="0"/>
              <a:t> or </a:t>
            </a:r>
            <a:r>
              <a:rPr lang="en-GB" u="sng" dirty="0"/>
              <a:t>underlining</a:t>
            </a:r>
            <a:r>
              <a:rPr lang="en-GB" dirty="0"/>
              <a:t> any activities that you think might constitute a harm from one of the offences</a:t>
            </a:r>
          </a:p>
          <a:p>
            <a:pPr>
              <a:buAutoNum type="arabicPeriod" startAt="3"/>
            </a:pPr>
            <a:r>
              <a:rPr lang="en-GB" dirty="0"/>
              <a:t>Make a note of the </a:t>
            </a:r>
            <a:r>
              <a:rPr lang="en-GB" b="1" dirty="0"/>
              <a:t>potential defendant </a:t>
            </a:r>
            <a:r>
              <a:rPr lang="en-GB" dirty="0"/>
              <a:t>and the </a:t>
            </a:r>
            <a:r>
              <a:rPr lang="en-GB" b="1" dirty="0"/>
              <a:t>potential victim</a:t>
            </a:r>
          </a:p>
          <a:p>
            <a:pPr>
              <a:buAutoNum type="arabicPeriod" startAt="3"/>
            </a:pPr>
            <a:r>
              <a:rPr lang="en-GB" dirty="0"/>
              <a:t>Identify other information that will help you address the </a:t>
            </a:r>
            <a:r>
              <a:rPr lang="en-GB" b="1" dirty="0" err="1"/>
              <a:t>mens</a:t>
            </a:r>
            <a:r>
              <a:rPr lang="en-GB" b="1" dirty="0"/>
              <a:t> rea </a:t>
            </a:r>
            <a:r>
              <a:rPr lang="en-GB" dirty="0"/>
              <a:t>elements of the offences</a:t>
            </a:r>
          </a:p>
          <a:p>
            <a:pPr>
              <a:buAutoNum type="arabicPeriod" startAt="3"/>
            </a:pPr>
            <a:r>
              <a:rPr lang="en-GB" dirty="0"/>
              <a:t>Look for any information that might suggest there is a </a:t>
            </a:r>
            <a:r>
              <a:rPr lang="en-GB" b="1" dirty="0"/>
              <a:t>defence</a:t>
            </a:r>
          </a:p>
          <a:p>
            <a:pPr lvl="1">
              <a:buAutoNum type="arabicPeriod"/>
            </a:pPr>
            <a:endParaRPr lang="en-GB" dirty="0"/>
          </a:p>
        </p:txBody>
      </p:sp>
    </p:spTree>
    <p:extLst>
      <p:ext uri="{BB962C8B-B14F-4D97-AF65-F5344CB8AC3E}">
        <p14:creationId xmlns:p14="http://schemas.microsoft.com/office/powerpoint/2010/main" val="2063541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BDE2-B952-B4C5-825B-C75E65913DB0}"/>
              </a:ext>
            </a:extLst>
          </p:cNvPr>
          <p:cNvSpPr>
            <a:spLocks noGrp="1"/>
          </p:cNvSpPr>
          <p:nvPr>
            <p:ph type="title"/>
          </p:nvPr>
        </p:nvSpPr>
        <p:spPr/>
        <p:txBody>
          <a:bodyPr/>
          <a:lstStyle/>
          <a:p>
            <a:r>
              <a:rPr lang="en-GB" dirty="0"/>
              <a:t>Theft Act 1968</a:t>
            </a:r>
          </a:p>
        </p:txBody>
      </p:sp>
      <p:sp>
        <p:nvSpPr>
          <p:cNvPr id="3" name="Content Placeholder 2">
            <a:extLst>
              <a:ext uri="{FF2B5EF4-FFF2-40B4-BE49-F238E27FC236}">
                <a16:creationId xmlns:a16="http://schemas.microsoft.com/office/drawing/2014/main" id="{F12C9C60-DF82-2D17-423C-9EB78209B205}"/>
              </a:ext>
            </a:extLst>
          </p:cNvPr>
          <p:cNvSpPr>
            <a:spLocks noGrp="1"/>
          </p:cNvSpPr>
          <p:nvPr>
            <p:ph idx="1"/>
          </p:nvPr>
        </p:nvSpPr>
        <p:spPr/>
        <p:txBody>
          <a:bodyPr anchor="ctr"/>
          <a:lstStyle/>
          <a:p>
            <a:pPr algn="l">
              <a:spcAft>
                <a:spcPts val="600"/>
              </a:spcAft>
              <a:buFont typeface="+mj-lt"/>
              <a:buAutoNum type="arabicPeriod"/>
            </a:pPr>
            <a:r>
              <a:rPr lang="en-GB" b="0" i="0" u="none" strike="noStrike" dirty="0">
                <a:solidFill>
                  <a:srgbClr val="424242"/>
                </a:solidFill>
                <a:effectLst/>
                <a:latin typeface="Segoe Sans"/>
              </a:rPr>
              <a:t>Appropriation: Assuming the rights of the owner over the property. This can occur even if the owner consents to the appropriation.</a:t>
            </a:r>
          </a:p>
          <a:p>
            <a:pPr algn="l">
              <a:spcAft>
                <a:spcPts val="600"/>
              </a:spcAft>
              <a:buFont typeface="+mj-lt"/>
              <a:buAutoNum type="arabicPeriod"/>
            </a:pPr>
            <a:r>
              <a:rPr lang="en-GB" b="0" i="0" u="none" strike="noStrike" dirty="0">
                <a:solidFill>
                  <a:srgbClr val="424242"/>
                </a:solidFill>
                <a:effectLst/>
                <a:latin typeface="Segoe Sans"/>
              </a:rPr>
              <a:t>Property: Includes money, real property, personal property, things in action, and other intangible property.</a:t>
            </a:r>
          </a:p>
          <a:p>
            <a:pPr algn="l">
              <a:spcAft>
                <a:spcPts val="600"/>
              </a:spcAft>
              <a:buFont typeface="+mj-lt"/>
              <a:buAutoNum type="arabicPeriod"/>
            </a:pPr>
            <a:r>
              <a:rPr lang="en-GB" b="0" i="0" u="none" strike="noStrike" dirty="0">
                <a:solidFill>
                  <a:srgbClr val="424242"/>
                </a:solidFill>
                <a:effectLst/>
                <a:latin typeface="Segoe Sans"/>
              </a:rPr>
              <a:t>Belonging to Another: The property must belong to someone other than the accused.</a:t>
            </a:r>
          </a:p>
          <a:p>
            <a:pPr algn="l">
              <a:spcAft>
                <a:spcPts val="600"/>
              </a:spcAft>
              <a:buFont typeface="+mj-lt"/>
              <a:buAutoNum type="arabicPeriod"/>
            </a:pPr>
            <a:r>
              <a:rPr lang="en-GB" b="0" i="0" u="none" strike="noStrike" dirty="0">
                <a:solidFill>
                  <a:srgbClr val="424242"/>
                </a:solidFill>
                <a:effectLst/>
                <a:latin typeface="Segoe Sans"/>
              </a:rPr>
              <a:t>Dishonesty: The appropriation must be done dishonestly. The Ivey test is used to determine dishonesty, involving both subjective and objective elements.</a:t>
            </a:r>
          </a:p>
          <a:p>
            <a:pPr algn="l">
              <a:spcAft>
                <a:spcPts val="600"/>
              </a:spcAft>
              <a:buFont typeface="+mj-lt"/>
              <a:buAutoNum type="arabicPeriod"/>
            </a:pPr>
            <a:r>
              <a:rPr lang="en-GB" b="0" i="0" u="none" strike="noStrike" dirty="0">
                <a:solidFill>
                  <a:srgbClr val="424242"/>
                </a:solidFill>
                <a:effectLst/>
                <a:latin typeface="Segoe Sans"/>
              </a:rPr>
              <a:t>Intention to Permanently Deprive: The accused must intend to permanently deprive the owner of the property.</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17195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27F2534-999B-1E6B-7A3D-C291D94A5932}"/>
              </a:ext>
            </a:extLst>
          </p:cNvPr>
          <p:cNvSpPr>
            <a:spLocks noGrp="1" noChangeArrowheads="1"/>
          </p:cNvSpPr>
          <p:nvPr>
            <p:ph type="title"/>
          </p:nvPr>
        </p:nvSpPr>
        <p:spPr/>
        <p:txBody>
          <a:bodyPr/>
          <a:lstStyle/>
          <a:p>
            <a:r>
              <a:rPr lang="en-GB" altLang="en-US" dirty="0"/>
              <a:t>Theft</a:t>
            </a:r>
          </a:p>
        </p:txBody>
      </p:sp>
      <p:sp>
        <p:nvSpPr>
          <p:cNvPr id="8195" name="Text Placeholder 3">
            <a:extLst>
              <a:ext uri="{FF2B5EF4-FFF2-40B4-BE49-F238E27FC236}">
                <a16:creationId xmlns:a16="http://schemas.microsoft.com/office/drawing/2014/main" id="{964F4A3A-DC47-6A0B-B13B-C06DAC3AFA41}"/>
              </a:ext>
            </a:extLst>
          </p:cNvPr>
          <p:cNvSpPr>
            <a:spLocks noGrp="1" noChangeArrowheads="1"/>
          </p:cNvSpPr>
          <p:nvPr>
            <p:ph type="body" idx="1"/>
          </p:nvPr>
        </p:nvSpPr>
        <p:spPr/>
        <p:txBody>
          <a:bodyPr anchor="t"/>
          <a:lstStyle/>
          <a:p>
            <a:r>
              <a:rPr lang="en-GB" altLang="en-US" dirty="0"/>
              <a:t>Definition</a:t>
            </a:r>
          </a:p>
        </p:txBody>
      </p:sp>
      <p:sp>
        <p:nvSpPr>
          <p:cNvPr id="8196" name="Content Placeholder 4">
            <a:extLst>
              <a:ext uri="{FF2B5EF4-FFF2-40B4-BE49-F238E27FC236}">
                <a16:creationId xmlns:a16="http://schemas.microsoft.com/office/drawing/2014/main" id="{1F0DA4C8-06CD-E752-5543-482FDE6F9630}"/>
              </a:ext>
            </a:extLst>
          </p:cNvPr>
          <p:cNvSpPr>
            <a:spLocks noGrp="1" noChangeArrowheads="1"/>
          </p:cNvSpPr>
          <p:nvPr>
            <p:ph sz="half" idx="2"/>
          </p:nvPr>
        </p:nvSpPr>
        <p:spPr>
          <a:xfrm>
            <a:off x="457200" y="2174875"/>
            <a:ext cx="3322638" cy="3951288"/>
          </a:xfrm>
        </p:spPr>
        <p:txBody>
          <a:bodyPr/>
          <a:lstStyle/>
          <a:p>
            <a:pPr marL="0" indent="0"/>
            <a:r>
              <a:rPr lang="en-GB" sz="2000" b="0" i="0" u="none" strike="noStrike" dirty="0">
                <a:solidFill>
                  <a:srgbClr val="424242"/>
                </a:solidFill>
                <a:effectLst/>
                <a:latin typeface="Segoe Sans"/>
              </a:rPr>
              <a:t>The offence of theft is defined under Section 1(1) of the Theft Act 1968. A person is guilty of theft if they dishonestly appropriate property belonging to another with the intention of permanently depriving the other of it </a:t>
            </a:r>
            <a:endParaRPr lang="en-GB" altLang="en-US" dirty="0"/>
          </a:p>
        </p:txBody>
      </p:sp>
      <p:sp>
        <p:nvSpPr>
          <p:cNvPr id="8197" name="Text Placeholder 5">
            <a:extLst>
              <a:ext uri="{FF2B5EF4-FFF2-40B4-BE49-F238E27FC236}">
                <a16:creationId xmlns:a16="http://schemas.microsoft.com/office/drawing/2014/main" id="{85241CCC-F8FB-3BA7-0317-ECA6AD1B7573}"/>
              </a:ext>
            </a:extLst>
          </p:cNvPr>
          <p:cNvSpPr>
            <a:spLocks noGrp="1" noChangeArrowheads="1"/>
          </p:cNvSpPr>
          <p:nvPr>
            <p:ph type="body" sz="quarter" idx="3"/>
          </p:nvPr>
        </p:nvSpPr>
        <p:spPr>
          <a:xfrm>
            <a:off x="3924300" y="476673"/>
            <a:ext cx="4762500" cy="720080"/>
          </a:xfrm>
        </p:spPr>
        <p:txBody>
          <a:bodyPr anchor="t"/>
          <a:lstStyle/>
          <a:p>
            <a:r>
              <a:rPr lang="en-GB" altLang="en-US" dirty="0"/>
              <a:t>Key AR and MR elements</a:t>
            </a:r>
          </a:p>
        </p:txBody>
      </p:sp>
      <p:graphicFrame>
        <p:nvGraphicFramePr>
          <p:cNvPr id="9" name="Table 9">
            <a:extLst>
              <a:ext uri="{FF2B5EF4-FFF2-40B4-BE49-F238E27FC236}">
                <a16:creationId xmlns:a16="http://schemas.microsoft.com/office/drawing/2014/main" id="{6D8D897E-F589-88F0-6348-237C2D97D00F}"/>
              </a:ext>
            </a:extLst>
          </p:cNvPr>
          <p:cNvGraphicFramePr>
            <a:graphicFrameLocks noGrp="1"/>
          </p:cNvGraphicFramePr>
          <p:nvPr>
            <p:ph sz="quarter" idx="4"/>
            <p:extLst>
              <p:ext uri="{D42A27DB-BD31-4B8C-83A1-F6EECF244321}">
                <p14:modId xmlns:p14="http://schemas.microsoft.com/office/powerpoint/2010/main" val="1887817939"/>
              </p:ext>
            </p:extLst>
          </p:nvPr>
        </p:nvGraphicFramePr>
        <p:xfrm>
          <a:off x="3924300" y="1196754"/>
          <a:ext cx="4762500" cy="5476632"/>
        </p:xfrm>
        <a:graphic>
          <a:graphicData uri="http://schemas.openxmlformats.org/drawingml/2006/table">
            <a:tbl>
              <a:tblPr firstRow="1" bandRow="1">
                <a:tableStyleId>{5C22544A-7EE6-4342-B048-85BDC9FD1C3A}</a:tableStyleId>
              </a:tblPr>
              <a:tblGrid>
                <a:gridCol w="2381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828432">
                <a:tc>
                  <a:txBody>
                    <a:bodyPr/>
                    <a:lstStyle/>
                    <a:p>
                      <a:r>
                        <a:rPr lang="en-GB" dirty="0"/>
                        <a:t>Actus Reus</a:t>
                      </a:r>
                    </a:p>
                  </a:txBody>
                  <a:tcPr marL="91433" marR="91433"/>
                </a:tc>
                <a:tc>
                  <a:txBody>
                    <a:bodyPr/>
                    <a:lstStyle/>
                    <a:p>
                      <a:r>
                        <a:rPr lang="en-GB" dirty="0" err="1"/>
                        <a:t>Mens</a:t>
                      </a:r>
                      <a:r>
                        <a:rPr lang="en-GB" dirty="0"/>
                        <a:t> Rea</a:t>
                      </a:r>
                    </a:p>
                  </a:txBody>
                  <a:tcPr marL="91433" marR="91433"/>
                </a:tc>
                <a:extLst>
                  <a:ext uri="{0D108BD9-81ED-4DB2-BD59-A6C34878D82A}">
                    <a16:rowId xmlns:a16="http://schemas.microsoft.com/office/drawing/2014/main" val="10000"/>
                  </a:ext>
                </a:extLst>
              </a:tr>
              <a:tr h="4356142">
                <a:tc>
                  <a:txBody>
                    <a:bodyPr/>
                    <a:lstStyle/>
                    <a:p>
                      <a:pPr marL="285750" indent="-285750">
                        <a:buFont typeface="Arial" panose="020B0604020202020204" pitchFamily="34" charset="0"/>
                        <a:buChar char="•"/>
                      </a:pPr>
                      <a:r>
                        <a:rPr lang="en-GB" sz="1400" b="0" i="0" u="none" strike="noStrike" kern="1200" dirty="0">
                          <a:solidFill>
                            <a:schemeClr val="dk1"/>
                          </a:solidFill>
                          <a:effectLst/>
                          <a:latin typeface="+mn-lt"/>
                          <a:ea typeface="+mn-ea"/>
                          <a:cs typeface="+mn-cs"/>
                        </a:rPr>
                        <a:t>Appropriation:</a:t>
                      </a:r>
                    </a:p>
                    <a:p>
                      <a:r>
                        <a:rPr lang="en-GB" sz="1400" b="0" i="0" u="none" strike="noStrike" kern="1200" dirty="0">
                          <a:solidFill>
                            <a:schemeClr val="dk1"/>
                          </a:solidFill>
                          <a:effectLst/>
                          <a:latin typeface="+mn-lt"/>
                          <a:ea typeface="+mn-ea"/>
                          <a:cs typeface="+mn-cs"/>
                        </a:rPr>
                        <a:t>"any assumption by a person of the rights of an owner.”</a:t>
                      </a:r>
                    </a:p>
                    <a:p>
                      <a:endParaRPr lang="en-GB" sz="1400" b="0" i="0" u="none" strike="noStrike" kern="1200" dirty="0">
                        <a:solidFill>
                          <a:schemeClr val="dk1"/>
                        </a:solidFill>
                        <a:effectLst/>
                        <a:latin typeface="+mn-lt"/>
                        <a:ea typeface="+mn-ea"/>
                        <a:cs typeface="+mn-cs"/>
                      </a:endParaRPr>
                    </a:p>
                    <a:p>
                      <a:pPr marL="285750" indent="-285750">
                        <a:buFont typeface="Arial" panose="020B0604020202020204" pitchFamily="34" charset="0"/>
                        <a:buChar char="•"/>
                      </a:pPr>
                      <a:r>
                        <a:rPr lang="en-GB" sz="1400" b="0" i="0" u="none" strike="noStrike" kern="1200" dirty="0">
                          <a:solidFill>
                            <a:schemeClr val="dk1"/>
                          </a:solidFill>
                          <a:effectLst/>
                          <a:latin typeface="+mn-lt"/>
                          <a:ea typeface="+mn-ea"/>
                          <a:cs typeface="+mn-cs"/>
                        </a:rPr>
                        <a:t>Property: money, real property, personal property, things in action, and other intangible property</a:t>
                      </a:r>
                    </a:p>
                    <a:p>
                      <a:endParaRPr lang="en-GB" sz="1400" b="0" i="0" u="none" strike="noStrike" kern="1200" dirty="0">
                        <a:solidFill>
                          <a:schemeClr val="dk1"/>
                        </a:solidFill>
                        <a:effectLst/>
                        <a:latin typeface="+mn-lt"/>
                        <a:ea typeface="+mn-ea"/>
                        <a:cs typeface="+mn-cs"/>
                      </a:endParaRPr>
                    </a:p>
                    <a:p>
                      <a:pPr marL="285750" indent="-285750">
                        <a:buFont typeface="Arial" panose="020B0604020202020204" pitchFamily="34" charset="0"/>
                        <a:buChar char="•"/>
                      </a:pPr>
                      <a:r>
                        <a:rPr lang="en-GB" sz="1400" b="0" i="0" u="none" strike="noStrike" kern="1200" dirty="0">
                          <a:solidFill>
                            <a:schemeClr val="dk1"/>
                          </a:solidFill>
                          <a:effectLst/>
                          <a:latin typeface="+mn-lt"/>
                          <a:ea typeface="+mn-ea"/>
                          <a:cs typeface="+mn-cs"/>
                        </a:rPr>
                        <a:t>Belonging to Another: belonging to any person having possession or control of it, or having any proprietary right or interest</a:t>
                      </a:r>
                    </a:p>
                    <a:p>
                      <a:pPr marL="285750" indent="-285750">
                        <a:buFont typeface="Arial" panose="020B0604020202020204" pitchFamily="34" charset="0"/>
                        <a:buChar char="•"/>
                      </a:pPr>
                      <a:endParaRPr lang="en-GB" sz="1400" b="0" i="0" u="none" strike="noStrike" kern="1200" dirty="0">
                        <a:solidFill>
                          <a:schemeClr val="dk1"/>
                        </a:solidFill>
                        <a:effectLst/>
                        <a:latin typeface="+mn-lt"/>
                        <a:ea typeface="+mn-ea"/>
                        <a:cs typeface="+mn-cs"/>
                      </a:endParaRPr>
                    </a:p>
                    <a:p>
                      <a:endParaRPr lang="en-GB" sz="1400" b="0" i="0" u="none" strike="noStrike" kern="1200" dirty="0">
                        <a:solidFill>
                          <a:schemeClr val="dk1"/>
                        </a:solidFill>
                        <a:effectLst/>
                        <a:latin typeface="+mn-lt"/>
                        <a:ea typeface="+mn-ea"/>
                        <a:cs typeface="+mn-cs"/>
                      </a:endParaRPr>
                    </a:p>
                    <a:p>
                      <a:pPr marL="285750" indent="-285750">
                        <a:buFont typeface="Arial" panose="020B0604020202020204" pitchFamily="34" charset="0"/>
                        <a:buChar char="•"/>
                      </a:pPr>
                      <a:endParaRPr lang="en-GB" sz="1400" dirty="0"/>
                    </a:p>
                  </a:txBody>
                  <a:tcPr marL="91433" marR="91433"/>
                </a:tc>
                <a:tc>
                  <a:txBody>
                    <a:bodyPr/>
                    <a:lstStyle/>
                    <a:p>
                      <a:r>
                        <a:rPr lang="en-GB" sz="1100" b="0" i="0" u="none" strike="noStrike" kern="1200" dirty="0">
                          <a:solidFill>
                            <a:schemeClr val="dk1"/>
                          </a:solidFill>
                          <a:effectLst/>
                          <a:latin typeface="+mn-lt"/>
                          <a:ea typeface="+mn-ea"/>
                          <a:cs typeface="+mn-cs"/>
                        </a:rPr>
                        <a:t>Dishonesty:</a:t>
                      </a:r>
                    </a:p>
                    <a:p>
                      <a:pPr lvl="1"/>
                      <a:r>
                        <a:rPr lang="en-GB" sz="1100" b="0" i="0" u="none" strike="noStrike" kern="1200" dirty="0">
                          <a:solidFill>
                            <a:schemeClr val="dk1"/>
                          </a:solidFill>
                          <a:effectLst/>
                          <a:latin typeface="+mn-lt"/>
                          <a:ea typeface="+mn-ea"/>
                          <a:cs typeface="+mn-cs"/>
                        </a:rPr>
                        <a:t>Defined in Section 2 of the Theft Act 1968.</a:t>
                      </a:r>
                    </a:p>
                    <a:p>
                      <a:pPr lvl="1"/>
                      <a:endParaRPr lang="en-GB" sz="1100" b="0" i="0" u="none" strike="noStrike" kern="1200" dirty="0">
                        <a:solidFill>
                          <a:schemeClr val="dk1"/>
                        </a:solidFill>
                        <a:effectLst/>
                        <a:latin typeface="+mn-lt"/>
                        <a:ea typeface="+mn-ea"/>
                        <a:cs typeface="+mn-cs"/>
                      </a:endParaRPr>
                    </a:p>
                    <a:p>
                      <a:pPr lvl="1"/>
                      <a:r>
                        <a:rPr lang="en-GB" sz="1100" b="0" i="0" u="none" strike="noStrike" kern="1200" dirty="0">
                          <a:solidFill>
                            <a:schemeClr val="dk1"/>
                          </a:solidFill>
                          <a:effectLst/>
                          <a:latin typeface="+mn-lt"/>
                          <a:ea typeface="+mn-ea"/>
                          <a:cs typeface="+mn-cs"/>
                        </a:rPr>
                        <a:t>The Ivey Test is used to determine dishonesty:</a:t>
                      </a:r>
                    </a:p>
                    <a:p>
                      <a:pPr lvl="1"/>
                      <a:endParaRPr lang="en-GB" sz="1100" b="0" i="0" u="none" strike="noStrike" kern="1200" dirty="0">
                        <a:solidFill>
                          <a:schemeClr val="dk1"/>
                        </a:solidFill>
                        <a:effectLst/>
                        <a:latin typeface="+mn-lt"/>
                        <a:ea typeface="+mn-ea"/>
                        <a:cs typeface="+mn-cs"/>
                      </a:endParaRPr>
                    </a:p>
                    <a:p>
                      <a:pPr lvl="1"/>
                      <a:r>
                        <a:rPr lang="en-GB" sz="1100" b="0" i="0" u="none" strike="noStrike" kern="1200" dirty="0">
                          <a:solidFill>
                            <a:schemeClr val="dk1"/>
                          </a:solidFill>
                          <a:effectLst/>
                          <a:latin typeface="+mn-lt"/>
                          <a:ea typeface="+mn-ea"/>
                          <a:cs typeface="+mn-cs"/>
                        </a:rPr>
                        <a:t>Subjective Test: What was the defendant's actual state of knowledge or belief as to the facts?</a:t>
                      </a:r>
                    </a:p>
                    <a:p>
                      <a:pPr lvl="1"/>
                      <a:endParaRPr lang="en-GB" sz="1100" b="0" i="0" u="none" strike="noStrike" kern="1200" dirty="0">
                        <a:solidFill>
                          <a:schemeClr val="dk1"/>
                        </a:solidFill>
                        <a:effectLst/>
                        <a:latin typeface="+mn-lt"/>
                        <a:ea typeface="+mn-ea"/>
                        <a:cs typeface="+mn-cs"/>
                      </a:endParaRPr>
                    </a:p>
                    <a:p>
                      <a:pPr lvl="1"/>
                      <a:r>
                        <a:rPr lang="en-GB" sz="1100" b="0" i="0" u="none" strike="noStrike" kern="1200" dirty="0">
                          <a:solidFill>
                            <a:schemeClr val="dk1"/>
                          </a:solidFill>
                          <a:effectLst/>
                          <a:latin typeface="+mn-lt"/>
                          <a:ea typeface="+mn-ea"/>
                          <a:cs typeface="+mn-cs"/>
                        </a:rPr>
                        <a:t>Objective Test: Was the defendant's conduct dishonest by the standards of ordinary decent people? </a:t>
                      </a:r>
                    </a:p>
                    <a:p>
                      <a:pPr lvl="1"/>
                      <a:endParaRPr lang="en-GB" sz="1100" b="0" i="0" u="none" strike="noStrike" kern="1200" dirty="0">
                        <a:solidFill>
                          <a:schemeClr val="dk1"/>
                        </a:solidFill>
                        <a:effectLst/>
                        <a:latin typeface="+mn-lt"/>
                        <a:ea typeface="+mn-ea"/>
                        <a:cs typeface="+mn-cs"/>
                      </a:endParaRPr>
                    </a:p>
                    <a:p>
                      <a:r>
                        <a:rPr lang="en-GB" sz="1100" b="0" i="0" u="none" strike="noStrike" kern="1200" dirty="0">
                          <a:solidFill>
                            <a:schemeClr val="dk1"/>
                          </a:solidFill>
                          <a:effectLst/>
                          <a:latin typeface="+mn-lt"/>
                          <a:ea typeface="+mn-ea"/>
                          <a:cs typeface="+mn-cs"/>
                        </a:rPr>
                        <a:t>Intention to Permanently Deprive:</a:t>
                      </a:r>
                    </a:p>
                    <a:p>
                      <a:pPr lvl="1"/>
                      <a:r>
                        <a:rPr lang="en-GB" sz="1100" b="0" i="0" u="none" strike="noStrike" kern="1200" dirty="0">
                          <a:solidFill>
                            <a:schemeClr val="dk1"/>
                          </a:solidFill>
                          <a:effectLst/>
                          <a:latin typeface="+mn-lt"/>
                          <a:ea typeface="+mn-ea"/>
                          <a:cs typeface="+mn-cs"/>
                        </a:rPr>
                        <a:t>Defined in Section 6 of the Theft Act 1968. This means the defendant must intend to treat the property as their own to dispose of regardless of the owner's rights </a:t>
                      </a:r>
                    </a:p>
                    <a:p>
                      <a:pPr marL="285750" indent="-285750">
                        <a:buFont typeface="Arial" panose="020B0604020202020204" pitchFamily="34" charset="0"/>
                        <a:buChar char="•"/>
                      </a:pPr>
                      <a:endParaRPr lang="en-GB" sz="2400" dirty="0"/>
                    </a:p>
                  </a:txBody>
                  <a:tcPr marL="91433" marR="91433"/>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3049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9EC98B-253D-CED2-B39D-BCC24579009D}"/>
              </a:ext>
            </a:extLst>
          </p:cNvPr>
          <p:cNvSpPr>
            <a:spLocks noGrp="1"/>
          </p:cNvSpPr>
          <p:nvPr>
            <p:ph type="title"/>
          </p:nvPr>
        </p:nvSpPr>
        <p:spPr>
          <a:xfrm>
            <a:off x="685800" y="188640"/>
            <a:ext cx="7772400" cy="936104"/>
          </a:xfrm>
        </p:spPr>
        <p:txBody>
          <a:bodyPr/>
          <a:lstStyle/>
          <a:p>
            <a:r>
              <a:rPr lang="en-GB" dirty="0"/>
              <a:t>Example (i): Theft?</a:t>
            </a:r>
          </a:p>
        </p:txBody>
      </p:sp>
      <p:sp>
        <p:nvSpPr>
          <p:cNvPr id="8" name="Content Placeholder 7">
            <a:extLst>
              <a:ext uri="{FF2B5EF4-FFF2-40B4-BE49-F238E27FC236}">
                <a16:creationId xmlns:a16="http://schemas.microsoft.com/office/drawing/2014/main" id="{9010BF3D-8A03-5DCA-E3C6-C64E1CD80DCB}"/>
              </a:ext>
            </a:extLst>
          </p:cNvPr>
          <p:cNvSpPr>
            <a:spLocks noGrp="1"/>
          </p:cNvSpPr>
          <p:nvPr>
            <p:ph idx="1"/>
          </p:nvPr>
        </p:nvSpPr>
        <p:spPr>
          <a:xfrm>
            <a:off x="699556" y="1037777"/>
            <a:ext cx="7772400" cy="1224136"/>
          </a:xfrm>
        </p:spPr>
        <p:txBody>
          <a:bodyPr/>
          <a:lstStyle/>
          <a:p>
            <a:pPr marL="0" lvl="0" indent="0" algn="just">
              <a:spcBef>
                <a:spcPts val="0"/>
              </a:spcBef>
              <a:spcAft>
                <a:spcPts val="200"/>
              </a:spcAft>
            </a:pPr>
            <a:r>
              <a:rPr lang="en-GB" b="0" i="0" u="none" strike="noStrike" dirty="0">
                <a:solidFill>
                  <a:srgbClr val="424242"/>
                </a:solidFill>
                <a:effectLst/>
                <a:latin typeface="Segoe Sans"/>
              </a:rPr>
              <a:t>Alice works at a local electronics store. One day, she notices a high-end smartphone on display and decides to take it home without paying for it. She plans to use the phone for a few weeks and then return it to the store, believing that no one will notice its absence. Alice takes the phone and hides it in her bag, leaving the store without informing anyone.</a:t>
            </a:r>
            <a:endParaRPr lang="en-US" b="1" dirty="0"/>
          </a:p>
          <a:p>
            <a:pPr marL="0" lvl="0" indent="0" algn="just">
              <a:spcBef>
                <a:spcPts val="0"/>
              </a:spcBef>
              <a:spcAft>
                <a:spcPts val="200"/>
              </a:spcAft>
            </a:pPr>
            <a:endParaRPr lang="en-GB" b="1" dirty="0"/>
          </a:p>
          <a:p>
            <a:endParaRPr lang="en-GB" dirty="0"/>
          </a:p>
        </p:txBody>
      </p:sp>
      <p:graphicFrame>
        <p:nvGraphicFramePr>
          <p:cNvPr id="9" name="Table 9">
            <a:extLst>
              <a:ext uri="{FF2B5EF4-FFF2-40B4-BE49-F238E27FC236}">
                <a16:creationId xmlns:a16="http://schemas.microsoft.com/office/drawing/2014/main" id="{94F40807-DCFC-C63B-D34B-FF8961CEA004}"/>
              </a:ext>
            </a:extLst>
          </p:cNvPr>
          <p:cNvGraphicFramePr>
            <a:graphicFrameLocks noGrp="1"/>
          </p:cNvGraphicFramePr>
          <p:nvPr>
            <p:extLst>
              <p:ext uri="{D42A27DB-BD31-4B8C-83A1-F6EECF244321}">
                <p14:modId xmlns:p14="http://schemas.microsoft.com/office/powerpoint/2010/main" val="1702655014"/>
              </p:ext>
            </p:extLst>
          </p:nvPr>
        </p:nvGraphicFramePr>
        <p:xfrm>
          <a:off x="684213" y="2497976"/>
          <a:ext cx="7772400" cy="3110200"/>
        </p:xfrm>
        <a:graphic>
          <a:graphicData uri="http://schemas.openxmlformats.org/drawingml/2006/table">
            <a:tbl>
              <a:tblPr firstRow="1" bandRow="1">
                <a:tableStyleId>{5C22544A-7EE6-4342-B048-85BDC9FD1C3A}</a:tableStyleId>
              </a:tblPr>
              <a:tblGrid>
                <a:gridCol w="2735659">
                  <a:extLst>
                    <a:ext uri="{9D8B030D-6E8A-4147-A177-3AD203B41FA5}">
                      <a16:colId xmlns:a16="http://schemas.microsoft.com/office/drawing/2014/main" val="2976197809"/>
                    </a:ext>
                  </a:extLst>
                </a:gridCol>
                <a:gridCol w="5036741">
                  <a:extLst>
                    <a:ext uri="{9D8B030D-6E8A-4147-A177-3AD203B41FA5}">
                      <a16:colId xmlns:a16="http://schemas.microsoft.com/office/drawing/2014/main" val="3984887298"/>
                    </a:ext>
                  </a:extLst>
                </a:gridCol>
              </a:tblGrid>
              <a:tr h="346616">
                <a:tc>
                  <a:txBody>
                    <a:bodyPr/>
                    <a:lstStyle/>
                    <a:p>
                      <a:pPr algn="l"/>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3268615685"/>
                  </a:ext>
                </a:extLst>
              </a:tr>
              <a:tr h="2744440">
                <a:tc>
                  <a:txBody>
                    <a:bodyPr/>
                    <a:lstStyle/>
                    <a:p>
                      <a:pPr marL="342900" lvl="0" indent="-342900" algn="l">
                        <a:spcBef>
                          <a:spcPts val="0"/>
                        </a:spcBef>
                        <a:spcAft>
                          <a:spcPts val="200"/>
                        </a:spcAft>
                        <a:buFont typeface="Symbol" panose="05050102010706020507" pitchFamily="18" charset="2"/>
                        <a:buChar char=""/>
                      </a:pPr>
                      <a:r>
                        <a:rPr lang="en-GB" dirty="0"/>
                        <a:t>Appropriation</a:t>
                      </a:r>
                    </a:p>
                    <a:p>
                      <a:pPr marL="342900" lvl="0" indent="-342900" algn="l">
                        <a:spcBef>
                          <a:spcPts val="0"/>
                        </a:spcBef>
                        <a:spcAft>
                          <a:spcPts val="200"/>
                        </a:spcAft>
                        <a:buFont typeface="Symbol" panose="05050102010706020507" pitchFamily="18" charset="2"/>
                        <a:buChar char=""/>
                      </a:pPr>
                      <a:r>
                        <a:rPr lang="en-GB" dirty="0"/>
                        <a:t>Property</a:t>
                      </a:r>
                    </a:p>
                    <a:p>
                      <a:pPr marL="342900" lvl="0" indent="-342900" algn="l">
                        <a:spcBef>
                          <a:spcPts val="0"/>
                        </a:spcBef>
                        <a:spcAft>
                          <a:spcPts val="200"/>
                        </a:spcAft>
                        <a:buFont typeface="Symbol" panose="05050102010706020507" pitchFamily="18" charset="2"/>
                        <a:buChar char=""/>
                      </a:pPr>
                      <a:r>
                        <a:rPr lang="en-GB" dirty="0"/>
                        <a:t>Belonging to Another</a:t>
                      </a:r>
                    </a:p>
                  </a:txBody>
                  <a:tcPr/>
                </a:tc>
                <a:tc>
                  <a:txBody>
                    <a:bodyPr/>
                    <a:lstStyle/>
                    <a:p>
                      <a:pPr marL="285750" indent="-285750">
                        <a:buFont typeface="Arial" panose="020B0604020202020204" pitchFamily="34" charset="0"/>
                        <a:buChar char="•"/>
                      </a:pPr>
                      <a:r>
                        <a:rPr lang="en-GB" dirty="0"/>
                        <a:t>Dishonesty</a:t>
                      </a:r>
                    </a:p>
                    <a:p>
                      <a:pPr marL="285750" indent="-285750">
                        <a:buFont typeface="Arial" panose="020B0604020202020204" pitchFamily="34" charset="0"/>
                        <a:buChar char="•"/>
                      </a:pPr>
                      <a:r>
                        <a:rPr lang="en-GB" i="0" dirty="0"/>
                        <a:t>Intention to Permanently deprive</a:t>
                      </a:r>
                    </a:p>
                  </a:txBody>
                  <a:tcPr/>
                </a:tc>
                <a:extLst>
                  <a:ext uri="{0D108BD9-81ED-4DB2-BD59-A6C34878D82A}">
                    <a16:rowId xmlns:a16="http://schemas.microsoft.com/office/drawing/2014/main" val="404487954"/>
                  </a:ext>
                </a:extLst>
              </a:tr>
            </a:tbl>
          </a:graphicData>
        </a:graphic>
      </p:graphicFrame>
    </p:spTree>
    <p:extLst>
      <p:ext uri="{BB962C8B-B14F-4D97-AF65-F5344CB8AC3E}">
        <p14:creationId xmlns:p14="http://schemas.microsoft.com/office/powerpoint/2010/main" val="4033099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A6B88-5E3C-C199-A774-57505821244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E3634F9-0F7E-6AF1-8EBE-47E093504306}"/>
              </a:ext>
            </a:extLst>
          </p:cNvPr>
          <p:cNvSpPr>
            <a:spLocks noGrp="1"/>
          </p:cNvSpPr>
          <p:nvPr>
            <p:ph type="title"/>
          </p:nvPr>
        </p:nvSpPr>
        <p:spPr>
          <a:xfrm>
            <a:off x="685800" y="188640"/>
            <a:ext cx="7772400" cy="936104"/>
          </a:xfrm>
        </p:spPr>
        <p:txBody>
          <a:bodyPr/>
          <a:lstStyle/>
          <a:p>
            <a:r>
              <a:rPr lang="en-GB" dirty="0"/>
              <a:t>Example (ii): Theft?</a:t>
            </a:r>
          </a:p>
        </p:txBody>
      </p:sp>
      <p:sp>
        <p:nvSpPr>
          <p:cNvPr id="8" name="Content Placeholder 7">
            <a:extLst>
              <a:ext uri="{FF2B5EF4-FFF2-40B4-BE49-F238E27FC236}">
                <a16:creationId xmlns:a16="http://schemas.microsoft.com/office/drawing/2014/main" id="{BF51FE14-1C95-E378-64F5-7C57DA68A53B}"/>
              </a:ext>
            </a:extLst>
          </p:cNvPr>
          <p:cNvSpPr>
            <a:spLocks noGrp="1"/>
          </p:cNvSpPr>
          <p:nvPr>
            <p:ph idx="1"/>
          </p:nvPr>
        </p:nvSpPr>
        <p:spPr>
          <a:xfrm>
            <a:off x="699556" y="1037777"/>
            <a:ext cx="7772400" cy="1224136"/>
          </a:xfrm>
        </p:spPr>
        <p:txBody>
          <a:bodyPr/>
          <a:lstStyle/>
          <a:p>
            <a:endParaRPr lang="en-GB" b="0" i="0" u="none" strike="noStrike" dirty="0">
              <a:solidFill>
                <a:srgbClr val="424242"/>
              </a:solidFill>
              <a:effectLst/>
              <a:latin typeface="Segoe Sans"/>
            </a:endParaRPr>
          </a:p>
          <a:p>
            <a:r>
              <a:rPr lang="en-GB" b="0" i="0" u="none" strike="noStrike" dirty="0">
                <a:solidFill>
                  <a:srgbClr val="424242"/>
                </a:solidFill>
                <a:effectLst/>
                <a:latin typeface="Segoe Sans"/>
              </a:rPr>
              <a:t>John is a university student who often visits the campus library. One day, his friend Sarah, who owns a laptop, asks John to use her laptop to complete an assignment while she attends a lecture. John agrees and uses the laptop as instructed. After finishing his assignment, John decides to keep the laptop for himself, thinking Sarah won't notice its absence for a while. He puts the laptop in his backpack and leaves the library without informing Sarah.</a:t>
            </a:r>
            <a:endParaRPr lang="en-GB" dirty="0"/>
          </a:p>
        </p:txBody>
      </p:sp>
      <p:graphicFrame>
        <p:nvGraphicFramePr>
          <p:cNvPr id="9" name="Table 9">
            <a:extLst>
              <a:ext uri="{FF2B5EF4-FFF2-40B4-BE49-F238E27FC236}">
                <a16:creationId xmlns:a16="http://schemas.microsoft.com/office/drawing/2014/main" id="{0440A813-2276-F87A-0277-9ACA303103F2}"/>
              </a:ext>
            </a:extLst>
          </p:cNvPr>
          <p:cNvGraphicFramePr>
            <a:graphicFrameLocks noGrp="1"/>
          </p:cNvGraphicFramePr>
          <p:nvPr>
            <p:extLst>
              <p:ext uri="{D42A27DB-BD31-4B8C-83A1-F6EECF244321}">
                <p14:modId xmlns:p14="http://schemas.microsoft.com/office/powerpoint/2010/main" val="1256888610"/>
              </p:ext>
            </p:extLst>
          </p:nvPr>
        </p:nvGraphicFramePr>
        <p:xfrm>
          <a:off x="684213" y="3861048"/>
          <a:ext cx="7772400" cy="1800200"/>
        </p:xfrm>
        <a:graphic>
          <a:graphicData uri="http://schemas.openxmlformats.org/drawingml/2006/table">
            <a:tbl>
              <a:tblPr firstRow="1" bandRow="1">
                <a:tableStyleId>{5C22544A-7EE6-4342-B048-85BDC9FD1C3A}</a:tableStyleId>
              </a:tblPr>
              <a:tblGrid>
                <a:gridCol w="2735659">
                  <a:extLst>
                    <a:ext uri="{9D8B030D-6E8A-4147-A177-3AD203B41FA5}">
                      <a16:colId xmlns:a16="http://schemas.microsoft.com/office/drawing/2014/main" val="2976197809"/>
                    </a:ext>
                  </a:extLst>
                </a:gridCol>
                <a:gridCol w="5036741">
                  <a:extLst>
                    <a:ext uri="{9D8B030D-6E8A-4147-A177-3AD203B41FA5}">
                      <a16:colId xmlns:a16="http://schemas.microsoft.com/office/drawing/2014/main" val="3984887298"/>
                    </a:ext>
                  </a:extLst>
                </a:gridCol>
              </a:tblGrid>
              <a:tr h="494711">
                <a:tc>
                  <a:txBody>
                    <a:bodyPr/>
                    <a:lstStyle/>
                    <a:p>
                      <a:pPr algn="l"/>
                      <a:r>
                        <a:rPr lang="en-GB" dirty="0"/>
                        <a:t>Actus Reus</a:t>
                      </a:r>
                    </a:p>
                  </a:txBody>
                  <a:tcPr/>
                </a:tc>
                <a:tc>
                  <a:txBody>
                    <a:bodyPr/>
                    <a:lstStyle/>
                    <a:p>
                      <a:r>
                        <a:rPr lang="en-GB" dirty="0" err="1"/>
                        <a:t>Mens</a:t>
                      </a:r>
                      <a:r>
                        <a:rPr lang="en-GB" dirty="0"/>
                        <a:t> Rea</a:t>
                      </a:r>
                    </a:p>
                  </a:txBody>
                  <a:tcPr/>
                </a:tc>
                <a:extLst>
                  <a:ext uri="{0D108BD9-81ED-4DB2-BD59-A6C34878D82A}">
                    <a16:rowId xmlns:a16="http://schemas.microsoft.com/office/drawing/2014/main" val="3268615685"/>
                  </a:ext>
                </a:extLst>
              </a:tr>
              <a:tr h="1305489">
                <a:tc>
                  <a:txBody>
                    <a:bodyPr/>
                    <a:lstStyle/>
                    <a:p>
                      <a:pPr marL="342900" lvl="0" indent="-342900" algn="l">
                        <a:spcBef>
                          <a:spcPts val="0"/>
                        </a:spcBef>
                        <a:spcAft>
                          <a:spcPts val="200"/>
                        </a:spcAft>
                        <a:buFont typeface="Symbol" panose="05050102010706020507" pitchFamily="18" charset="2"/>
                        <a:buChar char=""/>
                      </a:pPr>
                      <a:r>
                        <a:rPr lang="en-GB" dirty="0"/>
                        <a:t>Appropriation</a:t>
                      </a:r>
                    </a:p>
                    <a:p>
                      <a:pPr marL="342900" lvl="0" indent="-342900" algn="l">
                        <a:spcBef>
                          <a:spcPts val="0"/>
                        </a:spcBef>
                        <a:spcAft>
                          <a:spcPts val="200"/>
                        </a:spcAft>
                        <a:buFont typeface="Symbol" panose="05050102010706020507" pitchFamily="18" charset="2"/>
                        <a:buChar char=""/>
                      </a:pPr>
                      <a:r>
                        <a:rPr lang="en-GB" dirty="0"/>
                        <a:t>Property</a:t>
                      </a:r>
                    </a:p>
                    <a:p>
                      <a:pPr marL="342900" lvl="0" indent="-342900" algn="l">
                        <a:spcBef>
                          <a:spcPts val="0"/>
                        </a:spcBef>
                        <a:spcAft>
                          <a:spcPts val="200"/>
                        </a:spcAft>
                        <a:buFont typeface="Symbol" panose="05050102010706020507" pitchFamily="18" charset="2"/>
                        <a:buChar char=""/>
                      </a:pPr>
                      <a:r>
                        <a:rPr lang="en-GB" dirty="0"/>
                        <a:t>Belonging to Another</a:t>
                      </a:r>
                    </a:p>
                  </a:txBody>
                  <a:tcPr/>
                </a:tc>
                <a:tc>
                  <a:txBody>
                    <a:bodyPr/>
                    <a:lstStyle/>
                    <a:p>
                      <a:pPr marL="285750" indent="-285750">
                        <a:buFont typeface="Arial" panose="020B0604020202020204" pitchFamily="34" charset="0"/>
                        <a:buChar char="•"/>
                      </a:pPr>
                      <a:r>
                        <a:rPr lang="en-GB" dirty="0"/>
                        <a:t>Dishonesty</a:t>
                      </a:r>
                    </a:p>
                    <a:p>
                      <a:pPr marL="285750" indent="-285750">
                        <a:buFont typeface="Arial" panose="020B0604020202020204" pitchFamily="34" charset="0"/>
                        <a:buChar char="•"/>
                      </a:pPr>
                      <a:r>
                        <a:rPr lang="en-GB" i="0" dirty="0"/>
                        <a:t>Intention to Permanently deprive</a:t>
                      </a:r>
                    </a:p>
                  </a:txBody>
                  <a:tcPr/>
                </a:tc>
                <a:extLst>
                  <a:ext uri="{0D108BD9-81ED-4DB2-BD59-A6C34878D82A}">
                    <a16:rowId xmlns:a16="http://schemas.microsoft.com/office/drawing/2014/main" val="404487954"/>
                  </a:ext>
                </a:extLst>
              </a:tr>
            </a:tbl>
          </a:graphicData>
        </a:graphic>
      </p:graphicFrame>
    </p:spTree>
    <p:extLst>
      <p:ext uri="{BB962C8B-B14F-4D97-AF65-F5344CB8AC3E}">
        <p14:creationId xmlns:p14="http://schemas.microsoft.com/office/powerpoint/2010/main" val="1014070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56D1-8B25-1A39-9EF1-9077B7F98387}"/>
              </a:ext>
            </a:extLst>
          </p:cNvPr>
          <p:cNvSpPr>
            <a:spLocks noGrp="1"/>
          </p:cNvSpPr>
          <p:nvPr>
            <p:ph type="title"/>
          </p:nvPr>
        </p:nvSpPr>
        <p:spPr/>
        <p:txBody>
          <a:bodyPr/>
          <a:lstStyle/>
          <a:p>
            <a:r>
              <a:rPr lang="en-GB" dirty="0"/>
              <a:t>Self-Defence</a:t>
            </a:r>
          </a:p>
        </p:txBody>
      </p:sp>
      <p:sp>
        <p:nvSpPr>
          <p:cNvPr id="3" name="Content Placeholder 2">
            <a:extLst>
              <a:ext uri="{FF2B5EF4-FFF2-40B4-BE49-F238E27FC236}">
                <a16:creationId xmlns:a16="http://schemas.microsoft.com/office/drawing/2014/main" id="{D12F2204-11C9-44CD-E0D6-5D0A1E18ED5C}"/>
              </a:ext>
            </a:extLst>
          </p:cNvPr>
          <p:cNvSpPr>
            <a:spLocks noGrp="1"/>
          </p:cNvSpPr>
          <p:nvPr>
            <p:ph idx="1"/>
          </p:nvPr>
        </p:nvSpPr>
        <p:spPr>
          <a:xfrm>
            <a:off x="684213" y="1752600"/>
            <a:ext cx="7772400" cy="4052888"/>
          </a:xfrm>
        </p:spPr>
        <p:txBody>
          <a:bodyPr/>
          <a:lstStyle/>
          <a:p>
            <a:pPr marL="0" indent="0"/>
            <a:r>
              <a:rPr lang="en-GB" sz="2000" dirty="0"/>
              <a:t>Overview: Self-defence in English law is a justification defence that permits the use of reasonable force to defend oneself, others, or property from imminent attack. This defence arises from both common law and statutory provisions under the Criminal Law Act 1967.</a:t>
            </a:r>
          </a:p>
          <a:p>
            <a:pPr marL="0" indent="0"/>
            <a:endParaRPr lang="en-GB" sz="2000" b="1" dirty="0"/>
          </a:p>
          <a:p>
            <a:pPr marL="0" indent="0"/>
            <a:r>
              <a:rPr lang="en-GB" sz="2000" b="1" dirty="0"/>
              <a:t>Key Principles:</a:t>
            </a:r>
          </a:p>
          <a:p>
            <a:pPr>
              <a:buFont typeface="Arial" panose="020B0604020202020204" pitchFamily="34" charset="0"/>
              <a:buChar char="•"/>
            </a:pPr>
            <a:r>
              <a:rPr lang="en-GB" sz="2000" dirty="0"/>
              <a:t>Reasonable Force</a:t>
            </a:r>
          </a:p>
          <a:p>
            <a:pPr>
              <a:buFont typeface="Arial" panose="020B0604020202020204" pitchFamily="34" charset="0"/>
              <a:buChar char="•"/>
            </a:pPr>
            <a:r>
              <a:rPr lang="en-GB" sz="2000" dirty="0"/>
              <a:t>Common Law Defence</a:t>
            </a:r>
          </a:p>
          <a:p>
            <a:pPr>
              <a:buFont typeface="Arial" panose="020B0604020202020204" pitchFamily="34" charset="0"/>
              <a:buChar char="•"/>
            </a:pPr>
            <a:r>
              <a:rPr lang="en-GB" sz="2000" dirty="0"/>
              <a:t>Statutory Defence - </a:t>
            </a:r>
            <a:r>
              <a:rPr lang="en-GB" sz="2000" b="0" i="0" u="none" strike="noStrike" dirty="0">
                <a:effectLst/>
                <a:latin typeface="Calibri" panose="020F0502020204030204" pitchFamily="34" charset="0"/>
              </a:rPr>
              <a:t>3 of the Criminal Law Act 1967</a:t>
            </a:r>
            <a:endParaRPr lang="en-GB" sz="2000" dirty="0"/>
          </a:p>
          <a:p>
            <a:pPr>
              <a:buFont typeface="Arial" panose="020B0604020202020204" pitchFamily="34" charset="0"/>
              <a:buChar char="•"/>
            </a:pPr>
            <a:r>
              <a:rPr lang="en-GB" sz="2000" dirty="0"/>
              <a:t>Householder provisions - </a:t>
            </a:r>
            <a:r>
              <a:rPr lang="en-GB" sz="1800" b="0" i="1" u="none" strike="noStrike" dirty="0">
                <a:effectLst/>
                <a:latin typeface="Calibri" panose="020F0502020204030204" pitchFamily="34" charset="0"/>
              </a:rPr>
              <a:t>R v Martin (Anthony) </a:t>
            </a:r>
            <a:r>
              <a:rPr lang="en-GB" sz="1800" b="0" i="0" u="none" strike="noStrike" dirty="0">
                <a:effectLst/>
                <a:latin typeface="Calibri" panose="020F0502020204030204" pitchFamily="34" charset="0"/>
              </a:rPr>
              <a:t>[2001] EWCA Crim 2245</a:t>
            </a:r>
            <a:endParaRPr lang="en-GB" sz="2000" dirty="0"/>
          </a:p>
        </p:txBody>
      </p:sp>
    </p:spTree>
    <p:extLst>
      <p:ext uri="{BB962C8B-B14F-4D97-AF65-F5344CB8AC3E}">
        <p14:creationId xmlns:p14="http://schemas.microsoft.com/office/powerpoint/2010/main" val="2782474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13E9-E214-05AE-33D1-31433D010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211CF-5CA9-1D53-EE45-0B9C4B9E2F6A}"/>
              </a:ext>
            </a:extLst>
          </p:cNvPr>
          <p:cNvSpPr>
            <a:spLocks noGrp="1"/>
          </p:cNvSpPr>
          <p:nvPr>
            <p:ph type="title"/>
          </p:nvPr>
        </p:nvSpPr>
        <p:spPr/>
        <p:txBody>
          <a:bodyPr/>
          <a:lstStyle/>
          <a:p>
            <a:r>
              <a:rPr lang="en-GB" dirty="0"/>
              <a:t>Self-Defence</a:t>
            </a:r>
          </a:p>
        </p:txBody>
      </p:sp>
      <p:sp>
        <p:nvSpPr>
          <p:cNvPr id="3" name="Content Placeholder 2">
            <a:extLst>
              <a:ext uri="{FF2B5EF4-FFF2-40B4-BE49-F238E27FC236}">
                <a16:creationId xmlns:a16="http://schemas.microsoft.com/office/drawing/2014/main" id="{8CEF5373-E0FF-46C2-986A-EDDF6DABFD5A}"/>
              </a:ext>
            </a:extLst>
          </p:cNvPr>
          <p:cNvSpPr>
            <a:spLocks noGrp="1"/>
          </p:cNvSpPr>
          <p:nvPr>
            <p:ph idx="1"/>
          </p:nvPr>
        </p:nvSpPr>
        <p:spPr>
          <a:xfrm>
            <a:off x="684213" y="1752600"/>
            <a:ext cx="7772400" cy="7077000"/>
          </a:xfrm>
        </p:spPr>
        <p:txBody>
          <a:bodyPr/>
          <a:lstStyle/>
          <a:p>
            <a:pPr algn="just" rtl="0" fontAlgn="base">
              <a:lnSpc>
                <a:spcPct val="150000"/>
              </a:lnSpc>
              <a:spcAft>
                <a:spcPts val="600"/>
              </a:spcAft>
              <a:buNone/>
            </a:pPr>
            <a:r>
              <a:rPr lang="en-GB" sz="1600" b="0" i="0" u="none" strike="noStrike" dirty="0">
                <a:effectLst/>
              </a:rPr>
              <a:t>The common law of self-defence has been supplemented by a number of statutory provisions. This includes section 3 of the Criminal Law Act 1967, which states:</a:t>
            </a:r>
          </a:p>
          <a:p>
            <a:pPr algn="just" rtl="0" fontAlgn="base">
              <a:lnSpc>
                <a:spcPct val="150000"/>
              </a:lnSpc>
              <a:spcAft>
                <a:spcPts val="600"/>
              </a:spcAft>
              <a:buNone/>
            </a:pPr>
            <a:endParaRPr lang="en-GB" sz="1600" b="0" i="0" u="none" strike="noStrike" dirty="0">
              <a:effectLst/>
            </a:endParaRPr>
          </a:p>
          <a:p>
            <a:pPr algn="just" rtl="0" fontAlgn="base">
              <a:lnSpc>
                <a:spcPct val="150000"/>
              </a:lnSpc>
              <a:spcAft>
                <a:spcPts val="600"/>
              </a:spcAft>
              <a:buNone/>
            </a:pPr>
            <a:r>
              <a:rPr lang="en-GB" sz="1600" b="0" i="0" u="none" strike="noStrike" dirty="0">
                <a:effectLst/>
              </a:rPr>
              <a:t>‘(1) A person may use such force as is reasonable in the circumstances in the prevention of crime, or in effecting or assisting in the lawful arrest of offenders or suspected offenders or of persons unlawfully at large. </a:t>
            </a:r>
          </a:p>
          <a:p>
            <a:pPr algn="just" rtl="0" fontAlgn="base">
              <a:lnSpc>
                <a:spcPct val="150000"/>
              </a:lnSpc>
              <a:spcAft>
                <a:spcPts val="600"/>
              </a:spcAft>
              <a:buNone/>
            </a:pPr>
            <a:endParaRPr lang="en-GB" sz="1600" b="0" i="0" u="none" strike="noStrike" dirty="0">
              <a:effectLst/>
            </a:endParaRPr>
          </a:p>
          <a:p>
            <a:pPr algn="just" rtl="0" fontAlgn="base">
              <a:lnSpc>
                <a:spcPct val="150000"/>
              </a:lnSpc>
              <a:spcAft>
                <a:spcPts val="600"/>
              </a:spcAft>
            </a:pPr>
            <a:r>
              <a:rPr lang="en-GB" sz="1600" b="0" i="0" u="none" strike="noStrike" dirty="0">
                <a:effectLst/>
              </a:rPr>
              <a:t>(2) Subsection (1) above shall replace the rules of the common law on the question when force used for a purpose mentioned in the subsection is justified by that purpose.’ </a:t>
            </a:r>
          </a:p>
          <a:p>
            <a:pPr marL="0" indent="0"/>
            <a:endParaRPr lang="en-GB" sz="2000" dirty="0"/>
          </a:p>
        </p:txBody>
      </p:sp>
    </p:spTree>
    <p:extLst>
      <p:ext uri="{BB962C8B-B14F-4D97-AF65-F5344CB8AC3E}">
        <p14:creationId xmlns:p14="http://schemas.microsoft.com/office/powerpoint/2010/main" val="40130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E0498-A92B-AC37-FC11-75E823174480}"/>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53654F3B-C509-DB31-B0D4-ECE9B9879118}"/>
              </a:ext>
            </a:extLst>
          </p:cNvPr>
          <p:cNvSpPr>
            <a:spLocks noGrp="1" noChangeArrowheads="1"/>
          </p:cNvSpPr>
          <p:nvPr>
            <p:ph type="title"/>
          </p:nvPr>
        </p:nvSpPr>
        <p:spPr/>
        <p:txBody>
          <a:bodyPr/>
          <a:lstStyle/>
          <a:p>
            <a:r>
              <a:rPr lang="en-GB" altLang="en-US" dirty="0"/>
              <a:t>Sexual Offences</a:t>
            </a:r>
          </a:p>
        </p:txBody>
      </p:sp>
      <p:sp>
        <p:nvSpPr>
          <p:cNvPr id="8195" name="Text Placeholder 3">
            <a:extLst>
              <a:ext uri="{FF2B5EF4-FFF2-40B4-BE49-F238E27FC236}">
                <a16:creationId xmlns:a16="http://schemas.microsoft.com/office/drawing/2014/main" id="{34DE4D78-4EBA-6D9B-44DF-394A49F4AF8F}"/>
              </a:ext>
            </a:extLst>
          </p:cNvPr>
          <p:cNvSpPr>
            <a:spLocks noGrp="1" noChangeArrowheads="1"/>
          </p:cNvSpPr>
          <p:nvPr>
            <p:ph type="body" idx="1"/>
          </p:nvPr>
        </p:nvSpPr>
        <p:spPr>
          <a:xfrm>
            <a:off x="457200" y="1196752"/>
            <a:ext cx="4040188" cy="639763"/>
          </a:xfrm>
        </p:spPr>
        <p:txBody>
          <a:bodyPr anchor="t"/>
          <a:lstStyle/>
          <a:p>
            <a:r>
              <a:rPr lang="en-GB" altLang="en-US" dirty="0"/>
              <a:t>Definition</a:t>
            </a:r>
          </a:p>
        </p:txBody>
      </p:sp>
      <p:sp>
        <p:nvSpPr>
          <p:cNvPr id="8196" name="Content Placeholder 4">
            <a:extLst>
              <a:ext uri="{FF2B5EF4-FFF2-40B4-BE49-F238E27FC236}">
                <a16:creationId xmlns:a16="http://schemas.microsoft.com/office/drawing/2014/main" id="{4C10663B-6C58-544E-2B0C-A33BA41BA4FA}"/>
              </a:ext>
            </a:extLst>
          </p:cNvPr>
          <p:cNvSpPr>
            <a:spLocks noGrp="1" noChangeArrowheads="1"/>
          </p:cNvSpPr>
          <p:nvPr>
            <p:ph sz="half" idx="2"/>
          </p:nvPr>
        </p:nvSpPr>
        <p:spPr>
          <a:xfrm>
            <a:off x="3924300" y="1196753"/>
            <a:ext cx="4104084" cy="332012"/>
          </a:xfrm>
        </p:spPr>
        <p:txBody>
          <a:bodyPr/>
          <a:lstStyle/>
          <a:p>
            <a:pPr marL="0" indent="0"/>
            <a:r>
              <a:rPr lang="en-GB" sz="1600" b="0" i="0" u="none" strike="noStrike" dirty="0">
                <a:solidFill>
                  <a:srgbClr val="424242"/>
                </a:solidFill>
                <a:effectLst/>
                <a:latin typeface="Segoe Sans"/>
              </a:rPr>
              <a:t>Section 1 of the Sexual Offences Act 2003</a:t>
            </a:r>
            <a:endParaRPr lang="en-GB" altLang="en-US" dirty="0"/>
          </a:p>
        </p:txBody>
      </p:sp>
      <p:sp>
        <p:nvSpPr>
          <p:cNvPr id="8197" name="Text Placeholder 5">
            <a:extLst>
              <a:ext uri="{FF2B5EF4-FFF2-40B4-BE49-F238E27FC236}">
                <a16:creationId xmlns:a16="http://schemas.microsoft.com/office/drawing/2014/main" id="{A71A1A7B-8825-542D-11B2-A23CD2B47FB9}"/>
              </a:ext>
            </a:extLst>
          </p:cNvPr>
          <p:cNvSpPr>
            <a:spLocks noGrp="1" noChangeArrowheads="1"/>
          </p:cNvSpPr>
          <p:nvPr>
            <p:ph type="body" sz="quarter" idx="3"/>
          </p:nvPr>
        </p:nvSpPr>
        <p:spPr>
          <a:xfrm>
            <a:off x="457200" y="1528766"/>
            <a:ext cx="8229600" cy="639766"/>
          </a:xfrm>
        </p:spPr>
        <p:txBody>
          <a:bodyPr anchor="t"/>
          <a:lstStyle/>
          <a:p>
            <a:r>
              <a:rPr lang="en-GB" altLang="en-US" dirty="0"/>
              <a:t>Key AR and MR elements</a:t>
            </a:r>
          </a:p>
        </p:txBody>
      </p:sp>
      <p:graphicFrame>
        <p:nvGraphicFramePr>
          <p:cNvPr id="9" name="Table 9">
            <a:extLst>
              <a:ext uri="{FF2B5EF4-FFF2-40B4-BE49-F238E27FC236}">
                <a16:creationId xmlns:a16="http://schemas.microsoft.com/office/drawing/2014/main" id="{04E96284-F0E2-CD33-20AA-5482C5F7A494}"/>
              </a:ext>
            </a:extLst>
          </p:cNvPr>
          <p:cNvGraphicFramePr>
            <a:graphicFrameLocks noGrp="1"/>
          </p:cNvGraphicFramePr>
          <p:nvPr>
            <p:ph sz="quarter" idx="4"/>
            <p:extLst>
              <p:ext uri="{D42A27DB-BD31-4B8C-83A1-F6EECF244321}">
                <p14:modId xmlns:p14="http://schemas.microsoft.com/office/powerpoint/2010/main" val="1954624162"/>
              </p:ext>
            </p:extLst>
          </p:nvPr>
        </p:nvGraphicFramePr>
        <p:xfrm>
          <a:off x="457200" y="2168533"/>
          <a:ext cx="8229600" cy="425898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01384">
                <a:tc>
                  <a:txBody>
                    <a:bodyPr/>
                    <a:lstStyle/>
                    <a:p>
                      <a:r>
                        <a:rPr lang="en-GB" dirty="0"/>
                        <a:t>Actus Reus</a:t>
                      </a:r>
                    </a:p>
                  </a:txBody>
                  <a:tcPr marL="91433" marR="91433"/>
                </a:tc>
                <a:tc>
                  <a:txBody>
                    <a:bodyPr/>
                    <a:lstStyle/>
                    <a:p>
                      <a:r>
                        <a:rPr lang="en-GB" dirty="0" err="1"/>
                        <a:t>Mens</a:t>
                      </a:r>
                      <a:r>
                        <a:rPr lang="en-GB" dirty="0"/>
                        <a:t> Rea</a:t>
                      </a:r>
                    </a:p>
                  </a:txBody>
                  <a:tcPr marL="91433" marR="91433"/>
                </a:tc>
                <a:extLst>
                  <a:ext uri="{0D108BD9-81ED-4DB2-BD59-A6C34878D82A}">
                    <a16:rowId xmlns:a16="http://schemas.microsoft.com/office/drawing/2014/main" val="10000"/>
                  </a:ext>
                </a:extLst>
              </a:tr>
              <a:tr h="3467396">
                <a:tc>
                  <a:txBody>
                    <a:bodyPr/>
                    <a:lstStyle/>
                    <a:p>
                      <a:r>
                        <a:rPr lang="en-GB" sz="1800" b="0" i="0" u="none" strike="noStrike" kern="1200" dirty="0">
                          <a:solidFill>
                            <a:schemeClr val="dk1"/>
                          </a:solidFill>
                          <a:effectLst/>
                          <a:latin typeface="+mn-lt"/>
                          <a:ea typeface="+mn-ea"/>
                          <a:cs typeface="+mn-cs"/>
                        </a:rPr>
                        <a:t>Penetration:</a:t>
                      </a:r>
                    </a:p>
                    <a:p>
                      <a:pPr lvl="1"/>
                      <a:r>
                        <a:rPr lang="en-GB" sz="1800" b="0" i="0" u="none" strike="noStrike" kern="1200" dirty="0">
                          <a:solidFill>
                            <a:schemeClr val="dk1"/>
                          </a:solidFill>
                          <a:effectLst/>
                          <a:latin typeface="+mn-lt"/>
                          <a:ea typeface="+mn-ea"/>
                          <a:cs typeface="+mn-cs"/>
                        </a:rPr>
                        <a:t>The defendant must intentionally penetrate the vagina, anus, or mouth of another person with their penis</a:t>
                      </a:r>
                    </a:p>
                    <a:p>
                      <a:pPr lvl="1"/>
                      <a:endParaRPr lang="en-GB" sz="1800" b="0" i="0" u="none" strike="noStrike" kern="1200" dirty="0">
                        <a:solidFill>
                          <a:schemeClr val="dk1"/>
                        </a:solidFill>
                        <a:effectLst/>
                        <a:latin typeface="+mn-lt"/>
                        <a:ea typeface="+mn-ea"/>
                        <a:cs typeface="+mn-cs"/>
                      </a:endParaRPr>
                    </a:p>
                    <a:p>
                      <a:r>
                        <a:rPr lang="en-GB" sz="1800" b="0" i="0" u="none" strike="noStrike" kern="1200" dirty="0">
                          <a:solidFill>
                            <a:schemeClr val="dk1"/>
                          </a:solidFill>
                          <a:effectLst/>
                          <a:latin typeface="+mn-lt"/>
                          <a:ea typeface="+mn-ea"/>
                          <a:cs typeface="+mn-cs"/>
                        </a:rPr>
                        <a:t>Lack of </a:t>
                      </a:r>
                      <a:r>
                        <a:rPr lang="en-GB" sz="1800" b="1" i="0" u="none" strike="noStrike" kern="1200" dirty="0">
                          <a:solidFill>
                            <a:schemeClr val="dk1"/>
                          </a:solidFill>
                          <a:effectLst/>
                          <a:latin typeface="+mn-lt"/>
                          <a:ea typeface="+mn-ea"/>
                          <a:cs typeface="+mn-cs"/>
                        </a:rPr>
                        <a:t>Consent:</a:t>
                      </a:r>
                    </a:p>
                    <a:p>
                      <a:pPr lvl="1"/>
                      <a:r>
                        <a:rPr lang="en-GB" sz="1800" b="0" i="0" u="none" strike="noStrike" kern="1200" dirty="0">
                          <a:solidFill>
                            <a:schemeClr val="dk1"/>
                          </a:solidFill>
                          <a:effectLst/>
                          <a:latin typeface="+mn-lt"/>
                          <a:ea typeface="+mn-ea"/>
                          <a:cs typeface="+mn-cs"/>
                        </a:rPr>
                        <a:t>The complainant must not consent to the penetration</a:t>
                      </a:r>
                    </a:p>
                    <a:p>
                      <a:pPr lvl="1"/>
                      <a:endParaRPr lang="en-GB" sz="1800" b="0" i="0" u="none" strike="noStrike" kern="1200" dirty="0">
                        <a:solidFill>
                          <a:schemeClr val="dk1"/>
                        </a:solidFill>
                        <a:effectLst/>
                        <a:latin typeface="+mn-lt"/>
                        <a:ea typeface="+mn-ea"/>
                        <a:cs typeface="+mn-cs"/>
                      </a:endParaRPr>
                    </a:p>
                  </a:txBody>
                  <a:tcPr marL="91433" marR="91433"/>
                </a:tc>
                <a:tc>
                  <a:txBody>
                    <a:bodyPr/>
                    <a:lstStyle/>
                    <a:p>
                      <a:r>
                        <a:rPr lang="en-GB" sz="1800" b="0" i="0" u="none" strike="noStrike" kern="1200" dirty="0">
                          <a:solidFill>
                            <a:schemeClr val="dk1"/>
                          </a:solidFill>
                          <a:effectLst/>
                          <a:latin typeface="+mn-lt"/>
                          <a:ea typeface="+mn-ea"/>
                          <a:cs typeface="+mn-cs"/>
                        </a:rPr>
                        <a:t>Intentional Penetration:</a:t>
                      </a:r>
                    </a:p>
                    <a:p>
                      <a:pPr lvl="1"/>
                      <a:r>
                        <a:rPr lang="en-GB" sz="1800" b="0" i="0" u="none" strike="noStrike" kern="1200" dirty="0">
                          <a:solidFill>
                            <a:schemeClr val="dk1"/>
                          </a:solidFill>
                          <a:effectLst/>
                          <a:latin typeface="+mn-lt"/>
                          <a:ea typeface="+mn-ea"/>
                          <a:cs typeface="+mn-cs"/>
                        </a:rPr>
                        <a:t>The defendant must intentionally penetrate the vagina, anus, or mouth of another person with their penis </a:t>
                      </a:r>
                    </a:p>
                    <a:p>
                      <a:pPr lvl="1"/>
                      <a:endParaRPr lang="en-GB" sz="1800" b="0" i="0" u="none" strike="noStrike" kern="1200" dirty="0">
                        <a:solidFill>
                          <a:schemeClr val="dk1"/>
                        </a:solidFill>
                        <a:effectLst/>
                        <a:latin typeface="+mn-lt"/>
                        <a:ea typeface="+mn-ea"/>
                        <a:cs typeface="+mn-cs"/>
                      </a:endParaRPr>
                    </a:p>
                    <a:p>
                      <a:r>
                        <a:rPr lang="en-GB" sz="1800" b="0" i="0" u="none" strike="noStrike" kern="1200" dirty="0">
                          <a:solidFill>
                            <a:schemeClr val="dk1"/>
                          </a:solidFill>
                          <a:effectLst/>
                          <a:latin typeface="+mn-lt"/>
                          <a:ea typeface="+mn-ea"/>
                          <a:cs typeface="+mn-cs"/>
                        </a:rPr>
                        <a:t>Lack of Reasonable Belief in </a:t>
                      </a:r>
                      <a:r>
                        <a:rPr lang="en-GB" sz="1800" b="1" i="0" u="none" strike="noStrike" kern="1200" dirty="0">
                          <a:solidFill>
                            <a:schemeClr val="dk1"/>
                          </a:solidFill>
                          <a:effectLst/>
                          <a:latin typeface="+mn-lt"/>
                          <a:ea typeface="+mn-ea"/>
                          <a:cs typeface="+mn-cs"/>
                        </a:rPr>
                        <a:t>Consent</a:t>
                      </a:r>
                      <a:r>
                        <a:rPr lang="en-GB" sz="1800" b="0" i="0" u="none" strike="noStrike" kern="1200" dirty="0">
                          <a:solidFill>
                            <a:schemeClr val="dk1"/>
                          </a:solidFill>
                          <a:effectLst/>
                          <a:latin typeface="+mn-lt"/>
                          <a:ea typeface="+mn-ea"/>
                          <a:cs typeface="+mn-cs"/>
                        </a:rPr>
                        <a:t>:</a:t>
                      </a:r>
                    </a:p>
                    <a:p>
                      <a:pPr lvl="1"/>
                      <a:r>
                        <a:rPr lang="en-GB" sz="1800" b="0" i="0" u="none" strike="noStrike" kern="1200" dirty="0">
                          <a:solidFill>
                            <a:schemeClr val="dk1"/>
                          </a:solidFill>
                          <a:effectLst/>
                          <a:latin typeface="+mn-lt"/>
                          <a:ea typeface="+mn-ea"/>
                          <a:cs typeface="+mn-cs"/>
                        </a:rPr>
                        <a:t>The defendant must not reasonably believe that the complainant consents to the penetration </a:t>
                      </a:r>
                    </a:p>
                    <a:p>
                      <a:pPr lvl="1"/>
                      <a:endParaRPr lang="en-GB" sz="1800" b="0" i="0" u="none" strike="noStrike" kern="1200" dirty="0">
                        <a:solidFill>
                          <a:schemeClr val="dk1"/>
                        </a:solidFill>
                        <a:effectLst/>
                        <a:latin typeface="+mn-lt"/>
                        <a:ea typeface="+mn-ea"/>
                        <a:cs typeface="+mn-cs"/>
                      </a:endParaRPr>
                    </a:p>
                  </a:txBody>
                  <a:tcPr marL="91433" marR="91433"/>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9370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B980-010A-10C0-FC17-A276358FA638}"/>
              </a:ext>
            </a:extLst>
          </p:cNvPr>
          <p:cNvSpPr>
            <a:spLocks noGrp="1"/>
          </p:cNvSpPr>
          <p:nvPr>
            <p:ph type="title"/>
          </p:nvPr>
        </p:nvSpPr>
        <p:spPr/>
        <p:txBody>
          <a:bodyPr/>
          <a:lstStyle/>
          <a:p>
            <a:r>
              <a:rPr lang="en-GB" dirty="0"/>
              <a:t>Sexual Offences Structure</a:t>
            </a:r>
          </a:p>
        </p:txBody>
      </p:sp>
      <p:sp>
        <p:nvSpPr>
          <p:cNvPr id="3" name="Content Placeholder 2">
            <a:extLst>
              <a:ext uri="{FF2B5EF4-FFF2-40B4-BE49-F238E27FC236}">
                <a16:creationId xmlns:a16="http://schemas.microsoft.com/office/drawing/2014/main" id="{B1A3826E-9533-E1BA-7D0E-B69FCE4352BC}"/>
              </a:ext>
            </a:extLst>
          </p:cNvPr>
          <p:cNvSpPr>
            <a:spLocks noGrp="1"/>
          </p:cNvSpPr>
          <p:nvPr>
            <p:ph idx="1"/>
          </p:nvPr>
        </p:nvSpPr>
        <p:spPr/>
        <p:txBody>
          <a:bodyPr/>
          <a:lstStyle/>
          <a:p>
            <a:pPr marL="285750" indent="-285750">
              <a:buFont typeface="Arial" panose="020B0604020202020204" pitchFamily="34" charset="0"/>
              <a:buChar char="•"/>
            </a:pPr>
            <a:r>
              <a:rPr lang="en-GB" dirty="0"/>
              <a:t>Work logically through AR and MR</a:t>
            </a:r>
          </a:p>
          <a:p>
            <a:pPr marL="285750" indent="-285750">
              <a:buFont typeface="Arial" panose="020B0604020202020204" pitchFamily="34" charset="0"/>
              <a:buChar char="•"/>
            </a:pPr>
            <a:r>
              <a:rPr lang="en-GB" dirty="0"/>
              <a:t>S74 consent considerations should be made under AR</a:t>
            </a:r>
          </a:p>
          <a:p>
            <a:pPr marL="285750" indent="-285750">
              <a:buFont typeface="Arial" panose="020B0604020202020204" pitchFamily="34" charset="0"/>
              <a:buChar char="•"/>
            </a:pPr>
            <a:r>
              <a:rPr lang="en-GB" dirty="0"/>
              <a:t>Conclusive and Rebuttable presumptions would also go here starting with the most serious – IF relevant. </a:t>
            </a:r>
          </a:p>
          <a:p>
            <a:pPr marL="285750" indent="-285750">
              <a:buFont typeface="Arial" panose="020B0604020202020204" pitchFamily="34" charset="0"/>
              <a:buChar char="•"/>
            </a:pPr>
            <a:r>
              <a:rPr lang="en-GB" dirty="0"/>
              <a:t>Consent is considered at both AR and MR from differing perspectives, and if you have the information within the question</a:t>
            </a:r>
          </a:p>
        </p:txBody>
      </p:sp>
    </p:spTree>
    <p:extLst>
      <p:ext uri="{BB962C8B-B14F-4D97-AF65-F5344CB8AC3E}">
        <p14:creationId xmlns:p14="http://schemas.microsoft.com/office/powerpoint/2010/main" val="508886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961F-28E9-0FA3-2884-14D1E54A3BA1}"/>
              </a:ext>
            </a:extLst>
          </p:cNvPr>
          <p:cNvSpPr>
            <a:spLocks noGrp="1"/>
          </p:cNvSpPr>
          <p:nvPr>
            <p:ph type="title"/>
          </p:nvPr>
        </p:nvSpPr>
        <p:spPr/>
        <p:txBody>
          <a:bodyPr/>
          <a:lstStyle/>
          <a:p>
            <a:r>
              <a:rPr lang="en-GB" dirty="0"/>
              <a:t>Intoxication</a:t>
            </a:r>
          </a:p>
        </p:txBody>
      </p:sp>
      <p:sp>
        <p:nvSpPr>
          <p:cNvPr id="3" name="Content Placeholder 2">
            <a:extLst>
              <a:ext uri="{FF2B5EF4-FFF2-40B4-BE49-F238E27FC236}">
                <a16:creationId xmlns:a16="http://schemas.microsoft.com/office/drawing/2014/main" id="{A409334F-886C-A90A-B266-4FC22182B27C}"/>
              </a:ext>
            </a:extLst>
          </p:cNvPr>
          <p:cNvSpPr>
            <a:spLocks noGrp="1"/>
          </p:cNvSpPr>
          <p:nvPr>
            <p:ph idx="1"/>
          </p:nvPr>
        </p:nvSpPr>
        <p:spPr/>
        <p:txBody>
          <a:bodyPr/>
          <a:lstStyle/>
          <a:p>
            <a:pPr algn="just" rtl="0" fontAlgn="base">
              <a:lnSpc>
                <a:spcPts val="1457"/>
              </a:lnSpc>
              <a:spcAft>
                <a:spcPts val="600"/>
              </a:spcAft>
              <a:buNone/>
            </a:pPr>
            <a:r>
              <a:rPr lang="en-GB" sz="2800" i="0" u="none" strike="noStrike" dirty="0">
                <a:effectLst/>
              </a:rPr>
              <a:t>There are three stages: </a:t>
            </a:r>
          </a:p>
          <a:p>
            <a:pPr algn="just" rtl="0" fontAlgn="base">
              <a:lnSpc>
                <a:spcPts val="1457"/>
              </a:lnSpc>
              <a:buFont typeface="+mj-lt"/>
              <a:buAutoNum type="arabicPeriod"/>
            </a:pPr>
            <a:r>
              <a:rPr lang="en-GB" sz="2800" i="0" u="none" strike="noStrike" dirty="0">
                <a:effectLst/>
              </a:rPr>
              <a:t>Has the D formed MR – if so, the crime is</a:t>
            </a:r>
          </a:p>
          <a:p>
            <a:pPr marL="0" indent="0" algn="just" rtl="0" fontAlgn="base">
              <a:lnSpc>
                <a:spcPts val="1457"/>
              </a:lnSpc>
            </a:pPr>
            <a:r>
              <a:rPr lang="en-GB" sz="2800" i="0" u="none" strike="noStrike" dirty="0">
                <a:effectLst/>
              </a:rPr>
              <a:t> established - Kingston </a:t>
            </a:r>
          </a:p>
          <a:p>
            <a:pPr algn="just" rtl="0" fontAlgn="base">
              <a:lnSpc>
                <a:spcPts val="1457"/>
              </a:lnSpc>
              <a:buFont typeface="+mj-lt"/>
              <a:buAutoNum type="arabicPeriod"/>
            </a:pPr>
            <a:endParaRPr lang="en-GB" sz="2800" i="0" u="none" strike="noStrike" dirty="0">
              <a:effectLst/>
            </a:endParaRPr>
          </a:p>
          <a:p>
            <a:pPr algn="just" rtl="0" fontAlgn="base">
              <a:lnSpc>
                <a:spcPts val="1457"/>
              </a:lnSpc>
              <a:buFont typeface="+mj-lt"/>
              <a:buAutoNum type="arabicPeriod" startAt="2"/>
            </a:pPr>
            <a:r>
              <a:rPr lang="en-GB" sz="2800" i="0" u="none" strike="noStrike" dirty="0">
                <a:effectLst/>
              </a:rPr>
              <a:t>If not, was the intoxication voluntary – if not it</a:t>
            </a:r>
          </a:p>
          <a:p>
            <a:pPr marL="0" indent="0" algn="just" rtl="0" fontAlgn="base">
              <a:lnSpc>
                <a:spcPts val="1457"/>
              </a:lnSpc>
            </a:pPr>
            <a:r>
              <a:rPr lang="en-GB" sz="2800" i="0" u="none" strike="noStrike" dirty="0">
                <a:effectLst/>
              </a:rPr>
              <a:t> may be a defence </a:t>
            </a:r>
          </a:p>
          <a:p>
            <a:pPr algn="just" rtl="0" fontAlgn="base">
              <a:lnSpc>
                <a:spcPts val="1457"/>
              </a:lnSpc>
              <a:buFont typeface="+mj-lt"/>
              <a:buAutoNum type="arabicPeriod" startAt="2"/>
            </a:pPr>
            <a:endParaRPr lang="en-GB" sz="2800" i="0" u="none" strike="noStrike" dirty="0">
              <a:effectLst/>
            </a:endParaRPr>
          </a:p>
          <a:p>
            <a:pPr algn="just" rtl="0" fontAlgn="base">
              <a:lnSpc>
                <a:spcPts val="1457"/>
              </a:lnSpc>
              <a:buFont typeface="+mj-lt"/>
              <a:buAutoNum type="arabicPeriod" startAt="3"/>
            </a:pPr>
            <a:r>
              <a:rPr lang="en-GB" sz="2800" i="0" u="none" strike="noStrike" dirty="0">
                <a:effectLst/>
              </a:rPr>
              <a:t>If it was, was the crime one of basic of specific intent </a:t>
            </a:r>
          </a:p>
          <a:p>
            <a:pPr marL="514350" indent="-514350" algn="just" rtl="0" fontAlgn="base">
              <a:lnSpc>
                <a:spcPts val="1457"/>
              </a:lnSpc>
              <a:buFont typeface="+mj-lt"/>
              <a:buAutoNum type="alphaLcPeriod"/>
            </a:pPr>
            <a:endParaRPr lang="en-GB" sz="2800" i="0" u="none" strike="noStrike" dirty="0">
              <a:effectLst/>
            </a:endParaRPr>
          </a:p>
          <a:p>
            <a:pPr marL="914400" lvl="1" indent="-457200" algn="just">
              <a:lnSpc>
                <a:spcPts val="1457"/>
              </a:lnSpc>
              <a:buFont typeface="+mj-lt"/>
              <a:buAutoNum type="alphaLcPeriod"/>
            </a:pPr>
            <a:r>
              <a:rPr lang="en-GB" sz="2400" i="0" u="none" strike="noStrike" dirty="0">
                <a:effectLst/>
              </a:rPr>
              <a:t>If basic intent he does not have a defence </a:t>
            </a:r>
          </a:p>
          <a:p>
            <a:pPr marL="914400" lvl="1" indent="-457200" algn="just">
              <a:lnSpc>
                <a:spcPts val="1457"/>
              </a:lnSpc>
              <a:buFont typeface="+mj-lt"/>
              <a:buAutoNum type="alphaLcPeriod"/>
            </a:pPr>
            <a:r>
              <a:rPr lang="en-GB" sz="2400" i="0" u="none" strike="noStrike" dirty="0">
                <a:effectLst/>
              </a:rPr>
              <a:t>If specific intent he does have a defence </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3540596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67793-5164-E1E3-B8F1-23EF787B5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3E97D-B3A9-C08C-5720-8AB22657F9C3}"/>
              </a:ext>
            </a:extLst>
          </p:cNvPr>
          <p:cNvSpPr>
            <a:spLocks noGrp="1"/>
          </p:cNvSpPr>
          <p:nvPr>
            <p:ph type="title"/>
          </p:nvPr>
        </p:nvSpPr>
        <p:spPr/>
        <p:txBody>
          <a:bodyPr/>
          <a:lstStyle/>
          <a:p>
            <a:r>
              <a:rPr lang="en-GB" dirty="0"/>
              <a:t>Intoxication</a:t>
            </a:r>
          </a:p>
        </p:txBody>
      </p:sp>
      <p:sp>
        <p:nvSpPr>
          <p:cNvPr id="3" name="Content Placeholder 2">
            <a:extLst>
              <a:ext uri="{FF2B5EF4-FFF2-40B4-BE49-F238E27FC236}">
                <a16:creationId xmlns:a16="http://schemas.microsoft.com/office/drawing/2014/main" id="{3EC4942E-2E0E-082F-CE3C-CEB7C9EB1D09}"/>
              </a:ext>
            </a:extLst>
          </p:cNvPr>
          <p:cNvSpPr>
            <a:spLocks noGrp="1"/>
          </p:cNvSpPr>
          <p:nvPr>
            <p:ph idx="1"/>
          </p:nvPr>
        </p:nvSpPr>
        <p:spPr/>
        <p:txBody>
          <a:bodyPr/>
          <a:lstStyle/>
          <a:p>
            <a:pPr>
              <a:buFont typeface="Arial" panose="020B0604020202020204" pitchFamily="34" charset="0"/>
              <a:buChar char="•"/>
            </a:pPr>
            <a:r>
              <a:rPr lang="en-GB" dirty="0"/>
              <a:t>In conjunction with other defences?</a:t>
            </a:r>
          </a:p>
          <a:p>
            <a:pPr marL="0" indent="0"/>
            <a:endParaRPr lang="en-GB" dirty="0"/>
          </a:p>
          <a:p>
            <a:pPr>
              <a:buFont typeface="Arial" panose="020B0604020202020204" pitchFamily="34" charset="0"/>
              <a:buChar char="•"/>
            </a:pPr>
            <a:r>
              <a:rPr lang="en-GB" dirty="0"/>
              <a:t>Remember intoxication isn’t a defence but a denial of MR.</a:t>
            </a:r>
          </a:p>
          <a:p>
            <a:pPr>
              <a:buFont typeface="Arial" panose="020B0604020202020204" pitchFamily="34" charset="0"/>
              <a:buChar char="•"/>
            </a:pPr>
            <a:r>
              <a:rPr lang="en-GB" dirty="0"/>
              <a:t>If intoxication has caused lack of </a:t>
            </a:r>
            <a:r>
              <a:rPr lang="en-GB" dirty="0" err="1"/>
              <a:t>mens</a:t>
            </a:r>
            <a:r>
              <a:rPr lang="en-GB" dirty="0"/>
              <a:t> rea, the usual rules apply. You can also claim another defence such as self-defence.</a:t>
            </a:r>
          </a:p>
          <a:p>
            <a:pPr>
              <a:buFont typeface="Arial" panose="020B0604020202020204" pitchFamily="34" charset="0"/>
              <a:buChar char="•"/>
            </a:pPr>
            <a:r>
              <a:rPr lang="en-GB" dirty="0"/>
              <a:t>You need to remember how intoxication interacts with other areas of the syllabus, particularly self-defence, automatism, belief in consent.</a:t>
            </a:r>
          </a:p>
        </p:txBody>
      </p:sp>
    </p:spTree>
    <p:extLst>
      <p:ext uri="{BB962C8B-B14F-4D97-AF65-F5344CB8AC3E}">
        <p14:creationId xmlns:p14="http://schemas.microsoft.com/office/powerpoint/2010/main" val="291738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C43E-641C-829B-3993-9EA8CB9BD162}"/>
              </a:ext>
            </a:extLst>
          </p:cNvPr>
          <p:cNvSpPr>
            <a:spLocks noGrp="1"/>
          </p:cNvSpPr>
          <p:nvPr>
            <p:ph type="title"/>
          </p:nvPr>
        </p:nvSpPr>
        <p:spPr/>
        <p:txBody>
          <a:bodyPr/>
          <a:lstStyle/>
          <a:p>
            <a:r>
              <a:rPr lang="en-GB" dirty="0"/>
              <a:t>Intoxication</a:t>
            </a:r>
          </a:p>
        </p:txBody>
      </p:sp>
      <p:sp>
        <p:nvSpPr>
          <p:cNvPr id="3" name="Content Placeholder 2">
            <a:extLst>
              <a:ext uri="{FF2B5EF4-FFF2-40B4-BE49-F238E27FC236}">
                <a16:creationId xmlns:a16="http://schemas.microsoft.com/office/drawing/2014/main" id="{B5815818-B250-472C-7A90-49B7F7825415}"/>
              </a:ext>
            </a:extLst>
          </p:cNvPr>
          <p:cNvSpPr>
            <a:spLocks noGrp="1"/>
          </p:cNvSpPr>
          <p:nvPr>
            <p:ph idx="1"/>
          </p:nvPr>
        </p:nvSpPr>
        <p:spPr/>
        <p:txBody>
          <a:bodyPr/>
          <a:lstStyle/>
          <a:p>
            <a:pPr>
              <a:buFont typeface="Arial" panose="020B0604020202020204" pitchFamily="34" charset="0"/>
              <a:buChar char="•"/>
            </a:pPr>
            <a:r>
              <a:rPr lang="en-GB" dirty="0"/>
              <a:t>Examples:</a:t>
            </a:r>
          </a:p>
          <a:p>
            <a:pPr>
              <a:buFont typeface="Arial" panose="020B0604020202020204" pitchFamily="34" charset="0"/>
              <a:buChar char="•"/>
            </a:pPr>
            <a:endParaRPr lang="en-GB" dirty="0"/>
          </a:p>
          <a:p>
            <a:pPr>
              <a:buFont typeface="Arial" panose="020B0604020202020204" pitchFamily="34" charset="0"/>
              <a:buChar char="•"/>
            </a:pPr>
            <a:r>
              <a:rPr lang="en-GB" dirty="0"/>
              <a:t>Harris - psychosis induced by withdrawal from alcohol was not intoxication, and that extending the intoxication rules to apply to his case would represent a ‘significant extension’ of the law.</a:t>
            </a:r>
          </a:p>
          <a:p>
            <a:endParaRPr lang="en-GB" dirty="0"/>
          </a:p>
          <a:p>
            <a:pPr>
              <a:buFont typeface="Arial" panose="020B0604020202020204" pitchFamily="34" charset="0"/>
              <a:buChar char="•"/>
            </a:pPr>
            <a:r>
              <a:rPr lang="en-GB" dirty="0"/>
              <a:t>Although D may well seek to rely on honest but unreasonable mistakes when raising the public and private defence this will not be permissible where such beliefs result from voluntary intoxication. Where D is voluntarily intoxicated, the defence will only apply where a reasonable sober person would have made the same mistake as D. </a:t>
            </a:r>
          </a:p>
        </p:txBody>
      </p:sp>
    </p:spTree>
    <p:extLst>
      <p:ext uri="{BB962C8B-B14F-4D97-AF65-F5344CB8AC3E}">
        <p14:creationId xmlns:p14="http://schemas.microsoft.com/office/powerpoint/2010/main" val="453168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18FC-3B9F-F698-5CFC-7727C756D89B}"/>
              </a:ext>
            </a:extLst>
          </p:cNvPr>
          <p:cNvSpPr>
            <a:spLocks noGrp="1"/>
          </p:cNvSpPr>
          <p:nvPr>
            <p:ph type="title"/>
          </p:nvPr>
        </p:nvSpPr>
        <p:spPr/>
        <p:txBody>
          <a:bodyPr/>
          <a:lstStyle/>
          <a:p>
            <a:r>
              <a:rPr lang="en-GB" dirty="0"/>
              <a:t>Defences</a:t>
            </a:r>
          </a:p>
        </p:txBody>
      </p:sp>
      <p:sp>
        <p:nvSpPr>
          <p:cNvPr id="3" name="Content Placeholder 2">
            <a:extLst>
              <a:ext uri="{FF2B5EF4-FFF2-40B4-BE49-F238E27FC236}">
                <a16:creationId xmlns:a16="http://schemas.microsoft.com/office/drawing/2014/main" id="{C64F88CA-B0EC-5FE8-FB49-6E4C691BDE2E}"/>
              </a:ext>
            </a:extLst>
          </p:cNvPr>
          <p:cNvSpPr>
            <a:spLocks noGrp="1"/>
          </p:cNvSpPr>
          <p:nvPr>
            <p:ph idx="1"/>
          </p:nvPr>
        </p:nvSpPr>
        <p:spPr/>
        <p:txBody>
          <a:bodyPr/>
          <a:lstStyle/>
          <a:p>
            <a:r>
              <a:rPr lang="en-GB" dirty="0"/>
              <a:t>SPECIFIC defences dealt with first</a:t>
            </a:r>
          </a:p>
          <a:p>
            <a:pPr>
              <a:buFontTx/>
              <a:buChar char="-"/>
            </a:pPr>
            <a:r>
              <a:rPr lang="en-GB" dirty="0"/>
              <a:t>Consent to NFOAP</a:t>
            </a:r>
          </a:p>
          <a:p>
            <a:pPr marL="285750" indent="-285750">
              <a:buFontTx/>
              <a:buChar char="-"/>
            </a:pPr>
            <a:r>
              <a:rPr lang="en-GB" dirty="0"/>
              <a:t>Including the partial defences of LOSC and diminished responsibility</a:t>
            </a:r>
          </a:p>
          <a:p>
            <a:pPr marL="0" indent="0"/>
            <a:r>
              <a:rPr lang="en-GB" dirty="0"/>
              <a:t>GENERAL defences</a:t>
            </a:r>
          </a:p>
          <a:p>
            <a:pPr marL="285750" indent="-285750">
              <a:buFontTx/>
              <a:buChar char="-"/>
            </a:pPr>
            <a:r>
              <a:rPr lang="en-GB" dirty="0"/>
              <a:t>Insanity as a defence</a:t>
            </a:r>
          </a:p>
          <a:p>
            <a:pPr marL="285750" indent="-285750">
              <a:buFontTx/>
              <a:buChar char="-"/>
            </a:pPr>
            <a:r>
              <a:rPr lang="en-GB" dirty="0"/>
              <a:t>Duress</a:t>
            </a:r>
          </a:p>
          <a:p>
            <a:pPr marL="285750" indent="-285750">
              <a:buFontTx/>
              <a:buChar char="-"/>
            </a:pPr>
            <a:r>
              <a:rPr lang="en-GB" dirty="0"/>
              <a:t>Self defence</a:t>
            </a:r>
          </a:p>
          <a:p>
            <a:pPr marL="0" indent="0"/>
            <a:r>
              <a:rPr lang="en-GB" dirty="0"/>
              <a:t>DENIAL of a Crime</a:t>
            </a:r>
          </a:p>
          <a:p>
            <a:pPr marL="285750" indent="-285750">
              <a:buFontTx/>
              <a:buChar char="-"/>
            </a:pPr>
            <a:r>
              <a:rPr lang="en-GB" dirty="0"/>
              <a:t>Automatism</a:t>
            </a:r>
          </a:p>
          <a:p>
            <a:pPr marL="285750" indent="-285750">
              <a:buFontTx/>
              <a:buChar char="-"/>
            </a:pPr>
            <a:r>
              <a:rPr lang="en-GB" dirty="0"/>
              <a:t>Insanity</a:t>
            </a:r>
          </a:p>
          <a:p>
            <a:pPr marL="285750" indent="-285750">
              <a:buFontTx/>
              <a:buChar char="-"/>
            </a:pPr>
            <a:r>
              <a:rPr lang="en-GB" dirty="0"/>
              <a:t>Intoxication</a:t>
            </a:r>
          </a:p>
        </p:txBody>
      </p:sp>
    </p:spTree>
    <p:extLst>
      <p:ext uri="{BB962C8B-B14F-4D97-AF65-F5344CB8AC3E}">
        <p14:creationId xmlns:p14="http://schemas.microsoft.com/office/powerpoint/2010/main" val="3963449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8D4B-6496-BE12-6997-6FB8942AECAF}"/>
              </a:ext>
            </a:extLst>
          </p:cNvPr>
          <p:cNvSpPr>
            <a:spLocks noGrp="1"/>
          </p:cNvSpPr>
          <p:nvPr>
            <p:ph type="title"/>
          </p:nvPr>
        </p:nvSpPr>
        <p:spPr>
          <a:xfrm>
            <a:off x="685800" y="609600"/>
            <a:ext cx="7772400" cy="1143000"/>
          </a:xfrm>
        </p:spPr>
        <p:txBody>
          <a:bodyPr wrap="square" anchor="ctr">
            <a:normAutofit/>
          </a:bodyPr>
          <a:lstStyle/>
          <a:p>
            <a:r>
              <a:rPr lang="en-US" dirty="0"/>
              <a:t>Final tips</a:t>
            </a:r>
          </a:p>
        </p:txBody>
      </p:sp>
      <p:graphicFrame>
        <p:nvGraphicFramePr>
          <p:cNvPr id="5" name="Content Placeholder 2">
            <a:extLst>
              <a:ext uri="{FF2B5EF4-FFF2-40B4-BE49-F238E27FC236}">
                <a16:creationId xmlns:a16="http://schemas.microsoft.com/office/drawing/2014/main" id="{3E7BC7EF-01EB-5197-2AFF-BADFD6AE5D99}"/>
              </a:ext>
            </a:extLst>
          </p:cNvPr>
          <p:cNvGraphicFramePr>
            <a:graphicFrameLocks noGrp="1"/>
          </p:cNvGraphicFramePr>
          <p:nvPr>
            <p:ph idx="1"/>
            <p:extLst>
              <p:ext uri="{D42A27DB-BD31-4B8C-83A1-F6EECF244321}">
                <p14:modId xmlns:p14="http://schemas.microsoft.com/office/powerpoint/2010/main" val="1145741496"/>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3404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Title 1">
            <a:extLst>
              <a:ext uri="{FF2B5EF4-FFF2-40B4-BE49-F238E27FC236}">
                <a16:creationId xmlns:a16="http://schemas.microsoft.com/office/drawing/2014/main" id="{02B6B9E0-1890-DD4D-8F14-146026C40E4B}"/>
              </a:ext>
            </a:extLst>
          </p:cNvPr>
          <p:cNvSpPr>
            <a:spLocks noGrp="1"/>
          </p:cNvSpPr>
          <p:nvPr>
            <p:ph type="title"/>
          </p:nvPr>
        </p:nvSpPr>
        <p:spPr>
          <a:xfrm>
            <a:off x="457200" y="273050"/>
            <a:ext cx="3008313" cy="1162050"/>
          </a:xfrm>
        </p:spPr>
        <p:txBody>
          <a:bodyPr/>
          <a:lstStyle/>
          <a:p>
            <a:endParaRPr lang="en-US" dirty="0"/>
          </a:p>
        </p:txBody>
      </p:sp>
      <p:pic>
        <p:nvPicPr>
          <p:cNvPr id="1026" name="Picture 2" descr="Thumbnail Image A cheerful and encouraging GIF with the text 'Good Luck!' featuring bright colors, confetti, and a positive vibe.">
            <a:extLst>
              <a:ext uri="{FF2B5EF4-FFF2-40B4-BE49-F238E27FC236}">
                <a16:creationId xmlns:a16="http://schemas.microsoft.com/office/drawing/2014/main" id="{7363021D-660C-2098-9AAA-B948C74B3E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315" b="8685"/>
          <a:stretch/>
        </p:blipFill>
        <p:spPr bwMode="auto">
          <a:xfrm>
            <a:off x="1164754" y="518178"/>
            <a:ext cx="7499176" cy="5624381"/>
          </a:xfrm>
          <a:prstGeom prst="rect">
            <a:avLst/>
          </a:prstGeom>
          <a:noFill/>
          <a:extLst>
            <a:ext uri="{909E8E84-426E-40DD-AFC4-6F175D3DCCD1}">
              <a14:hiddenFill xmlns:a14="http://schemas.microsoft.com/office/drawing/2010/main">
                <a:solidFill>
                  <a:srgbClr val="FFFFFF"/>
                </a:solidFill>
              </a14:hiddenFill>
            </a:ext>
          </a:extLst>
        </p:spPr>
      </p:pic>
      <p:sp>
        <p:nvSpPr>
          <p:cNvPr id="1032" name="Text Placeholder 3">
            <a:extLst>
              <a:ext uri="{FF2B5EF4-FFF2-40B4-BE49-F238E27FC236}">
                <a16:creationId xmlns:a16="http://schemas.microsoft.com/office/drawing/2014/main" id="{F93F947C-7CB6-DB2E-42E8-836ACF61C530}"/>
              </a:ext>
            </a:extLst>
          </p:cNvPr>
          <p:cNvSpPr>
            <a:spLocks noGrp="1"/>
          </p:cNvSpPr>
          <p:nvPr>
            <p:ph type="body" sz="half" idx="2"/>
          </p:nvPr>
        </p:nvSpPr>
        <p:spPr>
          <a:xfrm>
            <a:off x="457200" y="1435100"/>
            <a:ext cx="3008313" cy="4691063"/>
          </a:xfrm>
        </p:spPr>
        <p:txBody>
          <a:bodyPr/>
          <a:lstStyle/>
          <a:p>
            <a:endParaRPr lang="en-US"/>
          </a:p>
        </p:txBody>
      </p:sp>
    </p:spTree>
    <p:extLst>
      <p:ext uri="{BB962C8B-B14F-4D97-AF65-F5344CB8AC3E}">
        <p14:creationId xmlns:p14="http://schemas.microsoft.com/office/powerpoint/2010/main" val="2438598146"/>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AAC8210-D153-4BB9-871C-747A9DCF1A2D}">
  <ds:schemaRefs>
    <ds:schemaRef ds:uri="http://schemas.microsoft.com/sharepoint/v3/contenttype/forms"/>
  </ds:schemaRefs>
</ds:datastoreItem>
</file>

<file path=customXml/itemProps2.xml><?xml version="1.0" encoding="utf-8"?>
<ds:datastoreItem xmlns:ds="http://schemas.openxmlformats.org/officeDocument/2006/customXml" ds:itemID="{331EE6D0-D472-49F6-A26B-A1B5393A93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5DDB3B-472D-425D-B7B4-924CEFE38EC0}">
  <ds:schemaRefs>
    <ds:schemaRef ds:uri="http://purl.org/dc/elements/1.1/"/>
    <ds:schemaRef ds:uri="http://schemas.microsoft.com/office/2006/documentManagement/types"/>
    <ds:schemaRef ds:uri="http://purl.org/dc/dcmitype/"/>
    <ds:schemaRef ds:uri="http://www.w3.org/XML/1998/namespace"/>
    <ds:schemaRef ds:uri="8cb6f0ce-4087-48d0-bd68-6d11fe1cb46f"/>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2571</TotalTime>
  <Words>2873</Words>
  <Application>Microsoft Macintosh PowerPoint</Application>
  <PresentationFormat>On-screen Show (4:3)</PresentationFormat>
  <Paragraphs>290</Paragraphs>
  <Slides>22</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Arial</vt:lpstr>
      <vt:lpstr>Calibri</vt:lpstr>
      <vt:lpstr>Cambria Math</vt:lpstr>
      <vt:lpstr>Segoe Sans</vt:lpstr>
      <vt:lpstr>Segoe UI</vt:lpstr>
      <vt:lpstr>Symbol</vt:lpstr>
      <vt:lpstr>Times</vt:lpstr>
      <vt:lpstr>var(--fontFamilyBase)</vt:lpstr>
      <vt:lpstr>Blank</vt:lpstr>
      <vt:lpstr>1_Blank</vt:lpstr>
      <vt:lpstr>Revision Lecture</vt:lpstr>
      <vt:lpstr>Exam Format</vt:lpstr>
      <vt:lpstr>Lecture Structure</vt:lpstr>
      <vt:lpstr>Qualities of a Good Essay</vt:lpstr>
      <vt:lpstr>Identifying essay-based questions</vt:lpstr>
      <vt:lpstr>Problem Question Techniques</vt:lpstr>
      <vt:lpstr>Presentation tips</vt:lpstr>
      <vt:lpstr>Identifying offences in a scenario</vt:lpstr>
      <vt:lpstr>Theft Act 1968</vt:lpstr>
      <vt:lpstr>Theft</vt:lpstr>
      <vt:lpstr>Example (i): Theft?</vt:lpstr>
      <vt:lpstr>Example (ii): Theft?</vt:lpstr>
      <vt:lpstr>Self-Defence</vt:lpstr>
      <vt:lpstr>Self-Defence</vt:lpstr>
      <vt:lpstr>Sexual Offences</vt:lpstr>
      <vt:lpstr>Sexual Offences Structure</vt:lpstr>
      <vt:lpstr>Intoxication</vt:lpstr>
      <vt:lpstr>Intoxication</vt:lpstr>
      <vt:lpstr>Intoxication</vt:lpstr>
      <vt:lpstr>Defences</vt:lpstr>
      <vt:lpstr>Final tips</vt:lpstr>
      <vt:lpstr>PowerPoint Presentation</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LANGLEY, KAT L.</cp:lastModifiedBy>
  <cp:revision>61</cp:revision>
  <dcterms:created xsi:type="dcterms:W3CDTF">2005-05-25T16:21:13Z</dcterms:created>
  <dcterms:modified xsi:type="dcterms:W3CDTF">2025-04-29T05:08:19Z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