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4"/>
    <p:sldMasterId id="2147483684" r:id="rId5"/>
  </p:sldMasterIdLst>
  <p:notesMasterIdLst>
    <p:notesMasterId r:id="rId29"/>
  </p:notesMasterIdLst>
  <p:handoutMasterIdLst>
    <p:handoutMasterId r:id="rId30"/>
  </p:handoutMasterIdLst>
  <p:sldIdLst>
    <p:sldId id="285" r:id="rId6"/>
    <p:sldId id="386" r:id="rId7"/>
    <p:sldId id="385" r:id="rId8"/>
    <p:sldId id="296" r:id="rId9"/>
    <p:sldId id="283" r:id="rId10"/>
    <p:sldId id="398" r:id="rId11"/>
    <p:sldId id="298" r:id="rId12"/>
    <p:sldId id="299" r:id="rId13"/>
    <p:sldId id="301" r:id="rId14"/>
    <p:sldId id="300" r:id="rId15"/>
    <p:sldId id="303" r:id="rId16"/>
    <p:sldId id="304" r:id="rId17"/>
    <p:sldId id="307" r:id="rId18"/>
    <p:sldId id="387" r:id="rId19"/>
    <p:sldId id="306" r:id="rId20"/>
    <p:sldId id="308" r:id="rId21"/>
    <p:sldId id="309" r:id="rId22"/>
    <p:sldId id="310" r:id="rId23"/>
    <p:sldId id="311" r:id="rId24"/>
    <p:sldId id="394" r:id="rId25"/>
    <p:sldId id="395" r:id="rId26"/>
    <p:sldId id="396" r:id="rId27"/>
    <p:sldId id="397" r:id="rId28"/>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8"/>
    <p:restoredTop sz="95878" autoAdjust="0"/>
  </p:normalViewPr>
  <p:slideViewPr>
    <p:cSldViewPr>
      <p:cViewPr varScale="1">
        <p:scale>
          <a:sx n="108" d="100"/>
          <a:sy n="108" d="100"/>
        </p:scale>
        <p:origin x="173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862" y="-10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5B9FE1-E753-4FAB-AB56-37C7C5D30B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AD63D8A2-E4DC-4CC0-A68B-A4695437913B}">
      <dgm:prSet phldrT="[Text]"/>
      <dgm:spPr/>
      <dgm:t>
        <a:bodyPr/>
        <a:lstStyle/>
        <a:p>
          <a:r>
            <a:rPr lang="en-GB" dirty="0">
              <a:solidFill>
                <a:schemeClr val="tx1"/>
              </a:solidFill>
            </a:rPr>
            <a:t>Express/Implied consent</a:t>
          </a:r>
        </a:p>
      </dgm:t>
    </dgm:pt>
    <dgm:pt modelId="{FCACB71F-3A37-445E-9BA8-8D2D34693360}" type="parTrans" cxnId="{F488FEB8-B835-46C0-BB32-0A9ECF0E585D}">
      <dgm:prSet/>
      <dgm:spPr/>
      <dgm:t>
        <a:bodyPr/>
        <a:lstStyle/>
        <a:p>
          <a:endParaRPr lang="en-GB"/>
        </a:p>
      </dgm:t>
    </dgm:pt>
    <dgm:pt modelId="{6109226E-10DF-47A8-920F-6881921C4D46}" type="sibTrans" cxnId="{F488FEB8-B835-46C0-BB32-0A9ECF0E585D}">
      <dgm:prSet/>
      <dgm:spPr/>
      <dgm:t>
        <a:bodyPr/>
        <a:lstStyle/>
        <a:p>
          <a:endParaRPr lang="en-GB"/>
        </a:p>
      </dgm:t>
    </dgm:pt>
    <dgm:pt modelId="{F644FEE6-DCB9-4854-AB2F-F892B1BE8C7D}">
      <dgm:prSet phldrT="[Text]"/>
      <dgm:spPr/>
      <dgm:t>
        <a:bodyPr/>
        <a:lstStyle/>
        <a:p>
          <a:r>
            <a:rPr lang="en-GB" dirty="0">
              <a:solidFill>
                <a:schemeClr val="tx1"/>
              </a:solidFill>
            </a:rPr>
            <a:t>Effective consent</a:t>
          </a:r>
        </a:p>
      </dgm:t>
    </dgm:pt>
    <dgm:pt modelId="{D7684C09-F874-4470-AD95-6B66D6A14CF9}" type="parTrans" cxnId="{08455708-B698-4D5B-941A-73F19B995049}">
      <dgm:prSet/>
      <dgm:spPr/>
      <dgm:t>
        <a:bodyPr/>
        <a:lstStyle/>
        <a:p>
          <a:endParaRPr lang="en-GB"/>
        </a:p>
      </dgm:t>
    </dgm:pt>
    <dgm:pt modelId="{B7010961-29D9-4F3A-866E-C0866B2149C4}" type="sibTrans" cxnId="{08455708-B698-4D5B-941A-73F19B995049}">
      <dgm:prSet/>
      <dgm:spPr/>
      <dgm:t>
        <a:bodyPr/>
        <a:lstStyle/>
        <a:p>
          <a:endParaRPr lang="en-GB"/>
        </a:p>
      </dgm:t>
    </dgm:pt>
    <dgm:pt modelId="{B5A64FD6-3EBF-462D-971F-B8AB4DD69C29}">
      <dgm:prSet phldrT="[Text]"/>
      <dgm:spPr/>
      <dgm:t>
        <a:bodyPr/>
        <a:lstStyle/>
        <a:p>
          <a:r>
            <a:rPr lang="en-GB" dirty="0">
              <a:solidFill>
                <a:schemeClr val="tx1"/>
              </a:solidFill>
            </a:rPr>
            <a:t>Recognised categories of exception for ABH and GBH</a:t>
          </a:r>
        </a:p>
      </dgm:t>
    </dgm:pt>
    <dgm:pt modelId="{F4E0E203-140F-4631-AFDA-20E44B9A375A}" type="parTrans" cxnId="{54FE8510-D1DB-4061-977D-855871244A13}">
      <dgm:prSet/>
      <dgm:spPr/>
      <dgm:t>
        <a:bodyPr/>
        <a:lstStyle/>
        <a:p>
          <a:endParaRPr lang="en-GB"/>
        </a:p>
      </dgm:t>
    </dgm:pt>
    <dgm:pt modelId="{24C71C83-6FB3-476C-85D3-7B2BDFB67917}" type="sibTrans" cxnId="{54FE8510-D1DB-4061-977D-855871244A13}">
      <dgm:prSet/>
      <dgm:spPr/>
      <dgm:t>
        <a:bodyPr/>
        <a:lstStyle/>
        <a:p>
          <a:endParaRPr lang="en-GB"/>
        </a:p>
      </dgm:t>
    </dgm:pt>
    <dgm:pt modelId="{FAEAFDC4-C175-4AE8-BA51-76C62E310545}">
      <dgm:prSet phldrT="[Text]"/>
      <dgm:spPr/>
      <dgm:t>
        <a:bodyPr/>
        <a:lstStyle/>
        <a:p>
          <a:r>
            <a:rPr lang="en-GB" dirty="0">
              <a:solidFill>
                <a:schemeClr val="tx1"/>
              </a:solidFill>
            </a:rPr>
            <a:t>Lawful chastisement of a child</a:t>
          </a:r>
        </a:p>
      </dgm:t>
    </dgm:pt>
    <dgm:pt modelId="{787EA21F-ACAD-43DE-9125-21CCAD7E9167}" type="parTrans" cxnId="{A70B7F62-9FCF-4722-A6E7-ACDBF370B7FB}">
      <dgm:prSet/>
      <dgm:spPr/>
      <dgm:t>
        <a:bodyPr/>
        <a:lstStyle/>
        <a:p>
          <a:endParaRPr lang="en-GB"/>
        </a:p>
      </dgm:t>
    </dgm:pt>
    <dgm:pt modelId="{4109EDDB-BEDB-477A-B768-E3FF9188E7F1}" type="sibTrans" cxnId="{A70B7F62-9FCF-4722-A6E7-ACDBF370B7FB}">
      <dgm:prSet/>
      <dgm:spPr/>
      <dgm:t>
        <a:bodyPr/>
        <a:lstStyle/>
        <a:p>
          <a:endParaRPr lang="en-GB"/>
        </a:p>
      </dgm:t>
    </dgm:pt>
    <dgm:pt modelId="{B45B46E2-C6F2-438D-B2A4-BBC6C8CADED1}">
      <dgm:prSet phldrT="[Text]"/>
      <dgm:spPr/>
      <dgm:t>
        <a:bodyPr/>
        <a:lstStyle/>
        <a:p>
          <a:r>
            <a:rPr lang="en-GB" dirty="0">
              <a:solidFill>
                <a:schemeClr val="tx1"/>
              </a:solidFill>
            </a:rPr>
            <a:t>Necessity</a:t>
          </a:r>
        </a:p>
      </dgm:t>
    </dgm:pt>
    <dgm:pt modelId="{FB367FEE-F2FB-4CA1-8117-2CC69126A208}" type="parTrans" cxnId="{7A67EA74-9DF9-485F-9973-DEBFE47746D9}">
      <dgm:prSet/>
      <dgm:spPr/>
      <dgm:t>
        <a:bodyPr/>
        <a:lstStyle/>
        <a:p>
          <a:endParaRPr lang="en-GB"/>
        </a:p>
      </dgm:t>
    </dgm:pt>
    <dgm:pt modelId="{F0E5A143-F00C-43B2-8B5C-7A3C63160808}" type="sibTrans" cxnId="{7A67EA74-9DF9-485F-9973-DEBFE47746D9}">
      <dgm:prSet/>
      <dgm:spPr/>
      <dgm:t>
        <a:bodyPr/>
        <a:lstStyle/>
        <a:p>
          <a:endParaRPr lang="en-GB"/>
        </a:p>
      </dgm:t>
    </dgm:pt>
    <dgm:pt modelId="{3E713A9B-6E80-4DD6-89D9-35EE98FA1D0A}" type="pres">
      <dgm:prSet presAssocID="{D95B9FE1-E753-4FAB-AB56-37C7C5D30BCE}" presName="linear" presStyleCnt="0">
        <dgm:presLayoutVars>
          <dgm:animLvl val="lvl"/>
          <dgm:resizeHandles val="exact"/>
        </dgm:presLayoutVars>
      </dgm:prSet>
      <dgm:spPr/>
    </dgm:pt>
    <dgm:pt modelId="{95467B0A-49F6-4FD9-9FA7-7E7CCEAE89DF}" type="pres">
      <dgm:prSet presAssocID="{AD63D8A2-E4DC-4CC0-A68B-A4695437913B}" presName="parentText" presStyleLbl="node1" presStyleIdx="0" presStyleCnt="5" custScaleY="47909" custLinFactNeighborX="-38920" custLinFactNeighborY="-40572">
        <dgm:presLayoutVars>
          <dgm:chMax val="0"/>
          <dgm:bulletEnabled val="1"/>
        </dgm:presLayoutVars>
      </dgm:prSet>
      <dgm:spPr/>
    </dgm:pt>
    <dgm:pt modelId="{841290BC-1E16-4E53-883D-C8D0E6DEFA10}" type="pres">
      <dgm:prSet presAssocID="{6109226E-10DF-47A8-920F-6881921C4D46}" presName="spacer" presStyleCnt="0"/>
      <dgm:spPr/>
    </dgm:pt>
    <dgm:pt modelId="{90DD3EF7-2B96-49E7-86F5-39C5400EC8B8}" type="pres">
      <dgm:prSet presAssocID="{F644FEE6-DCB9-4854-AB2F-F892B1BE8C7D}" presName="parentText" presStyleLbl="node1" presStyleIdx="1" presStyleCnt="5" custScaleY="48668">
        <dgm:presLayoutVars>
          <dgm:chMax val="0"/>
          <dgm:bulletEnabled val="1"/>
        </dgm:presLayoutVars>
      </dgm:prSet>
      <dgm:spPr/>
    </dgm:pt>
    <dgm:pt modelId="{8C0F29F9-BB23-47F0-AE1F-C4CB37342A15}" type="pres">
      <dgm:prSet presAssocID="{B7010961-29D9-4F3A-866E-C0866B2149C4}" presName="spacer" presStyleCnt="0"/>
      <dgm:spPr/>
    </dgm:pt>
    <dgm:pt modelId="{9F6C90A6-E33C-4FB9-B551-8FE445E9CCDE}" type="pres">
      <dgm:prSet presAssocID="{B5A64FD6-3EBF-462D-971F-B8AB4DD69C29}" presName="parentText" presStyleLbl="node1" presStyleIdx="2" presStyleCnt="5" custScaleY="47909" custLinFactNeighborX="-38920" custLinFactNeighborY="-40572">
        <dgm:presLayoutVars>
          <dgm:chMax val="0"/>
          <dgm:bulletEnabled val="1"/>
        </dgm:presLayoutVars>
      </dgm:prSet>
      <dgm:spPr/>
    </dgm:pt>
    <dgm:pt modelId="{15A6CC24-CE2F-4C7F-8417-75A55F5F936D}" type="pres">
      <dgm:prSet presAssocID="{24C71C83-6FB3-476C-85D3-7B2BDFB67917}" presName="spacer" presStyleCnt="0"/>
      <dgm:spPr/>
    </dgm:pt>
    <dgm:pt modelId="{6D729F0D-CEFC-449E-87C8-1A4CC01E4606}" type="pres">
      <dgm:prSet presAssocID="{FAEAFDC4-C175-4AE8-BA51-76C62E310545}" presName="parentText" presStyleLbl="node1" presStyleIdx="3" presStyleCnt="5" custScaleY="47909" custLinFactNeighborX="-38920" custLinFactNeighborY="-40572">
        <dgm:presLayoutVars>
          <dgm:chMax val="0"/>
          <dgm:bulletEnabled val="1"/>
        </dgm:presLayoutVars>
      </dgm:prSet>
      <dgm:spPr/>
    </dgm:pt>
    <dgm:pt modelId="{9D9D5C60-1A56-4302-A184-28ADC90201E5}" type="pres">
      <dgm:prSet presAssocID="{4109EDDB-BEDB-477A-B768-E3FF9188E7F1}" presName="spacer" presStyleCnt="0"/>
      <dgm:spPr/>
    </dgm:pt>
    <dgm:pt modelId="{1443D9F1-760A-4016-96D0-E47D75CC61AB}" type="pres">
      <dgm:prSet presAssocID="{B45B46E2-C6F2-438D-B2A4-BBC6C8CADED1}" presName="parentText" presStyleLbl="node1" presStyleIdx="4" presStyleCnt="5" custScaleY="47909" custLinFactNeighborX="-38920" custLinFactNeighborY="-40572">
        <dgm:presLayoutVars>
          <dgm:chMax val="0"/>
          <dgm:bulletEnabled val="1"/>
        </dgm:presLayoutVars>
      </dgm:prSet>
      <dgm:spPr/>
    </dgm:pt>
  </dgm:ptLst>
  <dgm:cxnLst>
    <dgm:cxn modelId="{08455708-B698-4D5B-941A-73F19B995049}" srcId="{D95B9FE1-E753-4FAB-AB56-37C7C5D30BCE}" destId="{F644FEE6-DCB9-4854-AB2F-F892B1BE8C7D}" srcOrd="1" destOrd="0" parTransId="{D7684C09-F874-4470-AD95-6B66D6A14CF9}" sibTransId="{B7010961-29D9-4F3A-866E-C0866B2149C4}"/>
    <dgm:cxn modelId="{BBE5A90E-C153-447B-8F84-F59C981E42C9}" type="presOf" srcId="{F644FEE6-DCB9-4854-AB2F-F892B1BE8C7D}" destId="{90DD3EF7-2B96-49E7-86F5-39C5400EC8B8}" srcOrd="0" destOrd="0" presId="urn:microsoft.com/office/officeart/2005/8/layout/vList2"/>
    <dgm:cxn modelId="{54FE8510-D1DB-4061-977D-855871244A13}" srcId="{D95B9FE1-E753-4FAB-AB56-37C7C5D30BCE}" destId="{B5A64FD6-3EBF-462D-971F-B8AB4DD69C29}" srcOrd="2" destOrd="0" parTransId="{F4E0E203-140F-4631-AFDA-20E44B9A375A}" sibTransId="{24C71C83-6FB3-476C-85D3-7B2BDFB67917}"/>
    <dgm:cxn modelId="{BD759416-25B4-4F6D-8CDD-6FD78DF08DC2}" type="presOf" srcId="{B5A64FD6-3EBF-462D-971F-B8AB4DD69C29}" destId="{9F6C90A6-E33C-4FB9-B551-8FE445E9CCDE}" srcOrd="0" destOrd="0" presId="urn:microsoft.com/office/officeart/2005/8/layout/vList2"/>
    <dgm:cxn modelId="{CD684139-BF7E-49A0-B97B-3126F225D31A}" type="presOf" srcId="{D95B9FE1-E753-4FAB-AB56-37C7C5D30BCE}" destId="{3E713A9B-6E80-4DD6-89D9-35EE98FA1D0A}" srcOrd="0" destOrd="0" presId="urn:microsoft.com/office/officeart/2005/8/layout/vList2"/>
    <dgm:cxn modelId="{A734F05C-B1F3-4788-A9F9-A24A96B5A260}" type="presOf" srcId="{B45B46E2-C6F2-438D-B2A4-BBC6C8CADED1}" destId="{1443D9F1-760A-4016-96D0-E47D75CC61AB}" srcOrd="0" destOrd="0" presId="urn:microsoft.com/office/officeart/2005/8/layout/vList2"/>
    <dgm:cxn modelId="{A70B7F62-9FCF-4722-A6E7-ACDBF370B7FB}" srcId="{D95B9FE1-E753-4FAB-AB56-37C7C5D30BCE}" destId="{FAEAFDC4-C175-4AE8-BA51-76C62E310545}" srcOrd="3" destOrd="0" parTransId="{787EA21F-ACAD-43DE-9125-21CCAD7E9167}" sibTransId="{4109EDDB-BEDB-477A-B768-E3FF9188E7F1}"/>
    <dgm:cxn modelId="{7A67EA74-9DF9-485F-9973-DEBFE47746D9}" srcId="{D95B9FE1-E753-4FAB-AB56-37C7C5D30BCE}" destId="{B45B46E2-C6F2-438D-B2A4-BBC6C8CADED1}" srcOrd="4" destOrd="0" parTransId="{FB367FEE-F2FB-4CA1-8117-2CC69126A208}" sibTransId="{F0E5A143-F00C-43B2-8B5C-7A3C63160808}"/>
    <dgm:cxn modelId="{2B2FA696-901E-4575-8183-70B8DF9F3F4C}" type="presOf" srcId="{AD63D8A2-E4DC-4CC0-A68B-A4695437913B}" destId="{95467B0A-49F6-4FD9-9FA7-7E7CCEAE89DF}" srcOrd="0" destOrd="0" presId="urn:microsoft.com/office/officeart/2005/8/layout/vList2"/>
    <dgm:cxn modelId="{F488FEB8-B835-46C0-BB32-0A9ECF0E585D}" srcId="{D95B9FE1-E753-4FAB-AB56-37C7C5D30BCE}" destId="{AD63D8A2-E4DC-4CC0-A68B-A4695437913B}" srcOrd="0" destOrd="0" parTransId="{FCACB71F-3A37-445E-9BA8-8D2D34693360}" sibTransId="{6109226E-10DF-47A8-920F-6881921C4D46}"/>
    <dgm:cxn modelId="{0B32A9FE-8CE5-4315-B77B-EC82BD4EB359}" type="presOf" srcId="{FAEAFDC4-C175-4AE8-BA51-76C62E310545}" destId="{6D729F0D-CEFC-449E-87C8-1A4CC01E4606}" srcOrd="0" destOrd="0" presId="urn:microsoft.com/office/officeart/2005/8/layout/vList2"/>
    <dgm:cxn modelId="{BE0D1715-646A-4982-84DC-53487AE69A5D}" type="presParOf" srcId="{3E713A9B-6E80-4DD6-89D9-35EE98FA1D0A}" destId="{95467B0A-49F6-4FD9-9FA7-7E7CCEAE89DF}" srcOrd="0" destOrd="0" presId="urn:microsoft.com/office/officeart/2005/8/layout/vList2"/>
    <dgm:cxn modelId="{227D26A1-5000-4E54-953D-DC25A63D4E28}" type="presParOf" srcId="{3E713A9B-6E80-4DD6-89D9-35EE98FA1D0A}" destId="{841290BC-1E16-4E53-883D-C8D0E6DEFA10}" srcOrd="1" destOrd="0" presId="urn:microsoft.com/office/officeart/2005/8/layout/vList2"/>
    <dgm:cxn modelId="{260678B7-1F41-4ACF-BF09-0C92BC45466D}" type="presParOf" srcId="{3E713A9B-6E80-4DD6-89D9-35EE98FA1D0A}" destId="{90DD3EF7-2B96-49E7-86F5-39C5400EC8B8}" srcOrd="2" destOrd="0" presId="urn:microsoft.com/office/officeart/2005/8/layout/vList2"/>
    <dgm:cxn modelId="{8C941896-04BB-4F13-8AAA-65E36709EB49}" type="presParOf" srcId="{3E713A9B-6E80-4DD6-89D9-35EE98FA1D0A}" destId="{8C0F29F9-BB23-47F0-AE1F-C4CB37342A15}" srcOrd="3" destOrd="0" presId="urn:microsoft.com/office/officeart/2005/8/layout/vList2"/>
    <dgm:cxn modelId="{0D901C12-E643-4823-87B8-4C38EDC59A7D}" type="presParOf" srcId="{3E713A9B-6E80-4DD6-89D9-35EE98FA1D0A}" destId="{9F6C90A6-E33C-4FB9-B551-8FE445E9CCDE}" srcOrd="4" destOrd="0" presId="urn:microsoft.com/office/officeart/2005/8/layout/vList2"/>
    <dgm:cxn modelId="{5B2E6ABE-1D1A-4C29-A5EB-86EC847DBD65}" type="presParOf" srcId="{3E713A9B-6E80-4DD6-89D9-35EE98FA1D0A}" destId="{15A6CC24-CE2F-4C7F-8417-75A55F5F936D}" srcOrd="5" destOrd="0" presId="urn:microsoft.com/office/officeart/2005/8/layout/vList2"/>
    <dgm:cxn modelId="{825A8381-AEFF-410F-9643-32E0C7DAEC1A}" type="presParOf" srcId="{3E713A9B-6E80-4DD6-89D9-35EE98FA1D0A}" destId="{6D729F0D-CEFC-449E-87C8-1A4CC01E4606}" srcOrd="6" destOrd="0" presId="urn:microsoft.com/office/officeart/2005/8/layout/vList2"/>
    <dgm:cxn modelId="{86921523-E662-447C-99D1-2A513D3DCF2F}" type="presParOf" srcId="{3E713A9B-6E80-4DD6-89D9-35EE98FA1D0A}" destId="{9D9D5C60-1A56-4302-A184-28ADC90201E5}" srcOrd="7" destOrd="0" presId="urn:microsoft.com/office/officeart/2005/8/layout/vList2"/>
    <dgm:cxn modelId="{B26FEED7-9A9B-44D1-9617-778EF3386F79}" type="presParOf" srcId="{3E713A9B-6E80-4DD6-89D9-35EE98FA1D0A}" destId="{1443D9F1-760A-4016-96D0-E47D75CC61A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67B0A-49F6-4FD9-9FA7-7E7CCEAE89DF}">
      <dsp:nvSpPr>
        <dsp:cNvPr id="0" name=""/>
        <dsp:cNvSpPr/>
      </dsp:nvSpPr>
      <dsp:spPr>
        <a:xfrm>
          <a:off x="0" y="0"/>
          <a:ext cx="7772400" cy="6740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solidFill>
                <a:schemeClr val="tx1"/>
              </a:solidFill>
            </a:rPr>
            <a:t>Express/Implied consent</a:t>
          </a:r>
        </a:p>
      </dsp:txBody>
      <dsp:txXfrm>
        <a:off x="32904" y="32904"/>
        <a:ext cx="7706592" cy="608235"/>
      </dsp:txXfrm>
    </dsp:sp>
    <dsp:sp modelId="{90DD3EF7-2B96-49E7-86F5-39C5400EC8B8}">
      <dsp:nvSpPr>
        <dsp:cNvPr id="0" name=""/>
        <dsp:cNvSpPr/>
      </dsp:nvSpPr>
      <dsp:spPr>
        <a:xfrm>
          <a:off x="0" y="785210"/>
          <a:ext cx="7772400" cy="6847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solidFill>
                <a:schemeClr val="tx1"/>
              </a:solidFill>
            </a:rPr>
            <a:t>Effective consent</a:t>
          </a:r>
        </a:p>
      </dsp:txBody>
      <dsp:txXfrm>
        <a:off x="33425" y="818635"/>
        <a:ext cx="7705550" cy="617872"/>
      </dsp:txXfrm>
    </dsp:sp>
    <dsp:sp modelId="{9F6C90A6-E33C-4FB9-B551-8FE445E9CCDE}">
      <dsp:nvSpPr>
        <dsp:cNvPr id="0" name=""/>
        <dsp:cNvSpPr/>
      </dsp:nvSpPr>
      <dsp:spPr>
        <a:xfrm>
          <a:off x="0" y="1533258"/>
          <a:ext cx="7772400" cy="6740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solidFill>
                <a:schemeClr val="tx1"/>
              </a:solidFill>
            </a:rPr>
            <a:t>Recognised categories of exception for ABH and GBH</a:t>
          </a:r>
        </a:p>
      </dsp:txBody>
      <dsp:txXfrm>
        <a:off x="32904" y="1566162"/>
        <a:ext cx="7706592" cy="608235"/>
      </dsp:txXfrm>
    </dsp:sp>
    <dsp:sp modelId="{6D729F0D-CEFC-449E-87C8-1A4CC01E4606}">
      <dsp:nvSpPr>
        <dsp:cNvPr id="0" name=""/>
        <dsp:cNvSpPr/>
      </dsp:nvSpPr>
      <dsp:spPr>
        <a:xfrm>
          <a:off x="0" y="2313862"/>
          <a:ext cx="7772400" cy="6740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solidFill>
                <a:schemeClr val="tx1"/>
              </a:solidFill>
            </a:rPr>
            <a:t>Lawful chastisement of a child</a:t>
          </a:r>
        </a:p>
      </dsp:txBody>
      <dsp:txXfrm>
        <a:off x="32904" y="2346766"/>
        <a:ext cx="7706592" cy="608235"/>
      </dsp:txXfrm>
    </dsp:sp>
    <dsp:sp modelId="{1443D9F1-760A-4016-96D0-E47D75CC61AB}">
      <dsp:nvSpPr>
        <dsp:cNvPr id="0" name=""/>
        <dsp:cNvSpPr/>
      </dsp:nvSpPr>
      <dsp:spPr>
        <a:xfrm>
          <a:off x="0" y="3094466"/>
          <a:ext cx="7772400" cy="6740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solidFill>
                <a:schemeClr val="tx1"/>
              </a:solidFill>
            </a:rPr>
            <a:t>Necessity</a:t>
          </a:r>
        </a:p>
      </dsp:txBody>
      <dsp:txXfrm>
        <a:off x="32904" y="3127370"/>
        <a:ext cx="7706592" cy="6082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DC7D0385-F596-42C9-8BF1-76E61BE05E6F}" type="datetimeFigureOut">
              <a:rPr lang="en-GB" smtClean="0"/>
              <a:t>08/11/2024</a:t>
            </a:fld>
            <a:endParaRPr lang="en-GB"/>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A22CBF9F-1C1E-490C-BC4D-4C3FBDBC1AE0}" type="slidenum">
              <a:rPr lang="en-GB" smtClean="0"/>
              <a:t>‹#›</a:t>
            </a:fld>
            <a:endParaRPr lang="en-GB"/>
          </a:p>
        </p:txBody>
      </p:sp>
    </p:spTree>
    <p:extLst>
      <p:ext uri="{BB962C8B-B14F-4D97-AF65-F5344CB8AC3E}">
        <p14:creationId xmlns:p14="http://schemas.microsoft.com/office/powerpoint/2010/main" val="2904955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6148"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F1A0DEF-8C78-439D-A7BB-06D1B273CEAA}" type="slidenum">
              <a:rPr lang="en-GB"/>
              <a:pPr>
                <a:defRPr/>
              </a:pPr>
              <a:t>‹#›</a:t>
            </a:fld>
            <a:endParaRPr lang="en-GB"/>
          </a:p>
        </p:txBody>
      </p:sp>
    </p:spTree>
    <p:extLst>
      <p:ext uri="{BB962C8B-B14F-4D97-AF65-F5344CB8AC3E}">
        <p14:creationId xmlns:p14="http://schemas.microsoft.com/office/powerpoint/2010/main" val="3172541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890327">
              <a:defRPr sz="2600">
                <a:solidFill>
                  <a:srgbClr val="004D75"/>
                </a:solidFill>
                <a:latin typeface="Verdana" pitchFamily="34" charset="0"/>
                <a:cs typeface="Arial" charset="0"/>
              </a:defRPr>
            </a:lvl1pPr>
            <a:lvl2pPr marL="699116" indent="-268891" defTabSz="890327">
              <a:defRPr sz="2600">
                <a:solidFill>
                  <a:srgbClr val="004D75"/>
                </a:solidFill>
                <a:latin typeface="Verdana" pitchFamily="34" charset="0"/>
                <a:cs typeface="Arial" charset="0"/>
              </a:defRPr>
            </a:lvl2pPr>
            <a:lvl3pPr marL="1075563" indent="-215113" defTabSz="890327">
              <a:defRPr sz="2600">
                <a:solidFill>
                  <a:srgbClr val="004D75"/>
                </a:solidFill>
                <a:latin typeface="Verdana" pitchFamily="34" charset="0"/>
                <a:cs typeface="Arial" charset="0"/>
              </a:defRPr>
            </a:lvl3pPr>
            <a:lvl4pPr marL="1505788" indent="-215113" defTabSz="890327">
              <a:defRPr sz="2600">
                <a:solidFill>
                  <a:srgbClr val="004D75"/>
                </a:solidFill>
                <a:latin typeface="Verdana" pitchFamily="34" charset="0"/>
                <a:cs typeface="Arial" charset="0"/>
              </a:defRPr>
            </a:lvl4pPr>
            <a:lvl5pPr marL="1936013" indent="-215113" defTabSz="890327">
              <a:defRPr sz="2600">
                <a:solidFill>
                  <a:srgbClr val="004D75"/>
                </a:solidFill>
                <a:latin typeface="Verdana" pitchFamily="34" charset="0"/>
                <a:cs typeface="Arial" charset="0"/>
              </a:defRPr>
            </a:lvl5pPr>
            <a:lvl6pPr marL="2366239" indent="-215113" defTabSz="890327" eaLnBrk="0" fontAlgn="base" hangingPunct="0">
              <a:spcBef>
                <a:spcPct val="0"/>
              </a:spcBef>
              <a:spcAft>
                <a:spcPct val="0"/>
              </a:spcAft>
              <a:defRPr sz="2600">
                <a:solidFill>
                  <a:srgbClr val="004D75"/>
                </a:solidFill>
                <a:latin typeface="Verdana" pitchFamily="34" charset="0"/>
                <a:cs typeface="Arial" charset="0"/>
              </a:defRPr>
            </a:lvl6pPr>
            <a:lvl7pPr marL="2796464" indent="-215113" defTabSz="890327" eaLnBrk="0" fontAlgn="base" hangingPunct="0">
              <a:spcBef>
                <a:spcPct val="0"/>
              </a:spcBef>
              <a:spcAft>
                <a:spcPct val="0"/>
              </a:spcAft>
              <a:defRPr sz="2600">
                <a:solidFill>
                  <a:srgbClr val="004D75"/>
                </a:solidFill>
                <a:latin typeface="Verdana" pitchFamily="34" charset="0"/>
                <a:cs typeface="Arial" charset="0"/>
              </a:defRPr>
            </a:lvl7pPr>
            <a:lvl8pPr marL="3226689" indent="-215113" defTabSz="890327" eaLnBrk="0" fontAlgn="base" hangingPunct="0">
              <a:spcBef>
                <a:spcPct val="0"/>
              </a:spcBef>
              <a:spcAft>
                <a:spcPct val="0"/>
              </a:spcAft>
              <a:defRPr sz="2600">
                <a:solidFill>
                  <a:srgbClr val="004D75"/>
                </a:solidFill>
                <a:latin typeface="Verdana" pitchFamily="34" charset="0"/>
                <a:cs typeface="Arial" charset="0"/>
              </a:defRPr>
            </a:lvl8pPr>
            <a:lvl9pPr marL="3656914" indent="-215113" defTabSz="890327" eaLnBrk="0" fontAlgn="base" hangingPunct="0">
              <a:spcBef>
                <a:spcPct val="0"/>
              </a:spcBef>
              <a:spcAft>
                <a:spcPct val="0"/>
              </a:spcAft>
              <a:defRPr sz="2600">
                <a:solidFill>
                  <a:srgbClr val="004D75"/>
                </a:solidFill>
                <a:latin typeface="Verdana" pitchFamily="34" charset="0"/>
                <a:cs typeface="Arial" charset="0"/>
              </a:defRPr>
            </a:lvl9pPr>
          </a:lstStyle>
          <a:p>
            <a:fld id="{A39AFC6A-131F-4D87-84A6-7FFA5EA6F2EF}" type="slidenum">
              <a:rPr lang="en-US" sz="1100">
                <a:solidFill>
                  <a:schemeClr val="tx1"/>
                </a:solidFill>
                <a:latin typeface="Times New Roman" pitchFamily="18" charset="0"/>
              </a:rPr>
              <a:pPr/>
              <a:t>1</a:t>
            </a:fld>
            <a:endParaRPr lang="en-US" sz="110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GB" dirty="0"/>
          </a:p>
        </p:txBody>
      </p:sp>
    </p:spTree>
    <p:extLst>
      <p:ext uri="{BB962C8B-B14F-4D97-AF65-F5344CB8AC3E}">
        <p14:creationId xmlns:p14="http://schemas.microsoft.com/office/powerpoint/2010/main" val="232359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8</a:t>
            </a:fld>
            <a:endParaRPr lang="en-GB"/>
          </a:p>
        </p:txBody>
      </p:sp>
    </p:spTree>
    <p:extLst>
      <p:ext uri="{BB962C8B-B14F-4D97-AF65-F5344CB8AC3E}">
        <p14:creationId xmlns:p14="http://schemas.microsoft.com/office/powerpoint/2010/main" val="326831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10</a:t>
            </a:fld>
            <a:endParaRPr lang="en-GB"/>
          </a:p>
        </p:txBody>
      </p:sp>
    </p:spTree>
    <p:extLst>
      <p:ext uri="{BB962C8B-B14F-4D97-AF65-F5344CB8AC3E}">
        <p14:creationId xmlns:p14="http://schemas.microsoft.com/office/powerpoint/2010/main" val="1127108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11</a:t>
            </a:fld>
            <a:endParaRPr lang="en-GB"/>
          </a:p>
        </p:txBody>
      </p:sp>
    </p:spTree>
    <p:extLst>
      <p:ext uri="{BB962C8B-B14F-4D97-AF65-F5344CB8AC3E}">
        <p14:creationId xmlns:p14="http://schemas.microsoft.com/office/powerpoint/2010/main" val="1282058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13271"/>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800622"/>
          </a:xfrm>
        </p:spPr>
        <p:txBody>
          <a:bodyPr/>
          <a:lstStyle>
            <a:lvl1pPr algn="l">
              <a:defRPr sz="4400">
                <a:solidFill>
                  <a:schemeClr val="bg1"/>
                </a:solidFill>
              </a:defRPr>
            </a:lvl1pPr>
          </a:lstStyle>
          <a:p>
            <a:r>
              <a:rPr lang="en-GB" noProof="0" dirty="0"/>
              <a:t>Click to edit Master title style</a:t>
            </a:r>
          </a:p>
        </p:txBody>
      </p:sp>
      <p:sp>
        <p:nvSpPr>
          <p:cNvPr id="8204" name="Rectangle 12"/>
          <p:cNvSpPr>
            <a:spLocks noGrp="1" noChangeArrowheads="1"/>
          </p:cNvSpPr>
          <p:nvPr>
            <p:ph type="subTitle" sz="quarter" idx="1"/>
          </p:nvPr>
        </p:nvSpPr>
        <p:spPr>
          <a:xfrm>
            <a:off x="755650" y="2801926"/>
            <a:ext cx="7772400" cy="2431231"/>
          </a:xfrm>
        </p:spPr>
        <p:txBody>
          <a:bodyPr/>
          <a:lstStyle>
            <a:lvl1pPr marL="0" indent="0" algn="r">
              <a:defRPr sz="2400" b="0">
                <a:solidFill>
                  <a:schemeClr val="bg1"/>
                </a:solidFill>
              </a:defRPr>
            </a:lvl1pPr>
          </a:lstStyle>
          <a:p>
            <a:r>
              <a:rPr lang="en-GB" noProof="0" dirty="0"/>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8737E7BC-0AD6-4697-8AE2-1050AD12CB8F}"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GB" noProof="0"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noProof="0"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sz="half" idx="1"/>
          </p:nvPr>
        </p:nvSpPr>
        <p:spPr>
          <a:xfrm>
            <a:off x="6842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Content Placeholder 3"/>
          <p:cNvSpPr>
            <a:spLocks noGrp="1"/>
          </p:cNvSpPr>
          <p:nvPr>
            <p:ph sz="half" idx="2"/>
          </p:nvPr>
        </p:nvSpPr>
        <p:spPr>
          <a:xfrm>
            <a:off x="46466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noProof="0"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4" name="Content Placeholder 3"/>
          <p:cNvSpPr>
            <a:spLocks noGrp="1"/>
          </p:cNvSpPr>
          <p:nvPr>
            <p:ph sz="half" idx="2"/>
          </p:nvPr>
        </p:nvSpPr>
        <p:spPr>
          <a:xfrm>
            <a:off x="457200" y="2174875"/>
            <a:ext cx="4040188"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6" name="Content Placeholder 5"/>
          <p:cNvSpPr>
            <a:spLocks noGrp="1"/>
          </p:cNvSpPr>
          <p:nvPr>
            <p:ph sz="quarter" idx="4"/>
          </p:nvPr>
        </p:nvSpPr>
        <p:spPr>
          <a:xfrm>
            <a:off x="4645025" y="2174875"/>
            <a:ext cx="4041775"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noProof="0"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ext Placeholder 3"/>
          <p:cNvSpPr>
            <a:spLocks noGrp="1"/>
          </p:cNvSpPr>
          <p:nvPr>
            <p:ph type="body" sz="half" idx="2"/>
          </p:nvPr>
        </p:nvSpPr>
        <p:spPr>
          <a:xfrm>
            <a:off x="457200" y="1435101"/>
            <a:ext cx="3008313" cy="43701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noProof="0"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Vertical Text Placeholder 2"/>
          <p:cNvSpPr>
            <a:spLocks noGrp="1"/>
          </p:cNvSpPr>
          <p:nvPr>
            <p:ph type="body" orient="vert" idx="1"/>
          </p:nvPr>
        </p:nvSpPr>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noProof="0" dirty="0"/>
              <a:t>Click to edit Master title style</a:t>
            </a:r>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6553200" y="6245225"/>
            <a:ext cx="2133600" cy="476250"/>
          </a:xfrm>
        </p:spPr>
        <p:txBody>
          <a:bodyPr/>
          <a:lstStyle>
            <a:lvl1pPr>
              <a:defRPr smtClean="0"/>
            </a:lvl1pPr>
          </a:lstStyle>
          <a:p>
            <a:pPr>
              <a:defRPr/>
            </a:pPr>
            <a:fld id="{5808733C-49C7-40FB-A4F1-DD2E25C27074}" type="slidenum">
              <a:rPr lang="en-GB"/>
              <a:pPr>
                <a:defRPr/>
              </a:pPr>
              <a:t>‹#›</a:t>
            </a:fld>
            <a:endParaRPr lang="en-GB"/>
          </a:p>
        </p:txBody>
      </p:sp>
    </p:spTree>
    <p:extLst>
      <p:ext uri="{BB962C8B-B14F-4D97-AF65-F5344CB8AC3E}">
        <p14:creationId xmlns:p14="http://schemas.microsoft.com/office/powerpoint/2010/main" val="2452984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38C6626-3379-4AB9-B005-0D7AA955F5C7}" type="slidenum">
              <a:rPr lang="en-GB"/>
              <a:pPr>
                <a:defRPr/>
              </a:pPr>
              <a:t>‹#›</a:t>
            </a:fld>
            <a:endParaRPr lang="en-GB"/>
          </a:p>
        </p:txBody>
      </p:sp>
    </p:spTree>
    <p:extLst>
      <p:ext uri="{BB962C8B-B14F-4D97-AF65-F5344CB8AC3E}">
        <p14:creationId xmlns:p14="http://schemas.microsoft.com/office/powerpoint/2010/main" val="2709270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BE94BBC-7D95-4FCA-8748-CE1039ADF582}" type="slidenum">
              <a:rPr lang="en-GB"/>
              <a:pPr>
                <a:defRPr/>
              </a:pPr>
              <a:t>‹#›</a:t>
            </a:fld>
            <a:endParaRPr lang="en-GB"/>
          </a:p>
        </p:txBody>
      </p:sp>
    </p:spTree>
    <p:extLst>
      <p:ext uri="{BB962C8B-B14F-4D97-AF65-F5344CB8AC3E}">
        <p14:creationId xmlns:p14="http://schemas.microsoft.com/office/powerpoint/2010/main" val="330781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8C0070E-1CC4-4E04-9097-9479805291ED}" type="slidenum">
              <a:rPr lang="en-GB"/>
              <a:pPr>
                <a:defRPr/>
              </a:pPr>
              <a:t>‹#›</a:t>
            </a:fld>
            <a:endParaRPr lang="en-GB"/>
          </a:p>
        </p:txBody>
      </p:sp>
    </p:spTree>
    <p:extLst>
      <p:ext uri="{BB962C8B-B14F-4D97-AF65-F5344CB8AC3E}">
        <p14:creationId xmlns:p14="http://schemas.microsoft.com/office/powerpoint/2010/main" val="1047726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B42338B-ECF1-42EF-AA34-BC42D419FA25}" type="slidenum">
              <a:rPr lang="en-GB"/>
              <a:pPr>
                <a:defRPr/>
              </a:pPr>
              <a:t>‹#›</a:t>
            </a:fld>
            <a:endParaRPr lang="en-GB"/>
          </a:p>
        </p:txBody>
      </p:sp>
    </p:spTree>
    <p:extLst>
      <p:ext uri="{BB962C8B-B14F-4D97-AF65-F5344CB8AC3E}">
        <p14:creationId xmlns:p14="http://schemas.microsoft.com/office/powerpoint/2010/main" val="1098079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AFD1CC83-BF7E-41F3-A021-534C0B15D29D}" type="slidenum">
              <a:rPr lang="en-GB"/>
              <a:pPr>
                <a:defRPr/>
              </a:pPr>
              <a:t>‹#›</a:t>
            </a:fld>
            <a:endParaRPr lang="en-GB"/>
          </a:p>
        </p:txBody>
      </p:sp>
    </p:spTree>
    <p:extLst>
      <p:ext uri="{BB962C8B-B14F-4D97-AF65-F5344CB8AC3E}">
        <p14:creationId xmlns:p14="http://schemas.microsoft.com/office/powerpoint/2010/main" val="3018510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121D383-A17F-44FC-A169-307D1F974877}" type="slidenum">
              <a:rPr lang="en-GB"/>
              <a:pPr>
                <a:defRPr/>
              </a:pPr>
              <a:t>‹#›</a:t>
            </a:fld>
            <a:endParaRPr lang="en-GB"/>
          </a:p>
        </p:txBody>
      </p:sp>
    </p:spTree>
    <p:extLst>
      <p:ext uri="{BB962C8B-B14F-4D97-AF65-F5344CB8AC3E}">
        <p14:creationId xmlns:p14="http://schemas.microsoft.com/office/powerpoint/2010/main" val="1214228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DE0AF8A-6CB0-40D2-B1FA-F3FB40C7D5C7}" type="slidenum">
              <a:rPr lang="en-GB"/>
              <a:pPr>
                <a:defRPr/>
              </a:pPr>
              <a:t>‹#›</a:t>
            </a:fld>
            <a:endParaRPr lang="en-GB"/>
          </a:p>
        </p:txBody>
      </p:sp>
    </p:spTree>
    <p:extLst>
      <p:ext uri="{BB962C8B-B14F-4D97-AF65-F5344CB8AC3E}">
        <p14:creationId xmlns:p14="http://schemas.microsoft.com/office/powerpoint/2010/main" val="37633389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971D76B-0C30-465F-BCAE-0BE050D3324E}" type="slidenum">
              <a:rPr lang="en-GB"/>
              <a:pPr>
                <a:defRPr/>
              </a:pPr>
              <a:t>‹#›</a:t>
            </a:fld>
            <a:endParaRPr lang="en-GB"/>
          </a:p>
        </p:txBody>
      </p:sp>
    </p:spTree>
    <p:extLst>
      <p:ext uri="{BB962C8B-B14F-4D97-AF65-F5344CB8AC3E}">
        <p14:creationId xmlns:p14="http://schemas.microsoft.com/office/powerpoint/2010/main" val="3720674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F196CAF-8346-4AF0-9750-FF9CAD143E7B}" type="slidenum">
              <a:rPr lang="en-GB"/>
              <a:pPr>
                <a:defRPr/>
              </a:pPr>
              <a:t>‹#›</a:t>
            </a:fld>
            <a:endParaRPr lang="en-GB"/>
          </a:p>
        </p:txBody>
      </p:sp>
    </p:spTree>
    <p:extLst>
      <p:ext uri="{BB962C8B-B14F-4D97-AF65-F5344CB8AC3E}">
        <p14:creationId xmlns:p14="http://schemas.microsoft.com/office/powerpoint/2010/main" val="30857518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4DC4723-EA81-4A3C-8A93-8D56707D54A5}" type="slidenum">
              <a:rPr lang="en-GB"/>
              <a:pPr>
                <a:defRPr/>
              </a:pPr>
              <a:t>‹#›</a:t>
            </a:fld>
            <a:endParaRPr lang="en-GB"/>
          </a:p>
        </p:txBody>
      </p:sp>
    </p:spTree>
    <p:extLst>
      <p:ext uri="{BB962C8B-B14F-4D97-AF65-F5344CB8AC3E}">
        <p14:creationId xmlns:p14="http://schemas.microsoft.com/office/powerpoint/2010/main" val="3618474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9537" y="100012"/>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74612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dirty="0"/>
              <a:t>Heading style</a:t>
            </a:r>
          </a:p>
        </p:txBody>
      </p:sp>
      <p:sp>
        <p:nvSpPr>
          <p:cNvPr id="1029" name="Rectangle 3"/>
          <p:cNvSpPr>
            <a:spLocks noGrp="1" noChangeArrowheads="1"/>
          </p:cNvSpPr>
          <p:nvPr>
            <p:ph type="body" idx="1"/>
          </p:nvPr>
        </p:nvSpPr>
        <p:spPr bwMode="auto">
          <a:xfrm>
            <a:off x="684212" y="1587501"/>
            <a:ext cx="8131175" cy="4545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anose="020B0604020202020204" pitchFamily="34" charset="0"/>
                <a:cs typeface="Arial" panose="020B0604020202020204" pitchFamily="34" charset="0"/>
              </a:defRPr>
            </a:lvl1pPr>
          </a:lstStyle>
          <a:p>
            <a:pPr>
              <a:defRPr/>
            </a:pPr>
            <a:endParaRPr lang="en-GB" dirty="0">
              <a:latin typeface="Arial" panose="020B0604020202020204" pitchFamily="34" charset="0"/>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cs typeface="Arial" panose="020B0604020202020204" pitchFamily="34" charset="0"/>
              </a:defRPr>
            </a:lvl1pPr>
          </a:lstStyle>
          <a:p>
            <a:pPr>
              <a:defRPr/>
            </a:pPr>
            <a:fld id="{44A284BA-A63D-4214-92FC-61D78B3D9DA5}" type="slidenum">
              <a:rPr lang="en-GB" smtClean="0"/>
              <a:pPr>
                <a:defRPr/>
              </a:pPr>
              <a:t>‹#›</a:t>
            </a:fld>
            <a:endParaRPr lang="en-GB" dirty="0">
              <a:latin typeface="Arial" panose="020B0604020202020204" pitchFamily="34" charset="0"/>
              <a:cs typeface="Arial" panose="020B0604020202020204" pitchFamily="34" charset="0"/>
            </a:endParaRPr>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4000">
          <a:solidFill>
            <a:srgbClr val="663366"/>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284400" indent="-284400" algn="l" rtl="0" eaLnBrk="1" fontAlgn="base" hangingPunct="1">
        <a:spcBef>
          <a:spcPct val="20000"/>
        </a:spcBef>
        <a:spcAft>
          <a:spcPct val="0"/>
        </a:spcAft>
        <a:buFont typeface="Arial" panose="020B0604020202020204" pitchFamily="34" charset="0"/>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7950" y="107950"/>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A89C703E-5C29-4D80-B46C-539E45548EDA}" type="slidenum">
              <a:rPr lang="en-GB"/>
              <a:pPr>
                <a:defRPr/>
              </a:pPr>
              <a:t>‹#›</a:t>
            </a:fld>
            <a:endParaRPr lang="en-GB"/>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extLst>
      <p:ext uri="{BB962C8B-B14F-4D97-AF65-F5344CB8AC3E}">
        <p14:creationId xmlns:p14="http://schemas.microsoft.com/office/powerpoint/2010/main" val="27803049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fontAlgn="base" hangingPunct="1">
        <a:spcBef>
          <a:spcPct val="0"/>
        </a:spcBef>
        <a:spcAft>
          <a:spcPct val="0"/>
        </a:spcAft>
        <a:defRPr sz="4400">
          <a:solidFill>
            <a:srgbClr val="663366"/>
          </a:solidFill>
          <a:latin typeface="+mj-lt"/>
          <a:ea typeface="+mj-ea"/>
          <a:cs typeface="+mj-cs"/>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1" fontAlgn="base" hangingPunct="1">
        <a:spcBef>
          <a:spcPct val="20000"/>
        </a:spcBef>
        <a:spcAft>
          <a:spcPct val="0"/>
        </a:spcAft>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defRPr>
      </a:lvl2pPr>
      <a:lvl3pPr marL="1143000" indent="-228600" algn="l" rtl="0" eaLnBrk="1" fontAlgn="base" hangingPunct="1">
        <a:spcBef>
          <a:spcPct val="20000"/>
        </a:spcBef>
        <a:spcAft>
          <a:spcPct val="0"/>
        </a:spcAft>
        <a:buChar char="•"/>
        <a:defRPr sz="1400">
          <a:solidFill>
            <a:schemeClr val="tx1"/>
          </a:solidFill>
          <a:latin typeface="+mn-lt"/>
        </a:defRPr>
      </a:lvl3pPr>
      <a:lvl4pPr marL="1600200" indent="-228600" algn="l" rtl="0" eaLnBrk="1" fontAlgn="base" hangingPunct="1">
        <a:spcBef>
          <a:spcPct val="20000"/>
        </a:spcBef>
        <a:spcAft>
          <a:spcPct val="0"/>
        </a:spcAft>
        <a:buChar char="–"/>
        <a:defRPr sz="1200">
          <a:solidFill>
            <a:schemeClr val="tx1"/>
          </a:solidFill>
          <a:latin typeface="+mn-lt"/>
        </a:defRPr>
      </a:lvl4pPr>
      <a:lvl5pPr marL="2057400" indent="-228600" algn="l" rtl="0" eaLnBrk="1" fontAlgn="base" hangingPunct="1">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755650" y="476250"/>
            <a:ext cx="7772400" cy="3744838"/>
          </a:xfrm>
        </p:spPr>
        <p:txBody>
          <a:bodyPr/>
          <a:lstStyle/>
          <a:p>
            <a:r>
              <a:rPr lang="en-GB" dirty="0"/>
              <a:t>Consent as a Defence to Non-Fatal Offences Against the Person</a:t>
            </a:r>
            <a:br>
              <a:rPr lang="en-GB" dirty="0"/>
            </a:br>
            <a:endParaRPr lang="en-GB" sz="1800" dirty="0"/>
          </a:p>
        </p:txBody>
      </p:sp>
      <p:sp>
        <p:nvSpPr>
          <p:cNvPr id="3075" name="Rectangle 3"/>
          <p:cNvSpPr>
            <a:spLocks noGrp="1" noChangeArrowheads="1"/>
          </p:cNvSpPr>
          <p:nvPr>
            <p:ph type="subTitle" sz="quarter" idx="1"/>
          </p:nvPr>
        </p:nvSpPr>
        <p:spPr>
          <a:xfrm>
            <a:off x="755650" y="4221088"/>
            <a:ext cx="7772400" cy="1012069"/>
          </a:xfrm>
        </p:spPr>
        <p:txBody>
          <a:bodyPr/>
          <a:lstStyle/>
          <a:p>
            <a:pPr>
              <a:buNone/>
            </a:pPr>
            <a:r>
              <a:rPr lang="en-GB" dirty="0"/>
              <a:t>Dr Kat Langley</a:t>
            </a:r>
          </a:p>
          <a:p>
            <a:pPr>
              <a:buNone/>
            </a:pPr>
            <a:r>
              <a:rPr lang="en-GB" dirty="0"/>
              <a:t>Tuesday 12</a:t>
            </a:r>
            <a:r>
              <a:rPr lang="en-GB" baseline="30000" dirty="0"/>
              <a:t>th</a:t>
            </a:r>
            <a:r>
              <a:rPr lang="en-GB" dirty="0"/>
              <a:t> November 2024 – Week 6</a:t>
            </a:r>
          </a:p>
        </p:txBody>
      </p:sp>
    </p:spTree>
    <p:extLst>
      <p:ext uri="{BB962C8B-B14F-4D97-AF65-F5344CB8AC3E}">
        <p14:creationId xmlns:p14="http://schemas.microsoft.com/office/powerpoint/2010/main" val="894051124"/>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E32E9D-3A6F-4F50-9427-C3E58A3096D3}"/>
              </a:ext>
            </a:extLst>
          </p:cNvPr>
          <p:cNvSpPr>
            <a:spLocks noGrp="1"/>
          </p:cNvSpPr>
          <p:nvPr>
            <p:ph type="title"/>
          </p:nvPr>
        </p:nvSpPr>
        <p:spPr/>
        <p:txBody>
          <a:bodyPr/>
          <a:lstStyle/>
          <a:p>
            <a:r>
              <a:rPr lang="en-GB" dirty="0"/>
              <a:t>General Principle</a:t>
            </a:r>
          </a:p>
        </p:txBody>
      </p:sp>
      <p:sp>
        <p:nvSpPr>
          <p:cNvPr id="3" name="Text Placeholder 2">
            <a:extLst>
              <a:ext uri="{FF2B5EF4-FFF2-40B4-BE49-F238E27FC236}">
                <a16:creationId xmlns:a16="http://schemas.microsoft.com/office/drawing/2014/main" id="{92E49638-EBD7-4FD6-B3E6-30C8331CFB92}"/>
              </a:ext>
            </a:extLst>
          </p:cNvPr>
          <p:cNvSpPr>
            <a:spLocks noGrp="1"/>
          </p:cNvSpPr>
          <p:nvPr>
            <p:ph idx="1"/>
          </p:nvPr>
        </p:nvSpPr>
        <p:spPr/>
        <p:txBody>
          <a:bodyPr/>
          <a:lstStyle/>
          <a:p>
            <a:endParaRPr lang="en-GB" dirty="0"/>
          </a:p>
          <a:p>
            <a:pPr>
              <a:buFont typeface="Arial" panose="020B0604020202020204" pitchFamily="34" charset="0"/>
              <a:buChar char="•"/>
            </a:pPr>
            <a:r>
              <a:rPr lang="en-GB" sz="2000" dirty="0"/>
              <a:t>Consent is available as a defence to </a:t>
            </a:r>
            <a:r>
              <a:rPr lang="en-GB" sz="2000" b="1" dirty="0"/>
              <a:t>assault</a:t>
            </a:r>
            <a:r>
              <a:rPr lang="en-GB" sz="2000" dirty="0"/>
              <a:t> and </a:t>
            </a:r>
            <a:r>
              <a:rPr lang="en-GB" sz="2000" b="1" dirty="0"/>
              <a:t>battery</a:t>
            </a:r>
            <a:r>
              <a:rPr lang="en-GB" sz="2000" dirty="0"/>
              <a:t>, but the consent must be (i) </a:t>
            </a:r>
            <a:r>
              <a:rPr lang="en-GB" sz="2000" i="1" dirty="0"/>
              <a:t>express</a:t>
            </a:r>
            <a:r>
              <a:rPr lang="en-GB" sz="2000" dirty="0"/>
              <a:t> or </a:t>
            </a:r>
            <a:r>
              <a:rPr lang="en-GB" sz="2000" i="1" dirty="0"/>
              <a:t>implied</a:t>
            </a:r>
            <a:r>
              <a:rPr lang="en-GB" sz="2000" dirty="0"/>
              <a:t> and (ii) </a:t>
            </a:r>
            <a:r>
              <a:rPr lang="en-GB" sz="2000" i="1" dirty="0"/>
              <a:t>effective.</a:t>
            </a:r>
          </a:p>
          <a:p>
            <a:pPr>
              <a:buFont typeface="Arial" panose="020B0604020202020204" pitchFamily="34" charset="0"/>
              <a:buChar char="•"/>
            </a:pPr>
            <a:endParaRPr lang="en-GB" sz="2000" dirty="0"/>
          </a:p>
          <a:p>
            <a:pPr>
              <a:buFont typeface="Arial" panose="020B0604020202020204" pitchFamily="34" charset="0"/>
              <a:buChar char="•"/>
            </a:pPr>
            <a:r>
              <a:rPr lang="en-GB" sz="2000" dirty="0"/>
              <a:t>Consent is </a:t>
            </a:r>
            <a:r>
              <a:rPr lang="en-GB" sz="2000" i="1" dirty="0"/>
              <a:t>only </a:t>
            </a:r>
            <a:r>
              <a:rPr lang="en-GB" sz="2000" dirty="0"/>
              <a:t>available as a defence to </a:t>
            </a:r>
            <a:r>
              <a:rPr lang="en-GB" sz="2000" b="1" dirty="0"/>
              <a:t>ABH</a:t>
            </a:r>
            <a:r>
              <a:rPr lang="en-GB" sz="2000" dirty="0"/>
              <a:t> and </a:t>
            </a:r>
            <a:r>
              <a:rPr lang="en-GB" sz="2000" b="1" dirty="0"/>
              <a:t>GBH</a:t>
            </a:r>
            <a:r>
              <a:rPr lang="en-GB" sz="2000" dirty="0"/>
              <a:t> where the consent is (i) </a:t>
            </a:r>
            <a:r>
              <a:rPr lang="en-GB" sz="2000" i="1" dirty="0"/>
              <a:t>express or implied </a:t>
            </a:r>
            <a:r>
              <a:rPr lang="en-GB" sz="2000" dirty="0"/>
              <a:t>and (ii) </a:t>
            </a:r>
            <a:r>
              <a:rPr lang="en-GB" sz="2000" i="1" dirty="0"/>
              <a:t>effective</a:t>
            </a:r>
            <a:r>
              <a:rPr lang="en-GB" sz="2000" dirty="0"/>
              <a:t> </a:t>
            </a:r>
            <a:r>
              <a:rPr lang="en-GB" sz="2000" i="1" dirty="0"/>
              <a:t>and (iii) </a:t>
            </a:r>
            <a:r>
              <a:rPr lang="en-GB" sz="2000" dirty="0"/>
              <a:t>D’s conduct </a:t>
            </a:r>
            <a:r>
              <a:rPr lang="en-GB" sz="2000" i="1" dirty="0"/>
              <a:t>falls within a recognised category of exception.</a:t>
            </a:r>
          </a:p>
        </p:txBody>
      </p:sp>
    </p:spTree>
    <p:extLst>
      <p:ext uri="{BB962C8B-B14F-4D97-AF65-F5344CB8AC3E}">
        <p14:creationId xmlns:p14="http://schemas.microsoft.com/office/powerpoint/2010/main" val="2261237104"/>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6A255-B85A-4016-B800-593985A2DDC0}"/>
              </a:ext>
            </a:extLst>
          </p:cNvPr>
          <p:cNvSpPr>
            <a:spLocks noGrp="1"/>
          </p:cNvSpPr>
          <p:nvPr>
            <p:ph type="title"/>
          </p:nvPr>
        </p:nvSpPr>
        <p:spPr>
          <a:xfrm>
            <a:off x="685800" y="609600"/>
            <a:ext cx="7772400" cy="1143000"/>
          </a:xfrm>
        </p:spPr>
        <p:txBody>
          <a:bodyPr wrap="square" anchor="ctr">
            <a:normAutofit/>
          </a:bodyPr>
          <a:lstStyle/>
          <a:p>
            <a:r>
              <a:rPr lang="en-GB" dirty="0"/>
              <a:t>This week’s lecture</a:t>
            </a:r>
          </a:p>
        </p:txBody>
      </p:sp>
      <p:graphicFrame>
        <p:nvGraphicFramePr>
          <p:cNvPr id="4" name="Diagram 3">
            <a:extLst>
              <a:ext uri="{FF2B5EF4-FFF2-40B4-BE49-F238E27FC236}">
                <a16:creationId xmlns:a16="http://schemas.microsoft.com/office/drawing/2014/main" id="{B7C8F37C-52B4-460B-9BE1-F81B650019D7}"/>
              </a:ext>
            </a:extLst>
          </p:cNvPr>
          <p:cNvGraphicFramePr/>
          <p:nvPr>
            <p:extLst>
              <p:ext uri="{D42A27DB-BD31-4B8C-83A1-F6EECF244321}">
                <p14:modId xmlns:p14="http://schemas.microsoft.com/office/powerpoint/2010/main" val="2359589303"/>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416003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9A3C-4F12-F34D-A266-676E720C6337}"/>
              </a:ext>
            </a:extLst>
          </p:cNvPr>
          <p:cNvSpPr>
            <a:spLocks noGrp="1"/>
          </p:cNvSpPr>
          <p:nvPr>
            <p:ph type="title"/>
          </p:nvPr>
        </p:nvSpPr>
        <p:spPr/>
        <p:txBody>
          <a:bodyPr/>
          <a:lstStyle/>
          <a:p>
            <a:r>
              <a:rPr lang="en-GB" dirty="0"/>
              <a:t>Express and Implied Consent</a:t>
            </a:r>
          </a:p>
        </p:txBody>
      </p:sp>
      <p:sp>
        <p:nvSpPr>
          <p:cNvPr id="3" name="Content Placeholder 2">
            <a:extLst>
              <a:ext uri="{FF2B5EF4-FFF2-40B4-BE49-F238E27FC236}">
                <a16:creationId xmlns:a16="http://schemas.microsoft.com/office/drawing/2014/main" id="{AA361FCC-FCC7-2B46-94D6-49D27A1747DA}"/>
              </a:ext>
            </a:extLst>
          </p:cNvPr>
          <p:cNvSpPr>
            <a:spLocks noGrp="1"/>
          </p:cNvSpPr>
          <p:nvPr>
            <p:ph idx="1"/>
          </p:nvPr>
        </p:nvSpPr>
        <p:spPr>
          <a:xfrm>
            <a:off x="684213" y="1989138"/>
            <a:ext cx="7772400" cy="3960142"/>
          </a:xfrm>
        </p:spPr>
        <p:txBody>
          <a:bodyPr>
            <a:normAutofit fontScale="92500"/>
          </a:bodyPr>
          <a:lstStyle/>
          <a:p>
            <a:r>
              <a:rPr lang="en-GB" b="1" dirty="0">
                <a:effectLst/>
              </a:rPr>
              <a:t>Express Intent: </a:t>
            </a:r>
          </a:p>
          <a:p>
            <a:pPr>
              <a:buFont typeface="Arial" panose="020B0604020202020204" pitchFamily="34" charset="0"/>
              <a:buChar char="•"/>
            </a:pPr>
            <a:r>
              <a:rPr lang="en-GB" b="0" dirty="0">
                <a:effectLst/>
              </a:rPr>
              <a:t>Where V expressly consents to contact with D.</a:t>
            </a:r>
          </a:p>
          <a:p>
            <a:pPr marL="0" indent="0"/>
            <a:endParaRPr lang="en-GB" b="0" dirty="0">
              <a:effectLst/>
            </a:endParaRPr>
          </a:p>
          <a:p>
            <a:pPr marL="0" indent="0"/>
            <a:r>
              <a:rPr lang="en-GB" b="1" dirty="0">
                <a:effectLst/>
              </a:rPr>
              <a:t>Implied consent:</a:t>
            </a:r>
          </a:p>
          <a:p>
            <a:pPr marL="285750" indent="-285750">
              <a:buFont typeface="Arial" panose="020B0604020202020204" pitchFamily="34" charset="0"/>
              <a:buChar char="•"/>
            </a:pPr>
            <a:r>
              <a:rPr lang="en-GB" dirty="0"/>
              <a:t>Touching which, whilst not expressly consented to, is part of everyday life.</a:t>
            </a:r>
          </a:p>
          <a:p>
            <a:pPr marL="285750" indent="-285750">
              <a:buFont typeface="Arial" panose="020B0604020202020204" pitchFamily="34" charset="0"/>
              <a:buChar char="•"/>
            </a:pPr>
            <a:r>
              <a:rPr lang="en-GB" b="0" i="1" dirty="0">
                <a:effectLst/>
              </a:rPr>
              <a:t>Collins v Wilcock </a:t>
            </a:r>
            <a:r>
              <a:rPr lang="en-GB" b="0" dirty="0">
                <a:effectLst/>
              </a:rPr>
              <a:t>[1984] 3 All ER 374</a:t>
            </a:r>
            <a:endParaRPr lang="en-GB" b="0" i="1" dirty="0">
              <a:effectLst/>
            </a:endParaRPr>
          </a:p>
          <a:p>
            <a:pPr lvl="1">
              <a:buFont typeface="Arial" panose="020B0604020202020204" pitchFamily="34" charset="0"/>
              <a:buChar char="•"/>
            </a:pPr>
            <a:r>
              <a:rPr lang="en-GB" i="1" dirty="0"/>
              <a:t>“A broader exception has been created to allow for the exigencies of everyday life … most of the physical contacts of ordinary life are not actionable because they are impliedly consented to by all who move in society and so expose themselves to the risk of bodily contact … In each case, the test must be whether the physical contact so persisted in has in the circumstances gone beyond generally acceptable standards of conduct; and the answer to that question will depend upon the facts of the particular case.”</a:t>
            </a:r>
          </a:p>
          <a:p>
            <a:pPr>
              <a:buFont typeface="Arial" panose="020B0604020202020204" pitchFamily="34" charset="0"/>
              <a:buChar char="•"/>
            </a:pPr>
            <a:r>
              <a:rPr lang="en-GB" dirty="0"/>
              <a:t>See also: </a:t>
            </a:r>
            <a:r>
              <a:rPr lang="en-GB" i="1" dirty="0"/>
              <a:t>Wood v DPP </a:t>
            </a:r>
            <a:r>
              <a:rPr lang="en-GB" dirty="0"/>
              <a:t>[2008] EWHC 1056 (Admin)</a:t>
            </a:r>
          </a:p>
        </p:txBody>
      </p:sp>
    </p:spTree>
    <p:extLst>
      <p:ext uri="{BB962C8B-B14F-4D97-AF65-F5344CB8AC3E}">
        <p14:creationId xmlns:p14="http://schemas.microsoft.com/office/powerpoint/2010/main" val="3152970367"/>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39EA9-3645-E74F-B2D5-BC349A688BBB}"/>
              </a:ext>
            </a:extLst>
          </p:cNvPr>
          <p:cNvSpPr>
            <a:spLocks noGrp="1"/>
          </p:cNvSpPr>
          <p:nvPr>
            <p:ph type="title"/>
          </p:nvPr>
        </p:nvSpPr>
        <p:spPr/>
        <p:txBody>
          <a:bodyPr/>
          <a:lstStyle/>
          <a:p>
            <a:r>
              <a:rPr lang="en-GB" dirty="0"/>
              <a:t>Effective Consent</a:t>
            </a:r>
          </a:p>
        </p:txBody>
      </p:sp>
      <p:sp>
        <p:nvSpPr>
          <p:cNvPr id="3" name="Content Placeholder 2">
            <a:extLst>
              <a:ext uri="{FF2B5EF4-FFF2-40B4-BE49-F238E27FC236}">
                <a16:creationId xmlns:a16="http://schemas.microsoft.com/office/drawing/2014/main" id="{2B058352-304C-1749-B9F9-17D67AEBF630}"/>
              </a:ext>
            </a:extLst>
          </p:cNvPr>
          <p:cNvSpPr>
            <a:spLocks noGrp="1"/>
          </p:cNvSpPr>
          <p:nvPr>
            <p:ph idx="1"/>
          </p:nvPr>
        </p:nvSpPr>
        <p:spPr>
          <a:xfrm>
            <a:off x="684212" y="1989138"/>
            <a:ext cx="7992243" cy="3816350"/>
          </a:xfrm>
        </p:spPr>
        <p:txBody>
          <a:bodyPr/>
          <a:lstStyle/>
          <a:p>
            <a:pPr>
              <a:buAutoNum type="arabicPeriod"/>
            </a:pPr>
            <a:r>
              <a:rPr lang="en-GB" sz="1600" dirty="0"/>
              <a:t>Capacity</a:t>
            </a:r>
          </a:p>
          <a:p>
            <a:pPr lvl="1"/>
            <a:r>
              <a:rPr lang="en-GB" sz="1400" dirty="0"/>
              <a:t>Historically, capacity based on status: </a:t>
            </a:r>
            <a:r>
              <a:rPr lang="en-GB" sz="1400" i="1" dirty="0"/>
              <a:t>Burrell v Harmer </a:t>
            </a:r>
            <a:r>
              <a:rPr lang="en-GB" sz="1400" dirty="0"/>
              <a:t>[1967] Crim LR 169</a:t>
            </a:r>
          </a:p>
          <a:p>
            <a:pPr lvl="1"/>
            <a:r>
              <a:rPr lang="en-GB" sz="1400" dirty="0"/>
              <a:t>Mental Capacity Act 2005: “a person lacks capacity in relation to a matter if at the material time he is unable to make a decision for himself in relation to the matter because of an impairment of, or a disturbance in the functioning of, the mind or brain”</a:t>
            </a:r>
          </a:p>
          <a:p>
            <a:pPr>
              <a:buAutoNum type="arabicPeriod"/>
            </a:pPr>
            <a:r>
              <a:rPr lang="en-GB" sz="1600" dirty="0"/>
              <a:t>Informed Consent</a:t>
            </a:r>
          </a:p>
          <a:p>
            <a:pPr lvl="1"/>
            <a:r>
              <a:rPr lang="en-GB" sz="1400" dirty="0"/>
              <a:t>V must be aware of what the conduct entails before they can exercise their capacity to make a decision: </a:t>
            </a:r>
            <a:r>
              <a:rPr lang="en-GB" sz="1400" i="1" dirty="0" err="1"/>
              <a:t>Konzani</a:t>
            </a:r>
            <a:r>
              <a:rPr lang="en-GB" sz="1400" dirty="0"/>
              <a:t> [2005] EWCA Crim 706.</a:t>
            </a:r>
          </a:p>
          <a:p>
            <a:pPr>
              <a:buAutoNum type="arabicPeriod"/>
            </a:pPr>
            <a:r>
              <a:rPr lang="en-GB" sz="1600" dirty="0"/>
              <a:t>Fraud</a:t>
            </a:r>
          </a:p>
          <a:p>
            <a:pPr lvl="1"/>
            <a:r>
              <a:rPr lang="en-GB" sz="1400" dirty="0"/>
              <a:t>As to the identity of D: </a:t>
            </a:r>
            <a:r>
              <a:rPr lang="en-GB" sz="1400" i="1" dirty="0"/>
              <a:t>Richardson</a:t>
            </a:r>
            <a:r>
              <a:rPr lang="en-GB" sz="1400" dirty="0"/>
              <a:t> [1998] 2 Cr App R 200; </a:t>
            </a:r>
            <a:r>
              <a:rPr lang="en-GB" sz="1400" i="1" dirty="0" err="1"/>
              <a:t>Melin</a:t>
            </a:r>
            <a:r>
              <a:rPr lang="en-GB" sz="1400" dirty="0"/>
              <a:t> [2019] EWCA Crim 557</a:t>
            </a:r>
          </a:p>
          <a:p>
            <a:pPr lvl="1"/>
            <a:r>
              <a:rPr lang="en-GB" sz="1400" dirty="0"/>
              <a:t>As to the nature of D’s conduct: V must be deceived as to the core nature of the act, not a collateral issue; </a:t>
            </a:r>
            <a:r>
              <a:rPr lang="it-IT" sz="1400" dirty="0"/>
              <a:t>Mobilio [1991] 1 VR 339.</a:t>
            </a:r>
            <a:endParaRPr lang="en-GB" sz="1400" dirty="0"/>
          </a:p>
          <a:p>
            <a:pPr>
              <a:buAutoNum type="arabicPeriod"/>
            </a:pPr>
            <a:r>
              <a:rPr lang="en-GB" sz="1600" dirty="0"/>
              <a:t>Duress</a:t>
            </a:r>
          </a:p>
          <a:p>
            <a:pPr lvl="1"/>
            <a:r>
              <a:rPr lang="en-GB" sz="1400" dirty="0"/>
              <a:t>V’s apparent consent must have been caused by D’s threat, as opposed to other factors; </a:t>
            </a:r>
            <a:r>
              <a:rPr lang="en-GB" dirty="0"/>
              <a:t>Jones and Others (1986) 83 Cr App R 375.</a:t>
            </a:r>
            <a:endParaRPr lang="en-GB" sz="1400" dirty="0"/>
          </a:p>
        </p:txBody>
      </p:sp>
    </p:spTree>
    <p:extLst>
      <p:ext uri="{BB962C8B-B14F-4D97-AF65-F5344CB8AC3E}">
        <p14:creationId xmlns:p14="http://schemas.microsoft.com/office/powerpoint/2010/main" val="337452765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9DC58-4FAD-F594-4CB7-E63E6D336990}"/>
              </a:ext>
            </a:extLst>
          </p:cNvPr>
          <p:cNvSpPr>
            <a:spLocks noGrp="1"/>
          </p:cNvSpPr>
          <p:nvPr>
            <p:ph type="title"/>
          </p:nvPr>
        </p:nvSpPr>
        <p:spPr/>
        <p:txBody>
          <a:bodyPr/>
          <a:lstStyle/>
          <a:p>
            <a:r>
              <a:rPr lang="en-US" dirty="0"/>
              <a:t>What do we know…?</a:t>
            </a:r>
          </a:p>
        </p:txBody>
      </p:sp>
      <p:sp>
        <p:nvSpPr>
          <p:cNvPr id="4" name="TextBox 3">
            <a:extLst>
              <a:ext uri="{FF2B5EF4-FFF2-40B4-BE49-F238E27FC236}">
                <a16:creationId xmlns:a16="http://schemas.microsoft.com/office/drawing/2014/main" id="{3CDCB21F-05C5-DA8F-3A8B-B7E323453FA3}"/>
              </a:ext>
            </a:extLst>
          </p:cNvPr>
          <p:cNvSpPr txBox="1"/>
          <p:nvPr/>
        </p:nvSpPr>
        <p:spPr>
          <a:xfrm>
            <a:off x="1115616" y="2780928"/>
            <a:ext cx="6588224" cy="830997"/>
          </a:xfrm>
          <a:prstGeom prst="rect">
            <a:avLst/>
          </a:prstGeom>
          <a:noFill/>
        </p:spPr>
        <p:txBody>
          <a:bodyPr wrap="square">
            <a:spAutoFit/>
          </a:bodyPr>
          <a:lstStyle/>
          <a:p>
            <a:pPr algn="ctr"/>
            <a:r>
              <a:rPr lang="en-US" dirty="0"/>
              <a:t>Join at </a:t>
            </a:r>
            <a:r>
              <a:rPr lang="en-US" dirty="0" err="1"/>
              <a:t>www.menti.com</a:t>
            </a:r>
            <a:r>
              <a:rPr lang="en-US" dirty="0"/>
              <a:t> </a:t>
            </a:r>
          </a:p>
          <a:p>
            <a:pPr algn="ctr"/>
            <a:r>
              <a:rPr lang="en-US" dirty="0"/>
              <a:t>Use code 5957 8253</a:t>
            </a:r>
          </a:p>
        </p:txBody>
      </p:sp>
      <p:sp>
        <p:nvSpPr>
          <p:cNvPr id="5" name="TextBox 4">
            <a:extLst>
              <a:ext uri="{FF2B5EF4-FFF2-40B4-BE49-F238E27FC236}">
                <a16:creationId xmlns:a16="http://schemas.microsoft.com/office/drawing/2014/main" id="{AE52ED20-2C07-4E20-9470-F748420E3144}"/>
              </a:ext>
            </a:extLst>
          </p:cNvPr>
          <p:cNvSpPr txBox="1"/>
          <p:nvPr/>
        </p:nvSpPr>
        <p:spPr>
          <a:xfrm>
            <a:off x="8316416" y="5589240"/>
            <a:ext cx="1152128" cy="1107996"/>
          </a:xfrm>
          <a:prstGeom prst="rect">
            <a:avLst/>
          </a:prstGeom>
          <a:noFill/>
        </p:spPr>
        <p:txBody>
          <a:bodyPr wrap="square" rtlCol="0">
            <a:spAutoFit/>
          </a:bodyPr>
          <a:lstStyle/>
          <a:p>
            <a:r>
              <a:rPr lang="en-US" sz="6600" dirty="0">
                <a:solidFill>
                  <a:srgbClr val="7030A0"/>
                </a:solidFill>
              </a:rPr>
              <a:t>!</a:t>
            </a:r>
          </a:p>
        </p:txBody>
      </p:sp>
    </p:spTree>
    <p:extLst>
      <p:ext uri="{BB962C8B-B14F-4D97-AF65-F5344CB8AC3E}">
        <p14:creationId xmlns:p14="http://schemas.microsoft.com/office/powerpoint/2010/main" val="58042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9DA9C-12C2-B647-B6B0-9BF8F0BFA1F1}"/>
              </a:ext>
            </a:extLst>
          </p:cNvPr>
          <p:cNvSpPr>
            <a:spLocks noGrp="1"/>
          </p:cNvSpPr>
          <p:nvPr>
            <p:ph type="title"/>
          </p:nvPr>
        </p:nvSpPr>
        <p:spPr/>
        <p:txBody>
          <a:bodyPr/>
          <a:lstStyle/>
          <a:p>
            <a:r>
              <a:rPr lang="en-GB" dirty="0"/>
              <a:t>Recognised Categories of Exception</a:t>
            </a:r>
          </a:p>
        </p:txBody>
      </p:sp>
      <p:sp>
        <p:nvSpPr>
          <p:cNvPr id="3" name="Content Placeholder 2">
            <a:extLst>
              <a:ext uri="{FF2B5EF4-FFF2-40B4-BE49-F238E27FC236}">
                <a16:creationId xmlns:a16="http://schemas.microsoft.com/office/drawing/2014/main" id="{F5654D89-9987-B04F-B9C3-77B2252234E1}"/>
              </a:ext>
            </a:extLst>
          </p:cNvPr>
          <p:cNvSpPr>
            <a:spLocks noGrp="1"/>
          </p:cNvSpPr>
          <p:nvPr>
            <p:ph idx="1"/>
          </p:nvPr>
        </p:nvSpPr>
        <p:spPr/>
        <p:txBody>
          <a:bodyPr>
            <a:normAutofit/>
          </a:bodyPr>
          <a:lstStyle/>
          <a:p>
            <a:pPr marL="0" indent="0">
              <a:defRPr/>
            </a:pPr>
            <a:r>
              <a:rPr lang="en-GB" b="1" i="1" dirty="0"/>
              <a:t>R v Brown </a:t>
            </a:r>
            <a:r>
              <a:rPr lang="en-GB" b="1" dirty="0"/>
              <a:t>[1994] 1 AC 212 HL</a:t>
            </a:r>
          </a:p>
          <a:p>
            <a:pPr>
              <a:buFont typeface="Arial" panose="020B0604020202020204" pitchFamily="34" charset="0"/>
              <a:buChar char="•"/>
              <a:defRPr/>
            </a:pPr>
            <a:r>
              <a:rPr lang="en-GB" b="1" dirty="0"/>
              <a:t>Facts of the case: </a:t>
            </a:r>
            <a:r>
              <a:rPr lang="en-GB" dirty="0"/>
              <a:t>A group of homosexual men engaged in a series of (consensual) sadomasochistic acts with each other that caused actual bodily harm and wounding, contrary to sections 47 and 20 of the Offences Against the Person Act</a:t>
            </a:r>
          </a:p>
          <a:p>
            <a:pPr>
              <a:buFont typeface="Arial" panose="020B0604020202020204" pitchFamily="34" charset="0"/>
              <a:buChar char="•"/>
              <a:defRPr/>
            </a:pPr>
            <a:r>
              <a:rPr lang="en-GB" b="1" dirty="0"/>
              <a:t>Majority decision: </a:t>
            </a:r>
            <a:r>
              <a:rPr lang="en-GB" dirty="0"/>
              <a:t>consent was a defence to a charge of </a:t>
            </a:r>
            <a:r>
              <a:rPr lang="en-GB" i="1" dirty="0"/>
              <a:t>assault or battery, </a:t>
            </a:r>
            <a:r>
              <a:rPr lang="en-GB" dirty="0"/>
              <a:t>but where the injury amounted to </a:t>
            </a:r>
            <a:r>
              <a:rPr lang="en-GB" i="1" dirty="0"/>
              <a:t>actual bodily harm or more serious harm</a:t>
            </a:r>
            <a:r>
              <a:rPr lang="en-GB" dirty="0"/>
              <a:t>, the defence could be used only if the case fell within one of </a:t>
            </a:r>
            <a:r>
              <a:rPr lang="en-GB" i="1" dirty="0"/>
              <a:t>an accepted category of exceptional cases</a:t>
            </a:r>
          </a:p>
          <a:p>
            <a:pPr>
              <a:buFont typeface="Arial" panose="020B0604020202020204" pitchFamily="34" charset="0"/>
              <a:buChar char="•"/>
              <a:defRPr/>
            </a:pPr>
            <a:r>
              <a:rPr lang="en-GB" b="1" dirty="0"/>
              <a:t>Minority judgment: </a:t>
            </a:r>
            <a:r>
              <a:rPr lang="en-GB" dirty="0"/>
              <a:t>activities had been consensual and had taken place in private, this meant the activities should not be regarded as criminal unless there was some clear public harm resulting from them</a:t>
            </a:r>
          </a:p>
        </p:txBody>
      </p:sp>
    </p:spTree>
    <p:extLst>
      <p:ext uri="{BB962C8B-B14F-4D97-AF65-F5344CB8AC3E}">
        <p14:creationId xmlns:p14="http://schemas.microsoft.com/office/powerpoint/2010/main" val="2106064202"/>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5F379-8675-F04A-A720-276275031779}"/>
              </a:ext>
            </a:extLst>
          </p:cNvPr>
          <p:cNvSpPr>
            <a:spLocks noGrp="1"/>
          </p:cNvSpPr>
          <p:nvPr>
            <p:ph type="title"/>
          </p:nvPr>
        </p:nvSpPr>
        <p:spPr/>
        <p:txBody>
          <a:bodyPr/>
          <a:lstStyle/>
          <a:p>
            <a:r>
              <a:rPr lang="en-GB" i="1" dirty="0"/>
              <a:t>R v Brown </a:t>
            </a:r>
            <a:r>
              <a:rPr lang="en-GB" dirty="0"/>
              <a:t>[1994] 1 AC 212 HL</a:t>
            </a:r>
          </a:p>
        </p:txBody>
      </p:sp>
      <p:sp>
        <p:nvSpPr>
          <p:cNvPr id="3" name="Content Placeholder 2">
            <a:extLst>
              <a:ext uri="{FF2B5EF4-FFF2-40B4-BE49-F238E27FC236}">
                <a16:creationId xmlns:a16="http://schemas.microsoft.com/office/drawing/2014/main" id="{0A22377E-422B-CA43-B6D2-E764873CFCA6}"/>
              </a:ext>
            </a:extLst>
          </p:cNvPr>
          <p:cNvSpPr>
            <a:spLocks noGrp="1"/>
          </p:cNvSpPr>
          <p:nvPr>
            <p:ph idx="1"/>
          </p:nvPr>
        </p:nvSpPr>
        <p:spPr/>
        <p:txBody>
          <a:bodyPr>
            <a:normAutofit lnSpcReduction="10000"/>
          </a:bodyPr>
          <a:lstStyle/>
          <a:p>
            <a:pPr marL="0" lvl="0" indent="0"/>
            <a:endParaRPr lang="en-GB" dirty="0"/>
          </a:p>
          <a:p>
            <a:pPr marL="0" lvl="0" indent="0"/>
            <a:r>
              <a:rPr lang="en-GB" dirty="0"/>
              <a:t>Lord Jauncey:</a:t>
            </a:r>
          </a:p>
          <a:p>
            <a:pPr marL="0" lvl="0" indent="0"/>
            <a:endParaRPr lang="en-GB" dirty="0"/>
          </a:p>
          <a:p>
            <a:pPr marL="0" lvl="0" indent="0"/>
            <a:r>
              <a:rPr lang="en-GB" dirty="0"/>
              <a:t>“</a:t>
            </a:r>
            <a:r>
              <a:rPr lang="en-GB" i="1" dirty="0"/>
              <a:t>In my view the line properly falls to be drawn between assault at common law and the offence of assault occasioning actual bodily harm created by section 47 of the Offences Against the Person Act 1861, with the result that consent of the victim is no answer to anyone charged with the latter offence or with a contravention of section 20 unless the circumstances fall within one of the well known exceptions such as organised sporting contests and games, parental chastisement or reasonable surgery.”</a:t>
            </a:r>
          </a:p>
          <a:p>
            <a:pPr marL="0" lvl="0" indent="0"/>
            <a:endParaRPr lang="en-GB" i="1" dirty="0"/>
          </a:p>
          <a:p>
            <a:pPr marL="0" lvl="0" indent="0"/>
            <a:r>
              <a:rPr lang="en-GB" dirty="0"/>
              <a:t>See also: </a:t>
            </a:r>
            <a:r>
              <a:rPr lang="en-GB" i="1" dirty="0"/>
              <a:t>Attorney General’s Reference (No. 6) of 1980) </a:t>
            </a:r>
            <a:r>
              <a:rPr lang="en-GB" dirty="0"/>
              <a:t>[1981] QB 715 and s. 71(2) Domestic Abuse Act 1021</a:t>
            </a:r>
          </a:p>
        </p:txBody>
      </p:sp>
    </p:spTree>
    <p:extLst>
      <p:ext uri="{BB962C8B-B14F-4D97-AF65-F5344CB8AC3E}">
        <p14:creationId xmlns:p14="http://schemas.microsoft.com/office/powerpoint/2010/main" val="126242524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785-5CEE-654E-BD4C-839A979E3297}"/>
              </a:ext>
            </a:extLst>
          </p:cNvPr>
          <p:cNvSpPr>
            <a:spLocks noGrp="1"/>
          </p:cNvSpPr>
          <p:nvPr>
            <p:ph type="title"/>
          </p:nvPr>
        </p:nvSpPr>
        <p:spPr/>
        <p:txBody>
          <a:bodyPr/>
          <a:lstStyle/>
          <a:p>
            <a:r>
              <a:rPr lang="en-GB" dirty="0"/>
              <a:t>Recognised Categories of Exception</a:t>
            </a:r>
          </a:p>
        </p:txBody>
      </p:sp>
      <p:sp>
        <p:nvSpPr>
          <p:cNvPr id="3" name="Content Placeholder 2">
            <a:extLst>
              <a:ext uri="{FF2B5EF4-FFF2-40B4-BE49-F238E27FC236}">
                <a16:creationId xmlns:a16="http://schemas.microsoft.com/office/drawing/2014/main" id="{EE43D040-74A1-B048-BC9C-AA3DAFD734EB}"/>
              </a:ext>
            </a:extLst>
          </p:cNvPr>
          <p:cNvSpPr>
            <a:spLocks noGrp="1"/>
          </p:cNvSpPr>
          <p:nvPr>
            <p:ph idx="1"/>
          </p:nvPr>
        </p:nvSpPr>
        <p:spPr/>
        <p:txBody>
          <a:bodyPr/>
          <a:lstStyle/>
          <a:p>
            <a:pPr marL="457200" indent="-457200">
              <a:buFont typeface="+mj-lt"/>
              <a:buAutoNum type="arabicPeriod"/>
            </a:pPr>
            <a:endParaRPr lang="en-GB" sz="2000" dirty="0"/>
          </a:p>
          <a:p>
            <a:pPr marL="457200" indent="-457200">
              <a:buFont typeface="+mj-lt"/>
              <a:buAutoNum type="arabicPeriod"/>
            </a:pPr>
            <a:r>
              <a:rPr lang="en-GB" sz="2000" dirty="0"/>
              <a:t>Surgery</a:t>
            </a:r>
          </a:p>
          <a:p>
            <a:pPr marL="457200" indent="-457200">
              <a:buFont typeface="+mj-lt"/>
              <a:buAutoNum type="arabicPeriod"/>
            </a:pPr>
            <a:r>
              <a:rPr lang="en-GB" sz="2000" dirty="0"/>
              <a:t>Piercings, tattooing, hair cutting</a:t>
            </a:r>
          </a:p>
          <a:p>
            <a:pPr marL="457200" indent="-457200">
              <a:buFont typeface="+mj-lt"/>
              <a:buAutoNum type="arabicPeriod"/>
            </a:pPr>
            <a:r>
              <a:rPr lang="en-GB" sz="2000" dirty="0"/>
              <a:t>Religious flagellation</a:t>
            </a:r>
          </a:p>
          <a:p>
            <a:pPr marL="457200" indent="-457200">
              <a:buFont typeface="+mj-lt"/>
              <a:buAutoNum type="arabicPeriod"/>
            </a:pPr>
            <a:r>
              <a:rPr lang="en-GB" sz="2000" dirty="0"/>
              <a:t>Sports</a:t>
            </a:r>
          </a:p>
          <a:p>
            <a:pPr marL="457200" indent="-457200">
              <a:buFont typeface="+mj-lt"/>
              <a:buAutoNum type="arabicPeriod"/>
            </a:pPr>
            <a:r>
              <a:rPr lang="en-GB" sz="2000" dirty="0"/>
              <a:t>Horseplay</a:t>
            </a:r>
          </a:p>
          <a:p>
            <a:pPr marL="457200" indent="-457200">
              <a:buFont typeface="+mj-lt"/>
              <a:buAutoNum type="arabicPeriod"/>
            </a:pPr>
            <a:r>
              <a:rPr lang="en-GB" sz="2000" dirty="0"/>
              <a:t>Sexually transmitted infections</a:t>
            </a:r>
          </a:p>
          <a:p>
            <a:endParaRPr lang="en-GB" sz="2000" dirty="0"/>
          </a:p>
        </p:txBody>
      </p:sp>
    </p:spTree>
    <p:extLst>
      <p:ext uri="{BB962C8B-B14F-4D97-AF65-F5344CB8AC3E}">
        <p14:creationId xmlns:p14="http://schemas.microsoft.com/office/powerpoint/2010/main" val="259664318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1CC0E-B9F3-2A4C-98CB-569480EC9ADF}"/>
              </a:ext>
            </a:extLst>
          </p:cNvPr>
          <p:cNvSpPr>
            <a:spLocks noGrp="1"/>
          </p:cNvSpPr>
          <p:nvPr>
            <p:ph type="title"/>
          </p:nvPr>
        </p:nvSpPr>
        <p:spPr/>
        <p:txBody>
          <a:bodyPr/>
          <a:lstStyle/>
          <a:p>
            <a:r>
              <a:rPr lang="en-GB" dirty="0"/>
              <a:t>1. Surgery</a:t>
            </a:r>
          </a:p>
        </p:txBody>
      </p:sp>
      <p:sp>
        <p:nvSpPr>
          <p:cNvPr id="3" name="Content Placeholder 2">
            <a:extLst>
              <a:ext uri="{FF2B5EF4-FFF2-40B4-BE49-F238E27FC236}">
                <a16:creationId xmlns:a16="http://schemas.microsoft.com/office/drawing/2014/main" id="{F747DCE4-822D-0445-8239-DCF324F25B82}"/>
              </a:ext>
            </a:extLst>
          </p:cNvPr>
          <p:cNvSpPr>
            <a:spLocks noGrp="1"/>
          </p:cNvSpPr>
          <p:nvPr>
            <p:ph idx="1"/>
          </p:nvPr>
        </p:nvSpPr>
        <p:spPr/>
        <p:txBody>
          <a:bodyPr/>
          <a:lstStyle/>
          <a:p>
            <a:pPr>
              <a:buFont typeface="Arial" panose="020B0604020202020204" pitchFamily="34" charset="0"/>
              <a:buChar char="•"/>
            </a:pPr>
            <a:r>
              <a:rPr lang="en-GB" dirty="0"/>
              <a:t>V’s consent to a surgical operation that is recognised by the law as valid will be effective</a:t>
            </a:r>
          </a:p>
          <a:p>
            <a:pPr>
              <a:buFont typeface="Arial" panose="020B0604020202020204" pitchFamily="34" charset="0"/>
              <a:buChar char="•"/>
            </a:pPr>
            <a:r>
              <a:rPr lang="en-GB" dirty="0"/>
              <a:t>This includes:</a:t>
            </a:r>
          </a:p>
          <a:p>
            <a:pPr lvl="1">
              <a:buFont typeface="Arial" panose="020B0604020202020204" pitchFamily="34" charset="0"/>
              <a:buChar char="•"/>
            </a:pPr>
            <a:r>
              <a:rPr lang="en-GB" dirty="0"/>
              <a:t>Gender reassignment surgery: </a:t>
            </a:r>
            <a:r>
              <a:rPr lang="en-GB" i="1" dirty="0"/>
              <a:t>Corbett v Corbett </a:t>
            </a:r>
            <a:r>
              <a:rPr lang="en-GB" dirty="0"/>
              <a:t>[1971]</a:t>
            </a:r>
          </a:p>
          <a:p>
            <a:pPr lvl="1">
              <a:buFont typeface="Arial" panose="020B0604020202020204" pitchFamily="34" charset="0"/>
              <a:buChar char="•"/>
            </a:pPr>
            <a:r>
              <a:rPr lang="en-GB" dirty="0"/>
              <a:t>Cosmetic surgery</a:t>
            </a:r>
          </a:p>
          <a:p>
            <a:pPr lvl="1">
              <a:buFont typeface="Arial" panose="020B0604020202020204" pitchFamily="34" charset="0"/>
              <a:buChar char="•"/>
            </a:pPr>
            <a:r>
              <a:rPr lang="en-GB" dirty="0"/>
              <a:t>Organ transplants</a:t>
            </a:r>
          </a:p>
          <a:p>
            <a:pPr lvl="1">
              <a:buFont typeface="Arial" panose="020B0604020202020204" pitchFamily="34" charset="0"/>
              <a:buChar char="•"/>
            </a:pPr>
            <a:endParaRPr lang="en-GB" dirty="0"/>
          </a:p>
          <a:p>
            <a:pPr>
              <a:buFont typeface="Arial" panose="020B0604020202020204" pitchFamily="34" charset="0"/>
              <a:buChar char="•"/>
            </a:pPr>
            <a:r>
              <a:rPr lang="en-GB" dirty="0"/>
              <a:t>Note the exception to this rule in relation to ‘body modification’ in the next category</a:t>
            </a:r>
          </a:p>
        </p:txBody>
      </p:sp>
    </p:spTree>
    <p:extLst>
      <p:ext uri="{BB962C8B-B14F-4D97-AF65-F5344CB8AC3E}">
        <p14:creationId xmlns:p14="http://schemas.microsoft.com/office/powerpoint/2010/main" val="339714140"/>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9071-4BAC-6E42-9911-80295E4D8B6C}"/>
              </a:ext>
            </a:extLst>
          </p:cNvPr>
          <p:cNvSpPr>
            <a:spLocks noGrp="1"/>
          </p:cNvSpPr>
          <p:nvPr>
            <p:ph type="title"/>
          </p:nvPr>
        </p:nvSpPr>
        <p:spPr/>
        <p:txBody>
          <a:bodyPr/>
          <a:lstStyle/>
          <a:p>
            <a:r>
              <a:rPr lang="en-GB" dirty="0"/>
              <a:t>2. </a:t>
            </a:r>
            <a:r>
              <a:rPr lang="en-GB" sz="4400" dirty="0"/>
              <a:t>Piercings, tattooing, hair cutting</a:t>
            </a:r>
            <a:endParaRPr lang="en-GB" dirty="0"/>
          </a:p>
        </p:txBody>
      </p:sp>
      <p:sp>
        <p:nvSpPr>
          <p:cNvPr id="3" name="Content Placeholder 2">
            <a:extLst>
              <a:ext uri="{FF2B5EF4-FFF2-40B4-BE49-F238E27FC236}">
                <a16:creationId xmlns:a16="http://schemas.microsoft.com/office/drawing/2014/main" id="{5DCDE9CB-2B86-C94D-B49F-5A2BF2F4C220}"/>
              </a:ext>
            </a:extLst>
          </p:cNvPr>
          <p:cNvSpPr>
            <a:spLocks noGrp="1"/>
          </p:cNvSpPr>
          <p:nvPr>
            <p:ph idx="1"/>
          </p:nvPr>
        </p:nvSpPr>
        <p:spPr/>
        <p:txBody>
          <a:bodyPr/>
          <a:lstStyle/>
          <a:p>
            <a:pPr marL="0" indent="0"/>
            <a:r>
              <a:rPr lang="en-GB" sz="1600" dirty="0"/>
              <a:t>Consent is a valid defence to:</a:t>
            </a:r>
          </a:p>
          <a:p>
            <a:pPr>
              <a:buFont typeface="Arial" panose="020B0604020202020204" pitchFamily="34" charset="0"/>
              <a:buChar char="•"/>
            </a:pPr>
            <a:r>
              <a:rPr lang="en-GB" sz="1600" dirty="0"/>
              <a:t>Haircutting: </a:t>
            </a:r>
            <a:r>
              <a:rPr lang="en-GB" sz="1600" i="1" dirty="0"/>
              <a:t>DPP v Smith</a:t>
            </a:r>
            <a:r>
              <a:rPr lang="en-GB" sz="1600" dirty="0"/>
              <a:t> [2006] EWHC 94 (Admin)</a:t>
            </a:r>
          </a:p>
          <a:p>
            <a:pPr>
              <a:buFont typeface="Arial" panose="020B0604020202020204" pitchFamily="34" charset="0"/>
              <a:buChar char="•"/>
            </a:pPr>
            <a:r>
              <a:rPr lang="en-GB" sz="1600" dirty="0"/>
              <a:t>Ritual (</a:t>
            </a:r>
            <a:r>
              <a:rPr lang="en-GB" sz="1600" dirty="0" err="1"/>
              <a:t>ie</a:t>
            </a:r>
            <a:r>
              <a:rPr lang="en-GB" sz="1600" dirty="0"/>
              <a:t>, non-medical) circumcisions</a:t>
            </a:r>
          </a:p>
          <a:p>
            <a:pPr>
              <a:buFont typeface="Arial" panose="020B0604020202020204" pitchFamily="34" charset="0"/>
              <a:buChar char="•"/>
            </a:pPr>
            <a:r>
              <a:rPr lang="en-GB" sz="1600" dirty="0"/>
              <a:t>Ear-piercing</a:t>
            </a:r>
          </a:p>
          <a:p>
            <a:pPr>
              <a:buFont typeface="Arial" panose="020B0604020202020204" pitchFamily="34" charset="0"/>
              <a:buChar char="•"/>
            </a:pPr>
            <a:r>
              <a:rPr lang="en-GB" sz="1600" dirty="0"/>
              <a:t>Tattooing</a:t>
            </a:r>
          </a:p>
          <a:p>
            <a:pPr lvl="1">
              <a:buFont typeface="Arial" panose="020B0604020202020204" pitchFamily="34" charset="0"/>
              <a:buChar char="•"/>
            </a:pPr>
            <a:r>
              <a:rPr lang="en-GB" sz="1400" i="1" dirty="0"/>
              <a:t>Wilson </a:t>
            </a:r>
            <a:r>
              <a:rPr lang="en-GB" sz="1400" dirty="0"/>
              <a:t>[1996] Crim LR 573: D (husband) branded his initials on V (his wife’s) buttocks with a hot knife at her request and with her consent – the Court of Appeal allowed D’s appeal against conviction of ABH on the grounds that the conduct was akin to tattooing and so V’s consent was valid</a:t>
            </a:r>
          </a:p>
          <a:p>
            <a:pPr marL="0" indent="0"/>
            <a:r>
              <a:rPr lang="en-GB" sz="1600" dirty="0"/>
              <a:t>Consent is not a valid defence to:</a:t>
            </a:r>
          </a:p>
          <a:p>
            <a:pPr marL="285750" indent="-285750">
              <a:buFont typeface="Arial" panose="020B0604020202020204" pitchFamily="34" charset="0"/>
              <a:buChar char="•"/>
            </a:pPr>
            <a:r>
              <a:rPr lang="en-GB" sz="1600" dirty="0"/>
              <a:t>Body modifications, such as tongue splitting, or the removal of ears or nipples</a:t>
            </a:r>
          </a:p>
          <a:p>
            <a:pPr marL="685800" lvl="1">
              <a:buFont typeface="Arial" panose="020B0604020202020204" pitchFamily="34" charset="0"/>
              <a:buChar char="•"/>
            </a:pPr>
            <a:r>
              <a:rPr lang="en-GB" sz="1400" i="1" dirty="0"/>
              <a:t>BM</a:t>
            </a:r>
            <a:r>
              <a:rPr lang="en-GB" sz="1400" dirty="0"/>
              <a:t> [2018] EWCA Crim 560: “we can see no good reason why body modification should be placed in a special category of exemption from the general rule that the consent of an individual to injury provides no defence to the person who inflicts that injury of the violence causes actual bodily harm or more serious injury.”</a:t>
            </a:r>
            <a:endParaRPr lang="en-GB" sz="1400" i="1" dirty="0"/>
          </a:p>
        </p:txBody>
      </p:sp>
      <p:sp>
        <p:nvSpPr>
          <p:cNvPr id="4" name="TextBox 3">
            <a:extLst>
              <a:ext uri="{FF2B5EF4-FFF2-40B4-BE49-F238E27FC236}">
                <a16:creationId xmlns:a16="http://schemas.microsoft.com/office/drawing/2014/main" id="{62499116-CCF5-1A84-171F-5C501543FFBF}"/>
              </a:ext>
            </a:extLst>
          </p:cNvPr>
          <p:cNvSpPr txBox="1"/>
          <p:nvPr/>
        </p:nvSpPr>
        <p:spPr>
          <a:xfrm>
            <a:off x="8316416" y="5589240"/>
            <a:ext cx="1152128" cy="1107996"/>
          </a:xfrm>
          <a:prstGeom prst="rect">
            <a:avLst/>
          </a:prstGeom>
          <a:noFill/>
        </p:spPr>
        <p:txBody>
          <a:bodyPr wrap="square" rtlCol="0">
            <a:spAutoFit/>
          </a:bodyPr>
          <a:lstStyle/>
          <a:p>
            <a:r>
              <a:rPr lang="en-US" sz="6600" dirty="0">
                <a:solidFill>
                  <a:srgbClr val="7030A0"/>
                </a:solidFill>
              </a:rPr>
              <a:t>!</a:t>
            </a:r>
          </a:p>
        </p:txBody>
      </p:sp>
    </p:spTree>
    <p:extLst>
      <p:ext uri="{BB962C8B-B14F-4D97-AF65-F5344CB8AC3E}">
        <p14:creationId xmlns:p14="http://schemas.microsoft.com/office/powerpoint/2010/main" val="2491541570"/>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9284-9F75-084B-A54A-85EBB8900032}"/>
              </a:ext>
            </a:extLst>
          </p:cNvPr>
          <p:cNvSpPr>
            <a:spLocks noGrp="1"/>
          </p:cNvSpPr>
          <p:nvPr>
            <p:ph type="title"/>
          </p:nvPr>
        </p:nvSpPr>
        <p:spPr/>
        <p:txBody>
          <a:bodyPr/>
          <a:lstStyle/>
          <a:p>
            <a:r>
              <a:rPr lang="en-GB" dirty="0"/>
              <a:t>3. Religious Flagellation</a:t>
            </a:r>
          </a:p>
        </p:txBody>
      </p:sp>
      <p:sp>
        <p:nvSpPr>
          <p:cNvPr id="3" name="Content Placeholder 2">
            <a:extLst>
              <a:ext uri="{FF2B5EF4-FFF2-40B4-BE49-F238E27FC236}">
                <a16:creationId xmlns:a16="http://schemas.microsoft.com/office/drawing/2014/main" id="{8203DCAB-1862-924D-BE66-92CB72E2AEFB}"/>
              </a:ext>
            </a:extLst>
          </p:cNvPr>
          <p:cNvSpPr>
            <a:spLocks noGrp="1"/>
          </p:cNvSpPr>
          <p:nvPr>
            <p:ph idx="1"/>
          </p:nvPr>
        </p:nvSpPr>
        <p:spPr/>
        <p:txBody>
          <a:bodyPr>
            <a:normAutofit/>
          </a:bodyPr>
          <a:lstStyle/>
          <a:p>
            <a:pPr>
              <a:buFont typeface="Arial" panose="020B0604020202020204" pitchFamily="34" charset="0"/>
              <a:buChar char="•"/>
            </a:pPr>
            <a:r>
              <a:rPr lang="en-US" sz="2000" dirty="0"/>
              <a:t>Beating or whipping as part of a religious ritual</a:t>
            </a:r>
          </a:p>
          <a:p>
            <a:pPr lvl="1">
              <a:buFont typeface="Arial" panose="020B0604020202020204" pitchFamily="34" charset="0"/>
              <a:buChar char="•"/>
            </a:pPr>
            <a:r>
              <a:rPr lang="en-US" sz="1800" dirty="0"/>
              <a:t>Recognised as an exception by Lord Mustill in </a:t>
            </a:r>
            <a:r>
              <a:rPr lang="en-US" sz="1800" i="1" dirty="0"/>
              <a:t>R v Brown</a:t>
            </a:r>
          </a:p>
          <a:p>
            <a:pPr lvl="1">
              <a:buFont typeface="Arial" panose="020B0604020202020204" pitchFamily="34" charset="0"/>
              <a:buChar char="•"/>
            </a:pPr>
            <a:r>
              <a:rPr lang="en-GB" sz="1800" dirty="0"/>
              <a:t>“For the sake of completeness I should mention that the list of situations in which one person may agree to the infliction of harm, or to the risk of infliction of harm, by another includes dangerous pastimes, bravado (as where a boastful man challenges another to try to hurt him with a blow) and </a:t>
            </a:r>
            <a:r>
              <a:rPr lang="en-GB" sz="1800" b="1" dirty="0"/>
              <a:t>religious mortification. </a:t>
            </a:r>
            <a:r>
              <a:rPr lang="en-GB" sz="1800" dirty="0"/>
              <a:t>These examples have little in common with one another and even less with the present case. They do not appear to be discussed in the authorities although dangerous pastimes are briefly mentioned and I see no advantage in exploring them here.”</a:t>
            </a:r>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426992030"/>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39EA9-3645-E74F-B2D5-BC349A688BBB}"/>
              </a:ext>
            </a:extLst>
          </p:cNvPr>
          <p:cNvSpPr>
            <a:spLocks noGrp="1"/>
          </p:cNvSpPr>
          <p:nvPr>
            <p:ph type="title"/>
          </p:nvPr>
        </p:nvSpPr>
        <p:spPr/>
        <p:txBody>
          <a:bodyPr/>
          <a:lstStyle/>
          <a:p>
            <a:r>
              <a:rPr lang="en-GB" dirty="0"/>
              <a:t>4. Sports</a:t>
            </a:r>
          </a:p>
        </p:txBody>
      </p:sp>
      <p:sp>
        <p:nvSpPr>
          <p:cNvPr id="3" name="Content Placeholder 2">
            <a:extLst>
              <a:ext uri="{FF2B5EF4-FFF2-40B4-BE49-F238E27FC236}">
                <a16:creationId xmlns:a16="http://schemas.microsoft.com/office/drawing/2014/main" id="{2B058352-304C-1749-B9F9-17D67AEBF630}"/>
              </a:ext>
            </a:extLst>
          </p:cNvPr>
          <p:cNvSpPr>
            <a:spLocks noGrp="1"/>
          </p:cNvSpPr>
          <p:nvPr>
            <p:ph idx="1"/>
          </p:nvPr>
        </p:nvSpPr>
        <p:spPr/>
        <p:txBody>
          <a:bodyPr/>
          <a:lstStyle/>
          <a:p>
            <a:pPr>
              <a:buFont typeface="Arial" panose="020B0604020202020204" pitchFamily="34" charset="0"/>
              <a:buChar char="•"/>
            </a:pPr>
            <a:r>
              <a:rPr lang="en-GB" dirty="0"/>
              <a:t>The law recognises the social utility of sport, despite the high risk of bodily injury involved in some sports</a:t>
            </a:r>
          </a:p>
          <a:p>
            <a:pPr>
              <a:buFont typeface="Arial" panose="020B0604020202020204" pitchFamily="34" charset="0"/>
              <a:buChar char="•"/>
            </a:pPr>
            <a:r>
              <a:rPr lang="en-GB" dirty="0"/>
              <a:t>Several principle have developed to ensure that consent to the harm involved in sport is valid</a:t>
            </a:r>
          </a:p>
          <a:p>
            <a:pPr lvl="1">
              <a:buFont typeface="Arial" panose="020B0604020202020204" pitchFamily="34" charset="0"/>
              <a:buChar char="•"/>
            </a:pPr>
            <a:r>
              <a:rPr lang="en-GB" dirty="0"/>
              <a:t>The sport must be recognised by the law as lawful – where V’s injury results from an unrecognised sport then consent will be invalid and D may be liable</a:t>
            </a:r>
          </a:p>
          <a:p>
            <a:pPr lvl="1">
              <a:buFont typeface="Arial" panose="020B0604020202020204" pitchFamily="34" charset="0"/>
              <a:buChar char="•"/>
            </a:pPr>
            <a:r>
              <a:rPr lang="en-GB" dirty="0"/>
              <a:t>No offence will arise where harm is caused within the rules of the sport, played consensually; this has been implicitly consented to by B</a:t>
            </a:r>
          </a:p>
          <a:p>
            <a:pPr lvl="1">
              <a:buFont typeface="Arial" panose="020B0604020202020204" pitchFamily="34" charset="0"/>
              <a:buChar char="•"/>
            </a:pPr>
            <a:r>
              <a:rPr lang="en-GB" dirty="0"/>
              <a:t>Consent may be valid to injuries that result outside the rules of the game but which might constitute legitimate foul play, that is still impliedly consented to</a:t>
            </a:r>
          </a:p>
          <a:p>
            <a:pPr lvl="1">
              <a:buFont typeface="Arial" panose="020B0604020202020204" pitchFamily="34" charset="0"/>
              <a:buChar char="•"/>
            </a:pPr>
            <a:r>
              <a:rPr lang="en-GB" dirty="0"/>
              <a:t>An offence may arise where D engages in conduct that breaches the rules of the sport to such an extent that it is not validly consented to: </a:t>
            </a:r>
            <a:r>
              <a:rPr lang="en-GB" i="1" dirty="0"/>
              <a:t>Barnes </a:t>
            </a:r>
            <a:r>
              <a:rPr lang="en-GB" dirty="0"/>
              <a:t>[2005] 1 WLR 910</a:t>
            </a:r>
          </a:p>
        </p:txBody>
      </p:sp>
    </p:spTree>
    <p:extLst>
      <p:ext uri="{BB962C8B-B14F-4D97-AF65-F5344CB8AC3E}">
        <p14:creationId xmlns:p14="http://schemas.microsoft.com/office/powerpoint/2010/main" val="1362102858"/>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D0D8B-6FBE-9894-D330-531B78078171}"/>
              </a:ext>
            </a:extLst>
          </p:cNvPr>
          <p:cNvSpPr>
            <a:spLocks noGrp="1"/>
          </p:cNvSpPr>
          <p:nvPr>
            <p:ph type="title"/>
          </p:nvPr>
        </p:nvSpPr>
        <p:spPr/>
        <p:txBody>
          <a:bodyPr/>
          <a:lstStyle/>
          <a:p>
            <a:r>
              <a:rPr lang="en-GB" dirty="0"/>
              <a:t>5. Horseplay</a:t>
            </a:r>
          </a:p>
        </p:txBody>
      </p:sp>
      <p:sp>
        <p:nvSpPr>
          <p:cNvPr id="3" name="Content Placeholder 2">
            <a:extLst>
              <a:ext uri="{FF2B5EF4-FFF2-40B4-BE49-F238E27FC236}">
                <a16:creationId xmlns:a16="http://schemas.microsoft.com/office/drawing/2014/main" id="{1E25BF4D-7909-4C23-A414-64ED683B4886}"/>
              </a:ext>
            </a:extLst>
          </p:cNvPr>
          <p:cNvSpPr>
            <a:spLocks noGrp="1"/>
          </p:cNvSpPr>
          <p:nvPr>
            <p:ph idx="1"/>
          </p:nvPr>
        </p:nvSpPr>
        <p:spPr/>
        <p:txBody>
          <a:bodyPr/>
          <a:lstStyle/>
          <a:p>
            <a:pPr>
              <a:buFont typeface="Arial" panose="020B0604020202020204" pitchFamily="34" charset="0"/>
              <a:buChar char="•"/>
            </a:pPr>
            <a:r>
              <a:rPr lang="en-GB" dirty="0"/>
              <a:t>Recognises consent in relation to rough and undisciplined play</a:t>
            </a:r>
          </a:p>
          <a:p>
            <a:pPr>
              <a:buFont typeface="Arial" panose="020B0604020202020204" pitchFamily="34" charset="0"/>
              <a:buChar char="•"/>
            </a:pPr>
            <a:r>
              <a:rPr lang="en-GB" dirty="0"/>
              <a:t>The defence will be available as long as there is a genuine belief in the consent of V, even if it is an unreasonable one</a:t>
            </a:r>
          </a:p>
          <a:p>
            <a:pPr>
              <a:buFont typeface="Arial" panose="020B0604020202020204" pitchFamily="34" charset="0"/>
              <a:buChar char="•"/>
            </a:pPr>
            <a:r>
              <a:rPr lang="en-GB" i="1" dirty="0"/>
              <a:t>Jones </a:t>
            </a:r>
            <a:r>
              <a:rPr lang="en-GB" dirty="0"/>
              <a:t>[1987] Crim LR 123: boys were injured by being tossed up in the air (and dropped) by their schoolmates</a:t>
            </a:r>
          </a:p>
          <a:p>
            <a:pPr>
              <a:buFont typeface="Arial" panose="020B0604020202020204" pitchFamily="34" charset="0"/>
              <a:buChar char="•"/>
            </a:pPr>
            <a:r>
              <a:rPr lang="en-GB" i="1" dirty="0"/>
              <a:t>Aitken</a:t>
            </a:r>
            <a:r>
              <a:rPr lang="en-GB" dirty="0"/>
              <a:t> [1992] 1 WLR 1006: RAF officers set fire to one another’s fire-resistant clothing, causing V severe burns</a:t>
            </a:r>
          </a:p>
          <a:p>
            <a:pPr>
              <a:buFont typeface="Arial" panose="020B0604020202020204" pitchFamily="34" charset="0"/>
              <a:buChar char="•"/>
            </a:pPr>
            <a:r>
              <a:rPr lang="en-GB" i="1" dirty="0"/>
              <a:t>A</a:t>
            </a:r>
            <a:r>
              <a:rPr lang="en-GB" dirty="0"/>
              <a:t> [2005] All ER 38: D dropped V, a non-swimmer off a bridge into the river and V drowned. V had been fighting against D to stop this from happening. It was not credible that D believed V to be consenting</a:t>
            </a:r>
          </a:p>
          <a:p>
            <a:pPr lvl="1">
              <a:buFont typeface="Arial" panose="020B0604020202020204" pitchFamily="34" charset="0"/>
              <a:buChar char="•"/>
            </a:pPr>
            <a:r>
              <a:rPr lang="en-GB" dirty="0"/>
              <a:t>Horseplay can only be replied upon if D genuinely believes V to be consenting</a:t>
            </a:r>
            <a:endParaRPr lang="en-GB" i="1" dirty="0"/>
          </a:p>
        </p:txBody>
      </p:sp>
      <p:sp>
        <p:nvSpPr>
          <p:cNvPr id="4" name="TextBox 3">
            <a:extLst>
              <a:ext uri="{FF2B5EF4-FFF2-40B4-BE49-F238E27FC236}">
                <a16:creationId xmlns:a16="http://schemas.microsoft.com/office/drawing/2014/main" id="{72B870E8-9FB9-D57B-6C95-82E2E3DC959B}"/>
              </a:ext>
            </a:extLst>
          </p:cNvPr>
          <p:cNvSpPr txBox="1"/>
          <p:nvPr/>
        </p:nvSpPr>
        <p:spPr>
          <a:xfrm>
            <a:off x="8316416" y="5589240"/>
            <a:ext cx="1152128" cy="1107996"/>
          </a:xfrm>
          <a:prstGeom prst="rect">
            <a:avLst/>
          </a:prstGeom>
          <a:noFill/>
        </p:spPr>
        <p:txBody>
          <a:bodyPr wrap="square" rtlCol="0">
            <a:spAutoFit/>
          </a:bodyPr>
          <a:lstStyle/>
          <a:p>
            <a:r>
              <a:rPr lang="en-US" sz="6600" dirty="0">
                <a:solidFill>
                  <a:srgbClr val="7030A0"/>
                </a:solidFill>
              </a:rPr>
              <a:t>!</a:t>
            </a:r>
          </a:p>
        </p:txBody>
      </p:sp>
    </p:spTree>
    <p:extLst>
      <p:ext uri="{BB962C8B-B14F-4D97-AF65-F5344CB8AC3E}">
        <p14:creationId xmlns:p14="http://schemas.microsoft.com/office/powerpoint/2010/main" val="3307632703"/>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9A3C-4F12-F34D-A266-676E720C6337}"/>
              </a:ext>
            </a:extLst>
          </p:cNvPr>
          <p:cNvSpPr>
            <a:spLocks noGrp="1"/>
          </p:cNvSpPr>
          <p:nvPr>
            <p:ph type="title"/>
          </p:nvPr>
        </p:nvSpPr>
        <p:spPr/>
        <p:txBody>
          <a:bodyPr/>
          <a:lstStyle/>
          <a:p>
            <a:r>
              <a:rPr lang="en-GB" dirty="0"/>
              <a:t>6. </a:t>
            </a:r>
            <a:r>
              <a:rPr lang="en-GB" sz="4400" dirty="0"/>
              <a:t>Sexually transmitted infections</a:t>
            </a:r>
            <a:endParaRPr lang="en-GB" dirty="0"/>
          </a:p>
        </p:txBody>
      </p:sp>
      <p:sp>
        <p:nvSpPr>
          <p:cNvPr id="4" name="Content Placeholder 3">
            <a:extLst>
              <a:ext uri="{FF2B5EF4-FFF2-40B4-BE49-F238E27FC236}">
                <a16:creationId xmlns:a16="http://schemas.microsoft.com/office/drawing/2014/main" id="{368621FE-93DD-4994-BD60-37FCFB88F6B4}"/>
              </a:ext>
            </a:extLst>
          </p:cNvPr>
          <p:cNvSpPr>
            <a:spLocks noGrp="1"/>
          </p:cNvSpPr>
          <p:nvPr>
            <p:ph idx="1"/>
          </p:nvPr>
        </p:nvSpPr>
        <p:spPr/>
        <p:txBody>
          <a:bodyPr/>
          <a:lstStyle/>
          <a:p>
            <a:r>
              <a:rPr lang="en-GB" b="1" i="1" dirty="0"/>
              <a:t>R v </a:t>
            </a:r>
            <a:r>
              <a:rPr lang="en-GB" b="1" i="1" dirty="0" err="1"/>
              <a:t>Dica</a:t>
            </a:r>
            <a:r>
              <a:rPr lang="en-GB" b="1" i="1" dirty="0"/>
              <a:t> </a:t>
            </a:r>
            <a:r>
              <a:rPr lang="en-GB" b="1" dirty="0"/>
              <a:t>[2004] QB 1257 (CA) </a:t>
            </a:r>
            <a:endParaRPr lang="en-GB" dirty="0"/>
          </a:p>
          <a:p>
            <a:pPr>
              <a:buFont typeface="Arial" panose="020B0604020202020204" pitchFamily="34" charset="0"/>
              <a:buChar char="•"/>
            </a:pPr>
            <a:r>
              <a:rPr lang="en-GB" dirty="0"/>
              <a:t>An adult is entitled to give valid consent to the risk of being infected with a potentially lethal sexually transmitted disease, such as HIV</a:t>
            </a:r>
          </a:p>
          <a:p>
            <a:pPr>
              <a:buFont typeface="Arial" panose="020B0604020202020204" pitchFamily="34" charset="0"/>
              <a:buChar char="•"/>
            </a:pPr>
            <a:r>
              <a:rPr lang="en-GB" dirty="0"/>
              <a:t>If the victim agrees to have sexual intercourse with the defendant, aware that he was infectious and that therefore there was a risk that the infection would be passed on, this consent provided a defence to a charge under section 20 of the Offences Against the Person Act 1861</a:t>
            </a:r>
          </a:p>
          <a:p>
            <a:pPr>
              <a:buFont typeface="Arial" panose="020B0604020202020204" pitchFamily="34" charset="0"/>
              <a:buChar char="•"/>
            </a:pPr>
            <a:r>
              <a:rPr lang="en-GB" dirty="0"/>
              <a:t>Social utility?</a:t>
            </a:r>
          </a:p>
          <a:p>
            <a:pPr lvl="1">
              <a:buFont typeface="Arial" panose="020B0604020202020204" pitchFamily="34" charset="0"/>
              <a:buChar char="•"/>
            </a:pPr>
            <a:r>
              <a:rPr lang="en-GB" dirty="0"/>
              <a:t>Criminalisation of consensual taking of risks would be impractical to enforce</a:t>
            </a:r>
          </a:p>
          <a:p>
            <a:pPr marL="457200" lvl="1" indent="0">
              <a:buNone/>
            </a:pPr>
            <a:endParaRPr lang="en-GB" dirty="0"/>
          </a:p>
          <a:p>
            <a:r>
              <a:rPr lang="en-GB" b="1" i="1" dirty="0" err="1"/>
              <a:t>Konzani</a:t>
            </a:r>
            <a:r>
              <a:rPr lang="en-GB" b="1" i="1" dirty="0"/>
              <a:t> [2005] EWCA Crim 706</a:t>
            </a:r>
          </a:p>
          <a:p>
            <a:pPr>
              <a:buFont typeface="Arial" panose="020B0604020202020204" pitchFamily="34" charset="0"/>
              <a:buChar char="•"/>
            </a:pPr>
            <a:r>
              <a:rPr lang="en-GB" dirty="0"/>
              <a:t>Confirmed that V consent to sexual intercourse was invalid as a defence if there was no consent to the specific risk of HIV transmission.  See CPS guidance.</a:t>
            </a:r>
          </a:p>
        </p:txBody>
      </p:sp>
    </p:spTree>
    <p:extLst>
      <p:ext uri="{BB962C8B-B14F-4D97-AF65-F5344CB8AC3E}">
        <p14:creationId xmlns:p14="http://schemas.microsoft.com/office/powerpoint/2010/main" val="748342114"/>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324B-BAED-ED4B-A65A-560F84860C94}"/>
              </a:ext>
            </a:extLst>
          </p:cNvPr>
          <p:cNvSpPr>
            <a:spLocks noGrp="1"/>
          </p:cNvSpPr>
          <p:nvPr>
            <p:ph type="title"/>
          </p:nvPr>
        </p:nvSpPr>
        <p:spPr/>
        <p:txBody>
          <a:bodyPr/>
          <a:lstStyle/>
          <a:p>
            <a:r>
              <a:rPr lang="en-GB" dirty="0"/>
              <a:t>Critiques of this approach (i)</a:t>
            </a:r>
          </a:p>
        </p:txBody>
      </p:sp>
      <p:sp>
        <p:nvSpPr>
          <p:cNvPr id="3" name="Content Placeholder 2">
            <a:extLst>
              <a:ext uri="{FF2B5EF4-FFF2-40B4-BE49-F238E27FC236}">
                <a16:creationId xmlns:a16="http://schemas.microsoft.com/office/drawing/2014/main" id="{ABB2F938-B349-E445-81BC-9E1C99EC7050}"/>
              </a:ext>
            </a:extLst>
          </p:cNvPr>
          <p:cNvSpPr>
            <a:spLocks noGrp="1"/>
          </p:cNvSpPr>
          <p:nvPr>
            <p:ph idx="1"/>
          </p:nvPr>
        </p:nvSpPr>
        <p:spPr/>
        <p:txBody>
          <a:bodyPr>
            <a:normAutofit/>
          </a:bodyPr>
          <a:lstStyle/>
          <a:p>
            <a:pPr lvl="0">
              <a:buFont typeface="Arial" panose="020B0604020202020204" pitchFamily="34" charset="0"/>
              <a:buChar char="•"/>
            </a:pPr>
            <a:r>
              <a:rPr lang="en-GB" dirty="0"/>
              <a:t>The categories of exception are relatively fixed</a:t>
            </a:r>
          </a:p>
          <a:p>
            <a:pPr marL="0" lvl="0" indent="0"/>
            <a:endParaRPr lang="en-GB" dirty="0"/>
          </a:p>
          <a:p>
            <a:pPr lvl="0">
              <a:buFont typeface="Arial" panose="020B0604020202020204" pitchFamily="34" charset="0"/>
              <a:buChar char="•"/>
            </a:pPr>
            <a:r>
              <a:rPr lang="en-GB" b="1" i="1" dirty="0"/>
              <a:t>BM</a:t>
            </a:r>
            <a:r>
              <a:rPr lang="en-GB" b="1" dirty="0"/>
              <a:t> [2018] EWCA Crim 560 </a:t>
            </a:r>
          </a:p>
          <a:p>
            <a:pPr lvl="1">
              <a:buFont typeface="Arial" panose="020B0604020202020204" pitchFamily="34" charset="0"/>
              <a:buChar char="•"/>
            </a:pPr>
            <a:r>
              <a:rPr lang="en-GB" i="1" dirty="0"/>
              <a:t>“New exceptions should not be recognised on a case by case basis, save perhaps where there is a close analogy with an existing exception to the general rule established in the Brown case. The recognition of an entirely new exception would involve a value judgement which is policy laden, and on which there may be powerful conflicting views in society. The criminal trial process is inapt to enable a wide-ranging inquiry into the underlying policy issues, which are much better explored in the political environment.”</a:t>
            </a:r>
          </a:p>
        </p:txBody>
      </p:sp>
    </p:spTree>
    <p:extLst>
      <p:ext uri="{BB962C8B-B14F-4D97-AF65-F5344CB8AC3E}">
        <p14:creationId xmlns:p14="http://schemas.microsoft.com/office/powerpoint/2010/main" val="11138265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73D1E-E2C7-354D-9456-256F8067FA4D}"/>
              </a:ext>
            </a:extLst>
          </p:cNvPr>
          <p:cNvSpPr>
            <a:spLocks noGrp="1"/>
          </p:cNvSpPr>
          <p:nvPr>
            <p:ph type="title"/>
          </p:nvPr>
        </p:nvSpPr>
        <p:spPr/>
        <p:txBody>
          <a:bodyPr/>
          <a:lstStyle/>
          <a:p>
            <a:r>
              <a:rPr lang="en-GB" dirty="0"/>
              <a:t>Critiques of this approach (ii)</a:t>
            </a:r>
          </a:p>
        </p:txBody>
      </p:sp>
      <p:sp>
        <p:nvSpPr>
          <p:cNvPr id="3" name="Content Placeholder 2">
            <a:extLst>
              <a:ext uri="{FF2B5EF4-FFF2-40B4-BE49-F238E27FC236}">
                <a16:creationId xmlns:a16="http://schemas.microsoft.com/office/drawing/2014/main" id="{889183D4-6FBD-A346-AEA1-56F51CD2B991}"/>
              </a:ext>
            </a:extLst>
          </p:cNvPr>
          <p:cNvSpPr>
            <a:spLocks noGrp="1"/>
          </p:cNvSpPr>
          <p:nvPr>
            <p:ph idx="1"/>
          </p:nvPr>
        </p:nvSpPr>
        <p:spPr/>
        <p:txBody>
          <a:bodyPr>
            <a:normAutofit/>
          </a:bodyPr>
          <a:lstStyle/>
          <a:p>
            <a:pPr lvl="0">
              <a:buFont typeface="Arial" panose="020B0604020202020204" pitchFamily="34" charset="0"/>
              <a:buChar char="•"/>
            </a:pPr>
            <a:r>
              <a:rPr lang="en-GB" dirty="0"/>
              <a:t>Exceptions are grounded in public policy concerns </a:t>
            </a:r>
          </a:p>
          <a:p>
            <a:pPr lvl="0">
              <a:buFont typeface="Arial" panose="020B0604020202020204" pitchFamily="34" charset="0"/>
              <a:buChar char="•"/>
            </a:pPr>
            <a:endParaRPr lang="en-GB" dirty="0"/>
          </a:p>
          <a:p>
            <a:pPr>
              <a:buFont typeface="Arial" panose="020B0604020202020204" pitchFamily="34" charset="0"/>
              <a:buChar char="•"/>
            </a:pPr>
            <a:r>
              <a:rPr lang="en-GB" b="1" i="1" dirty="0"/>
              <a:t>BM</a:t>
            </a:r>
            <a:r>
              <a:rPr lang="en-GB" b="1" dirty="0"/>
              <a:t> [2018] EWCA Crim 560 </a:t>
            </a:r>
          </a:p>
          <a:p>
            <a:pPr lvl="1">
              <a:buFont typeface="Arial" panose="020B0604020202020204" pitchFamily="34" charset="0"/>
              <a:buChar char="•"/>
            </a:pPr>
            <a:r>
              <a:rPr lang="en-GB" i="1" dirty="0"/>
              <a:t>“We have observed that the exceptions to the general rule confirmed in the Brown case deliver no easily articulated principle by which any novel situation may be judged.”</a:t>
            </a:r>
          </a:p>
          <a:p>
            <a:pPr lvl="1">
              <a:buFont typeface="Arial" panose="020B0604020202020204" pitchFamily="34" charset="0"/>
              <a:buChar char="•"/>
            </a:pPr>
            <a:r>
              <a:rPr lang="en-GB" i="1" dirty="0"/>
              <a:t>“Whilst the exceptions are incapable of being accommodated within any universally stated test, there are two features which may be thought to underpin almost all of them. First, they may produce discernible social benefit … second is that it would simply be regarded as unreasonable for the common law to criminalise the activity if engaged in with consent by (on behalf of) the injured party.”</a:t>
            </a:r>
          </a:p>
        </p:txBody>
      </p:sp>
    </p:spTree>
    <p:extLst>
      <p:ext uri="{BB962C8B-B14F-4D97-AF65-F5344CB8AC3E}">
        <p14:creationId xmlns:p14="http://schemas.microsoft.com/office/powerpoint/2010/main" val="153141736"/>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C80DD-868D-2C48-BA19-7A0D2D7BD5E8}"/>
              </a:ext>
            </a:extLst>
          </p:cNvPr>
          <p:cNvSpPr>
            <a:spLocks noGrp="1"/>
          </p:cNvSpPr>
          <p:nvPr>
            <p:ph type="title"/>
          </p:nvPr>
        </p:nvSpPr>
        <p:spPr/>
        <p:txBody>
          <a:bodyPr/>
          <a:lstStyle/>
          <a:p>
            <a:r>
              <a:rPr lang="en-GB" dirty="0"/>
              <a:t>Critiques of this approach (iii)</a:t>
            </a:r>
          </a:p>
        </p:txBody>
      </p:sp>
      <p:sp>
        <p:nvSpPr>
          <p:cNvPr id="3" name="Content Placeholder 2">
            <a:extLst>
              <a:ext uri="{FF2B5EF4-FFF2-40B4-BE49-F238E27FC236}">
                <a16:creationId xmlns:a16="http://schemas.microsoft.com/office/drawing/2014/main" id="{9E048482-04AB-F64E-B709-AD04C0596C5D}"/>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GB" dirty="0"/>
              <a:t>Inconsistent application?</a:t>
            </a:r>
          </a:p>
          <a:p>
            <a:pPr lvl="1">
              <a:buFont typeface="Arial" panose="020B0604020202020204" pitchFamily="34" charset="0"/>
              <a:buChar char="•"/>
            </a:pPr>
            <a:r>
              <a:rPr lang="en-GB" dirty="0"/>
              <a:t>Particularly regarding consent to harm for sexual gratification</a:t>
            </a:r>
          </a:p>
          <a:p>
            <a:pPr marL="0" indent="0">
              <a:defRPr/>
            </a:pPr>
            <a:endParaRPr lang="en-GB" dirty="0"/>
          </a:p>
          <a:p>
            <a:pPr marL="285750" indent="-285750">
              <a:buFont typeface="Arial" panose="020B0604020202020204" pitchFamily="34" charset="0"/>
              <a:buChar char="•"/>
              <a:defRPr/>
            </a:pPr>
            <a:r>
              <a:rPr lang="en-GB" b="1" i="1" dirty="0"/>
              <a:t>Brown </a:t>
            </a:r>
            <a:r>
              <a:rPr lang="en-GB" b="1" dirty="0"/>
              <a:t>[1994] 1 AC 212 HL</a:t>
            </a:r>
          </a:p>
          <a:p>
            <a:pPr marL="685800" lvl="1">
              <a:buFont typeface="Arial" panose="020B0604020202020204" pitchFamily="34" charset="0"/>
              <a:buChar char="•"/>
              <a:defRPr/>
            </a:pPr>
            <a:r>
              <a:rPr lang="en-GB" dirty="0"/>
              <a:t>Lord Templeman: </a:t>
            </a:r>
            <a:r>
              <a:rPr lang="en-GB" i="1" dirty="0"/>
              <a:t>“Society is entitled and bound to protect itself against a cult of violence. Pleasure derived from the infliction of pain is an evil thing. Cruelty is uncivilised.”</a:t>
            </a:r>
          </a:p>
          <a:p>
            <a:pPr marL="285750" indent="-285750">
              <a:buFont typeface="Arial" panose="020B0604020202020204" pitchFamily="34" charset="0"/>
              <a:buChar char="•"/>
              <a:defRPr/>
            </a:pPr>
            <a:r>
              <a:rPr lang="en-GB" b="1" i="1" dirty="0"/>
              <a:t>Wilson </a:t>
            </a:r>
            <a:r>
              <a:rPr lang="en-GB" b="1" dirty="0"/>
              <a:t>[1996] Crim LR 573</a:t>
            </a:r>
          </a:p>
          <a:p>
            <a:pPr marL="685800" lvl="1">
              <a:buFont typeface="Arial" panose="020B0604020202020204" pitchFamily="34" charset="0"/>
              <a:buChar char="•"/>
              <a:defRPr/>
            </a:pPr>
            <a:r>
              <a:rPr lang="en-GB" dirty="0"/>
              <a:t>Lord Russel: </a:t>
            </a:r>
            <a:r>
              <a:rPr lang="en-GB" i="1" dirty="0"/>
              <a:t>“consensual activity between husband and wife, in the privacy of the matrimonial home, is not, in our judgment normally a proper matter for criminal investigation, let alone criminal prosecution”</a:t>
            </a:r>
          </a:p>
          <a:p>
            <a:pPr marL="285750" indent="-285750">
              <a:buFont typeface="Arial" panose="020B0604020202020204" pitchFamily="34" charset="0"/>
              <a:buChar char="•"/>
              <a:defRPr/>
            </a:pPr>
            <a:r>
              <a:rPr lang="en-GB" b="1" i="1" dirty="0"/>
              <a:t>Emmett</a:t>
            </a:r>
            <a:r>
              <a:rPr lang="en-GB" b="1" dirty="0"/>
              <a:t> (1999) The Times, 15 October</a:t>
            </a:r>
          </a:p>
          <a:p>
            <a:pPr marL="685800" lvl="1">
              <a:buFont typeface="Arial" panose="020B0604020202020204" pitchFamily="34" charset="0"/>
              <a:buChar char="•"/>
              <a:defRPr/>
            </a:pPr>
            <a:r>
              <a:rPr lang="en-GB" dirty="0"/>
              <a:t>D set fire to lighter fuel on V’s breasts with her consent. Conviction for ABH upheld on the grounds that the conduct went </a:t>
            </a:r>
            <a:r>
              <a:rPr lang="en-GB" i="1" dirty="0"/>
              <a:t>“beyond that which was established in Wilson.”</a:t>
            </a:r>
            <a:endParaRPr lang="en-GB" dirty="0"/>
          </a:p>
        </p:txBody>
      </p:sp>
    </p:spTree>
    <p:extLst>
      <p:ext uri="{BB962C8B-B14F-4D97-AF65-F5344CB8AC3E}">
        <p14:creationId xmlns:p14="http://schemas.microsoft.com/office/powerpoint/2010/main" val="1261181088"/>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3F7C-EA31-E14E-8508-EB3ABB6E9955}"/>
              </a:ext>
            </a:extLst>
          </p:cNvPr>
          <p:cNvSpPr>
            <a:spLocks noGrp="1"/>
          </p:cNvSpPr>
          <p:nvPr>
            <p:ph type="title"/>
          </p:nvPr>
        </p:nvSpPr>
        <p:spPr/>
        <p:txBody>
          <a:bodyPr/>
          <a:lstStyle/>
          <a:p>
            <a:r>
              <a:rPr lang="en-GB" i="1" dirty="0"/>
              <a:t>R v Brown </a:t>
            </a:r>
            <a:r>
              <a:rPr lang="en-GB" dirty="0"/>
              <a:t>[1994] 1 AC 212 HL</a:t>
            </a:r>
          </a:p>
        </p:txBody>
      </p:sp>
      <p:sp>
        <p:nvSpPr>
          <p:cNvPr id="6" name="Content Placeholder 5">
            <a:extLst>
              <a:ext uri="{FF2B5EF4-FFF2-40B4-BE49-F238E27FC236}">
                <a16:creationId xmlns:a16="http://schemas.microsoft.com/office/drawing/2014/main" id="{5AD0E1A3-734C-4130-9C57-BA1DB658CD70}"/>
              </a:ext>
            </a:extLst>
          </p:cNvPr>
          <p:cNvSpPr>
            <a:spLocks noGrp="1"/>
          </p:cNvSpPr>
          <p:nvPr>
            <p:ph idx="1"/>
          </p:nvPr>
        </p:nvSpPr>
        <p:spPr/>
        <p:txBody>
          <a:bodyPr/>
          <a:lstStyle/>
          <a:p>
            <a:r>
              <a:rPr lang="en-GB" sz="1600" dirty="0"/>
              <a:t>Legal Moralism</a:t>
            </a:r>
          </a:p>
          <a:p>
            <a:pPr>
              <a:buFont typeface="Arial" panose="020B0604020202020204" pitchFamily="34" charset="0"/>
              <a:buChar char="•"/>
            </a:pPr>
            <a:r>
              <a:rPr lang="en-GB" sz="1600" dirty="0"/>
              <a:t>Decision based on what the Lords considered to be </a:t>
            </a:r>
            <a:r>
              <a:rPr lang="en-GB" sz="1600" i="1" dirty="0"/>
              <a:t>morally</a:t>
            </a:r>
            <a:r>
              <a:rPr lang="en-GB" sz="1600" dirty="0"/>
              <a:t> wrong?</a:t>
            </a:r>
          </a:p>
          <a:p>
            <a:pPr lvl="1">
              <a:buFont typeface="Arial" panose="020B0604020202020204" pitchFamily="34" charset="0"/>
              <a:buChar char="•"/>
            </a:pPr>
            <a:r>
              <a:rPr lang="en-GB" sz="1400" dirty="0"/>
              <a:t>Lord Templeman: an </a:t>
            </a:r>
            <a:r>
              <a:rPr lang="en-GB" sz="1400" i="1" dirty="0"/>
              <a:t>“indulgence of cruelty” … “infliction of pain is an evil thing”</a:t>
            </a:r>
          </a:p>
          <a:p>
            <a:pPr lvl="1">
              <a:buFont typeface="Arial" panose="020B0604020202020204" pitchFamily="34" charset="0"/>
              <a:buChar char="•"/>
            </a:pPr>
            <a:r>
              <a:rPr lang="en-GB" sz="1400" dirty="0"/>
              <a:t>Lord Lowry: </a:t>
            </a:r>
            <a:r>
              <a:rPr lang="en-GB" sz="1400" i="1" dirty="0"/>
              <a:t>“perverted and depraved sexual desire”</a:t>
            </a:r>
          </a:p>
          <a:p>
            <a:pPr marL="57150" indent="0"/>
            <a:r>
              <a:rPr lang="en-GB" sz="1600" dirty="0"/>
              <a:t>Legal Paternalism</a:t>
            </a:r>
            <a:r>
              <a:rPr lang="en-GB" sz="1600" i="1" dirty="0"/>
              <a:t> </a:t>
            </a:r>
          </a:p>
          <a:p>
            <a:pPr indent="-285750">
              <a:buFont typeface="Arial" panose="020B0604020202020204" pitchFamily="34" charset="0"/>
              <a:buChar char="•"/>
            </a:pPr>
            <a:r>
              <a:rPr lang="en-GB" sz="1600" dirty="0"/>
              <a:t>Justifies state intervention to protect individuals from self-inflicted harm</a:t>
            </a:r>
          </a:p>
          <a:p>
            <a:pPr lvl="1">
              <a:buFont typeface="Arial" panose="020B0604020202020204" pitchFamily="34" charset="0"/>
              <a:buChar char="•"/>
            </a:pPr>
            <a:r>
              <a:rPr lang="en-GB" sz="1400" dirty="0"/>
              <a:t>Concerns about the participants in sadomasochistic activity in Brown, particularly those who were young</a:t>
            </a:r>
          </a:p>
          <a:p>
            <a:pPr lvl="1">
              <a:buFont typeface="Arial" panose="020B0604020202020204" pitchFamily="34" charset="0"/>
              <a:buChar char="•"/>
            </a:pPr>
            <a:r>
              <a:rPr lang="en-GB" sz="1400" dirty="0"/>
              <a:t>Concerns that the activities might lead to harms to members outside the group – Lord Templeman </a:t>
            </a:r>
            <a:r>
              <a:rPr lang="en-GB" sz="1400" i="1" dirty="0"/>
              <a:t>“breed and glorify violence”</a:t>
            </a:r>
          </a:p>
          <a:p>
            <a:pPr>
              <a:buFont typeface="Arial" panose="020B0604020202020204" pitchFamily="34" charset="0"/>
              <a:buChar char="•"/>
            </a:pPr>
            <a:r>
              <a:rPr lang="en-GB" sz="1600" dirty="0"/>
              <a:t>Feminist critique</a:t>
            </a:r>
          </a:p>
          <a:p>
            <a:pPr lvl="1">
              <a:buFont typeface="Arial" panose="020B0604020202020204" pitchFamily="34" charset="0"/>
              <a:buChar char="•"/>
            </a:pPr>
            <a:r>
              <a:rPr lang="en-GB" sz="1400" dirty="0"/>
              <a:t>Sadomasochism may in fact disguise domestic violence or the abuse of vulnerable individuals: see </a:t>
            </a:r>
            <a:r>
              <a:rPr lang="en-GB" sz="1400" i="1" dirty="0"/>
              <a:t>Wilson </a:t>
            </a:r>
            <a:r>
              <a:rPr lang="en-GB" sz="1400" dirty="0"/>
              <a:t>and </a:t>
            </a:r>
            <a:r>
              <a:rPr lang="en-GB" sz="1400" i="1" dirty="0"/>
              <a:t>Emmett</a:t>
            </a:r>
          </a:p>
          <a:p>
            <a:pPr lvl="2">
              <a:buFont typeface="Arial" panose="020B0604020202020204" pitchFamily="34" charset="0"/>
              <a:buChar char="•"/>
            </a:pPr>
            <a:r>
              <a:rPr lang="en-GB" dirty="0"/>
              <a:t>In both these cases the defendants claimed the victims had consented to harm, but neither victim was willing to give evidence to support their partner’s claims</a:t>
            </a:r>
          </a:p>
        </p:txBody>
      </p:sp>
    </p:spTree>
    <p:extLst>
      <p:ext uri="{BB962C8B-B14F-4D97-AF65-F5344CB8AC3E}">
        <p14:creationId xmlns:p14="http://schemas.microsoft.com/office/powerpoint/2010/main" val="3416633317"/>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5DA7D-1956-4467-9CF7-7DF3A50F9A06}"/>
              </a:ext>
            </a:extLst>
          </p:cNvPr>
          <p:cNvSpPr>
            <a:spLocks noGrp="1"/>
          </p:cNvSpPr>
          <p:nvPr>
            <p:ph type="title"/>
          </p:nvPr>
        </p:nvSpPr>
        <p:spPr/>
        <p:txBody>
          <a:bodyPr/>
          <a:lstStyle/>
          <a:p>
            <a:r>
              <a:rPr lang="en-GB" dirty="0"/>
              <a:t>Domestic Abuse Act 2021, s 71</a:t>
            </a:r>
          </a:p>
        </p:txBody>
      </p:sp>
      <p:sp>
        <p:nvSpPr>
          <p:cNvPr id="3" name="Content Placeholder 2">
            <a:extLst>
              <a:ext uri="{FF2B5EF4-FFF2-40B4-BE49-F238E27FC236}">
                <a16:creationId xmlns:a16="http://schemas.microsoft.com/office/drawing/2014/main" id="{EA36AF31-408E-4C76-AC54-7505F8056DE8}"/>
              </a:ext>
            </a:extLst>
          </p:cNvPr>
          <p:cNvSpPr>
            <a:spLocks noGrp="1"/>
          </p:cNvSpPr>
          <p:nvPr>
            <p:ph idx="1"/>
          </p:nvPr>
        </p:nvSpPr>
        <p:spPr/>
        <p:txBody>
          <a:bodyPr/>
          <a:lstStyle/>
          <a:p>
            <a:pPr algn="l"/>
            <a:r>
              <a:rPr lang="en-GB" sz="1100" b="1" dirty="0"/>
              <a:t>Consent to serious harm for sexual gratification not a defence</a:t>
            </a:r>
          </a:p>
          <a:p>
            <a:pPr algn="l">
              <a:buFont typeface="+mj-lt"/>
              <a:buAutoNum type="arabicParenR"/>
            </a:pPr>
            <a:r>
              <a:rPr lang="en-GB" sz="1100" dirty="0"/>
              <a:t>This section applies for the purposes of determining whether a person (“D”) who inflicts serious harm on another person (“V”) is guilty of a relevant offence.</a:t>
            </a:r>
          </a:p>
          <a:p>
            <a:pPr algn="l">
              <a:buFont typeface="+mj-lt"/>
              <a:buAutoNum type="arabicParenR"/>
            </a:pPr>
            <a:r>
              <a:rPr lang="en-GB" sz="1100" dirty="0"/>
              <a:t>It is not a defence that V consented to the infliction of the serious harm for the purposes of obtaining sexual gratification (but see subsection (4)).</a:t>
            </a:r>
          </a:p>
          <a:p>
            <a:pPr algn="l">
              <a:buFont typeface="+mj-lt"/>
              <a:buAutoNum type="arabicParenR"/>
            </a:pPr>
            <a:r>
              <a:rPr lang="en-GB" sz="1100" dirty="0"/>
              <a:t>In this section—</a:t>
            </a:r>
          </a:p>
          <a:p>
            <a:pPr marL="457200" lvl="1" indent="0">
              <a:buNone/>
            </a:pPr>
            <a:r>
              <a:rPr lang="en-GB" sz="1050" dirty="0"/>
              <a:t>“relevant offence” means an offence under section 18, 20 or 47 of the Offences Against the Person Act 1861 (“the 1861 Act”);</a:t>
            </a:r>
          </a:p>
          <a:p>
            <a:pPr marL="457200" lvl="1" indent="0">
              <a:buNone/>
            </a:pPr>
            <a:r>
              <a:rPr lang="en-GB" sz="1050" dirty="0"/>
              <a:t>“serious harm” means—</a:t>
            </a:r>
          </a:p>
          <a:p>
            <a:pPr marL="457200" lvl="1" indent="0">
              <a:buNone/>
            </a:pPr>
            <a:r>
              <a:rPr lang="en-GB" sz="1250" dirty="0"/>
              <a:t>	</a:t>
            </a:r>
            <a:r>
              <a:rPr lang="en-GB" sz="1050" dirty="0"/>
              <a:t>(a) grievous bodily harm, within the meaning of section 18 of the 1861 Act,</a:t>
            </a:r>
          </a:p>
          <a:p>
            <a:pPr marL="457200" lvl="1" indent="0">
              <a:buNone/>
            </a:pPr>
            <a:r>
              <a:rPr lang="en-GB" sz="1050" dirty="0"/>
              <a:t>	(b) wounding, within the meaning of that section, or</a:t>
            </a:r>
          </a:p>
          <a:p>
            <a:pPr marL="457200" lvl="1" indent="0">
              <a:buNone/>
            </a:pPr>
            <a:r>
              <a:rPr lang="en-GB" sz="1050" dirty="0"/>
              <a:t>	(c) actual bodily harm, within the meaning of section 47 of the 1861 Act.</a:t>
            </a:r>
          </a:p>
          <a:p>
            <a:pPr algn="l">
              <a:buFont typeface="+mj-lt"/>
              <a:buAutoNum type="arabicParenR" startAt="4"/>
            </a:pPr>
            <a:r>
              <a:rPr lang="en-GB" sz="1100" dirty="0"/>
              <a:t>Subsection (2) does not apply in the case of an offence under section 20 or 47 of the 1861 Act where—</a:t>
            </a:r>
          </a:p>
          <a:p>
            <a:pPr marL="914400" lvl="2" indent="0">
              <a:buNone/>
            </a:pPr>
            <a:r>
              <a:rPr lang="en-GB" sz="1050" dirty="0"/>
              <a:t>(a) the serious harm consists of, or is a result of, the infection of V with a sexually transmitted infection in the course of sexual activity, and</a:t>
            </a:r>
          </a:p>
          <a:p>
            <a:pPr marL="914400" lvl="2" indent="0">
              <a:buNone/>
            </a:pPr>
            <a:r>
              <a:rPr lang="en-GB" sz="1050" dirty="0"/>
              <a:t>(b) V consented to the sexual activity in the knowledge or belief that D had the sexually transmitted infection.</a:t>
            </a:r>
          </a:p>
          <a:p>
            <a:pPr>
              <a:buFont typeface="+mj-lt"/>
              <a:buAutoNum type="arabicParenR" startAt="5"/>
            </a:pPr>
            <a:r>
              <a:rPr lang="en-GB" sz="1100" dirty="0"/>
              <a:t>For the purposes of this section it does not matter whether the harm was inflicted for the purposes of obtaining sexual gratification for D, V or some other person.</a:t>
            </a:r>
          </a:p>
          <a:p>
            <a:pPr>
              <a:buFont typeface="+mj-lt"/>
              <a:buAutoNum type="arabicParenR" startAt="5"/>
            </a:pPr>
            <a:r>
              <a:rPr lang="en-GB" sz="1100" dirty="0"/>
              <a:t>Nothing in this section affects any enactment or rule of law relating to other circumstances in which a person's consent to the infliction of serious harm may, or may not, be a defence to a relevant offence.</a:t>
            </a:r>
          </a:p>
        </p:txBody>
      </p:sp>
    </p:spTree>
    <p:extLst>
      <p:ext uri="{BB962C8B-B14F-4D97-AF65-F5344CB8AC3E}">
        <p14:creationId xmlns:p14="http://schemas.microsoft.com/office/powerpoint/2010/main" val="1725244677"/>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8840-D00F-8CD2-D54F-41151CA5A834}"/>
              </a:ext>
            </a:extLst>
          </p:cNvPr>
          <p:cNvSpPr>
            <a:spLocks noGrp="1"/>
          </p:cNvSpPr>
          <p:nvPr>
            <p:ph type="title"/>
          </p:nvPr>
        </p:nvSpPr>
        <p:spPr/>
        <p:txBody>
          <a:bodyPr/>
          <a:lstStyle/>
          <a:p>
            <a:r>
              <a:rPr lang="en-GB" dirty="0"/>
              <a:t>Lawful chastisement of a child</a:t>
            </a:r>
          </a:p>
        </p:txBody>
      </p:sp>
      <p:sp>
        <p:nvSpPr>
          <p:cNvPr id="3" name="Content Placeholder 2">
            <a:extLst>
              <a:ext uri="{FF2B5EF4-FFF2-40B4-BE49-F238E27FC236}">
                <a16:creationId xmlns:a16="http://schemas.microsoft.com/office/drawing/2014/main" id="{C757A3D6-3232-BA8A-B166-9ECB5AB68353}"/>
              </a:ext>
            </a:extLst>
          </p:cNvPr>
          <p:cNvSpPr>
            <a:spLocks noGrp="1"/>
          </p:cNvSpPr>
          <p:nvPr>
            <p:ph idx="1"/>
          </p:nvPr>
        </p:nvSpPr>
        <p:spPr/>
        <p:txBody>
          <a:bodyPr/>
          <a:lstStyle/>
          <a:p>
            <a:pPr>
              <a:buFont typeface="Arial" panose="020B0604020202020204" pitchFamily="34" charset="0"/>
              <a:buChar char="•"/>
            </a:pPr>
            <a:r>
              <a:rPr lang="en-GB" dirty="0"/>
              <a:t>Arose as a defence at common law but now codified by Section 58, Children Act 2004.</a:t>
            </a:r>
          </a:p>
          <a:p>
            <a:pPr>
              <a:buFont typeface="Arial" panose="020B0604020202020204" pitchFamily="34" charset="0"/>
              <a:buChar char="•"/>
            </a:pPr>
            <a:endParaRPr lang="en-GB" dirty="0"/>
          </a:p>
          <a:p>
            <a:pPr>
              <a:buFont typeface="Arial" panose="020B0604020202020204" pitchFamily="34" charset="0"/>
              <a:buChar char="•"/>
            </a:pPr>
            <a:r>
              <a:rPr lang="en-GB" dirty="0"/>
              <a:t>In relation to any offence specified in subsection (2), battery of a child cannot be justified on the ground that it constituted reasonable punishment.</a:t>
            </a:r>
          </a:p>
          <a:p>
            <a:pPr marL="0" indent="0"/>
            <a:r>
              <a:rPr lang="en-GB" dirty="0"/>
              <a:t>(2) The offences referred to in subsection (1) are—</a:t>
            </a:r>
          </a:p>
          <a:p>
            <a:pPr marL="0" indent="0"/>
            <a:r>
              <a:rPr lang="en-GB" dirty="0"/>
              <a:t>	(a)	an offence under section 18 or 20 of the Offences 			Against the Person Act 1861 (wounding and causing 			grievous bodily harm);</a:t>
            </a:r>
          </a:p>
          <a:p>
            <a:pPr marL="0" indent="0"/>
            <a:r>
              <a:rPr lang="en-GB" dirty="0"/>
              <a:t>	(b)	an offence under section 47 of that Act (assault 			occasioning actual bodily harm);</a:t>
            </a:r>
          </a:p>
          <a:p>
            <a:pPr marL="0" indent="0"/>
            <a:r>
              <a:rPr lang="en-GB" dirty="0"/>
              <a:t>	(c)	an offence under section 1 of the Children and Young 			Persons Act 1933 (cruelty to persons under 16).</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31957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609AD-4718-92FA-E81F-792F23567473}"/>
              </a:ext>
            </a:extLst>
          </p:cNvPr>
          <p:cNvSpPr>
            <a:spLocks noGrp="1"/>
          </p:cNvSpPr>
          <p:nvPr>
            <p:ph type="title"/>
          </p:nvPr>
        </p:nvSpPr>
        <p:spPr/>
        <p:txBody>
          <a:bodyPr/>
          <a:lstStyle/>
          <a:p>
            <a:r>
              <a:rPr lang="en-GB" dirty="0"/>
              <a:t>Necessity</a:t>
            </a:r>
          </a:p>
        </p:txBody>
      </p:sp>
      <p:sp>
        <p:nvSpPr>
          <p:cNvPr id="3" name="Content Placeholder 2">
            <a:extLst>
              <a:ext uri="{FF2B5EF4-FFF2-40B4-BE49-F238E27FC236}">
                <a16:creationId xmlns:a16="http://schemas.microsoft.com/office/drawing/2014/main" id="{DF233307-F658-6DB8-CE6A-708DE03CFAA0}"/>
              </a:ext>
            </a:extLst>
          </p:cNvPr>
          <p:cNvSpPr>
            <a:spLocks noGrp="1"/>
          </p:cNvSpPr>
          <p:nvPr>
            <p:ph idx="1"/>
          </p:nvPr>
        </p:nvSpPr>
        <p:spPr/>
        <p:txBody>
          <a:bodyPr/>
          <a:lstStyle/>
          <a:p>
            <a:pPr>
              <a:buFont typeface="Arial" panose="020B0604020202020204" pitchFamily="34" charset="0"/>
              <a:buChar char="•"/>
            </a:pPr>
            <a:r>
              <a:rPr lang="en-GB" dirty="0"/>
              <a:t>In Re F (Mental Patient: Sterilisation) [1990] 2 AC 1, Lord Goff of Chieveley stated that the common law principle of necessity could justify action which would otherwise be unlawful where, inter alia, the ‘action [was] taken as a matter of necessity to assist another person without his consent’. </a:t>
            </a:r>
          </a:p>
          <a:p>
            <a:pPr>
              <a:buFont typeface="Arial" panose="020B0604020202020204" pitchFamily="34" charset="0"/>
              <a:buChar char="•"/>
            </a:pPr>
            <a:r>
              <a:rPr lang="en-GB" dirty="0"/>
              <a:t>Thus, there would be no assault where D seizes V and forcibly drags him from the path of an oncoming vehicle, thereby saving him from injury or death. </a:t>
            </a:r>
          </a:p>
        </p:txBody>
      </p:sp>
    </p:spTree>
    <p:extLst>
      <p:ext uri="{BB962C8B-B14F-4D97-AF65-F5344CB8AC3E}">
        <p14:creationId xmlns:p14="http://schemas.microsoft.com/office/powerpoint/2010/main" val="2118815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3F624-0929-4DD0-6CB9-0E987C3AEB64}"/>
              </a:ext>
            </a:extLst>
          </p:cNvPr>
          <p:cNvSpPr>
            <a:spLocks noGrp="1"/>
          </p:cNvSpPr>
          <p:nvPr>
            <p:ph type="title"/>
          </p:nvPr>
        </p:nvSpPr>
        <p:spPr/>
        <p:txBody>
          <a:bodyPr/>
          <a:lstStyle/>
          <a:p>
            <a:r>
              <a:rPr lang="en-GB" dirty="0"/>
              <a:t>Exam Application</a:t>
            </a:r>
          </a:p>
        </p:txBody>
      </p:sp>
      <p:sp>
        <p:nvSpPr>
          <p:cNvPr id="3" name="Content Placeholder 2">
            <a:extLst>
              <a:ext uri="{FF2B5EF4-FFF2-40B4-BE49-F238E27FC236}">
                <a16:creationId xmlns:a16="http://schemas.microsoft.com/office/drawing/2014/main" id="{C2E88CC8-A923-B724-EEAA-30418B569265}"/>
              </a:ext>
            </a:extLst>
          </p:cNvPr>
          <p:cNvSpPr>
            <a:spLocks noGrp="1"/>
          </p:cNvSpPr>
          <p:nvPr>
            <p:ph idx="1"/>
          </p:nvPr>
        </p:nvSpPr>
        <p:spPr/>
        <p:txBody>
          <a:bodyPr/>
          <a:lstStyle/>
          <a:p>
            <a:r>
              <a:rPr lang="en-GB" sz="1600" b="1" dirty="0"/>
              <a:t>Problem Based Question:</a:t>
            </a:r>
          </a:p>
          <a:p>
            <a:endParaRPr lang="en-GB" sz="1600" dirty="0"/>
          </a:p>
          <a:p>
            <a:pPr algn="just"/>
            <a:r>
              <a:rPr lang="en-GB" sz="1600" dirty="0"/>
              <a:t>	Kevin and Andrew play for opposing teams in a semi-professional game of football. As they are both entering the pitch the two teams shake hands. Kevin slaps Andrew on the back as a friendly gesture. Andrew is annoyed by the slap. He tells a teammate he is going to “teach Kevin a lesson in respect”. He makes an unnecessarily hard tackle, winning the ball but causing bruising to Kevin’s shins in the process. Kevin is now angry with Andrew. After the game he tells Andrew to meet him in the changing rooms if he wants to “settle things like a man”.  Andrew turns up and the two agree to a fight but agree not to injure each other's faces and to only use fists. During the fight Andrew is knocked backwards hitting his head on a bench causing a fractured skull.</a:t>
            </a:r>
          </a:p>
          <a:p>
            <a:endParaRPr lang="en-GB" sz="1600" dirty="0"/>
          </a:p>
          <a:p>
            <a:pPr>
              <a:buFont typeface="Arial" panose="020B0604020202020204" pitchFamily="34" charset="0"/>
              <a:buChar char="•"/>
            </a:pPr>
            <a:r>
              <a:rPr lang="en-GB" sz="1600" b="1" dirty="0"/>
              <a:t>Assess the criminal liability and possible defences of Kevin and Andrew.</a:t>
            </a:r>
          </a:p>
          <a:p>
            <a:r>
              <a:rPr lang="en-GB" dirty="0"/>
              <a:t> </a:t>
            </a:r>
          </a:p>
        </p:txBody>
      </p:sp>
    </p:spTree>
    <p:extLst>
      <p:ext uri="{BB962C8B-B14F-4D97-AF65-F5344CB8AC3E}">
        <p14:creationId xmlns:p14="http://schemas.microsoft.com/office/powerpoint/2010/main" val="428113615"/>
      </p:ext>
    </p:extLst>
  </p:cSld>
  <p:clrMapOvr>
    <a:masterClrMapping/>
  </p:clrMapOvr>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55BC42-9331-4C12-9D79-96CF041A1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D27AA3-15CD-42BE-91A9-416411F672A0}">
  <ds:schemaRefs>
    <ds:schemaRef ds:uri="http://schemas.microsoft.com/sharepoint/v3/contenttype/forms"/>
  </ds:schemaRefs>
</ds:datastoreItem>
</file>

<file path=customXml/itemProps3.xml><?xml version="1.0" encoding="utf-8"?>
<ds:datastoreItem xmlns:ds="http://schemas.openxmlformats.org/officeDocument/2006/customXml" ds:itemID="{39F899A2-A245-4FC2-A519-B2C1118E2C2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Lecture 1</Template>
  <TotalTime>7628</TotalTime>
  <Words>2839</Words>
  <Application>Microsoft Macintosh PowerPoint</Application>
  <PresentationFormat>On-screen Show (4:3)</PresentationFormat>
  <Paragraphs>175</Paragraphs>
  <Slides>23</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Arial</vt:lpstr>
      <vt:lpstr>Times</vt:lpstr>
      <vt:lpstr>Times New Roman</vt:lpstr>
      <vt:lpstr>Lecture 1</vt:lpstr>
      <vt:lpstr>Open Day Presentation</vt:lpstr>
      <vt:lpstr>Consent as a Defence to Non-Fatal Offences Against the Person </vt:lpstr>
      <vt:lpstr>General Principle</vt:lpstr>
      <vt:lpstr>This week’s lecture</vt:lpstr>
      <vt:lpstr>Express and Implied Consent</vt:lpstr>
      <vt:lpstr>Effective Consent</vt:lpstr>
      <vt:lpstr>What do we know…?</vt:lpstr>
      <vt:lpstr>Recognised Categories of Exception</vt:lpstr>
      <vt:lpstr>R v Brown [1994] 1 AC 212 HL</vt:lpstr>
      <vt:lpstr>Recognised Categories of Exception</vt:lpstr>
      <vt:lpstr>1. Surgery</vt:lpstr>
      <vt:lpstr>2. Piercings, tattooing, hair cutting</vt:lpstr>
      <vt:lpstr>3. Religious Flagellation</vt:lpstr>
      <vt:lpstr>4. Sports</vt:lpstr>
      <vt:lpstr>5. Horseplay</vt:lpstr>
      <vt:lpstr>6. Sexually transmitted infections</vt:lpstr>
      <vt:lpstr>Critiques of this approach (i)</vt:lpstr>
      <vt:lpstr>Critiques of this approach (ii)</vt:lpstr>
      <vt:lpstr>Critiques of this approach (iii)</vt:lpstr>
      <vt:lpstr>R v Brown [1994] 1 AC 212 HL</vt:lpstr>
      <vt:lpstr>Domestic Abuse Act 2021, s 71</vt:lpstr>
      <vt:lpstr>Lawful chastisement of a child</vt:lpstr>
      <vt:lpstr>Necessity</vt:lpstr>
      <vt:lpstr>Exam Application</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Fatal  Offences Against the Person</dc:title>
  <dc:creator>Jonathan Doak</dc:creator>
  <cp:lastModifiedBy>Kat Langley (Staff)</cp:lastModifiedBy>
  <cp:revision>109</cp:revision>
  <cp:lastPrinted>2022-09-28T11:18:09Z</cp:lastPrinted>
  <dcterms:created xsi:type="dcterms:W3CDTF">2012-10-25T14:10:47Z</dcterms:created>
  <dcterms:modified xsi:type="dcterms:W3CDTF">2024-11-08T11:59:46Z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