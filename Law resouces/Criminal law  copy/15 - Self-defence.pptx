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50"/>
  </p:notesMasterIdLst>
  <p:handoutMasterIdLst>
    <p:handoutMasterId r:id="rId51"/>
  </p:handoutMasterIdLst>
  <p:sldIdLst>
    <p:sldId id="285" r:id="rId5"/>
    <p:sldId id="279" r:id="rId6"/>
    <p:sldId id="286" r:id="rId7"/>
    <p:sldId id="287" r:id="rId8"/>
    <p:sldId id="288" r:id="rId9"/>
    <p:sldId id="289" r:id="rId10"/>
    <p:sldId id="290" r:id="rId11"/>
    <p:sldId id="291" r:id="rId12"/>
    <p:sldId id="293" r:id="rId13"/>
    <p:sldId id="292" r:id="rId14"/>
    <p:sldId id="294" r:id="rId15"/>
    <p:sldId id="296" r:id="rId16"/>
    <p:sldId id="295" r:id="rId17"/>
    <p:sldId id="297" r:id="rId18"/>
    <p:sldId id="298" r:id="rId19"/>
    <p:sldId id="299" r:id="rId20"/>
    <p:sldId id="301" r:id="rId21"/>
    <p:sldId id="302" r:id="rId22"/>
    <p:sldId id="303" r:id="rId23"/>
    <p:sldId id="300" r:id="rId24"/>
    <p:sldId id="304" r:id="rId25"/>
    <p:sldId id="305" r:id="rId26"/>
    <p:sldId id="306" r:id="rId27"/>
    <p:sldId id="307" r:id="rId28"/>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6" r:id="rId45"/>
    <p:sldId id="331" r:id="rId46"/>
    <p:sldId id="328" r:id="rId47"/>
    <p:sldId id="330" r:id="rId48"/>
    <p:sldId id="332" r:id="rId49"/>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DEEB57-2A21-D067-6682-590856789A6B}" v="4" dt="2025-01-15T11:11:50.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91"/>
    <p:restoredTop sz="96018" autoAdjust="0"/>
  </p:normalViewPr>
  <p:slideViewPr>
    <p:cSldViewPr>
      <p:cViewPr varScale="1">
        <p:scale>
          <a:sx n="113" d="100"/>
          <a:sy n="113" d="100"/>
        </p:scale>
        <p:origin x="203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86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C7D0385-F596-42C9-8BF1-76E61BE05E6F}" type="datetimeFigureOut">
              <a:rPr lang="en-GB" smtClean="0"/>
              <a:t>21/01/2025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22CBF9F-1C1E-490C-BC4D-4C3FBDBC1AE0}" type="slidenum">
              <a:rPr lang="en-GB" smtClean="0"/>
              <a:t>‹#›</a:t>
            </a:fld>
            <a:endParaRPr lang="en-GB"/>
          </a:p>
        </p:txBody>
      </p:sp>
    </p:spTree>
    <p:extLst>
      <p:ext uri="{BB962C8B-B14F-4D97-AF65-F5344CB8AC3E}">
        <p14:creationId xmlns:p14="http://schemas.microsoft.com/office/powerpoint/2010/main" val="2904955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F1A0DEF-8C78-439D-A7BB-06D1B273CEAA}" type="slidenum">
              <a:rPr lang="en-GB"/>
              <a:pPr>
                <a:defRPr/>
              </a:pPr>
              <a:t>‹#›</a:t>
            </a:fld>
            <a:endParaRPr lang="en-GB"/>
          </a:p>
        </p:txBody>
      </p:sp>
    </p:spTree>
    <p:extLst>
      <p:ext uri="{BB962C8B-B14F-4D97-AF65-F5344CB8AC3E}">
        <p14:creationId xmlns:p14="http://schemas.microsoft.com/office/powerpoint/2010/main" val="3172541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890327">
              <a:defRPr sz="2600">
                <a:solidFill>
                  <a:srgbClr val="004D75"/>
                </a:solidFill>
                <a:latin typeface="Verdana" pitchFamily="34" charset="0"/>
                <a:cs typeface="Arial" charset="0"/>
              </a:defRPr>
            </a:lvl1pPr>
            <a:lvl2pPr marL="699116" indent="-268891" defTabSz="890327">
              <a:defRPr sz="2600">
                <a:solidFill>
                  <a:srgbClr val="004D75"/>
                </a:solidFill>
                <a:latin typeface="Verdana" pitchFamily="34" charset="0"/>
                <a:cs typeface="Arial" charset="0"/>
              </a:defRPr>
            </a:lvl2pPr>
            <a:lvl3pPr marL="1075563" indent="-215113" defTabSz="890327">
              <a:defRPr sz="2600">
                <a:solidFill>
                  <a:srgbClr val="004D75"/>
                </a:solidFill>
                <a:latin typeface="Verdana" pitchFamily="34" charset="0"/>
                <a:cs typeface="Arial" charset="0"/>
              </a:defRPr>
            </a:lvl3pPr>
            <a:lvl4pPr marL="1505788" indent="-215113" defTabSz="890327">
              <a:defRPr sz="2600">
                <a:solidFill>
                  <a:srgbClr val="004D75"/>
                </a:solidFill>
                <a:latin typeface="Verdana" pitchFamily="34" charset="0"/>
                <a:cs typeface="Arial" charset="0"/>
              </a:defRPr>
            </a:lvl4pPr>
            <a:lvl5pPr marL="1936013" indent="-215113" defTabSz="890327">
              <a:defRPr sz="2600">
                <a:solidFill>
                  <a:srgbClr val="004D75"/>
                </a:solidFill>
                <a:latin typeface="Verdana" pitchFamily="34" charset="0"/>
                <a:cs typeface="Arial" charset="0"/>
              </a:defRPr>
            </a:lvl5pPr>
            <a:lvl6pPr marL="2366239" indent="-215113" defTabSz="890327" eaLnBrk="0" fontAlgn="base" hangingPunct="0">
              <a:spcBef>
                <a:spcPct val="0"/>
              </a:spcBef>
              <a:spcAft>
                <a:spcPct val="0"/>
              </a:spcAft>
              <a:defRPr sz="2600">
                <a:solidFill>
                  <a:srgbClr val="004D75"/>
                </a:solidFill>
                <a:latin typeface="Verdana" pitchFamily="34" charset="0"/>
                <a:cs typeface="Arial" charset="0"/>
              </a:defRPr>
            </a:lvl6pPr>
            <a:lvl7pPr marL="2796464" indent="-215113" defTabSz="890327" eaLnBrk="0" fontAlgn="base" hangingPunct="0">
              <a:spcBef>
                <a:spcPct val="0"/>
              </a:spcBef>
              <a:spcAft>
                <a:spcPct val="0"/>
              </a:spcAft>
              <a:defRPr sz="2600">
                <a:solidFill>
                  <a:srgbClr val="004D75"/>
                </a:solidFill>
                <a:latin typeface="Verdana" pitchFamily="34" charset="0"/>
                <a:cs typeface="Arial" charset="0"/>
              </a:defRPr>
            </a:lvl7pPr>
            <a:lvl8pPr marL="3226689" indent="-215113" defTabSz="890327" eaLnBrk="0" fontAlgn="base" hangingPunct="0">
              <a:spcBef>
                <a:spcPct val="0"/>
              </a:spcBef>
              <a:spcAft>
                <a:spcPct val="0"/>
              </a:spcAft>
              <a:defRPr sz="2600">
                <a:solidFill>
                  <a:srgbClr val="004D75"/>
                </a:solidFill>
                <a:latin typeface="Verdana" pitchFamily="34" charset="0"/>
                <a:cs typeface="Arial" charset="0"/>
              </a:defRPr>
            </a:lvl8pPr>
            <a:lvl9pPr marL="3656914" indent="-215113" defTabSz="890327" eaLnBrk="0" fontAlgn="base" hangingPunct="0">
              <a:spcBef>
                <a:spcPct val="0"/>
              </a:spcBef>
              <a:spcAft>
                <a:spcPct val="0"/>
              </a:spcAft>
              <a:defRPr sz="2600">
                <a:solidFill>
                  <a:srgbClr val="004D75"/>
                </a:solidFill>
                <a:latin typeface="Verdana" pitchFamily="34" charset="0"/>
                <a:cs typeface="Arial" charset="0"/>
              </a:defRPr>
            </a:lvl9pPr>
          </a:lstStyle>
          <a:p>
            <a:fld id="{A39AFC6A-131F-4D87-84A6-7FFA5EA6F2EF}" type="slidenum">
              <a:rPr lang="en-US" sz="1100">
                <a:solidFill>
                  <a:schemeClr val="tx1"/>
                </a:solidFill>
                <a:latin typeface="Times New Roman" pitchFamily="18" charset="0"/>
              </a:rPr>
              <a:pPr/>
              <a:t>1</a:t>
            </a:fld>
            <a:endParaRPr lang="en-US" sz="110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GB" dirty="0"/>
          </a:p>
        </p:txBody>
      </p:sp>
    </p:spTree>
    <p:extLst>
      <p:ext uri="{BB962C8B-B14F-4D97-AF65-F5344CB8AC3E}">
        <p14:creationId xmlns:p14="http://schemas.microsoft.com/office/powerpoint/2010/main" val="232359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6</a:t>
            </a:fld>
            <a:endParaRPr lang="en-GB"/>
          </a:p>
        </p:txBody>
      </p:sp>
    </p:spTree>
    <p:extLst>
      <p:ext uri="{BB962C8B-B14F-4D97-AF65-F5344CB8AC3E}">
        <p14:creationId xmlns:p14="http://schemas.microsoft.com/office/powerpoint/2010/main" val="565245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7</a:t>
            </a:fld>
            <a:endParaRPr lang="en-GB"/>
          </a:p>
        </p:txBody>
      </p:sp>
    </p:spTree>
    <p:extLst>
      <p:ext uri="{BB962C8B-B14F-4D97-AF65-F5344CB8AC3E}">
        <p14:creationId xmlns:p14="http://schemas.microsoft.com/office/powerpoint/2010/main" val="1082769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10</a:t>
            </a:fld>
            <a:endParaRPr lang="en-GB"/>
          </a:p>
        </p:txBody>
      </p:sp>
    </p:spTree>
    <p:extLst>
      <p:ext uri="{BB962C8B-B14F-4D97-AF65-F5344CB8AC3E}">
        <p14:creationId xmlns:p14="http://schemas.microsoft.com/office/powerpoint/2010/main" val="287011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17</a:t>
            </a:fld>
            <a:endParaRPr lang="en-GB"/>
          </a:p>
        </p:txBody>
      </p:sp>
    </p:spTree>
    <p:extLst>
      <p:ext uri="{BB962C8B-B14F-4D97-AF65-F5344CB8AC3E}">
        <p14:creationId xmlns:p14="http://schemas.microsoft.com/office/powerpoint/2010/main" val="1591064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18</a:t>
            </a:fld>
            <a:endParaRPr lang="en-GB"/>
          </a:p>
        </p:txBody>
      </p:sp>
    </p:spTree>
    <p:extLst>
      <p:ext uri="{BB962C8B-B14F-4D97-AF65-F5344CB8AC3E}">
        <p14:creationId xmlns:p14="http://schemas.microsoft.com/office/powerpoint/2010/main" val="1498090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20</a:t>
            </a:fld>
            <a:endParaRPr lang="en-GB"/>
          </a:p>
        </p:txBody>
      </p:sp>
    </p:spTree>
    <p:extLst>
      <p:ext uri="{BB962C8B-B14F-4D97-AF65-F5344CB8AC3E}">
        <p14:creationId xmlns:p14="http://schemas.microsoft.com/office/powerpoint/2010/main" val="87765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22</a:t>
            </a:fld>
            <a:endParaRPr lang="en-GB"/>
          </a:p>
        </p:txBody>
      </p:sp>
    </p:spTree>
    <p:extLst>
      <p:ext uri="{BB962C8B-B14F-4D97-AF65-F5344CB8AC3E}">
        <p14:creationId xmlns:p14="http://schemas.microsoft.com/office/powerpoint/2010/main" val="3419563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27</a:t>
            </a:fld>
            <a:endParaRPr lang="en-GB"/>
          </a:p>
        </p:txBody>
      </p:sp>
    </p:spTree>
    <p:extLst>
      <p:ext uri="{BB962C8B-B14F-4D97-AF65-F5344CB8AC3E}">
        <p14:creationId xmlns:p14="http://schemas.microsoft.com/office/powerpoint/2010/main" val="3330876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35</a:t>
            </a:fld>
            <a:endParaRPr lang="en-GB"/>
          </a:p>
        </p:txBody>
      </p:sp>
    </p:spTree>
    <p:extLst>
      <p:ext uri="{BB962C8B-B14F-4D97-AF65-F5344CB8AC3E}">
        <p14:creationId xmlns:p14="http://schemas.microsoft.com/office/powerpoint/2010/main" val="251948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38</a:t>
            </a:fld>
            <a:endParaRPr lang="en-GB"/>
          </a:p>
        </p:txBody>
      </p:sp>
    </p:spTree>
    <p:extLst>
      <p:ext uri="{BB962C8B-B14F-4D97-AF65-F5344CB8AC3E}">
        <p14:creationId xmlns:p14="http://schemas.microsoft.com/office/powerpoint/2010/main" val="3456387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40</a:t>
            </a:fld>
            <a:endParaRPr lang="en-GB"/>
          </a:p>
        </p:txBody>
      </p:sp>
    </p:spTree>
    <p:extLst>
      <p:ext uri="{BB962C8B-B14F-4D97-AF65-F5344CB8AC3E}">
        <p14:creationId xmlns:p14="http://schemas.microsoft.com/office/powerpoint/2010/main" val="2438136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41</a:t>
            </a:fld>
            <a:endParaRPr lang="en-GB"/>
          </a:p>
        </p:txBody>
      </p:sp>
    </p:spTree>
    <p:extLst>
      <p:ext uri="{BB962C8B-B14F-4D97-AF65-F5344CB8AC3E}">
        <p14:creationId xmlns:p14="http://schemas.microsoft.com/office/powerpoint/2010/main" val="861600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9CC0B-0237-389C-4D09-45E1D3318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32552-0C21-95E8-39FA-96CE6AAB2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7E6DB-5D9C-3A22-40A5-CBCB0C18DF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947824-C7A6-DBFC-C500-3FCA43F363A4}"/>
              </a:ext>
            </a:extLst>
          </p:cNvPr>
          <p:cNvSpPr>
            <a:spLocks noGrp="1"/>
          </p:cNvSpPr>
          <p:nvPr>
            <p:ph type="sldNum" sz="quarter" idx="5"/>
          </p:nvPr>
        </p:nvSpPr>
        <p:spPr/>
        <p:txBody>
          <a:bodyPr/>
          <a:lstStyle/>
          <a:p>
            <a:pPr>
              <a:defRPr/>
            </a:pPr>
            <a:fld id="{AF1A0DEF-8C78-439D-A7BB-06D1B273CEAA}" type="slidenum">
              <a:rPr lang="en-GB" smtClean="0"/>
              <a:pPr>
                <a:defRPr/>
              </a:pPr>
              <a:t>42</a:t>
            </a:fld>
            <a:endParaRPr lang="en-GB"/>
          </a:p>
        </p:txBody>
      </p:sp>
    </p:spTree>
    <p:extLst>
      <p:ext uri="{BB962C8B-B14F-4D97-AF65-F5344CB8AC3E}">
        <p14:creationId xmlns:p14="http://schemas.microsoft.com/office/powerpoint/2010/main" val="823556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43</a:t>
            </a:fld>
            <a:endParaRPr lang="en-GB"/>
          </a:p>
        </p:txBody>
      </p:sp>
    </p:spTree>
    <p:extLst>
      <p:ext uri="{BB962C8B-B14F-4D97-AF65-F5344CB8AC3E}">
        <p14:creationId xmlns:p14="http://schemas.microsoft.com/office/powerpoint/2010/main" val="1925570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44</a:t>
            </a:fld>
            <a:endParaRPr lang="en-GB"/>
          </a:p>
        </p:txBody>
      </p:sp>
    </p:spTree>
    <p:extLst>
      <p:ext uri="{BB962C8B-B14F-4D97-AF65-F5344CB8AC3E}">
        <p14:creationId xmlns:p14="http://schemas.microsoft.com/office/powerpoint/2010/main" val="2165853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6C8DA-152E-74F4-61EC-EF619A5E3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FB638-2145-49EF-BDAB-6C666E613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5C5CC-D3EC-028A-02C5-C6F3144BD5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C70BF6-EBF5-AD2C-65D3-330DD453CAAE}"/>
              </a:ext>
            </a:extLst>
          </p:cNvPr>
          <p:cNvSpPr>
            <a:spLocks noGrp="1"/>
          </p:cNvSpPr>
          <p:nvPr>
            <p:ph type="sldNum" sz="quarter" idx="5"/>
          </p:nvPr>
        </p:nvSpPr>
        <p:spPr/>
        <p:txBody>
          <a:bodyPr/>
          <a:lstStyle/>
          <a:p>
            <a:pPr>
              <a:defRPr/>
            </a:pPr>
            <a:fld id="{AF1A0DEF-8C78-439D-A7BB-06D1B273CEAA}" type="slidenum">
              <a:rPr lang="en-GB" smtClean="0"/>
              <a:pPr>
                <a:defRPr/>
              </a:pPr>
              <a:t>45</a:t>
            </a:fld>
            <a:endParaRPr lang="en-GB"/>
          </a:p>
        </p:txBody>
      </p:sp>
    </p:spTree>
    <p:extLst>
      <p:ext uri="{BB962C8B-B14F-4D97-AF65-F5344CB8AC3E}">
        <p14:creationId xmlns:p14="http://schemas.microsoft.com/office/powerpoint/2010/main" val="4218891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13271"/>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800622"/>
          </a:xfrm>
        </p:spPr>
        <p:txBody>
          <a:bodyPr/>
          <a:lstStyle>
            <a:lvl1pPr algn="l">
              <a:defRPr sz="4400">
                <a:solidFill>
                  <a:schemeClr val="bg1"/>
                </a:solidFill>
              </a:defRPr>
            </a:lvl1pPr>
          </a:lstStyle>
          <a:p>
            <a:r>
              <a:rPr lang="en-GB" noProof="0" dirty="0"/>
              <a:t>Click to edit Master title style</a:t>
            </a:r>
          </a:p>
        </p:txBody>
      </p:sp>
      <p:sp>
        <p:nvSpPr>
          <p:cNvPr id="8204" name="Rectangle 12"/>
          <p:cNvSpPr>
            <a:spLocks noGrp="1" noChangeArrowheads="1"/>
          </p:cNvSpPr>
          <p:nvPr>
            <p:ph type="subTitle" sz="quarter" idx="1"/>
          </p:nvPr>
        </p:nvSpPr>
        <p:spPr>
          <a:xfrm>
            <a:off x="755650" y="2801926"/>
            <a:ext cx="7772400" cy="2431231"/>
          </a:xfrm>
        </p:spPr>
        <p:txBody>
          <a:bodyPr/>
          <a:lstStyle>
            <a:lvl1pPr marL="0" indent="0" algn="r">
              <a:defRPr sz="2400" b="0">
                <a:solidFill>
                  <a:schemeClr val="bg1"/>
                </a:solidFill>
              </a:defRPr>
            </a:lvl1pPr>
          </a:lstStyle>
          <a:p>
            <a:r>
              <a:rPr lang="en-GB" noProof="0" dirty="0"/>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8737E7BC-0AD6-4697-8AE2-1050AD12CB8F}"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GB" noProof="0"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noProof="0"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sz="half" idx="1"/>
          </p:nvPr>
        </p:nvSpPr>
        <p:spPr>
          <a:xfrm>
            <a:off x="6842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Content Placeholder 3"/>
          <p:cNvSpPr>
            <a:spLocks noGrp="1"/>
          </p:cNvSpPr>
          <p:nvPr>
            <p:ph sz="half" idx="2"/>
          </p:nvPr>
        </p:nvSpPr>
        <p:spPr>
          <a:xfrm>
            <a:off x="46466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noProof="0"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4" name="Content Placeholder 3"/>
          <p:cNvSpPr>
            <a:spLocks noGrp="1"/>
          </p:cNvSpPr>
          <p:nvPr>
            <p:ph sz="half" idx="2"/>
          </p:nvPr>
        </p:nvSpPr>
        <p:spPr>
          <a:xfrm>
            <a:off x="457200" y="2174875"/>
            <a:ext cx="4040188"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6" name="Content Placeholder 5"/>
          <p:cNvSpPr>
            <a:spLocks noGrp="1"/>
          </p:cNvSpPr>
          <p:nvPr>
            <p:ph sz="quarter" idx="4"/>
          </p:nvPr>
        </p:nvSpPr>
        <p:spPr>
          <a:xfrm>
            <a:off x="4645025" y="2174875"/>
            <a:ext cx="4041775"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noProof="0"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ext Placeholder 3"/>
          <p:cNvSpPr>
            <a:spLocks noGrp="1"/>
          </p:cNvSpPr>
          <p:nvPr>
            <p:ph type="body" sz="half" idx="2"/>
          </p:nvPr>
        </p:nvSpPr>
        <p:spPr>
          <a:xfrm>
            <a:off x="457200" y="1435101"/>
            <a:ext cx="3008313" cy="43701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noProof="0"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Vertical Text Placeholder 2"/>
          <p:cNvSpPr>
            <a:spLocks noGrp="1"/>
          </p:cNvSpPr>
          <p:nvPr>
            <p:ph type="body" orient="vert" idx="1"/>
          </p:nvPr>
        </p:nvSpPr>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noProof="0" dirty="0"/>
              <a:t>Click to edit Master title style</a:t>
            </a:r>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9537" y="100012"/>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74612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dirty="0"/>
              <a:t>Heading style</a:t>
            </a:r>
          </a:p>
        </p:txBody>
      </p:sp>
      <p:sp>
        <p:nvSpPr>
          <p:cNvPr id="1029" name="Rectangle 3"/>
          <p:cNvSpPr>
            <a:spLocks noGrp="1" noChangeArrowheads="1"/>
          </p:cNvSpPr>
          <p:nvPr>
            <p:ph type="body" idx="1"/>
          </p:nvPr>
        </p:nvSpPr>
        <p:spPr bwMode="auto">
          <a:xfrm>
            <a:off x="684212" y="1587501"/>
            <a:ext cx="8131175" cy="4545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anose="020B0604020202020204" pitchFamily="34" charset="0"/>
                <a:cs typeface="Arial" panose="020B0604020202020204" pitchFamily="34" charset="0"/>
              </a:defRPr>
            </a:lvl1pPr>
          </a:lstStyle>
          <a:p>
            <a:pPr>
              <a:defRPr/>
            </a:pPr>
            <a:endParaRPr lang="en-GB" dirty="0">
              <a:latin typeface="Arial" panose="020B0604020202020204" pitchFamily="34" charset="0"/>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cs typeface="Arial" panose="020B0604020202020204" pitchFamily="34" charset="0"/>
              </a:defRPr>
            </a:lvl1pPr>
          </a:lstStyle>
          <a:p>
            <a:pPr>
              <a:defRPr/>
            </a:pPr>
            <a:fld id="{44A284BA-A63D-4214-92FC-61D78B3D9DA5}" type="slidenum">
              <a:rPr lang="en-GB" smtClean="0"/>
              <a:pPr>
                <a:defRPr/>
              </a:pPr>
              <a:t>‹#›</a:t>
            </a:fld>
            <a:endParaRPr lang="en-GB" dirty="0">
              <a:latin typeface="Arial" panose="020B0604020202020204" pitchFamily="34" charset="0"/>
              <a:cs typeface="Arial" panose="020B0604020202020204" pitchFamily="34" charset="0"/>
            </a:endParaRPr>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4000">
          <a:solidFill>
            <a:srgbClr val="663366"/>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284400" indent="-284400" algn="l" rtl="0" eaLnBrk="1" fontAlgn="base" hangingPunct="1">
        <a:spcBef>
          <a:spcPct val="20000"/>
        </a:spcBef>
        <a:spcAft>
          <a:spcPct val="0"/>
        </a:spcAft>
        <a:buFont typeface="Arial" panose="020B0604020202020204" pitchFamily="34" charset="0"/>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nl/touch-aanraken-vinger-punt-wijzend-25059/" TargetMode="Externa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755650" y="476250"/>
            <a:ext cx="7772400" cy="3744838"/>
          </a:xfrm>
        </p:spPr>
        <p:txBody>
          <a:bodyPr/>
          <a:lstStyle/>
          <a:p>
            <a:r>
              <a:rPr lang="en-GB" dirty="0">
                <a:latin typeface="Arial"/>
                <a:cs typeface="Arial"/>
              </a:rPr>
              <a:t>Self-Defence and Defence of Property</a:t>
            </a:r>
            <a:br>
              <a:rPr lang="en-GB" dirty="0"/>
            </a:br>
            <a:br>
              <a:rPr lang="en-GB" dirty="0"/>
            </a:br>
            <a:r>
              <a:rPr lang="en-GB" sz="2400" dirty="0"/>
              <a:t>Week 15</a:t>
            </a:r>
            <a:endParaRPr lang="en-GB" dirty="0"/>
          </a:p>
        </p:txBody>
      </p:sp>
      <p:sp>
        <p:nvSpPr>
          <p:cNvPr id="3075" name="Rectangle 3"/>
          <p:cNvSpPr>
            <a:spLocks noGrp="1" noChangeArrowheads="1"/>
          </p:cNvSpPr>
          <p:nvPr>
            <p:ph type="subTitle" sz="quarter" idx="1"/>
          </p:nvPr>
        </p:nvSpPr>
        <p:spPr>
          <a:xfrm>
            <a:off x="755650" y="4221088"/>
            <a:ext cx="7772400" cy="1012069"/>
          </a:xfrm>
        </p:spPr>
        <p:txBody>
          <a:bodyPr/>
          <a:lstStyle/>
          <a:p>
            <a:pPr>
              <a:buNone/>
            </a:pPr>
            <a:r>
              <a:rPr lang="en-GB" dirty="0"/>
              <a:t>Dr Emma Milne</a:t>
            </a:r>
          </a:p>
          <a:p>
            <a:pPr>
              <a:buNone/>
            </a:pPr>
            <a:r>
              <a:rPr lang="en-GB" dirty="0" err="1"/>
              <a:t>emma.milne@durham.ac.uk</a:t>
            </a:r>
            <a:endParaRPr lang="en-GB" dirty="0"/>
          </a:p>
        </p:txBody>
      </p:sp>
    </p:spTree>
    <p:extLst>
      <p:ext uri="{BB962C8B-B14F-4D97-AF65-F5344CB8AC3E}">
        <p14:creationId xmlns:p14="http://schemas.microsoft.com/office/powerpoint/2010/main" val="894051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66E32-51FB-7047-BE92-D1EED9CB3D50}"/>
              </a:ext>
            </a:extLst>
          </p:cNvPr>
          <p:cNvSpPr>
            <a:spLocks noGrp="1"/>
          </p:cNvSpPr>
          <p:nvPr>
            <p:ph type="title"/>
          </p:nvPr>
        </p:nvSpPr>
        <p:spPr/>
        <p:txBody>
          <a:bodyPr/>
          <a:lstStyle/>
          <a:p>
            <a:r>
              <a:rPr lang="en-GB" dirty="0"/>
              <a:t>By the end of this lecture you should be able to:</a:t>
            </a:r>
          </a:p>
        </p:txBody>
      </p:sp>
      <p:sp>
        <p:nvSpPr>
          <p:cNvPr id="3" name="Content Placeholder 2">
            <a:extLst>
              <a:ext uri="{FF2B5EF4-FFF2-40B4-BE49-F238E27FC236}">
                <a16:creationId xmlns:a16="http://schemas.microsoft.com/office/drawing/2014/main" id="{FC72E507-6AD6-AA48-B458-81D30A048E09}"/>
              </a:ext>
            </a:extLst>
          </p:cNvPr>
          <p:cNvSpPr>
            <a:spLocks noGrp="1"/>
          </p:cNvSpPr>
          <p:nvPr>
            <p:ph idx="1"/>
          </p:nvPr>
        </p:nvSpPr>
        <p:spPr>
          <a:xfrm>
            <a:off x="684212" y="1916832"/>
            <a:ext cx="8131175" cy="4215680"/>
          </a:xfrm>
        </p:spPr>
        <p:txBody>
          <a:bodyPr>
            <a:normAutofit/>
          </a:bodyPr>
          <a:lstStyle/>
          <a:p>
            <a:pPr marL="457200" indent="-457200"/>
            <a:r>
              <a:rPr lang="en-GB" dirty="0"/>
              <a:t>identify the statutes outlining the defences of self-defence, prevention of a crime, defence of property;</a:t>
            </a:r>
          </a:p>
          <a:p>
            <a:pPr marL="457200" indent="-457200"/>
            <a:r>
              <a:rPr lang="en-GB" dirty="0"/>
              <a:t>explain the elements of each of the defences;</a:t>
            </a:r>
          </a:p>
          <a:p>
            <a:pPr marL="457200" indent="-457200"/>
            <a:r>
              <a:rPr lang="en-GB" dirty="0"/>
              <a:t>apply the elements of the defences to a scenario;</a:t>
            </a:r>
          </a:p>
          <a:p>
            <a:pPr marL="457200" indent="-457200"/>
            <a:r>
              <a:rPr lang="en-GB" dirty="0"/>
              <a:t>critique the defences.</a:t>
            </a:r>
          </a:p>
          <a:p>
            <a:pPr marL="457200" indent="-457200"/>
            <a:endParaRPr lang="en-GB" dirty="0"/>
          </a:p>
          <a:p>
            <a:pPr marL="457200" indent="-457200"/>
            <a:endParaRPr lang="en-GB" dirty="0"/>
          </a:p>
          <a:p>
            <a:endParaRPr lang="en-GB" dirty="0"/>
          </a:p>
        </p:txBody>
      </p:sp>
    </p:spTree>
    <p:extLst>
      <p:ext uri="{BB962C8B-B14F-4D97-AF65-F5344CB8AC3E}">
        <p14:creationId xmlns:p14="http://schemas.microsoft.com/office/powerpoint/2010/main" val="39192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C633-0448-7C4B-D990-46FA90027D64}"/>
              </a:ext>
            </a:extLst>
          </p:cNvPr>
          <p:cNvSpPr>
            <a:spLocks noGrp="1"/>
          </p:cNvSpPr>
          <p:nvPr>
            <p:ph type="title"/>
          </p:nvPr>
        </p:nvSpPr>
        <p:spPr>
          <a:xfrm>
            <a:off x="685800" y="609600"/>
            <a:ext cx="7772400" cy="746126"/>
          </a:xfrm>
        </p:spPr>
        <p:txBody>
          <a:bodyPr/>
          <a:lstStyle/>
          <a:p>
            <a:r>
              <a:rPr lang="en-GB" dirty="0"/>
              <a:t>“Public and Private defences”</a:t>
            </a:r>
          </a:p>
        </p:txBody>
      </p:sp>
      <p:sp>
        <p:nvSpPr>
          <p:cNvPr id="3" name="Content Placeholder 2">
            <a:extLst>
              <a:ext uri="{FF2B5EF4-FFF2-40B4-BE49-F238E27FC236}">
                <a16:creationId xmlns:a16="http://schemas.microsoft.com/office/drawing/2014/main" id="{F4CE140B-0140-28B1-E6B3-D12E2266DB69}"/>
              </a:ext>
            </a:extLst>
          </p:cNvPr>
          <p:cNvSpPr>
            <a:spLocks noGrp="1"/>
          </p:cNvSpPr>
          <p:nvPr>
            <p:ph idx="1"/>
          </p:nvPr>
        </p:nvSpPr>
        <p:spPr>
          <a:xfrm>
            <a:off x="684212" y="1587501"/>
            <a:ext cx="8131175" cy="4545011"/>
          </a:xfrm>
        </p:spPr>
        <p:txBody>
          <a:bodyPr/>
          <a:lstStyle/>
          <a:p>
            <a:pPr lvl="0"/>
            <a:r>
              <a:rPr lang="en-GB" dirty="0"/>
              <a:t>Self-defence</a:t>
            </a:r>
          </a:p>
          <a:p>
            <a:pPr lvl="0"/>
            <a:r>
              <a:rPr lang="en-GB" dirty="0"/>
              <a:t>Prevention of crime</a:t>
            </a:r>
          </a:p>
          <a:p>
            <a:pPr lvl="0"/>
            <a:r>
              <a:rPr lang="en-GB" dirty="0"/>
              <a:t>Defence of property</a:t>
            </a:r>
          </a:p>
          <a:p>
            <a:pPr lvl="0"/>
            <a:endParaRPr lang="en-GB" dirty="0"/>
          </a:p>
          <a:p>
            <a:pPr lvl="0"/>
            <a:r>
              <a:rPr lang="en-GB" dirty="0"/>
              <a:t>Public defences: Prevention of crime</a:t>
            </a:r>
          </a:p>
          <a:p>
            <a:pPr lvl="0"/>
            <a:r>
              <a:rPr lang="en-GB" dirty="0"/>
              <a:t>Private defences: Self-defence and Defence of property</a:t>
            </a:r>
          </a:p>
        </p:txBody>
      </p:sp>
    </p:spTree>
    <p:extLst>
      <p:ext uri="{BB962C8B-B14F-4D97-AF65-F5344CB8AC3E}">
        <p14:creationId xmlns:p14="http://schemas.microsoft.com/office/powerpoint/2010/main" val="1123264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EE50699-3813-02D9-0DC3-88DA856C965F}"/>
              </a:ext>
            </a:extLst>
          </p:cNvPr>
          <p:cNvSpPr>
            <a:spLocks noGrp="1"/>
          </p:cNvSpPr>
          <p:nvPr>
            <p:ph type="title"/>
          </p:nvPr>
        </p:nvSpPr>
        <p:spPr>
          <a:xfrm>
            <a:off x="657983" y="2204864"/>
            <a:ext cx="3810000" cy="2448272"/>
          </a:xfrm>
        </p:spPr>
        <p:txBody>
          <a:bodyPr/>
          <a:lstStyle/>
          <a:p>
            <a:pPr algn="ctr"/>
            <a:r>
              <a:rPr lang="en-US" dirty="0"/>
              <a:t>The right to bodily autonomy</a:t>
            </a:r>
          </a:p>
        </p:txBody>
      </p:sp>
      <p:pic>
        <p:nvPicPr>
          <p:cNvPr id="10" name="Content Placeholder 9" descr="A finger pointing at a star&#10;&#10;Description automatically generated">
            <a:extLst>
              <a:ext uri="{FF2B5EF4-FFF2-40B4-BE49-F238E27FC236}">
                <a16:creationId xmlns:a16="http://schemas.microsoft.com/office/drawing/2014/main" id="{17CD2700-47CA-CC1B-51B2-C8F2594BD6E8}"/>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44997" y="2143125"/>
            <a:ext cx="3810000" cy="2571750"/>
          </a:xfrm>
        </p:spPr>
      </p:pic>
    </p:spTree>
    <p:extLst>
      <p:ext uri="{BB962C8B-B14F-4D97-AF65-F5344CB8AC3E}">
        <p14:creationId xmlns:p14="http://schemas.microsoft.com/office/powerpoint/2010/main" val="2422844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5F31AB-1F61-7549-731E-9010E3CD6C27}"/>
              </a:ext>
            </a:extLst>
          </p:cNvPr>
          <p:cNvSpPr>
            <a:spLocks noGrp="1"/>
          </p:cNvSpPr>
          <p:nvPr>
            <p:ph type="title"/>
          </p:nvPr>
        </p:nvSpPr>
        <p:spPr>
          <a:xfrm>
            <a:off x="722313" y="2780928"/>
            <a:ext cx="7772400" cy="2988047"/>
          </a:xfrm>
        </p:spPr>
        <p:txBody>
          <a:bodyPr/>
          <a:lstStyle/>
          <a:p>
            <a:r>
              <a:rPr lang="en-US" dirty="0"/>
              <a:t>Self-</a:t>
            </a:r>
            <a:r>
              <a:rPr lang="en-US" dirty="0" err="1"/>
              <a:t>Defence</a:t>
            </a:r>
            <a:r>
              <a:rPr lang="en-US" dirty="0"/>
              <a:t> and Prevention of a Crime</a:t>
            </a:r>
            <a:br>
              <a:rPr lang="en-US" dirty="0"/>
            </a:br>
            <a:endParaRPr lang="en-US" dirty="0"/>
          </a:p>
        </p:txBody>
      </p:sp>
    </p:spTree>
    <p:extLst>
      <p:ext uri="{BB962C8B-B14F-4D97-AF65-F5344CB8AC3E}">
        <p14:creationId xmlns:p14="http://schemas.microsoft.com/office/powerpoint/2010/main" val="1205511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ABD093-1683-C2BA-1F17-A1E6A2727E2C}"/>
              </a:ext>
            </a:extLst>
          </p:cNvPr>
          <p:cNvSpPr>
            <a:spLocks noGrp="1"/>
          </p:cNvSpPr>
          <p:nvPr>
            <p:ph type="title"/>
          </p:nvPr>
        </p:nvSpPr>
        <p:spPr/>
        <p:txBody>
          <a:bodyPr/>
          <a:lstStyle/>
          <a:p>
            <a:r>
              <a:rPr lang="en-US" dirty="0"/>
              <a:t>Similar but not the same</a:t>
            </a:r>
          </a:p>
        </p:txBody>
      </p:sp>
      <p:sp>
        <p:nvSpPr>
          <p:cNvPr id="5" name="Content Placeholder 4">
            <a:extLst>
              <a:ext uri="{FF2B5EF4-FFF2-40B4-BE49-F238E27FC236}">
                <a16:creationId xmlns:a16="http://schemas.microsoft.com/office/drawing/2014/main" id="{A2B4F2E2-49A6-465E-7C30-1BBCD88E058B}"/>
              </a:ext>
            </a:extLst>
          </p:cNvPr>
          <p:cNvSpPr>
            <a:spLocks noGrp="1"/>
          </p:cNvSpPr>
          <p:nvPr>
            <p:ph idx="1"/>
          </p:nvPr>
        </p:nvSpPr>
        <p:spPr>
          <a:xfrm>
            <a:off x="684212" y="1772816"/>
            <a:ext cx="8131175" cy="4176464"/>
          </a:xfrm>
        </p:spPr>
        <p:txBody>
          <a:bodyPr>
            <a:normAutofit lnSpcReduction="10000"/>
          </a:bodyPr>
          <a:lstStyle/>
          <a:p>
            <a:pPr marL="0" indent="0">
              <a:buNone/>
            </a:pPr>
            <a:r>
              <a:rPr lang="en-US" dirty="0"/>
              <a:t>Scenarios</a:t>
            </a:r>
          </a:p>
          <a:p>
            <a:r>
              <a:rPr lang="en-US" dirty="0"/>
              <a:t>D is attacked by V with a knife, and D hits V to escape the attack. </a:t>
            </a:r>
          </a:p>
          <a:p>
            <a:r>
              <a:rPr lang="en-US" dirty="0"/>
              <a:t>D is attacked by (who is under the age of 10) with a knife, and D hits V to escape the attack. </a:t>
            </a:r>
          </a:p>
          <a:p>
            <a:endParaRPr lang="en-US" dirty="0"/>
          </a:p>
          <a:p>
            <a:r>
              <a:rPr lang="en-US" dirty="0"/>
              <a:t>Range of force</a:t>
            </a:r>
          </a:p>
          <a:p>
            <a:r>
              <a:rPr lang="en-US" dirty="0"/>
              <a:t>Relationship D has to the crime being committed by V.</a:t>
            </a:r>
          </a:p>
        </p:txBody>
      </p:sp>
    </p:spTree>
    <p:extLst>
      <p:ext uri="{BB962C8B-B14F-4D97-AF65-F5344CB8AC3E}">
        <p14:creationId xmlns:p14="http://schemas.microsoft.com/office/powerpoint/2010/main" val="913239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0FFB8-E0B8-954C-3F89-68B5921F2D98}"/>
              </a:ext>
            </a:extLst>
          </p:cNvPr>
          <p:cNvSpPr>
            <a:spLocks noGrp="1"/>
          </p:cNvSpPr>
          <p:nvPr>
            <p:ph type="title"/>
          </p:nvPr>
        </p:nvSpPr>
        <p:spPr/>
        <p:txBody>
          <a:bodyPr/>
          <a:lstStyle/>
          <a:p>
            <a:r>
              <a:rPr lang="en-US" dirty="0"/>
              <a:t>Statute</a:t>
            </a:r>
          </a:p>
        </p:txBody>
      </p:sp>
      <p:sp>
        <p:nvSpPr>
          <p:cNvPr id="3" name="Content Placeholder 2">
            <a:extLst>
              <a:ext uri="{FF2B5EF4-FFF2-40B4-BE49-F238E27FC236}">
                <a16:creationId xmlns:a16="http://schemas.microsoft.com/office/drawing/2014/main" id="{537C956A-3B7B-7FEA-DFB1-D642B8D1AAC0}"/>
              </a:ext>
            </a:extLst>
          </p:cNvPr>
          <p:cNvSpPr>
            <a:spLocks noGrp="1"/>
          </p:cNvSpPr>
          <p:nvPr>
            <p:ph idx="1"/>
          </p:nvPr>
        </p:nvSpPr>
        <p:spPr/>
        <p:txBody>
          <a:bodyPr>
            <a:normAutofit fontScale="92500" lnSpcReduction="10000"/>
          </a:bodyPr>
          <a:lstStyle/>
          <a:p>
            <a:r>
              <a:rPr lang="en-GB" dirty="0"/>
              <a:t>Prevention of Crime – Criminal Law Act 1967, s3.</a:t>
            </a:r>
          </a:p>
          <a:p>
            <a:r>
              <a:rPr lang="en-GB" dirty="0"/>
              <a:t>Self-defence – Criminal Justice and Immigration 2008, s76.</a:t>
            </a:r>
          </a:p>
          <a:p>
            <a:pPr lvl="1"/>
            <a:r>
              <a:rPr lang="en-GB" dirty="0"/>
              <a:t>Clarify the application of both defences</a:t>
            </a:r>
          </a:p>
          <a:p>
            <a:pPr lvl="1"/>
            <a:r>
              <a:rPr lang="en-GB" dirty="0"/>
              <a:t>Placed self-defence on statutory footing for first time.</a:t>
            </a:r>
          </a:p>
          <a:p>
            <a:pPr marL="457200" lvl="1" indent="0">
              <a:buNone/>
            </a:pPr>
            <a:endParaRPr lang="en-GB" dirty="0"/>
          </a:p>
          <a:p>
            <a:r>
              <a:rPr lang="en-GB" dirty="0"/>
              <a:t> When applying the law, statute is your starting point.</a:t>
            </a:r>
          </a:p>
          <a:p>
            <a:r>
              <a:rPr lang="en-GB" dirty="0"/>
              <a:t>D raises the defence with some evidence, prosecution need to prove beyond reasonable doubt that the defence does not apply.</a:t>
            </a:r>
          </a:p>
        </p:txBody>
      </p:sp>
    </p:spTree>
    <p:extLst>
      <p:ext uri="{BB962C8B-B14F-4D97-AF65-F5344CB8AC3E}">
        <p14:creationId xmlns:p14="http://schemas.microsoft.com/office/powerpoint/2010/main" val="229858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83FB7-1192-D9ED-CCB0-7684389E06FB}"/>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B17083EE-62AB-5AFD-1BF5-628D278BB863}"/>
              </a:ext>
            </a:extLst>
          </p:cNvPr>
          <p:cNvSpPr>
            <a:spLocks noGrp="1"/>
          </p:cNvSpPr>
          <p:nvPr>
            <p:ph idx="1"/>
          </p:nvPr>
        </p:nvSpPr>
        <p:spPr/>
        <p:txBody>
          <a:bodyPr/>
          <a:lstStyle/>
          <a:p>
            <a:pPr marL="514350" indent="-514350">
              <a:buFont typeface="+mj-lt"/>
              <a:buAutoNum type="arabicPeriod"/>
            </a:pPr>
            <a:r>
              <a:rPr lang="en-US" dirty="0"/>
              <a:t>Exclusions</a:t>
            </a:r>
          </a:p>
          <a:p>
            <a:pPr marL="514350" lvl="0" indent="-514350">
              <a:buFont typeface="+mj-lt"/>
              <a:buAutoNum type="arabicPeriod"/>
            </a:pPr>
            <a:r>
              <a:rPr lang="en-US" dirty="0"/>
              <a:t>Element 1: necessity of force</a:t>
            </a:r>
          </a:p>
          <a:p>
            <a:pPr marL="514350" lvl="0" indent="-514350">
              <a:buFont typeface="+mj-lt"/>
              <a:buAutoNum type="arabicPeriod"/>
            </a:pPr>
            <a:r>
              <a:rPr lang="en-US" dirty="0"/>
              <a:t>Element 2: reasonableness of force</a:t>
            </a:r>
          </a:p>
          <a:p>
            <a:pPr marL="514350" lvl="0" indent="-514350">
              <a:buFont typeface="+mj-lt"/>
              <a:buAutoNum type="arabicPeriod"/>
            </a:pPr>
            <a:r>
              <a:rPr lang="en-US" dirty="0"/>
              <a:t>Exceptional categories.</a:t>
            </a:r>
          </a:p>
          <a:p>
            <a:pPr marL="514350" lvl="0" indent="-514350">
              <a:buFont typeface="+mj-lt"/>
              <a:buAutoNum type="arabicPeriod"/>
            </a:pPr>
            <a:endParaRPr lang="en-US" dirty="0"/>
          </a:p>
        </p:txBody>
      </p:sp>
    </p:spTree>
    <p:extLst>
      <p:ext uri="{BB962C8B-B14F-4D97-AF65-F5344CB8AC3E}">
        <p14:creationId xmlns:p14="http://schemas.microsoft.com/office/powerpoint/2010/main" val="227358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7DC0BF-6CAE-538A-2D4D-01A7644B6A16}"/>
              </a:ext>
            </a:extLst>
          </p:cNvPr>
          <p:cNvSpPr>
            <a:spLocks noGrp="1"/>
          </p:cNvSpPr>
          <p:nvPr>
            <p:ph type="body" idx="1"/>
          </p:nvPr>
        </p:nvSpPr>
        <p:spPr/>
        <p:txBody>
          <a:bodyPr/>
          <a:lstStyle/>
          <a:p>
            <a:pPr marL="742950" indent="-742950">
              <a:buFont typeface="+mj-lt"/>
              <a:buAutoNum type="arabicPeriod"/>
            </a:pPr>
            <a:r>
              <a:rPr lang="en-US" sz="3600" dirty="0"/>
              <a:t>Exclusions</a:t>
            </a:r>
          </a:p>
        </p:txBody>
      </p:sp>
    </p:spTree>
    <p:extLst>
      <p:ext uri="{BB962C8B-B14F-4D97-AF65-F5344CB8AC3E}">
        <p14:creationId xmlns:p14="http://schemas.microsoft.com/office/powerpoint/2010/main" val="435824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4585C-EE5C-AB5C-43F7-BCD9BA8EADAD}"/>
              </a:ext>
            </a:extLst>
          </p:cNvPr>
          <p:cNvSpPr>
            <a:spLocks noGrp="1"/>
          </p:cNvSpPr>
          <p:nvPr>
            <p:ph type="title"/>
          </p:nvPr>
        </p:nvSpPr>
        <p:spPr/>
        <p:txBody>
          <a:bodyPr/>
          <a:lstStyle/>
          <a:p>
            <a:r>
              <a:rPr lang="en-US" dirty="0"/>
              <a:t>Exclusions - offences</a:t>
            </a:r>
          </a:p>
        </p:txBody>
      </p:sp>
      <p:sp>
        <p:nvSpPr>
          <p:cNvPr id="3" name="Content Placeholder 2">
            <a:extLst>
              <a:ext uri="{FF2B5EF4-FFF2-40B4-BE49-F238E27FC236}">
                <a16:creationId xmlns:a16="http://schemas.microsoft.com/office/drawing/2014/main" id="{34526BBB-CD6A-6FCC-A075-8AB4C8629294}"/>
              </a:ext>
            </a:extLst>
          </p:cNvPr>
          <p:cNvSpPr>
            <a:spLocks noGrp="1"/>
          </p:cNvSpPr>
          <p:nvPr>
            <p:ph idx="1"/>
          </p:nvPr>
        </p:nvSpPr>
        <p:spPr/>
        <p:txBody>
          <a:bodyPr/>
          <a:lstStyle/>
          <a:p>
            <a:r>
              <a:rPr lang="en-US" dirty="0"/>
              <a:t>Use of “force” – s3(1) of the 1967 Act and s76(1) of the 2008 Act .</a:t>
            </a:r>
          </a:p>
          <a:p>
            <a:pPr lvl="1"/>
            <a:r>
              <a:rPr lang="en-US" dirty="0"/>
              <a:t>Violence</a:t>
            </a:r>
          </a:p>
          <a:p>
            <a:pPr lvl="1"/>
            <a:r>
              <a:rPr lang="en-US" dirty="0"/>
              <a:t>Forceful conduct by D (breaking a window or breaking down a door) - Swales v Cox [1981] 1 QB 849. </a:t>
            </a:r>
          </a:p>
          <a:p>
            <a:pPr lvl="1"/>
            <a:endParaRPr lang="en-US" dirty="0"/>
          </a:p>
          <a:p>
            <a:r>
              <a:rPr lang="en-US" dirty="0"/>
              <a:t>Not force - Acts that lack a violent or percussive character</a:t>
            </a:r>
          </a:p>
          <a:p>
            <a:pPr lvl="1"/>
            <a:r>
              <a:rPr lang="en-US" dirty="0"/>
              <a:t>see </a:t>
            </a:r>
            <a:r>
              <a:rPr lang="en-US" i="1" dirty="0"/>
              <a:t>Blake</a:t>
            </a:r>
            <a:r>
              <a:rPr lang="en-US" dirty="0"/>
              <a:t> [1993] Crim LR 586</a:t>
            </a:r>
          </a:p>
        </p:txBody>
      </p:sp>
    </p:spTree>
    <p:extLst>
      <p:ext uri="{BB962C8B-B14F-4D97-AF65-F5344CB8AC3E}">
        <p14:creationId xmlns:p14="http://schemas.microsoft.com/office/powerpoint/2010/main" val="501024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1E6C-7C5B-98E3-0D6B-71FADA674153}"/>
              </a:ext>
            </a:extLst>
          </p:cNvPr>
          <p:cNvSpPr>
            <a:spLocks noGrp="1"/>
          </p:cNvSpPr>
          <p:nvPr>
            <p:ph type="title"/>
          </p:nvPr>
        </p:nvSpPr>
        <p:spPr>
          <a:xfrm>
            <a:off x="685800" y="476672"/>
            <a:ext cx="7772400" cy="746126"/>
          </a:xfrm>
        </p:spPr>
        <p:txBody>
          <a:bodyPr/>
          <a:lstStyle/>
          <a:p>
            <a:r>
              <a:rPr lang="en-US" dirty="0"/>
              <a:t>Prior-fault exclusions</a:t>
            </a:r>
          </a:p>
        </p:txBody>
      </p:sp>
      <p:sp>
        <p:nvSpPr>
          <p:cNvPr id="3" name="Content Placeholder 2">
            <a:extLst>
              <a:ext uri="{FF2B5EF4-FFF2-40B4-BE49-F238E27FC236}">
                <a16:creationId xmlns:a16="http://schemas.microsoft.com/office/drawing/2014/main" id="{816F52C4-F7B8-63D5-1898-BAF3CF7D9E65}"/>
              </a:ext>
            </a:extLst>
          </p:cNvPr>
          <p:cNvSpPr>
            <a:spLocks noGrp="1"/>
          </p:cNvSpPr>
          <p:nvPr>
            <p:ph idx="1"/>
          </p:nvPr>
        </p:nvSpPr>
        <p:spPr>
          <a:xfrm>
            <a:off x="684212" y="1340768"/>
            <a:ext cx="8131175" cy="4791745"/>
          </a:xfrm>
        </p:spPr>
        <p:txBody>
          <a:bodyPr>
            <a:normAutofit fontScale="85000" lnSpcReduction="10000"/>
          </a:bodyPr>
          <a:lstStyle/>
          <a:p>
            <a:r>
              <a:rPr lang="en-GB" dirty="0"/>
              <a:t>Not limited as under duress.</a:t>
            </a:r>
          </a:p>
          <a:p>
            <a:r>
              <a:rPr lang="en-GB" dirty="0"/>
              <a:t>D can still make use of the defence even when he provokes V and/or is the initial aggressor</a:t>
            </a:r>
          </a:p>
          <a:p>
            <a:pPr lvl="1"/>
            <a:r>
              <a:rPr lang="en-GB" dirty="0"/>
              <a:t>Rashford [2005] EWCA Crim 3377 </a:t>
            </a:r>
          </a:p>
          <a:p>
            <a:r>
              <a:rPr lang="en-GB" dirty="0"/>
              <a:t>However, not if D contrived to create a situation where defensive force becomes necessary to use such force against V.</a:t>
            </a:r>
          </a:p>
          <a:p>
            <a:pPr lvl="1"/>
            <a:r>
              <a:rPr lang="en-GB" i="1" dirty="0"/>
              <a:t>Mason</a:t>
            </a:r>
            <a:r>
              <a:rPr lang="en-GB" dirty="0"/>
              <a:t> (1756) 1 East PC 239; </a:t>
            </a:r>
            <a:r>
              <a:rPr lang="en-GB" i="1" dirty="0"/>
              <a:t>Browne</a:t>
            </a:r>
            <a:r>
              <a:rPr lang="en-GB" dirty="0"/>
              <a:t> [1973] NI 96, 107.</a:t>
            </a:r>
          </a:p>
          <a:p>
            <a:r>
              <a:rPr lang="en-GB" dirty="0"/>
              <a:t>Hughes LJ –D’s response to V’s violence (after D provoked V) will determine if the defence can be used i.e. was it a disproportionate response.</a:t>
            </a:r>
          </a:p>
          <a:p>
            <a:pPr lvl="1"/>
            <a:r>
              <a:rPr lang="en-GB" i="1" dirty="0"/>
              <a:t>Keane</a:t>
            </a:r>
            <a:r>
              <a:rPr lang="en-GB" dirty="0"/>
              <a:t> [2010] EWCA Crim 2514.</a:t>
            </a:r>
          </a:p>
          <a:p>
            <a:r>
              <a:rPr lang="en-GB" dirty="0"/>
              <a:t>D continues to have the right to life or bodily integrity. </a:t>
            </a:r>
          </a:p>
        </p:txBody>
      </p:sp>
    </p:spTree>
    <p:extLst>
      <p:ext uri="{BB962C8B-B14F-4D97-AF65-F5344CB8AC3E}">
        <p14:creationId xmlns:p14="http://schemas.microsoft.com/office/powerpoint/2010/main" val="458865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050AD-8ADC-2255-ACB5-222875548DE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A7C03B9-03BE-9ACA-C99E-D63D98B5CA0D}"/>
              </a:ext>
            </a:extLst>
          </p:cNvPr>
          <p:cNvSpPr>
            <a:spLocks noGrp="1"/>
          </p:cNvSpPr>
          <p:nvPr>
            <p:ph type="body" idx="1"/>
          </p:nvPr>
        </p:nvSpPr>
        <p:spPr/>
        <p:txBody>
          <a:bodyPr/>
          <a:lstStyle/>
          <a:p>
            <a:pPr marL="742950" lvl="0" indent="-742950">
              <a:buFont typeface="+mj-lt"/>
              <a:buAutoNum type="arabicPeriod" startAt="2"/>
            </a:pPr>
            <a:r>
              <a:rPr lang="en-US" sz="3600" dirty="0"/>
              <a:t>Element 1: necessity of force</a:t>
            </a:r>
          </a:p>
        </p:txBody>
      </p:sp>
    </p:spTree>
    <p:extLst>
      <p:ext uri="{BB962C8B-B14F-4D97-AF65-F5344CB8AC3E}">
        <p14:creationId xmlns:p14="http://schemas.microsoft.com/office/powerpoint/2010/main" val="1186022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1BDA-8694-EFCF-C3D5-6AC98B15D5C9}"/>
              </a:ext>
            </a:extLst>
          </p:cNvPr>
          <p:cNvSpPr>
            <a:spLocks noGrp="1"/>
          </p:cNvSpPr>
          <p:nvPr>
            <p:ph type="title"/>
          </p:nvPr>
        </p:nvSpPr>
        <p:spPr>
          <a:xfrm>
            <a:off x="685799" y="609600"/>
            <a:ext cx="8129587" cy="746126"/>
          </a:xfrm>
        </p:spPr>
        <p:txBody>
          <a:bodyPr/>
          <a:lstStyle/>
          <a:p>
            <a:r>
              <a:rPr lang="en-GB" dirty="0"/>
              <a:t>“Reasonable in the circumstances” </a:t>
            </a:r>
          </a:p>
        </p:txBody>
      </p:sp>
      <p:sp>
        <p:nvSpPr>
          <p:cNvPr id="3" name="Content Placeholder 2">
            <a:extLst>
              <a:ext uri="{FF2B5EF4-FFF2-40B4-BE49-F238E27FC236}">
                <a16:creationId xmlns:a16="http://schemas.microsoft.com/office/drawing/2014/main" id="{CECBBE15-B0A6-43A4-6668-4947B27CC587}"/>
              </a:ext>
            </a:extLst>
          </p:cNvPr>
          <p:cNvSpPr>
            <a:spLocks noGrp="1"/>
          </p:cNvSpPr>
          <p:nvPr>
            <p:ph idx="1"/>
          </p:nvPr>
        </p:nvSpPr>
        <p:spPr/>
        <p:txBody>
          <a:bodyPr/>
          <a:lstStyle/>
          <a:p>
            <a:r>
              <a:rPr lang="en-GB" dirty="0"/>
              <a:t>Force used by D must be “reasonable in the circumstances”</a:t>
            </a:r>
          </a:p>
          <a:p>
            <a:pPr lvl="1"/>
            <a:r>
              <a:rPr lang="en-GB" dirty="0"/>
              <a:t>s76(1)(b), CJI Act 2008</a:t>
            </a:r>
          </a:p>
          <a:p>
            <a:r>
              <a:rPr lang="en-GB" dirty="0"/>
              <a:t>The “trigger”</a:t>
            </a:r>
          </a:p>
          <a:p>
            <a:r>
              <a:rPr lang="en-GB" dirty="0"/>
              <a:t>Need to consider:</a:t>
            </a:r>
          </a:p>
          <a:p>
            <a:pPr lvl="1"/>
            <a:r>
              <a:rPr lang="en-GB" dirty="0"/>
              <a:t>Whether force was necessary</a:t>
            </a:r>
          </a:p>
          <a:p>
            <a:pPr lvl="1"/>
            <a:r>
              <a:rPr lang="en-GB" dirty="0"/>
              <a:t>Whether the force used was not a disproportionate response in the circumstance.</a:t>
            </a:r>
          </a:p>
        </p:txBody>
      </p:sp>
    </p:spTree>
    <p:extLst>
      <p:ext uri="{BB962C8B-B14F-4D97-AF65-F5344CB8AC3E}">
        <p14:creationId xmlns:p14="http://schemas.microsoft.com/office/powerpoint/2010/main" val="1272638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72FB3-5C7F-2506-2629-750BDB8F7DDB}"/>
              </a:ext>
            </a:extLst>
          </p:cNvPr>
          <p:cNvSpPr>
            <a:spLocks noGrp="1"/>
          </p:cNvSpPr>
          <p:nvPr>
            <p:ph type="title"/>
          </p:nvPr>
        </p:nvSpPr>
        <p:spPr/>
        <p:txBody>
          <a:bodyPr/>
          <a:lstStyle/>
          <a:p>
            <a:r>
              <a:rPr lang="en-GB" dirty="0"/>
              <a:t>Was force necessary?</a:t>
            </a:r>
          </a:p>
        </p:txBody>
      </p:sp>
      <p:sp>
        <p:nvSpPr>
          <p:cNvPr id="3" name="Content Placeholder 2">
            <a:extLst>
              <a:ext uri="{FF2B5EF4-FFF2-40B4-BE49-F238E27FC236}">
                <a16:creationId xmlns:a16="http://schemas.microsoft.com/office/drawing/2014/main" id="{0285C43D-0CE1-FE30-2E2C-8EE74EF2D931}"/>
              </a:ext>
            </a:extLst>
          </p:cNvPr>
          <p:cNvSpPr>
            <a:spLocks noGrp="1"/>
          </p:cNvSpPr>
          <p:nvPr>
            <p:ph idx="1"/>
          </p:nvPr>
        </p:nvSpPr>
        <p:spPr/>
        <p:txBody>
          <a:bodyPr>
            <a:normAutofit lnSpcReduction="10000"/>
          </a:bodyPr>
          <a:lstStyle/>
          <a:p>
            <a:r>
              <a:rPr lang="en-GB" dirty="0"/>
              <a:t>Importantly – asking if </a:t>
            </a:r>
            <a:r>
              <a:rPr lang="en-GB" i="1" dirty="0"/>
              <a:t>any </a:t>
            </a:r>
            <a:r>
              <a:rPr lang="en-GB" dirty="0"/>
              <a:t>force necessary!</a:t>
            </a:r>
          </a:p>
          <a:p>
            <a:endParaRPr lang="en-GB" dirty="0"/>
          </a:p>
          <a:p>
            <a:r>
              <a:rPr lang="en-GB" dirty="0"/>
              <a:t>Casual intentional requirement: D uses force in order to defend against attack or prevent crime.</a:t>
            </a:r>
          </a:p>
          <a:p>
            <a:r>
              <a:rPr lang="en-GB" dirty="0"/>
              <a:t>Excludes force used in revenge against a previous attack from V</a:t>
            </a:r>
          </a:p>
          <a:p>
            <a:pPr lvl="1"/>
            <a:r>
              <a:rPr lang="en-GB" i="1" dirty="0"/>
              <a:t>Williams</a:t>
            </a:r>
            <a:r>
              <a:rPr lang="en-GB" dirty="0"/>
              <a:t> [2020] EWCA Crim 193.</a:t>
            </a:r>
          </a:p>
          <a:p>
            <a:r>
              <a:rPr lang="en-GB" dirty="0"/>
              <a:t>If D is aware that a safe alternative to the use of force is readily available, ordinarily he should take it. </a:t>
            </a:r>
          </a:p>
          <a:p>
            <a:endParaRPr lang="en-GB" dirty="0"/>
          </a:p>
        </p:txBody>
      </p:sp>
    </p:spTree>
    <p:extLst>
      <p:ext uri="{BB962C8B-B14F-4D97-AF65-F5344CB8AC3E}">
        <p14:creationId xmlns:p14="http://schemas.microsoft.com/office/powerpoint/2010/main" val="1556125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161FA-C8F3-84BC-EA31-3437BFADEF61}"/>
              </a:ext>
            </a:extLst>
          </p:cNvPr>
          <p:cNvSpPr>
            <a:spLocks noGrp="1"/>
          </p:cNvSpPr>
          <p:nvPr>
            <p:ph type="title"/>
          </p:nvPr>
        </p:nvSpPr>
        <p:spPr/>
        <p:txBody>
          <a:bodyPr/>
          <a:lstStyle/>
          <a:p>
            <a:r>
              <a:rPr lang="en-GB" dirty="0"/>
              <a:t>The test:</a:t>
            </a:r>
          </a:p>
        </p:txBody>
      </p:sp>
      <p:sp>
        <p:nvSpPr>
          <p:cNvPr id="3" name="Content Placeholder 2">
            <a:extLst>
              <a:ext uri="{FF2B5EF4-FFF2-40B4-BE49-F238E27FC236}">
                <a16:creationId xmlns:a16="http://schemas.microsoft.com/office/drawing/2014/main" id="{8E824CE4-7483-2457-3044-4865E06D6597}"/>
              </a:ext>
            </a:extLst>
          </p:cNvPr>
          <p:cNvSpPr>
            <a:spLocks noGrp="1"/>
          </p:cNvSpPr>
          <p:nvPr>
            <p:ph idx="1"/>
          </p:nvPr>
        </p:nvSpPr>
        <p:spPr/>
        <p:txBody>
          <a:bodyPr/>
          <a:lstStyle/>
          <a:p>
            <a:pPr marL="514350" indent="-514350">
              <a:buFont typeface="+mj-lt"/>
              <a:buAutoNum type="arabicPeriod"/>
            </a:pPr>
            <a:r>
              <a:rPr lang="en-GB" dirty="0"/>
              <a:t>On the facts as D honestly believed them to be – subjective test.</a:t>
            </a:r>
          </a:p>
          <a:p>
            <a:pPr marL="514350" indent="-514350">
              <a:buFont typeface="+mj-lt"/>
              <a:buAutoNum type="arabicPeriod"/>
            </a:pPr>
            <a:r>
              <a:rPr lang="en-GB" dirty="0"/>
              <a:t>The use of force was sufficiently necessary to prevent imminent or ongoing attack (self-defence) or criminal activity (preventing a crime) – objective test.</a:t>
            </a:r>
          </a:p>
          <a:p>
            <a:pPr marL="0" indent="0">
              <a:buNone/>
            </a:pPr>
            <a:r>
              <a:rPr lang="en-GB" dirty="0"/>
              <a:t>CJI Act 2008, s76(3).</a:t>
            </a:r>
          </a:p>
          <a:p>
            <a:pPr marL="0" indent="0">
              <a:buNone/>
            </a:pPr>
            <a:endParaRPr lang="en-GB" dirty="0"/>
          </a:p>
        </p:txBody>
      </p:sp>
    </p:spTree>
    <p:extLst>
      <p:ext uri="{BB962C8B-B14F-4D97-AF65-F5344CB8AC3E}">
        <p14:creationId xmlns:p14="http://schemas.microsoft.com/office/powerpoint/2010/main" val="1026425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FC54F-99D9-A021-B2BE-03E11FCCCC50}"/>
              </a:ext>
            </a:extLst>
          </p:cNvPr>
          <p:cNvSpPr>
            <a:spLocks noGrp="1"/>
          </p:cNvSpPr>
          <p:nvPr>
            <p:ph type="title"/>
          </p:nvPr>
        </p:nvSpPr>
        <p:spPr/>
        <p:txBody>
          <a:bodyPr/>
          <a:lstStyle/>
          <a:p>
            <a:r>
              <a:rPr lang="en-GB" dirty="0"/>
              <a:t>Test 1: D’s belief</a:t>
            </a:r>
          </a:p>
        </p:txBody>
      </p:sp>
      <p:sp>
        <p:nvSpPr>
          <p:cNvPr id="3" name="Content Placeholder 2">
            <a:extLst>
              <a:ext uri="{FF2B5EF4-FFF2-40B4-BE49-F238E27FC236}">
                <a16:creationId xmlns:a16="http://schemas.microsoft.com/office/drawing/2014/main" id="{8DE9D1EF-EF98-DC72-9E25-897B0BFFCC12}"/>
              </a:ext>
            </a:extLst>
          </p:cNvPr>
          <p:cNvSpPr>
            <a:spLocks noGrp="1"/>
          </p:cNvSpPr>
          <p:nvPr>
            <p:ph idx="1"/>
          </p:nvPr>
        </p:nvSpPr>
        <p:spPr/>
        <p:txBody>
          <a:bodyPr/>
          <a:lstStyle/>
          <a:p>
            <a:r>
              <a:rPr lang="en-GB" dirty="0"/>
              <a:t>Subjective belief held by D.</a:t>
            </a:r>
          </a:p>
          <a:p>
            <a:r>
              <a:rPr lang="en-GB" dirty="0"/>
              <a:t>Could be a mistaken belief</a:t>
            </a:r>
          </a:p>
          <a:p>
            <a:pPr lvl="1"/>
            <a:r>
              <a:rPr lang="en-GB" i="1" dirty="0" err="1"/>
              <a:t>Yaman</a:t>
            </a:r>
            <a:r>
              <a:rPr lang="en-GB" dirty="0"/>
              <a:t> [2012] EWCA Crim 1075</a:t>
            </a:r>
          </a:p>
          <a:p>
            <a:pPr lvl="1"/>
            <a:r>
              <a:rPr lang="en-GB" dirty="0"/>
              <a:t>D committed wounding when he used a hammer on three men who he believed were robbing his shop.</a:t>
            </a:r>
          </a:p>
          <a:p>
            <a:pPr lvl="1"/>
            <a:r>
              <a:rPr lang="en-GB" dirty="0"/>
              <a:t>TR wrong to instruct the jury to consider D’s belief and whether or not it was reasonable</a:t>
            </a:r>
          </a:p>
          <a:p>
            <a:r>
              <a:rPr lang="en-GB" dirty="0"/>
              <a:t>Question for the jury: was D’s belief in the necessity of force was honest/genuine?</a:t>
            </a:r>
          </a:p>
        </p:txBody>
      </p:sp>
    </p:spTree>
    <p:extLst>
      <p:ext uri="{BB962C8B-B14F-4D97-AF65-F5344CB8AC3E}">
        <p14:creationId xmlns:p14="http://schemas.microsoft.com/office/powerpoint/2010/main" val="3185758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16DE0-D9F0-6D7F-DD6F-03A6EFCC1452}"/>
              </a:ext>
            </a:extLst>
          </p:cNvPr>
          <p:cNvSpPr>
            <a:spLocks noGrp="1"/>
          </p:cNvSpPr>
          <p:nvPr>
            <p:ph type="title"/>
          </p:nvPr>
        </p:nvSpPr>
        <p:spPr/>
        <p:txBody>
          <a:bodyPr/>
          <a:lstStyle/>
          <a:p>
            <a:r>
              <a:rPr lang="en-GB" dirty="0"/>
              <a:t>D’s duty to retreat?</a:t>
            </a:r>
          </a:p>
        </p:txBody>
      </p:sp>
      <p:sp>
        <p:nvSpPr>
          <p:cNvPr id="3" name="Content Placeholder 2">
            <a:extLst>
              <a:ext uri="{FF2B5EF4-FFF2-40B4-BE49-F238E27FC236}">
                <a16:creationId xmlns:a16="http://schemas.microsoft.com/office/drawing/2014/main" id="{9CC6F3FA-4B74-EE5D-3DCA-814542D6A7EF}"/>
              </a:ext>
            </a:extLst>
          </p:cNvPr>
          <p:cNvSpPr>
            <a:spLocks noGrp="1"/>
          </p:cNvSpPr>
          <p:nvPr>
            <p:ph idx="1"/>
          </p:nvPr>
        </p:nvSpPr>
        <p:spPr/>
        <p:txBody>
          <a:bodyPr>
            <a:normAutofit fontScale="92500" lnSpcReduction="20000"/>
          </a:bodyPr>
          <a:lstStyle/>
          <a:p>
            <a:r>
              <a:rPr lang="en-GB" dirty="0"/>
              <a:t>No specific duty to retreat</a:t>
            </a:r>
          </a:p>
          <a:p>
            <a:pPr lvl="1"/>
            <a:r>
              <a:rPr lang="en-GB" dirty="0"/>
              <a:t>CJI Act 2008, s76(6A) </a:t>
            </a:r>
          </a:p>
          <a:p>
            <a:r>
              <a:rPr lang="en-GB" dirty="0"/>
              <a:t>D’s use of defensive force may remain sufficiently necessary even when he had an opportunity to retreat and chose not to do so. </a:t>
            </a:r>
          </a:p>
          <a:p>
            <a:pPr lvl="1"/>
            <a:r>
              <a:rPr lang="en-GB" dirty="0"/>
              <a:t>D has the right to autonomy and if behaving in a non-threatening, law abiding manner in a place where he has a right to be. See </a:t>
            </a:r>
            <a:r>
              <a:rPr lang="en-GB" i="1" dirty="0"/>
              <a:t>Field</a:t>
            </a:r>
            <a:r>
              <a:rPr lang="en-GB" dirty="0"/>
              <a:t> [1972] Crim LR 435 (CA).</a:t>
            </a:r>
          </a:p>
          <a:p>
            <a:pPr lvl="1"/>
            <a:r>
              <a:rPr lang="en-GB" dirty="0"/>
              <a:t>Duty to retreat would require that the preservation of V’s life should always trump D’s civil rights </a:t>
            </a:r>
          </a:p>
          <a:p>
            <a:r>
              <a:rPr lang="en-GB" i="1" dirty="0"/>
              <a:t>However</a:t>
            </a:r>
            <a:r>
              <a:rPr lang="en-GB" dirty="0"/>
              <a:t>! </a:t>
            </a:r>
          </a:p>
          <a:p>
            <a:pPr lvl="1"/>
            <a:r>
              <a:rPr lang="en-GB" dirty="0"/>
              <a:t>jury will consider a possibility that D could have retreated as a factor to be taken into account when assessing if the use of force was sufficiently necessary.</a:t>
            </a:r>
          </a:p>
          <a:p>
            <a:pPr lvl="1"/>
            <a:endParaRPr lang="en-GB" i="1" dirty="0"/>
          </a:p>
        </p:txBody>
      </p:sp>
    </p:spTree>
    <p:extLst>
      <p:ext uri="{BB962C8B-B14F-4D97-AF65-F5344CB8AC3E}">
        <p14:creationId xmlns:p14="http://schemas.microsoft.com/office/powerpoint/2010/main" val="2142977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F62C-E4E7-4D43-41BF-F17FCE0B744C}"/>
              </a:ext>
            </a:extLst>
          </p:cNvPr>
          <p:cNvSpPr>
            <a:spLocks noGrp="1"/>
          </p:cNvSpPr>
          <p:nvPr>
            <p:ph type="title"/>
          </p:nvPr>
        </p:nvSpPr>
        <p:spPr/>
        <p:txBody>
          <a:bodyPr/>
          <a:lstStyle/>
          <a:p>
            <a:r>
              <a:rPr lang="en-GB" dirty="0"/>
              <a:t>Pre-emptive force</a:t>
            </a:r>
          </a:p>
        </p:txBody>
      </p:sp>
      <p:sp>
        <p:nvSpPr>
          <p:cNvPr id="3" name="Content Placeholder 2">
            <a:extLst>
              <a:ext uri="{FF2B5EF4-FFF2-40B4-BE49-F238E27FC236}">
                <a16:creationId xmlns:a16="http://schemas.microsoft.com/office/drawing/2014/main" id="{728E93E0-FA68-0142-5D8B-308FD81A2F08}"/>
              </a:ext>
            </a:extLst>
          </p:cNvPr>
          <p:cNvSpPr>
            <a:spLocks noGrp="1"/>
          </p:cNvSpPr>
          <p:nvPr>
            <p:ph idx="1"/>
          </p:nvPr>
        </p:nvSpPr>
        <p:spPr/>
        <p:txBody>
          <a:bodyPr/>
          <a:lstStyle/>
          <a:p>
            <a:r>
              <a:rPr lang="en-GB" dirty="0"/>
              <a:t>Not necessary for D to wait for V to attack before using force, if V’s attack is imminent. </a:t>
            </a:r>
          </a:p>
          <a:p>
            <a:pPr lvl="1"/>
            <a:r>
              <a:rPr lang="en-GB" dirty="0"/>
              <a:t>Pre-emptive force will not necessarily be considered unnecessary force.</a:t>
            </a:r>
          </a:p>
          <a:p>
            <a:r>
              <a:rPr lang="en-GB" dirty="0"/>
              <a:t>“Immediacy”:</a:t>
            </a:r>
          </a:p>
          <a:p>
            <a:pPr lvl="1"/>
            <a:r>
              <a:rPr lang="en-GB" dirty="0"/>
              <a:t>Greater for defence of preventing a crime.</a:t>
            </a:r>
          </a:p>
          <a:p>
            <a:pPr lvl="2"/>
            <a:r>
              <a:rPr lang="en-GB" dirty="0"/>
              <a:t>E.g. police officer knows V will commit a crime in the future</a:t>
            </a:r>
          </a:p>
          <a:p>
            <a:pPr lvl="3"/>
            <a:r>
              <a:rPr lang="en-GB" sz="1800" i="1" dirty="0">
                <a:effectLst/>
                <a:latin typeface="Arial" panose="020B0604020202020204" pitchFamily="34" charset="0"/>
                <a:ea typeface="Calibri" panose="020F0502020204030204" pitchFamily="34" charset="0"/>
                <a:cs typeface="Times New Roman" panose="02020603050405020304" pitchFamily="18" charset="0"/>
              </a:rPr>
              <a:t>Kelly</a:t>
            </a:r>
            <a:r>
              <a:rPr lang="en-GB" sz="1800" dirty="0">
                <a:effectLst/>
                <a:latin typeface="Arial" panose="020B0604020202020204" pitchFamily="34" charset="0"/>
                <a:ea typeface="Calibri" panose="020F0502020204030204" pitchFamily="34" charset="0"/>
                <a:cs typeface="Times New Roman" panose="02020603050405020304" pitchFamily="18" charset="0"/>
              </a:rPr>
              <a:t> [1989] NI 341</a:t>
            </a:r>
            <a:r>
              <a:rPr lang="en-GB" sz="1800" dirty="0">
                <a:latin typeface="Arial" panose="020B0604020202020204" pitchFamily="34" charset="0"/>
                <a:ea typeface="Calibri" panose="020F0502020204030204" pitchFamily="34" charset="0"/>
                <a:cs typeface="Times New Roman" panose="02020603050405020304" pitchFamily="18" charset="0"/>
              </a:rPr>
              <a:t>.</a:t>
            </a:r>
          </a:p>
          <a:p>
            <a:pPr lvl="1"/>
            <a:r>
              <a:rPr lang="en-GB" dirty="0">
                <a:cs typeface="Times New Roman" panose="02020603050405020304" pitchFamily="18" charset="0"/>
              </a:rPr>
              <a:t>Women who kill abusive partners.</a:t>
            </a:r>
            <a:endParaRPr lang="en-GB" dirty="0"/>
          </a:p>
        </p:txBody>
      </p:sp>
    </p:spTree>
    <p:extLst>
      <p:ext uri="{BB962C8B-B14F-4D97-AF65-F5344CB8AC3E}">
        <p14:creationId xmlns:p14="http://schemas.microsoft.com/office/powerpoint/2010/main" val="213287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81CB-C569-19D2-D032-F73A5AB54266}"/>
              </a:ext>
            </a:extLst>
          </p:cNvPr>
          <p:cNvSpPr>
            <a:spLocks noGrp="1"/>
          </p:cNvSpPr>
          <p:nvPr>
            <p:ph type="title"/>
          </p:nvPr>
        </p:nvSpPr>
        <p:spPr>
          <a:xfrm>
            <a:off x="685800" y="609600"/>
            <a:ext cx="7772400" cy="746126"/>
          </a:xfrm>
        </p:spPr>
        <p:txBody>
          <a:bodyPr/>
          <a:lstStyle/>
          <a:p>
            <a:r>
              <a:rPr lang="en-GB" dirty="0"/>
              <a:t>Force against innocent parties</a:t>
            </a:r>
          </a:p>
        </p:txBody>
      </p:sp>
      <p:sp>
        <p:nvSpPr>
          <p:cNvPr id="3" name="Content Placeholder 2">
            <a:extLst>
              <a:ext uri="{FF2B5EF4-FFF2-40B4-BE49-F238E27FC236}">
                <a16:creationId xmlns:a16="http://schemas.microsoft.com/office/drawing/2014/main" id="{F30118F2-D717-746B-00C6-304E19CC72FE}"/>
              </a:ext>
            </a:extLst>
          </p:cNvPr>
          <p:cNvSpPr>
            <a:spLocks noGrp="1"/>
          </p:cNvSpPr>
          <p:nvPr>
            <p:ph idx="1"/>
          </p:nvPr>
        </p:nvSpPr>
        <p:spPr>
          <a:xfrm>
            <a:off x="684212" y="1587501"/>
            <a:ext cx="8131175" cy="4545011"/>
          </a:xfrm>
        </p:spPr>
        <p:txBody>
          <a:bodyPr/>
          <a:lstStyle/>
          <a:p>
            <a:r>
              <a:rPr lang="en-GB" dirty="0"/>
              <a:t>V is an “innocent party” (not committing a crime/attacking D), e.g.:</a:t>
            </a:r>
          </a:p>
          <a:p>
            <a:pPr lvl="1"/>
            <a:r>
              <a:rPr lang="en-GB" dirty="0"/>
              <a:t>D acts in mistaken self-defence or prevention of a crime (discussed later)</a:t>
            </a:r>
          </a:p>
          <a:p>
            <a:pPr lvl="1"/>
            <a:r>
              <a:rPr lang="en-GB" dirty="0"/>
              <a:t>V is suffering from a psychiatric condition and considered criminally insane.</a:t>
            </a:r>
          </a:p>
          <a:p>
            <a:pPr lvl="1"/>
            <a:r>
              <a:rPr lang="en-GB" dirty="0"/>
              <a:t>D uses force against V (an innocent party) to restrain the attack or criminal offence of a third party (P). </a:t>
            </a:r>
          </a:p>
          <a:p>
            <a:pPr lvl="2"/>
            <a:r>
              <a:rPr lang="en-GB" i="1" dirty="0"/>
              <a:t>Hichens</a:t>
            </a:r>
            <a:r>
              <a:rPr lang="en-GB" dirty="0"/>
              <a:t> [2011] EWCA Crim 1626 – proportionate force can be used against innocent agents if this is the only way to prevent a crime by P. </a:t>
            </a:r>
          </a:p>
        </p:txBody>
      </p:sp>
    </p:spTree>
    <p:extLst>
      <p:ext uri="{BB962C8B-B14F-4D97-AF65-F5344CB8AC3E}">
        <p14:creationId xmlns:p14="http://schemas.microsoft.com/office/powerpoint/2010/main" val="2727262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60652-04EA-C034-BE7F-E9163521E09F}"/>
              </a:ext>
            </a:extLst>
          </p:cNvPr>
          <p:cNvSpPr>
            <a:spLocks noGrp="1"/>
          </p:cNvSpPr>
          <p:nvPr>
            <p:ph type="title"/>
          </p:nvPr>
        </p:nvSpPr>
        <p:spPr>
          <a:xfrm>
            <a:off x="685800" y="609600"/>
            <a:ext cx="8206680" cy="746126"/>
          </a:xfrm>
        </p:spPr>
        <p:txBody>
          <a:bodyPr/>
          <a:lstStyle/>
          <a:p>
            <a:r>
              <a:rPr lang="en-GB" dirty="0"/>
              <a:t>Test 2: force was sufficiently necessary </a:t>
            </a:r>
          </a:p>
        </p:txBody>
      </p:sp>
      <p:sp>
        <p:nvSpPr>
          <p:cNvPr id="3" name="Content Placeholder 2">
            <a:extLst>
              <a:ext uri="{FF2B5EF4-FFF2-40B4-BE49-F238E27FC236}">
                <a16:creationId xmlns:a16="http://schemas.microsoft.com/office/drawing/2014/main" id="{B026455A-34CD-CBB4-86EA-E3A9CB1E2DA8}"/>
              </a:ext>
            </a:extLst>
          </p:cNvPr>
          <p:cNvSpPr>
            <a:spLocks noGrp="1"/>
          </p:cNvSpPr>
          <p:nvPr>
            <p:ph idx="1"/>
          </p:nvPr>
        </p:nvSpPr>
        <p:spPr>
          <a:xfrm>
            <a:off x="684212" y="1916832"/>
            <a:ext cx="8131175" cy="4215680"/>
          </a:xfrm>
        </p:spPr>
        <p:txBody>
          <a:bodyPr/>
          <a:lstStyle/>
          <a:p>
            <a:r>
              <a:rPr lang="en-GB" dirty="0"/>
              <a:t>Objective test for the jury (on the facts as D believed them).</a:t>
            </a:r>
          </a:p>
          <a:p>
            <a:r>
              <a:rPr lang="en-GB" dirty="0"/>
              <a:t>The use of force was sufficiently necessary to prevent imminent or ongoing attack (self-defence) or criminal activity (preventing a crime)</a:t>
            </a:r>
          </a:p>
          <a:p>
            <a:pPr lvl="1"/>
            <a:r>
              <a:rPr lang="en-GB" dirty="0"/>
              <a:t>D’s decision to not retreat</a:t>
            </a:r>
          </a:p>
          <a:p>
            <a:pPr lvl="1"/>
            <a:r>
              <a:rPr lang="en-GB" dirty="0"/>
              <a:t>Was it revenge?</a:t>
            </a:r>
          </a:p>
          <a:p>
            <a:pPr lvl="1"/>
            <a:r>
              <a:rPr lang="en-GB" dirty="0"/>
              <a:t>Was the use of </a:t>
            </a:r>
            <a:r>
              <a:rPr lang="en-GB" i="1" dirty="0"/>
              <a:t>any</a:t>
            </a:r>
            <a:r>
              <a:rPr lang="en-GB" dirty="0"/>
              <a:t> force not disproportionate?</a:t>
            </a:r>
          </a:p>
        </p:txBody>
      </p:sp>
    </p:spTree>
    <p:extLst>
      <p:ext uri="{BB962C8B-B14F-4D97-AF65-F5344CB8AC3E}">
        <p14:creationId xmlns:p14="http://schemas.microsoft.com/office/powerpoint/2010/main" val="15756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2C49-49F2-74C0-49E5-4D7BA8BF7BC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CB713BC-F167-F5E8-FA74-7783BC7B2489}"/>
              </a:ext>
            </a:extLst>
          </p:cNvPr>
          <p:cNvSpPr>
            <a:spLocks noGrp="1"/>
          </p:cNvSpPr>
          <p:nvPr>
            <p:ph type="body" idx="1"/>
          </p:nvPr>
        </p:nvSpPr>
        <p:spPr/>
        <p:txBody>
          <a:bodyPr/>
          <a:lstStyle/>
          <a:p>
            <a:pPr marL="742950" lvl="0" indent="-742950">
              <a:buFont typeface="+mj-lt"/>
              <a:buAutoNum type="arabicPeriod" startAt="3"/>
            </a:pPr>
            <a:r>
              <a:rPr lang="en-US" sz="3600" dirty="0"/>
              <a:t>Element 2: reasonableness of force</a:t>
            </a:r>
          </a:p>
        </p:txBody>
      </p:sp>
    </p:spTree>
    <p:extLst>
      <p:ext uri="{BB962C8B-B14F-4D97-AF65-F5344CB8AC3E}">
        <p14:creationId xmlns:p14="http://schemas.microsoft.com/office/powerpoint/2010/main" val="2921203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F5A644-9650-3474-1797-F53A9728A157}"/>
              </a:ext>
            </a:extLst>
          </p:cNvPr>
          <p:cNvSpPr>
            <a:spLocks noGrp="1"/>
          </p:cNvSpPr>
          <p:nvPr>
            <p:ph type="title"/>
          </p:nvPr>
        </p:nvSpPr>
        <p:spPr/>
        <p:txBody>
          <a:bodyPr/>
          <a:lstStyle/>
          <a:p>
            <a:r>
              <a:rPr lang="en-GB" dirty="0"/>
              <a:t>Reasonableness</a:t>
            </a:r>
          </a:p>
        </p:txBody>
      </p:sp>
      <p:sp>
        <p:nvSpPr>
          <p:cNvPr id="5" name="Content Placeholder 4">
            <a:extLst>
              <a:ext uri="{FF2B5EF4-FFF2-40B4-BE49-F238E27FC236}">
                <a16:creationId xmlns:a16="http://schemas.microsoft.com/office/drawing/2014/main" id="{3D2EE90D-8D83-2DC1-600F-8A95B053F1B7}"/>
              </a:ext>
            </a:extLst>
          </p:cNvPr>
          <p:cNvSpPr>
            <a:spLocks noGrp="1"/>
          </p:cNvSpPr>
          <p:nvPr>
            <p:ph idx="1"/>
          </p:nvPr>
        </p:nvSpPr>
        <p:spPr/>
        <p:txBody>
          <a:bodyPr>
            <a:normAutofit fontScale="92500" lnSpcReduction="10000"/>
          </a:bodyPr>
          <a:lstStyle/>
          <a:p>
            <a:pPr marL="0" indent="0">
              <a:buNone/>
            </a:pPr>
            <a:r>
              <a:rPr lang="en-GB" dirty="0"/>
              <a:t>If force considered sufficiently necessary (on the facts as D honestly believed them to be), then, the jury consider:</a:t>
            </a:r>
          </a:p>
          <a:p>
            <a:r>
              <a:rPr lang="en-GB" dirty="0"/>
              <a:t>Was the level of force used by D reasonable?</a:t>
            </a:r>
          </a:p>
          <a:p>
            <a:endParaRPr lang="en-GB" dirty="0"/>
          </a:p>
          <a:p>
            <a:r>
              <a:rPr lang="en-GB" dirty="0"/>
              <a:t>Reasonableness test: takes the facts as D subjectively believes them (even if his belief was an unreasonable mistake) and asks whether the force used by D was objectively reasonable on the basis of those facts. </a:t>
            </a:r>
          </a:p>
          <a:p>
            <a:pPr lvl="1"/>
            <a:r>
              <a:rPr lang="en-GB" dirty="0"/>
              <a:t>s76 of the CJI Act 2008.</a:t>
            </a:r>
          </a:p>
        </p:txBody>
      </p:sp>
    </p:spTree>
    <p:extLst>
      <p:ext uri="{BB962C8B-B14F-4D97-AF65-F5344CB8AC3E}">
        <p14:creationId xmlns:p14="http://schemas.microsoft.com/office/powerpoint/2010/main" val="354158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30DC1-A32B-560B-483B-F818AB599EF5}"/>
              </a:ext>
            </a:extLst>
          </p:cNvPr>
          <p:cNvSpPr>
            <a:spLocks noGrp="1"/>
          </p:cNvSpPr>
          <p:nvPr>
            <p:ph type="title"/>
          </p:nvPr>
        </p:nvSpPr>
        <p:spPr/>
        <p:txBody>
          <a:bodyPr/>
          <a:lstStyle/>
          <a:p>
            <a:r>
              <a:rPr lang="en-GB" dirty="0"/>
              <a:t>Force not consequence</a:t>
            </a:r>
          </a:p>
        </p:txBody>
      </p:sp>
      <p:sp>
        <p:nvSpPr>
          <p:cNvPr id="3" name="Content Placeholder 2">
            <a:extLst>
              <a:ext uri="{FF2B5EF4-FFF2-40B4-BE49-F238E27FC236}">
                <a16:creationId xmlns:a16="http://schemas.microsoft.com/office/drawing/2014/main" id="{A9687DE8-5A26-5587-BB0D-316665AF26B9}"/>
              </a:ext>
            </a:extLst>
          </p:cNvPr>
          <p:cNvSpPr>
            <a:spLocks noGrp="1"/>
          </p:cNvSpPr>
          <p:nvPr>
            <p:ph idx="1"/>
          </p:nvPr>
        </p:nvSpPr>
        <p:spPr/>
        <p:txBody>
          <a:bodyPr>
            <a:normAutofit lnSpcReduction="10000"/>
          </a:bodyPr>
          <a:lstStyle/>
          <a:p>
            <a:r>
              <a:rPr lang="en-GB" dirty="0"/>
              <a:t>Focus is on the force used by D and not the consequences of that force:</a:t>
            </a:r>
          </a:p>
          <a:p>
            <a:pPr lvl="1"/>
            <a:r>
              <a:rPr lang="en-GB" i="1" dirty="0"/>
              <a:t>Keane</a:t>
            </a:r>
            <a:r>
              <a:rPr lang="en-GB" dirty="0"/>
              <a:t> [2010] EWCA Crim 2514; </a:t>
            </a:r>
            <a:r>
              <a:rPr lang="en-GB" i="1" dirty="0" err="1"/>
              <a:t>Noye</a:t>
            </a:r>
            <a:r>
              <a:rPr lang="en-GB" dirty="0"/>
              <a:t> [2011] EWCA Crim 650.</a:t>
            </a:r>
          </a:p>
          <a:p>
            <a:pPr marL="0" indent="0">
              <a:buNone/>
            </a:pPr>
            <a:r>
              <a:rPr lang="en-GB" dirty="0"/>
              <a:t>E.g.</a:t>
            </a:r>
          </a:p>
          <a:p>
            <a:r>
              <a:rPr lang="en-GB" dirty="0"/>
              <a:t>V attacks D with his fists and D uses a knife to stab V, V survives following surgery. </a:t>
            </a:r>
          </a:p>
          <a:p>
            <a:r>
              <a:rPr lang="en-GB" dirty="0"/>
              <a:t>V attacks D with his fists and D pushes V away and (unforeseen by D) V falls on a disguised object resulting in V dying. </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735097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FF6B5-0412-A42C-DF75-A6BBC5150AFA}"/>
              </a:ext>
            </a:extLst>
          </p:cNvPr>
          <p:cNvSpPr>
            <a:spLocks noGrp="1"/>
          </p:cNvSpPr>
          <p:nvPr>
            <p:ph type="title"/>
          </p:nvPr>
        </p:nvSpPr>
        <p:spPr>
          <a:xfrm>
            <a:off x="685800" y="609600"/>
            <a:ext cx="7772400" cy="746126"/>
          </a:xfrm>
        </p:spPr>
        <p:txBody>
          <a:bodyPr/>
          <a:lstStyle/>
          <a:p>
            <a:r>
              <a:rPr lang="en-GB" dirty="0"/>
              <a:t>Considering reasonableness</a:t>
            </a:r>
          </a:p>
        </p:txBody>
      </p:sp>
      <p:sp>
        <p:nvSpPr>
          <p:cNvPr id="3" name="Content Placeholder 2">
            <a:extLst>
              <a:ext uri="{FF2B5EF4-FFF2-40B4-BE49-F238E27FC236}">
                <a16:creationId xmlns:a16="http://schemas.microsoft.com/office/drawing/2014/main" id="{38CC4729-82B8-CC1A-5913-317774F43920}"/>
              </a:ext>
            </a:extLst>
          </p:cNvPr>
          <p:cNvSpPr>
            <a:spLocks noGrp="1"/>
          </p:cNvSpPr>
          <p:nvPr>
            <p:ph idx="1"/>
          </p:nvPr>
        </p:nvSpPr>
        <p:spPr>
          <a:xfrm>
            <a:off x="684212" y="1587501"/>
            <a:ext cx="8131175" cy="4545011"/>
          </a:xfrm>
        </p:spPr>
        <p:txBody>
          <a:bodyPr>
            <a:normAutofit fontScale="92500" lnSpcReduction="10000"/>
          </a:bodyPr>
          <a:lstStyle/>
          <a:p>
            <a:r>
              <a:rPr lang="en-GB" dirty="0"/>
              <a:t>s76(7)(a) of the CJI Act 2008: D ‘may not be able to weigh to a nicety the exact measure of any necessary action’.</a:t>
            </a:r>
          </a:p>
          <a:p>
            <a:pPr lvl="1"/>
            <a:r>
              <a:rPr lang="en-GB" dirty="0"/>
              <a:t>Not a precise measure</a:t>
            </a:r>
          </a:p>
          <a:p>
            <a:pPr lvl="1"/>
            <a:r>
              <a:rPr lang="en-GB" dirty="0"/>
              <a:t>Hindsight… </a:t>
            </a:r>
            <a:r>
              <a:rPr lang="en-GB" i="1" dirty="0"/>
              <a:t>Reed v </a:t>
            </a:r>
            <a:r>
              <a:rPr lang="en-GB" i="1" dirty="0" err="1"/>
              <a:t>Wastie</a:t>
            </a:r>
            <a:r>
              <a:rPr lang="en-GB" dirty="0"/>
              <a:t> [1972] Crim LR 221 (DC). </a:t>
            </a:r>
          </a:p>
          <a:p>
            <a:endParaRPr lang="en-GB" dirty="0"/>
          </a:p>
          <a:p>
            <a:r>
              <a:rPr lang="en-GB" dirty="0"/>
              <a:t>Don’t confuse D’s unreasonable mistake that force was necessary (element 1) with the question of whether the force used was reasonable (objective). </a:t>
            </a:r>
          </a:p>
          <a:p>
            <a:pPr lvl="1"/>
            <a:r>
              <a:rPr lang="en-GB" dirty="0"/>
              <a:t>If D mistakenly believed the force was reasonable and the jury decide it was not, then D’s defence will fail on this element.  </a:t>
            </a:r>
          </a:p>
        </p:txBody>
      </p:sp>
    </p:spTree>
    <p:extLst>
      <p:ext uri="{BB962C8B-B14F-4D97-AF65-F5344CB8AC3E}">
        <p14:creationId xmlns:p14="http://schemas.microsoft.com/office/powerpoint/2010/main" val="3387192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BD098-BD41-D737-483B-FE15FF95D75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510FA1C-3FB9-4636-911E-EEA0535F32FA}"/>
              </a:ext>
            </a:extLst>
          </p:cNvPr>
          <p:cNvSpPr>
            <a:spLocks noGrp="1"/>
          </p:cNvSpPr>
          <p:nvPr>
            <p:ph type="body" idx="1"/>
          </p:nvPr>
        </p:nvSpPr>
        <p:spPr/>
        <p:txBody>
          <a:bodyPr/>
          <a:lstStyle/>
          <a:p>
            <a:pPr marL="742950" lvl="0" indent="-742950">
              <a:buFont typeface="+mj-lt"/>
              <a:buAutoNum type="arabicPeriod" startAt="4"/>
            </a:pPr>
            <a:r>
              <a:rPr lang="en-US" sz="3600" dirty="0"/>
              <a:t>Exceptional categories</a:t>
            </a:r>
          </a:p>
        </p:txBody>
      </p:sp>
    </p:spTree>
    <p:extLst>
      <p:ext uri="{BB962C8B-B14F-4D97-AF65-F5344CB8AC3E}">
        <p14:creationId xmlns:p14="http://schemas.microsoft.com/office/powerpoint/2010/main" val="1041979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A3E6E3-C2E2-F421-8C72-746E3F1453E5}"/>
              </a:ext>
            </a:extLst>
          </p:cNvPr>
          <p:cNvSpPr>
            <a:spLocks noGrp="1"/>
          </p:cNvSpPr>
          <p:nvPr>
            <p:ph type="title"/>
          </p:nvPr>
        </p:nvSpPr>
        <p:spPr/>
        <p:txBody>
          <a:bodyPr/>
          <a:lstStyle/>
          <a:p>
            <a:r>
              <a:rPr lang="en-GB" dirty="0"/>
              <a:t>Different approach to certain Ds</a:t>
            </a:r>
          </a:p>
        </p:txBody>
      </p:sp>
      <p:sp>
        <p:nvSpPr>
          <p:cNvPr id="5" name="Content Placeholder 4">
            <a:extLst>
              <a:ext uri="{FF2B5EF4-FFF2-40B4-BE49-F238E27FC236}">
                <a16:creationId xmlns:a16="http://schemas.microsoft.com/office/drawing/2014/main" id="{D403A4E8-317B-DBA5-2574-C7EC7E463AC3}"/>
              </a:ext>
            </a:extLst>
          </p:cNvPr>
          <p:cNvSpPr>
            <a:spLocks noGrp="1"/>
          </p:cNvSpPr>
          <p:nvPr>
            <p:ph idx="1"/>
          </p:nvPr>
        </p:nvSpPr>
        <p:spPr>
          <a:xfrm>
            <a:off x="684212" y="1443485"/>
            <a:ext cx="8131175" cy="4865835"/>
          </a:xfrm>
        </p:spPr>
        <p:txBody>
          <a:bodyPr>
            <a:normAutofit fontScale="92500" lnSpcReduction="20000"/>
          </a:bodyPr>
          <a:lstStyle/>
          <a:p>
            <a:r>
              <a:rPr lang="en-GB" dirty="0"/>
              <a:t>Intoxicated mistake</a:t>
            </a:r>
          </a:p>
          <a:p>
            <a:pPr lvl="1"/>
            <a:r>
              <a:rPr lang="en-GB" dirty="0"/>
              <a:t>S76(5) of the CJI Act 2008 confirmed the common law position that D’s mistaken belief due to his voluntary intoxication may not be relied upon.</a:t>
            </a:r>
          </a:p>
          <a:p>
            <a:r>
              <a:rPr lang="en-GB" dirty="0"/>
              <a:t>Insane mistakes</a:t>
            </a:r>
          </a:p>
          <a:p>
            <a:pPr lvl="1"/>
            <a:r>
              <a:rPr lang="en-GB" dirty="0"/>
              <a:t>CoA drew distinction between:</a:t>
            </a:r>
          </a:p>
          <a:p>
            <a:pPr lvl="2"/>
            <a:r>
              <a:rPr lang="en-GB" dirty="0"/>
              <a:t>A) the facts on which D’s perception that he was under attack was based.</a:t>
            </a:r>
          </a:p>
          <a:p>
            <a:pPr lvl="2"/>
            <a:r>
              <a:rPr lang="en-GB" dirty="0"/>
              <a:t>B) the danger presented by those facts.</a:t>
            </a:r>
          </a:p>
          <a:p>
            <a:pPr lvl="2"/>
            <a:r>
              <a:rPr lang="en-GB" i="1" dirty="0"/>
              <a:t>Martin</a:t>
            </a:r>
            <a:r>
              <a:rPr lang="en-GB" dirty="0"/>
              <a:t> [2001] EWCA Crime 2245 – claimed his personality disorder and depression induced him to perceive a greater threat.</a:t>
            </a:r>
          </a:p>
          <a:p>
            <a:pPr lvl="1"/>
            <a:r>
              <a:rPr lang="en-GB" dirty="0"/>
              <a:t>But this is inconsistent with the principle of mistaken consent.</a:t>
            </a:r>
          </a:p>
          <a:p>
            <a:pPr lvl="2"/>
            <a:r>
              <a:rPr lang="en-GB" dirty="0"/>
              <a:t>But - public protection – should D be able to use self-defence and insanity?</a:t>
            </a:r>
          </a:p>
        </p:txBody>
      </p:sp>
    </p:spTree>
    <p:extLst>
      <p:ext uri="{BB962C8B-B14F-4D97-AF65-F5344CB8AC3E}">
        <p14:creationId xmlns:p14="http://schemas.microsoft.com/office/powerpoint/2010/main" val="4019120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72A13-FEAC-9C7F-043D-3B9DB57DB1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A4273E-36E0-545D-E3BB-C5D70CBBEE6B}"/>
              </a:ext>
            </a:extLst>
          </p:cNvPr>
          <p:cNvSpPr>
            <a:spLocks noGrp="1"/>
          </p:cNvSpPr>
          <p:nvPr>
            <p:ph type="title"/>
          </p:nvPr>
        </p:nvSpPr>
        <p:spPr>
          <a:xfrm>
            <a:off x="685799" y="609600"/>
            <a:ext cx="8278689" cy="746126"/>
          </a:xfrm>
        </p:spPr>
        <p:txBody>
          <a:bodyPr/>
          <a:lstStyle/>
          <a:p>
            <a:r>
              <a:rPr lang="en-GB" dirty="0"/>
              <a:t>Different approach to certain Ds (cont.)</a:t>
            </a:r>
          </a:p>
        </p:txBody>
      </p:sp>
      <p:sp>
        <p:nvSpPr>
          <p:cNvPr id="5" name="Content Placeholder 4">
            <a:extLst>
              <a:ext uri="{FF2B5EF4-FFF2-40B4-BE49-F238E27FC236}">
                <a16:creationId xmlns:a16="http://schemas.microsoft.com/office/drawing/2014/main" id="{FD77A3C1-EDFE-30DB-7150-13837EC4A6FC}"/>
              </a:ext>
            </a:extLst>
          </p:cNvPr>
          <p:cNvSpPr>
            <a:spLocks noGrp="1"/>
          </p:cNvSpPr>
          <p:nvPr>
            <p:ph idx="1"/>
          </p:nvPr>
        </p:nvSpPr>
        <p:spPr>
          <a:xfrm>
            <a:off x="684212" y="1772816"/>
            <a:ext cx="8131175" cy="4359696"/>
          </a:xfrm>
        </p:spPr>
        <p:txBody>
          <a:bodyPr>
            <a:normAutofit lnSpcReduction="10000"/>
          </a:bodyPr>
          <a:lstStyle/>
          <a:p>
            <a:r>
              <a:rPr lang="en-GB" dirty="0"/>
              <a:t>Non-insane but delusional mistakes:</a:t>
            </a:r>
          </a:p>
          <a:p>
            <a:pPr lvl="1"/>
            <a:r>
              <a:rPr lang="en-GB" i="1" dirty="0"/>
              <a:t>Press</a:t>
            </a:r>
            <a:r>
              <a:rPr lang="en-GB" dirty="0"/>
              <a:t> [2013] EWCA Crim 1849 – D allowed to raise mistaken self-defence</a:t>
            </a:r>
          </a:p>
          <a:p>
            <a:pPr lvl="2"/>
            <a:r>
              <a:rPr lang="en-GB" dirty="0"/>
              <a:t>PTSD led him to believe it was necessary </a:t>
            </a:r>
            <a:r>
              <a:rPr lang="en-GB" sz="1800" dirty="0">
                <a:effectLst/>
                <a:latin typeface="Arial" panose="020B0604020202020204" pitchFamily="34" charset="0"/>
                <a:ea typeface="Calibri" panose="020F0502020204030204" pitchFamily="34" charset="0"/>
                <a:cs typeface="Times New Roman" panose="02020603050405020304" pitchFamily="18" charset="0"/>
              </a:rPr>
              <a:t>to use force of the gravity he applied</a:t>
            </a:r>
            <a:r>
              <a:rPr lang="en-GB" sz="1800" dirty="0">
                <a:latin typeface="Arial" panose="020B0604020202020204" pitchFamily="34" charset="0"/>
                <a:ea typeface="Calibri" panose="020F0502020204030204" pitchFamily="34" charset="0"/>
                <a:cs typeface="Times New Roman" panose="02020603050405020304" pitchFamily="18" charset="0"/>
              </a:rPr>
              <a:t>.</a:t>
            </a:r>
          </a:p>
          <a:p>
            <a:pPr lvl="2"/>
            <a:r>
              <a:rPr lang="en-GB" dirty="0"/>
              <a:t>CoA concluded that D’s mental condition could be referenced to support his belief that such force was necessary, when considering whether his response was proportionate to the facts as he supposed them to be. </a:t>
            </a:r>
          </a:p>
          <a:p>
            <a:pPr lvl="1"/>
            <a:r>
              <a:rPr lang="en-GB" i="1" dirty="0"/>
              <a:t>Taj</a:t>
            </a:r>
            <a:r>
              <a:rPr lang="en-GB" dirty="0"/>
              <a:t> [2018] EWCA Crim 1743 – </a:t>
            </a:r>
          </a:p>
          <a:p>
            <a:pPr lvl="2"/>
            <a:r>
              <a:rPr lang="en-GB" dirty="0"/>
              <a:t>Relied on the intoxication rule - bit contrived by CoA. </a:t>
            </a:r>
          </a:p>
          <a:p>
            <a:pPr lvl="2"/>
            <a:r>
              <a:rPr lang="en-GB" dirty="0"/>
              <a:t>If prevented self-defence on basis of </a:t>
            </a:r>
            <a:r>
              <a:rPr lang="en-GB" i="1" dirty="0"/>
              <a:t>Martin</a:t>
            </a:r>
            <a:r>
              <a:rPr lang="en-GB" dirty="0"/>
              <a:t> then D would have no defence. </a:t>
            </a:r>
          </a:p>
        </p:txBody>
      </p:sp>
    </p:spTree>
    <p:extLst>
      <p:ext uri="{BB962C8B-B14F-4D97-AF65-F5344CB8AC3E}">
        <p14:creationId xmlns:p14="http://schemas.microsoft.com/office/powerpoint/2010/main" val="2407005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2D8DC-7262-9D6D-4E6C-09EA72C908B0}"/>
              </a:ext>
            </a:extLst>
          </p:cNvPr>
          <p:cNvSpPr>
            <a:spLocks noGrp="1"/>
          </p:cNvSpPr>
          <p:nvPr>
            <p:ph type="title"/>
          </p:nvPr>
        </p:nvSpPr>
        <p:spPr/>
        <p:txBody>
          <a:bodyPr/>
          <a:lstStyle/>
          <a:p>
            <a:r>
              <a:rPr lang="en-GB" dirty="0"/>
              <a:t>Defence of Property</a:t>
            </a:r>
          </a:p>
        </p:txBody>
      </p:sp>
      <p:sp>
        <p:nvSpPr>
          <p:cNvPr id="3" name="Text Placeholder 2">
            <a:extLst>
              <a:ext uri="{FF2B5EF4-FFF2-40B4-BE49-F238E27FC236}">
                <a16:creationId xmlns:a16="http://schemas.microsoft.com/office/drawing/2014/main" id="{99DC2F72-9963-FA06-5AF4-810DDC82CF71}"/>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1513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CAF48A-4B04-E13C-D773-E58743DE1DEB}"/>
              </a:ext>
            </a:extLst>
          </p:cNvPr>
          <p:cNvSpPr>
            <a:spLocks noGrp="1"/>
          </p:cNvSpPr>
          <p:nvPr>
            <p:ph type="title"/>
          </p:nvPr>
        </p:nvSpPr>
        <p:spPr/>
        <p:txBody>
          <a:bodyPr/>
          <a:lstStyle/>
          <a:p>
            <a:r>
              <a:rPr lang="en-GB" dirty="0"/>
              <a:t>“Castle and Fortress”</a:t>
            </a:r>
          </a:p>
        </p:txBody>
      </p:sp>
      <p:sp>
        <p:nvSpPr>
          <p:cNvPr id="5" name="Content Placeholder 4">
            <a:extLst>
              <a:ext uri="{FF2B5EF4-FFF2-40B4-BE49-F238E27FC236}">
                <a16:creationId xmlns:a16="http://schemas.microsoft.com/office/drawing/2014/main" id="{132728B0-16E4-A038-145B-C0CB7400E33D}"/>
              </a:ext>
            </a:extLst>
          </p:cNvPr>
          <p:cNvSpPr>
            <a:spLocks noGrp="1"/>
          </p:cNvSpPr>
          <p:nvPr>
            <p:ph idx="1"/>
          </p:nvPr>
        </p:nvSpPr>
        <p:spPr/>
        <p:txBody>
          <a:bodyPr/>
          <a:lstStyle/>
          <a:p>
            <a:r>
              <a:rPr lang="en-GB" dirty="0"/>
              <a:t>Coke (1604): That the house of every one is to him as his Castle and Fortress</a:t>
            </a:r>
          </a:p>
          <a:p>
            <a:r>
              <a:rPr lang="en-GB" dirty="0"/>
              <a:t>Long-standing common law right to protect property by reasonable force – Green v Goddard (1704) 2 Salk 641.</a:t>
            </a:r>
          </a:p>
          <a:p>
            <a:endParaRPr lang="en-GB" dirty="0"/>
          </a:p>
          <a:p>
            <a:r>
              <a:rPr lang="en-GB" dirty="0"/>
              <a:t>Although there are human rights challenges raised by the defence of property!</a:t>
            </a:r>
          </a:p>
        </p:txBody>
      </p:sp>
    </p:spTree>
    <p:extLst>
      <p:ext uri="{BB962C8B-B14F-4D97-AF65-F5344CB8AC3E}">
        <p14:creationId xmlns:p14="http://schemas.microsoft.com/office/powerpoint/2010/main" val="4154604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B21D-1BAF-37C8-CD48-0594EEC83BD8}"/>
              </a:ext>
            </a:extLst>
          </p:cNvPr>
          <p:cNvSpPr>
            <a:spLocks noGrp="1"/>
          </p:cNvSpPr>
          <p:nvPr>
            <p:ph type="title"/>
          </p:nvPr>
        </p:nvSpPr>
        <p:spPr/>
        <p:txBody>
          <a:bodyPr/>
          <a:lstStyle/>
          <a:p>
            <a:r>
              <a:rPr lang="en-GB" dirty="0"/>
              <a:t>Very similar to other defences</a:t>
            </a:r>
          </a:p>
        </p:txBody>
      </p:sp>
      <p:sp>
        <p:nvSpPr>
          <p:cNvPr id="3" name="Content Placeholder 2">
            <a:extLst>
              <a:ext uri="{FF2B5EF4-FFF2-40B4-BE49-F238E27FC236}">
                <a16:creationId xmlns:a16="http://schemas.microsoft.com/office/drawing/2014/main" id="{C0BFAE37-F489-9826-E950-1E678F43F601}"/>
              </a:ext>
            </a:extLst>
          </p:cNvPr>
          <p:cNvSpPr>
            <a:spLocks noGrp="1"/>
          </p:cNvSpPr>
          <p:nvPr>
            <p:ph idx="1"/>
          </p:nvPr>
        </p:nvSpPr>
        <p:spPr/>
        <p:txBody>
          <a:bodyPr>
            <a:normAutofit fontScale="85000" lnSpcReduction="20000"/>
          </a:bodyPr>
          <a:lstStyle/>
          <a:p>
            <a:r>
              <a:rPr lang="en-GB" dirty="0"/>
              <a:t>Generally, a householder defending his property will utilise the law in the same way as other self-defence cases, with no further elements:</a:t>
            </a:r>
          </a:p>
          <a:p>
            <a:pPr marL="914400" lvl="1" indent="-457200">
              <a:buFont typeface="+mj-lt"/>
              <a:buAutoNum type="arabicPeriod"/>
            </a:pPr>
            <a:r>
              <a:rPr lang="en-GB" dirty="0"/>
              <a:t>Necessity of force: it must have been sufficiently necessary for D to use some force against V to protect his property rights.</a:t>
            </a:r>
          </a:p>
          <a:p>
            <a:pPr marL="914400" lvl="1" indent="-457200">
              <a:buFont typeface="+mj-lt"/>
              <a:buAutoNum type="arabicPeriod"/>
            </a:pPr>
            <a:r>
              <a:rPr lang="en-GB" dirty="0"/>
              <a:t>Reasonableness of force: the force used by D must have been objectively reasonable, on the facts as D honestly believed them to be. </a:t>
            </a:r>
          </a:p>
          <a:p>
            <a:pPr marL="0" indent="0">
              <a:buNone/>
            </a:pPr>
            <a:r>
              <a:rPr lang="en-GB" dirty="0"/>
              <a:t> </a:t>
            </a:r>
          </a:p>
          <a:p>
            <a:r>
              <a:rPr lang="en-GB" dirty="0"/>
              <a:t>So D can:</a:t>
            </a:r>
          </a:p>
          <a:p>
            <a:pPr lvl="1"/>
            <a:r>
              <a:rPr lang="en-GB" dirty="0"/>
              <a:t>Use reasonable force to prevent V from appropriating his property.</a:t>
            </a:r>
          </a:p>
          <a:p>
            <a:pPr lvl="1"/>
            <a:r>
              <a:rPr lang="en-GB" dirty="0"/>
              <a:t>Use reasonable force to repel any attack upon him from V.</a:t>
            </a:r>
          </a:p>
          <a:p>
            <a:pPr lvl="1"/>
            <a:r>
              <a:rPr lang="en-GB" dirty="0"/>
              <a:t>Forcefully eject a non-forceful trespasser from his property.</a:t>
            </a:r>
          </a:p>
          <a:p>
            <a:endParaRPr lang="en-GB" dirty="0"/>
          </a:p>
        </p:txBody>
      </p:sp>
    </p:spTree>
    <p:extLst>
      <p:ext uri="{BB962C8B-B14F-4D97-AF65-F5344CB8AC3E}">
        <p14:creationId xmlns:p14="http://schemas.microsoft.com/office/powerpoint/2010/main" val="3503162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505C-D545-E77A-6939-2754358BE196}"/>
              </a:ext>
            </a:extLst>
          </p:cNvPr>
          <p:cNvSpPr>
            <a:spLocks noGrp="1"/>
          </p:cNvSpPr>
          <p:nvPr>
            <p:ph type="title"/>
          </p:nvPr>
        </p:nvSpPr>
        <p:spPr/>
        <p:txBody>
          <a:bodyPr/>
          <a:lstStyle/>
          <a:p>
            <a:r>
              <a:rPr lang="en-GB" dirty="0"/>
              <a:t>Forceful ejection of non-forceful trespasser</a:t>
            </a:r>
          </a:p>
        </p:txBody>
      </p:sp>
      <p:sp>
        <p:nvSpPr>
          <p:cNvPr id="3" name="Content Placeholder 2">
            <a:extLst>
              <a:ext uri="{FF2B5EF4-FFF2-40B4-BE49-F238E27FC236}">
                <a16:creationId xmlns:a16="http://schemas.microsoft.com/office/drawing/2014/main" id="{A15DCF52-4D34-DB91-6026-E1A081001E3A}"/>
              </a:ext>
            </a:extLst>
          </p:cNvPr>
          <p:cNvSpPr>
            <a:spLocks noGrp="1"/>
          </p:cNvSpPr>
          <p:nvPr>
            <p:ph idx="1"/>
          </p:nvPr>
        </p:nvSpPr>
        <p:spPr>
          <a:xfrm>
            <a:off x="684212" y="1700808"/>
            <a:ext cx="8131175" cy="4431704"/>
          </a:xfrm>
        </p:spPr>
        <p:txBody>
          <a:bodyPr/>
          <a:lstStyle/>
          <a:p>
            <a:r>
              <a:rPr lang="en-GB" dirty="0"/>
              <a:t>D must start with peaceable means – must start by asking V to leave and allowing time for him to do so before using (reasonable) force</a:t>
            </a:r>
          </a:p>
          <a:p>
            <a:pPr lvl="1"/>
            <a:r>
              <a:rPr lang="en-GB" i="1" dirty="0"/>
              <a:t>Green v Goddard </a:t>
            </a:r>
            <a:r>
              <a:rPr lang="en-GB" dirty="0"/>
              <a:t>(1704) 2 Salk 641.</a:t>
            </a:r>
          </a:p>
          <a:p>
            <a:r>
              <a:rPr lang="en-GB" dirty="0"/>
              <a:t>but this requirement to start in a peaceable way does not mean it is necessarily unlawful if the ejection of the trespasser escalates to force, so requiring D to act in defence (using reasonable force).</a:t>
            </a:r>
          </a:p>
          <a:p>
            <a:endParaRPr lang="en-GB" dirty="0"/>
          </a:p>
        </p:txBody>
      </p:sp>
    </p:spTree>
    <p:extLst>
      <p:ext uri="{BB962C8B-B14F-4D97-AF65-F5344CB8AC3E}">
        <p14:creationId xmlns:p14="http://schemas.microsoft.com/office/powerpoint/2010/main" val="3560079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AB6AE2-3E9F-D5E2-FE76-F9BA8FFA7A41}"/>
              </a:ext>
            </a:extLst>
          </p:cNvPr>
          <p:cNvSpPr>
            <a:spLocks noGrp="1"/>
          </p:cNvSpPr>
          <p:nvPr>
            <p:ph type="title"/>
          </p:nvPr>
        </p:nvSpPr>
        <p:spPr>
          <a:xfrm>
            <a:off x="685800" y="609600"/>
            <a:ext cx="4030216" cy="746126"/>
          </a:xfrm>
        </p:spPr>
        <p:txBody>
          <a:bodyPr/>
          <a:lstStyle/>
          <a:p>
            <a:r>
              <a:rPr lang="en-GB" dirty="0"/>
              <a:t>Special category</a:t>
            </a:r>
          </a:p>
        </p:txBody>
      </p:sp>
      <p:sp>
        <p:nvSpPr>
          <p:cNvPr id="5" name="Content Placeholder 4">
            <a:extLst>
              <a:ext uri="{FF2B5EF4-FFF2-40B4-BE49-F238E27FC236}">
                <a16:creationId xmlns:a16="http://schemas.microsoft.com/office/drawing/2014/main" id="{8FA98E05-AF91-4587-6BDE-0865E9BE3428}"/>
              </a:ext>
            </a:extLst>
          </p:cNvPr>
          <p:cNvSpPr>
            <a:spLocks noGrp="1"/>
          </p:cNvSpPr>
          <p:nvPr>
            <p:ph sz="half" idx="1"/>
          </p:nvPr>
        </p:nvSpPr>
        <p:spPr/>
        <p:txBody>
          <a:bodyPr>
            <a:normAutofit fontScale="92500" lnSpcReduction="10000"/>
          </a:bodyPr>
          <a:lstStyle/>
          <a:p>
            <a:r>
              <a:rPr lang="en-GB" dirty="0"/>
              <a:t>CJI Act 2008 was amended following </a:t>
            </a:r>
            <a:r>
              <a:rPr lang="en-GB" i="1" dirty="0"/>
              <a:t>Martin</a:t>
            </a:r>
            <a:r>
              <a:rPr lang="en-GB" dirty="0"/>
              <a:t> [2001] EWCA Crime 2245.</a:t>
            </a:r>
          </a:p>
          <a:p>
            <a:r>
              <a:rPr lang="en-GB" dirty="0"/>
              <a:t>S43 of the Crime and Courts Act 2013.</a:t>
            </a:r>
          </a:p>
          <a:p>
            <a:r>
              <a:rPr lang="en-GB" dirty="0"/>
              <a:t>aimed to allow householders a greater degree of latitude when acting in self-defence</a:t>
            </a:r>
          </a:p>
        </p:txBody>
      </p:sp>
      <p:pic>
        <p:nvPicPr>
          <p:cNvPr id="8" name="Content Placeholder 7" descr="A screenshot of a social media post&#10;&#10;Description automatically generated">
            <a:extLst>
              <a:ext uri="{FF2B5EF4-FFF2-40B4-BE49-F238E27FC236}">
                <a16:creationId xmlns:a16="http://schemas.microsoft.com/office/drawing/2014/main" id="{3D9C788F-D1EC-5A5D-3445-C6DC48A5C52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01440" y="485120"/>
            <a:ext cx="3656225" cy="5887760"/>
          </a:xfrm>
        </p:spPr>
      </p:pic>
    </p:spTree>
    <p:extLst>
      <p:ext uri="{BB962C8B-B14F-4D97-AF65-F5344CB8AC3E}">
        <p14:creationId xmlns:p14="http://schemas.microsoft.com/office/powerpoint/2010/main" val="2135412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8E980A-CCA0-DBE5-557D-49654E5BAFDE}"/>
              </a:ext>
            </a:extLst>
          </p:cNvPr>
          <p:cNvSpPr>
            <a:spLocks noGrp="1"/>
          </p:cNvSpPr>
          <p:nvPr>
            <p:ph type="title"/>
          </p:nvPr>
        </p:nvSpPr>
        <p:spPr/>
        <p:txBody>
          <a:bodyPr/>
          <a:lstStyle/>
          <a:p>
            <a:r>
              <a:rPr lang="en-GB" dirty="0"/>
              <a:t>Special category (</a:t>
            </a:r>
            <a:r>
              <a:rPr lang="en-GB" dirty="0" err="1"/>
              <a:t>cont</a:t>
            </a:r>
            <a:r>
              <a:rPr lang="en-GB" dirty="0"/>
              <a:t>).</a:t>
            </a:r>
          </a:p>
        </p:txBody>
      </p:sp>
      <p:sp>
        <p:nvSpPr>
          <p:cNvPr id="6" name="Content Placeholder 5">
            <a:extLst>
              <a:ext uri="{FF2B5EF4-FFF2-40B4-BE49-F238E27FC236}">
                <a16:creationId xmlns:a16="http://schemas.microsoft.com/office/drawing/2014/main" id="{E546C28F-4D44-DC3B-FEBA-4C0C1024E554}"/>
              </a:ext>
            </a:extLst>
          </p:cNvPr>
          <p:cNvSpPr>
            <a:spLocks noGrp="1"/>
          </p:cNvSpPr>
          <p:nvPr>
            <p:ph idx="1"/>
          </p:nvPr>
        </p:nvSpPr>
        <p:spPr/>
        <p:txBody>
          <a:bodyPr>
            <a:normAutofit fontScale="92500" lnSpcReduction="10000"/>
          </a:bodyPr>
          <a:lstStyle/>
          <a:p>
            <a:r>
              <a:rPr lang="en-GB" dirty="0"/>
              <a:t>Added (5A) and (8A-F) to the CJI Act 2008.</a:t>
            </a:r>
          </a:p>
          <a:p>
            <a:r>
              <a:rPr lang="en-GB" dirty="0"/>
              <a:t>Amendments apply only to a householder defendant acting in self-defence.</a:t>
            </a:r>
          </a:p>
          <a:p>
            <a:r>
              <a:rPr lang="en-GB" dirty="0"/>
              <a:t>Householder defendant has no special status in the context of a section 3 of the Criminal Law Act 1967, prevention of crime defence.</a:t>
            </a:r>
          </a:p>
          <a:p>
            <a:r>
              <a:rPr lang="en-GB" dirty="0"/>
              <a:t>Restrictions:</a:t>
            </a:r>
          </a:p>
          <a:p>
            <a:pPr lvl="1"/>
            <a:r>
              <a:rPr lang="en-GB" dirty="0"/>
              <a:t>D cannot be a trespasser himself.</a:t>
            </a:r>
          </a:p>
          <a:p>
            <a:pPr lvl="1"/>
            <a:r>
              <a:rPr lang="en-GB" dirty="0"/>
              <a:t>D must use force in self-defence while in or partly within a building that is his dwelling or armed forces accommodation that his occupies.</a:t>
            </a:r>
          </a:p>
        </p:txBody>
      </p:sp>
    </p:spTree>
    <p:extLst>
      <p:ext uri="{BB962C8B-B14F-4D97-AF65-F5344CB8AC3E}">
        <p14:creationId xmlns:p14="http://schemas.microsoft.com/office/powerpoint/2010/main" val="3061509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5CA0F-D2C0-DE8F-CF76-8440FE9AD780}"/>
              </a:ext>
            </a:extLst>
          </p:cNvPr>
          <p:cNvSpPr>
            <a:spLocks noGrp="1"/>
          </p:cNvSpPr>
          <p:nvPr>
            <p:ph type="title"/>
          </p:nvPr>
        </p:nvSpPr>
        <p:spPr/>
        <p:txBody>
          <a:bodyPr/>
          <a:lstStyle/>
          <a:p>
            <a:r>
              <a:rPr lang="en-GB" dirty="0"/>
              <a:t>V the trespasser</a:t>
            </a:r>
          </a:p>
        </p:txBody>
      </p:sp>
      <p:sp>
        <p:nvSpPr>
          <p:cNvPr id="3" name="Content Placeholder 2">
            <a:extLst>
              <a:ext uri="{FF2B5EF4-FFF2-40B4-BE49-F238E27FC236}">
                <a16:creationId xmlns:a16="http://schemas.microsoft.com/office/drawing/2014/main" id="{F099AA83-693B-F36B-8C88-5DCB62F4815F}"/>
              </a:ext>
            </a:extLst>
          </p:cNvPr>
          <p:cNvSpPr>
            <a:spLocks noGrp="1"/>
          </p:cNvSpPr>
          <p:nvPr>
            <p:ph idx="1"/>
          </p:nvPr>
        </p:nvSpPr>
        <p:spPr/>
        <p:txBody>
          <a:bodyPr/>
          <a:lstStyle/>
          <a:p>
            <a:r>
              <a:rPr lang="en-GB" dirty="0"/>
              <a:t>D must believe that V is a trespasser.</a:t>
            </a:r>
          </a:p>
          <a:p>
            <a:pPr lvl="1"/>
            <a:r>
              <a:rPr lang="en-GB" dirty="0"/>
              <a:t>V doesn’t actually need to be a trespasser.</a:t>
            </a:r>
          </a:p>
          <a:p>
            <a:r>
              <a:rPr lang="en-GB" dirty="0"/>
              <a:t>D’s belief that V is a trespasser does not need to be reasonable.</a:t>
            </a:r>
          </a:p>
          <a:p>
            <a:r>
              <a:rPr lang="en-GB" dirty="0"/>
              <a:t>V’s status can change over the course of the visit:</a:t>
            </a:r>
          </a:p>
          <a:p>
            <a:pPr lvl="1"/>
            <a:r>
              <a:rPr lang="en-GB" dirty="0"/>
              <a:t>V could start as a welcomed guest</a:t>
            </a:r>
          </a:p>
          <a:p>
            <a:pPr lvl="1"/>
            <a:r>
              <a:rPr lang="en-GB" dirty="0"/>
              <a:t>V could become a trespasser by change in behaviour</a:t>
            </a:r>
          </a:p>
          <a:p>
            <a:pPr lvl="2"/>
            <a:r>
              <a:rPr lang="en-GB" i="1" dirty="0" err="1"/>
              <a:t>Cheesman</a:t>
            </a:r>
            <a:r>
              <a:rPr lang="en-GB" i="1" dirty="0"/>
              <a:t> </a:t>
            </a:r>
            <a:r>
              <a:rPr lang="en-GB" dirty="0"/>
              <a:t>[2019] EWCA Crim 149 – V started trashing D’s possessions. </a:t>
            </a:r>
          </a:p>
        </p:txBody>
      </p:sp>
    </p:spTree>
    <p:extLst>
      <p:ext uri="{BB962C8B-B14F-4D97-AF65-F5344CB8AC3E}">
        <p14:creationId xmlns:p14="http://schemas.microsoft.com/office/powerpoint/2010/main" val="558481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5E0ED-38BB-8CDB-782D-118242D5C829}"/>
              </a:ext>
            </a:extLst>
          </p:cNvPr>
          <p:cNvSpPr>
            <a:spLocks noGrp="1"/>
          </p:cNvSpPr>
          <p:nvPr>
            <p:ph type="title"/>
          </p:nvPr>
        </p:nvSpPr>
        <p:spPr>
          <a:xfrm>
            <a:off x="685800" y="609599"/>
            <a:ext cx="7772400" cy="731169"/>
          </a:xfrm>
        </p:spPr>
        <p:txBody>
          <a:bodyPr/>
          <a:lstStyle/>
          <a:p>
            <a:r>
              <a:rPr lang="en-GB" dirty="0"/>
              <a:t>Reasonableness of force by a householder</a:t>
            </a:r>
          </a:p>
        </p:txBody>
      </p:sp>
      <p:sp>
        <p:nvSpPr>
          <p:cNvPr id="3" name="Content Placeholder 2">
            <a:extLst>
              <a:ext uri="{FF2B5EF4-FFF2-40B4-BE49-F238E27FC236}">
                <a16:creationId xmlns:a16="http://schemas.microsoft.com/office/drawing/2014/main" id="{F29D8024-6F0D-3FC1-ADD9-72334AFB1EB1}"/>
              </a:ext>
            </a:extLst>
          </p:cNvPr>
          <p:cNvSpPr>
            <a:spLocks noGrp="1"/>
          </p:cNvSpPr>
          <p:nvPr>
            <p:ph idx="1"/>
          </p:nvPr>
        </p:nvSpPr>
        <p:spPr>
          <a:xfrm>
            <a:off x="684212" y="1700808"/>
            <a:ext cx="8131175" cy="4431704"/>
          </a:xfrm>
        </p:spPr>
        <p:txBody>
          <a:bodyPr>
            <a:normAutofit fontScale="85000" lnSpcReduction="10000"/>
          </a:bodyPr>
          <a:lstStyle/>
          <a:p>
            <a:pPr marL="0" indent="0">
              <a:buNone/>
            </a:pPr>
            <a:r>
              <a:rPr lang="en-GB" dirty="0"/>
              <a:t>“In a householder case, the degree of force used by D is not to be regarded as having been reasonable in the circumstances as D believed them to be if it was grossly disproportionate in those circumstances.” CJI Act 2008, s76(5A).</a:t>
            </a:r>
          </a:p>
          <a:p>
            <a:r>
              <a:rPr lang="en-GB" dirty="0"/>
              <a:t>Disproportionate force is not to be regarded as reasonable force.</a:t>
            </a:r>
          </a:p>
          <a:p>
            <a:r>
              <a:rPr lang="en-GB" dirty="0"/>
              <a:t>But! in householder cases, the force cannot be “grossly” disproportionate for it to be reasonable force. </a:t>
            </a:r>
          </a:p>
          <a:p>
            <a:pPr lvl="1"/>
            <a:r>
              <a:rPr lang="en-GB" dirty="0"/>
              <a:t>Disproportionate force (falling short of grossly disproportionate force) condoned under the legislative change. </a:t>
            </a:r>
          </a:p>
          <a:p>
            <a:pPr lvl="1"/>
            <a:r>
              <a:rPr lang="en-GB" dirty="0"/>
              <a:t>However, needs to be read in light of the rest of s76 of the 2008 Act, presenting a challenge in application, as seen in </a:t>
            </a:r>
            <a:r>
              <a:rPr lang="en-GB" i="1" dirty="0"/>
              <a:t>Collins</a:t>
            </a:r>
            <a:r>
              <a:rPr lang="en-GB" dirty="0"/>
              <a:t>.</a:t>
            </a:r>
          </a:p>
          <a:p>
            <a:endParaRPr lang="en-GB" dirty="0"/>
          </a:p>
        </p:txBody>
      </p:sp>
    </p:spTree>
    <p:extLst>
      <p:ext uri="{BB962C8B-B14F-4D97-AF65-F5344CB8AC3E}">
        <p14:creationId xmlns:p14="http://schemas.microsoft.com/office/powerpoint/2010/main" val="3942437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EB2B-9886-7536-F400-7BD9F71E34E1}"/>
              </a:ext>
            </a:extLst>
          </p:cNvPr>
          <p:cNvSpPr>
            <a:spLocks noGrp="1"/>
          </p:cNvSpPr>
          <p:nvPr>
            <p:ph type="title"/>
          </p:nvPr>
        </p:nvSpPr>
        <p:spPr/>
        <p:txBody>
          <a:bodyPr/>
          <a:lstStyle/>
          <a:p>
            <a:r>
              <a:rPr lang="en-GB" i="1" dirty="0"/>
              <a:t>Collins</a:t>
            </a:r>
          </a:p>
        </p:txBody>
      </p:sp>
      <p:sp>
        <p:nvSpPr>
          <p:cNvPr id="3" name="Content Placeholder 2">
            <a:extLst>
              <a:ext uri="{FF2B5EF4-FFF2-40B4-BE49-F238E27FC236}">
                <a16:creationId xmlns:a16="http://schemas.microsoft.com/office/drawing/2014/main" id="{C3424FCE-7081-7758-BAE4-12B21F4BA366}"/>
              </a:ext>
            </a:extLst>
          </p:cNvPr>
          <p:cNvSpPr>
            <a:spLocks noGrp="1"/>
          </p:cNvSpPr>
          <p:nvPr>
            <p:ph idx="1"/>
          </p:nvPr>
        </p:nvSpPr>
        <p:spPr/>
        <p:txBody>
          <a:bodyPr>
            <a:normAutofit fontScale="92500" lnSpcReduction="20000"/>
          </a:bodyPr>
          <a:lstStyle/>
          <a:p>
            <a:pPr marL="0" indent="0">
              <a:buNone/>
            </a:pPr>
            <a:r>
              <a:rPr lang="en-GB" i="1" dirty="0"/>
              <a:t>R. (on the application of Collins) v Secretary of State for Justice </a:t>
            </a:r>
            <a:r>
              <a:rPr lang="en-GB" dirty="0"/>
              <a:t>[2016] EWHC 33 (Admin)</a:t>
            </a:r>
          </a:p>
          <a:p>
            <a:r>
              <a:rPr lang="en-GB" dirty="0"/>
              <a:t>D held V in headlock for over 6 minutes, V suffered brain damage.</a:t>
            </a:r>
          </a:p>
          <a:p>
            <a:r>
              <a:rPr lang="en-GB" dirty="0"/>
              <a:t>CPS chose not to prosecute D on the basis that disproportionate force on the part of the householder was condonable and therefore a conviction was not a realistic prospect.</a:t>
            </a:r>
          </a:p>
          <a:p>
            <a:r>
              <a:rPr lang="en-GB" dirty="0"/>
              <a:t>V judicial review argued that the law of self-defence for householders contravened Article 2 of the ECHR, which restricted lethal or life-threatening force in self-defence to force that was absolutely necessary.</a:t>
            </a:r>
          </a:p>
        </p:txBody>
      </p:sp>
    </p:spTree>
    <p:extLst>
      <p:ext uri="{BB962C8B-B14F-4D97-AF65-F5344CB8AC3E}">
        <p14:creationId xmlns:p14="http://schemas.microsoft.com/office/powerpoint/2010/main" val="321543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BCFD-0EDE-5F7C-1994-8731339F4630}"/>
              </a:ext>
            </a:extLst>
          </p:cNvPr>
          <p:cNvSpPr>
            <a:spLocks noGrp="1"/>
          </p:cNvSpPr>
          <p:nvPr>
            <p:ph type="title"/>
          </p:nvPr>
        </p:nvSpPr>
        <p:spPr/>
        <p:txBody>
          <a:bodyPr/>
          <a:lstStyle/>
          <a:p>
            <a:r>
              <a:rPr lang="en-GB" i="1" dirty="0"/>
              <a:t>Collins </a:t>
            </a:r>
            <a:r>
              <a:rPr lang="en-GB" dirty="0"/>
              <a:t>(cont.)</a:t>
            </a:r>
          </a:p>
        </p:txBody>
      </p:sp>
      <p:sp>
        <p:nvSpPr>
          <p:cNvPr id="3" name="Content Placeholder 2">
            <a:extLst>
              <a:ext uri="{FF2B5EF4-FFF2-40B4-BE49-F238E27FC236}">
                <a16:creationId xmlns:a16="http://schemas.microsoft.com/office/drawing/2014/main" id="{C17110A3-97E5-9E62-BB13-F2A5F78F9473}"/>
              </a:ext>
            </a:extLst>
          </p:cNvPr>
          <p:cNvSpPr>
            <a:spLocks noGrp="1"/>
          </p:cNvSpPr>
          <p:nvPr>
            <p:ph idx="1"/>
          </p:nvPr>
        </p:nvSpPr>
        <p:spPr/>
        <p:txBody>
          <a:bodyPr/>
          <a:lstStyle/>
          <a:p>
            <a:r>
              <a:rPr lang="en-GB" dirty="0"/>
              <a:t>Leveson LJ ruled that the CPS had misunderstood the applicable law.</a:t>
            </a:r>
          </a:p>
          <a:p>
            <a:pPr lvl="1"/>
            <a:r>
              <a:rPr lang="en-GB" dirty="0"/>
              <a:t>The householder provisions do not authorise the use of disproportionate (falling short of grossly disproportionate) force by householders. Force of that degree might or might not be considered reasonable force by a jury. </a:t>
            </a:r>
          </a:p>
          <a:p>
            <a:pPr lvl="1"/>
            <a:r>
              <a:rPr lang="en-GB" dirty="0"/>
              <a:t>The test to be applied at common law and under the terms of s76(3) was whether the force used by D was reasonable in the circumstances as D believed them to be. </a:t>
            </a:r>
          </a:p>
          <a:p>
            <a:endParaRPr lang="en-GB" dirty="0"/>
          </a:p>
        </p:txBody>
      </p:sp>
    </p:spTree>
    <p:extLst>
      <p:ext uri="{BB962C8B-B14F-4D97-AF65-F5344CB8AC3E}">
        <p14:creationId xmlns:p14="http://schemas.microsoft.com/office/powerpoint/2010/main" val="3046494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FB8D9-EF8D-76D9-22B4-E14ECBC7AC73}"/>
              </a:ext>
            </a:extLst>
          </p:cNvPr>
          <p:cNvSpPr>
            <a:spLocks noGrp="1"/>
          </p:cNvSpPr>
          <p:nvPr>
            <p:ph type="title"/>
          </p:nvPr>
        </p:nvSpPr>
        <p:spPr/>
        <p:txBody>
          <a:bodyPr/>
          <a:lstStyle/>
          <a:p>
            <a:r>
              <a:rPr lang="en-GB" dirty="0"/>
              <a:t>Reasonable force</a:t>
            </a:r>
          </a:p>
        </p:txBody>
      </p:sp>
      <p:sp>
        <p:nvSpPr>
          <p:cNvPr id="3" name="Content Placeholder 2">
            <a:extLst>
              <a:ext uri="{FF2B5EF4-FFF2-40B4-BE49-F238E27FC236}">
                <a16:creationId xmlns:a16="http://schemas.microsoft.com/office/drawing/2014/main" id="{8327FBDD-468B-A8D6-659A-5719456C1B67}"/>
              </a:ext>
            </a:extLst>
          </p:cNvPr>
          <p:cNvSpPr>
            <a:spLocks noGrp="1"/>
          </p:cNvSpPr>
          <p:nvPr>
            <p:ph idx="1"/>
          </p:nvPr>
        </p:nvSpPr>
        <p:spPr/>
        <p:txBody>
          <a:bodyPr>
            <a:normAutofit lnSpcReduction="10000"/>
          </a:bodyPr>
          <a:lstStyle/>
          <a:p>
            <a:r>
              <a:rPr lang="en-GB" dirty="0"/>
              <a:t>Following </a:t>
            </a:r>
            <a:r>
              <a:rPr lang="en-GB" i="1" dirty="0"/>
              <a:t>Collins</a:t>
            </a:r>
            <a:r>
              <a:rPr lang="en-GB" dirty="0"/>
              <a:t> the jury must consider: Did D use reasonable force?</a:t>
            </a:r>
          </a:p>
          <a:p>
            <a:pPr lvl="1"/>
            <a:r>
              <a:rPr lang="en-GB" dirty="0"/>
              <a:t>Paying careful attention to whether D acted in a manner that he honestly and instinctively thought necessary (s76(7)(b)).</a:t>
            </a:r>
          </a:p>
          <a:p>
            <a:pPr lvl="1"/>
            <a:r>
              <a:rPr lang="en-GB" dirty="0"/>
              <a:t>If the force is considered disproportionate then the force will always be considered unreasonable, and so the defence will fall down on the second element. </a:t>
            </a:r>
          </a:p>
          <a:p>
            <a:pPr lvl="1"/>
            <a:r>
              <a:rPr lang="en-GB" dirty="0"/>
              <a:t>The assessment by the jury as to whether the force is </a:t>
            </a:r>
            <a:r>
              <a:rPr lang="en-GB" u="sng" dirty="0"/>
              <a:t>grossly disproportionate </a:t>
            </a:r>
            <a:r>
              <a:rPr lang="en-GB" dirty="0"/>
              <a:t>does not necessarily lead to a conclusion that force that is not grossly disproportionate will therefore be reasonable. </a:t>
            </a:r>
          </a:p>
          <a:p>
            <a:endParaRPr lang="en-GB" dirty="0"/>
          </a:p>
        </p:txBody>
      </p:sp>
    </p:spTree>
    <p:extLst>
      <p:ext uri="{BB962C8B-B14F-4D97-AF65-F5344CB8AC3E}">
        <p14:creationId xmlns:p14="http://schemas.microsoft.com/office/powerpoint/2010/main" val="4290948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EAA8C-42B6-61B4-392E-E6063989A5C8}"/>
              </a:ext>
            </a:extLst>
          </p:cNvPr>
          <p:cNvSpPr>
            <a:spLocks noGrp="1"/>
          </p:cNvSpPr>
          <p:nvPr>
            <p:ph type="title"/>
          </p:nvPr>
        </p:nvSpPr>
        <p:spPr/>
        <p:txBody>
          <a:bodyPr/>
          <a:lstStyle/>
          <a:p>
            <a:r>
              <a:rPr lang="en-GB" i="1" dirty="0"/>
              <a:t>Ray</a:t>
            </a:r>
            <a:r>
              <a:rPr lang="en-GB" dirty="0"/>
              <a:t> [2017] EWCA Crim 1391 </a:t>
            </a:r>
          </a:p>
        </p:txBody>
      </p:sp>
      <p:sp>
        <p:nvSpPr>
          <p:cNvPr id="3" name="Content Placeholder 2">
            <a:extLst>
              <a:ext uri="{FF2B5EF4-FFF2-40B4-BE49-F238E27FC236}">
                <a16:creationId xmlns:a16="http://schemas.microsoft.com/office/drawing/2014/main" id="{1B95CD2B-E5BD-200C-DA81-A68BFA4847FF}"/>
              </a:ext>
            </a:extLst>
          </p:cNvPr>
          <p:cNvSpPr>
            <a:spLocks noGrp="1"/>
          </p:cNvSpPr>
          <p:nvPr>
            <p:ph idx="1"/>
          </p:nvPr>
        </p:nvSpPr>
        <p:spPr>
          <a:xfrm>
            <a:off x="684212" y="1587501"/>
            <a:ext cx="8131175" cy="4793827"/>
          </a:xfrm>
        </p:spPr>
        <p:txBody>
          <a:bodyPr>
            <a:normAutofit fontScale="85000" lnSpcReduction="20000"/>
          </a:bodyPr>
          <a:lstStyle/>
          <a:p>
            <a:pPr marL="0" indent="0">
              <a:buNone/>
            </a:pPr>
            <a:r>
              <a:rPr lang="en-GB" i="1" dirty="0"/>
              <a:t>Ray</a:t>
            </a:r>
            <a:r>
              <a:rPr lang="en-GB" dirty="0"/>
              <a:t> argued that the judgment in Collins undermined the latitude the legislation intended householders to have: the right to use any degree of force against an intruder provided the force was not grossly disproportionate. </a:t>
            </a:r>
          </a:p>
          <a:p>
            <a:r>
              <a:rPr lang="en-GB" dirty="0"/>
              <a:t>CoA concluded:</a:t>
            </a:r>
          </a:p>
          <a:p>
            <a:pPr lvl="1"/>
            <a:r>
              <a:rPr lang="en-GB" dirty="0"/>
              <a:t>In non-householder cases, if the force used is disproportionate then it will always be considered unreasonable under the second element of the defence.</a:t>
            </a:r>
          </a:p>
          <a:p>
            <a:pPr lvl="1"/>
            <a:r>
              <a:rPr lang="en-GB" dirty="0"/>
              <a:t>In householder cases, if the force used is </a:t>
            </a:r>
            <a:r>
              <a:rPr lang="en-GB" u="sng" dirty="0"/>
              <a:t>grossly disproportionate</a:t>
            </a:r>
            <a:r>
              <a:rPr lang="en-GB" dirty="0"/>
              <a:t> then it will always be considered unreasonable under the second element of the defence. But, if the force used is (“merely”) disproportionate, the jury must still decide if the degree of force used by the householder was reasonable, in all the circumstances (on the facts as D honestly believed them to be). It is open to the jury to find either it was or it wasn’t reasonable. </a:t>
            </a:r>
          </a:p>
        </p:txBody>
      </p:sp>
    </p:spTree>
    <p:extLst>
      <p:ext uri="{BB962C8B-B14F-4D97-AF65-F5344CB8AC3E}">
        <p14:creationId xmlns:p14="http://schemas.microsoft.com/office/powerpoint/2010/main" val="1470857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3C830D-2236-03AD-CD05-3BFD442A4226}"/>
              </a:ext>
            </a:extLst>
          </p:cNvPr>
          <p:cNvSpPr>
            <a:spLocks noGrp="1"/>
          </p:cNvSpPr>
          <p:nvPr>
            <p:ph idx="1"/>
          </p:nvPr>
        </p:nvSpPr>
        <p:spPr>
          <a:xfrm>
            <a:off x="684212" y="332657"/>
            <a:ext cx="8131175" cy="5799856"/>
          </a:xfrm>
        </p:spPr>
        <p:txBody>
          <a:bodyPr>
            <a:normAutofit lnSpcReduction="10000"/>
          </a:bodyPr>
          <a:lstStyle/>
          <a:p>
            <a:pPr marL="0" indent="0">
              <a:buNone/>
            </a:pPr>
            <a:r>
              <a:rPr lang="en-GB" dirty="0"/>
              <a:t>Fatima has long and beautiful hair, which she is very proud of it. She has asked Glen to trim the ends and is expecting that only an inch will be taken off the end. In the mirror, Fatima sees Glen indicate with the scissors that he is going to cut her hair at her shoulders. Glen has a smile on his face and gives Fatima a look that she interprets to mean, “how much will you hate me if I do this!?” Before the scissors can touch Fatima’s hair, she grabs them from Glen. In doing so, she twists his wrist, which later causes minor bruising and swelling.</a:t>
            </a:r>
          </a:p>
          <a:p>
            <a:r>
              <a:rPr lang="en-GB" dirty="0"/>
              <a:t>Discuss Fatima’s criminal liability and possibly defences in this scenario</a:t>
            </a:r>
          </a:p>
        </p:txBody>
      </p:sp>
    </p:spTree>
    <p:extLst>
      <p:ext uri="{BB962C8B-B14F-4D97-AF65-F5344CB8AC3E}">
        <p14:creationId xmlns:p14="http://schemas.microsoft.com/office/powerpoint/2010/main" val="4256413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D6F5-907B-0F04-0A5F-430946B7EBF4}"/>
              </a:ext>
            </a:extLst>
          </p:cNvPr>
          <p:cNvSpPr>
            <a:spLocks noGrp="1"/>
          </p:cNvSpPr>
          <p:nvPr>
            <p:ph type="title"/>
          </p:nvPr>
        </p:nvSpPr>
        <p:spPr>
          <a:xfrm>
            <a:off x="457200" y="274638"/>
            <a:ext cx="8229600" cy="634082"/>
          </a:xfrm>
        </p:spPr>
        <p:txBody>
          <a:bodyPr/>
          <a:lstStyle/>
          <a:p>
            <a:r>
              <a:rPr lang="en-US" dirty="0"/>
              <a:t>Fatima - battery</a:t>
            </a:r>
          </a:p>
        </p:txBody>
      </p:sp>
      <p:sp>
        <p:nvSpPr>
          <p:cNvPr id="6" name="Text Placeholder 5">
            <a:extLst>
              <a:ext uri="{FF2B5EF4-FFF2-40B4-BE49-F238E27FC236}">
                <a16:creationId xmlns:a16="http://schemas.microsoft.com/office/drawing/2014/main" id="{5CD015DE-8C25-7BE2-34FB-398255B3A843}"/>
              </a:ext>
            </a:extLst>
          </p:cNvPr>
          <p:cNvSpPr>
            <a:spLocks noGrp="1"/>
          </p:cNvSpPr>
          <p:nvPr>
            <p:ph type="body" idx="1"/>
          </p:nvPr>
        </p:nvSpPr>
        <p:spPr>
          <a:xfrm>
            <a:off x="457200" y="1572516"/>
            <a:ext cx="4041775" cy="401238"/>
          </a:xfrm>
        </p:spPr>
        <p:txBody>
          <a:bodyPr/>
          <a:lstStyle/>
          <a:p>
            <a:r>
              <a:rPr lang="en-US" dirty="0"/>
              <a:t>AR</a:t>
            </a:r>
          </a:p>
        </p:txBody>
      </p:sp>
      <p:sp>
        <p:nvSpPr>
          <p:cNvPr id="7" name="Content Placeholder 6">
            <a:extLst>
              <a:ext uri="{FF2B5EF4-FFF2-40B4-BE49-F238E27FC236}">
                <a16:creationId xmlns:a16="http://schemas.microsoft.com/office/drawing/2014/main" id="{761991ED-8F60-D0CE-5EC6-24DB3BEEB0F6}"/>
              </a:ext>
            </a:extLst>
          </p:cNvPr>
          <p:cNvSpPr>
            <a:spLocks noGrp="1"/>
          </p:cNvSpPr>
          <p:nvPr>
            <p:ph sz="half" idx="2"/>
          </p:nvPr>
        </p:nvSpPr>
        <p:spPr>
          <a:xfrm>
            <a:off x="457200" y="1973754"/>
            <a:ext cx="4040188" cy="4079287"/>
          </a:xfrm>
        </p:spPr>
        <p:txBody>
          <a:bodyPr>
            <a:normAutofit/>
          </a:bodyPr>
          <a:lstStyle/>
          <a:p>
            <a:r>
              <a:rPr lang="en-US" dirty="0"/>
              <a:t>Any act – Fatima grabs the scissors, which are in Glen’s hand.</a:t>
            </a:r>
          </a:p>
          <a:p>
            <a:pPr lvl="1"/>
            <a:r>
              <a:rPr lang="en-US" dirty="0"/>
              <a:t>Battery does not have to be direct skin on skin contact (</a:t>
            </a:r>
            <a:r>
              <a:rPr lang="en-GB" sz="1800" i="1" dirty="0">
                <a:effectLst/>
                <a:latin typeface="Arial" panose="020B0604020202020204" pitchFamily="34" charset="0"/>
                <a:ea typeface="Calibri" panose="020F0502020204030204" pitchFamily="34" charset="0"/>
                <a:cs typeface="Times New Roman" panose="02020603050405020304" pitchFamily="18" charset="0"/>
              </a:rPr>
              <a:t>Fagan v Commissioner of Police of the Metropolis</a:t>
            </a:r>
            <a:r>
              <a:rPr lang="en-GB" sz="1800" dirty="0">
                <a:effectLst/>
                <a:latin typeface="Arial" panose="020B0604020202020204" pitchFamily="34" charset="0"/>
                <a:ea typeface="Calibri" panose="020F0502020204030204" pitchFamily="34" charset="0"/>
                <a:cs typeface="Times New Roman" panose="02020603050405020304" pitchFamily="18" charset="0"/>
              </a:rPr>
              <a:t>)</a:t>
            </a:r>
            <a:endParaRPr lang="en-US" dirty="0"/>
          </a:p>
          <a:p>
            <a:r>
              <a:rPr lang="en-US" dirty="0"/>
              <a:t>inflicts unlawful personal violence upon V – twists  Glen’s wrist.</a:t>
            </a:r>
          </a:p>
        </p:txBody>
      </p:sp>
      <p:sp>
        <p:nvSpPr>
          <p:cNvPr id="8" name="Text Placeholder 7">
            <a:extLst>
              <a:ext uri="{FF2B5EF4-FFF2-40B4-BE49-F238E27FC236}">
                <a16:creationId xmlns:a16="http://schemas.microsoft.com/office/drawing/2014/main" id="{7A56174F-0F96-9881-3DC8-A16D740DB8E6}"/>
              </a:ext>
            </a:extLst>
          </p:cNvPr>
          <p:cNvSpPr>
            <a:spLocks noGrp="1"/>
          </p:cNvSpPr>
          <p:nvPr>
            <p:ph type="body" sz="quarter" idx="3"/>
          </p:nvPr>
        </p:nvSpPr>
        <p:spPr>
          <a:xfrm>
            <a:off x="4572000" y="1061338"/>
            <a:ext cx="4041775" cy="394632"/>
          </a:xfrm>
        </p:spPr>
        <p:txBody>
          <a:bodyPr/>
          <a:lstStyle/>
          <a:p>
            <a:r>
              <a:rPr lang="en-US" dirty="0"/>
              <a:t>MR</a:t>
            </a:r>
          </a:p>
        </p:txBody>
      </p:sp>
      <p:sp>
        <p:nvSpPr>
          <p:cNvPr id="9" name="Content Placeholder 8">
            <a:extLst>
              <a:ext uri="{FF2B5EF4-FFF2-40B4-BE49-F238E27FC236}">
                <a16:creationId xmlns:a16="http://schemas.microsoft.com/office/drawing/2014/main" id="{53179DFB-F1A8-37F1-573A-6DEFFF5CC70F}"/>
              </a:ext>
            </a:extLst>
          </p:cNvPr>
          <p:cNvSpPr>
            <a:spLocks noGrp="1"/>
          </p:cNvSpPr>
          <p:nvPr>
            <p:ph sz="quarter" idx="4"/>
          </p:nvPr>
        </p:nvSpPr>
        <p:spPr>
          <a:xfrm>
            <a:off x="4645025" y="1455970"/>
            <a:ext cx="4041775" cy="5213390"/>
          </a:xfrm>
        </p:spPr>
        <p:txBody>
          <a:bodyPr>
            <a:normAutofit/>
          </a:bodyPr>
          <a:lstStyle/>
          <a:p>
            <a:r>
              <a:rPr lang="en-US" i="1" dirty="0"/>
              <a:t>Venna</a:t>
            </a:r>
            <a:r>
              <a:rPr lang="en-US" dirty="0"/>
              <a:t> confirmed the MR is intent or recklessness.</a:t>
            </a:r>
          </a:p>
          <a:p>
            <a:r>
              <a:rPr lang="en-US" dirty="0"/>
              <a:t>Intent - Fatima’s aim or purpose (</a:t>
            </a:r>
            <a:r>
              <a:rPr lang="en-GB" i="1" dirty="0">
                <a:effectLst/>
                <a:latin typeface="Arial" panose="020B0604020202020204" pitchFamily="34" charset="0"/>
                <a:ea typeface="Calibri" panose="020F0502020204030204" pitchFamily="34" charset="0"/>
                <a:cs typeface="Times New Roman" panose="02020603050405020304" pitchFamily="18" charset="0"/>
              </a:rPr>
              <a:t>Moloney</a:t>
            </a:r>
            <a:r>
              <a:rPr lang="en-GB" dirty="0">
                <a:effectLst/>
                <a:latin typeface="Arial" panose="020B0604020202020204" pitchFamily="34" charset="0"/>
                <a:ea typeface="Calibri" panose="020F0502020204030204" pitchFamily="34" charset="0"/>
                <a:cs typeface="Times New Roman" panose="02020603050405020304" pitchFamily="18" charset="0"/>
              </a:rPr>
              <a:t>)</a:t>
            </a:r>
            <a:r>
              <a:rPr lang="en-GB" sz="1800" i="1" dirty="0">
                <a:ea typeface="Calibri" panose="020F0502020204030204" pitchFamily="34" charset="0"/>
                <a:cs typeface="Times New Roman" panose="02020603050405020304" pitchFamily="18" charset="0"/>
              </a:rPr>
              <a:t> </a:t>
            </a:r>
            <a:r>
              <a:rPr lang="en-GB" dirty="0"/>
              <a:t>to </a:t>
            </a:r>
            <a:r>
              <a:rPr lang="en-US" dirty="0"/>
              <a:t>inflicts unlawful personal violence upon? </a:t>
            </a:r>
          </a:p>
          <a:p>
            <a:pPr lvl="1"/>
            <a:r>
              <a:rPr lang="en-GB" dirty="0"/>
              <a:t>Remember it is only about contact!</a:t>
            </a:r>
          </a:p>
        </p:txBody>
      </p:sp>
      <p:sp>
        <p:nvSpPr>
          <p:cNvPr id="10" name="Content Placeholder 2">
            <a:extLst>
              <a:ext uri="{FF2B5EF4-FFF2-40B4-BE49-F238E27FC236}">
                <a16:creationId xmlns:a16="http://schemas.microsoft.com/office/drawing/2014/main" id="{12469489-98FA-F1D5-4BF9-61696A1714A5}"/>
              </a:ext>
            </a:extLst>
          </p:cNvPr>
          <p:cNvSpPr txBox="1">
            <a:spLocks/>
          </p:cNvSpPr>
          <p:nvPr/>
        </p:nvSpPr>
        <p:spPr bwMode="auto">
          <a:xfrm>
            <a:off x="457200" y="908720"/>
            <a:ext cx="8229600" cy="6637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 typeface="Arial" panose="020B0604020202020204" pitchFamily="34" charset="0"/>
              <a:buNone/>
              <a:defRPr sz="2400" b="1">
                <a:solidFill>
                  <a:schemeClr val="tx1"/>
                </a:solidFill>
                <a:latin typeface="Arial" panose="020B0604020202020204" pitchFamily="34" charset="0"/>
                <a:ea typeface="+mn-ea"/>
                <a:cs typeface="Arial" panose="020B0604020202020204" pitchFamily="34" charset="0"/>
              </a:defRPr>
            </a:lvl1pPr>
            <a:lvl2pPr marL="457200" indent="0" algn="l" rtl="0" eaLnBrk="1" fontAlgn="base" hangingPunct="1">
              <a:spcBef>
                <a:spcPct val="20000"/>
              </a:spcBef>
              <a:spcAft>
                <a:spcPct val="0"/>
              </a:spcAft>
              <a:buFont typeface="Arial" panose="020B0604020202020204" pitchFamily="34" charset="0"/>
              <a:buNone/>
              <a:defRPr sz="2000" b="1">
                <a:solidFill>
                  <a:schemeClr val="tx1"/>
                </a:solidFill>
                <a:latin typeface="Arial" panose="020B0604020202020204" pitchFamily="34" charset="0"/>
                <a:cs typeface="Arial" panose="020B0604020202020204" pitchFamily="34" charset="0"/>
              </a:defRPr>
            </a:lvl2pPr>
            <a:lvl3pPr marL="914400" indent="0" algn="l" rtl="0" eaLnBrk="1" fontAlgn="base" hangingPunct="1">
              <a:spcBef>
                <a:spcPct val="20000"/>
              </a:spcBef>
              <a:spcAft>
                <a:spcPct val="0"/>
              </a:spcAft>
              <a:buNone/>
              <a:defRPr sz="1800" b="1">
                <a:solidFill>
                  <a:schemeClr val="tx1"/>
                </a:solidFill>
                <a:latin typeface="Arial" panose="020B0604020202020204" pitchFamily="34" charset="0"/>
                <a:cs typeface="Arial" panose="020B0604020202020204" pitchFamily="34" charset="0"/>
              </a:defRPr>
            </a:lvl3pPr>
            <a:lvl4pPr marL="13716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4pPr>
            <a:lvl5pPr marL="18288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342900" indent="-342900">
              <a:buFont typeface="Arial" panose="020B0604020202020204" pitchFamily="34" charset="0"/>
              <a:buChar char="•"/>
            </a:pPr>
            <a:r>
              <a:rPr lang="en-GB" sz="1800" b="0" dirty="0"/>
              <a:t>s39(1) of the CJEA</a:t>
            </a:r>
          </a:p>
          <a:p>
            <a:pPr marL="342900" indent="-342900">
              <a:buFont typeface="Arial" panose="020B0604020202020204" pitchFamily="34" charset="0"/>
              <a:buChar char="•"/>
            </a:pPr>
            <a:r>
              <a:rPr lang="en-GB" sz="1800" b="0" dirty="0"/>
              <a:t>defined in Ireland, Burstow</a:t>
            </a:r>
            <a:endParaRPr lang="en-US" sz="1800" b="0" dirty="0"/>
          </a:p>
        </p:txBody>
      </p:sp>
    </p:spTree>
    <p:extLst>
      <p:ext uri="{BB962C8B-B14F-4D97-AF65-F5344CB8AC3E}">
        <p14:creationId xmlns:p14="http://schemas.microsoft.com/office/powerpoint/2010/main" val="54005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1EE59-72BC-6013-CDF9-A84C5F063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2A84D-E59B-96BB-A035-0349213E4C9F}"/>
              </a:ext>
            </a:extLst>
          </p:cNvPr>
          <p:cNvSpPr>
            <a:spLocks noGrp="1"/>
          </p:cNvSpPr>
          <p:nvPr>
            <p:ph type="title"/>
          </p:nvPr>
        </p:nvSpPr>
        <p:spPr>
          <a:xfrm>
            <a:off x="448440" y="443789"/>
            <a:ext cx="8229600" cy="634082"/>
          </a:xfrm>
        </p:spPr>
        <p:txBody>
          <a:bodyPr/>
          <a:lstStyle/>
          <a:p>
            <a:r>
              <a:rPr lang="en-GB" sz="2800" dirty="0"/>
              <a:t>Fatima – self-defence and prevention of a crime</a:t>
            </a:r>
          </a:p>
        </p:txBody>
      </p:sp>
      <p:sp>
        <p:nvSpPr>
          <p:cNvPr id="6" name="Text Placeholder 5">
            <a:extLst>
              <a:ext uri="{FF2B5EF4-FFF2-40B4-BE49-F238E27FC236}">
                <a16:creationId xmlns:a16="http://schemas.microsoft.com/office/drawing/2014/main" id="{6A9968E0-BDFE-93EB-6746-5E8F00BA79BC}"/>
              </a:ext>
            </a:extLst>
          </p:cNvPr>
          <p:cNvSpPr>
            <a:spLocks noGrp="1"/>
          </p:cNvSpPr>
          <p:nvPr>
            <p:ph type="body" idx="1"/>
          </p:nvPr>
        </p:nvSpPr>
        <p:spPr>
          <a:xfrm>
            <a:off x="448440" y="1788062"/>
            <a:ext cx="4041775" cy="401238"/>
          </a:xfrm>
        </p:spPr>
        <p:txBody>
          <a:bodyPr/>
          <a:lstStyle/>
          <a:p>
            <a:r>
              <a:rPr lang="en-US" dirty="0"/>
              <a:t>Element 1 – trigger </a:t>
            </a:r>
          </a:p>
        </p:txBody>
      </p:sp>
      <p:sp>
        <p:nvSpPr>
          <p:cNvPr id="7" name="Content Placeholder 6">
            <a:extLst>
              <a:ext uri="{FF2B5EF4-FFF2-40B4-BE49-F238E27FC236}">
                <a16:creationId xmlns:a16="http://schemas.microsoft.com/office/drawing/2014/main" id="{571A585C-7915-3E18-B69A-376A4C757246}"/>
              </a:ext>
            </a:extLst>
          </p:cNvPr>
          <p:cNvSpPr>
            <a:spLocks noGrp="1"/>
          </p:cNvSpPr>
          <p:nvPr>
            <p:ph sz="half" idx="2"/>
          </p:nvPr>
        </p:nvSpPr>
        <p:spPr>
          <a:xfrm>
            <a:off x="457200" y="2173242"/>
            <a:ext cx="4040188" cy="4240969"/>
          </a:xfrm>
        </p:spPr>
        <p:txBody>
          <a:bodyPr>
            <a:normAutofit fontScale="92500" lnSpcReduction="20000"/>
          </a:bodyPr>
          <a:lstStyle/>
          <a:p>
            <a:pPr marL="0" indent="0">
              <a:buNone/>
            </a:pPr>
            <a:r>
              <a:rPr lang="en-GB" dirty="0"/>
              <a:t>Force used by D must be “reasonable in the circumstances” s76(1)(b), CJI Act 2008</a:t>
            </a:r>
          </a:p>
          <a:p>
            <a:r>
              <a:rPr lang="en-GB" dirty="0"/>
              <a:t>The circumstances as D believed them to be s76(3). The belief could be a mistaken belief (s76(4); </a:t>
            </a:r>
            <a:r>
              <a:rPr lang="en-GB" i="1" dirty="0" err="1"/>
              <a:t>Yaman</a:t>
            </a:r>
            <a:r>
              <a:rPr lang="en-GB" dirty="0"/>
              <a:t>).</a:t>
            </a:r>
          </a:p>
          <a:p>
            <a:pPr lvl="1"/>
            <a:r>
              <a:rPr lang="en-GB" dirty="0"/>
              <a:t>Fatima believed Glen was going to cut off her hair.</a:t>
            </a:r>
          </a:p>
          <a:p>
            <a:r>
              <a:rPr lang="en-GB" dirty="0"/>
              <a:t>Use of force sufficiently necessary.</a:t>
            </a:r>
          </a:p>
          <a:p>
            <a:pPr lvl="1"/>
            <a:r>
              <a:rPr lang="en-GB" dirty="0"/>
              <a:t>Question for the jury.</a:t>
            </a:r>
          </a:p>
          <a:p>
            <a:pPr lvl="1"/>
            <a:endParaRPr lang="en-GB" dirty="0"/>
          </a:p>
          <a:p>
            <a:endParaRPr lang="en-GB" dirty="0"/>
          </a:p>
          <a:p>
            <a:pPr lvl="1"/>
            <a:endParaRPr lang="en-GB" dirty="0"/>
          </a:p>
          <a:p>
            <a:endParaRPr lang="en-US" dirty="0"/>
          </a:p>
        </p:txBody>
      </p:sp>
      <p:sp>
        <p:nvSpPr>
          <p:cNvPr id="8" name="Text Placeholder 7">
            <a:extLst>
              <a:ext uri="{FF2B5EF4-FFF2-40B4-BE49-F238E27FC236}">
                <a16:creationId xmlns:a16="http://schemas.microsoft.com/office/drawing/2014/main" id="{992514CD-2E9F-F31D-11CB-0C4D455B672C}"/>
              </a:ext>
            </a:extLst>
          </p:cNvPr>
          <p:cNvSpPr>
            <a:spLocks noGrp="1"/>
          </p:cNvSpPr>
          <p:nvPr>
            <p:ph type="body" sz="quarter" idx="3"/>
          </p:nvPr>
        </p:nvSpPr>
        <p:spPr>
          <a:xfrm>
            <a:off x="4645025" y="1778610"/>
            <a:ext cx="4041775" cy="394632"/>
          </a:xfrm>
        </p:spPr>
        <p:txBody>
          <a:bodyPr/>
          <a:lstStyle/>
          <a:p>
            <a:r>
              <a:rPr lang="en-US" dirty="0"/>
              <a:t>Element 2 – response </a:t>
            </a:r>
          </a:p>
        </p:txBody>
      </p:sp>
      <p:sp>
        <p:nvSpPr>
          <p:cNvPr id="9" name="Content Placeholder 8">
            <a:extLst>
              <a:ext uri="{FF2B5EF4-FFF2-40B4-BE49-F238E27FC236}">
                <a16:creationId xmlns:a16="http://schemas.microsoft.com/office/drawing/2014/main" id="{ED382773-0659-F6C6-02CA-FAA8B32DDA04}"/>
              </a:ext>
            </a:extLst>
          </p:cNvPr>
          <p:cNvSpPr>
            <a:spLocks noGrp="1"/>
          </p:cNvSpPr>
          <p:nvPr>
            <p:ph sz="quarter" idx="4"/>
          </p:nvPr>
        </p:nvSpPr>
        <p:spPr>
          <a:xfrm>
            <a:off x="4645025" y="2173242"/>
            <a:ext cx="4041775" cy="4496118"/>
          </a:xfrm>
        </p:spPr>
        <p:txBody>
          <a:bodyPr>
            <a:normAutofit fontScale="92500" lnSpcReduction="20000"/>
          </a:bodyPr>
          <a:lstStyle/>
          <a:p>
            <a:r>
              <a:rPr lang="en-US" dirty="0"/>
              <a:t>Reasonableness of the level force used</a:t>
            </a:r>
          </a:p>
          <a:p>
            <a:pPr lvl="1"/>
            <a:r>
              <a:rPr lang="en-GB" dirty="0"/>
              <a:t>Question for the jury</a:t>
            </a:r>
          </a:p>
          <a:p>
            <a:pPr lvl="1"/>
            <a:r>
              <a:rPr lang="en-GB" dirty="0"/>
              <a:t>Force not consequences (</a:t>
            </a:r>
            <a:r>
              <a:rPr lang="en-GB" i="1" dirty="0"/>
              <a:t>Keane</a:t>
            </a:r>
            <a:r>
              <a:rPr lang="en-GB" dirty="0"/>
              <a:t>; </a:t>
            </a:r>
            <a:r>
              <a:rPr lang="en-GB" i="1" dirty="0" err="1"/>
              <a:t>Noye</a:t>
            </a:r>
            <a:r>
              <a:rPr lang="en-GB" dirty="0"/>
              <a:t>).</a:t>
            </a:r>
          </a:p>
          <a:p>
            <a:pPr marL="0" indent="0">
              <a:buNone/>
            </a:pPr>
            <a:endParaRPr lang="en-GB" dirty="0"/>
          </a:p>
          <a:p>
            <a:pPr marL="0" indent="0">
              <a:buNone/>
            </a:pPr>
            <a:r>
              <a:rPr lang="en-GB" dirty="0"/>
              <a:t>Yes – defence can be relied upon</a:t>
            </a:r>
          </a:p>
        </p:txBody>
      </p:sp>
      <p:sp>
        <p:nvSpPr>
          <p:cNvPr id="10" name="Content Placeholder 2">
            <a:extLst>
              <a:ext uri="{FF2B5EF4-FFF2-40B4-BE49-F238E27FC236}">
                <a16:creationId xmlns:a16="http://schemas.microsoft.com/office/drawing/2014/main" id="{4D7E2398-77EB-353E-2BA9-B2DE0A9A406D}"/>
              </a:ext>
            </a:extLst>
          </p:cNvPr>
          <p:cNvSpPr txBox="1">
            <a:spLocks/>
          </p:cNvSpPr>
          <p:nvPr/>
        </p:nvSpPr>
        <p:spPr bwMode="auto">
          <a:xfrm>
            <a:off x="433629" y="1029868"/>
            <a:ext cx="8229600" cy="6637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 typeface="Arial" panose="020B0604020202020204" pitchFamily="34" charset="0"/>
              <a:buNone/>
              <a:defRPr sz="2400" b="1">
                <a:solidFill>
                  <a:schemeClr val="tx1"/>
                </a:solidFill>
                <a:latin typeface="Arial" panose="020B0604020202020204" pitchFamily="34" charset="0"/>
                <a:ea typeface="+mn-ea"/>
                <a:cs typeface="Arial" panose="020B0604020202020204" pitchFamily="34" charset="0"/>
              </a:defRPr>
            </a:lvl1pPr>
            <a:lvl2pPr marL="457200" indent="0" algn="l" rtl="0" eaLnBrk="1" fontAlgn="base" hangingPunct="1">
              <a:spcBef>
                <a:spcPct val="20000"/>
              </a:spcBef>
              <a:spcAft>
                <a:spcPct val="0"/>
              </a:spcAft>
              <a:buFont typeface="Arial" panose="020B0604020202020204" pitchFamily="34" charset="0"/>
              <a:buNone/>
              <a:defRPr sz="2000" b="1">
                <a:solidFill>
                  <a:schemeClr val="tx1"/>
                </a:solidFill>
                <a:latin typeface="Arial" panose="020B0604020202020204" pitchFamily="34" charset="0"/>
                <a:cs typeface="Arial" panose="020B0604020202020204" pitchFamily="34" charset="0"/>
              </a:defRPr>
            </a:lvl2pPr>
            <a:lvl3pPr marL="914400" indent="0" algn="l" rtl="0" eaLnBrk="1" fontAlgn="base" hangingPunct="1">
              <a:spcBef>
                <a:spcPct val="20000"/>
              </a:spcBef>
              <a:spcAft>
                <a:spcPct val="0"/>
              </a:spcAft>
              <a:buNone/>
              <a:defRPr sz="1800" b="1">
                <a:solidFill>
                  <a:schemeClr val="tx1"/>
                </a:solidFill>
                <a:latin typeface="Arial" panose="020B0604020202020204" pitchFamily="34" charset="0"/>
                <a:cs typeface="Arial" panose="020B0604020202020204" pitchFamily="34" charset="0"/>
              </a:defRPr>
            </a:lvl3pPr>
            <a:lvl4pPr marL="13716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4pPr>
            <a:lvl5pPr marL="18288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342900" indent="-342900">
              <a:buFont typeface="Arial" panose="020B0604020202020204" pitchFamily="34" charset="0"/>
              <a:buChar char="•"/>
            </a:pPr>
            <a:r>
              <a:rPr lang="en-US" sz="1800" b="0" dirty="0"/>
              <a:t>Criminal Law Act 1967, s3</a:t>
            </a:r>
          </a:p>
          <a:p>
            <a:pPr marL="342900" indent="-342900">
              <a:buFont typeface="Arial" panose="020B0604020202020204" pitchFamily="34" charset="0"/>
              <a:buChar char="•"/>
            </a:pPr>
            <a:r>
              <a:rPr lang="en-US" sz="1800" b="0" dirty="0"/>
              <a:t>Criminal Justice and Immigration 2008, s76</a:t>
            </a:r>
          </a:p>
        </p:txBody>
      </p:sp>
    </p:spTree>
    <p:extLst>
      <p:ext uri="{BB962C8B-B14F-4D97-AF65-F5344CB8AC3E}">
        <p14:creationId xmlns:p14="http://schemas.microsoft.com/office/powerpoint/2010/main" val="2862537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3C830D-2236-03AD-CD05-3BFD442A4226}"/>
              </a:ext>
            </a:extLst>
          </p:cNvPr>
          <p:cNvSpPr>
            <a:spLocks noGrp="1"/>
          </p:cNvSpPr>
          <p:nvPr>
            <p:ph idx="1"/>
          </p:nvPr>
        </p:nvSpPr>
        <p:spPr>
          <a:xfrm>
            <a:off x="684212" y="332657"/>
            <a:ext cx="8131175" cy="5799856"/>
          </a:xfrm>
        </p:spPr>
        <p:txBody>
          <a:bodyPr>
            <a:normAutofit fontScale="92500" lnSpcReduction="10000"/>
          </a:bodyPr>
          <a:lstStyle/>
          <a:p>
            <a:pPr marL="0" indent="0">
              <a:buNone/>
            </a:pPr>
            <a:r>
              <a:rPr lang="en-US" dirty="0"/>
              <a:t>Fatima has long and beautiful hair, which she is very proud of it. She has asked Glen to trim the ends and is expecting that only an inch will be taken off the end. In the mirror, Fatima sees Glen indicate with the scissors that he is going to cut her hair at her shoulders. Glen has a smile on his face and gives Fatima a look that she interprets to mean, “how much will you hate me if I do this!?” Before Fatima can grab the scissors, Glen cuts her hair. In a rage, Fatima grabs the scissors and stabs Glen in the abdomen. Glen is rushed to hospital, receiving emergency surgery to repair the puncture of his liver. He makes a full recovery.</a:t>
            </a:r>
          </a:p>
          <a:p>
            <a:r>
              <a:rPr lang="en-GB" dirty="0"/>
              <a:t>Discuss Fatima’s criminal liability and possibly defences in this scenario</a:t>
            </a:r>
          </a:p>
        </p:txBody>
      </p:sp>
    </p:spTree>
    <p:extLst>
      <p:ext uri="{BB962C8B-B14F-4D97-AF65-F5344CB8AC3E}">
        <p14:creationId xmlns:p14="http://schemas.microsoft.com/office/powerpoint/2010/main" val="1611163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D6F5-907B-0F04-0A5F-430946B7EBF4}"/>
              </a:ext>
            </a:extLst>
          </p:cNvPr>
          <p:cNvSpPr>
            <a:spLocks noGrp="1"/>
          </p:cNvSpPr>
          <p:nvPr>
            <p:ph type="title"/>
          </p:nvPr>
        </p:nvSpPr>
        <p:spPr>
          <a:xfrm>
            <a:off x="457200" y="274638"/>
            <a:ext cx="8229600" cy="634082"/>
          </a:xfrm>
        </p:spPr>
        <p:txBody>
          <a:bodyPr/>
          <a:lstStyle/>
          <a:p>
            <a:r>
              <a:rPr lang="en-US" dirty="0"/>
              <a:t>Fatima – GBH</a:t>
            </a:r>
          </a:p>
        </p:txBody>
      </p:sp>
      <p:sp>
        <p:nvSpPr>
          <p:cNvPr id="6" name="Text Placeholder 5">
            <a:extLst>
              <a:ext uri="{FF2B5EF4-FFF2-40B4-BE49-F238E27FC236}">
                <a16:creationId xmlns:a16="http://schemas.microsoft.com/office/drawing/2014/main" id="{5CD015DE-8C25-7BE2-34FB-398255B3A843}"/>
              </a:ext>
            </a:extLst>
          </p:cNvPr>
          <p:cNvSpPr>
            <a:spLocks noGrp="1"/>
          </p:cNvSpPr>
          <p:nvPr>
            <p:ph type="body" idx="1"/>
          </p:nvPr>
        </p:nvSpPr>
        <p:spPr>
          <a:xfrm>
            <a:off x="457200" y="1572516"/>
            <a:ext cx="4041775" cy="401238"/>
          </a:xfrm>
        </p:spPr>
        <p:txBody>
          <a:bodyPr/>
          <a:lstStyle/>
          <a:p>
            <a:r>
              <a:rPr lang="en-US" dirty="0"/>
              <a:t>AR</a:t>
            </a:r>
          </a:p>
        </p:txBody>
      </p:sp>
      <p:sp>
        <p:nvSpPr>
          <p:cNvPr id="7" name="Content Placeholder 6">
            <a:extLst>
              <a:ext uri="{FF2B5EF4-FFF2-40B4-BE49-F238E27FC236}">
                <a16:creationId xmlns:a16="http://schemas.microsoft.com/office/drawing/2014/main" id="{761991ED-8F60-D0CE-5EC6-24DB3BEEB0F6}"/>
              </a:ext>
            </a:extLst>
          </p:cNvPr>
          <p:cNvSpPr>
            <a:spLocks noGrp="1"/>
          </p:cNvSpPr>
          <p:nvPr>
            <p:ph sz="half" idx="2"/>
          </p:nvPr>
        </p:nvSpPr>
        <p:spPr>
          <a:xfrm>
            <a:off x="457199" y="1973754"/>
            <a:ext cx="3898777" cy="4079287"/>
          </a:xfrm>
        </p:spPr>
        <p:txBody>
          <a:bodyPr>
            <a:normAutofit/>
          </a:bodyPr>
          <a:lstStyle/>
          <a:p>
            <a:r>
              <a:rPr lang="en-US" dirty="0"/>
              <a:t>An act – stabbing with scissors.</a:t>
            </a:r>
          </a:p>
          <a:p>
            <a:r>
              <a:rPr lang="en-US" dirty="0"/>
              <a:t>Wound – punctured liver</a:t>
            </a:r>
          </a:p>
          <a:p>
            <a:pPr lvl="1"/>
            <a:r>
              <a:rPr lang="en-US" sz="1800" dirty="0">
                <a:cs typeface="Times New Roman" panose="02020603050405020304" pitchFamily="18" charset="0"/>
              </a:rPr>
              <a:t>dermis and epidermis broken (</a:t>
            </a:r>
            <a:r>
              <a:rPr lang="en-GB" sz="1800" i="1" dirty="0">
                <a:cs typeface="Times New Roman" panose="02020603050405020304" pitchFamily="18" charset="0"/>
              </a:rPr>
              <a:t>Moriarty v Brooks</a:t>
            </a:r>
            <a:r>
              <a:rPr lang="en-GB" sz="1800" dirty="0">
                <a:cs typeface="Times New Roman" panose="02020603050405020304" pitchFamily="18" charset="0"/>
              </a:rPr>
              <a:t>) – punctures Glen’s liver</a:t>
            </a:r>
          </a:p>
          <a:p>
            <a:r>
              <a:rPr lang="en-GB" sz="2200" dirty="0">
                <a:cs typeface="Times New Roman" panose="02020603050405020304" pitchFamily="18" charset="0"/>
              </a:rPr>
              <a:t>GBH – really serious harm (</a:t>
            </a:r>
            <a:r>
              <a:rPr lang="en-GB" sz="2200" i="1" dirty="0">
                <a:cs typeface="Times New Roman" panose="02020603050405020304" pitchFamily="18" charset="0"/>
              </a:rPr>
              <a:t>DPP v Smith</a:t>
            </a:r>
            <a:r>
              <a:rPr lang="en-GB" sz="2200" dirty="0">
                <a:cs typeface="Times New Roman" panose="02020603050405020304" pitchFamily="18" charset="0"/>
              </a:rPr>
              <a:t>)</a:t>
            </a:r>
          </a:p>
          <a:p>
            <a:pPr lvl="1"/>
            <a:r>
              <a:rPr lang="en-GB" sz="1800" dirty="0">
                <a:cs typeface="Times New Roman" panose="02020603050405020304" pitchFamily="18" charset="0"/>
              </a:rPr>
              <a:t>Does not need to be permanent harm or life-threatening (</a:t>
            </a:r>
            <a:r>
              <a:rPr lang="en-GB" sz="1800" i="1" dirty="0">
                <a:cs typeface="Times New Roman" panose="02020603050405020304" pitchFamily="18" charset="0"/>
              </a:rPr>
              <a:t>Ashman</a:t>
            </a:r>
            <a:r>
              <a:rPr lang="en-GB" sz="1800" dirty="0">
                <a:cs typeface="Times New Roman" panose="02020603050405020304" pitchFamily="18" charset="0"/>
              </a:rPr>
              <a:t>)</a:t>
            </a:r>
          </a:p>
        </p:txBody>
      </p:sp>
      <p:sp>
        <p:nvSpPr>
          <p:cNvPr id="8" name="Text Placeholder 7">
            <a:extLst>
              <a:ext uri="{FF2B5EF4-FFF2-40B4-BE49-F238E27FC236}">
                <a16:creationId xmlns:a16="http://schemas.microsoft.com/office/drawing/2014/main" id="{7A56174F-0F96-9881-3DC8-A16D740DB8E6}"/>
              </a:ext>
            </a:extLst>
          </p:cNvPr>
          <p:cNvSpPr>
            <a:spLocks noGrp="1"/>
          </p:cNvSpPr>
          <p:nvPr>
            <p:ph type="body" sz="quarter" idx="3"/>
          </p:nvPr>
        </p:nvSpPr>
        <p:spPr>
          <a:xfrm>
            <a:off x="4645025" y="975743"/>
            <a:ext cx="3105671" cy="394632"/>
          </a:xfrm>
        </p:spPr>
        <p:txBody>
          <a:bodyPr/>
          <a:lstStyle/>
          <a:p>
            <a:r>
              <a:rPr lang="en-US" dirty="0"/>
              <a:t>MR</a:t>
            </a:r>
          </a:p>
        </p:txBody>
      </p:sp>
      <p:sp>
        <p:nvSpPr>
          <p:cNvPr id="10" name="Content Placeholder 2">
            <a:extLst>
              <a:ext uri="{FF2B5EF4-FFF2-40B4-BE49-F238E27FC236}">
                <a16:creationId xmlns:a16="http://schemas.microsoft.com/office/drawing/2014/main" id="{12469489-98FA-F1D5-4BF9-61696A1714A5}"/>
              </a:ext>
            </a:extLst>
          </p:cNvPr>
          <p:cNvSpPr txBox="1">
            <a:spLocks/>
          </p:cNvSpPr>
          <p:nvPr/>
        </p:nvSpPr>
        <p:spPr bwMode="auto">
          <a:xfrm>
            <a:off x="457200" y="1057910"/>
            <a:ext cx="8229600" cy="51460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 typeface="Arial" panose="020B0604020202020204" pitchFamily="34" charset="0"/>
              <a:buNone/>
              <a:defRPr sz="2400" b="1">
                <a:solidFill>
                  <a:schemeClr val="tx1"/>
                </a:solidFill>
                <a:latin typeface="Arial" panose="020B0604020202020204" pitchFamily="34" charset="0"/>
                <a:ea typeface="+mn-ea"/>
                <a:cs typeface="Arial" panose="020B0604020202020204" pitchFamily="34" charset="0"/>
              </a:defRPr>
            </a:lvl1pPr>
            <a:lvl2pPr marL="457200" indent="0" algn="l" rtl="0" eaLnBrk="1" fontAlgn="base" hangingPunct="1">
              <a:spcBef>
                <a:spcPct val="20000"/>
              </a:spcBef>
              <a:spcAft>
                <a:spcPct val="0"/>
              </a:spcAft>
              <a:buFont typeface="Arial" panose="020B0604020202020204" pitchFamily="34" charset="0"/>
              <a:buNone/>
              <a:defRPr sz="2000" b="1">
                <a:solidFill>
                  <a:schemeClr val="tx1"/>
                </a:solidFill>
                <a:latin typeface="Arial" panose="020B0604020202020204" pitchFamily="34" charset="0"/>
                <a:cs typeface="Arial" panose="020B0604020202020204" pitchFamily="34" charset="0"/>
              </a:defRPr>
            </a:lvl2pPr>
            <a:lvl3pPr marL="914400" indent="0" algn="l" rtl="0" eaLnBrk="1" fontAlgn="base" hangingPunct="1">
              <a:spcBef>
                <a:spcPct val="20000"/>
              </a:spcBef>
              <a:spcAft>
                <a:spcPct val="0"/>
              </a:spcAft>
              <a:buNone/>
              <a:defRPr sz="1800" b="1">
                <a:solidFill>
                  <a:schemeClr val="tx1"/>
                </a:solidFill>
                <a:latin typeface="Arial" panose="020B0604020202020204" pitchFamily="34" charset="0"/>
                <a:cs typeface="Arial" panose="020B0604020202020204" pitchFamily="34" charset="0"/>
              </a:defRPr>
            </a:lvl3pPr>
            <a:lvl4pPr marL="13716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4pPr>
            <a:lvl5pPr marL="18288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342900" indent="-342900">
              <a:buFont typeface="Arial" panose="020B0604020202020204" pitchFamily="34" charset="0"/>
              <a:buChar char="•"/>
            </a:pPr>
            <a:r>
              <a:rPr lang="en-GB" b="0" dirty="0"/>
              <a:t>OAPA, s20</a:t>
            </a:r>
            <a:endParaRPr lang="en-US" b="0" dirty="0"/>
          </a:p>
        </p:txBody>
      </p:sp>
      <p:sp>
        <p:nvSpPr>
          <p:cNvPr id="12" name="Content Placeholder 8">
            <a:extLst>
              <a:ext uri="{FF2B5EF4-FFF2-40B4-BE49-F238E27FC236}">
                <a16:creationId xmlns:a16="http://schemas.microsoft.com/office/drawing/2014/main" id="{236F3D02-FA7E-2EF9-BC85-5158307CF753}"/>
              </a:ext>
            </a:extLst>
          </p:cNvPr>
          <p:cNvSpPr>
            <a:spLocks noGrp="1"/>
          </p:cNvSpPr>
          <p:nvPr>
            <p:ph sz="quarter" idx="4"/>
          </p:nvPr>
        </p:nvSpPr>
        <p:spPr>
          <a:xfrm>
            <a:off x="4645025" y="1370375"/>
            <a:ext cx="4041775" cy="5298985"/>
          </a:xfrm>
        </p:spPr>
        <p:txBody>
          <a:bodyPr>
            <a:normAutofit fontScale="92500" lnSpcReduction="20000"/>
          </a:bodyPr>
          <a:lstStyle/>
          <a:p>
            <a:r>
              <a:rPr lang="en-GB" dirty="0"/>
              <a:t>‘Maliciously’: interpreted to mean ‘intentionally or recklessly’ – </a:t>
            </a:r>
            <a:r>
              <a:rPr lang="en-GB" i="1" dirty="0"/>
              <a:t>Savage and Parmenter</a:t>
            </a:r>
            <a:r>
              <a:rPr lang="en-GB" dirty="0"/>
              <a:t> </a:t>
            </a:r>
          </a:p>
          <a:p>
            <a:r>
              <a:rPr lang="en-GB" dirty="0"/>
              <a:t>Intent: Fatima’s aim or purpose </a:t>
            </a:r>
            <a:r>
              <a:rPr lang="en-US" dirty="0"/>
              <a:t>(</a:t>
            </a:r>
            <a:r>
              <a:rPr lang="en-GB" i="1" dirty="0">
                <a:ea typeface="Calibri" panose="020F0502020204030204" pitchFamily="34" charset="0"/>
                <a:cs typeface="Times New Roman" panose="02020603050405020304" pitchFamily="18" charset="0"/>
              </a:rPr>
              <a:t>Moloney</a:t>
            </a:r>
            <a:r>
              <a:rPr lang="en-GB" dirty="0">
                <a:ea typeface="Calibri" panose="020F0502020204030204" pitchFamily="34" charset="0"/>
                <a:cs typeface="Times New Roman" panose="02020603050405020304" pitchFamily="18" charset="0"/>
              </a:rPr>
              <a:t>) </a:t>
            </a:r>
            <a:r>
              <a:rPr lang="en-GB" dirty="0"/>
              <a:t>was to cause some harm to Glen (</a:t>
            </a:r>
            <a:r>
              <a:rPr lang="en-GB" i="1" dirty="0" err="1"/>
              <a:t>Mowatt</a:t>
            </a:r>
            <a:r>
              <a:rPr lang="en-GB" dirty="0"/>
              <a:t>; </a:t>
            </a:r>
            <a:r>
              <a:rPr lang="en-GB" i="1" dirty="0"/>
              <a:t>Savage and Parmenter</a:t>
            </a:r>
            <a:r>
              <a:rPr lang="en-GB" dirty="0"/>
              <a:t>).</a:t>
            </a:r>
          </a:p>
          <a:p>
            <a:r>
              <a:rPr lang="en-GB" dirty="0"/>
              <a:t>Recklessness - Cunningham subjective recklessness – </a:t>
            </a:r>
          </a:p>
          <a:p>
            <a:pPr lvl="1"/>
            <a:r>
              <a:rPr lang="en-US" dirty="0"/>
              <a:t>Fatima</a:t>
            </a:r>
            <a:r>
              <a:rPr lang="en-GB" dirty="0"/>
              <a:t> foresee a risk that she would inflict </a:t>
            </a:r>
            <a:r>
              <a:rPr lang="en-US" dirty="0"/>
              <a:t>some harm upon </a:t>
            </a:r>
            <a:r>
              <a:rPr lang="en-GB" dirty="0"/>
              <a:t>Glen</a:t>
            </a:r>
          </a:p>
          <a:p>
            <a:pPr lvl="2"/>
            <a:r>
              <a:rPr lang="en-GB" dirty="0"/>
              <a:t>Did she have </a:t>
            </a:r>
            <a:r>
              <a:rPr lang="en-GB" i="1" dirty="0"/>
              <a:t>some</a:t>
            </a:r>
            <a:r>
              <a:rPr lang="en-GB" dirty="0"/>
              <a:t> foresight (</a:t>
            </a:r>
            <a:r>
              <a:rPr lang="en-GB" sz="1800" i="1" dirty="0">
                <a:effectLst/>
                <a:latin typeface="Arial" panose="020B0604020202020204" pitchFamily="34" charset="0"/>
                <a:ea typeface="Calibri" panose="020F0502020204030204" pitchFamily="34" charset="0"/>
                <a:cs typeface="Times New Roman" panose="02020603050405020304" pitchFamily="18" charset="0"/>
              </a:rPr>
              <a:t>Brady</a:t>
            </a:r>
            <a:r>
              <a:rPr lang="en-GB" dirty="0">
                <a:ea typeface="Calibri" panose="020F0502020204030204" pitchFamily="34" charset="0"/>
                <a:cs typeface="Times New Roman" panose="02020603050405020304" pitchFamily="18" charset="0"/>
              </a:rPr>
              <a:t>; </a:t>
            </a:r>
            <a:r>
              <a:rPr lang="en-GB" sz="1800" i="1" dirty="0">
                <a:effectLst/>
                <a:latin typeface="Arial" panose="020B0604020202020204" pitchFamily="34" charset="0"/>
                <a:ea typeface="Calibri" panose="020F0502020204030204" pitchFamily="34" charset="0"/>
                <a:cs typeface="Times New Roman" panose="02020603050405020304" pitchFamily="18" charset="0"/>
              </a:rPr>
              <a:t>Parker</a:t>
            </a:r>
            <a:r>
              <a:rPr lang="en-GB" sz="1800" dirty="0">
                <a:effectLst/>
                <a:latin typeface="Arial" panose="020B0604020202020204" pitchFamily="34" charset="0"/>
                <a:ea typeface="Calibri" panose="020F0502020204030204" pitchFamily="34" charset="0"/>
                <a:cs typeface="Times New Roman" panose="02020603050405020304" pitchFamily="18" charset="0"/>
              </a:rPr>
              <a:t>)?</a:t>
            </a:r>
            <a:endParaRPr lang="en-GB" dirty="0"/>
          </a:p>
          <a:p>
            <a:pPr lvl="1"/>
            <a:r>
              <a:rPr lang="en-US" dirty="0"/>
              <a:t>Fatima</a:t>
            </a:r>
            <a:r>
              <a:rPr lang="en-GB" dirty="0"/>
              <a:t> unreasonably continued to take that risk</a:t>
            </a:r>
            <a:endParaRPr lang="en-US" dirty="0"/>
          </a:p>
        </p:txBody>
      </p:sp>
    </p:spTree>
    <p:extLst>
      <p:ext uri="{BB962C8B-B14F-4D97-AF65-F5344CB8AC3E}">
        <p14:creationId xmlns:p14="http://schemas.microsoft.com/office/powerpoint/2010/main" val="2525102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B622-0AC7-98EF-9D21-C03525056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97BDB-3C37-13D4-16A1-45E4102541DF}"/>
              </a:ext>
            </a:extLst>
          </p:cNvPr>
          <p:cNvSpPr>
            <a:spLocks noGrp="1"/>
          </p:cNvSpPr>
          <p:nvPr>
            <p:ph type="title"/>
          </p:nvPr>
        </p:nvSpPr>
        <p:spPr>
          <a:xfrm>
            <a:off x="448440" y="443789"/>
            <a:ext cx="8229600" cy="634082"/>
          </a:xfrm>
        </p:spPr>
        <p:txBody>
          <a:bodyPr/>
          <a:lstStyle/>
          <a:p>
            <a:r>
              <a:rPr lang="en-GB" sz="2800" dirty="0"/>
              <a:t>Fatima – self-defence and prevention of a crime</a:t>
            </a:r>
          </a:p>
        </p:txBody>
      </p:sp>
      <p:sp>
        <p:nvSpPr>
          <p:cNvPr id="6" name="Text Placeholder 5">
            <a:extLst>
              <a:ext uri="{FF2B5EF4-FFF2-40B4-BE49-F238E27FC236}">
                <a16:creationId xmlns:a16="http://schemas.microsoft.com/office/drawing/2014/main" id="{8752DEEB-6512-7169-6CA4-75F298C6598C}"/>
              </a:ext>
            </a:extLst>
          </p:cNvPr>
          <p:cNvSpPr>
            <a:spLocks noGrp="1"/>
          </p:cNvSpPr>
          <p:nvPr>
            <p:ph type="body" idx="1"/>
          </p:nvPr>
        </p:nvSpPr>
        <p:spPr>
          <a:xfrm>
            <a:off x="448440" y="1788062"/>
            <a:ext cx="4041775" cy="401238"/>
          </a:xfrm>
        </p:spPr>
        <p:txBody>
          <a:bodyPr/>
          <a:lstStyle/>
          <a:p>
            <a:r>
              <a:rPr lang="en-US" dirty="0"/>
              <a:t>Element 1 – trigger </a:t>
            </a:r>
          </a:p>
        </p:txBody>
      </p:sp>
      <p:sp>
        <p:nvSpPr>
          <p:cNvPr id="7" name="Content Placeholder 6">
            <a:extLst>
              <a:ext uri="{FF2B5EF4-FFF2-40B4-BE49-F238E27FC236}">
                <a16:creationId xmlns:a16="http://schemas.microsoft.com/office/drawing/2014/main" id="{7F4D6C7D-693E-A0E1-4FB7-D1CA2F828FC7}"/>
              </a:ext>
            </a:extLst>
          </p:cNvPr>
          <p:cNvSpPr>
            <a:spLocks noGrp="1"/>
          </p:cNvSpPr>
          <p:nvPr>
            <p:ph sz="half" idx="2"/>
          </p:nvPr>
        </p:nvSpPr>
        <p:spPr>
          <a:xfrm>
            <a:off x="457200" y="2173243"/>
            <a:ext cx="4040188" cy="4064070"/>
          </a:xfrm>
        </p:spPr>
        <p:txBody>
          <a:bodyPr>
            <a:normAutofit fontScale="92500" lnSpcReduction="20000"/>
          </a:bodyPr>
          <a:lstStyle/>
          <a:p>
            <a:pPr marL="0" indent="0">
              <a:buNone/>
            </a:pPr>
            <a:r>
              <a:rPr lang="en-GB" dirty="0"/>
              <a:t>Force used by D must be “reasonable in the circumstances” s76(1)(b), CJI Act 2008</a:t>
            </a:r>
          </a:p>
          <a:p>
            <a:r>
              <a:rPr lang="en-GB" dirty="0"/>
              <a:t>The circumstances as D believed them to be s76(3). </a:t>
            </a:r>
          </a:p>
          <a:p>
            <a:pPr lvl="1"/>
            <a:r>
              <a:rPr lang="en-GB" dirty="0"/>
              <a:t>Fatima might have believed Glen was going to cut more of her hair.</a:t>
            </a:r>
          </a:p>
          <a:p>
            <a:r>
              <a:rPr lang="en-GB" dirty="0"/>
              <a:t>Use of force sufficiently necessary.</a:t>
            </a:r>
          </a:p>
          <a:p>
            <a:pPr lvl="1"/>
            <a:r>
              <a:rPr lang="en-GB" dirty="0"/>
              <a:t>Question for the jury.</a:t>
            </a:r>
          </a:p>
          <a:p>
            <a:pPr lvl="2"/>
            <a:r>
              <a:rPr lang="en-GB" dirty="0"/>
              <a:t>Revenge?</a:t>
            </a:r>
          </a:p>
          <a:p>
            <a:endParaRPr lang="en-GB" dirty="0"/>
          </a:p>
          <a:p>
            <a:pPr lvl="1"/>
            <a:endParaRPr lang="en-GB" dirty="0"/>
          </a:p>
          <a:p>
            <a:endParaRPr lang="en-US" dirty="0"/>
          </a:p>
        </p:txBody>
      </p:sp>
      <p:sp>
        <p:nvSpPr>
          <p:cNvPr id="8" name="Text Placeholder 7">
            <a:extLst>
              <a:ext uri="{FF2B5EF4-FFF2-40B4-BE49-F238E27FC236}">
                <a16:creationId xmlns:a16="http://schemas.microsoft.com/office/drawing/2014/main" id="{C7DA278B-4794-D1CD-887F-5A0100E7208E}"/>
              </a:ext>
            </a:extLst>
          </p:cNvPr>
          <p:cNvSpPr>
            <a:spLocks noGrp="1"/>
          </p:cNvSpPr>
          <p:nvPr>
            <p:ph type="body" sz="quarter" idx="3"/>
          </p:nvPr>
        </p:nvSpPr>
        <p:spPr>
          <a:xfrm>
            <a:off x="4645025" y="1794668"/>
            <a:ext cx="4041775" cy="394632"/>
          </a:xfrm>
        </p:spPr>
        <p:txBody>
          <a:bodyPr/>
          <a:lstStyle/>
          <a:p>
            <a:r>
              <a:rPr lang="en-US" dirty="0"/>
              <a:t>Element 2 – response </a:t>
            </a:r>
          </a:p>
        </p:txBody>
      </p:sp>
      <p:sp>
        <p:nvSpPr>
          <p:cNvPr id="9" name="Content Placeholder 8">
            <a:extLst>
              <a:ext uri="{FF2B5EF4-FFF2-40B4-BE49-F238E27FC236}">
                <a16:creationId xmlns:a16="http://schemas.microsoft.com/office/drawing/2014/main" id="{FD55407A-928F-B879-622D-D7454D93A344}"/>
              </a:ext>
            </a:extLst>
          </p:cNvPr>
          <p:cNvSpPr>
            <a:spLocks noGrp="1"/>
          </p:cNvSpPr>
          <p:nvPr>
            <p:ph sz="quarter" idx="4"/>
          </p:nvPr>
        </p:nvSpPr>
        <p:spPr>
          <a:xfrm>
            <a:off x="4645025" y="2173242"/>
            <a:ext cx="4041775" cy="4496118"/>
          </a:xfrm>
        </p:spPr>
        <p:txBody>
          <a:bodyPr>
            <a:normAutofit fontScale="92500" lnSpcReduction="20000"/>
          </a:bodyPr>
          <a:lstStyle/>
          <a:p>
            <a:r>
              <a:rPr lang="en-US" dirty="0"/>
              <a:t>Reasonableness of the level force used</a:t>
            </a:r>
          </a:p>
          <a:p>
            <a:pPr lvl="1"/>
            <a:r>
              <a:rPr lang="en-GB" dirty="0"/>
              <a:t>Question for the jury</a:t>
            </a:r>
          </a:p>
          <a:p>
            <a:pPr lvl="1"/>
            <a:r>
              <a:rPr lang="en-GB" dirty="0"/>
              <a:t>Force not consequences (</a:t>
            </a:r>
            <a:r>
              <a:rPr lang="en-GB" i="1" dirty="0"/>
              <a:t>Keane</a:t>
            </a:r>
            <a:r>
              <a:rPr lang="en-GB" dirty="0"/>
              <a:t>; </a:t>
            </a:r>
            <a:r>
              <a:rPr lang="en-GB" i="1" dirty="0" err="1"/>
              <a:t>Noye</a:t>
            </a:r>
            <a:r>
              <a:rPr lang="en-GB" dirty="0"/>
              <a:t>).</a:t>
            </a:r>
          </a:p>
          <a:p>
            <a:pPr lvl="2"/>
            <a:r>
              <a:rPr lang="en-GB" dirty="0"/>
              <a:t>She stabs him!</a:t>
            </a:r>
          </a:p>
          <a:p>
            <a:pPr marL="0" indent="0">
              <a:buNone/>
            </a:pPr>
            <a:endParaRPr lang="en-GB" dirty="0"/>
          </a:p>
          <a:p>
            <a:pPr marL="0" indent="0">
              <a:buNone/>
            </a:pPr>
            <a:r>
              <a:rPr lang="en-GB" dirty="0"/>
              <a:t>No – might fail on the first element, certainly fails on the second element!</a:t>
            </a:r>
          </a:p>
        </p:txBody>
      </p:sp>
      <p:sp>
        <p:nvSpPr>
          <p:cNvPr id="10" name="Content Placeholder 2">
            <a:extLst>
              <a:ext uri="{FF2B5EF4-FFF2-40B4-BE49-F238E27FC236}">
                <a16:creationId xmlns:a16="http://schemas.microsoft.com/office/drawing/2014/main" id="{4C75ACA8-4030-9D5A-736C-FE535F05F759}"/>
              </a:ext>
            </a:extLst>
          </p:cNvPr>
          <p:cNvSpPr txBox="1">
            <a:spLocks/>
          </p:cNvSpPr>
          <p:nvPr/>
        </p:nvSpPr>
        <p:spPr bwMode="auto">
          <a:xfrm>
            <a:off x="433629" y="1029868"/>
            <a:ext cx="8229600" cy="6637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 typeface="Arial" panose="020B0604020202020204" pitchFamily="34" charset="0"/>
              <a:buNone/>
              <a:defRPr sz="2400" b="1">
                <a:solidFill>
                  <a:schemeClr val="tx1"/>
                </a:solidFill>
                <a:latin typeface="Arial" panose="020B0604020202020204" pitchFamily="34" charset="0"/>
                <a:ea typeface="+mn-ea"/>
                <a:cs typeface="Arial" panose="020B0604020202020204" pitchFamily="34" charset="0"/>
              </a:defRPr>
            </a:lvl1pPr>
            <a:lvl2pPr marL="457200" indent="0" algn="l" rtl="0" eaLnBrk="1" fontAlgn="base" hangingPunct="1">
              <a:spcBef>
                <a:spcPct val="20000"/>
              </a:spcBef>
              <a:spcAft>
                <a:spcPct val="0"/>
              </a:spcAft>
              <a:buFont typeface="Arial" panose="020B0604020202020204" pitchFamily="34" charset="0"/>
              <a:buNone/>
              <a:defRPr sz="2000" b="1">
                <a:solidFill>
                  <a:schemeClr val="tx1"/>
                </a:solidFill>
                <a:latin typeface="Arial" panose="020B0604020202020204" pitchFamily="34" charset="0"/>
                <a:cs typeface="Arial" panose="020B0604020202020204" pitchFamily="34" charset="0"/>
              </a:defRPr>
            </a:lvl2pPr>
            <a:lvl3pPr marL="914400" indent="0" algn="l" rtl="0" eaLnBrk="1" fontAlgn="base" hangingPunct="1">
              <a:spcBef>
                <a:spcPct val="20000"/>
              </a:spcBef>
              <a:spcAft>
                <a:spcPct val="0"/>
              </a:spcAft>
              <a:buNone/>
              <a:defRPr sz="1800" b="1">
                <a:solidFill>
                  <a:schemeClr val="tx1"/>
                </a:solidFill>
                <a:latin typeface="Arial" panose="020B0604020202020204" pitchFamily="34" charset="0"/>
                <a:cs typeface="Arial" panose="020B0604020202020204" pitchFamily="34" charset="0"/>
              </a:defRPr>
            </a:lvl3pPr>
            <a:lvl4pPr marL="13716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4pPr>
            <a:lvl5pPr marL="1828800" indent="0" algn="l" rtl="0" eaLnBrk="1" fontAlgn="base" hangingPunct="1">
              <a:spcBef>
                <a:spcPct val="20000"/>
              </a:spcBef>
              <a:spcAft>
                <a:spcPct val="0"/>
              </a:spcAft>
              <a:buFont typeface="Arial" panose="020B0604020202020204" pitchFamily="34" charset="0"/>
              <a:buNone/>
              <a:defRPr sz="1600" b="1">
                <a:solidFill>
                  <a:schemeClr val="tx1"/>
                </a:solidFill>
                <a:latin typeface="Arial" panose="020B0604020202020204" pitchFamily="34" charset="0"/>
                <a:cs typeface="Arial" panose="020B0604020202020204" pitchFamily="34" charset="0"/>
              </a:defRPr>
            </a:lvl5pPr>
            <a:lvl6pPr marL="2286000" indent="0" algn="l" rtl="0" eaLnBrk="1" fontAlgn="base" hangingPunct="1">
              <a:spcBef>
                <a:spcPct val="20000"/>
              </a:spcBef>
              <a:spcAft>
                <a:spcPct val="0"/>
              </a:spcAft>
              <a:buNone/>
              <a:defRPr sz="1600" b="1">
                <a:solidFill>
                  <a:schemeClr val="tx1"/>
                </a:solidFill>
                <a:latin typeface="+mn-lt"/>
              </a:defRPr>
            </a:lvl6pPr>
            <a:lvl7pPr marL="2743200" indent="0" algn="l" rtl="0" eaLnBrk="1" fontAlgn="base" hangingPunct="1">
              <a:spcBef>
                <a:spcPct val="20000"/>
              </a:spcBef>
              <a:spcAft>
                <a:spcPct val="0"/>
              </a:spcAft>
              <a:buNone/>
              <a:defRPr sz="1600" b="1">
                <a:solidFill>
                  <a:schemeClr val="tx1"/>
                </a:solidFill>
                <a:latin typeface="+mn-lt"/>
              </a:defRPr>
            </a:lvl7pPr>
            <a:lvl8pPr marL="3200400" indent="0" algn="l" rtl="0" eaLnBrk="1" fontAlgn="base" hangingPunct="1">
              <a:spcBef>
                <a:spcPct val="20000"/>
              </a:spcBef>
              <a:spcAft>
                <a:spcPct val="0"/>
              </a:spcAft>
              <a:buNone/>
              <a:defRPr sz="1600" b="1">
                <a:solidFill>
                  <a:schemeClr val="tx1"/>
                </a:solidFill>
                <a:latin typeface="+mn-lt"/>
              </a:defRPr>
            </a:lvl8pPr>
            <a:lvl9pPr marL="3657600" indent="0" algn="l" rtl="0" eaLnBrk="1" fontAlgn="base" hangingPunct="1">
              <a:spcBef>
                <a:spcPct val="20000"/>
              </a:spcBef>
              <a:spcAft>
                <a:spcPct val="0"/>
              </a:spcAft>
              <a:buNone/>
              <a:defRPr sz="1600" b="1">
                <a:solidFill>
                  <a:schemeClr val="tx1"/>
                </a:solidFill>
                <a:latin typeface="+mn-lt"/>
              </a:defRPr>
            </a:lvl9pPr>
          </a:lstStyle>
          <a:p>
            <a:pPr marL="342900" indent="-342900">
              <a:buFont typeface="Arial" panose="020B0604020202020204" pitchFamily="34" charset="0"/>
              <a:buChar char="•"/>
            </a:pPr>
            <a:r>
              <a:rPr lang="en-US" sz="1800" b="0" dirty="0"/>
              <a:t>Criminal Law Act 1967, s3</a:t>
            </a:r>
          </a:p>
          <a:p>
            <a:pPr marL="342900" indent="-342900">
              <a:buFont typeface="Arial" panose="020B0604020202020204" pitchFamily="34" charset="0"/>
              <a:buChar char="•"/>
            </a:pPr>
            <a:r>
              <a:rPr lang="en-US" sz="1800" b="0" dirty="0"/>
              <a:t>Criminal Justice and Immigration 2008, s76</a:t>
            </a:r>
          </a:p>
        </p:txBody>
      </p:sp>
    </p:spTree>
    <p:extLst>
      <p:ext uri="{BB962C8B-B14F-4D97-AF65-F5344CB8AC3E}">
        <p14:creationId xmlns:p14="http://schemas.microsoft.com/office/powerpoint/2010/main" val="2867136094"/>
      </p:ext>
    </p:extLst>
  </p:cSld>
  <p:clrMapOvr>
    <a:masterClrMapping/>
  </p:clrMapOvr>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5F8B4C-147A-4F10-A604-CF7CB0E65684}">
  <ds:schemaRefs>
    <ds:schemaRef ds:uri="http://schemas.microsoft.com/sharepoint/v3/contenttype/forms"/>
  </ds:schemaRefs>
</ds:datastoreItem>
</file>

<file path=customXml/itemProps2.xml><?xml version="1.0" encoding="utf-8"?>
<ds:datastoreItem xmlns:ds="http://schemas.openxmlformats.org/officeDocument/2006/customXml" ds:itemID="{5B33CD66-9FD2-4291-8962-CDF8A6F5D69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2337418-317A-477C-9C4F-4BA34B1524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Lecture 1</Template>
  <TotalTime>3240</TotalTime>
  <Words>3372</Words>
  <Application>Microsoft Office PowerPoint</Application>
  <PresentationFormat>On-screen Show (4:3)</PresentationFormat>
  <Paragraphs>293</Paragraphs>
  <Slides>45</Slides>
  <Notes>17</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Lecture 1</vt:lpstr>
      <vt:lpstr>Self-Defence and Defence of Property  Week 15</vt:lpstr>
      <vt:lpstr>By the end of this lecture you should be able to:</vt:lpstr>
      <vt:lpstr>“Public and Private defences”</vt:lpstr>
      <vt:lpstr>The right to bodily autonomy</vt:lpstr>
      <vt:lpstr>Self-Defence and Prevention of a Crime </vt:lpstr>
      <vt:lpstr>Similar but not the same</vt:lpstr>
      <vt:lpstr>Statute</vt:lpstr>
      <vt:lpstr>Structure</vt:lpstr>
      <vt:lpstr>PowerPoint Presentation</vt:lpstr>
      <vt:lpstr>Exclusions - offences</vt:lpstr>
      <vt:lpstr>Prior-fault exclusions</vt:lpstr>
      <vt:lpstr>PowerPoint Presentation</vt:lpstr>
      <vt:lpstr>“Reasonable in the circumstances” </vt:lpstr>
      <vt:lpstr>Was force necessary?</vt:lpstr>
      <vt:lpstr>The test:</vt:lpstr>
      <vt:lpstr>Test 1: D’s belief</vt:lpstr>
      <vt:lpstr>D’s duty to retreat?</vt:lpstr>
      <vt:lpstr>Pre-emptive force</vt:lpstr>
      <vt:lpstr>Force against innocent parties</vt:lpstr>
      <vt:lpstr>Test 2: force was sufficiently necessary </vt:lpstr>
      <vt:lpstr>PowerPoint Presentation</vt:lpstr>
      <vt:lpstr>Reasonableness</vt:lpstr>
      <vt:lpstr>Force not consequence</vt:lpstr>
      <vt:lpstr>Considering reasonableness</vt:lpstr>
      <vt:lpstr>PowerPoint Presentation</vt:lpstr>
      <vt:lpstr>Different approach to certain Ds</vt:lpstr>
      <vt:lpstr>Different approach to certain Ds (cont.)</vt:lpstr>
      <vt:lpstr>Defence of Property</vt:lpstr>
      <vt:lpstr>“Castle and Fortress”</vt:lpstr>
      <vt:lpstr>Very similar to other defences</vt:lpstr>
      <vt:lpstr>Forceful ejection of non-forceful trespasser</vt:lpstr>
      <vt:lpstr>Special category</vt:lpstr>
      <vt:lpstr>Special category (cont).</vt:lpstr>
      <vt:lpstr>V the trespasser</vt:lpstr>
      <vt:lpstr>Reasonableness of force by a householder</vt:lpstr>
      <vt:lpstr>Collins</vt:lpstr>
      <vt:lpstr>Collins (cont.)</vt:lpstr>
      <vt:lpstr>Reasonable force</vt:lpstr>
      <vt:lpstr>Ray [2017] EWCA Crim 1391 </vt:lpstr>
      <vt:lpstr>PowerPoint Presentation</vt:lpstr>
      <vt:lpstr>Fatima - battery</vt:lpstr>
      <vt:lpstr>Fatima – self-defence and prevention of a crime</vt:lpstr>
      <vt:lpstr>PowerPoint Presentation</vt:lpstr>
      <vt:lpstr>Fatima – GBH</vt:lpstr>
      <vt:lpstr>Fatima – self-defence and prevention of a crime</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Fatal  Offences Against the Person</dc:title>
  <dc:creator>Jonathan Doak</dc:creator>
  <cp:lastModifiedBy>MILNE, EMMA</cp:lastModifiedBy>
  <cp:revision>103</cp:revision>
  <dcterms:created xsi:type="dcterms:W3CDTF">2012-10-25T14:10:47Z</dcterms:created>
  <dcterms:modified xsi:type="dcterms:W3CDTF">2025-01-21T12:52:26Z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