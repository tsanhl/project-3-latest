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4"/>
    <p:sldMasterId id="2147483648" r:id="rId5"/>
  </p:sldMasterIdLst>
  <p:notesMasterIdLst>
    <p:notesMasterId r:id="rId23"/>
  </p:notesMasterIdLst>
  <p:sldIdLst>
    <p:sldId id="257" r:id="rId6"/>
    <p:sldId id="274" r:id="rId7"/>
    <p:sldId id="258" r:id="rId8"/>
    <p:sldId id="259" r:id="rId9"/>
    <p:sldId id="260" r:id="rId10"/>
    <p:sldId id="261" r:id="rId11"/>
    <p:sldId id="262" r:id="rId12"/>
    <p:sldId id="263" r:id="rId13"/>
    <p:sldId id="264" r:id="rId14"/>
    <p:sldId id="265" r:id="rId15"/>
    <p:sldId id="266" r:id="rId16"/>
    <p:sldId id="267" r:id="rId17"/>
    <p:sldId id="269" r:id="rId18"/>
    <p:sldId id="270" r:id="rId19"/>
    <p:sldId id="275" r:id="rId20"/>
    <p:sldId id="271"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6BB0CA-3216-BC48-9B22-8F0C75A4A635}" v="12" dt="2025-02-19T10:40:23.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60" autoAdjust="0"/>
    <p:restoredTop sz="95304" autoAdjust="0"/>
  </p:normalViewPr>
  <p:slideViewPr>
    <p:cSldViewPr snapToGrid="0">
      <p:cViewPr varScale="1">
        <p:scale>
          <a:sx n="72" d="100"/>
          <a:sy n="72" d="100"/>
        </p:scale>
        <p:origin x="216" y="9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C8AD27-FCD6-42CB-BF10-AF9F18678C09}" type="datetimeFigureOut">
              <a:rPr lang="en-GB" smtClean="0"/>
              <a:t>19/02/2025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C6CEE-2CCB-4339-9736-67D3C7F1E5BA}" type="slidenum">
              <a:rPr lang="en-GB" smtClean="0"/>
              <a:t>‹#›</a:t>
            </a:fld>
            <a:endParaRPr lang="en-GB"/>
          </a:p>
        </p:txBody>
      </p:sp>
    </p:spTree>
    <p:extLst>
      <p:ext uri="{BB962C8B-B14F-4D97-AF65-F5344CB8AC3E}">
        <p14:creationId xmlns:p14="http://schemas.microsoft.com/office/powerpoint/2010/main" val="303603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66C73BC-36B0-42E2-AC94-D34EE9196ECF}" type="slidenum">
              <a:rPr lang="en-GB" altLang="en-US" sz="1200" smtClean="0">
                <a:solidFill>
                  <a:srgbClr val="000000"/>
                </a:solidFill>
              </a:rPr>
              <a:pPr/>
              <a:t>1</a:t>
            </a:fld>
            <a:endParaRPr lang="en-GB" altLang="en-US" sz="1200">
              <a:solidFill>
                <a:srgbClr val="000000"/>
              </a:solidFill>
            </a:endParaRPr>
          </a:p>
        </p:txBody>
      </p:sp>
      <p:sp>
        <p:nvSpPr>
          <p:cNvPr id="8195" name="Rectangle 2"/>
          <p:cNvSpPr>
            <a:spLocks noGrp="1" noRot="1" noChangeAspect="1" noChangeArrowheads="1" noTextEdit="1"/>
          </p:cNvSpPr>
          <p:nvPr>
            <p:ph type="sldImg"/>
          </p:nvPr>
        </p:nvSpPr>
        <p:spPr>
          <a:xfrm>
            <a:off x="90488" y="744538"/>
            <a:ext cx="6616700" cy="3722687"/>
          </a:xfrm>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1C77DB36-FD0D-48C1-A012-6A01241BC482}" type="slidenum">
              <a:rPr lang="en-GB" altLang="en-US" smtClean="0"/>
              <a:pPr>
                <a:defRPr/>
              </a:pPr>
              <a:t>3</a:t>
            </a:fld>
            <a:endParaRPr lang="en-GB" altLang="en-US"/>
          </a:p>
        </p:txBody>
      </p:sp>
    </p:spTree>
    <p:extLst>
      <p:ext uri="{BB962C8B-B14F-4D97-AF65-F5344CB8AC3E}">
        <p14:creationId xmlns:p14="http://schemas.microsoft.com/office/powerpoint/2010/main" val="3763742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4</a:t>
            </a:fld>
            <a:endParaRPr lang="en-GB"/>
          </a:p>
        </p:txBody>
      </p:sp>
    </p:spTree>
    <p:extLst>
      <p:ext uri="{BB962C8B-B14F-4D97-AF65-F5344CB8AC3E}">
        <p14:creationId xmlns:p14="http://schemas.microsoft.com/office/powerpoint/2010/main" val="2897509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5</a:t>
            </a:fld>
            <a:endParaRPr lang="en-GB"/>
          </a:p>
        </p:txBody>
      </p:sp>
    </p:spTree>
    <p:extLst>
      <p:ext uri="{BB962C8B-B14F-4D97-AF65-F5344CB8AC3E}">
        <p14:creationId xmlns:p14="http://schemas.microsoft.com/office/powerpoint/2010/main" val="3218231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6</a:t>
            </a:fld>
            <a:endParaRPr lang="en-GB"/>
          </a:p>
        </p:txBody>
      </p:sp>
    </p:spTree>
    <p:extLst>
      <p:ext uri="{BB962C8B-B14F-4D97-AF65-F5344CB8AC3E}">
        <p14:creationId xmlns:p14="http://schemas.microsoft.com/office/powerpoint/2010/main" val="1213899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i="0" dirty="0">
              <a:solidFill>
                <a:srgbClr val="2A2A2A"/>
              </a:solidFill>
              <a:effectLst/>
              <a:latin typeface="Merriweather" panose="00000500000000000000" pitchFamily="2" charset="0"/>
            </a:endParaRPr>
          </a:p>
        </p:txBody>
      </p:sp>
      <p:sp>
        <p:nvSpPr>
          <p:cNvPr id="4" name="Slide Number Placeholder 3"/>
          <p:cNvSpPr>
            <a:spLocks noGrp="1"/>
          </p:cNvSpPr>
          <p:nvPr>
            <p:ph type="sldNum" sz="quarter" idx="5"/>
          </p:nvPr>
        </p:nvSpPr>
        <p:spPr/>
        <p:txBody>
          <a:bodyPr/>
          <a:lstStyle/>
          <a:p>
            <a:fld id="{BFEC6CEE-2CCB-4339-9736-67D3C7F1E5BA}" type="slidenum">
              <a:rPr lang="en-GB" smtClean="0"/>
              <a:t>8</a:t>
            </a:fld>
            <a:endParaRPr lang="en-GB"/>
          </a:p>
        </p:txBody>
      </p:sp>
    </p:spTree>
    <p:extLst>
      <p:ext uri="{BB962C8B-B14F-4D97-AF65-F5344CB8AC3E}">
        <p14:creationId xmlns:p14="http://schemas.microsoft.com/office/powerpoint/2010/main" val="4110363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9</a:t>
            </a:fld>
            <a:endParaRPr lang="en-GB"/>
          </a:p>
        </p:txBody>
      </p:sp>
    </p:spTree>
    <p:extLst>
      <p:ext uri="{BB962C8B-B14F-4D97-AF65-F5344CB8AC3E}">
        <p14:creationId xmlns:p14="http://schemas.microsoft.com/office/powerpoint/2010/main" val="1249260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10</a:t>
            </a:fld>
            <a:endParaRPr lang="en-GB"/>
          </a:p>
        </p:txBody>
      </p:sp>
    </p:spTree>
    <p:extLst>
      <p:ext uri="{BB962C8B-B14F-4D97-AF65-F5344CB8AC3E}">
        <p14:creationId xmlns:p14="http://schemas.microsoft.com/office/powerpoint/2010/main" val="2542395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11</a:t>
            </a:fld>
            <a:endParaRPr lang="en-GB"/>
          </a:p>
        </p:txBody>
      </p:sp>
    </p:spTree>
    <p:extLst>
      <p:ext uri="{BB962C8B-B14F-4D97-AF65-F5344CB8AC3E}">
        <p14:creationId xmlns:p14="http://schemas.microsoft.com/office/powerpoint/2010/main" val="1920801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12</a:t>
            </a:fld>
            <a:endParaRPr lang="en-GB"/>
          </a:p>
        </p:txBody>
      </p:sp>
    </p:spTree>
    <p:extLst>
      <p:ext uri="{BB962C8B-B14F-4D97-AF65-F5344CB8AC3E}">
        <p14:creationId xmlns:p14="http://schemas.microsoft.com/office/powerpoint/2010/main" val="2517748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13</a:t>
            </a:fld>
            <a:endParaRPr lang="en-GB"/>
          </a:p>
        </p:txBody>
      </p:sp>
    </p:spTree>
    <p:extLst>
      <p:ext uri="{BB962C8B-B14F-4D97-AF65-F5344CB8AC3E}">
        <p14:creationId xmlns:p14="http://schemas.microsoft.com/office/powerpoint/2010/main" val="2791105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14</a:t>
            </a:fld>
            <a:endParaRPr lang="en-GB"/>
          </a:p>
        </p:txBody>
      </p:sp>
    </p:spTree>
    <p:extLst>
      <p:ext uri="{BB962C8B-B14F-4D97-AF65-F5344CB8AC3E}">
        <p14:creationId xmlns:p14="http://schemas.microsoft.com/office/powerpoint/2010/main" val="3269681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16</a:t>
            </a:fld>
            <a:endParaRPr lang="en-GB"/>
          </a:p>
        </p:txBody>
      </p:sp>
    </p:spTree>
    <p:extLst>
      <p:ext uri="{BB962C8B-B14F-4D97-AF65-F5344CB8AC3E}">
        <p14:creationId xmlns:p14="http://schemas.microsoft.com/office/powerpoint/2010/main" val="2954525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EC6CEE-2CCB-4339-9736-67D3C7F1E5BA}" type="slidenum">
              <a:rPr lang="en-GB" smtClean="0"/>
              <a:t>17</a:t>
            </a:fld>
            <a:endParaRPr lang="en-GB"/>
          </a:p>
        </p:txBody>
      </p:sp>
    </p:spTree>
    <p:extLst>
      <p:ext uri="{BB962C8B-B14F-4D97-AF65-F5344CB8AC3E}">
        <p14:creationId xmlns:p14="http://schemas.microsoft.com/office/powerpoint/2010/main" val="2383519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1"/>
            <a:ext cx="12192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sz="2400">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5600" y="5843588"/>
            <a:ext cx="25908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1007533" y="476251"/>
            <a:ext cx="10363200" cy="1470025"/>
          </a:xfrm>
        </p:spPr>
        <p:txBody>
          <a:bodyPr/>
          <a:lstStyle>
            <a:lvl1pPr>
              <a:defRPr>
                <a:solidFill>
                  <a:schemeClr val="bg1"/>
                </a:solidFill>
              </a:defRPr>
            </a:lvl1pPr>
          </a:lstStyle>
          <a:p>
            <a:r>
              <a:rPr lang="en-US"/>
              <a:t>Click to edit Master title style</a:t>
            </a:r>
            <a:endParaRPr lang="en-GB"/>
          </a:p>
        </p:txBody>
      </p:sp>
      <p:sp>
        <p:nvSpPr>
          <p:cNvPr id="8204" name="Rectangle 12"/>
          <p:cNvSpPr>
            <a:spLocks noGrp="1" noChangeArrowheads="1"/>
          </p:cNvSpPr>
          <p:nvPr>
            <p:ph type="subTitle" sz="quarter" idx="1"/>
          </p:nvPr>
        </p:nvSpPr>
        <p:spPr>
          <a:xfrm>
            <a:off x="1102784" y="2420938"/>
            <a:ext cx="10081683" cy="1752600"/>
          </a:xfrm>
        </p:spPr>
        <p:txBody>
          <a:bodyPr/>
          <a:lstStyle>
            <a:lvl1pPr marL="0" indent="0">
              <a:defRPr b="1">
                <a:solidFill>
                  <a:schemeClr val="bg1"/>
                </a:solidFill>
              </a:defRPr>
            </a:lvl1pPr>
          </a:lstStyle>
          <a:p>
            <a:r>
              <a:rPr lang="en-US"/>
              <a:t>Click to edit Master subtitle style</a:t>
            </a:r>
            <a:endParaRPr lang="en-GB"/>
          </a:p>
        </p:txBody>
      </p:sp>
      <p:sp>
        <p:nvSpPr>
          <p:cNvPr id="6" name="Rectangle 6"/>
          <p:cNvSpPr>
            <a:spLocks noGrp="1" noChangeArrowheads="1"/>
          </p:cNvSpPr>
          <p:nvPr>
            <p:ph type="sldNum" sz="quarter" idx="10"/>
          </p:nvPr>
        </p:nvSpPr>
        <p:spPr>
          <a:xfrm>
            <a:off x="8737600" y="6245225"/>
            <a:ext cx="2844800" cy="476250"/>
          </a:xfrm>
        </p:spPr>
        <p:txBody>
          <a:bodyPr/>
          <a:lstStyle>
            <a:lvl1pPr>
              <a:defRPr/>
            </a:lvl1pPr>
          </a:lstStyle>
          <a:p>
            <a:pPr>
              <a:defRPr/>
            </a:pPr>
            <a:fld id="{1F277032-A232-4923-8C51-35BF8EC116C5}" type="slidenum">
              <a:rPr lang="en-GB"/>
              <a:pPr>
                <a:defRPr/>
              </a:pPr>
              <a:t>‹#›</a:t>
            </a:fld>
            <a:endParaRPr lang="en-GB"/>
          </a:p>
        </p:txBody>
      </p:sp>
    </p:spTree>
    <p:extLst>
      <p:ext uri="{BB962C8B-B14F-4D97-AF65-F5344CB8AC3E}">
        <p14:creationId xmlns:p14="http://schemas.microsoft.com/office/powerpoint/2010/main" val="255705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373052-BFBF-46FC-93B6-1CF00E3EE40D}" type="slidenum">
              <a:rPr lang="en-GB" altLang="en-US"/>
              <a:pPr>
                <a:defRPr/>
              </a:pPr>
              <a:t>‹#›</a:t>
            </a:fld>
            <a:endParaRPr lang="en-GB" altLang="en-US"/>
          </a:p>
        </p:txBody>
      </p:sp>
    </p:spTree>
    <p:extLst>
      <p:ext uri="{BB962C8B-B14F-4D97-AF65-F5344CB8AC3E}">
        <p14:creationId xmlns:p14="http://schemas.microsoft.com/office/powerpoint/2010/main" val="24745092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7"/>
          <p:cNvSpPr>
            <a:spLocks noChangeArrowheads="1"/>
          </p:cNvSpPr>
          <p:nvPr/>
        </p:nvSpPr>
        <p:spPr bwMode="auto">
          <a:xfrm>
            <a:off x="1" y="1"/>
            <a:ext cx="12187767"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sz="2400">
                <a:solidFill>
                  <a:srgbClr val="663366"/>
                </a:solidFill>
              </a:rPr>
              <a:t>∂</a:t>
            </a:r>
          </a:p>
        </p:txBody>
      </p:sp>
      <p:sp>
        <p:nvSpPr>
          <p:cNvPr id="2051" name="Rectangle 8"/>
          <p:cNvSpPr>
            <a:spLocks noChangeArrowheads="1"/>
          </p:cNvSpPr>
          <p:nvPr/>
        </p:nvSpPr>
        <p:spPr bwMode="auto">
          <a:xfrm>
            <a:off x="143934" y="107951"/>
            <a:ext cx="11899900"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sz="2400">
              <a:solidFill>
                <a:srgbClr val="663366"/>
              </a:solidFill>
            </a:endParaRPr>
          </a:p>
        </p:txBody>
      </p:sp>
      <p:sp>
        <p:nvSpPr>
          <p:cNvPr id="2052"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2053" name="Rectangle 3"/>
          <p:cNvSpPr>
            <a:spLocks noGrp="1" noChangeArrowheads="1"/>
          </p:cNvSpPr>
          <p:nvPr>
            <p:ph type="body" idx="1"/>
          </p:nvPr>
        </p:nvSpPr>
        <p:spPr bwMode="auto">
          <a:xfrm>
            <a:off x="912284" y="1989138"/>
            <a:ext cx="103632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0F32BBF1-A42C-44B4-8BF3-28F0784A9867}" type="slidenum">
              <a:rPr lang="en-GB"/>
              <a:pPr>
                <a:defRPr/>
              </a:pPr>
              <a:t>‹#›</a:t>
            </a:fld>
            <a:endParaRPr lang="en-GB"/>
          </a:p>
        </p:txBody>
      </p:sp>
      <p:sp>
        <p:nvSpPr>
          <p:cNvPr id="2057" name="Rectangle 9"/>
          <p:cNvSpPr>
            <a:spLocks noChangeArrowheads="1"/>
          </p:cNvSpPr>
          <p:nvPr/>
        </p:nvSpPr>
        <p:spPr bwMode="auto">
          <a:xfrm>
            <a:off x="1054100" y="611188"/>
            <a:ext cx="1069975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2058" name="Rectangle 10"/>
          <p:cNvSpPr>
            <a:spLocks noChangeArrowheads="1"/>
          </p:cNvSpPr>
          <p:nvPr/>
        </p:nvSpPr>
        <p:spPr bwMode="auto">
          <a:xfrm>
            <a:off x="1054100" y="1798638"/>
            <a:ext cx="10699751"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205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00" y="5843588"/>
            <a:ext cx="25908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1" r:id="rId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1" y="1"/>
            <a:ext cx="12187767" cy="6873875"/>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sz="2400">
                <a:solidFill>
                  <a:srgbClr val="663366"/>
                </a:solidFill>
              </a:rPr>
              <a:t>∂</a:t>
            </a:r>
          </a:p>
        </p:txBody>
      </p:sp>
      <p:sp>
        <p:nvSpPr>
          <p:cNvPr id="1027" name="Rectangle 8"/>
          <p:cNvSpPr>
            <a:spLocks noChangeArrowheads="1"/>
          </p:cNvSpPr>
          <p:nvPr userDrawn="1"/>
        </p:nvSpPr>
        <p:spPr bwMode="auto">
          <a:xfrm>
            <a:off x="143934" y="107951"/>
            <a:ext cx="11899900" cy="6657975"/>
          </a:xfrm>
          <a:prstGeom prst="rect">
            <a:avLst/>
          </a:prstGeom>
          <a:solidFill>
            <a:schemeClr val="bg1"/>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sz="2400">
              <a:solidFill>
                <a:srgbClr val="663366"/>
              </a:solidFill>
            </a:endParaRPr>
          </a:p>
        </p:txBody>
      </p:sp>
      <p:sp>
        <p:nvSpPr>
          <p:cNvPr id="1028"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912284" y="1989138"/>
            <a:ext cx="103632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91A1708-3092-4697-8453-7594478CD250}" type="slidenum">
              <a:rPr lang="en-GB" altLang="en-US"/>
              <a:pPr>
                <a:defRPr/>
              </a:pPr>
              <a:t>‹#›</a:t>
            </a:fld>
            <a:endParaRPr lang="en-GB" altLang="en-US"/>
          </a:p>
        </p:txBody>
      </p:sp>
      <p:sp>
        <p:nvSpPr>
          <p:cNvPr id="1033" name="Rectangle 9"/>
          <p:cNvSpPr>
            <a:spLocks noChangeArrowheads="1"/>
          </p:cNvSpPr>
          <p:nvPr userDrawn="1"/>
        </p:nvSpPr>
        <p:spPr bwMode="auto">
          <a:xfrm>
            <a:off x="1054100" y="611188"/>
            <a:ext cx="10699751" cy="1143000"/>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1054100" y="1798638"/>
            <a:ext cx="10699751" cy="3813175"/>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103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5600" y="5843588"/>
            <a:ext cx="25908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30" r:id="rId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ctrTitle"/>
          </p:nvPr>
        </p:nvSpPr>
        <p:spPr>
          <a:xfrm>
            <a:off x="2212032" y="2060849"/>
            <a:ext cx="7772400" cy="1470025"/>
          </a:xfrm>
        </p:spPr>
        <p:txBody>
          <a:bodyPr/>
          <a:lstStyle/>
          <a:p>
            <a:pPr eaLnBrk="1" hangingPunct="1"/>
            <a:r>
              <a:rPr lang="de-DE" altLang="en-US" dirty="0">
                <a:latin typeface="Arial" panose="020B0604020202020204" pitchFamily="34" charset="0"/>
                <a:cs typeface="Arial" panose="020B0604020202020204" pitchFamily="34" charset="0"/>
              </a:rPr>
              <a:t>Criminal Law, Lecture 17:</a:t>
            </a:r>
            <a:br>
              <a:rPr lang="de-DE" altLang="en-US" dirty="0">
                <a:latin typeface="Arial" panose="020B0604020202020204" pitchFamily="34" charset="0"/>
                <a:cs typeface="Arial" panose="020B0604020202020204" pitchFamily="34" charset="0"/>
              </a:rPr>
            </a:br>
            <a:r>
              <a:rPr lang="de-DE" altLang="en-US" dirty="0">
                <a:latin typeface="Arial" panose="020B0604020202020204" pitchFamily="34" charset="0"/>
                <a:cs typeface="Arial" panose="020B0604020202020204" pitchFamily="34" charset="0"/>
              </a:rPr>
              <a:t>Insanity</a:t>
            </a:r>
            <a:br>
              <a:rPr lang="de-DE" altLang="en-US" dirty="0">
                <a:latin typeface="Calibri" panose="020F0502020204030204" pitchFamily="34" charset="0"/>
                <a:cs typeface="Calibri" panose="020F0502020204030204" pitchFamily="34" charset="0"/>
              </a:rPr>
            </a:br>
            <a:endParaRPr lang="en-US" altLang="en-US" dirty="0">
              <a:latin typeface="Calibri" panose="020F0502020204030204" pitchFamily="34" charset="0"/>
              <a:cs typeface="Calibri" panose="020F0502020204030204" pitchFamily="34" charset="0"/>
            </a:endParaRPr>
          </a:p>
        </p:txBody>
      </p:sp>
      <p:sp>
        <p:nvSpPr>
          <p:cNvPr id="7171" name="Rectangle 5"/>
          <p:cNvSpPr>
            <a:spLocks noGrp="1" noChangeArrowheads="1"/>
          </p:cNvSpPr>
          <p:nvPr>
            <p:ph type="subTitle" idx="1"/>
          </p:nvPr>
        </p:nvSpPr>
        <p:spPr>
          <a:xfrm>
            <a:off x="2288181" y="3502026"/>
            <a:ext cx="7993063" cy="2879725"/>
          </a:xfrm>
        </p:spPr>
        <p:txBody>
          <a:bodyPr/>
          <a:lstStyle/>
          <a:p>
            <a:pPr algn="r" eaLnBrk="1" hangingPunct="1"/>
            <a:endParaRPr lang="en-GB" altLang="en-US" sz="2400" b="0" dirty="0">
              <a:latin typeface="Calibri" panose="020F0502020204030204" pitchFamily="34" charset="0"/>
              <a:cs typeface="Calibri" panose="020F0502020204030204" pitchFamily="34" charset="0"/>
            </a:endParaRPr>
          </a:p>
          <a:p>
            <a:pPr algn="r" eaLnBrk="1" hangingPunct="1"/>
            <a:r>
              <a:rPr lang="en-GB" altLang="en-US" sz="2400" b="0" dirty="0">
                <a:latin typeface="Arial" panose="020B0604020202020204" pitchFamily="34" charset="0"/>
                <a:cs typeface="Arial" panose="020B0604020202020204" pitchFamily="34" charset="0"/>
              </a:rPr>
              <a:t>Dr Kat Langley</a:t>
            </a:r>
          </a:p>
          <a:p>
            <a:pPr algn="r" eaLnBrk="1" hangingPunct="1"/>
            <a:r>
              <a:rPr lang="en-GB" altLang="en-US" sz="2400" b="0" dirty="0" err="1">
                <a:latin typeface="Arial" panose="020B0604020202020204" pitchFamily="34" charset="0"/>
                <a:cs typeface="Arial" panose="020B0604020202020204" pitchFamily="34" charset="0"/>
              </a:rPr>
              <a:t>Katherine.l.langley@durham.ac.uk</a:t>
            </a:r>
            <a:endParaRPr lang="en-GB" altLang="en-US" sz="24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2784669"/>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867FF-0165-FAE4-3C87-6A213C1273D3}"/>
              </a:ext>
            </a:extLst>
          </p:cNvPr>
          <p:cNvSpPr>
            <a:spLocks noGrp="1"/>
          </p:cNvSpPr>
          <p:nvPr>
            <p:ph type="title"/>
          </p:nvPr>
        </p:nvSpPr>
        <p:spPr/>
        <p:txBody>
          <a:bodyPr/>
          <a:lstStyle/>
          <a:p>
            <a:r>
              <a:rPr lang="en-US" dirty="0"/>
              <a:t>Learning Outcomes</a:t>
            </a:r>
          </a:p>
        </p:txBody>
      </p:sp>
      <p:sp>
        <p:nvSpPr>
          <p:cNvPr id="3" name="Subtitle 2">
            <a:extLst>
              <a:ext uri="{FF2B5EF4-FFF2-40B4-BE49-F238E27FC236}">
                <a16:creationId xmlns:a16="http://schemas.microsoft.com/office/drawing/2014/main" id="{EC7846AA-4B2D-E35D-34D5-88A17D84F69E}"/>
              </a:ext>
            </a:extLst>
          </p:cNvPr>
          <p:cNvSpPr>
            <a:spLocks noGrp="1"/>
          </p:cNvSpPr>
          <p:nvPr>
            <p:ph idx="1"/>
          </p:nvPr>
        </p:nvSpPr>
        <p:spPr/>
        <p:txBody>
          <a:bodyPr/>
          <a:lstStyle/>
          <a:p>
            <a:r>
              <a:rPr lang="en-US" sz="3200" dirty="0"/>
              <a:t>By</a:t>
            </a:r>
            <a:r>
              <a:rPr lang="en-US" sz="2800" dirty="0"/>
              <a:t> the end of the insanity and you will be able to;</a:t>
            </a:r>
          </a:p>
          <a:p>
            <a:pPr marL="285750" indent="-285750">
              <a:buFont typeface="Arial" panose="020B0604020202020204" pitchFamily="34" charset="0"/>
              <a:buChar char="•"/>
            </a:pPr>
            <a:r>
              <a:rPr lang="en-US" sz="2800" dirty="0"/>
              <a:t>Explain the </a:t>
            </a:r>
            <a:r>
              <a:rPr lang="en-US" sz="2800" dirty="0" err="1"/>
              <a:t>M’Naghten</a:t>
            </a:r>
            <a:r>
              <a:rPr lang="en-US" sz="2800" dirty="0"/>
              <a:t> Rules around insanity (insane automatism)</a:t>
            </a:r>
          </a:p>
          <a:p>
            <a:pPr marL="285750" indent="-285750">
              <a:buFont typeface="Arial" panose="020B0604020202020204" pitchFamily="34" charset="0"/>
              <a:buChar char="•"/>
            </a:pPr>
            <a:r>
              <a:rPr lang="en-US" sz="2800" dirty="0"/>
              <a:t>Critique the law around insanity, and discuss the potential for reform.</a:t>
            </a:r>
          </a:p>
          <a:p>
            <a:pPr marL="285750" indent="-285750">
              <a:buFont typeface="Arial" panose="020B0604020202020204" pitchFamily="34" charset="0"/>
              <a:buChar char="•"/>
            </a:pPr>
            <a:r>
              <a:rPr lang="en-US" sz="2800" dirty="0"/>
              <a:t>Apply your learning using a case spotlight.</a:t>
            </a:r>
          </a:p>
        </p:txBody>
      </p:sp>
    </p:spTree>
    <p:extLst>
      <p:ext uri="{BB962C8B-B14F-4D97-AF65-F5344CB8AC3E}">
        <p14:creationId xmlns:p14="http://schemas.microsoft.com/office/powerpoint/2010/main" val="3335921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98D2-5046-45F1-9719-94845EAEBC79}"/>
              </a:ext>
            </a:extLst>
          </p:cNvPr>
          <p:cNvSpPr>
            <a:spLocks noGrp="1"/>
          </p:cNvSpPr>
          <p:nvPr>
            <p:ph type="title"/>
          </p:nvPr>
        </p:nvSpPr>
        <p:spPr/>
        <p:txBody>
          <a:bodyPr/>
          <a:lstStyle/>
          <a:p>
            <a:r>
              <a:rPr lang="en-GB" dirty="0"/>
              <a:t>Insanity</a:t>
            </a:r>
            <a:endParaRPr lang="en-US" dirty="0"/>
          </a:p>
        </p:txBody>
      </p:sp>
      <p:sp>
        <p:nvSpPr>
          <p:cNvPr id="3" name="Content Placeholder 2">
            <a:extLst>
              <a:ext uri="{FF2B5EF4-FFF2-40B4-BE49-F238E27FC236}">
                <a16:creationId xmlns:a16="http://schemas.microsoft.com/office/drawing/2014/main" id="{7C21F218-0F73-472B-BDBD-1D53C5A6860A}"/>
              </a:ext>
            </a:extLst>
          </p:cNvPr>
          <p:cNvSpPr>
            <a:spLocks noGrp="1"/>
          </p:cNvSpPr>
          <p:nvPr>
            <p:ph idx="1"/>
          </p:nvPr>
        </p:nvSpPr>
        <p:spPr>
          <a:xfrm>
            <a:off x="1042737" y="1772816"/>
            <a:ext cx="10122568" cy="3816350"/>
          </a:xfrm>
        </p:spPr>
        <p:txBody>
          <a:bodyPr/>
          <a:lstStyle/>
          <a:p>
            <a:pPr marL="285750" indent="-285750">
              <a:buFont typeface="Arial" panose="020B0604020202020204" pitchFamily="34" charset="0"/>
              <a:buChar char="•"/>
            </a:pPr>
            <a:r>
              <a:rPr lang="en-GB" b="1" i="0" dirty="0">
                <a:solidFill>
                  <a:srgbClr val="2A2A2A"/>
                </a:solidFill>
                <a:effectLst/>
                <a:latin typeface="Merriweather" panose="00000500000000000000" pitchFamily="2" charset="0"/>
              </a:rPr>
              <a:t>The defence of insanity is concerned with D’s mental state at the time when the alleged offence was committed.</a:t>
            </a:r>
          </a:p>
          <a:p>
            <a:pPr marL="285750" indent="-285750">
              <a:buFont typeface="Arial" panose="020B0604020202020204" pitchFamily="34" charset="0"/>
              <a:buChar char="•"/>
            </a:pPr>
            <a:r>
              <a:rPr lang="en-GB" b="1" dirty="0">
                <a:solidFill>
                  <a:srgbClr val="2A2A2A"/>
                </a:solidFill>
                <a:latin typeface="Merriweather" panose="00000500000000000000" pitchFamily="2" charset="0"/>
              </a:rPr>
              <a:t>D’s mental state may also be relevant at the time D is arraigned and asked to plead.</a:t>
            </a:r>
          </a:p>
          <a:p>
            <a:pPr marL="685800" lvl="1">
              <a:buFont typeface="Arial" panose="020B0604020202020204" pitchFamily="34" charset="0"/>
              <a:buChar char="•"/>
            </a:pPr>
            <a:r>
              <a:rPr lang="en-GB" dirty="0">
                <a:solidFill>
                  <a:srgbClr val="2A2A2A"/>
                </a:solidFill>
                <a:latin typeface="Merriweather" panose="00000500000000000000" pitchFamily="2" charset="0"/>
              </a:rPr>
              <a:t>D may be found ‘unfit to plead’ where it is established that because of his mental condition if</a:t>
            </a:r>
            <a:r>
              <a:rPr lang="en-GB" i="0" dirty="0">
                <a:solidFill>
                  <a:srgbClr val="2A2A2A"/>
                </a:solidFill>
                <a:effectLst/>
                <a:latin typeface="Merriweather" panose="00000500000000000000" pitchFamily="2" charset="0"/>
              </a:rPr>
              <a:t> he is unable to understand the charge and the difference between a plea of guilty and a plea of not guilty, to challenge jurors, to instruct counsel, and to follow the proceedings </a:t>
            </a:r>
            <a:r>
              <a:rPr lang="en-GB" b="0" i="0" dirty="0">
                <a:solidFill>
                  <a:srgbClr val="2A2A2A"/>
                </a:solidFill>
                <a:effectLst/>
                <a:latin typeface="Merriweather" panose="00000500000000000000" pitchFamily="2" charset="0"/>
              </a:rPr>
              <a:t>(</a:t>
            </a:r>
            <a:r>
              <a:rPr lang="en-GB" b="0" i="1" dirty="0">
                <a:solidFill>
                  <a:srgbClr val="2A2A2A"/>
                </a:solidFill>
                <a:effectLst/>
                <a:latin typeface="Merriweather" panose="00000500000000000000" pitchFamily="2" charset="0"/>
              </a:rPr>
              <a:t>Robertson</a:t>
            </a:r>
            <a:r>
              <a:rPr lang="en-GB" b="0" i="0" dirty="0">
                <a:solidFill>
                  <a:srgbClr val="2A2A2A"/>
                </a:solidFill>
                <a:effectLst/>
                <a:latin typeface="Merriweather" panose="00000500000000000000" pitchFamily="2" charset="0"/>
              </a:rPr>
              <a:t> [1968] 3 All ER 557).</a:t>
            </a:r>
          </a:p>
          <a:p>
            <a:pPr marL="685800" lvl="1">
              <a:buFont typeface="Arial" panose="020B0604020202020204" pitchFamily="34" charset="0"/>
              <a:buChar char="•"/>
            </a:pPr>
            <a:r>
              <a:rPr lang="en-GB" dirty="0">
                <a:solidFill>
                  <a:srgbClr val="2A2A2A"/>
                </a:solidFill>
                <a:latin typeface="Merriweather" panose="00000500000000000000" pitchFamily="2" charset="0"/>
              </a:rPr>
              <a:t>Must be written evidence from two or more registered practitioners.</a:t>
            </a:r>
          </a:p>
          <a:p>
            <a:pPr marL="685800" lvl="1">
              <a:buFont typeface="Arial" panose="020B0604020202020204" pitchFamily="34" charset="0"/>
              <a:buChar char="•"/>
            </a:pPr>
            <a:r>
              <a:rPr lang="en-GB" dirty="0">
                <a:solidFill>
                  <a:srgbClr val="2A2A2A"/>
                </a:solidFill>
                <a:latin typeface="Merriweather" panose="00000500000000000000" pitchFamily="2" charset="0"/>
              </a:rPr>
              <a:t>If the D is unfit to plead a jury will determine on the basis of evidence whether the D did the act or made the omission constituting he AR of the offence charged.</a:t>
            </a:r>
          </a:p>
          <a:p>
            <a:pPr marL="685800" lvl="1">
              <a:buFont typeface="Arial" panose="020B0604020202020204" pitchFamily="34" charset="0"/>
              <a:buChar char="•"/>
            </a:pPr>
            <a:r>
              <a:rPr lang="en-GB" dirty="0">
                <a:solidFill>
                  <a:srgbClr val="2A2A2A"/>
                </a:solidFill>
                <a:latin typeface="Merriweather" panose="00000500000000000000" pitchFamily="2" charset="0"/>
              </a:rPr>
              <a:t>The jury may acquit is not satisfied that the D did the act or made the omission,</a:t>
            </a:r>
          </a:p>
          <a:p>
            <a:pPr marL="685800" lvl="1">
              <a:buFont typeface="Arial" panose="020B0604020202020204" pitchFamily="34" charset="0"/>
              <a:buChar char="•"/>
            </a:pPr>
            <a:r>
              <a:rPr lang="en-GB" dirty="0">
                <a:solidFill>
                  <a:srgbClr val="2A2A2A"/>
                </a:solidFill>
                <a:latin typeface="Merriweather" panose="00000500000000000000" pitchFamily="2" charset="0"/>
              </a:rPr>
              <a:t>If the jury is satisfied D did the act or made the omission the judge decides on the correct disposal. </a:t>
            </a:r>
          </a:p>
          <a:p>
            <a:pPr marL="685800" lvl="1">
              <a:buFont typeface="Arial" panose="020B0604020202020204" pitchFamily="34" charset="0"/>
              <a:buChar char="•"/>
            </a:pPr>
            <a:r>
              <a:rPr lang="en-GB" dirty="0">
                <a:solidFill>
                  <a:srgbClr val="2A2A2A"/>
                </a:solidFill>
                <a:latin typeface="Merriweather" panose="00000500000000000000" pitchFamily="2" charset="0"/>
              </a:rPr>
              <a:t>Options are a hospital order, a supervision order or an absolute discharge.</a:t>
            </a:r>
          </a:p>
          <a:p>
            <a:pPr marL="685800" lvl="1">
              <a:buFont typeface="Arial" panose="020B0604020202020204" pitchFamily="34" charset="0"/>
              <a:buChar char="•"/>
            </a:pPr>
            <a:r>
              <a:rPr lang="en-GB" dirty="0">
                <a:solidFill>
                  <a:srgbClr val="2A2A2A"/>
                </a:solidFill>
                <a:latin typeface="Merriweather" panose="00000500000000000000" pitchFamily="2" charset="0"/>
              </a:rPr>
              <a:t>In cases of murder the court is obliged to make a hospital order.</a:t>
            </a:r>
          </a:p>
        </p:txBody>
      </p:sp>
    </p:spTree>
    <p:extLst>
      <p:ext uri="{BB962C8B-B14F-4D97-AF65-F5344CB8AC3E}">
        <p14:creationId xmlns:p14="http://schemas.microsoft.com/office/powerpoint/2010/main" val="669969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EFE49-B7CB-7B92-9550-6A0A4143457B}"/>
              </a:ext>
            </a:extLst>
          </p:cNvPr>
          <p:cNvSpPr>
            <a:spLocks noGrp="1"/>
          </p:cNvSpPr>
          <p:nvPr>
            <p:ph type="title"/>
          </p:nvPr>
        </p:nvSpPr>
        <p:spPr/>
        <p:txBody>
          <a:bodyPr/>
          <a:lstStyle/>
          <a:p>
            <a:r>
              <a:rPr lang="en-GB" dirty="0"/>
              <a:t>Insane at the time the AR was committed.</a:t>
            </a:r>
          </a:p>
        </p:txBody>
      </p:sp>
      <p:sp>
        <p:nvSpPr>
          <p:cNvPr id="3" name="Content Placeholder 2">
            <a:extLst>
              <a:ext uri="{FF2B5EF4-FFF2-40B4-BE49-F238E27FC236}">
                <a16:creationId xmlns:a16="http://schemas.microsoft.com/office/drawing/2014/main" id="{D025948F-0615-478E-C311-971BC10DA7A5}"/>
              </a:ext>
            </a:extLst>
          </p:cNvPr>
          <p:cNvSpPr>
            <a:spLocks noGrp="1"/>
          </p:cNvSpPr>
          <p:nvPr>
            <p:ph idx="1"/>
          </p:nvPr>
        </p:nvSpPr>
        <p:spPr/>
        <p:txBody>
          <a:bodyPr/>
          <a:lstStyle/>
          <a:p>
            <a:pPr>
              <a:buFont typeface="Arial" panose="020B0604020202020204" pitchFamily="34" charset="0"/>
              <a:buChar char="•"/>
            </a:pPr>
            <a:r>
              <a:rPr lang="en-GB" dirty="0"/>
              <a:t>The verdict is ‘not guilty by reason of insanity’ (s. 2(1) of the Trial of Lunatics Act 1883).</a:t>
            </a:r>
          </a:p>
          <a:p>
            <a:pPr>
              <a:buFont typeface="Arial" panose="020B0604020202020204" pitchFamily="34" charset="0"/>
              <a:buChar char="•"/>
            </a:pPr>
            <a:r>
              <a:rPr lang="en-GB" dirty="0"/>
              <a:t>The law relating to the defence of insanity is to be found in the rules set out in </a:t>
            </a:r>
            <a:r>
              <a:rPr lang="en-GB" dirty="0" err="1"/>
              <a:t>M’Naghten</a:t>
            </a:r>
            <a:r>
              <a:rPr lang="en-GB" dirty="0"/>
              <a:t> (1843) 10 Cl &amp; F 200, which set out the circumstances in which D will be held not to have been legally responsible for his conduct.</a:t>
            </a:r>
          </a:p>
          <a:p>
            <a:pPr>
              <a:buFont typeface="Arial" panose="020B0604020202020204" pitchFamily="34" charset="0"/>
              <a:buChar char="•"/>
            </a:pPr>
            <a:r>
              <a:rPr lang="en-GB" b="1" dirty="0" err="1"/>
              <a:t>M’Naghten</a:t>
            </a:r>
            <a:r>
              <a:rPr lang="en-GB" b="1" dirty="0"/>
              <a:t> </a:t>
            </a:r>
            <a:r>
              <a:rPr lang="en-GB" dirty="0"/>
              <a:t>– found insane and acquitted on a charge of murdering the Prime Minister’s (Robert Peel) private secretary. His intention was to kill Peel. Committed to hospital but there was a public outcry.</a:t>
            </a:r>
          </a:p>
          <a:p>
            <a:pPr>
              <a:buFont typeface="Arial" panose="020B0604020202020204" pitchFamily="34" charset="0"/>
              <a:buChar char="•"/>
            </a:pPr>
            <a:r>
              <a:rPr lang="en-GB" dirty="0"/>
              <a:t>Parliament publicly asked the judges of the House of Lords questions on the legal principles relating to insanity. </a:t>
            </a:r>
          </a:p>
          <a:p>
            <a:pPr>
              <a:buFont typeface="Arial" panose="020B0604020202020204" pitchFamily="34" charset="0"/>
              <a:buChar char="•"/>
            </a:pPr>
            <a:r>
              <a:rPr lang="en-GB" dirty="0"/>
              <a:t>Although not binding precedent the rules have been treat as authoritative since. </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287609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7983-5E27-A113-4989-B366CBB97D0C}"/>
              </a:ext>
            </a:extLst>
          </p:cNvPr>
          <p:cNvSpPr>
            <a:spLocks noGrp="1"/>
          </p:cNvSpPr>
          <p:nvPr>
            <p:ph type="title"/>
          </p:nvPr>
        </p:nvSpPr>
        <p:spPr/>
        <p:txBody>
          <a:bodyPr/>
          <a:lstStyle/>
          <a:p>
            <a:r>
              <a:rPr lang="en-GB" dirty="0" err="1"/>
              <a:t>M’Naghten</a:t>
            </a:r>
            <a:r>
              <a:rPr lang="en-GB" dirty="0"/>
              <a:t> Rules</a:t>
            </a:r>
          </a:p>
        </p:txBody>
      </p:sp>
      <p:sp>
        <p:nvSpPr>
          <p:cNvPr id="3" name="Content Placeholder 2">
            <a:extLst>
              <a:ext uri="{FF2B5EF4-FFF2-40B4-BE49-F238E27FC236}">
                <a16:creationId xmlns:a16="http://schemas.microsoft.com/office/drawing/2014/main" id="{84A73D7B-0CE6-9163-4D80-BA5C5D154027}"/>
              </a:ext>
            </a:extLst>
          </p:cNvPr>
          <p:cNvSpPr>
            <a:spLocks noGrp="1"/>
          </p:cNvSpPr>
          <p:nvPr>
            <p:ph idx="1"/>
          </p:nvPr>
        </p:nvSpPr>
        <p:spPr/>
        <p:txBody>
          <a:bodyPr/>
          <a:lstStyle/>
          <a:p>
            <a:r>
              <a:rPr lang="en-GB" sz="2000" dirty="0"/>
              <a:t>The principles stated by the judges are as follows:</a:t>
            </a:r>
          </a:p>
          <a:p>
            <a:endParaRPr lang="en-GB" sz="2000" dirty="0"/>
          </a:p>
          <a:p>
            <a:r>
              <a:rPr lang="en-GB" sz="2000" dirty="0"/>
              <a:t>(1)		Everyone is</a:t>
            </a:r>
            <a:r>
              <a:rPr lang="en-GB" sz="2000" b="1" dirty="0"/>
              <a:t> presumed </a:t>
            </a:r>
            <a:r>
              <a:rPr lang="en-GB" sz="2000" dirty="0"/>
              <a:t>sane and to possess a sufficient degree of reason to be 	responsible for their crimes until the contrary is proved.</a:t>
            </a:r>
          </a:p>
          <a:p>
            <a:endParaRPr lang="en-GB" sz="2000" dirty="0"/>
          </a:p>
          <a:p>
            <a:r>
              <a:rPr lang="en-GB" sz="2000" dirty="0"/>
              <a:t>(2)		To establish a defence of insanity it must be clearly proved that at the time of 	committing the act, D was labouring under such a defect of reason, from 	disease 	of the mind, as (a) not to know the nature and quality of the act he was doing; or 	(b) if he did know it, not to know he was doing what was wrong.</a:t>
            </a:r>
          </a:p>
        </p:txBody>
      </p:sp>
    </p:spTree>
    <p:extLst>
      <p:ext uri="{BB962C8B-B14F-4D97-AF65-F5344CB8AC3E}">
        <p14:creationId xmlns:p14="http://schemas.microsoft.com/office/powerpoint/2010/main" val="2097238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536D-6704-36BF-500B-0F970C86ACB8}"/>
              </a:ext>
            </a:extLst>
          </p:cNvPr>
          <p:cNvSpPr>
            <a:spLocks noGrp="1"/>
          </p:cNvSpPr>
          <p:nvPr>
            <p:ph type="title"/>
          </p:nvPr>
        </p:nvSpPr>
        <p:spPr/>
        <p:txBody>
          <a:bodyPr/>
          <a:lstStyle/>
          <a:p>
            <a:br>
              <a:rPr lang="en-GB" dirty="0"/>
            </a:br>
            <a:r>
              <a:rPr lang="en-GB" sz="3200" dirty="0"/>
              <a:t>(1) Everyone is presumed sane and to possess a sufficient degree of reason to be responsible for their crimes until the contrary is proved.</a:t>
            </a:r>
            <a:br>
              <a:rPr lang="en-GB" sz="3200" dirty="0"/>
            </a:br>
            <a:endParaRPr lang="en-GB" sz="3200" dirty="0"/>
          </a:p>
        </p:txBody>
      </p:sp>
      <p:sp>
        <p:nvSpPr>
          <p:cNvPr id="3" name="Content Placeholder 2">
            <a:extLst>
              <a:ext uri="{FF2B5EF4-FFF2-40B4-BE49-F238E27FC236}">
                <a16:creationId xmlns:a16="http://schemas.microsoft.com/office/drawing/2014/main" id="{CBDE8419-4295-1268-7810-AE151C01AF1E}"/>
              </a:ext>
            </a:extLst>
          </p:cNvPr>
          <p:cNvSpPr>
            <a:spLocks noGrp="1"/>
          </p:cNvSpPr>
          <p:nvPr>
            <p:ph idx="1"/>
          </p:nvPr>
        </p:nvSpPr>
        <p:spPr/>
        <p:txBody>
          <a:bodyPr/>
          <a:lstStyle/>
          <a:p>
            <a:pPr>
              <a:buFont typeface="Arial" panose="020B0604020202020204" pitchFamily="34" charset="0"/>
              <a:buChar char="•"/>
            </a:pPr>
            <a:r>
              <a:rPr lang="en-GB" dirty="0"/>
              <a:t>Whether a defence amounts to one of insanity is a </a:t>
            </a:r>
            <a:r>
              <a:rPr lang="en-GB" b="1" dirty="0"/>
              <a:t>question of law </a:t>
            </a:r>
            <a:r>
              <a:rPr lang="en-GB" dirty="0"/>
              <a:t>to be decided by the judge on the basis of the medical evidence (see Dickie [1984] 3 All ER 173).</a:t>
            </a:r>
          </a:p>
          <a:p>
            <a:pPr>
              <a:buFont typeface="Arial" panose="020B0604020202020204" pitchFamily="34" charset="0"/>
              <a:buChar char="•"/>
            </a:pPr>
            <a:r>
              <a:rPr lang="en-GB" dirty="0"/>
              <a:t>If the judge concludes that the medical evidence supports a defence of insanity, he should leave it to the jury to decide whether D was insane.</a:t>
            </a:r>
          </a:p>
          <a:p>
            <a:pPr>
              <a:buFont typeface="Arial" panose="020B0604020202020204" pitchFamily="34" charset="0"/>
              <a:buChar char="•"/>
            </a:pPr>
            <a:r>
              <a:rPr lang="en-GB" dirty="0"/>
              <a:t>It is possible for the trial judge to rule that the D’s defence of automatism was actually one of insanity if it was due to a disease of the mind.</a:t>
            </a:r>
          </a:p>
          <a:p>
            <a:pPr>
              <a:buFont typeface="Arial" panose="020B0604020202020204" pitchFamily="34" charset="0"/>
              <a:buChar char="•"/>
            </a:pPr>
            <a:r>
              <a:rPr lang="en-GB" dirty="0"/>
              <a:t>Prosecution may want to raise the issue of insanity</a:t>
            </a:r>
            <a:r>
              <a:rPr lang="en-GB" b="1" dirty="0"/>
              <a:t>.  Bratty v AG for Northern Ireland [1963] AC 386 </a:t>
            </a:r>
            <a:r>
              <a:rPr lang="en-GB" dirty="0"/>
              <a:t>Lord Denning at 411 </a:t>
            </a:r>
            <a:r>
              <a:rPr lang="en-GB" b="1" i="1" dirty="0"/>
              <a:t>‘</a:t>
            </a:r>
            <a:r>
              <a:rPr lang="en-GB" i="1" dirty="0"/>
              <a:t>The old notion that only the defence can raise a defence of insanity is now gone. The prosecution are entitled to raise it and it is their duty to do so rather than allow a dangerous person to be at large</a:t>
            </a:r>
            <a:r>
              <a:rPr lang="en-GB" dirty="0"/>
              <a:t>.’</a:t>
            </a:r>
          </a:p>
          <a:p>
            <a:pPr>
              <a:buFont typeface="Arial" panose="020B0604020202020204" pitchFamily="34" charset="0"/>
              <a:buChar char="•"/>
            </a:pPr>
            <a:r>
              <a:rPr lang="en-GB" dirty="0"/>
              <a:t>It is also possible for the prosecution to rebut the defence of diminished responsibility by adducing evidence of insanity. In that case the burden is on the prosecution.</a:t>
            </a:r>
          </a:p>
        </p:txBody>
      </p:sp>
    </p:spTree>
    <p:extLst>
      <p:ext uri="{BB962C8B-B14F-4D97-AF65-F5344CB8AC3E}">
        <p14:creationId xmlns:p14="http://schemas.microsoft.com/office/powerpoint/2010/main" val="1524258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5A799-9330-C838-93E6-8FAF751D82DE}"/>
              </a:ext>
            </a:extLst>
          </p:cNvPr>
          <p:cNvSpPr>
            <a:spLocks noGrp="1"/>
          </p:cNvSpPr>
          <p:nvPr>
            <p:ph type="title"/>
          </p:nvPr>
        </p:nvSpPr>
        <p:spPr>
          <a:xfrm>
            <a:off x="914400" y="609600"/>
            <a:ext cx="10363200" cy="2668438"/>
          </a:xfrm>
        </p:spPr>
        <p:txBody>
          <a:bodyPr/>
          <a:lstStyle/>
          <a:p>
            <a:r>
              <a:rPr lang="en-GB" sz="3200" dirty="0"/>
              <a:t>(2) To establish a defence of insanity it must be clearly proved that at the time of committing the act</a:t>
            </a:r>
            <a:r>
              <a:rPr lang="en-GB" sz="3200" dirty="0">
                <a:highlight>
                  <a:srgbClr val="FFFF00"/>
                </a:highlight>
              </a:rPr>
              <a:t>, D was labouring under such a defect of reason</a:t>
            </a:r>
            <a:r>
              <a:rPr lang="en-GB" sz="3200" dirty="0"/>
              <a:t>, </a:t>
            </a:r>
            <a:r>
              <a:rPr lang="en-GB" sz="3200" dirty="0">
                <a:highlight>
                  <a:srgbClr val="00FF00"/>
                </a:highlight>
              </a:rPr>
              <a:t>from disease of the mind, a</a:t>
            </a:r>
            <a:r>
              <a:rPr lang="en-GB" sz="3200" dirty="0"/>
              <a:t>s (a</a:t>
            </a:r>
            <a:r>
              <a:rPr lang="en-GB" sz="3200" dirty="0">
                <a:highlight>
                  <a:srgbClr val="00FFFF"/>
                </a:highlight>
              </a:rPr>
              <a:t>) not to know the nature and quality of the act he was doing; or (b) if he did know it, not to know he was doing what was wrong.</a:t>
            </a:r>
            <a:br>
              <a:rPr lang="en-GB" sz="3200" dirty="0">
                <a:highlight>
                  <a:srgbClr val="00FFFF"/>
                </a:highlight>
              </a:rPr>
            </a:br>
            <a:endParaRPr lang="en-GB" sz="3200" dirty="0">
              <a:highlight>
                <a:srgbClr val="00FFFF"/>
              </a:highlight>
            </a:endParaRPr>
          </a:p>
        </p:txBody>
      </p:sp>
      <p:sp>
        <p:nvSpPr>
          <p:cNvPr id="3" name="Content Placeholder 2">
            <a:extLst>
              <a:ext uri="{FF2B5EF4-FFF2-40B4-BE49-F238E27FC236}">
                <a16:creationId xmlns:a16="http://schemas.microsoft.com/office/drawing/2014/main" id="{AC0EADB5-3D25-9FBE-360B-0CB89806448B}"/>
              </a:ext>
            </a:extLst>
          </p:cNvPr>
          <p:cNvSpPr>
            <a:spLocks noGrp="1"/>
          </p:cNvSpPr>
          <p:nvPr>
            <p:ph idx="1"/>
          </p:nvPr>
        </p:nvSpPr>
        <p:spPr>
          <a:xfrm>
            <a:off x="914400" y="3579962"/>
            <a:ext cx="10363200" cy="2104755"/>
          </a:xfrm>
        </p:spPr>
        <p:txBody>
          <a:bodyPr/>
          <a:lstStyle/>
          <a:p>
            <a:r>
              <a:rPr lang="en-GB" sz="2000" dirty="0"/>
              <a:t>There are </a:t>
            </a:r>
            <a:r>
              <a:rPr lang="en-GB" sz="2000" b="1" dirty="0"/>
              <a:t>three conditions </a:t>
            </a:r>
            <a:r>
              <a:rPr lang="en-GB" sz="2000" dirty="0"/>
              <a:t>to be satisfied in any case where a defence of insanity is raised:</a:t>
            </a:r>
          </a:p>
          <a:p>
            <a:r>
              <a:rPr lang="en-GB" sz="2000" dirty="0">
                <a:highlight>
                  <a:srgbClr val="00FF00"/>
                </a:highlight>
              </a:rPr>
              <a:t>(i) that D was suffering from a disease of the mind;</a:t>
            </a:r>
          </a:p>
          <a:p>
            <a:r>
              <a:rPr lang="en-GB" sz="2000" dirty="0">
                <a:highlight>
                  <a:srgbClr val="FFFF00"/>
                </a:highlight>
              </a:rPr>
              <a:t>(ii) that this gave rise to a defect of reason; and</a:t>
            </a:r>
          </a:p>
          <a:p>
            <a:r>
              <a:rPr lang="en-GB" sz="2000" dirty="0">
                <a:highlight>
                  <a:srgbClr val="00FFFF"/>
                </a:highlight>
              </a:rPr>
              <a:t>(iii) that as a result he either did not know the nature and quality of his act or he did not know that what he was doing was wrong.</a:t>
            </a:r>
          </a:p>
        </p:txBody>
      </p:sp>
    </p:spTree>
    <p:extLst>
      <p:ext uri="{BB962C8B-B14F-4D97-AF65-F5344CB8AC3E}">
        <p14:creationId xmlns:p14="http://schemas.microsoft.com/office/powerpoint/2010/main" val="2728144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C4F7-0551-00EA-910C-ACB4C6EE443A}"/>
              </a:ext>
            </a:extLst>
          </p:cNvPr>
          <p:cNvSpPr>
            <a:spLocks noGrp="1"/>
          </p:cNvSpPr>
          <p:nvPr>
            <p:ph type="title"/>
          </p:nvPr>
        </p:nvSpPr>
        <p:spPr/>
        <p:txBody>
          <a:bodyPr/>
          <a:lstStyle/>
          <a:p>
            <a:r>
              <a:rPr lang="en-GB" dirty="0">
                <a:highlight>
                  <a:srgbClr val="00FF00"/>
                </a:highlight>
              </a:rPr>
              <a:t>i) Disease of the mind</a:t>
            </a:r>
          </a:p>
        </p:txBody>
      </p:sp>
      <p:sp>
        <p:nvSpPr>
          <p:cNvPr id="3" name="Content Placeholder 2">
            <a:extLst>
              <a:ext uri="{FF2B5EF4-FFF2-40B4-BE49-F238E27FC236}">
                <a16:creationId xmlns:a16="http://schemas.microsoft.com/office/drawing/2014/main" id="{D5E67985-9403-59D8-C468-2B818736D814}"/>
              </a:ext>
            </a:extLst>
          </p:cNvPr>
          <p:cNvSpPr>
            <a:spLocks noGrp="1"/>
          </p:cNvSpPr>
          <p:nvPr>
            <p:ph idx="1"/>
          </p:nvPr>
        </p:nvSpPr>
        <p:spPr/>
        <p:txBody>
          <a:bodyPr/>
          <a:lstStyle/>
          <a:p>
            <a:pPr>
              <a:buFont typeface="Arial" panose="020B0604020202020204" pitchFamily="34" charset="0"/>
              <a:buChar char="•"/>
            </a:pPr>
            <a:r>
              <a:rPr lang="en-GB" dirty="0"/>
              <a:t>Disease of the mind is a legal term and not a medical term.</a:t>
            </a:r>
          </a:p>
          <a:p>
            <a:pPr>
              <a:buFont typeface="Arial" panose="020B0604020202020204" pitchFamily="34" charset="0"/>
              <a:buChar char="•"/>
            </a:pPr>
            <a:r>
              <a:rPr lang="en-GB" dirty="0"/>
              <a:t>In </a:t>
            </a:r>
            <a:r>
              <a:rPr lang="en-GB" b="1" dirty="0"/>
              <a:t>Kemp [1957] </a:t>
            </a:r>
            <a:r>
              <a:rPr lang="en-GB" dirty="0"/>
              <a:t>1 QB 399, it was argued that ‘disease of the mind’ meant that there had to be an </a:t>
            </a:r>
            <a:r>
              <a:rPr lang="en-GB" u="sng" dirty="0"/>
              <a:t>organic disease of the brain </a:t>
            </a:r>
            <a:r>
              <a:rPr lang="en-GB" dirty="0"/>
              <a:t>which had caused degeneration of the brain. CA disagreed.</a:t>
            </a:r>
          </a:p>
          <a:p>
            <a:pPr lvl="1">
              <a:buFont typeface="Arial" panose="020B0604020202020204" pitchFamily="34" charset="0"/>
              <a:buChar char="•"/>
            </a:pPr>
            <a:r>
              <a:rPr lang="en-GB" dirty="0"/>
              <a:t>“The law is </a:t>
            </a:r>
            <a:r>
              <a:rPr lang="en-GB" b="1" dirty="0"/>
              <a:t>not </a:t>
            </a:r>
            <a:r>
              <a:rPr lang="en-GB" dirty="0"/>
              <a:t>concerned with the brain but with the </a:t>
            </a:r>
            <a:r>
              <a:rPr lang="en-GB" b="1" dirty="0"/>
              <a:t>mind</a:t>
            </a:r>
            <a:r>
              <a:rPr lang="en-GB" dirty="0"/>
              <a:t>, in the sense that ‘mind’ is ordinarily used, the mental faculties of reason, memory and understanding. If one read for ‘disease of the mind’ ‘disease of the brain’, it would follow that in many cases pleas of insanity would not be established because it could not be proved that the brain had been affected in any way, either by degeneration of the cells or in any other way. In my judgment the condition of the brain is irrelevant and so is the question whether the condition of the mind is curable or incurable, transitory or permanent.” [407]</a:t>
            </a:r>
          </a:p>
          <a:p>
            <a:pPr>
              <a:buFont typeface="Arial" panose="020B0604020202020204" pitchFamily="34" charset="0"/>
              <a:buChar char="•"/>
            </a:pPr>
            <a:r>
              <a:rPr lang="en-GB" dirty="0"/>
              <a:t>In </a:t>
            </a:r>
            <a:r>
              <a:rPr lang="en-GB" b="1" dirty="0"/>
              <a:t>Bratty [1961], </a:t>
            </a:r>
            <a:r>
              <a:rPr lang="en-GB" dirty="0"/>
              <a:t>Devlin J’s dicta in Kemp received the approval of Lord Denning in the House of Lords:</a:t>
            </a:r>
          </a:p>
          <a:p>
            <a:pPr lvl="1">
              <a:buFont typeface="Arial" panose="020B0604020202020204" pitchFamily="34" charset="0"/>
              <a:buChar char="•"/>
            </a:pPr>
            <a:r>
              <a:rPr lang="en-GB" dirty="0"/>
              <a:t>“[A]</a:t>
            </a:r>
            <a:r>
              <a:rPr lang="en-GB" dirty="0" err="1"/>
              <a:t>ny</a:t>
            </a:r>
            <a:r>
              <a:rPr lang="en-GB" dirty="0"/>
              <a:t> mental disorder which has manifested itself in violence and is prone to recur is a disease of the mind. At any rate it is the sort of disease for which a person should be detained in hospital rather than be given an unqualified acquittal.”. [412]</a:t>
            </a:r>
          </a:p>
        </p:txBody>
      </p:sp>
    </p:spTree>
    <p:extLst>
      <p:ext uri="{BB962C8B-B14F-4D97-AF65-F5344CB8AC3E}">
        <p14:creationId xmlns:p14="http://schemas.microsoft.com/office/powerpoint/2010/main" val="3316309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C9A0D-4AE3-B330-9788-E4522BD94B24}"/>
              </a:ext>
            </a:extLst>
          </p:cNvPr>
          <p:cNvSpPr>
            <a:spLocks noGrp="1"/>
          </p:cNvSpPr>
          <p:nvPr>
            <p:ph type="title"/>
          </p:nvPr>
        </p:nvSpPr>
        <p:spPr/>
        <p:txBody>
          <a:bodyPr/>
          <a:lstStyle/>
          <a:p>
            <a:r>
              <a:rPr lang="en-GB" dirty="0"/>
              <a:t>The use of the criterion of internal/external causes to distinguish insanity from automatism</a:t>
            </a:r>
          </a:p>
        </p:txBody>
      </p:sp>
      <p:sp>
        <p:nvSpPr>
          <p:cNvPr id="3" name="Content Placeholder 2">
            <a:extLst>
              <a:ext uri="{FF2B5EF4-FFF2-40B4-BE49-F238E27FC236}">
                <a16:creationId xmlns:a16="http://schemas.microsoft.com/office/drawing/2014/main" id="{0ACE819D-6B46-B921-9C1E-DA0E734BC41A}"/>
              </a:ext>
            </a:extLst>
          </p:cNvPr>
          <p:cNvSpPr>
            <a:spLocks noGrp="1"/>
          </p:cNvSpPr>
          <p:nvPr>
            <p:ph idx="1"/>
          </p:nvPr>
        </p:nvSpPr>
        <p:spPr>
          <a:xfrm>
            <a:off x="912284" y="2466752"/>
            <a:ext cx="10363200" cy="3338735"/>
          </a:xfrm>
        </p:spPr>
        <p:txBody>
          <a:bodyPr/>
          <a:lstStyle/>
          <a:p>
            <a:pPr>
              <a:buFont typeface="Arial" panose="020B0604020202020204" pitchFamily="34" charset="0"/>
              <a:buChar char="•"/>
            </a:pPr>
            <a:r>
              <a:rPr lang="en-GB" b="1" dirty="0"/>
              <a:t>Quick [1973] QB 910- </a:t>
            </a:r>
            <a:r>
              <a:rPr lang="en-GB" dirty="0"/>
              <a:t>hypoglycaemia caused by taking insulin and failing to eat - Lawton LJ interpreted the phrase ‘disease of the mind’ to mean a ‘</a:t>
            </a:r>
            <a:r>
              <a:rPr lang="en-GB" b="1" dirty="0"/>
              <a:t>malfunctioning of the mind caused by disease’</a:t>
            </a:r>
            <a:r>
              <a:rPr lang="en-GB" dirty="0"/>
              <a:t>, whereas a ‘malfunctioning of the mind of transitory effect caused by some </a:t>
            </a:r>
            <a:r>
              <a:rPr lang="en-GB" b="1" dirty="0"/>
              <a:t>external factor</a:t>
            </a:r>
            <a:r>
              <a:rPr lang="en-GB" dirty="0"/>
              <a:t> such as violence, drugs including anaesthetics, alcohol and hypnotic influences cannot fairly be said to be due to disease’.</a:t>
            </a:r>
          </a:p>
          <a:p>
            <a:pPr>
              <a:buFont typeface="Arial" panose="020B0604020202020204" pitchFamily="34" charset="0"/>
              <a:buChar char="•"/>
            </a:pPr>
            <a:r>
              <a:rPr lang="en-GB" b="1" dirty="0"/>
              <a:t>Sullivan [1984] AC 156 </a:t>
            </a:r>
            <a:r>
              <a:rPr lang="en-GB" dirty="0"/>
              <a:t>– assault occasioning ABH during an epileptic seizure. Lord Diplock approved Kemp and stated:</a:t>
            </a:r>
          </a:p>
          <a:p>
            <a:pPr lvl="1">
              <a:buFont typeface="Arial" panose="020B0604020202020204" pitchFamily="34" charset="0"/>
              <a:buChar char="•"/>
            </a:pPr>
            <a:r>
              <a:rPr lang="en-GB" i="1" dirty="0"/>
              <a:t>If the effect of a disease is to impair [the faculties of reason, memory, and understanding] so severely as to have either of the consequences referred to in the latter part of the Rules, it matters not whether the aetiology of the impairment is organic, as in epilepsy, or functional, or whether the impairment itself is permanent or is transient and intermittent, provided that it subsisted at the time of the commission of the act.</a:t>
            </a:r>
          </a:p>
          <a:p>
            <a:pPr marL="0" indent="0"/>
            <a:r>
              <a:rPr lang="en-GB" b="1" dirty="0"/>
              <a:t> </a:t>
            </a:r>
            <a:r>
              <a:rPr lang="en-GB" dirty="0"/>
              <a:t>Compare with Hennessy [1989] 2 All ER 9 – Disease = </a:t>
            </a:r>
            <a:r>
              <a:rPr lang="en-GB" b="1" u="sng" dirty="0"/>
              <a:t>internal</a:t>
            </a:r>
            <a:r>
              <a:rPr lang="en-GB" dirty="0"/>
              <a:t> not external cause.</a:t>
            </a:r>
          </a:p>
          <a:p>
            <a:pPr>
              <a:buFont typeface="Arial" panose="020B0604020202020204" pitchFamily="34" charset="0"/>
              <a:buChar char="•"/>
            </a:pPr>
            <a:endParaRPr lang="en-GB" b="1" dirty="0"/>
          </a:p>
          <a:p>
            <a:pPr>
              <a:buFont typeface="Arial" panose="020B0604020202020204" pitchFamily="34" charset="0"/>
              <a:buChar char="•"/>
            </a:pPr>
            <a:endParaRPr lang="en-GB" dirty="0"/>
          </a:p>
        </p:txBody>
      </p:sp>
    </p:spTree>
    <p:extLst>
      <p:ext uri="{BB962C8B-B14F-4D97-AF65-F5344CB8AC3E}">
        <p14:creationId xmlns:p14="http://schemas.microsoft.com/office/powerpoint/2010/main" val="2098750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7047B-7178-BD78-A592-A781349FD094}"/>
              </a:ext>
            </a:extLst>
          </p:cNvPr>
          <p:cNvSpPr>
            <a:spLocks noGrp="1"/>
          </p:cNvSpPr>
          <p:nvPr>
            <p:ph type="title"/>
          </p:nvPr>
        </p:nvSpPr>
        <p:spPr/>
        <p:txBody>
          <a:bodyPr/>
          <a:lstStyle/>
          <a:p>
            <a:r>
              <a:rPr lang="en-GB" dirty="0">
                <a:highlight>
                  <a:srgbClr val="FFFF00"/>
                </a:highlight>
              </a:rPr>
              <a:t>ii) Defect of reason</a:t>
            </a:r>
          </a:p>
        </p:txBody>
      </p:sp>
      <p:sp>
        <p:nvSpPr>
          <p:cNvPr id="3" name="Content Placeholder 2">
            <a:extLst>
              <a:ext uri="{FF2B5EF4-FFF2-40B4-BE49-F238E27FC236}">
                <a16:creationId xmlns:a16="http://schemas.microsoft.com/office/drawing/2014/main" id="{6E202362-176A-33F0-CF71-7983649280FA}"/>
              </a:ext>
            </a:extLst>
          </p:cNvPr>
          <p:cNvSpPr>
            <a:spLocks noGrp="1"/>
          </p:cNvSpPr>
          <p:nvPr>
            <p:ph idx="1"/>
          </p:nvPr>
        </p:nvSpPr>
        <p:spPr/>
        <p:txBody>
          <a:bodyPr/>
          <a:lstStyle/>
          <a:p>
            <a:pPr>
              <a:buFont typeface="Arial" panose="020B0604020202020204" pitchFamily="34" charset="0"/>
              <a:buChar char="•"/>
            </a:pPr>
            <a:r>
              <a:rPr lang="en-GB" sz="2000" dirty="0"/>
              <a:t>If the defence of insanity is to succeed, </a:t>
            </a:r>
            <a:r>
              <a:rPr lang="en-GB" sz="2000" b="1" dirty="0"/>
              <a:t>the disease of the mind must give rise to a defect of reason</a:t>
            </a:r>
            <a:r>
              <a:rPr lang="en-GB" sz="2000" dirty="0"/>
              <a:t> i.e. powers of reasoning must be impaired. </a:t>
            </a:r>
          </a:p>
          <a:p>
            <a:pPr>
              <a:buFont typeface="Arial" panose="020B0604020202020204" pitchFamily="34" charset="0"/>
              <a:buChar char="•"/>
            </a:pPr>
            <a:r>
              <a:rPr lang="nb-NO" sz="2000" b="1" dirty="0"/>
              <a:t>Clarke [1972] 1 All ER 219 </a:t>
            </a:r>
            <a:r>
              <a:rPr lang="nb-NO" sz="2000" dirty="0"/>
              <a:t>– depression and diabetes led to absent-mindedness and no intention to steal items  from a store. CA held that D was not someone deprived of her powers of reasoning but simply someone who was momentariy absent-minded or confused and therefore she lacked the necessay mens rea for the offence – Ds conviction was quashed.</a:t>
            </a:r>
          </a:p>
          <a:p>
            <a:pPr lvl="1">
              <a:buFont typeface="Arial" panose="020B0604020202020204" pitchFamily="34" charset="0"/>
              <a:buChar char="•"/>
            </a:pPr>
            <a:r>
              <a:rPr lang="en-GB" sz="2000" dirty="0"/>
              <a:t>	‘</a:t>
            </a:r>
            <a:r>
              <a:rPr lang="en-GB" sz="2000" i="1" dirty="0"/>
              <a:t>the </a:t>
            </a:r>
            <a:r>
              <a:rPr lang="en-GB" sz="2000" i="1" dirty="0" err="1"/>
              <a:t>M’Naghten</a:t>
            </a:r>
            <a:r>
              <a:rPr lang="en-GB" sz="2000" i="1" dirty="0"/>
              <a:t> rules relate to accused persons who by reason of a disease of the 	mind are deprived of their powers of reasoning. They do not apply and never have 	applied to those who retain the power of reasoning but who in moments of 	confusion or absent-mindedness fail to use their powers to the full’. </a:t>
            </a:r>
          </a:p>
          <a:p>
            <a:pPr lvl="1">
              <a:buFont typeface="Arial" panose="020B0604020202020204" pitchFamily="34" charset="0"/>
              <a:buChar char="•"/>
            </a:pPr>
            <a:endParaRPr lang="en-GB" dirty="0"/>
          </a:p>
        </p:txBody>
      </p:sp>
    </p:spTree>
    <p:extLst>
      <p:ext uri="{BB962C8B-B14F-4D97-AF65-F5344CB8AC3E}">
        <p14:creationId xmlns:p14="http://schemas.microsoft.com/office/powerpoint/2010/main" val="3460235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E9E7-FCFE-6B05-1703-0B08988C733D}"/>
              </a:ext>
            </a:extLst>
          </p:cNvPr>
          <p:cNvSpPr>
            <a:spLocks noGrp="1"/>
          </p:cNvSpPr>
          <p:nvPr>
            <p:ph type="title"/>
          </p:nvPr>
        </p:nvSpPr>
        <p:spPr>
          <a:xfrm>
            <a:off x="914400" y="609600"/>
            <a:ext cx="10363200" cy="1176670"/>
          </a:xfrm>
        </p:spPr>
        <p:txBody>
          <a:bodyPr/>
          <a:lstStyle/>
          <a:p>
            <a:br>
              <a:rPr lang="en-GB" dirty="0"/>
            </a:br>
            <a:r>
              <a:rPr lang="en-GB" dirty="0">
                <a:highlight>
                  <a:srgbClr val="00FFFF"/>
                </a:highlight>
              </a:rPr>
              <a:t>iii) that as a result he either did not know the </a:t>
            </a:r>
            <a:r>
              <a:rPr lang="en-GB" b="1" dirty="0">
                <a:highlight>
                  <a:srgbClr val="00FFFF"/>
                </a:highlight>
              </a:rPr>
              <a:t>nature and quality of his act </a:t>
            </a:r>
            <a:r>
              <a:rPr lang="en-GB" dirty="0">
                <a:highlight>
                  <a:srgbClr val="00FFFF"/>
                </a:highlight>
              </a:rPr>
              <a:t>or he did not know that what he was doing </a:t>
            </a:r>
            <a:r>
              <a:rPr lang="en-GB" b="1" dirty="0">
                <a:highlight>
                  <a:srgbClr val="00FFFF"/>
                </a:highlight>
              </a:rPr>
              <a:t>was wrong</a:t>
            </a:r>
            <a:r>
              <a:rPr lang="en-GB" b="1" dirty="0"/>
              <a:t>.</a:t>
            </a:r>
            <a:br>
              <a:rPr lang="en-GB" dirty="0"/>
            </a:br>
            <a:endParaRPr lang="en-GB" dirty="0"/>
          </a:p>
        </p:txBody>
      </p:sp>
      <p:sp>
        <p:nvSpPr>
          <p:cNvPr id="3" name="Content Placeholder 2">
            <a:extLst>
              <a:ext uri="{FF2B5EF4-FFF2-40B4-BE49-F238E27FC236}">
                <a16:creationId xmlns:a16="http://schemas.microsoft.com/office/drawing/2014/main" id="{44C9C500-D170-EC94-2168-8A9C89FF4B3E}"/>
              </a:ext>
            </a:extLst>
          </p:cNvPr>
          <p:cNvSpPr>
            <a:spLocks noGrp="1"/>
          </p:cNvSpPr>
          <p:nvPr>
            <p:ph idx="1"/>
          </p:nvPr>
        </p:nvSpPr>
        <p:spPr>
          <a:xfrm>
            <a:off x="912284" y="2488018"/>
            <a:ext cx="10363200" cy="3317469"/>
          </a:xfrm>
        </p:spPr>
        <p:txBody>
          <a:bodyPr/>
          <a:lstStyle/>
          <a:p>
            <a:pPr>
              <a:buFont typeface="Arial" panose="020B0604020202020204" pitchFamily="34" charset="0"/>
              <a:buChar char="•"/>
            </a:pPr>
            <a:r>
              <a:rPr lang="en-GB" dirty="0"/>
              <a:t>A person will only be deemed legally insane within the Rules if at the time of the act either he did not know the nature and quality of his act or he did not know that the act was legally wrong.</a:t>
            </a:r>
          </a:p>
          <a:p>
            <a:pPr>
              <a:buFont typeface="Arial" panose="020B0604020202020204" pitchFamily="34" charset="0"/>
              <a:buChar char="•"/>
            </a:pPr>
            <a:r>
              <a:rPr lang="en-GB" b="1" dirty="0"/>
              <a:t>‘Nature and quality of the act</a:t>
            </a:r>
            <a:r>
              <a:rPr lang="en-GB" dirty="0"/>
              <a:t>’ – See </a:t>
            </a:r>
            <a:r>
              <a:rPr lang="en-GB" dirty="0" err="1"/>
              <a:t>Codere</a:t>
            </a:r>
            <a:r>
              <a:rPr lang="en-GB" dirty="0"/>
              <a:t> (1916) 12 Cr App R 21 – refers to the</a:t>
            </a:r>
            <a:r>
              <a:rPr lang="en-GB" b="1" dirty="0"/>
              <a:t> physical</a:t>
            </a:r>
            <a:r>
              <a:rPr lang="en-GB" dirty="0"/>
              <a:t> character of the act.  Thus, it is necessary for D to prove that he did not know what he was doing, or did not appreciate the consequences of his act, or did not appreciate the circumstances in which he was acting.</a:t>
            </a:r>
          </a:p>
          <a:p>
            <a:pPr>
              <a:buFont typeface="Arial" panose="020B0604020202020204" pitchFamily="34" charset="0"/>
              <a:buChar char="•"/>
            </a:pPr>
            <a:r>
              <a:rPr lang="en-GB" dirty="0"/>
              <a:t>The D lacks </a:t>
            </a:r>
            <a:r>
              <a:rPr lang="en-GB" dirty="0" err="1"/>
              <a:t>mens</a:t>
            </a:r>
            <a:r>
              <a:rPr lang="en-GB" dirty="0"/>
              <a:t> rea but because his defect of reason is due to a disease of the mind, he is liable to the special verdict rather than simple acquittal. i.e. Sullivan and Hennessy.</a:t>
            </a:r>
          </a:p>
          <a:p>
            <a:pPr>
              <a:buFont typeface="Arial" panose="020B0604020202020204" pitchFamily="34" charset="0"/>
              <a:buChar char="•"/>
            </a:pPr>
            <a:r>
              <a:rPr lang="en-GB" dirty="0"/>
              <a:t>‘</a:t>
            </a:r>
            <a:r>
              <a:rPr lang="en-GB" b="1" dirty="0"/>
              <a:t>Knowledge that the act is wrong’ </a:t>
            </a:r>
            <a:r>
              <a:rPr lang="en-GB" dirty="0"/>
              <a:t>– implicit admission by D that he had the </a:t>
            </a:r>
            <a:r>
              <a:rPr lang="en-GB" dirty="0" err="1"/>
              <a:t>mens</a:t>
            </a:r>
            <a:r>
              <a:rPr lang="en-GB" dirty="0"/>
              <a:t> rea for the offence but that he was not a responsible actor as he did not know what he was doing was wrong. </a:t>
            </a:r>
          </a:p>
        </p:txBody>
      </p:sp>
    </p:spTree>
    <p:extLst>
      <p:ext uri="{BB962C8B-B14F-4D97-AF65-F5344CB8AC3E}">
        <p14:creationId xmlns:p14="http://schemas.microsoft.com/office/powerpoint/2010/main" val="2571201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80B30-E240-4E95-195B-B4E2393AAB81}"/>
              </a:ext>
            </a:extLst>
          </p:cNvPr>
          <p:cNvSpPr>
            <a:spLocks noGrp="1"/>
          </p:cNvSpPr>
          <p:nvPr>
            <p:ph type="title"/>
          </p:nvPr>
        </p:nvSpPr>
        <p:spPr/>
        <p:txBody>
          <a:bodyPr/>
          <a:lstStyle/>
          <a:p>
            <a:r>
              <a:rPr lang="en-GB" sz="4000" dirty="0"/>
              <a:t>‘did not know that what he was doing was wrong’</a:t>
            </a:r>
          </a:p>
        </p:txBody>
      </p:sp>
      <p:sp>
        <p:nvSpPr>
          <p:cNvPr id="3" name="Content Placeholder 2">
            <a:extLst>
              <a:ext uri="{FF2B5EF4-FFF2-40B4-BE49-F238E27FC236}">
                <a16:creationId xmlns:a16="http://schemas.microsoft.com/office/drawing/2014/main" id="{A43F4C2B-928C-2BF8-4734-F4CB545B4EEC}"/>
              </a:ext>
            </a:extLst>
          </p:cNvPr>
          <p:cNvSpPr>
            <a:spLocks noGrp="1"/>
          </p:cNvSpPr>
          <p:nvPr>
            <p:ph idx="1"/>
          </p:nvPr>
        </p:nvSpPr>
        <p:spPr/>
        <p:txBody>
          <a:bodyPr/>
          <a:lstStyle/>
          <a:p>
            <a:r>
              <a:rPr lang="en-GB" dirty="0"/>
              <a:t>Two possibilities:</a:t>
            </a:r>
          </a:p>
          <a:p>
            <a:pPr marL="400050" indent="-400050">
              <a:buFont typeface="+mj-lt"/>
              <a:buAutoNum type="romanLcPeriod"/>
            </a:pPr>
            <a:r>
              <a:rPr lang="en-GB" dirty="0"/>
              <a:t>that D must prove that he did not know that the act was </a:t>
            </a:r>
            <a:r>
              <a:rPr lang="en-GB" b="1" dirty="0"/>
              <a:t>contrary to the law</a:t>
            </a:r>
            <a:r>
              <a:rPr lang="en-GB" dirty="0"/>
              <a:t>; or </a:t>
            </a:r>
          </a:p>
          <a:p>
            <a:pPr marL="400050" indent="-400050">
              <a:buFont typeface="+mj-lt"/>
              <a:buAutoNum type="romanLcPeriod"/>
            </a:pPr>
            <a:r>
              <a:rPr lang="en-GB" dirty="0"/>
              <a:t>that D must prove that he did not know that the act was </a:t>
            </a:r>
            <a:r>
              <a:rPr lang="en-GB" b="1" dirty="0"/>
              <a:t>wrong </a:t>
            </a:r>
            <a:r>
              <a:rPr lang="en-GB" dirty="0"/>
              <a:t>according to the standard adopted by reasonable people. </a:t>
            </a:r>
          </a:p>
          <a:p>
            <a:pPr marL="400050" indent="-400050">
              <a:buFont typeface="Arial" panose="020B0604020202020204" pitchFamily="34" charset="0"/>
              <a:buChar char="•"/>
            </a:pPr>
            <a:r>
              <a:rPr lang="en-GB" dirty="0"/>
              <a:t>Does this mean legally wrong or morally wrong? The law is not particularly clear. </a:t>
            </a:r>
            <a:r>
              <a:rPr lang="en-GB" dirty="0" err="1"/>
              <a:t>M’Naghten</a:t>
            </a:r>
            <a:r>
              <a:rPr lang="en-GB" dirty="0"/>
              <a:t> and </a:t>
            </a:r>
            <a:r>
              <a:rPr lang="en-GB" dirty="0" err="1"/>
              <a:t>Codere</a:t>
            </a:r>
            <a:r>
              <a:rPr lang="en-GB" dirty="0"/>
              <a:t> suggested it was a moral question </a:t>
            </a:r>
            <a:r>
              <a:rPr lang="en-GB" i="1" dirty="0"/>
              <a:t>‘the standard to be applied is whether according to the ordinary standard to be adopted by reasonable men the act was right or wrong.”</a:t>
            </a:r>
          </a:p>
          <a:p>
            <a:pPr marL="400050" indent="-400050">
              <a:buFont typeface="Arial" panose="020B0604020202020204" pitchFamily="34" charset="0"/>
              <a:buChar char="•"/>
            </a:pPr>
            <a:r>
              <a:rPr lang="de-DE" dirty="0"/>
              <a:t>This conflicts with </a:t>
            </a:r>
            <a:r>
              <a:rPr lang="de-DE" b="1" dirty="0"/>
              <a:t>Windle [1952] 2 QB 826 </a:t>
            </a:r>
            <a:r>
              <a:rPr lang="de-DE" dirty="0"/>
              <a:t>- “</a:t>
            </a:r>
            <a:r>
              <a:rPr lang="en-GB" dirty="0"/>
              <a:t>The test must be whether it is contrary to law … [I]n the </a:t>
            </a:r>
            <a:r>
              <a:rPr lang="en-GB" dirty="0" err="1"/>
              <a:t>M’Naghten</a:t>
            </a:r>
            <a:r>
              <a:rPr lang="en-GB" dirty="0"/>
              <a:t> Rules ‘wrong’ means contrary to law and not ‘wrong’ according to the opinion of one man or of a number of people on the question of whether a particular act might or might not be justified.”</a:t>
            </a:r>
          </a:p>
          <a:p>
            <a:pPr marL="400050" indent="-400050">
              <a:buFont typeface="Arial" panose="020B0604020202020204" pitchFamily="34" charset="0"/>
              <a:buChar char="•"/>
            </a:pPr>
            <a:r>
              <a:rPr lang="en-GB" dirty="0"/>
              <a:t>Confirmed in Johnson [2007] EWCA Crim 1978 – knowledge of illegality required.</a:t>
            </a:r>
          </a:p>
          <a:p>
            <a:pPr marL="400050" indent="-400050">
              <a:buFont typeface="Arial" panose="020B0604020202020204" pitchFamily="34" charset="0"/>
              <a:buChar char="•"/>
            </a:pPr>
            <a:r>
              <a:rPr lang="en-GB" dirty="0"/>
              <a:t>If this is followed then </a:t>
            </a:r>
            <a:r>
              <a:rPr lang="en-GB" dirty="0" err="1"/>
              <a:t>M’Naghten</a:t>
            </a:r>
            <a:r>
              <a:rPr lang="en-GB" dirty="0"/>
              <a:t> should have been convicted!</a:t>
            </a:r>
          </a:p>
        </p:txBody>
      </p:sp>
    </p:spTree>
    <p:extLst>
      <p:ext uri="{BB962C8B-B14F-4D97-AF65-F5344CB8AC3E}">
        <p14:creationId xmlns:p14="http://schemas.microsoft.com/office/powerpoint/2010/main" val="857575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45D7A-F270-81BD-B2AE-06F0ED955EB9}"/>
              </a:ext>
            </a:extLst>
          </p:cNvPr>
          <p:cNvSpPr>
            <a:spLocks noGrp="1"/>
          </p:cNvSpPr>
          <p:nvPr>
            <p:ph type="title"/>
          </p:nvPr>
        </p:nvSpPr>
        <p:spPr/>
        <p:txBody>
          <a:bodyPr/>
          <a:lstStyle/>
          <a:p>
            <a:r>
              <a:rPr lang="en-GB" dirty="0"/>
              <a:t>Should the rules be reformed?</a:t>
            </a:r>
          </a:p>
        </p:txBody>
      </p:sp>
      <p:sp>
        <p:nvSpPr>
          <p:cNvPr id="3" name="Content Placeholder 2">
            <a:extLst>
              <a:ext uri="{FF2B5EF4-FFF2-40B4-BE49-F238E27FC236}">
                <a16:creationId xmlns:a16="http://schemas.microsoft.com/office/drawing/2014/main" id="{DA912DE8-8BB3-904A-A98C-92ECC36072A6}"/>
              </a:ext>
            </a:extLst>
          </p:cNvPr>
          <p:cNvSpPr>
            <a:spLocks noGrp="1"/>
          </p:cNvSpPr>
          <p:nvPr>
            <p:ph idx="1"/>
          </p:nvPr>
        </p:nvSpPr>
        <p:spPr/>
        <p:txBody>
          <a:bodyPr/>
          <a:lstStyle/>
          <a:p>
            <a:pPr algn="l" fontAlgn="base">
              <a:buFont typeface="Arial" panose="020B0604020202020204" pitchFamily="34" charset="0"/>
              <a:buChar char="•"/>
            </a:pPr>
            <a:r>
              <a:rPr lang="en-GB" b="0" i="0" dirty="0">
                <a:solidFill>
                  <a:srgbClr val="2A2A2A"/>
                </a:solidFill>
                <a:effectLst/>
                <a:latin typeface="Merriweather" panose="00000500000000000000" pitchFamily="2" charset="0"/>
              </a:rPr>
              <a:t>The </a:t>
            </a:r>
            <a:r>
              <a:rPr lang="en-GB" b="0" i="0" dirty="0" err="1">
                <a:solidFill>
                  <a:srgbClr val="2A2A2A"/>
                </a:solidFill>
                <a:effectLst/>
                <a:latin typeface="Merriweather" panose="00000500000000000000" pitchFamily="2" charset="0"/>
              </a:rPr>
              <a:t>M’Naghten</a:t>
            </a:r>
            <a:r>
              <a:rPr lang="en-GB" b="0" i="0" dirty="0">
                <a:solidFill>
                  <a:srgbClr val="2A2A2A"/>
                </a:solidFill>
                <a:effectLst/>
                <a:latin typeface="Merriweather" panose="00000500000000000000" pitchFamily="2" charset="0"/>
              </a:rPr>
              <a:t> Rules have been the subject of persistent criticism by lawyers and doctors on several grounds.</a:t>
            </a:r>
          </a:p>
          <a:p>
            <a:pPr algn="r" fontAlgn="base"/>
            <a:endParaRPr lang="en-GB" b="0" i="0" dirty="0">
              <a:solidFill>
                <a:srgbClr val="2A2A2A"/>
              </a:solidFill>
              <a:effectLst/>
              <a:latin typeface="Merriweather" panose="00000500000000000000" pitchFamily="2" charset="0"/>
            </a:endParaRPr>
          </a:p>
          <a:p>
            <a:pPr algn="l" fontAlgn="base">
              <a:buFont typeface="+mj-lt"/>
              <a:buAutoNum type="arabicPeriod"/>
            </a:pPr>
            <a:r>
              <a:rPr lang="en-GB" b="0" i="0" dirty="0">
                <a:solidFill>
                  <a:srgbClr val="2A2A2A"/>
                </a:solidFill>
                <a:effectLst/>
                <a:latin typeface="Merriweather" panose="00000500000000000000" pitchFamily="2" charset="0"/>
              </a:rPr>
              <a:t>They do not reflect current psychiatric thinking on mental disorder—the language used is that of lawyers and does not reflect the language of psychiatry.</a:t>
            </a:r>
          </a:p>
          <a:p>
            <a:pPr algn="l" fontAlgn="base">
              <a:buFont typeface="+mj-lt"/>
              <a:buAutoNum type="arabicPeriod"/>
            </a:pPr>
            <a:r>
              <a:rPr lang="en-GB" b="0" i="0" dirty="0">
                <a:solidFill>
                  <a:srgbClr val="2A2A2A"/>
                </a:solidFill>
                <a:effectLst/>
                <a:latin typeface="Merriweather" panose="00000500000000000000" pitchFamily="2" charset="0"/>
              </a:rPr>
              <a:t>The Rules lead to absurd distinctions (i.e. Quick and Hennessey) which do not reflect any substantial difference in the responsibility of such persons for their acts.</a:t>
            </a:r>
          </a:p>
          <a:p>
            <a:pPr algn="l" fontAlgn="base">
              <a:buFont typeface="+mj-lt"/>
              <a:buAutoNum type="arabicPeriod"/>
            </a:pPr>
            <a:r>
              <a:rPr lang="en-GB" b="0" i="0" dirty="0">
                <a:solidFill>
                  <a:srgbClr val="2A2A2A"/>
                </a:solidFill>
                <a:effectLst/>
                <a:latin typeface="Merriweather" panose="00000500000000000000" pitchFamily="2" charset="0"/>
              </a:rPr>
              <a:t>The Rules cover persons who normally would not be liable to civil committal to hospital under the Mental Health Act 1983, such as diabetics, epileptics, and sleepwalkers, while failing to cover others who are covered by that Act, those suffering from insane delusions which do not prevent them from knowing what they are doing (i.e. </a:t>
            </a:r>
            <a:r>
              <a:rPr lang="en-GB" dirty="0">
                <a:solidFill>
                  <a:srgbClr val="2A2A2A"/>
                </a:solidFill>
                <a:latin typeface="Merriweather" panose="00000500000000000000" pitchFamily="2" charset="0"/>
              </a:rPr>
              <a:t>Windle)</a:t>
            </a:r>
            <a:r>
              <a:rPr lang="en-GB" b="0" i="0" dirty="0">
                <a:solidFill>
                  <a:srgbClr val="2A2A2A"/>
                </a:solidFill>
                <a:effectLst/>
                <a:latin typeface="Merriweather" panose="00000500000000000000" pitchFamily="2" charset="0"/>
              </a:rPr>
              <a:t>, and those subject to uncontrollable impulses ( i.e. kleptomania).</a:t>
            </a:r>
          </a:p>
          <a:p>
            <a:endParaRPr lang="en-GB" dirty="0"/>
          </a:p>
        </p:txBody>
      </p:sp>
    </p:spTree>
    <p:extLst>
      <p:ext uri="{BB962C8B-B14F-4D97-AF65-F5344CB8AC3E}">
        <p14:creationId xmlns:p14="http://schemas.microsoft.com/office/powerpoint/2010/main" val="2759749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D921E-EDE5-05BB-C9EC-59ABB36DACD6}"/>
              </a:ext>
            </a:extLst>
          </p:cNvPr>
          <p:cNvSpPr>
            <a:spLocks noGrp="1"/>
          </p:cNvSpPr>
          <p:nvPr>
            <p:ph type="title"/>
          </p:nvPr>
        </p:nvSpPr>
        <p:spPr/>
        <p:txBody>
          <a:bodyPr/>
          <a:lstStyle/>
          <a:p>
            <a:r>
              <a:rPr lang="en-GB" dirty="0"/>
              <a:t>Reform: ‘Not criminally responsible by reason of a recognised medical condition’</a:t>
            </a:r>
          </a:p>
        </p:txBody>
      </p:sp>
      <p:sp>
        <p:nvSpPr>
          <p:cNvPr id="3" name="Content Placeholder 2">
            <a:extLst>
              <a:ext uri="{FF2B5EF4-FFF2-40B4-BE49-F238E27FC236}">
                <a16:creationId xmlns:a16="http://schemas.microsoft.com/office/drawing/2014/main" id="{893F4F25-0867-C216-C234-7137584CC7C3}"/>
              </a:ext>
            </a:extLst>
          </p:cNvPr>
          <p:cNvSpPr>
            <a:spLocks noGrp="1"/>
          </p:cNvSpPr>
          <p:nvPr>
            <p:ph idx="1"/>
          </p:nvPr>
        </p:nvSpPr>
        <p:spPr/>
        <p:txBody>
          <a:bodyPr/>
          <a:lstStyle/>
          <a:p>
            <a:r>
              <a:rPr lang="en-GB" dirty="0"/>
              <a:t>The capacities that would have to be affected would be the capacity:</a:t>
            </a:r>
          </a:p>
          <a:p>
            <a:pPr marL="400050" indent="-400050">
              <a:buFont typeface="+mj-lt"/>
              <a:buAutoNum type="romanLcPeriod"/>
            </a:pPr>
            <a:r>
              <a:rPr lang="en-GB" dirty="0"/>
              <a:t>to make a judgment r</a:t>
            </a:r>
            <a:r>
              <a:rPr lang="en-GB" b="1" dirty="0"/>
              <a:t>ationally</a:t>
            </a:r>
            <a:r>
              <a:rPr lang="en-GB" dirty="0"/>
              <a:t> about relevant conduct or circumstances,</a:t>
            </a:r>
          </a:p>
          <a:p>
            <a:pPr marL="400050" indent="-400050">
              <a:buFont typeface="+mj-lt"/>
              <a:buAutoNum type="romanLcPeriod"/>
            </a:pPr>
            <a:r>
              <a:rPr lang="en-GB" dirty="0"/>
              <a:t>to understand that you are doing something </a:t>
            </a:r>
            <a:r>
              <a:rPr lang="en-GB" b="1" dirty="0"/>
              <a:t>wrong</a:t>
            </a:r>
            <a:r>
              <a:rPr lang="en-GB" dirty="0"/>
              <a:t>, or</a:t>
            </a:r>
          </a:p>
          <a:p>
            <a:pPr marL="400050" indent="-400050">
              <a:buFont typeface="+mj-lt"/>
              <a:buAutoNum type="romanLcPeriod"/>
            </a:pPr>
            <a:r>
              <a:rPr lang="en-GB" dirty="0"/>
              <a:t>to </a:t>
            </a:r>
            <a:r>
              <a:rPr lang="en-GB" b="1" dirty="0"/>
              <a:t>control physical acts </a:t>
            </a:r>
            <a:r>
              <a:rPr lang="en-GB" dirty="0"/>
              <a:t>in relation to relevant conduct or circumstances.</a:t>
            </a:r>
          </a:p>
          <a:p>
            <a:pPr marL="285750" indent="-285750">
              <a:buFont typeface="Arial" panose="020B0604020202020204" pitchFamily="34" charset="0"/>
              <a:buChar char="•"/>
            </a:pPr>
            <a:r>
              <a:rPr lang="en-GB" dirty="0"/>
              <a:t>D only being required to satisfy an </a:t>
            </a:r>
            <a:r>
              <a:rPr lang="en-GB" b="1" dirty="0"/>
              <a:t>evidential burden </a:t>
            </a:r>
            <a:r>
              <a:rPr lang="en-GB" dirty="0"/>
              <a:t>to produce evidence from two expert witnesses relating to the elements of the defence, it then being for the prosecution to disprove the defence.</a:t>
            </a:r>
          </a:p>
          <a:p>
            <a:pPr marL="285750" indent="-285750">
              <a:buFont typeface="Arial" panose="020B0604020202020204" pitchFamily="34" charset="0"/>
              <a:buChar char="•"/>
            </a:pPr>
            <a:r>
              <a:rPr lang="en-GB" dirty="0"/>
              <a:t>Alongside this defence would be a </a:t>
            </a:r>
            <a:r>
              <a:rPr lang="en-GB" b="1" dirty="0"/>
              <a:t>reformed defence of automatism </a:t>
            </a:r>
            <a:r>
              <a:rPr lang="en-GB" dirty="0"/>
              <a:t>which would be available where D has a total loss of capacity to control his actions, for which he is not culpably responsible and which is not caused by a recognised medical condition. </a:t>
            </a:r>
          </a:p>
          <a:p>
            <a:pPr marL="285750" indent="-285750">
              <a:buFont typeface="Arial" panose="020B0604020202020204" pitchFamily="34" charset="0"/>
              <a:buChar char="•"/>
            </a:pPr>
            <a:r>
              <a:rPr lang="en-GB" dirty="0"/>
              <a:t>This would cover something like a reflex action, whereas incapacity arising from diabetes, epilepsy, or a sleep disorder would fall under the defence of ‘not criminally responsible by reason of a recognised medical condition’.</a:t>
            </a:r>
          </a:p>
        </p:txBody>
      </p:sp>
    </p:spTree>
    <p:extLst>
      <p:ext uri="{BB962C8B-B14F-4D97-AF65-F5344CB8AC3E}">
        <p14:creationId xmlns:p14="http://schemas.microsoft.com/office/powerpoint/2010/main" val="1035565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C89DA-53D3-914F-1AD4-D656CC32B616}"/>
              </a:ext>
            </a:extLst>
          </p:cNvPr>
          <p:cNvSpPr>
            <a:spLocks noGrp="1"/>
          </p:cNvSpPr>
          <p:nvPr>
            <p:ph type="title"/>
          </p:nvPr>
        </p:nvSpPr>
        <p:spPr>
          <a:xfrm>
            <a:off x="914400" y="609600"/>
            <a:ext cx="10363200" cy="1143000"/>
          </a:xfrm>
        </p:spPr>
        <p:txBody>
          <a:bodyPr wrap="square" anchor="ctr">
            <a:normAutofit/>
          </a:bodyPr>
          <a:lstStyle/>
          <a:p>
            <a:r>
              <a:rPr lang="en-US" dirty="0"/>
              <a:t>Case Spotlight (NOT an insanity case!) </a:t>
            </a:r>
          </a:p>
        </p:txBody>
      </p:sp>
      <p:sp>
        <p:nvSpPr>
          <p:cNvPr id="6" name="TextBox 5">
            <a:extLst>
              <a:ext uri="{FF2B5EF4-FFF2-40B4-BE49-F238E27FC236}">
                <a16:creationId xmlns:a16="http://schemas.microsoft.com/office/drawing/2014/main" id="{30E86A13-A204-C33D-CC5F-3907BA45ECAA}"/>
              </a:ext>
            </a:extLst>
          </p:cNvPr>
          <p:cNvSpPr txBox="1"/>
          <p:nvPr/>
        </p:nvSpPr>
        <p:spPr bwMode="auto">
          <a:xfrm>
            <a:off x="912284" y="1989138"/>
            <a:ext cx="5086350" cy="3816350"/>
          </a:xfrm>
          <a:prstGeom prst="rect">
            <a:avLst/>
          </a:prstGeom>
          <a:noFill/>
          <a:ln>
            <a:noFill/>
          </a:ln>
        </p:spPr>
        <p:txBody>
          <a:bodyPr vert="horz" wrap="square" lIns="91440" tIns="45720" rIns="91440" bIns="45720" numCol="1" rtlCol="0" anchor="t" anchorCtr="0" compatLnSpc="1">
            <a:prstTxWarp prst="textNoShape">
              <a:avLst/>
            </a:prstTxWarp>
            <a:normAutofit lnSpcReduction="10000"/>
          </a:bodyPr>
          <a:lstStyle/>
          <a:p>
            <a:pPr marL="342900" indent="-342900" eaLnBrk="0" fontAlgn="base" hangingPunct="0">
              <a:lnSpc>
                <a:spcPct val="90000"/>
              </a:lnSpc>
              <a:spcBef>
                <a:spcPct val="20000"/>
              </a:spcBef>
              <a:spcAft>
                <a:spcPct val="0"/>
              </a:spcAft>
              <a:buFont typeface="Arial" panose="020B0604020202020204" pitchFamily="34" charset="0"/>
              <a:buChar char="•"/>
            </a:pPr>
            <a:r>
              <a:rPr lang="en-US" sz="1400" b="1" dirty="0"/>
              <a:t>R v </a:t>
            </a:r>
            <a:r>
              <a:rPr lang="en-US" sz="1400" b="1" dirty="0" err="1"/>
              <a:t>Calocane</a:t>
            </a:r>
            <a:r>
              <a:rPr lang="en-US" sz="1400" b="1" dirty="0"/>
              <a:t> [2024] EWCA Crim 490.</a:t>
            </a:r>
          </a:p>
          <a:p>
            <a:pPr marL="342900" indent="-342900" eaLnBrk="0" fontAlgn="base" hangingPunct="0">
              <a:lnSpc>
                <a:spcPct val="90000"/>
              </a:lnSpc>
              <a:spcBef>
                <a:spcPct val="20000"/>
              </a:spcBef>
              <a:spcAft>
                <a:spcPct val="0"/>
              </a:spcAft>
              <a:buFont typeface="Arial" panose="020B0604020202020204" pitchFamily="34" charset="0"/>
              <a:buChar char="•"/>
            </a:pPr>
            <a:r>
              <a:rPr lang="en-US" sz="1400" dirty="0"/>
              <a:t>High profile triple murder in Nottingham. </a:t>
            </a:r>
          </a:p>
          <a:p>
            <a:pPr marL="342900" indent="-342900" eaLnBrk="0" fontAlgn="base" hangingPunct="0">
              <a:lnSpc>
                <a:spcPct val="90000"/>
              </a:lnSpc>
              <a:spcBef>
                <a:spcPct val="20000"/>
              </a:spcBef>
              <a:spcAft>
                <a:spcPct val="0"/>
              </a:spcAft>
              <a:buFont typeface="Arial" panose="020B0604020202020204" pitchFamily="34" charset="0"/>
              <a:buChar char="•"/>
            </a:pPr>
            <a:r>
              <a:rPr lang="en-US" sz="1400" b="0" i="0" u="none" strike="noStrike" dirty="0">
                <a:effectLst/>
              </a:rPr>
              <a:t>Suffering from paranoid schizophrenia at the time of the offences, Valdo </a:t>
            </a:r>
            <a:r>
              <a:rPr lang="en-US" sz="1400" b="0" i="0" u="none" strike="noStrike" dirty="0" err="1">
                <a:effectLst/>
              </a:rPr>
              <a:t>Calocane</a:t>
            </a:r>
            <a:r>
              <a:rPr lang="en-US" sz="1400" b="0" i="0" u="none" strike="noStrike" dirty="0">
                <a:effectLst/>
              </a:rPr>
              <a:t> fatally stabbed two teenagers, then just over an hour later fatally stabbed a man, stole his van, and deliberately drove into three people on two separate occasions causing serious injuries.</a:t>
            </a:r>
          </a:p>
          <a:p>
            <a:pPr marL="342900" indent="-342900" eaLnBrk="0" fontAlgn="base" hangingPunct="0">
              <a:lnSpc>
                <a:spcPct val="90000"/>
              </a:lnSpc>
              <a:spcBef>
                <a:spcPct val="20000"/>
              </a:spcBef>
              <a:spcAft>
                <a:spcPct val="0"/>
              </a:spcAft>
              <a:buFont typeface="Arial" panose="020B0604020202020204" pitchFamily="34" charset="0"/>
              <a:buChar char="•"/>
            </a:pPr>
            <a:endParaRPr lang="en-US" sz="1400" dirty="0"/>
          </a:p>
          <a:p>
            <a:pPr marL="342900" indent="-342900" eaLnBrk="0" fontAlgn="base" hangingPunct="0">
              <a:lnSpc>
                <a:spcPct val="90000"/>
              </a:lnSpc>
              <a:spcBef>
                <a:spcPct val="20000"/>
              </a:spcBef>
              <a:spcAft>
                <a:spcPct val="0"/>
              </a:spcAft>
              <a:buFont typeface="Arial" panose="020B0604020202020204" pitchFamily="34" charset="0"/>
              <a:buChar char="•"/>
            </a:pPr>
            <a:r>
              <a:rPr lang="en-US" sz="1400" b="0" i="0" u="none" strike="noStrike" dirty="0">
                <a:effectLst/>
              </a:rPr>
              <a:t>A total of 5 psychiatric reports were includes in the proceedings. The</a:t>
            </a:r>
            <a:r>
              <a:rPr lang="en-US" sz="1400" dirty="0">
                <a:effectLst/>
              </a:rPr>
              <a:t> psychiatrists who expressed a view on the issue agreed that a hospital order with restrictions was the appropriate disposal of the criminal case.</a:t>
            </a:r>
          </a:p>
          <a:p>
            <a:pPr marL="342900" indent="-342900" eaLnBrk="0" fontAlgn="base" hangingPunct="0">
              <a:lnSpc>
                <a:spcPct val="90000"/>
              </a:lnSpc>
              <a:spcBef>
                <a:spcPct val="20000"/>
              </a:spcBef>
              <a:spcAft>
                <a:spcPct val="0"/>
              </a:spcAft>
              <a:buFont typeface="Arial" panose="020B0604020202020204" pitchFamily="34" charset="0"/>
              <a:buChar char="•"/>
            </a:pPr>
            <a:r>
              <a:rPr lang="en-US" sz="1400" dirty="0"/>
              <a:t>Judge accepted a diminished responsibility </a:t>
            </a:r>
            <a:r>
              <a:rPr lang="en-US" sz="1400" dirty="0" err="1"/>
              <a:t>defence</a:t>
            </a:r>
            <a:r>
              <a:rPr lang="en-US" sz="1400" dirty="0"/>
              <a:t>. </a:t>
            </a:r>
            <a:r>
              <a:rPr lang="en-US" sz="1400" b="0" i="0" u="none" strike="noStrike" dirty="0">
                <a:effectLst/>
              </a:rPr>
              <a:t>He considered the evidence of medical practitioners, that treatment was available, and thought that a hospital order was ‘appropriate'. The Judge in </a:t>
            </a:r>
            <a:r>
              <a:rPr lang="en-US" sz="1400" b="0" i="0" u="none" strike="noStrike" dirty="0" err="1">
                <a:effectLst/>
              </a:rPr>
              <a:t>Calcone’s</a:t>
            </a:r>
            <a:r>
              <a:rPr lang="en-US" sz="1400" b="0" i="0" u="none" strike="noStrike" dirty="0">
                <a:effectLst/>
              </a:rPr>
              <a:t> case also added a restriction on release,</a:t>
            </a:r>
          </a:p>
          <a:p>
            <a:pPr marL="342900" indent="-342900" eaLnBrk="0" fontAlgn="base" hangingPunct="0">
              <a:lnSpc>
                <a:spcPct val="90000"/>
              </a:lnSpc>
              <a:spcBef>
                <a:spcPct val="20000"/>
              </a:spcBef>
              <a:spcAft>
                <a:spcPct val="0"/>
              </a:spcAft>
              <a:buFont typeface="Arial" panose="020B0604020202020204" pitchFamily="34" charset="0"/>
              <a:buChar char="•"/>
            </a:pPr>
            <a:r>
              <a:rPr lang="en-US" sz="1400" dirty="0"/>
              <a:t>Public policy considerations. </a:t>
            </a:r>
            <a:r>
              <a:rPr lang="en-US" sz="1400" b="0" i="0" u="none" strike="noStrike" dirty="0">
                <a:effectLst/>
              </a:rPr>
              <a:t> </a:t>
            </a:r>
          </a:p>
          <a:p>
            <a:pPr marL="342900" indent="-342900" eaLnBrk="0" fontAlgn="base" hangingPunct="0">
              <a:lnSpc>
                <a:spcPct val="90000"/>
              </a:lnSpc>
              <a:spcBef>
                <a:spcPct val="20000"/>
              </a:spcBef>
              <a:spcAft>
                <a:spcPct val="0"/>
              </a:spcAft>
            </a:pPr>
            <a:br>
              <a:rPr lang="en-US" sz="1100" dirty="0"/>
            </a:br>
            <a:endParaRPr lang="en-US" sz="1100" dirty="0">
              <a:effectLst/>
            </a:endParaRPr>
          </a:p>
          <a:p>
            <a:pPr marL="342900" indent="-342900" eaLnBrk="0" fontAlgn="base" hangingPunct="0">
              <a:lnSpc>
                <a:spcPct val="90000"/>
              </a:lnSpc>
              <a:spcBef>
                <a:spcPct val="20000"/>
              </a:spcBef>
              <a:spcAft>
                <a:spcPct val="0"/>
              </a:spcAft>
              <a:buFont typeface="Arial" panose="020B0604020202020204" pitchFamily="34" charset="0"/>
              <a:buChar char="•"/>
            </a:pPr>
            <a:endParaRPr lang="en-US" sz="1100" dirty="0"/>
          </a:p>
          <a:p>
            <a:pPr marL="342900" indent="-342900" eaLnBrk="0" fontAlgn="base" hangingPunct="0">
              <a:lnSpc>
                <a:spcPct val="90000"/>
              </a:lnSpc>
              <a:spcBef>
                <a:spcPct val="20000"/>
              </a:spcBef>
              <a:spcAft>
                <a:spcPct val="0"/>
              </a:spcAft>
              <a:buFont typeface="Arial" panose="020B0604020202020204" pitchFamily="34" charset="0"/>
              <a:buChar char="•"/>
            </a:pPr>
            <a:endParaRPr lang="en-US" sz="1100" dirty="0"/>
          </a:p>
          <a:p>
            <a:pPr marL="342900" indent="-342900" eaLnBrk="0" fontAlgn="base" hangingPunct="0">
              <a:lnSpc>
                <a:spcPct val="90000"/>
              </a:lnSpc>
              <a:spcBef>
                <a:spcPct val="20000"/>
              </a:spcBef>
              <a:spcAft>
                <a:spcPct val="0"/>
              </a:spcAft>
              <a:buFont typeface="Arial" panose="020B0604020202020204" pitchFamily="34" charset="0"/>
              <a:buChar char="•"/>
            </a:pPr>
            <a:endParaRPr lang="en-US" sz="1100" dirty="0"/>
          </a:p>
        </p:txBody>
      </p:sp>
      <p:pic>
        <p:nvPicPr>
          <p:cNvPr id="1026" name="Picture 2" descr="Valdo Calocane: Doctor warned ...">
            <a:extLst>
              <a:ext uri="{FF2B5EF4-FFF2-40B4-BE49-F238E27FC236}">
                <a16:creationId xmlns:a16="http://schemas.microsoft.com/office/drawing/2014/main" id="{3E5DB1A6-8495-7BAB-CBB6-4A7A776A08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1182" r="14181" b="-2"/>
          <a:stretch/>
        </p:blipFill>
        <p:spPr bwMode="auto">
          <a:xfrm>
            <a:off x="6189134" y="1989138"/>
            <a:ext cx="5086350" cy="3816350"/>
          </a:xfr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935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81472-1B46-547E-32B6-9847887C694E}"/>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638DBD23-D405-857B-DB6A-310A2E368592}"/>
              </a:ext>
            </a:extLst>
          </p:cNvPr>
          <p:cNvSpPr>
            <a:spLocks noGrp="1"/>
          </p:cNvSpPr>
          <p:nvPr>
            <p:ph idx="1"/>
          </p:nvPr>
        </p:nvSpPr>
        <p:spPr/>
        <p:txBody>
          <a:bodyPr/>
          <a:lstStyle/>
          <a:p>
            <a:pPr>
              <a:buFont typeface="Arial" panose="020B0604020202020204" pitchFamily="34" charset="0"/>
              <a:buChar char="•"/>
            </a:pPr>
            <a:r>
              <a:rPr lang="en-GB" sz="2000" dirty="0"/>
              <a:t>Insanity is relevant at the time D is arraigned, as an accused may be found </a:t>
            </a:r>
            <a:r>
              <a:rPr lang="en-GB" sz="2000" b="1" dirty="0"/>
              <a:t>‘unfit to plead’</a:t>
            </a:r>
            <a:r>
              <a:rPr lang="en-GB" sz="2000" dirty="0"/>
              <a:t> (ss 4 and 4A of the Criminal Procedure (Insanity) Act 1964).</a:t>
            </a:r>
          </a:p>
          <a:p>
            <a:pPr>
              <a:buFont typeface="Arial" panose="020B0604020202020204" pitchFamily="34" charset="0"/>
              <a:buChar char="•"/>
            </a:pPr>
            <a:r>
              <a:rPr lang="en-GB" sz="2000" dirty="0"/>
              <a:t>A person who is legally insane will receive the special verdict of </a:t>
            </a:r>
            <a:r>
              <a:rPr lang="en-GB" sz="2000" b="1" dirty="0"/>
              <a:t>‘not guilty by reason of insanity’ </a:t>
            </a:r>
            <a:r>
              <a:rPr lang="en-GB" sz="2000" dirty="0"/>
              <a:t>(s. 2 of the Trial of Lunatics Act 1883).</a:t>
            </a:r>
          </a:p>
          <a:p>
            <a:pPr>
              <a:buFont typeface="Arial" panose="020B0604020202020204" pitchFamily="34" charset="0"/>
              <a:buChar char="•"/>
            </a:pPr>
            <a:r>
              <a:rPr lang="en-GB" sz="2000" dirty="0"/>
              <a:t>The tests for insanity were set out in the </a:t>
            </a:r>
            <a:r>
              <a:rPr lang="en-GB" sz="2000" b="1" dirty="0" err="1"/>
              <a:t>M’Naghten</a:t>
            </a:r>
            <a:r>
              <a:rPr lang="en-GB" sz="2000" b="1" dirty="0"/>
              <a:t> Rules </a:t>
            </a:r>
            <a:r>
              <a:rPr lang="en-GB" sz="2000" dirty="0"/>
              <a:t>(1843):</a:t>
            </a:r>
          </a:p>
          <a:p>
            <a:pPr marL="971550" lvl="1" indent="-514350">
              <a:buFont typeface="+mj-lt"/>
              <a:buAutoNum type="romanLcPeriod"/>
            </a:pPr>
            <a:r>
              <a:rPr lang="en-GB" sz="2000" dirty="0"/>
              <a:t>D was suffering from a </a:t>
            </a:r>
            <a:r>
              <a:rPr lang="en-GB" sz="2000" b="1" dirty="0"/>
              <a:t>disease of the mind</a:t>
            </a:r>
            <a:r>
              <a:rPr lang="en-GB" sz="2000" dirty="0"/>
              <a:t>, which is a legal not medical term;</a:t>
            </a:r>
          </a:p>
          <a:p>
            <a:pPr marL="971550" lvl="1" indent="-514350">
              <a:buFont typeface="+mj-lt"/>
              <a:buAutoNum type="romanLcPeriod"/>
            </a:pPr>
            <a:r>
              <a:rPr lang="en-GB" sz="2000" dirty="0"/>
              <a:t>that gave rise to a </a:t>
            </a:r>
            <a:r>
              <a:rPr lang="en-GB" sz="2000" b="1" dirty="0"/>
              <a:t>defect of reason</a:t>
            </a:r>
            <a:r>
              <a:rPr lang="en-GB" sz="2000" dirty="0"/>
              <a:t>;</a:t>
            </a:r>
          </a:p>
          <a:p>
            <a:pPr marL="971550" lvl="1" indent="-514350">
              <a:buFont typeface="+mj-lt"/>
              <a:buAutoNum type="romanLcPeriod"/>
            </a:pPr>
            <a:r>
              <a:rPr lang="en-GB" sz="2000" dirty="0"/>
              <a:t>as a result, he either did not know the </a:t>
            </a:r>
            <a:r>
              <a:rPr lang="en-GB" sz="2000" b="1" dirty="0"/>
              <a:t>nature and quality </a:t>
            </a:r>
            <a:r>
              <a:rPr lang="en-GB" sz="2000" dirty="0"/>
              <a:t>of his act </a:t>
            </a:r>
            <a:r>
              <a:rPr lang="en-GB" sz="2000" b="1" dirty="0"/>
              <a:t>OR </a:t>
            </a:r>
            <a:r>
              <a:rPr lang="en-GB" sz="2000" dirty="0"/>
              <a:t>he did not know that what he was doing was </a:t>
            </a:r>
            <a:r>
              <a:rPr lang="en-GB" sz="2000" b="1" dirty="0"/>
              <a:t>wrong</a:t>
            </a:r>
            <a:r>
              <a:rPr lang="en-GB" sz="2000" dirty="0"/>
              <a:t>.</a:t>
            </a:r>
          </a:p>
        </p:txBody>
      </p:sp>
    </p:spTree>
    <p:extLst>
      <p:ext uri="{BB962C8B-B14F-4D97-AF65-F5344CB8AC3E}">
        <p14:creationId xmlns:p14="http://schemas.microsoft.com/office/powerpoint/2010/main" val="3871074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8CF71-CB69-DB94-08EF-8B42E305A85C}"/>
              </a:ext>
            </a:extLst>
          </p:cNvPr>
          <p:cNvSpPr>
            <a:spLocks noGrp="1"/>
          </p:cNvSpPr>
          <p:nvPr>
            <p:ph type="title"/>
          </p:nvPr>
        </p:nvSpPr>
        <p:spPr/>
        <p:txBody>
          <a:bodyPr/>
          <a:lstStyle/>
          <a:p>
            <a:r>
              <a:rPr lang="en-GB"/>
              <a:t>Critical thinking points:</a:t>
            </a:r>
            <a:endParaRPr lang="en-GB" dirty="0"/>
          </a:p>
        </p:txBody>
      </p:sp>
      <p:sp>
        <p:nvSpPr>
          <p:cNvPr id="3" name="Content Placeholder 2">
            <a:extLst>
              <a:ext uri="{FF2B5EF4-FFF2-40B4-BE49-F238E27FC236}">
                <a16:creationId xmlns:a16="http://schemas.microsoft.com/office/drawing/2014/main" id="{52019896-6040-5A74-1149-AC09686EB29F}"/>
              </a:ext>
            </a:extLst>
          </p:cNvPr>
          <p:cNvSpPr>
            <a:spLocks noGrp="1"/>
          </p:cNvSpPr>
          <p:nvPr>
            <p:ph idx="1"/>
          </p:nvPr>
        </p:nvSpPr>
        <p:spPr/>
        <p:txBody>
          <a:bodyPr/>
          <a:lstStyle/>
          <a:p>
            <a:pPr>
              <a:buFont typeface="Arial" panose="020B0604020202020204" pitchFamily="34" charset="0"/>
              <a:buChar char="•"/>
            </a:pPr>
            <a:r>
              <a:rPr lang="en-GB" sz="2000" dirty="0"/>
              <a:t>Are the rules under or over inclusive?</a:t>
            </a:r>
          </a:p>
          <a:p>
            <a:pPr>
              <a:buFont typeface="Arial" panose="020B0604020202020204" pitchFamily="34" charset="0"/>
              <a:buChar char="•"/>
            </a:pPr>
            <a:r>
              <a:rPr lang="en-GB" sz="2000" dirty="0"/>
              <a:t>Is it clear what constitutes ‘disease of the mind’?</a:t>
            </a:r>
          </a:p>
          <a:p>
            <a:pPr>
              <a:buFont typeface="Arial" panose="020B0604020202020204" pitchFamily="34" charset="0"/>
              <a:buChar char="•"/>
            </a:pPr>
            <a:r>
              <a:rPr lang="en-GB" sz="2000" dirty="0"/>
              <a:t>Is it a problem that medical terminology differs from legal terminology?</a:t>
            </a:r>
          </a:p>
          <a:p>
            <a:pPr>
              <a:buFont typeface="Arial" panose="020B0604020202020204" pitchFamily="34" charset="0"/>
              <a:buChar char="•"/>
            </a:pPr>
            <a:r>
              <a:rPr lang="en-GB" sz="2000" dirty="0"/>
              <a:t>Can you explain the problems with the internal/external requirements using case examples?</a:t>
            </a:r>
          </a:p>
          <a:p>
            <a:pPr>
              <a:buFont typeface="Arial" panose="020B0604020202020204" pitchFamily="34" charset="0"/>
              <a:buChar char="•"/>
            </a:pPr>
            <a:r>
              <a:rPr lang="en-GB" sz="2000" dirty="0"/>
              <a:t>Should insanity include those who we might not think of as insane such as those who are diabetic, have epilepsy or sleepwalk? Does this create a problem of labelling?</a:t>
            </a:r>
          </a:p>
          <a:p>
            <a:pPr>
              <a:buFont typeface="Arial" panose="020B0604020202020204" pitchFamily="34" charset="0"/>
              <a:buChar char="•"/>
            </a:pPr>
            <a:r>
              <a:rPr lang="en-GB" sz="2000" dirty="0"/>
              <a:t>Do the rules deal with the mischief they are trying to address?</a:t>
            </a:r>
          </a:p>
          <a:p>
            <a:pPr>
              <a:buFont typeface="Arial" panose="020B0604020202020204" pitchFamily="34" charset="0"/>
              <a:buChar char="•"/>
            </a:pPr>
            <a:r>
              <a:rPr lang="en-GB" sz="2000" dirty="0"/>
              <a:t>Are the rules consistent?</a:t>
            </a:r>
          </a:p>
          <a:p>
            <a:pPr>
              <a:buFont typeface="Arial" panose="020B0604020202020204" pitchFamily="34" charset="0"/>
              <a:buChar char="•"/>
            </a:pPr>
            <a:r>
              <a:rPr lang="en-GB" sz="2000" dirty="0"/>
              <a:t>Why might the D not want to plead insanity?</a:t>
            </a:r>
          </a:p>
          <a:p>
            <a:pPr>
              <a:buFont typeface="Arial" panose="020B0604020202020204" pitchFamily="34" charset="0"/>
              <a:buChar char="•"/>
            </a:pPr>
            <a:r>
              <a:rPr lang="en-GB" sz="2000" dirty="0"/>
              <a:t>What are the public policy issues around insanity pleas?</a:t>
            </a:r>
          </a:p>
        </p:txBody>
      </p:sp>
    </p:spTree>
    <p:extLst>
      <p:ext uri="{BB962C8B-B14F-4D97-AF65-F5344CB8AC3E}">
        <p14:creationId xmlns:p14="http://schemas.microsoft.com/office/powerpoint/2010/main" val="3904951201"/>
      </p:ext>
    </p:extLst>
  </p:cSld>
  <p:clrMapOvr>
    <a:masterClrMapping/>
  </p:clrMapOvr>
</p:sld>
</file>

<file path=ppt/theme/theme1.xml><?xml version="1.0" encoding="utf-8"?>
<a:theme xmlns:a="http://schemas.openxmlformats.org/drawingml/2006/main" name="Open Day Presentation">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1559B6-EB22-4930-A078-2B4E9B7399C1}">
  <ds:schemaRefs>
    <ds:schemaRef ds:uri="http://purl.org/dc/elements/1.1/"/>
    <ds:schemaRef ds:uri="http://schemas.microsoft.com/office/infopath/2007/PartnerControls"/>
    <ds:schemaRef ds:uri="http://schemas.microsoft.com/office/2006/documentManagement/types"/>
    <ds:schemaRef ds:uri="8cb6f0ce-4087-48d0-bd68-6d11fe1cb46f"/>
    <ds:schemaRef ds:uri="http://schemas.microsoft.com/office/2006/metadata/properties"/>
    <ds:schemaRef ds:uri="http://www.w3.org/XML/1998/namespace"/>
    <ds:schemaRef ds:uri="http://purl.org/dc/term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EB62B343-395F-478E-A7B7-32B2056EE864}">
  <ds:schemaRefs>
    <ds:schemaRef ds:uri="http://schemas.microsoft.com/sharepoint/v3/contenttype/forms"/>
  </ds:schemaRefs>
</ds:datastoreItem>
</file>

<file path=customXml/itemProps3.xml><?xml version="1.0" encoding="utf-8"?>
<ds:datastoreItem xmlns:ds="http://schemas.openxmlformats.org/officeDocument/2006/customXml" ds:itemID="{4ED01761-CB4F-468A-8A17-CAC20361B3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4411</TotalTime>
  <Words>2787</Words>
  <Application>Microsoft Macintosh PowerPoint</Application>
  <PresentationFormat>Widescreen</PresentationFormat>
  <Paragraphs>125</Paragraphs>
  <Slides>17</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Merriweather</vt:lpstr>
      <vt:lpstr>Times</vt:lpstr>
      <vt:lpstr>Open Day Presentation</vt:lpstr>
      <vt:lpstr>Blank</vt:lpstr>
      <vt:lpstr>Criminal Law, Lecture 17: Insanity </vt:lpstr>
      <vt:lpstr>Learning Outcomes</vt:lpstr>
      <vt:lpstr>Insanity</vt:lpstr>
      <vt:lpstr>Insane at the time the AR was committed.</vt:lpstr>
      <vt:lpstr>M’Naghten Rules</vt:lpstr>
      <vt:lpstr> (1) Everyone is presumed sane and to possess a sufficient degree of reason to be responsible for their crimes until the contrary is proved. </vt:lpstr>
      <vt:lpstr>(2) To establish a defence of insanity it must be clearly proved that at the time of committing the act, D was labouring under such a defect of reason, from disease of the mind, as (a) not to know the nature and quality of the act he was doing; or (b) if he did know it, not to know he was doing what was wrong. </vt:lpstr>
      <vt:lpstr>i) Disease of the mind</vt:lpstr>
      <vt:lpstr>The use of the criterion of internal/external causes to distinguish insanity from automatism</vt:lpstr>
      <vt:lpstr>ii) Defect of reason</vt:lpstr>
      <vt:lpstr> iii) that as a result he either did not know the nature and quality of his act or he did not know that what he was doing was wrong. </vt:lpstr>
      <vt:lpstr>‘did not know that what he was doing was wrong’</vt:lpstr>
      <vt:lpstr>Should the rules be reformed?</vt:lpstr>
      <vt:lpstr>Reform: ‘Not criminally responsible by reason of a recognised medical condition’</vt:lpstr>
      <vt:lpstr>Case Spotlight (NOT an insanity case!) </vt:lpstr>
      <vt:lpstr>Summary</vt:lpstr>
      <vt:lpstr>Critical thinking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Criminal Law, Lecture 16: Insanity</dc:title>
  <dc:creator>DAVIES, GEMMA</dc:creator>
  <cp:lastModifiedBy>LANGLEY, KAT L.</cp:lastModifiedBy>
  <cp:revision>8</cp:revision>
  <dcterms:created xsi:type="dcterms:W3CDTF">2023-02-09T10:57:09Z</dcterms:created>
  <dcterms:modified xsi:type="dcterms:W3CDTF">2025-02-19T10:47:21Z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