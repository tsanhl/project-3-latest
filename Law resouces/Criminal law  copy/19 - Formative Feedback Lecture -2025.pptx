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4"/>
  </p:sldMasterIdLst>
  <p:notesMasterIdLst>
    <p:notesMasterId r:id="rId42"/>
  </p:notesMasterIdLst>
  <p:sldIdLst>
    <p:sldId id="274" r:id="rId5"/>
    <p:sldId id="414" r:id="rId6"/>
    <p:sldId id="260" r:id="rId7"/>
    <p:sldId id="319" r:id="rId8"/>
    <p:sldId id="393" r:id="rId9"/>
    <p:sldId id="395" r:id="rId10"/>
    <p:sldId id="396" r:id="rId11"/>
    <p:sldId id="397" r:id="rId12"/>
    <p:sldId id="392" r:id="rId13"/>
    <p:sldId id="416" r:id="rId14"/>
    <p:sldId id="417" r:id="rId15"/>
    <p:sldId id="400" r:id="rId16"/>
    <p:sldId id="418" r:id="rId17"/>
    <p:sldId id="408" r:id="rId18"/>
    <p:sldId id="402" r:id="rId19"/>
    <p:sldId id="403" r:id="rId20"/>
    <p:sldId id="404" r:id="rId21"/>
    <p:sldId id="406" r:id="rId22"/>
    <p:sldId id="419" r:id="rId23"/>
    <p:sldId id="409" r:id="rId24"/>
    <p:sldId id="422" r:id="rId25"/>
    <p:sldId id="405" r:id="rId26"/>
    <p:sldId id="407" r:id="rId27"/>
    <p:sldId id="420" r:id="rId28"/>
    <p:sldId id="421" r:id="rId29"/>
    <p:sldId id="423" r:id="rId30"/>
    <p:sldId id="281" r:id="rId31"/>
    <p:sldId id="344" r:id="rId32"/>
    <p:sldId id="345" r:id="rId33"/>
    <p:sldId id="346" r:id="rId34"/>
    <p:sldId id="347" r:id="rId35"/>
    <p:sldId id="410" r:id="rId36"/>
    <p:sldId id="411" r:id="rId37"/>
    <p:sldId id="412" r:id="rId38"/>
    <p:sldId id="413" r:id="rId39"/>
    <p:sldId id="424" r:id="rId40"/>
    <p:sldId id="425" r:id="rId41"/>
  </p:sldIdLst>
  <p:sldSz cx="9144000" cy="6858000" type="screen4x3"/>
  <p:notesSz cx="6797675" cy="9928225"/>
  <p:defaultTextStyle>
    <a:defPPr>
      <a:defRPr lang="en-GB"/>
    </a:defPPr>
    <a:lvl1pPr algn="l" rtl="0" eaLnBrk="0" fontAlgn="base" hangingPunct="0">
      <a:spcBef>
        <a:spcPct val="0"/>
      </a:spcBef>
      <a:spcAft>
        <a:spcPct val="0"/>
      </a:spcAft>
      <a:defRPr sz="2400" kern="1200">
        <a:solidFill>
          <a:schemeClr val="tx1"/>
        </a:solidFill>
        <a:latin typeface="Times"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panose="02020603050405020304" pitchFamily="18" charset="0"/>
        <a:ea typeface="+mn-ea"/>
        <a:cs typeface="+mn-cs"/>
      </a:defRPr>
    </a:lvl5pPr>
    <a:lvl6pPr marL="2286000" algn="l" defTabSz="914400" rtl="0" eaLnBrk="1" latinLnBrk="0" hangingPunct="1">
      <a:defRPr sz="2400" kern="1200">
        <a:solidFill>
          <a:schemeClr val="tx1"/>
        </a:solidFill>
        <a:latin typeface="Times" panose="02020603050405020304" pitchFamily="18" charset="0"/>
        <a:ea typeface="+mn-ea"/>
        <a:cs typeface="+mn-cs"/>
      </a:defRPr>
    </a:lvl6pPr>
    <a:lvl7pPr marL="2743200" algn="l" defTabSz="914400" rtl="0" eaLnBrk="1" latinLnBrk="0" hangingPunct="1">
      <a:defRPr sz="2400" kern="1200">
        <a:solidFill>
          <a:schemeClr val="tx1"/>
        </a:solidFill>
        <a:latin typeface="Times" panose="02020603050405020304" pitchFamily="18" charset="0"/>
        <a:ea typeface="+mn-ea"/>
        <a:cs typeface="+mn-cs"/>
      </a:defRPr>
    </a:lvl7pPr>
    <a:lvl8pPr marL="3200400" algn="l" defTabSz="914400" rtl="0" eaLnBrk="1" latinLnBrk="0" hangingPunct="1">
      <a:defRPr sz="2400" kern="1200">
        <a:solidFill>
          <a:schemeClr val="tx1"/>
        </a:solidFill>
        <a:latin typeface="Times" panose="02020603050405020304" pitchFamily="18" charset="0"/>
        <a:ea typeface="+mn-ea"/>
        <a:cs typeface="+mn-cs"/>
      </a:defRPr>
    </a:lvl8pPr>
    <a:lvl9pPr marL="3657600" algn="l" defTabSz="914400" rtl="0" eaLnBrk="1" latinLnBrk="0" hangingPunct="1">
      <a:defRPr sz="2400" kern="1200">
        <a:solidFill>
          <a:schemeClr val="tx1"/>
        </a:solidFill>
        <a:latin typeface="Times"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27" userDrawn="1">
          <p15:clr>
            <a:srgbClr val="A4A3A4"/>
          </p15:clr>
        </p15:guide>
        <p15:guide id="2" pos="214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33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798774C-9DE0-AB40-BFB1-B956E88433AD}" v="3" dt="2025-03-11T08:59:57.3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7588" autoAdjust="0"/>
    <p:restoredTop sz="94686"/>
  </p:normalViewPr>
  <p:slideViewPr>
    <p:cSldViewPr>
      <p:cViewPr varScale="1">
        <p:scale>
          <a:sx n="93" d="100"/>
          <a:sy n="93" d="100"/>
        </p:scale>
        <p:origin x="496" y="192"/>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p:cViewPr varScale="1">
        <p:scale>
          <a:sx n="54" d="100"/>
          <a:sy n="54" d="100"/>
        </p:scale>
        <p:origin x="-1152" y="-102"/>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notesMaster" Target="notesMasters/notesMaster1.xml"/><Relationship Id="rId47"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s>
</file>

<file path=ppt/diagrams/colors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CC4971E-6FEF-45BC-8E11-42414E2E6799}" type="doc">
      <dgm:prSet loTypeId="urn:microsoft.com/office/officeart/2005/8/layout/list1" loCatId="list" qsTypeId="urn:microsoft.com/office/officeart/2005/8/quickstyle/simple1" qsCatId="simple" csTypeId="urn:microsoft.com/office/officeart/2005/8/colors/accent0_2" csCatId="mainScheme" phldr="1"/>
      <dgm:spPr/>
      <dgm:t>
        <a:bodyPr/>
        <a:lstStyle/>
        <a:p>
          <a:endParaRPr lang="en-GB"/>
        </a:p>
      </dgm:t>
    </dgm:pt>
    <dgm:pt modelId="{2418354A-A044-4B8B-A30A-9219AAF8A21D}">
      <dgm:prSet phldrT="[Text]"/>
      <dgm:spPr/>
      <dgm:t>
        <a:bodyPr/>
        <a:lstStyle/>
        <a:p>
          <a:r>
            <a:rPr lang="en-GB" dirty="0"/>
            <a:t>Approaching the problem question</a:t>
          </a:r>
        </a:p>
      </dgm:t>
    </dgm:pt>
    <dgm:pt modelId="{B5435C40-B472-4467-AB4B-67791F94B41F}" type="parTrans" cxnId="{3796E50E-D903-419E-8D2B-E015C4F422B9}">
      <dgm:prSet/>
      <dgm:spPr/>
      <dgm:t>
        <a:bodyPr/>
        <a:lstStyle/>
        <a:p>
          <a:endParaRPr lang="en-GB"/>
        </a:p>
      </dgm:t>
    </dgm:pt>
    <dgm:pt modelId="{83906C29-BE7E-4629-901E-0473DCAEE607}" type="sibTrans" cxnId="{3796E50E-D903-419E-8D2B-E015C4F422B9}">
      <dgm:prSet/>
      <dgm:spPr/>
      <dgm:t>
        <a:bodyPr/>
        <a:lstStyle/>
        <a:p>
          <a:endParaRPr lang="en-GB"/>
        </a:p>
      </dgm:t>
    </dgm:pt>
    <dgm:pt modelId="{6F2F5BFD-6F4C-47A9-A08B-CB4A34BC7109}">
      <dgm:prSet phldrT="[Text]"/>
      <dgm:spPr/>
      <dgm:t>
        <a:bodyPr/>
        <a:lstStyle/>
        <a:p>
          <a:r>
            <a:rPr lang="en-GB" dirty="0"/>
            <a:t>Recap of NFOPA</a:t>
          </a:r>
        </a:p>
      </dgm:t>
    </dgm:pt>
    <dgm:pt modelId="{EE298E24-8AAB-4EAE-ACDB-0F9EB5B4D16C}" type="parTrans" cxnId="{48E75506-5246-4F8B-B13D-81B3E95135AD}">
      <dgm:prSet/>
      <dgm:spPr/>
      <dgm:t>
        <a:bodyPr/>
        <a:lstStyle/>
        <a:p>
          <a:endParaRPr lang="en-GB"/>
        </a:p>
      </dgm:t>
    </dgm:pt>
    <dgm:pt modelId="{067EA981-2D0B-40D6-BEF4-668DF7EF7016}" type="sibTrans" cxnId="{48E75506-5246-4F8B-B13D-81B3E95135AD}">
      <dgm:prSet/>
      <dgm:spPr/>
      <dgm:t>
        <a:bodyPr/>
        <a:lstStyle/>
        <a:p>
          <a:endParaRPr lang="en-GB"/>
        </a:p>
      </dgm:t>
    </dgm:pt>
    <dgm:pt modelId="{C63B15EA-6B8F-4577-AA4A-555C619ABAAF}">
      <dgm:prSet phldrT="[Text]"/>
      <dgm:spPr/>
      <dgm:t>
        <a:bodyPr/>
        <a:lstStyle/>
        <a:p>
          <a:r>
            <a:rPr lang="en-GB" dirty="0"/>
            <a:t>General feedback and common mistakes</a:t>
          </a:r>
        </a:p>
      </dgm:t>
    </dgm:pt>
    <dgm:pt modelId="{A33F56A9-5341-472A-8F61-D66420D40AA2}" type="parTrans" cxnId="{922D44E6-F33C-47B3-813E-65F7ECAE9894}">
      <dgm:prSet/>
      <dgm:spPr/>
      <dgm:t>
        <a:bodyPr/>
        <a:lstStyle/>
        <a:p>
          <a:endParaRPr lang="en-GB"/>
        </a:p>
      </dgm:t>
    </dgm:pt>
    <dgm:pt modelId="{A69E0D92-C8EC-41B4-A117-4EED745E0EBD}" type="sibTrans" cxnId="{922D44E6-F33C-47B3-813E-65F7ECAE9894}">
      <dgm:prSet/>
      <dgm:spPr/>
      <dgm:t>
        <a:bodyPr/>
        <a:lstStyle/>
        <a:p>
          <a:endParaRPr lang="en-GB"/>
        </a:p>
      </dgm:t>
    </dgm:pt>
    <dgm:pt modelId="{A2C7A704-9F43-4866-8D51-A6F16533AE6D}" type="pres">
      <dgm:prSet presAssocID="{7CC4971E-6FEF-45BC-8E11-42414E2E6799}" presName="linear" presStyleCnt="0">
        <dgm:presLayoutVars>
          <dgm:dir/>
          <dgm:animLvl val="lvl"/>
          <dgm:resizeHandles val="exact"/>
        </dgm:presLayoutVars>
      </dgm:prSet>
      <dgm:spPr/>
    </dgm:pt>
    <dgm:pt modelId="{4802971A-ACA6-4251-8028-88F68602843D}" type="pres">
      <dgm:prSet presAssocID="{2418354A-A044-4B8B-A30A-9219AAF8A21D}" presName="parentLin" presStyleCnt="0"/>
      <dgm:spPr/>
    </dgm:pt>
    <dgm:pt modelId="{DBBC11FD-CBA0-453D-BBD4-2E99622D529B}" type="pres">
      <dgm:prSet presAssocID="{2418354A-A044-4B8B-A30A-9219AAF8A21D}" presName="parentLeftMargin" presStyleLbl="node1" presStyleIdx="0" presStyleCnt="3"/>
      <dgm:spPr/>
    </dgm:pt>
    <dgm:pt modelId="{704BF6F1-5D0C-4F23-BE67-25C1DCCCE8DD}" type="pres">
      <dgm:prSet presAssocID="{2418354A-A044-4B8B-A30A-9219AAF8A21D}" presName="parentText" presStyleLbl="node1" presStyleIdx="0" presStyleCnt="3">
        <dgm:presLayoutVars>
          <dgm:chMax val="0"/>
          <dgm:bulletEnabled val="1"/>
        </dgm:presLayoutVars>
      </dgm:prSet>
      <dgm:spPr/>
    </dgm:pt>
    <dgm:pt modelId="{E800BAF6-263D-4DD1-A1ED-C08FB855AA83}" type="pres">
      <dgm:prSet presAssocID="{2418354A-A044-4B8B-A30A-9219AAF8A21D}" presName="negativeSpace" presStyleCnt="0"/>
      <dgm:spPr/>
    </dgm:pt>
    <dgm:pt modelId="{878B9E55-105A-4464-B35F-4609E14BA365}" type="pres">
      <dgm:prSet presAssocID="{2418354A-A044-4B8B-A30A-9219AAF8A21D}" presName="childText" presStyleLbl="conFgAcc1" presStyleIdx="0" presStyleCnt="3">
        <dgm:presLayoutVars>
          <dgm:bulletEnabled val="1"/>
        </dgm:presLayoutVars>
      </dgm:prSet>
      <dgm:spPr/>
    </dgm:pt>
    <dgm:pt modelId="{784ECCBA-BD0C-443E-B9B2-809AF7FEC73B}" type="pres">
      <dgm:prSet presAssocID="{83906C29-BE7E-4629-901E-0473DCAEE607}" presName="spaceBetweenRectangles" presStyleCnt="0"/>
      <dgm:spPr/>
    </dgm:pt>
    <dgm:pt modelId="{522A0168-DD58-4DF9-8157-7FC61E46C3D2}" type="pres">
      <dgm:prSet presAssocID="{6F2F5BFD-6F4C-47A9-A08B-CB4A34BC7109}" presName="parentLin" presStyleCnt="0"/>
      <dgm:spPr/>
    </dgm:pt>
    <dgm:pt modelId="{A72714E4-195A-4B94-9F19-8777A5F61C1C}" type="pres">
      <dgm:prSet presAssocID="{6F2F5BFD-6F4C-47A9-A08B-CB4A34BC7109}" presName="parentLeftMargin" presStyleLbl="node1" presStyleIdx="0" presStyleCnt="3"/>
      <dgm:spPr/>
    </dgm:pt>
    <dgm:pt modelId="{85240989-4AB1-40A2-B0AE-A0A744101378}" type="pres">
      <dgm:prSet presAssocID="{6F2F5BFD-6F4C-47A9-A08B-CB4A34BC7109}" presName="parentText" presStyleLbl="node1" presStyleIdx="1" presStyleCnt="3">
        <dgm:presLayoutVars>
          <dgm:chMax val="0"/>
          <dgm:bulletEnabled val="1"/>
        </dgm:presLayoutVars>
      </dgm:prSet>
      <dgm:spPr/>
    </dgm:pt>
    <dgm:pt modelId="{5A71CB4B-2282-499A-8AB1-4C021190BFB2}" type="pres">
      <dgm:prSet presAssocID="{6F2F5BFD-6F4C-47A9-A08B-CB4A34BC7109}" presName="negativeSpace" presStyleCnt="0"/>
      <dgm:spPr/>
    </dgm:pt>
    <dgm:pt modelId="{E5F770C8-B402-45ED-8997-7F45E5A47F37}" type="pres">
      <dgm:prSet presAssocID="{6F2F5BFD-6F4C-47A9-A08B-CB4A34BC7109}" presName="childText" presStyleLbl="conFgAcc1" presStyleIdx="1" presStyleCnt="3">
        <dgm:presLayoutVars>
          <dgm:bulletEnabled val="1"/>
        </dgm:presLayoutVars>
      </dgm:prSet>
      <dgm:spPr/>
    </dgm:pt>
    <dgm:pt modelId="{D827A19C-3BA3-4EA1-A4A0-5E3EE0A905C8}" type="pres">
      <dgm:prSet presAssocID="{067EA981-2D0B-40D6-BEF4-668DF7EF7016}" presName="spaceBetweenRectangles" presStyleCnt="0"/>
      <dgm:spPr/>
    </dgm:pt>
    <dgm:pt modelId="{E80BC41A-7904-4797-A0DE-EF59DB4B4721}" type="pres">
      <dgm:prSet presAssocID="{C63B15EA-6B8F-4577-AA4A-555C619ABAAF}" presName="parentLin" presStyleCnt="0"/>
      <dgm:spPr/>
    </dgm:pt>
    <dgm:pt modelId="{0E1204F4-6D6A-4FD7-915B-D58DB43550C5}" type="pres">
      <dgm:prSet presAssocID="{C63B15EA-6B8F-4577-AA4A-555C619ABAAF}" presName="parentLeftMargin" presStyleLbl="node1" presStyleIdx="1" presStyleCnt="3"/>
      <dgm:spPr/>
    </dgm:pt>
    <dgm:pt modelId="{E3DB4685-F65E-4EBF-961A-32832F41CA16}" type="pres">
      <dgm:prSet presAssocID="{C63B15EA-6B8F-4577-AA4A-555C619ABAAF}" presName="parentText" presStyleLbl="node1" presStyleIdx="2" presStyleCnt="3">
        <dgm:presLayoutVars>
          <dgm:chMax val="0"/>
          <dgm:bulletEnabled val="1"/>
        </dgm:presLayoutVars>
      </dgm:prSet>
      <dgm:spPr/>
    </dgm:pt>
    <dgm:pt modelId="{79F602EF-534C-431B-81B1-44360F6CFD6C}" type="pres">
      <dgm:prSet presAssocID="{C63B15EA-6B8F-4577-AA4A-555C619ABAAF}" presName="negativeSpace" presStyleCnt="0"/>
      <dgm:spPr/>
    </dgm:pt>
    <dgm:pt modelId="{50502F6E-54A1-42BF-95A6-3735F92F6B66}" type="pres">
      <dgm:prSet presAssocID="{C63B15EA-6B8F-4577-AA4A-555C619ABAAF}" presName="childText" presStyleLbl="conFgAcc1" presStyleIdx="2" presStyleCnt="3">
        <dgm:presLayoutVars>
          <dgm:bulletEnabled val="1"/>
        </dgm:presLayoutVars>
      </dgm:prSet>
      <dgm:spPr/>
    </dgm:pt>
  </dgm:ptLst>
  <dgm:cxnLst>
    <dgm:cxn modelId="{48E75506-5246-4F8B-B13D-81B3E95135AD}" srcId="{7CC4971E-6FEF-45BC-8E11-42414E2E6799}" destId="{6F2F5BFD-6F4C-47A9-A08B-CB4A34BC7109}" srcOrd="1" destOrd="0" parTransId="{EE298E24-8AAB-4EAE-ACDB-0F9EB5B4D16C}" sibTransId="{067EA981-2D0B-40D6-BEF4-668DF7EF7016}"/>
    <dgm:cxn modelId="{5C8ED60E-3C7A-4F71-9E90-8C1E68376BFF}" type="presOf" srcId="{6F2F5BFD-6F4C-47A9-A08B-CB4A34BC7109}" destId="{85240989-4AB1-40A2-B0AE-A0A744101378}" srcOrd="1" destOrd="0" presId="urn:microsoft.com/office/officeart/2005/8/layout/list1"/>
    <dgm:cxn modelId="{3796E50E-D903-419E-8D2B-E015C4F422B9}" srcId="{7CC4971E-6FEF-45BC-8E11-42414E2E6799}" destId="{2418354A-A044-4B8B-A30A-9219AAF8A21D}" srcOrd="0" destOrd="0" parTransId="{B5435C40-B472-4467-AB4B-67791F94B41F}" sibTransId="{83906C29-BE7E-4629-901E-0473DCAEE607}"/>
    <dgm:cxn modelId="{707D9E44-6217-45B1-8B76-99CD66A2B023}" type="presOf" srcId="{C63B15EA-6B8F-4577-AA4A-555C619ABAAF}" destId="{0E1204F4-6D6A-4FD7-915B-D58DB43550C5}" srcOrd="0" destOrd="0" presId="urn:microsoft.com/office/officeart/2005/8/layout/list1"/>
    <dgm:cxn modelId="{DCF7E653-4FAC-4CA4-B99C-0758CF2751F2}" type="presOf" srcId="{C63B15EA-6B8F-4577-AA4A-555C619ABAAF}" destId="{E3DB4685-F65E-4EBF-961A-32832F41CA16}" srcOrd="1" destOrd="0" presId="urn:microsoft.com/office/officeart/2005/8/layout/list1"/>
    <dgm:cxn modelId="{B7309454-6089-47A1-8FE8-109A4BCB7EA5}" type="presOf" srcId="{2418354A-A044-4B8B-A30A-9219AAF8A21D}" destId="{DBBC11FD-CBA0-453D-BBD4-2E99622D529B}" srcOrd="0" destOrd="0" presId="urn:microsoft.com/office/officeart/2005/8/layout/list1"/>
    <dgm:cxn modelId="{69553B79-29B0-4F8A-883A-E66D404AFAB5}" type="presOf" srcId="{7CC4971E-6FEF-45BC-8E11-42414E2E6799}" destId="{A2C7A704-9F43-4866-8D51-A6F16533AE6D}" srcOrd="0" destOrd="0" presId="urn:microsoft.com/office/officeart/2005/8/layout/list1"/>
    <dgm:cxn modelId="{2410F77E-14F7-440A-9C9C-23623C59EA85}" type="presOf" srcId="{2418354A-A044-4B8B-A30A-9219AAF8A21D}" destId="{704BF6F1-5D0C-4F23-BE67-25C1DCCCE8DD}" srcOrd="1" destOrd="0" presId="urn:microsoft.com/office/officeart/2005/8/layout/list1"/>
    <dgm:cxn modelId="{815CA3D8-723F-4D6A-B5C1-F656983D85F4}" type="presOf" srcId="{6F2F5BFD-6F4C-47A9-A08B-CB4A34BC7109}" destId="{A72714E4-195A-4B94-9F19-8777A5F61C1C}" srcOrd="0" destOrd="0" presId="urn:microsoft.com/office/officeart/2005/8/layout/list1"/>
    <dgm:cxn modelId="{922D44E6-F33C-47B3-813E-65F7ECAE9894}" srcId="{7CC4971E-6FEF-45BC-8E11-42414E2E6799}" destId="{C63B15EA-6B8F-4577-AA4A-555C619ABAAF}" srcOrd="2" destOrd="0" parTransId="{A33F56A9-5341-472A-8F61-D66420D40AA2}" sibTransId="{A69E0D92-C8EC-41B4-A117-4EED745E0EBD}"/>
    <dgm:cxn modelId="{6A296275-2757-4D56-830A-8672E6DDEB16}" type="presParOf" srcId="{A2C7A704-9F43-4866-8D51-A6F16533AE6D}" destId="{4802971A-ACA6-4251-8028-88F68602843D}" srcOrd="0" destOrd="0" presId="urn:microsoft.com/office/officeart/2005/8/layout/list1"/>
    <dgm:cxn modelId="{B2DDF684-5A75-4FCA-A963-7DABE6418B34}" type="presParOf" srcId="{4802971A-ACA6-4251-8028-88F68602843D}" destId="{DBBC11FD-CBA0-453D-BBD4-2E99622D529B}" srcOrd="0" destOrd="0" presId="urn:microsoft.com/office/officeart/2005/8/layout/list1"/>
    <dgm:cxn modelId="{43AFA454-641F-4297-864C-1DF0D157CDF6}" type="presParOf" srcId="{4802971A-ACA6-4251-8028-88F68602843D}" destId="{704BF6F1-5D0C-4F23-BE67-25C1DCCCE8DD}" srcOrd="1" destOrd="0" presId="urn:microsoft.com/office/officeart/2005/8/layout/list1"/>
    <dgm:cxn modelId="{3F979B32-AE1D-4B77-9693-60B2E0788FF7}" type="presParOf" srcId="{A2C7A704-9F43-4866-8D51-A6F16533AE6D}" destId="{E800BAF6-263D-4DD1-A1ED-C08FB855AA83}" srcOrd="1" destOrd="0" presId="urn:microsoft.com/office/officeart/2005/8/layout/list1"/>
    <dgm:cxn modelId="{124C1F67-37BF-403C-9991-BD982FC6C718}" type="presParOf" srcId="{A2C7A704-9F43-4866-8D51-A6F16533AE6D}" destId="{878B9E55-105A-4464-B35F-4609E14BA365}" srcOrd="2" destOrd="0" presId="urn:microsoft.com/office/officeart/2005/8/layout/list1"/>
    <dgm:cxn modelId="{115EE5B5-12D8-4807-88C0-ABE2EE7152DD}" type="presParOf" srcId="{A2C7A704-9F43-4866-8D51-A6F16533AE6D}" destId="{784ECCBA-BD0C-443E-B9B2-809AF7FEC73B}" srcOrd="3" destOrd="0" presId="urn:microsoft.com/office/officeart/2005/8/layout/list1"/>
    <dgm:cxn modelId="{061FE273-BF2C-4632-BFBA-9BDCFA227ABA}" type="presParOf" srcId="{A2C7A704-9F43-4866-8D51-A6F16533AE6D}" destId="{522A0168-DD58-4DF9-8157-7FC61E46C3D2}" srcOrd="4" destOrd="0" presId="urn:microsoft.com/office/officeart/2005/8/layout/list1"/>
    <dgm:cxn modelId="{D1822148-90D6-4236-8A2E-5601D62CF500}" type="presParOf" srcId="{522A0168-DD58-4DF9-8157-7FC61E46C3D2}" destId="{A72714E4-195A-4B94-9F19-8777A5F61C1C}" srcOrd="0" destOrd="0" presId="urn:microsoft.com/office/officeart/2005/8/layout/list1"/>
    <dgm:cxn modelId="{E7DB072E-6ABE-4877-ACF6-A315ED35AA16}" type="presParOf" srcId="{522A0168-DD58-4DF9-8157-7FC61E46C3D2}" destId="{85240989-4AB1-40A2-B0AE-A0A744101378}" srcOrd="1" destOrd="0" presId="urn:microsoft.com/office/officeart/2005/8/layout/list1"/>
    <dgm:cxn modelId="{1CD51A03-296F-4996-AC53-E33F106B95AD}" type="presParOf" srcId="{A2C7A704-9F43-4866-8D51-A6F16533AE6D}" destId="{5A71CB4B-2282-499A-8AB1-4C021190BFB2}" srcOrd="5" destOrd="0" presId="urn:microsoft.com/office/officeart/2005/8/layout/list1"/>
    <dgm:cxn modelId="{C79E5A5B-F07F-4C62-B54D-E6385F22B347}" type="presParOf" srcId="{A2C7A704-9F43-4866-8D51-A6F16533AE6D}" destId="{E5F770C8-B402-45ED-8997-7F45E5A47F37}" srcOrd="6" destOrd="0" presId="urn:microsoft.com/office/officeart/2005/8/layout/list1"/>
    <dgm:cxn modelId="{99B9B33F-8E25-41DC-B7E5-D1D972B6E2F9}" type="presParOf" srcId="{A2C7A704-9F43-4866-8D51-A6F16533AE6D}" destId="{D827A19C-3BA3-4EA1-A4A0-5E3EE0A905C8}" srcOrd="7" destOrd="0" presId="urn:microsoft.com/office/officeart/2005/8/layout/list1"/>
    <dgm:cxn modelId="{5D393C9D-73AE-46D3-8853-853C7007CC97}" type="presParOf" srcId="{A2C7A704-9F43-4866-8D51-A6F16533AE6D}" destId="{E80BC41A-7904-4797-A0DE-EF59DB4B4721}" srcOrd="8" destOrd="0" presId="urn:microsoft.com/office/officeart/2005/8/layout/list1"/>
    <dgm:cxn modelId="{2C7FE7D1-3E82-498C-9019-13768DA5A983}" type="presParOf" srcId="{E80BC41A-7904-4797-A0DE-EF59DB4B4721}" destId="{0E1204F4-6D6A-4FD7-915B-D58DB43550C5}" srcOrd="0" destOrd="0" presId="urn:microsoft.com/office/officeart/2005/8/layout/list1"/>
    <dgm:cxn modelId="{D9BD1662-F62F-4494-8EAD-3BF94FAF1F9A}" type="presParOf" srcId="{E80BC41A-7904-4797-A0DE-EF59DB4B4721}" destId="{E3DB4685-F65E-4EBF-961A-32832F41CA16}" srcOrd="1" destOrd="0" presId="urn:microsoft.com/office/officeart/2005/8/layout/list1"/>
    <dgm:cxn modelId="{AFA34130-DE63-442E-8E0F-63169EBAF516}" type="presParOf" srcId="{A2C7A704-9F43-4866-8D51-A6F16533AE6D}" destId="{79F602EF-534C-431B-81B1-44360F6CFD6C}" srcOrd="9" destOrd="0" presId="urn:microsoft.com/office/officeart/2005/8/layout/list1"/>
    <dgm:cxn modelId="{BD92CBB5-AB91-422F-9583-0F666162840A}" type="presParOf" srcId="{A2C7A704-9F43-4866-8D51-A6F16533AE6D}" destId="{50502F6E-54A1-42BF-95A6-3735F92F6B66}"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8B9E55-105A-4464-B35F-4609E14BA365}">
      <dsp:nvSpPr>
        <dsp:cNvPr id="0" name=""/>
        <dsp:cNvSpPr/>
      </dsp:nvSpPr>
      <dsp:spPr>
        <a:xfrm>
          <a:off x="0" y="441355"/>
          <a:ext cx="7772400" cy="730799"/>
        </a:xfrm>
        <a:prstGeom prst="rect">
          <a:avLst/>
        </a:prstGeom>
        <a:solidFill>
          <a:schemeClr val="dk2">
            <a:alpha val="90000"/>
            <a:tint val="40000"/>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04BF6F1-5D0C-4F23-BE67-25C1DCCCE8DD}">
      <dsp:nvSpPr>
        <dsp:cNvPr id="0" name=""/>
        <dsp:cNvSpPr/>
      </dsp:nvSpPr>
      <dsp:spPr>
        <a:xfrm>
          <a:off x="388620" y="13315"/>
          <a:ext cx="5440680" cy="856080"/>
        </a:xfrm>
        <a:prstGeom prst="roundRect">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5645" tIns="0" rIns="205645" bIns="0" numCol="1" spcCol="1270" anchor="ctr" anchorCtr="0">
          <a:noAutofit/>
        </a:bodyPr>
        <a:lstStyle/>
        <a:p>
          <a:pPr marL="0" lvl="0" indent="0" algn="l" defTabSz="1289050">
            <a:lnSpc>
              <a:spcPct val="90000"/>
            </a:lnSpc>
            <a:spcBef>
              <a:spcPct val="0"/>
            </a:spcBef>
            <a:spcAft>
              <a:spcPct val="35000"/>
            </a:spcAft>
            <a:buNone/>
          </a:pPr>
          <a:r>
            <a:rPr lang="en-GB" sz="2900" kern="1200" dirty="0"/>
            <a:t>Approaching the problem question</a:t>
          </a:r>
        </a:p>
      </dsp:txBody>
      <dsp:txXfrm>
        <a:off x="430410" y="55105"/>
        <a:ext cx="5357100" cy="772500"/>
      </dsp:txXfrm>
    </dsp:sp>
    <dsp:sp modelId="{E5F770C8-B402-45ED-8997-7F45E5A47F37}">
      <dsp:nvSpPr>
        <dsp:cNvPr id="0" name=""/>
        <dsp:cNvSpPr/>
      </dsp:nvSpPr>
      <dsp:spPr>
        <a:xfrm>
          <a:off x="0" y="1756795"/>
          <a:ext cx="7772400" cy="730799"/>
        </a:xfrm>
        <a:prstGeom prst="rect">
          <a:avLst/>
        </a:prstGeom>
        <a:solidFill>
          <a:schemeClr val="dk2">
            <a:alpha val="90000"/>
            <a:tint val="40000"/>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5240989-4AB1-40A2-B0AE-A0A744101378}">
      <dsp:nvSpPr>
        <dsp:cNvPr id="0" name=""/>
        <dsp:cNvSpPr/>
      </dsp:nvSpPr>
      <dsp:spPr>
        <a:xfrm>
          <a:off x="388620" y="1328755"/>
          <a:ext cx="5440680" cy="856080"/>
        </a:xfrm>
        <a:prstGeom prst="roundRect">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5645" tIns="0" rIns="205645" bIns="0" numCol="1" spcCol="1270" anchor="ctr" anchorCtr="0">
          <a:noAutofit/>
        </a:bodyPr>
        <a:lstStyle/>
        <a:p>
          <a:pPr marL="0" lvl="0" indent="0" algn="l" defTabSz="1289050">
            <a:lnSpc>
              <a:spcPct val="90000"/>
            </a:lnSpc>
            <a:spcBef>
              <a:spcPct val="0"/>
            </a:spcBef>
            <a:spcAft>
              <a:spcPct val="35000"/>
            </a:spcAft>
            <a:buNone/>
          </a:pPr>
          <a:r>
            <a:rPr lang="en-GB" sz="2900" kern="1200" dirty="0"/>
            <a:t>Recap of NFOPA</a:t>
          </a:r>
        </a:p>
      </dsp:txBody>
      <dsp:txXfrm>
        <a:off x="430410" y="1370545"/>
        <a:ext cx="5357100" cy="772500"/>
      </dsp:txXfrm>
    </dsp:sp>
    <dsp:sp modelId="{50502F6E-54A1-42BF-95A6-3735F92F6B66}">
      <dsp:nvSpPr>
        <dsp:cNvPr id="0" name=""/>
        <dsp:cNvSpPr/>
      </dsp:nvSpPr>
      <dsp:spPr>
        <a:xfrm>
          <a:off x="0" y="3072234"/>
          <a:ext cx="7772400" cy="730799"/>
        </a:xfrm>
        <a:prstGeom prst="rect">
          <a:avLst/>
        </a:prstGeom>
        <a:solidFill>
          <a:schemeClr val="dk2">
            <a:alpha val="90000"/>
            <a:tint val="40000"/>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3DB4685-F65E-4EBF-961A-32832F41CA16}">
      <dsp:nvSpPr>
        <dsp:cNvPr id="0" name=""/>
        <dsp:cNvSpPr/>
      </dsp:nvSpPr>
      <dsp:spPr>
        <a:xfrm>
          <a:off x="388620" y="2644194"/>
          <a:ext cx="5440680" cy="856080"/>
        </a:xfrm>
        <a:prstGeom prst="roundRect">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5645" tIns="0" rIns="205645" bIns="0" numCol="1" spcCol="1270" anchor="ctr" anchorCtr="0">
          <a:noAutofit/>
        </a:bodyPr>
        <a:lstStyle/>
        <a:p>
          <a:pPr marL="0" lvl="0" indent="0" algn="l" defTabSz="1289050">
            <a:lnSpc>
              <a:spcPct val="90000"/>
            </a:lnSpc>
            <a:spcBef>
              <a:spcPct val="0"/>
            </a:spcBef>
            <a:spcAft>
              <a:spcPct val="35000"/>
            </a:spcAft>
            <a:buNone/>
          </a:pPr>
          <a:r>
            <a:rPr lang="en-GB" sz="2900" kern="1200" dirty="0"/>
            <a:t>General feedback and common mistakes</a:t>
          </a:r>
        </a:p>
      </dsp:txBody>
      <dsp:txXfrm>
        <a:off x="430410" y="2685984"/>
        <a:ext cx="5357100" cy="772500"/>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29727137-E9BD-C14E-9FBA-526E1CD65271}"/>
              </a:ext>
            </a:extLst>
          </p:cNvPr>
          <p:cNvSpPr>
            <a:spLocks noGrp="1" noChangeArrowheads="1"/>
          </p:cNvSpPr>
          <p:nvPr>
            <p:ph type="hdr" sz="quarter"/>
          </p:nvPr>
        </p:nvSpPr>
        <p:spPr bwMode="auto">
          <a:xfrm>
            <a:off x="0" y="0"/>
            <a:ext cx="2945659" cy="49641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GB"/>
          </a:p>
        </p:txBody>
      </p:sp>
      <p:sp>
        <p:nvSpPr>
          <p:cNvPr id="24579" name="Rectangle 3">
            <a:extLst>
              <a:ext uri="{FF2B5EF4-FFF2-40B4-BE49-F238E27FC236}">
                <a16:creationId xmlns:a16="http://schemas.microsoft.com/office/drawing/2014/main" id="{1109CA20-6B24-06BD-EFEF-566792F84D32}"/>
              </a:ext>
            </a:extLst>
          </p:cNvPr>
          <p:cNvSpPr>
            <a:spLocks noGrp="1" noChangeArrowheads="1"/>
          </p:cNvSpPr>
          <p:nvPr>
            <p:ph type="dt" idx="1"/>
          </p:nvPr>
        </p:nvSpPr>
        <p:spPr bwMode="auto">
          <a:xfrm>
            <a:off x="3850443" y="0"/>
            <a:ext cx="2945659" cy="49641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GB"/>
          </a:p>
        </p:txBody>
      </p:sp>
      <p:sp>
        <p:nvSpPr>
          <p:cNvPr id="3076" name="Rectangle 4">
            <a:extLst>
              <a:ext uri="{FF2B5EF4-FFF2-40B4-BE49-F238E27FC236}">
                <a16:creationId xmlns:a16="http://schemas.microsoft.com/office/drawing/2014/main" id="{E44F5FE6-7539-095B-EF0B-EB1474829E98}"/>
              </a:ext>
            </a:extLst>
          </p:cNvPr>
          <p:cNvSpPr>
            <a:spLocks noGrp="1" noRot="1" noChangeAspect="1" noChangeArrowheads="1" noTextEdit="1"/>
          </p:cNvSpPr>
          <p:nvPr>
            <p:ph type="sldImg" idx="2"/>
          </p:nvPr>
        </p:nvSpPr>
        <p:spPr bwMode="auto">
          <a:xfrm>
            <a:off x="917575" y="744538"/>
            <a:ext cx="4962525" cy="37226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81" name="Rectangle 5">
            <a:extLst>
              <a:ext uri="{FF2B5EF4-FFF2-40B4-BE49-F238E27FC236}">
                <a16:creationId xmlns:a16="http://schemas.microsoft.com/office/drawing/2014/main" id="{01FE6246-FA3A-780D-C315-993D1E8A7302}"/>
              </a:ext>
            </a:extLst>
          </p:cNvPr>
          <p:cNvSpPr>
            <a:spLocks noGrp="1" noChangeArrowheads="1"/>
          </p:cNvSpPr>
          <p:nvPr>
            <p:ph type="body" sz="quarter" idx="3"/>
          </p:nvPr>
        </p:nvSpPr>
        <p:spPr bwMode="auto">
          <a:xfrm>
            <a:off x="679768" y="4715907"/>
            <a:ext cx="5438140" cy="446770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24582" name="Rectangle 6">
            <a:extLst>
              <a:ext uri="{FF2B5EF4-FFF2-40B4-BE49-F238E27FC236}">
                <a16:creationId xmlns:a16="http://schemas.microsoft.com/office/drawing/2014/main" id="{F43ED9A1-4B74-2565-6424-F65B9AE2AC07}"/>
              </a:ext>
            </a:extLst>
          </p:cNvPr>
          <p:cNvSpPr>
            <a:spLocks noGrp="1" noChangeArrowheads="1"/>
          </p:cNvSpPr>
          <p:nvPr>
            <p:ph type="ftr" sz="quarter" idx="4"/>
          </p:nvPr>
        </p:nvSpPr>
        <p:spPr bwMode="auto">
          <a:xfrm>
            <a:off x="0" y="9430091"/>
            <a:ext cx="2945659" cy="496411"/>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GB"/>
          </a:p>
        </p:txBody>
      </p:sp>
      <p:sp>
        <p:nvSpPr>
          <p:cNvPr id="24583" name="Rectangle 7">
            <a:extLst>
              <a:ext uri="{FF2B5EF4-FFF2-40B4-BE49-F238E27FC236}">
                <a16:creationId xmlns:a16="http://schemas.microsoft.com/office/drawing/2014/main" id="{43C071A3-EFF3-D178-3A5E-B25519E22C53}"/>
              </a:ext>
            </a:extLst>
          </p:cNvPr>
          <p:cNvSpPr>
            <a:spLocks noGrp="1" noChangeArrowheads="1"/>
          </p:cNvSpPr>
          <p:nvPr>
            <p:ph type="sldNum" sz="quarter" idx="5"/>
          </p:nvPr>
        </p:nvSpPr>
        <p:spPr bwMode="auto">
          <a:xfrm>
            <a:off x="3850443" y="9430091"/>
            <a:ext cx="2945659" cy="496411"/>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smtClean="0"/>
            </a:lvl1pPr>
          </a:lstStyle>
          <a:p>
            <a:pPr>
              <a:defRPr/>
            </a:pPr>
            <a:fld id="{2F3881E6-646C-4918-AFFE-4CDBAD34C3EE}"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702F4D9C-CC12-98F7-197A-BC180484A1A6}"/>
              </a:ext>
            </a:extLst>
          </p:cNvPr>
          <p:cNvSpPr>
            <a:spLocks noChangeArrowheads="1"/>
          </p:cNvSpPr>
          <p:nvPr userDrawn="1"/>
        </p:nvSpPr>
        <p:spPr bwMode="auto">
          <a:xfrm>
            <a:off x="0" y="0"/>
            <a:ext cx="9144000" cy="5516563"/>
          </a:xfrm>
          <a:prstGeom prst="rect">
            <a:avLst/>
          </a:prstGeom>
          <a:solidFill>
            <a:srgbClr val="663366"/>
          </a:solidFill>
          <a:ln>
            <a:noFill/>
          </a:ln>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defRPr/>
            </a:pPr>
            <a:endParaRPr lang="en-US" altLang="en-US">
              <a:solidFill>
                <a:srgbClr val="663366"/>
              </a:solidFill>
            </a:endParaRPr>
          </a:p>
        </p:txBody>
      </p:sp>
      <p:pic>
        <p:nvPicPr>
          <p:cNvPr id="3" name="Picture 8">
            <a:extLst>
              <a:ext uri="{FF2B5EF4-FFF2-40B4-BE49-F238E27FC236}">
                <a16:creationId xmlns:a16="http://schemas.microsoft.com/office/drawing/2014/main" id="{487245EC-010F-1BC7-2CBA-C163683FE538}"/>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66700" y="5843588"/>
            <a:ext cx="1943100" cy="862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03" name="Rectangle 11"/>
          <p:cNvSpPr>
            <a:spLocks noGrp="1" noChangeArrowheads="1"/>
          </p:cNvSpPr>
          <p:nvPr>
            <p:ph type="ctrTitle" sz="quarter"/>
          </p:nvPr>
        </p:nvSpPr>
        <p:spPr>
          <a:xfrm>
            <a:off x="755650" y="476250"/>
            <a:ext cx="7772400" cy="1470025"/>
          </a:xfrm>
        </p:spPr>
        <p:txBody>
          <a:bodyPr/>
          <a:lstStyle>
            <a:lvl1pPr>
              <a:defRPr>
                <a:solidFill>
                  <a:schemeClr val="bg1"/>
                </a:solidFill>
              </a:defRPr>
            </a:lvl1pPr>
          </a:lstStyle>
          <a:p>
            <a:r>
              <a:rPr lang="en-GB"/>
              <a:t>Click to edit Master title style</a:t>
            </a:r>
          </a:p>
        </p:txBody>
      </p:sp>
      <p:sp>
        <p:nvSpPr>
          <p:cNvPr id="8204" name="Rectangle 12"/>
          <p:cNvSpPr>
            <a:spLocks noGrp="1" noChangeArrowheads="1"/>
          </p:cNvSpPr>
          <p:nvPr>
            <p:ph type="subTitle" sz="quarter" idx="1"/>
          </p:nvPr>
        </p:nvSpPr>
        <p:spPr>
          <a:xfrm>
            <a:off x="827088" y="2420938"/>
            <a:ext cx="7561262" cy="1752600"/>
          </a:xfrm>
        </p:spPr>
        <p:txBody>
          <a:bodyPr/>
          <a:lstStyle>
            <a:lvl1pPr marL="0" indent="0">
              <a:defRPr b="1">
                <a:solidFill>
                  <a:schemeClr val="bg1"/>
                </a:solidFill>
              </a:defRPr>
            </a:lvl1pPr>
          </a:lstStyle>
          <a:p>
            <a:r>
              <a:rPr lang="en-GB"/>
              <a:t>Click to edit Master subtitle style</a:t>
            </a:r>
          </a:p>
        </p:txBody>
      </p:sp>
      <p:sp>
        <p:nvSpPr>
          <p:cNvPr id="4" name="Rectangle 6">
            <a:extLst>
              <a:ext uri="{FF2B5EF4-FFF2-40B4-BE49-F238E27FC236}">
                <a16:creationId xmlns:a16="http://schemas.microsoft.com/office/drawing/2014/main" id="{C2E3616B-7377-711D-59FA-232481BA710E}"/>
              </a:ext>
            </a:extLst>
          </p:cNvPr>
          <p:cNvSpPr>
            <a:spLocks noGrp="1" noChangeArrowheads="1"/>
          </p:cNvSpPr>
          <p:nvPr>
            <p:ph type="sldNum" sz="quarter" idx="10"/>
          </p:nvPr>
        </p:nvSpPr>
        <p:spPr>
          <a:xfrm>
            <a:off x="6553200" y="6245225"/>
            <a:ext cx="2133600" cy="476250"/>
          </a:xfrm>
        </p:spPr>
        <p:txBody>
          <a:bodyPr/>
          <a:lstStyle>
            <a:lvl1pPr>
              <a:defRPr smtClean="0"/>
            </a:lvl1pPr>
          </a:lstStyle>
          <a:p>
            <a:pPr>
              <a:defRPr/>
            </a:pPr>
            <a:fld id="{F43ABA87-2EBD-484D-9B9D-E215E2EF9CA5}" type="slidenum">
              <a:rPr lang="en-GB" altLang="en-US"/>
              <a:pPr>
                <a:defRPr/>
              </a:pPr>
              <a:t>‹#›</a:t>
            </a:fld>
            <a:endParaRPr lang="en-GB" altLang="en-US"/>
          </a:p>
        </p:txBody>
      </p:sp>
    </p:spTree>
    <p:extLst>
      <p:ext uri="{BB962C8B-B14F-4D97-AF65-F5344CB8AC3E}">
        <p14:creationId xmlns:p14="http://schemas.microsoft.com/office/powerpoint/2010/main" val="9103504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a:extLst>
              <a:ext uri="{FF2B5EF4-FFF2-40B4-BE49-F238E27FC236}">
                <a16:creationId xmlns:a16="http://schemas.microsoft.com/office/drawing/2014/main" id="{0CFD2852-EEE6-5D0B-C1B8-D83C0357BEAA}"/>
              </a:ext>
            </a:extLst>
          </p:cNvPr>
          <p:cNvSpPr>
            <a:spLocks noGrp="1" noChangeArrowheads="1"/>
          </p:cNvSpPr>
          <p:nvPr>
            <p:ph type="dt" sz="half" idx="10"/>
          </p:nvPr>
        </p:nvSpPr>
        <p:spPr>
          <a:ln/>
        </p:spPr>
        <p:txBody>
          <a:bodyPr/>
          <a:lstStyle>
            <a:lvl1pPr>
              <a:defRPr/>
            </a:lvl1pPr>
          </a:lstStyle>
          <a:p>
            <a:pPr>
              <a:defRPr/>
            </a:pPr>
            <a:endParaRPr lang="en-GB"/>
          </a:p>
        </p:txBody>
      </p:sp>
      <p:sp>
        <p:nvSpPr>
          <p:cNvPr id="5" name="Rectangle 5">
            <a:extLst>
              <a:ext uri="{FF2B5EF4-FFF2-40B4-BE49-F238E27FC236}">
                <a16:creationId xmlns:a16="http://schemas.microsoft.com/office/drawing/2014/main" id="{4CCC5A1A-0DF9-F90F-E508-AD7F631826B0}"/>
              </a:ext>
            </a:extLst>
          </p:cNvPr>
          <p:cNvSpPr>
            <a:spLocks noGrp="1" noChangeArrowheads="1"/>
          </p:cNvSpPr>
          <p:nvPr>
            <p:ph type="ftr" sz="quarter" idx="11"/>
          </p:nvPr>
        </p:nvSpPr>
        <p:spPr>
          <a:ln/>
        </p:spPr>
        <p:txBody>
          <a:bodyPr/>
          <a:lstStyle>
            <a:lvl1pPr>
              <a:defRPr/>
            </a:lvl1pPr>
          </a:lstStyle>
          <a:p>
            <a:pPr>
              <a:defRPr/>
            </a:pPr>
            <a:endParaRPr lang="en-GB"/>
          </a:p>
        </p:txBody>
      </p:sp>
      <p:sp>
        <p:nvSpPr>
          <p:cNvPr id="6" name="Rectangle 6">
            <a:extLst>
              <a:ext uri="{FF2B5EF4-FFF2-40B4-BE49-F238E27FC236}">
                <a16:creationId xmlns:a16="http://schemas.microsoft.com/office/drawing/2014/main" id="{41E6D767-924F-7CB7-B2D2-79B0EA10EDF7}"/>
              </a:ext>
            </a:extLst>
          </p:cNvPr>
          <p:cNvSpPr>
            <a:spLocks noGrp="1" noChangeArrowheads="1"/>
          </p:cNvSpPr>
          <p:nvPr>
            <p:ph type="sldNum" sz="quarter" idx="12"/>
          </p:nvPr>
        </p:nvSpPr>
        <p:spPr>
          <a:ln/>
        </p:spPr>
        <p:txBody>
          <a:bodyPr/>
          <a:lstStyle>
            <a:lvl1pPr>
              <a:defRPr/>
            </a:lvl1pPr>
          </a:lstStyle>
          <a:p>
            <a:pPr>
              <a:defRPr/>
            </a:pPr>
            <a:fld id="{A6F715ED-972E-4D40-89B1-F90F6809C770}" type="slidenum">
              <a:rPr lang="en-GB" altLang="en-US"/>
              <a:pPr>
                <a:defRPr/>
              </a:pPr>
              <a:t>‹#›</a:t>
            </a:fld>
            <a:endParaRPr lang="en-GB" altLang="en-US"/>
          </a:p>
        </p:txBody>
      </p:sp>
    </p:spTree>
    <p:extLst>
      <p:ext uri="{BB962C8B-B14F-4D97-AF65-F5344CB8AC3E}">
        <p14:creationId xmlns:p14="http://schemas.microsoft.com/office/powerpoint/2010/main" val="796911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E77A6766-0EBB-74EE-F4A8-852CE4F62E2E}"/>
              </a:ext>
            </a:extLst>
          </p:cNvPr>
          <p:cNvSpPr>
            <a:spLocks noGrp="1" noChangeArrowheads="1"/>
          </p:cNvSpPr>
          <p:nvPr>
            <p:ph type="dt" sz="half" idx="10"/>
          </p:nvPr>
        </p:nvSpPr>
        <p:spPr>
          <a:ln/>
        </p:spPr>
        <p:txBody>
          <a:bodyPr/>
          <a:lstStyle>
            <a:lvl1pPr>
              <a:defRPr/>
            </a:lvl1pPr>
          </a:lstStyle>
          <a:p>
            <a:pPr>
              <a:defRPr/>
            </a:pPr>
            <a:endParaRPr lang="en-GB"/>
          </a:p>
        </p:txBody>
      </p:sp>
      <p:sp>
        <p:nvSpPr>
          <p:cNvPr id="5" name="Rectangle 5">
            <a:extLst>
              <a:ext uri="{FF2B5EF4-FFF2-40B4-BE49-F238E27FC236}">
                <a16:creationId xmlns:a16="http://schemas.microsoft.com/office/drawing/2014/main" id="{37D8C9DC-5A4C-24F0-6B58-CCE0C400D11F}"/>
              </a:ext>
            </a:extLst>
          </p:cNvPr>
          <p:cNvSpPr>
            <a:spLocks noGrp="1" noChangeArrowheads="1"/>
          </p:cNvSpPr>
          <p:nvPr>
            <p:ph type="ftr" sz="quarter" idx="11"/>
          </p:nvPr>
        </p:nvSpPr>
        <p:spPr>
          <a:ln/>
        </p:spPr>
        <p:txBody>
          <a:bodyPr/>
          <a:lstStyle>
            <a:lvl1pPr>
              <a:defRPr/>
            </a:lvl1pPr>
          </a:lstStyle>
          <a:p>
            <a:pPr>
              <a:defRPr/>
            </a:pPr>
            <a:endParaRPr lang="en-GB"/>
          </a:p>
        </p:txBody>
      </p:sp>
      <p:sp>
        <p:nvSpPr>
          <p:cNvPr id="6" name="Rectangle 6">
            <a:extLst>
              <a:ext uri="{FF2B5EF4-FFF2-40B4-BE49-F238E27FC236}">
                <a16:creationId xmlns:a16="http://schemas.microsoft.com/office/drawing/2014/main" id="{6987DD82-A349-9B05-86CA-4E8136FF1EDE}"/>
              </a:ext>
            </a:extLst>
          </p:cNvPr>
          <p:cNvSpPr>
            <a:spLocks noGrp="1" noChangeArrowheads="1"/>
          </p:cNvSpPr>
          <p:nvPr>
            <p:ph type="sldNum" sz="quarter" idx="12"/>
          </p:nvPr>
        </p:nvSpPr>
        <p:spPr>
          <a:ln/>
        </p:spPr>
        <p:txBody>
          <a:bodyPr/>
          <a:lstStyle>
            <a:lvl1pPr>
              <a:defRPr/>
            </a:lvl1pPr>
          </a:lstStyle>
          <a:p>
            <a:pPr>
              <a:defRPr/>
            </a:pPr>
            <a:fld id="{216BDA24-5510-4692-ADB5-437B9FC5F86D}" type="slidenum">
              <a:rPr lang="en-GB" altLang="en-US"/>
              <a:pPr>
                <a:defRPr/>
              </a:pPr>
              <a:t>‹#›</a:t>
            </a:fld>
            <a:endParaRPr lang="en-GB" altLang="en-US"/>
          </a:p>
        </p:txBody>
      </p:sp>
    </p:spTree>
    <p:extLst>
      <p:ext uri="{BB962C8B-B14F-4D97-AF65-F5344CB8AC3E}">
        <p14:creationId xmlns:p14="http://schemas.microsoft.com/office/powerpoint/2010/main" val="16495806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84213" y="1989138"/>
            <a:ext cx="3810000" cy="3816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6613" y="1989138"/>
            <a:ext cx="3810000" cy="3816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4">
            <a:extLst>
              <a:ext uri="{FF2B5EF4-FFF2-40B4-BE49-F238E27FC236}">
                <a16:creationId xmlns:a16="http://schemas.microsoft.com/office/drawing/2014/main" id="{542663BF-94D1-BBEF-3E47-960C564E09F6}"/>
              </a:ext>
            </a:extLst>
          </p:cNvPr>
          <p:cNvSpPr>
            <a:spLocks noGrp="1" noChangeArrowheads="1"/>
          </p:cNvSpPr>
          <p:nvPr>
            <p:ph type="dt" sz="half" idx="10"/>
          </p:nvPr>
        </p:nvSpPr>
        <p:spPr>
          <a:ln/>
        </p:spPr>
        <p:txBody>
          <a:bodyPr/>
          <a:lstStyle>
            <a:lvl1pPr>
              <a:defRPr/>
            </a:lvl1pPr>
          </a:lstStyle>
          <a:p>
            <a:pPr>
              <a:defRPr/>
            </a:pPr>
            <a:endParaRPr lang="en-GB"/>
          </a:p>
        </p:txBody>
      </p:sp>
      <p:sp>
        <p:nvSpPr>
          <p:cNvPr id="6" name="Rectangle 5">
            <a:extLst>
              <a:ext uri="{FF2B5EF4-FFF2-40B4-BE49-F238E27FC236}">
                <a16:creationId xmlns:a16="http://schemas.microsoft.com/office/drawing/2014/main" id="{FF8A0269-4FEE-3472-201D-CDBF1961ECC6}"/>
              </a:ext>
            </a:extLst>
          </p:cNvPr>
          <p:cNvSpPr>
            <a:spLocks noGrp="1" noChangeArrowheads="1"/>
          </p:cNvSpPr>
          <p:nvPr>
            <p:ph type="ftr" sz="quarter" idx="11"/>
          </p:nvPr>
        </p:nvSpPr>
        <p:spPr>
          <a:ln/>
        </p:spPr>
        <p:txBody>
          <a:bodyPr/>
          <a:lstStyle>
            <a:lvl1pPr>
              <a:defRPr/>
            </a:lvl1pPr>
          </a:lstStyle>
          <a:p>
            <a:pPr>
              <a:defRPr/>
            </a:pPr>
            <a:endParaRPr lang="en-GB"/>
          </a:p>
        </p:txBody>
      </p:sp>
      <p:sp>
        <p:nvSpPr>
          <p:cNvPr id="7" name="Rectangle 6">
            <a:extLst>
              <a:ext uri="{FF2B5EF4-FFF2-40B4-BE49-F238E27FC236}">
                <a16:creationId xmlns:a16="http://schemas.microsoft.com/office/drawing/2014/main" id="{87BF09AA-4A42-6B41-225E-2B5808867586}"/>
              </a:ext>
            </a:extLst>
          </p:cNvPr>
          <p:cNvSpPr>
            <a:spLocks noGrp="1" noChangeArrowheads="1"/>
          </p:cNvSpPr>
          <p:nvPr>
            <p:ph type="sldNum" sz="quarter" idx="12"/>
          </p:nvPr>
        </p:nvSpPr>
        <p:spPr>
          <a:ln/>
        </p:spPr>
        <p:txBody>
          <a:bodyPr/>
          <a:lstStyle>
            <a:lvl1pPr>
              <a:defRPr/>
            </a:lvl1pPr>
          </a:lstStyle>
          <a:p>
            <a:pPr>
              <a:defRPr/>
            </a:pPr>
            <a:fld id="{9A346EFB-FCD0-4689-A3D4-BA2A5CDC8DDB}" type="slidenum">
              <a:rPr lang="en-GB" altLang="en-US"/>
              <a:pPr>
                <a:defRPr/>
              </a:pPr>
              <a:t>‹#›</a:t>
            </a:fld>
            <a:endParaRPr lang="en-GB" altLang="en-US"/>
          </a:p>
        </p:txBody>
      </p:sp>
    </p:spTree>
    <p:extLst>
      <p:ext uri="{BB962C8B-B14F-4D97-AF65-F5344CB8AC3E}">
        <p14:creationId xmlns:p14="http://schemas.microsoft.com/office/powerpoint/2010/main" val="7573110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4">
            <a:extLst>
              <a:ext uri="{FF2B5EF4-FFF2-40B4-BE49-F238E27FC236}">
                <a16:creationId xmlns:a16="http://schemas.microsoft.com/office/drawing/2014/main" id="{689310BC-F929-E301-45CA-2C373A474BAB}"/>
              </a:ext>
            </a:extLst>
          </p:cNvPr>
          <p:cNvSpPr>
            <a:spLocks noGrp="1" noChangeArrowheads="1"/>
          </p:cNvSpPr>
          <p:nvPr>
            <p:ph type="dt" sz="half" idx="10"/>
          </p:nvPr>
        </p:nvSpPr>
        <p:spPr>
          <a:ln/>
        </p:spPr>
        <p:txBody>
          <a:bodyPr/>
          <a:lstStyle>
            <a:lvl1pPr>
              <a:defRPr/>
            </a:lvl1pPr>
          </a:lstStyle>
          <a:p>
            <a:pPr>
              <a:defRPr/>
            </a:pPr>
            <a:endParaRPr lang="en-GB"/>
          </a:p>
        </p:txBody>
      </p:sp>
      <p:sp>
        <p:nvSpPr>
          <p:cNvPr id="8" name="Rectangle 5">
            <a:extLst>
              <a:ext uri="{FF2B5EF4-FFF2-40B4-BE49-F238E27FC236}">
                <a16:creationId xmlns:a16="http://schemas.microsoft.com/office/drawing/2014/main" id="{4CD68F2D-8601-3424-F5DD-6BC76EE87EFE}"/>
              </a:ext>
            </a:extLst>
          </p:cNvPr>
          <p:cNvSpPr>
            <a:spLocks noGrp="1" noChangeArrowheads="1"/>
          </p:cNvSpPr>
          <p:nvPr>
            <p:ph type="ftr" sz="quarter" idx="11"/>
          </p:nvPr>
        </p:nvSpPr>
        <p:spPr>
          <a:ln/>
        </p:spPr>
        <p:txBody>
          <a:bodyPr/>
          <a:lstStyle>
            <a:lvl1pPr>
              <a:defRPr/>
            </a:lvl1pPr>
          </a:lstStyle>
          <a:p>
            <a:pPr>
              <a:defRPr/>
            </a:pPr>
            <a:endParaRPr lang="en-GB"/>
          </a:p>
        </p:txBody>
      </p:sp>
      <p:sp>
        <p:nvSpPr>
          <p:cNvPr id="9" name="Rectangle 6">
            <a:extLst>
              <a:ext uri="{FF2B5EF4-FFF2-40B4-BE49-F238E27FC236}">
                <a16:creationId xmlns:a16="http://schemas.microsoft.com/office/drawing/2014/main" id="{90AB8BB6-56A7-93BD-8FF8-14D2AC3C1A53}"/>
              </a:ext>
            </a:extLst>
          </p:cNvPr>
          <p:cNvSpPr>
            <a:spLocks noGrp="1" noChangeArrowheads="1"/>
          </p:cNvSpPr>
          <p:nvPr>
            <p:ph type="sldNum" sz="quarter" idx="12"/>
          </p:nvPr>
        </p:nvSpPr>
        <p:spPr>
          <a:ln/>
        </p:spPr>
        <p:txBody>
          <a:bodyPr/>
          <a:lstStyle>
            <a:lvl1pPr>
              <a:defRPr/>
            </a:lvl1pPr>
          </a:lstStyle>
          <a:p>
            <a:pPr>
              <a:defRPr/>
            </a:pPr>
            <a:fld id="{FE02A0E8-D4AC-4865-87B8-5B19B18AD951}" type="slidenum">
              <a:rPr lang="en-GB" altLang="en-US"/>
              <a:pPr>
                <a:defRPr/>
              </a:pPr>
              <a:t>‹#›</a:t>
            </a:fld>
            <a:endParaRPr lang="en-GB" altLang="en-US"/>
          </a:p>
        </p:txBody>
      </p:sp>
    </p:spTree>
    <p:extLst>
      <p:ext uri="{BB962C8B-B14F-4D97-AF65-F5344CB8AC3E}">
        <p14:creationId xmlns:p14="http://schemas.microsoft.com/office/powerpoint/2010/main" val="6830274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a:extLst>
              <a:ext uri="{FF2B5EF4-FFF2-40B4-BE49-F238E27FC236}">
                <a16:creationId xmlns:a16="http://schemas.microsoft.com/office/drawing/2014/main" id="{ADD15885-1EE0-5855-0776-4D6879AA204A}"/>
              </a:ext>
            </a:extLst>
          </p:cNvPr>
          <p:cNvSpPr>
            <a:spLocks noGrp="1" noChangeArrowheads="1"/>
          </p:cNvSpPr>
          <p:nvPr>
            <p:ph type="dt" sz="half" idx="10"/>
          </p:nvPr>
        </p:nvSpPr>
        <p:spPr>
          <a:ln/>
        </p:spPr>
        <p:txBody>
          <a:bodyPr/>
          <a:lstStyle>
            <a:lvl1pPr>
              <a:defRPr/>
            </a:lvl1pPr>
          </a:lstStyle>
          <a:p>
            <a:pPr>
              <a:defRPr/>
            </a:pPr>
            <a:endParaRPr lang="en-GB"/>
          </a:p>
        </p:txBody>
      </p:sp>
      <p:sp>
        <p:nvSpPr>
          <p:cNvPr id="4" name="Rectangle 5">
            <a:extLst>
              <a:ext uri="{FF2B5EF4-FFF2-40B4-BE49-F238E27FC236}">
                <a16:creationId xmlns:a16="http://schemas.microsoft.com/office/drawing/2014/main" id="{A268F859-367C-2F01-F557-0E40AA1A5D76}"/>
              </a:ext>
            </a:extLst>
          </p:cNvPr>
          <p:cNvSpPr>
            <a:spLocks noGrp="1" noChangeArrowheads="1"/>
          </p:cNvSpPr>
          <p:nvPr>
            <p:ph type="ftr" sz="quarter" idx="11"/>
          </p:nvPr>
        </p:nvSpPr>
        <p:spPr>
          <a:ln/>
        </p:spPr>
        <p:txBody>
          <a:bodyPr/>
          <a:lstStyle>
            <a:lvl1pPr>
              <a:defRPr/>
            </a:lvl1pPr>
          </a:lstStyle>
          <a:p>
            <a:pPr>
              <a:defRPr/>
            </a:pPr>
            <a:endParaRPr lang="en-GB"/>
          </a:p>
        </p:txBody>
      </p:sp>
      <p:sp>
        <p:nvSpPr>
          <p:cNvPr id="5" name="Rectangle 6">
            <a:extLst>
              <a:ext uri="{FF2B5EF4-FFF2-40B4-BE49-F238E27FC236}">
                <a16:creationId xmlns:a16="http://schemas.microsoft.com/office/drawing/2014/main" id="{8A6777DD-10B1-42ED-B474-8DDF86BAE743}"/>
              </a:ext>
            </a:extLst>
          </p:cNvPr>
          <p:cNvSpPr>
            <a:spLocks noGrp="1" noChangeArrowheads="1"/>
          </p:cNvSpPr>
          <p:nvPr>
            <p:ph type="sldNum" sz="quarter" idx="12"/>
          </p:nvPr>
        </p:nvSpPr>
        <p:spPr>
          <a:ln/>
        </p:spPr>
        <p:txBody>
          <a:bodyPr/>
          <a:lstStyle>
            <a:lvl1pPr>
              <a:defRPr/>
            </a:lvl1pPr>
          </a:lstStyle>
          <a:p>
            <a:pPr>
              <a:defRPr/>
            </a:pPr>
            <a:fld id="{A8CF3CC1-E1BD-4614-89D5-C67F05420096}" type="slidenum">
              <a:rPr lang="en-GB" altLang="en-US"/>
              <a:pPr>
                <a:defRPr/>
              </a:pPr>
              <a:t>‹#›</a:t>
            </a:fld>
            <a:endParaRPr lang="en-GB" altLang="en-US"/>
          </a:p>
        </p:txBody>
      </p:sp>
    </p:spTree>
    <p:extLst>
      <p:ext uri="{BB962C8B-B14F-4D97-AF65-F5344CB8AC3E}">
        <p14:creationId xmlns:p14="http://schemas.microsoft.com/office/powerpoint/2010/main" val="4982267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1C264EF2-B048-9F81-3637-8529165CC910}"/>
              </a:ext>
            </a:extLst>
          </p:cNvPr>
          <p:cNvSpPr>
            <a:spLocks noGrp="1" noChangeArrowheads="1"/>
          </p:cNvSpPr>
          <p:nvPr>
            <p:ph type="dt" sz="half" idx="10"/>
          </p:nvPr>
        </p:nvSpPr>
        <p:spPr>
          <a:ln/>
        </p:spPr>
        <p:txBody>
          <a:bodyPr/>
          <a:lstStyle>
            <a:lvl1pPr>
              <a:defRPr/>
            </a:lvl1pPr>
          </a:lstStyle>
          <a:p>
            <a:pPr>
              <a:defRPr/>
            </a:pPr>
            <a:endParaRPr lang="en-GB"/>
          </a:p>
        </p:txBody>
      </p:sp>
      <p:sp>
        <p:nvSpPr>
          <p:cNvPr id="3" name="Rectangle 5">
            <a:extLst>
              <a:ext uri="{FF2B5EF4-FFF2-40B4-BE49-F238E27FC236}">
                <a16:creationId xmlns:a16="http://schemas.microsoft.com/office/drawing/2014/main" id="{560CC96A-E156-C405-6254-CAFE9EACDB8C}"/>
              </a:ext>
            </a:extLst>
          </p:cNvPr>
          <p:cNvSpPr>
            <a:spLocks noGrp="1" noChangeArrowheads="1"/>
          </p:cNvSpPr>
          <p:nvPr>
            <p:ph type="ftr" sz="quarter" idx="11"/>
          </p:nvPr>
        </p:nvSpPr>
        <p:spPr>
          <a:ln/>
        </p:spPr>
        <p:txBody>
          <a:bodyPr/>
          <a:lstStyle>
            <a:lvl1pPr>
              <a:defRPr/>
            </a:lvl1pPr>
          </a:lstStyle>
          <a:p>
            <a:pPr>
              <a:defRPr/>
            </a:pPr>
            <a:endParaRPr lang="en-GB"/>
          </a:p>
        </p:txBody>
      </p:sp>
      <p:sp>
        <p:nvSpPr>
          <p:cNvPr id="4" name="Rectangle 6">
            <a:extLst>
              <a:ext uri="{FF2B5EF4-FFF2-40B4-BE49-F238E27FC236}">
                <a16:creationId xmlns:a16="http://schemas.microsoft.com/office/drawing/2014/main" id="{DC611EEF-D76E-6F88-63F3-3DD2F38EFFA3}"/>
              </a:ext>
            </a:extLst>
          </p:cNvPr>
          <p:cNvSpPr>
            <a:spLocks noGrp="1" noChangeArrowheads="1"/>
          </p:cNvSpPr>
          <p:nvPr>
            <p:ph type="sldNum" sz="quarter" idx="12"/>
          </p:nvPr>
        </p:nvSpPr>
        <p:spPr>
          <a:ln/>
        </p:spPr>
        <p:txBody>
          <a:bodyPr/>
          <a:lstStyle>
            <a:lvl1pPr>
              <a:defRPr/>
            </a:lvl1pPr>
          </a:lstStyle>
          <a:p>
            <a:pPr>
              <a:defRPr/>
            </a:pPr>
            <a:fld id="{E9ED6DB4-0FB6-4118-9174-746391ABFD1F}" type="slidenum">
              <a:rPr lang="en-GB" altLang="en-US"/>
              <a:pPr>
                <a:defRPr/>
              </a:pPr>
              <a:t>‹#›</a:t>
            </a:fld>
            <a:endParaRPr lang="en-GB" altLang="en-US"/>
          </a:p>
        </p:txBody>
      </p:sp>
    </p:spTree>
    <p:extLst>
      <p:ext uri="{BB962C8B-B14F-4D97-AF65-F5344CB8AC3E}">
        <p14:creationId xmlns:p14="http://schemas.microsoft.com/office/powerpoint/2010/main" val="32228547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24EB23E1-5B3F-C911-1BE8-560E002C832C}"/>
              </a:ext>
            </a:extLst>
          </p:cNvPr>
          <p:cNvSpPr>
            <a:spLocks noGrp="1" noChangeArrowheads="1"/>
          </p:cNvSpPr>
          <p:nvPr>
            <p:ph type="dt" sz="half" idx="10"/>
          </p:nvPr>
        </p:nvSpPr>
        <p:spPr>
          <a:ln/>
        </p:spPr>
        <p:txBody>
          <a:bodyPr/>
          <a:lstStyle>
            <a:lvl1pPr>
              <a:defRPr/>
            </a:lvl1pPr>
          </a:lstStyle>
          <a:p>
            <a:pPr>
              <a:defRPr/>
            </a:pPr>
            <a:endParaRPr lang="en-GB"/>
          </a:p>
        </p:txBody>
      </p:sp>
      <p:sp>
        <p:nvSpPr>
          <p:cNvPr id="6" name="Rectangle 5">
            <a:extLst>
              <a:ext uri="{FF2B5EF4-FFF2-40B4-BE49-F238E27FC236}">
                <a16:creationId xmlns:a16="http://schemas.microsoft.com/office/drawing/2014/main" id="{F9C15834-B356-DD4A-3283-19F90E98E8E7}"/>
              </a:ext>
            </a:extLst>
          </p:cNvPr>
          <p:cNvSpPr>
            <a:spLocks noGrp="1" noChangeArrowheads="1"/>
          </p:cNvSpPr>
          <p:nvPr>
            <p:ph type="ftr" sz="quarter" idx="11"/>
          </p:nvPr>
        </p:nvSpPr>
        <p:spPr>
          <a:ln/>
        </p:spPr>
        <p:txBody>
          <a:bodyPr/>
          <a:lstStyle>
            <a:lvl1pPr>
              <a:defRPr/>
            </a:lvl1pPr>
          </a:lstStyle>
          <a:p>
            <a:pPr>
              <a:defRPr/>
            </a:pPr>
            <a:endParaRPr lang="en-GB"/>
          </a:p>
        </p:txBody>
      </p:sp>
      <p:sp>
        <p:nvSpPr>
          <p:cNvPr id="7" name="Rectangle 6">
            <a:extLst>
              <a:ext uri="{FF2B5EF4-FFF2-40B4-BE49-F238E27FC236}">
                <a16:creationId xmlns:a16="http://schemas.microsoft.com/office/drawing/2014/main" id="{6AA31583-F453-BFA5-D0F8-35E8AE9D704C}"/>
              </a:ext>
            </a:extLst>
          </p:cNvPr>
          <p:cNvSpPr>
            <a:spLocks noGrp="1" noChangeArrowheads="1"/>
          </p:cNvSpPr>
          <p:nvPr>
            <p:ph type="sldNum" sz="quarter" idx="12"/>
          </p:nvPr>
        </p:nvSpPr>
        <p:spPr>
          <a:ln/>
        </p:spPr>
        <p:txBody>
          <a:bodyPr/>
          <a:lstStyle>
            <a:lvl1pPr>
              <a:defRPr/>
            </a:lvl1pPr>
          </a:lstStyle>
          <a:p>
            <a:pPr>
              <a:defRPr/>
            </a:pPr>
            <a:fld id="{8630439E-9715-45A6-BE63-46BD2BCB4E07}" type="slidenum">
              <a:rPr lang="en-GB" altLang="en-US"/>
              <a:pPr>
                <a:defRPr/>
              </a:pPr>
              <a:t>‹#›</a:t>
            </a:fld>
            <a:endParaRPr lang="en-GB" altLang="en-US"/>
          </a:p>
        </p:txBody>
      </p:sp>
    </p:spTree>
    <p:extLst>
      <p:ext uri="{BB962C8B-B14F-4D97-AF65-F5344CB8AC3E}">
        <p14:creationId xmlns:p14="http://schemas.microsoft.com/office/powerpoint/2010/main" val="619357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D7CF05A3-2F84-0C4E-D67E-A5158B6C7569}"/>
              </a:ext>
            </a:extLst>
          </p:cNvPr>
          <p:cNvSpPr>
            <a:spLocks noGrp="1" noChangeArrowheads="1"/>
          </p:cNvSpPr>
          <p:nvPr>
            <p:ph type="dt" sz="half" idx="10"/>
          </p:nvPr>
        </p:nvSpPr>
        <p:spPr>
          <a:ln/>
        </p:spPr>
        <p:txBody>
          <a:bodyPr/>
          <a:lstStyle>
            <a:lvl1pPr>
              <a:defRPr/>
            </a:lvl1pPr>
          </a:lstStyle>
          <a:p>
            <a:pPr>
              <a:defRPr/>
            </a:pPr>
            <a:endParaRPr lang="en-GB"/>
          </a:p>
        </p:txBody>
      </p:sp>
      <p:sp>
        <p:nvSpPr>
          <p:cNvPr id="6" name="Rectangle 5">
            <a:extLst>
              <a:ext uri="{FF2B5EF4-FFF2-40B4-BE49-F238E27FC236}">
                <a16:creationId xmlns:a16="http://schemas.microsoft.com/office/drawing/2014/main" id="{27EFD60A-C9C7-243D-7EC3-B6F5952BE517}"/>
              </a:ext>
            </a:extLst>
          </p:cNvPr>
          <p:cNvSpPr>
            <a:spLocks noGrp="1" noChangeArrowheads="1"/>
          </p:cNvSpPr>
          <p:nvPr>
            <p:ph type="ftr" sz="quarter" idx="11"/>
          </p:nvPr>
        </p:nvSpPr>
        <p:spPr>
          <a:ln/>
        </p:spPr>
        <p:txBody>
          <a:bodyPr/>
          <a:lstStyle>
            <a:lvl1pPr>
              <a:defRPr/>
            </a:lvl1pPr>
          </a:lstStyle>
          <a:p>
            <a:pPr>
              <a:defRPr/>
            </a:pPr>
            <a:endParaRPr lang="en-GB"/>
          </a:p>
        </p:txBody>
      </p:sp>
      <p:sp>
        <p:nvSpPr>
          <p:cNvPr id="7" name="Rectangle 6">
            <a:extLst>
              <a:ext uri="{FF2B5EF4-FFF2-40B4-BE49-F238E27FC236}">
                <a16:creationId xmlns:a16="http://schemas.microsoft.com/office/drawing/2014/main" id="{95556BBF-2E12-03D6-3507-EF2E4479F582}"/>
              </a:ext>
            </a:extLst>
          </p:cNvPr>
          <p:cNvSpPr>
            <a:spLocks noGrp="1" noChangeArrowheads="1"/>
          </p:cNvSpPr>
          <p:nvPr>
            <p:ph type="sldNum" sz="quarter" idx="12"/>
          </p:nvPr>
        </p:nvSpPr>
        <p:spPr>
          <a:ln/>
        </p:spPr>
        <p:txBody>
          <a:bodyPr/>
          <a:lstStyle>
            <a:lvl1pPr>
              <a:defRPr/>
            </a:lvl1pPr>
          </a:lstStyle>
          <a:p>
            <a:pPr>
              <a:defRPr/>
            </a:pPr>
            <a:fld id="{3426C6AF-D246-4C72-AA79-3924D495F4A1}" type="slidenum">
              <a:rPr lang="en-GB" altLang="en-US"/>
              <a:pPr>
                <a:defRPr/>
              </a:pPr>
              <a:t>‹#›</a:t>
            </a:fld>
            <a:endParaRPr lang="en-GB" altLang="en-US"/>
          </a:p>
        </p:txBody>
      </p:sp>
    </p:spTree>
    <p:extLst>
      <p:ext uri="{BB962C8B-B14F-4D97-AF65-F5344CB8AC3E}">
        <p14:creationId xmlns:p14="http://schemas.microsoft.com/office/powerpoint/2010/main" val="14887921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a:extLst>
              <a:ext uri="{FF2B5EF4-FFF2-40B4-BE49-F238E27FC236}">
                <a16:creationId xmlns:a16="http://schemas.microsoft.com/office/drawing/2014/main" id="{7F2D0728-DB74-542E-202E-4B6184E16107}"/>
              </a:ext>
            </a:extLst>
          </p:cNvPr>
          <p:cNvSpPr>
            <a:spLocks noGrp="1" noChangeArrowheads="1"/>
          </p:cNvSpPr>
          <p:nvPr>
            <p:ph type="dt" sz="half" idx="10"/>
          </p:nvPr>
        </p:nvSpPr>
        <p:spPr>
          <a:ln/>
        </p:spPr>
        <p:txBody>
          <a:bodyPr/>
          <a:lstStyle>
            <a:lvl1pPr>
              <a:defRPr/>
            </a:lvl1pPr>
          </a:lstStyle>
          <a:p>
            <a:pPr>
              <a:defRPr/>
            </a:pPr>
            <a:endParaRPr lang="en-GB"/>
          </a:p>
        </p:txBody>
      </p:sp>
      <p:sp>
        <p:nvSpPr>
          <p:cNvPr id="5" name="Rectangle 5">
            <a:extLst>
              <a:ext uri="{FF2B5EF4-FFF2-40B4-BE49-F238E27FC236}">
                <a16:creationId xmlns:a16="http://schemas.microsoft.com/office/drawing/2014/main" id="{9FBE41E7-5CB5-5A8B-684B-E2E269F0064F}"/>
              </a:ext>
            </a:extLst>
          </p:cNvPr>
          <p:cNvSpPr>
            <a:spLocks noGrp="1" noChangeArrowheads="1"/>
          </p:cNvSpPr>
          <p:nvPr>
            <p:ph type="ftr" sz="quarter" idx="11"/>
          </p:nvPr>
        </p:nvSpPr>
        <p:spPr>
          <a:ln/>
        </p:spPr>
        <p:txBody>
          <a:bodyPr/>
          <a:lstStyle>
            <a:lvl1pPr>
              <a:defRPr/>
            </a:lvl1pPr>
          </a:lstStyle>
          <a:p>
            <a:pPr>
              <a:defRPr/>
            </a:pPr>
            <a:endParaRPr lang="en-GB"/>
          </a:p>
        </p:txBody>
      </p:sp>
      <p:sp>
        <p:nvSpPr>
          <p:cNvPr id="6" name="Rectangle 6">
            <a:extLst>
              <a:ext uri="{FF2B5EF4-FFF2-40B4-BE49-F238E27FC236}">
                <a16:creationId xmlns:a16="http://schemas.microsoft.com/office/drawing/2014/main" id="{039A4770-1A33-0AAC-0EAF-B5C4C5557C5B}"/>
              </a:ext>
            </a:extLst>
          </p:cNvPr>
          <p:cNvSpPr>
            <a:spLocks noGrp="1" noChangeArrowheads="1"/>
          </p:cNvSpPr>
          <p:nvPr>
            <p:ph type="sldNum" sz="quarter" idx="12"/>
          </p:nvPr>
        </p:nvSpPr>
        <p:spPr>
          <a:ln/>
        </p:spPr>
        <p:txBody>
          <a:bodyPr/>
          <a:lstStyle>
            <a:lvl1pPr>
              <a:defRPr/>
            </a:lvl1pPr>
          </a:lstStyle>
          <a:p>
            <a:pPr>
              <a:defRPr/>
            </a:pPr>
            <a:fld id="{B7B5DDC5-C9E2-4349-979A-336E086DA6BB}" type="slidenum">
              <a:rPr lang="en-GB" altLang="en-US"/>
              <a:pPr>
                <a:defRPr/>
              </a:pPr>
              <a:t>‹#›</a:t>
            </a:fld>
            <a:endParaRPr lang="en-GB" altLang="en-US"/>
          </a:p>
        </p:txBody>
      </p:sp>
    </p:spTree>
    <p:extLst>
      <p:ext uri="{BB962C8B-B14F-4D97-AF65-F5344CB8AC3E}">
        <p14:creationId xmlns:p14="http://schemas.microsoft.com/office/powerpoint/2010/main" val="30042413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19588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84213" y="609600"/>
            <a:ext cx="5678487" cy="5195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a:extLst>
              <a:ext uri="{FF2B5EF4-FFF2-40B4-BE49-F238E27FC236}">
                <a16:creationId xmlns:a16="http://schemas.microsoft.com/office/drawing/2014/main" id="{F295BE53-A706-EE5E-1F62-34807F597086}"/>
              </a:ext>
            </a:extLst>
          </p:cNvPr>
          <p:cNvSpPr>
            <a:spLocks noGrp="1" noChangeArrowheads="1"/>
          </p:cNvSpPr>
          <p:nvPr>
            <p:ph type="dt" sz="half" idx="10"/>
          </p:nvPr>
        </p:nvSpPr>
        <p:spPr>
          <a:ln/>
        </p:spPr>
        <p:txBody>
          <a:bodyPr/>
          <a:lstStyle>
            <a:lvl1pPr>
              <a:defRPr/>
            </a:lvl1pPr>
          </a:lstStyle>
          <a:p>
            <a:pPr>
              <a:defRPr/>
            </a:pPr>
            <a:endParaRPr lang="en-GB"/>
          </a:p>
        </p:txBody>
      </p:sp>
      <p:sp>
        <p:nvSpPr>
          <p:cNvPr id="5" name="Rectangle 5">
            <a:extLst>
              <a:ext uri="{FF2B5EF4-FFF2-40B4-BE49-F238E27FC236}">
                <a16:creationId xmlns:a16="http://schemas.microsoft.com/office/drawing/2014/main" id="{2845B691-B98E-8AEC-BB02-36603DF40B45}"/>
              </a:ext>
            </a:extLst>
          </p:cNvPr>
          <p:cNvSpPr>
            <a:spLocks noGrp="1" noChangeArrowheads="1"/>
          </p:cNvSpPr>
          <p:nvPr>
            <p:ph type="ftr" sz="quarter" idx="11"/>
          </p:nvPr>
        </p:nvSpPr>
        <p:spPr>
          <a:ln/>
        </p:spPr>
        <p:txBody>
          <a:bodyPr/>
          <a:lstStyle>
            <a:lvl1pPr>
              <a:defRPr/>
            </a:lvl1pPr>
          </a:lstStyle>
          <a:p>
            <a:pPr>
              <a:defRPr/>
            </a:pPr>
            <a:endParaRPr lang="en-GB"/>
          </a:p>
        </p:txBody>
      </p:sp>
      <p:sp>
        <p:nvSpPr>
          <p:cNvPr id="6" name="Rectangle 6">
            <a:extLst>
              <a:ext uri="{FF2B5EF4-FFF2-40B4-BE49-F238E27FC236}">
                <a16:creationId xmlns:a16="http://schemas.microsoft.com/office/drawing/2014/main" id="{C711F149-15B1-F099-1DA0-E5A0B3C7D345}"/>
              </a:ext>
            </a:extLst>
          </p:cNvPr>
          <p:cNvSpPr>
            <a:spLocks noGrp="1" noChangeArrowheads="1"/>
          </p:cNvSpPr>
          <p:nvPr>
            <p:ph type="sldNum" sz="quarter" idx="12"/>
          </p:nvPr>
        </p:nvSpPr>
        <p:spPr>
          <a:ln/>
        </p:spPr>
        <p:txBody>
          <a:bodyPr/>
          <a:lstStyle>
            <a:lvl1pPr>
              <a:defRPr/>
            </a:lvl1pPr>
          </a:lstStyle>
          <a:p>
            <a:pPr>
              <a:defRPr/>
            </a:pPr>
            <a:fld id="{9C25D986-D7B4-4C8D-9345-C69C5B35E0D5}" type="slidenum">
              <a:rPr lang="en-GB" altLang="en-US"/>
              <a:pPr>
                <a:defRPr/>
              </a:pPr>
              <a:t>‹#›</a:t>
            </a:fld>
            <a:endParaRPr lang="en-GB" altLang="en-US"/>
          </a:p>
        </p:txBody>
      </p:sp>
    </p:spTree>
    <p:extLst>
      <p:ext uri="{BB962C8B-B14F-4D97-AF65-F5344CB8AC3E}">
        <p14:creationId xmlns:p14="http://schemas.microsoft.com/office/powerpoint/2010/main" val="29636327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7">
            <a:extLst>
              <a:ext uri="{FF2B5EF4-FFF2-40B4-BE49-F238E27FC236}">
                <a16:creationId xmlns:a16="http://schemas.microsoft.com/office/drawing/2014/main" id="{A4B71832-A0C4-1985-7D3D-2F098716A147}"/>
              </a:ext>
            </a:extLst>
          </p:cNvPr>
          <p:cNvSpPr>
            <a:spLocks noChangeArrowheads="1"/>
          </p:cNvSpPr>
          <p:nvPr userDrawn="1"/>
        </p:nvSpPr>
        <p:spPr bwMode="auto">
          <a:xfrm>
            <a:off x="0" y="0"/>
            <a:ext cx="9140825" cy="6873875"/>
          </a:xfrm>
          <a:prstGeom prst="rect">
            <a:avLst/>
          </a:prstGeom>
          <a:solidFill>
            <a:srgbClr val="663366"/>
          </a:solidFill>
          <a:ln>
            <a:noFill/>
          </a:ln>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defRPr/>
            </a:pPr>
            <a:r>
              <a:rPr lang="en-GB" altLang="en-US">
                <a:solidFill>
                  <a:srgbClr val="663366"/>
                </a:solidFill>
              </a:rPr>
              <a:t>∂</a:t>
            </a:r>
          </a:p>
        </p:txBody>
      </p:sp>
      <p:sp>
        <p:nvSpPr>
          <p:cNvPr id="1027" name="Rectangle 8">
            <a:extLst>
              <a:ext uri="{FF2B5EF4-FFF2-40B4-BE49-F238E27FC236}">
                <a16:creationId xmlns:a16="http://schemas.microsoft.com/office/drawing/2014/main" id="{5B463438-BE70-59E4-B0A6-9B62CEA61215}"/>
              </a:ext>
            </a:extLst>
          </p:cNvPr>
          <p:cNvSpPr>
            <a:spLocks noChangeArrowheads="1"/>
          </p:cNvSpPr>
          <p:nvPr userDrawn="1"/>
        </p:nvSpPr>
        <p:spPr bwMode="auto">
          <a:xfrm>
            <a:off x="107950" y="107950"/>
            <a:ext cx="8924925" cy="6657975"/>
          </a:xfrm>
          <a:prstGeom prst="rect">
            <a:avLst/>
          </a:prstGeom>
          <a:solidFill>
            <a:schemeClr val="bg1"/>
          </a:solidFill>
          <a:ln>
            <a:noFill/>
          </a:ln>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defRPr/>
            </a:pPr>
            <a:endParaRPr lang="en-US" altLang="en-US">
              <a:solidFill>
                <a:srgbClr val="663366"/>
              </a:solidFill>
            </a:endParaRPr>
          </a:p>
        </p:txBody>
      </p:sp>
      <p:sp>
        <p:nvSpPr>
          <p:cNvPr id="1028" name="Rectangle 2">
            <a:extLst>
              <a:ext uri="{FF2B5EF4-FFF2-40B4-BE49-F238E27FC236}">
                <a16:creationId xmlns:a16="http://schemas.microsoft.com/office/drawing/2014/main" id="{158AE9EB-7072-7674-611C-B7AF2752427C}"/>
              </a:ext>
            </a:extLst>
          </p:cNvPr>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a:t>Heading style</a:t>
            </a:r>
          </a:p>
        </p:txBody>
      </p:sp>
      <p:sp>
        <p:nvSpPr>
          <p:cNvPr id="1029" name="Rectangle 3">
            <a:extLst>
              <a:ext uri="{FF2B5EF4-FFF2-40B4-BE49-F238E27FC236}">
                <a16:creationId xmlns:a16="http://schemas.microsoft.com/office/drawing/2014/main" id="{D053E1F1-F245-F7BD-1903-B2C7129C8E63}"/>
              </a:ext>
            </a:extLst>
          </p:cNvPr>
          <p:cNvSpPr>
            <a:spLocks noGrp="1" noChangeArrowheads="1"/>
          </p:cNvSpPr>
          <p:nvPr>
            <p:ph type="body" idx="1"/>
          </p:nvPr>
        </p:nvSpPr>
        <p:spPr bwMode="auto">
          <a:xfrm>
            <a:off x="684213" y="1989138"/>
            <a:ext cx="7772400" cy="381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p>
        </p:txBody>
      </p:sp>
      <p:sp>
        <p:nvSpPr>
          <p:cNvPr id="2" name="Rectangle 4">
            <a:extLst>
              <a:ext uri="{FF2B5EF4-FFF2-40B4-BE49-F238E27FC236}">
                <a16:creationId xmlns:a16="http://schemas.microsoft.com/office/drawing/2014/main" id="{926561C8-64B0-29EC-62D8-8EF590EB38C9}"/>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en-GB"/>
          </a:p>
        </p:txBody>
      </p:sp>
      <p:sp>
        <p:nvSpPr>
          <p:cNvPr id="3" name="Rectangle 5">
            <a:extLst>
              <a:ext uri="{FF2B5EF4-FFF2-40B4-BE49-F238E27FC236}">
                <a16:creationId xmlns:a16="http://schemas.microsoft.com/office/drawing/2014/main" id="{621FEEF6-97EF-5FCC-CF31-8E3A82A70E13}"/>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GB"/>
          </a:p>
        </p:txBody>
      </p:sp>
      <p:sp>
        <p:nvSpPr>
          <p:cNvPr id="1030" name="Rectangle 6">
            <a:extLst>
              <a:ext uri="{FF2B5EF4-FFF2-40B4-BE49-F238E27FC236}">
                <a16:creationId xmlns:a16="http://schemas.microsoft.com/office/drawing/2014/main" id="{69B0B2B7-CF13-D38F-2E2D-BEF844667643}"/>
              </a:ext>
            </a:extLst>
          </p:cNvPr>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smtClean="0"/>
            </a:lvl1pPr>
          </a:lstStyle>
          <a:p>
            <a:pPr>
              <a:defRPr/>
            </a:pPr>
            <a:fld id="{D8D0EC2E-3E6C-4FF1-842A-F252D8B1B83F}" type="slidenum">
              <a:rPr lang="en-GB" altLang="en-US"/>
              <a:pPr>
                <a:defRPr/>
              </a:pPr>
              <a:t>‹#›</a:t>
            </a:fld>
            <a:endParaRPr lang="en-GB" altLang="en-US"/>
          </a:p>
        </p:txBody>
      </p:sp>
      <p:sp>
        <p:nvSpPr>
          <p:cNvPr id="1033" name="Rectangle 9">
            <a:extLst>
              <a:ext uri="{FF2B5EF4-FFF2-40B4-BE49-F238E27FC236}">
                <a16:creationId xmlns:a16="http://schemas.microsoft.com/office/drawing/2014/main" id="{056F642D-B683-9F3F-2FC3-71E14C6D7F17}"/>
              </a:ext>
            </a:extLst>
          </p:cNvPr>
          <p:cNvSpPr>
            <a:spLocks noChangeArrowheads="1"/>
          </p:cNvSpPr>
          <p:nvPr userDrawn="1"/>
        </p:nvSpPr>
        <p:spPr bwMode="auto">
          <a:xfrm>
            <a:off x="790575" y="611188"/>
            <a:ext cx="8024813" cy="1143000"/>
          </a:xfrm>
          <a:prstGeom prst="rect">
            <a:avLst/>
          </a:prstGeom>
          <a:noFill/>
          <a:ln>
            <a:noFill/>
          </a:ln>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eaLnBrk="1" hangingPunct="1">
              <a:defRPr/>
            </a:pPr>
            <a:endParaRPr lang="en-US" altLang="en-US" sz="4400">
              <a:solidFill>
                <a:schemeClr val="bg1"/>
              </a:solidFill>
            </a:endParaRPr>
          </a:p>
        </p:txBody>
      </p:sp>
      <p:sp>
        <p:nvSpPr>
          <p:cNvPr id="1034" name="Rectangle 10">
            <a:extLst>
              <a:ext uri="{FF2B5EF4-FFF2-40B4-BE49-F238E27FC236}">
                <a16:creationId xmlns:a16="http://schemas.microsoft.com/office/drawing/2014/main" id="{6AFBB9FD-8577-1E42-A7A2-E742270DA77D}"/>
              </a:ext>
            </a:extLst>
          </p:cNvPr>
          <p:cNvSpPr>
            <a:spLocks noChangeArrowheads="1"/>
          </p:cNvSpPr>
          <p:nvPr userDrawn="1"/>
        </p:nvSpPr>
        <p:spPr bwMode="auto">
          <a:xfrm>
            <a:off x="790575" y="1798638"/>
            <a:ext cx="8024813" cy="3813175"/>
          </a:xfrm>
          <a:prstGeom prst="rect">
            <a:avLst/>
          </a:prstGeom>
          <a:noFill/>
          <a:ln>
            <a:noFill/>
          </a:ln>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eaLnBrk="1" hangingPunct="1">
              <a:spcBef>
                <a:spcPct val="20000"/>
              </a:spcBef>
              <a:defRPr/>
            </a:pPr>
            <a:endParaRPr lang="en-US" altLang="en-US" sz="1800" b="1">
              <a:solidFill>
                <a:schemeClr val="bg1"/>
              </a:solidFill>
              <a:latin typeface="Arial" panose="020B0604020202020204" pitchFamily="34" charset="0"/>
            </a:endParaRPr>
          </a:p>
        </p:txBody>
      </p:sp>
      <p:pic>
        <p:nvPicPr>
          <p:cNvPr id="1035" name="Picture 11">
            <a:extLst>
              <a:ext uri="{FF2B5EF4-FFF2-40B4-BE49-F238E27FC236}">
                <a16:creationId xmlns:a16="http://schemas.microsoft.com/office/drawing/2014/main" id="{8E44ABA9-DDB0-4756-737F-E0011B04C99A}"/>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266700" y="5843588"/>
            <a:ext cx="1943100" cy="862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803" r:id="rId1"/>
    <p:sldLayoutId id="2147483793" r:id="rId2"/>
    <p:sldLayoutId id="2147483794" r:id="rId3"/>
    <p:sldLayoutId id="2147483795" r:id="rId4"/>
    <p:sldLayoutId id="2147483796" r:id="rId5"/>
    <p:sldLayoutId id="2147483797" r:id="rId6"/>
    <p:sldLayoutId id="2147483798" r:id="rId7"/>
    <p:sldLayoutId id="2147483799" r:id="rId8"/>
    <p:sldLayoutId id="2147483800" r:id="rId9"/>
    <p:sldLayoutId id="2147483801" r:id="rId10"/>
    <p:sldLayoutId id="2147483802" r:id="rId11"/>
  </p:sldLayoutIdLst>
  <p:txStyles>
    <p:titleStyle>
      <a:lvl1pPr algn="l" rtl="0" eaLnBrk="0" fontAlgn="base" hangingPunct="0">
        <a:spcBef>
          <a:spcPct val="0"/>
        </a:spcBef>
        <a:spcAft>
          <a:spcPct val="0"/>
        </a:spcAft>
        <a:defRPr sz="4400">
          <a:solidFill>
            <a:srgbClr val="663366"/>
          </a:solidFill>
          <a:latin typeface="+mj-lt"/>
          <a:ea typeface="+mj-ea"/>
          <a:cs typeface="+mj-cs"/>
        </a:defRPr>
      </a:lvl1pPr>
      <a:lvl2pPr algn="l" rtl="0" eaLnBrk="0" fontAlgn="base" hangingPunct="0">
        <a:spcBef>
          <a:spcPct val="0"/>
        </a:spcBef>
        <a:spcAft>
          <a:spcPct val="0"/>
        </a:spcAft>
        <a:defRPr sz="4400">
          <a:solidFill>
            <a:srgbClr val="663366"/>
          </a:solidFill>
          <a:latin typeface="Times" pitchFamily="18" charset="0"/>
        </a:defRPr>
      </a:lvl2pPr>
      <a:lvl3pPr algn="l" rtl="0" eaLnBrk="0" fontAlgn="base" hangingPunct="0">
        <a:spcBef>
          <a:spcPct val="0"/>
        </a:spcBef>
        <a:spcAft>
          <a:spcPct val="0"/>
        </a:spcAft>
        <a:defRPr sz="4400">
          <a:solidFill>
            <a:srgbClr val="663366"/>
          </a:solidFill>
          <a:latin typeface="Times" pitchFamily="18" charset="0"/>
        </a:defRPr>
      </a:lvl3pPr>
      <a:lvl4pPr algn="l" rtl="0" eaLnBrk="0" fontAlgn="base" hangingPunct="0">
        <a:spcBef>
          <a:spcPct val="0"/>
        </a:spcBef>
        <a:spcAft>
          <a:spcPct val="0"/>
        </a:spcAft>
        <a:defRPr sz="4400">
          <a:solidFill>
            <a:srgbClr val="663366"/>
          </a:solidFill>
          <a:latin typeface="Times" pitchFamily="18" charset="0"/>
        </a:defRPr>
      </a:lvl4pPr>
      <a:lvl5pPr algn="l" rtl="0" eaLnBrk="0" fontAlgn="base" hangingPunct="0">
        <a:spcBef>
          <a:spcPct val="0"/>
        </a:spcBef>
        <a:spcAft>
          <a:spcPct val="0"/>
        </a:spcAft>
        <a:defRPr sz="4400">
          <a:solidFill>
            <a:srgbClr val="663366"/>
          </a:solidFill>
          <a:latin typeface="Times" pitchFamily="18" charset="0"/>
        </a:defRPr>
      </a:lvl5pPr>
      <a:lvl6pPr marL="457200" algn="l" rtl="0" fontAlgn="base">
        <a:spcBef>
          <a:spcPct val="0"/>
        </a:spcBef>
        <a:spcAft>
          <a:spcPct val="0"/>
        </a:spcAft>
        <a:defRPr sz="4400">
          <a:solidFill>
            <a:srgbClr val="663366"/>
          </a:solidFill>
          <a:latin typeface="Times" pitchFamily="18" charset="0"/>
        </a:defRPr>
      </a:lvl6pPr>
      <a:lvl7pPr marL="914400" algn="l" rtl="0" fontAlgn="base">
        <a:spcBef>
          <a:spcPct val="0"/>
        </a:spcBef>
        <a:spcAft>
          <a:spcPct val="0"/>
        </a:spcAft>
        <a:defRPr sz="4400">
          <a:solidFill>
            <a:srgbClr val="663366"/>
          </a:solidFill>
          <a:latin typeface="Times" pitchFamily="18" charset="0"/>
        </a:defRPr>
      </a:lvl7pPr>
      <a:lvl8pPr marL="1371600" algn="l" rtl="0" fontAlgn="base">
        <a:spcBef>
          <a:spcPct val="0"/>
        </a:spcBef>
        <a:spcAft>
          <a:spcPct val="0"/>
        </a:spcAft>
        <a:defRPr sz="4400">
          <a:solidFill>
            <a:srgbClr val="663366"/>
          </a:solidFill>
          <a:latin typeface="Times" pitchFamily="18" charset="0"/>
        </a:defRPr>
      </a:lvl8pPr>
      <a:lvl9pPr marL="1828800" algn="l" rtl="0" fontAlgn="base">
        <a:spcBef>
          <a:spcPct val="0"/>
        </a:spcBef>
        <a:spcAft>
          <a:spcPct val="0"/>
        </a:spcAft>
        <a:defRPr sz="4400">
          <a:solidFill>
            <a:srgbClr val="663366"/>
          </a:solidFill>
          <a:latin typeface="Times" pitchFamily="18" charset="0"/>
        </a:defRPr>
      </a:lvl9pPr>
    </p:titleStyle>
    <p:bodyStyle>
      <a:lvl1pPr marL="342900" indent="-342900" algn="l" rtl="0" eaLnBrk="0" fontAlgn="base" hangingPunct="0">
        <a:spcBef>
          <a:spcPct val="20000"/>
        </a:spcBef>
        <a:spcAft>
          <a:spcPct val="0"/>
        </a:spcAft>
        <a:defRPr>
          <a:solidFill>
            <a:schemeClr val="tx1"/>
          </a:solidFill>
          <a:latin typeface="+mn-lt"/>
          <a:ea typeface="+mn-ea"/>
          <a:cs typeface="+mn-cs"/>
        </a:defRPr>
      </a:lvl1pPr>
      <a:lvl2pPr marL="742950" indent="-285750" algn="l" rtl="0" eaLnBrk="0" fontAlgn="base" hangingPunct="0">
        <a:spcBef>
          <a:spcPct val="20000"/>
        </a:spcBef>
        <a:spcAft>
          <a:spcPct val="0"/>
        </a:spcAft>
        <a:buChar char="–"/>
        <a:defRPr sz="1600">
          <a:solidFill>
            <a:schemeClr val="tx1"/>
          </a:solidFill>
          <a:latin typeface="+mn-lt"/>
        </a:defRPr>
      </a:lvl2pPr>
      <a:lvl3pPr marL="1143000" indent="-228600" algn="l" rtl="0" eaLnBrk="0" fontAlgn="base" hangingPunct="0">
        <a:spcBef>
          <a:spcPct val="20000"/>
        </a:spcBef>
        <a:spcAft>
          <a:spcPct val="0"/>
        </a:spcAft>
        <a:buChar char="•"/>
        <a:defRPr sz="1400">
          <a:solidFill>
            <a:schemeClr val="tx1"/>
          </a:solidFill>
          <a:latin typeface="+mn-lt"/>
        </a:defRPr>
      </a:lvl3pPr>
      <a:lvl4pPr marL="1600200" indent="-228600" algn="l" rtl="0" eaLnBrk="0" fontAlgn="base" hangingPunct="0">
        <a:spcBef>
          <a:spcPct val="20000"/>
        </a:spcBef>
        <a:spcAft>
          <a:spcPct val="0"/>
        </a:spcAft>
        <a:buChar char="–"/>
        <a:defRPr sz="1200">
          <a:solidFill>
            <a:schemeClr val="tx1"/>
          </a:solidFill>
          <a:latin typeface="+mn-lt"/>
        </a:defRPr>
      </a:lvl4pPr>
      <a:lvl5pPr marL="2057400" indent="-228600" algn="l" rtl="0" eaLnBrk="0" fontAlgn="base" hangingPunct="0">
        <a:spcBef>
          <a:spcPct val="20000"/>
        </a:spcBef>
        <a:spcAft>
          <a:spcPct val="0"/>
        </a:spcAft>
        <a:buChar char="»"/>
        <a:defRPr sz="1200">
          <a:solidFill>
            <a:schemeClr val="tx1"/>
          </a:solidFill>
          <a:latin typeface="+mn-lt"/>
        </a:defRPr>
      </a:lvl5pPr>
      <a:lvl6pPr marL="2514600" indent="-228600" algn="l" rtl="0" fontAlgn="base">
        <a:spcBef>
          <a:spcPct val="20000"/>
        </a:spcBef>
        <a:spcAft>
          <a:spcPct val="0"/>
        </a:spcAft>
        <a:buChar char="»"/>
        <a:defRPr sz="1200">
          <a:solidFill>
            <a:schemeClr val="tx1"/>
          </a:solidFill>
          <a:latin typeface="+mn-lt"/>
        </a:defRPr>
      </a:lvl6pPr>
      <a:lvl7pPr marL="2971800" indent="-228600" algn="l" rtl="0" fontAlgn="base">
        <a:spcBef>
          <a:spcPct val="20000"/>
        </a:spcBef>
        <a:spcAft>
          <a:spcPct val="0"/>
        </a:spcAft>
        <a:buChar char="»"/>
        <a:defRPr sz="1200">
          <a:solidFill>
            <a:schemeClr val="tx1"/>
          </a:solidFill>
          <a:latin typeface="+mn-lt"/>
        </a:defRPr>
      </a:lvl7pPr>
      <a:lvl8pPr marL="3429000" indent="-228600" algn="l" rtl="0" fontAlgn="base">
        <a:spcBef>
          <a:spcPct val="20000"/>
        </a:spcBef>
        <a:spcAft>
          <a:spcPct val="0"/>
        </a:spcAft>
        <a:buChar char="»"/>
        <a:defRPr sz="1200">
          <a:solidFill>
            <a:schemeClr val="tx1"/>
          </a:solidFill>
          <a:latin typeface="+mn-lt"/>
        </a:defRPr>
      </a:lvl8pPr>
      <a:lvl9pPr marL="3886200" indent="-228600" algn="l" rtl="0" fontAlgn="base">
        <a:spcBef>
          <a:spcPct val="20000"/>
        </a:spcBef>
        <a:spcAft>
          <a:spcPct val="0"/>
        </a:spcAft>
        <a:buChar char="»"/>
        <a:defRPr sz="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ww.cps.gov.uk/legal-guidance/offences-against-person-incorporating-charging-standard"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pollev.com/surveys/KTlhIIr2JJW2ODuJHOb5i/respond" TargetMode="Externa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a:extLst>
              <a:ext uri="{FF2B5EF4-FFF2-40B4-BE49-F238E27FC236}">
                <a16:creationId xmlns:a16="http://schemas.microsoft.com/office/drawing/2014/main" id="{A34A3DC7-95AD-D1F7-3EA3-01C44F13D41E}"/>
              </a:ext>
            </a:extLst>
          </p:cNvPr>
          <p:cNvSpPr>
            <a:spLocks noGrp="1" noChangeArrowheads="1"/>
          </p:cNvSpPr>
          <p:nvPr>
            <p:ph type="ctrTitle" sz="quarter"/>
          </p:nvPr>
        </p:nvSpPr>
        <p:spPr>
          <a:xfrm>
            <a:off x="755650" y="476250"/>
            <a:ext cx="8064500" cy="1470025"/>
          </a:xfrm>
        </p:spPr>
        <p:txBody>
          <a:bodyPr/>
          <a:lstStyle/>
          <a:p>
            <a:pPr eaLnBrk="1" hangingPunct="1"/>
            <a:r>
              <a:rPr lang="en-GB" altLang="en-US" sz="5000">
                <a:latin typeface="Cambria Math" panose="02040503050406030204" pitchFamily="18" charset="0"/>
                <a:ea typeface="Cambria Math" panose="02040503050406030204" pitchFamily="18" charset="0"/>
                <a:cs typeface="Cambria Math" panose="02040503050406030204" pitchFamily="18" charset="0"/>
              </a:rPr>
              <a:t>Formative Feedback</a:t>
            </a:r>
          </a:p>
        </p:txBody>
      </p:sp>
      <p:sp>
        <p:nvSpPr>
          <p:cNvPr id="4099" name="Subtitle 2">
            <a:extLst>
              <a:ext uri="{FF2B5EF4-FFF2-40B4-BE49-F238E27FC236}">
                <a16:creationId xmlns:a16="http://schemas.microsoft.com/office/drawing/2014/main" id="{AFD9167C-3945-08AB-83DF-AD1395808F41}"/>
              </a:ext>
            </a:extLst>
          </p:cNvPr>
          <p:cNvSpPr>
            <a:spLocks noGrp="1" noChangeArrowheads="1"/>
          </p:cNvSpPr>
          <p:nvPr>
            <p:ph type="subTitle" sz="quarter" idx="1"/>
          </p:nvPr>
        </p:nvSpPr>
        <p:spPr>
          <a:xfrm>
            <a:off x="755650" y="3213100"/>
            <a:ext cx="7561263" cy="1752600"/>
          </a:xfrm>
        </p:spPr>
        <p:txBody>
          <a:bodyPr/>
          <a:lstStyle/>
          <a:p>
            <a:pPr eaLnBrk="1" hangingPunct="1"/>
            <a:r>
              <a:rPr lang="en-GB" altLang="en-US" sz="2400" dirty="0">
                <a:latin typeface="Cambria Math" panose="02040503050406030204" pitchFamily="18" charset="0"/>
                <a:ea typeface="Cambria Math" panose="02040503050406030204" pitchFamily="18" charset="0"/>
                <a:cs typeface="Cambria Math" panose="02040503050406030204" pitchFamily="18" charset="0"/>
              </a:rPr>
              <a:t>LAW2221 Criminal Law</a:t>
            </a:r>
          </a:p>
          <a:p>
            <a:pPr eaLnBrk="1" hangingPunct="1"/>
            <a:r>
              <a:rPr lang="en-GB" altLang="en-US" sz="2400" dirty="0">
                <a:latin typeface="Cambria Math" panose="02040503050406030204" pitchFamily="18" charset="0"/>
                <a:ea typeface="Cambria Math" panose="02040503050406030204" pitchFamily="18" charset="0"/>
                <a:cs typeface="Cambria Math" panose="02040503050406030204" pitchFamily="18" charset="0"/>
              </a:rPr>
              <a:t>Kat Langley</a:t>
            </a:r>
          </a:p>
          <a:p>
            <a:pPr eaLnBrk="1" hangingPunct="1"/>
            <a:r>
              <a:rPr lang="en-GB" altLang="en-US" sz="2400" dirty="0">
                <a:latin typeface="Cambria Math" panose="02040503050406030204" pitchFamily="18" charset="0"/>
                <a:ea typeface="Cambria Math" panose="02040503050406030204" pitchFamily="18" charset="0"/>
                <a:cs typeface="Cambria Math" panose="02040503050406030204" pitchFamily="18" charset="0"/>
              </a:rPr>
              <a:t>11</a:t>
            </a:r>
            <a:r>
              <a:rPr lang="en-GB" altLang="en-US" sz="2400" baseline="30000" dirty="0">
                <a:latin typeface="Cambria Math" panose="02040503050406030204" pitchFamily="18" charset="0"/>
                <a:ea typeface="Cambria Math" panose="02040503050406030204" pitchFamily="18" charset="0"/>
                <a:cs typeface="Cambria Math" panose="02040503050406030204" pitchFamily="18" charset="0"/>
              </a:rPr>
              <a:t>th</a:t>
            </a:r>
            <a:r>
              <a:rPr lang="en-GB" altLang="en-US" sz="2400" dirty="0">
                <a:latin typeface="Cambria Math" panose="02040503050406030204" pitchFamily="18" charset="0"/>
                <a:ea typeface="Cambria Math" panose="02040503050406030204" pitchFamily="18" charset="0"/>
                <a:cs typeface="Cambria Math" panose="02040503050406030204" pitchFamily="18" charset="0"/>
              </a:rPr>
              <a:t> March 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535371-8EF9-1F99-E741-E83314EC138B}"/>
              </a:ext>
            </a:extLst>
          </p:cNvPr>
          <p:cNvSpPr>
            <a:spLocks noGrp="1"/>
          </p:cNvSpPr>
          <p:nvPr>
            <p:ph type="title"/>
          </p:nvPr>
        </p:nvSpPr>
        <p:spPr/>
        <p:txBody>
          <a:bodyPr/>
          <a:lstStyle/>
          <a:p>
            <a:r>
              <a:rPr lang="en-GB" dirty="0"/>
              <a:t>Today’s Lecture</a:t>
            </a:r>
          </a:p>
        </p:txBody>
      </p:sp>
      <p:graphicFrame>
        <p:nvGraphicFramePr>
          <p:cNvPr id="4" name="Content Placeholder 3">
            <a:extLst>
              <a:ext uri="{FF2B5EF4-FFF2-40B4-BE49-F238E27FC236}">
                <a16:creationId xmlns:a16="http://schemas.microsoft.com/office/drawing/2014/main" id="{E7217974-F100-284F-F671-F32D26DCB247}"/>
              </a:ext>
            </a:extLst>
          </p:cNvPr>
          <p:cNvGraphicFramePr>
            <a:graphicFrameLocks noGrp="1"/>
          </p:cNvGraphicFramePr>
          <p:nvPr>
            <p:ph idx="1"/>
            <p:extLst>
              <p:ext uri="{D42A27DB-BD31-4B8C-83A1-F6EECF244321}">
                <p14:modId xmlns:p14="http://schemas.microsoft.com/office/powerpoint/2010/main" val="2443659444"/>
              </p:ext>
            </p:extLst>
          </p:nvPr>
        </p:nvGraphicFramePr>
        <p:xfrm>
          <a:off x="684213" y="1989138"/>
          <a:ext cx="7772400" cy="38163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21636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A7610ECE-B476-679C-0428-270421C7272E}"/>
              </a:ext>
            </a:extLst>
          </p:cNvPr>
          <p:cNvSpPr>
            <a:spLocks noGrp="1" noChangeArrowheads="1"/>
          </p:cNvSpPr>
          <p:nvPr>
            <p:ph type="title"/>
          </p:nvPr>
        </p:nvSpPr>
        <p:spPr/>
        <p:txBody>
          <a:bodyPr/>
          <a:lstStyle/>
          <a:p>
            <a:pPr eaLnBrk="1" hangingPunct="1"/>
            <a:r>
              <a:rPr lang="de-DE" altLang="en-US"/>
              <a:t>General issues</a:t>
            </a:r>
            <a:endParaRPr lang="en-GB" altLang="en-US"/>
          </a:p>
        </p:txBody>
      </p:sp>
      <p:sp>
        <p:nvSpPr>
          <p:cNvPr id="8195" name="Rectangle 3">
            <a:extLst>
              <a:ext uri="{FF2B5EF4-FFF2-40B4-BE49-F238E27FC236}">
                <a16:creationId xmlns:a16="http://schemas.microsoft.com/office/drawing/2014/main" id="{CE0BB785-E0FC-0B33-06F1-8B89B61965AB}"/>
              </a:ext>
            </a:extLst>
          </p:cNvPr>
          <p:cNvSpPr>
            <a:spLocks noGrp="1" noChangeArrowheads="1"/>
          </p:cNvSpPr>
          <p:nvPr>
            <p:ph idx="1"/>
          </p:nvPr>
        </p:nvSpPr>
        <p:spPr>
          <a:xfrm>
            <a:off x="714375" y="1628775"/>
            <a:ext cx="7772400" cy="4116388"/>
          </a:xfrm>
        </p:spPr>
        <p:txBody>
          <a:bodyPr/>
          <a:lstStyle/>
          <a:p>
            <a:pPr eaLnBrk="1" hangingPunct="1">
              <a:buFont typeface="Arial" panose="020B0604020202020204" pitchFamily="34" charset="0"/>
              <a:buChar char="•"/>
              <a:defRPr/>
            </a:pPr>
            <a:r>
              <a:rPr lang="en-GB" altLang="en-US" sz="2400" dirty="0"/>
              <a:t>Do not add </a:t>
            </a:r>
            <a:r>
              <a:rPr lang="en-GB" altLang="en-US" sz="2400" b="1" dirty="0"/>
              <a:t>introductions and conclusions </a:t>
            </a:r>
            <a:r>
              <a:rPr lang="en-GB" altLang="en-US" sz="2400" dirty="0"/>
              <a:t>to the essay – they are a waste of word count. Go straight	 to the offence examination.</a:t>
            </a:r>
          </a:p>
          <a:p>
            <a:pPr marL="0" indent="0" eaLnBrk="1" hangingPunct="1">
              <a:defRPr/>
            </a:pPr>
            <a:r>
              <a:rPr lang="en-GB" altLang="en-US" sz="2400" dirty="0"/>
              <a:t>	</a:t>
            </a:r>
          </a:p>
          <a:p>
            <a:pPr marL="457200" indent="-457200" eaLnBrk="1" hangingPunct="1">
              <a:buFont typeface="Arial" panose="020B0604020202020204" pitchFamily="34" charset="0"/>
              <a:buChar char="•"/>
              <a:defRPr/>
            </a:pPr>
            <a:r>
              <a:rPr lang="en-GB" altLang="en-US" sz="2400" dirty="0"/>
              <a:t>You </a:t>
            </a:r>
            <a:r>
              <a:rPr lang="en-GB" altLang="en-US" sz="2400" b="1" dirty="0"/>
              <a:t>CANNOT</a:t>
            </a:r>
            <a:r>
              <a:rPr lang="en-GB" altLang="en-US" sz="2400" dirty="0"/>
              <a:t> apply the discursive essay-writing technique you used in Sixth Form. </a:t>
            </a:r>
          </a:p>
          <a:p>
            <a:pPr marL="457200" indent="-457200" eaLnBrk="1" hangingPunct="1">
              <a:buFont typeface="Arial" panose="020B0604020202020204" pitchFamily="34" charset="0"/>
              <a:buChar char="•"/>
              <a:defRPr/>
            </a:pPr>
            <a:endParaRPr lang="de-DE" altLang="en-US" sz="2400" dirty="0"/>
          </a:p>
          <a:p>
            <a:pPr marL="457200" indent="-457200" eaLnBrk="1" hangingPunct="1">
              <a:buFont typeface="Arial" panose="020B0604020202020204" pitchFamily="34" charset="0"/>
              <a:buChar char="•"/>
              <a:defRPr/>
            </a:pPr>
            <a:r>
              <a:rPr lang="de-DE" altLang="en-US" sz="2400" dirty="0"/>
              <a:t>Nor </a:t>
            </a:r>
            <a:r>
              <a:rPr lang="de-DE" altLang="en-US" sz="2400" dirty="0" err="1"/>
              <a:t>is</a:t>
            </a:r>
            <a:r>
              <a:rPr lang="de-DE" altLang="en-US" sz="2400" dirty="0"/>
              <a:t> a </a:t>
            </a:r>
            <a:r>
              <a:rPr lang="de-DE" altLang="en-US" sz="2400" dirty="0" err="1"/>
              <a:t>problem</a:t>
            </a:r>
            <a:r>
              <a:rPr lang="de-DE" altLang="en-US" sz="2400" dirty="0"/>
              <a:t> </a:t>
            </a:r>
            <a:r>
              <a:rPr lang="de-DE" altLang="en-US" sz="2400" dirty="0" err="1"/>
              <a:t>question</a:t>
            </a:r>
            <a:r>
              <a:rPr lang="de-DE" altLang="en-US" sz="2400" dirty="0"/>
              <a:t> an </a:t>
            </a:r>
            <a:r>
              <a:rPr lang="de-DE" altLang="en-US" sz="2400" dirty="0" err="1"/>
              <a:t>essay</a:t>
            </a:r>
            <a:r>
              <a:rPr lang="de-DE" altLang="en-US" sz="2400" dirty="0"/>
              <a:t> </a:t>
            </a:r>
            <a:r>
              <a:rPr lang="de-DE" altLang="en-US" sz="2400" dirty="0" err="1"/>
              <a:t>about</a:t>
            </a:r>
            <a:r>
              <a:rPr lang="de-DE" altLang="en-US" sz="2400" dirty="0"/>
              <a:t> </a:t>
            </a:r>
            <a:r>
              <a:rPr lang="de-DE" altLang="en-US" sz="2400" dirty="0" err="1"/>
              <a:t>telling</a:t>
            </a:r>
            <a:r>
              <a:rPr lang="de-DE" altLang="en-US" sz="2400" dirty="0"/>
              <a:t> </a:t>
            </a:r>
            <a:r>
              <a:rPr lang="de-DE" altLang="en-US" sz="2400" dirty="0" err="1"/>
              <a:t>the</a:t>
            </a:r>
            <a:r>
              <a:rPr lang="de-DE" altLang="en-US" sz="2400" dirty="0"/>
              <a:t> </a:t>
            </a:r>
            <a:r>
              <a:rPr lang="de-DE" altLang="en-US" sz="2400" dirty="0" err="1"/>
              <a:t>reader</a:t>
            </a:r>
            <a:r>
              <a:rPr lang="de-DE" altLang="en-US" sz="2400" dirty="0"/>
              <a:t> </a:t>
            </a:r>
            <a:r>
              <a:rPr lang="de-DE" altLang="en-US" sz="2400" dirty="0" err="1"/>
              <a:t>the</a:t>
            </a:r>
            <a:r>
              <a:rPr lang="de-DE" altLang="en-US" sz="2400" dirty="0"/>
              <a:t> </a:t>
            </a:r>
            <a:r>
              <a:rPr lang="de-DE" altLang="en-US" sz="2400" dirty="0" err="1"/>
              <a:t>theory</a:t>
            </a:r>
            <a:r>
              <a:rPr lang="de-DE" altLang="en-US" sz="2400" dirty="0"/>
              <a:t> – </a:t>
            </a:r>
            <a:r>
              <a:rPr lang="de-DE" altLang="en-US" sz="2400" dirty="0" err="1"/>
              <a:t>it</a:t>
            </a:r>
            <a:r>
              <a:rPr lang="de-DE" altLang="en-US" sz="2400" dirty="0"/>
              <a:t> </a:t>
            </a:r>
            <a:r>
              <a:rPr lang="de-DE" altLang="en-US" sz="2400" dirty="0" err="1"/>
              <a:t>is</a:t>
            </a:r>
            <a:r>
              <a:rPr lang="de-DE" altLang="en-US" sz="2400" dirty="0"/>
              <a:t> </a:t>
            </a:r>
            <a:r>
              <a:rPr lang="de-DE" altLang="en-US" sz="2400" dirty="0" err="1"/>
              <a:t>about</a:t>
            </a:r>
            <a:r>
              <a:rPr lang="de-DE" altLang="en-US" sz="2400" dirty="0"/>
              <a:t> </a:t>
            </a:r>
            <a:r>
              <a:rPr lang="de-DE" altLang="en-US" sz="2400" b="1" dirty="0" err="1"/>
              <a:t>applying</a:t>
            </a:r>
            <a:r>
              <a:rPr lang="de-DE" altLang="en-US" sz="2400" b="1" dirty="0"/>
              <a:t> </a:t>
            </a:r>
            <a:r>
              <a:rPr lang="de-DE" altLang="en-US" sz="2400" b="1" dirty="0" err="1"/>
              <a:t>theory</a:t>
            </a:r>
            <a:r>
              <a:rPr lang="de-DE" altLang="en-US" sz="2400" b="1" dirty="0"/>
              <a:t> </a:t>
            </a:r>
            <a:r>
              <a:rPr lang="de-DE" altLang="en-US" sz="2400" b="1" dirty="0" err="1"/>
              <a:t>to</a:t>
            </a:r>
            <a:r>
              <a:rPr lang="de-DE" altLang="en-US" sz="2400" b="1" dirty="0"/>
              <a:t> </a:t>
            </a:r>
            <a:r>
              <a:rPr lang="de-DE" altLang="en-US" sz="2400" b="1" dirty="0" err="1"/>
              <a:t>practice</a:t>
            </a:r>
            <a:r>
              <a:rPr lang="de-DE" altLang="en-US" sz="2800" b="1" dirty="0"/>
              <a:t>.</a:t>
            </a:r>
            <a:endParaRPr lang="en-GB" altLang="en-US" sz="2800"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el 1">
            <a:extLst>
              <a:ext uri="{FF2B5EF4-FFF2-40B4-BE49-F238E27FC236}">
                <a16:creationId xmlns:a16="http://schemas.microsoft.com/office/drawing/2014/main" id="{2E8554FE-87EE-7274-D9BA-78EB4BCC7F5C}"/>
              </a:ext>
            </a:extLst>
          </p:cNvPr>
          <p:cNvSpPr>
            <a:spLocks noGrp="1" noChangeArrowheads="1"/>
          </p:cNvSpPr>
          <p:nvPr>
            <p:ph type="title"/>
          </p:nvPr>
        </p:nvSpPr>
        <p:spPr/>
        <p:txBody>
          <a:bodyPr/>
          <a:lstStyle/>
          <a:p>
            <a:r>
              <a:rPr lang="de-DE" altLang="en-US"/>
              <a:t>Presentation tips</a:t>
            </a:r>
          </a:p>
        </p:txBody>
      </p:sp>
      <p:sp>
        <p:nvSpPr>
          <p:cNvPr id="10243" name="Inhaltsplatzhalter 2">
            <a:extLst>
              <a:ext uri="{FF2B5EF4-FFF2-40B4-BE49-F238E27FC236}">
                <a16:creationId xmlns:a16="http://schemas.microsoft.com/office/drawing/2014/main" id="{CE6ADAAE-F535-E926-5A91-D2BCB738D7CD}"/>
              </a:ext>
            </a:extLst>
          </p:cNvPr>
          <p:cNvSpPr>
            <a:spLocks noGrp="1" noChangeArrowheads="1"/>
          </p:cNvSpPr>
          <p:nvPr>
            <p:ph idx="1"/>
          </p:nvPr>
        </p:nvSpPr>
        <p:spPr>
          <a:xfrm>
            <a:off x="684213" y="1628775"/>
            <a:ext cx="7772400" cy="4321175"/>
          </a:xfrm>
        </p:spPr>
        <p:txBody>
          <a:bodyPr/>
          <a:lstStyle/>
          <a:p>
            <a:pPr>
              <a:buFontTx/>
              <a:buChar char="•"/>
            </a:pPr>
            <a:r>
              <a:rPr lang="de-DE" altLang="en-US" sz="2200"/>
              <a:t>Use academic language register.</a:t>
            </a:r>
          </a:p>
          <a:p>
            <a:pPr>
              <a:buFontTx/>
              <a:buChar char="•"/>
            </a:pPr>
            <a:r>
              <a:rPr lang="de-DE" altLang="en-US" sz="2200"/>
              <a:t>Try to avoid “I“ or “we“ style.</a:t>
            </a:r>
          </a:p>
          <a:p>
            <a:pPr>
              <a:buFontTx/>
              <a:buChar char="•"/>
            </a:pPr>
            <a:r>
              <a:rPr lang="de-DE" altLang="en-US" sz="2200"/>
              <a:t>Do not use colloquialisms.</a:t>
            </a:r>
          </a:p>
          <a:p>
            <a:pPr>
              <a:buFontTx/>
              <a:buChar char="•"/>
            </a:pPr>
            <a:r>
              <a:rPr lang="de-DE" altLang="en-US" sz="2200"/>
              <a:t>Do not use forms such as “isn‘t“, “should‘ve“ etc.</a:t>
            </a:r>
          </a:p>
          <a:p>
            <a:pPr>
              <a:buFontTx/>
              <a:buChar char="•"/>
            </a:pPr>
            <a:r>
              <a:rPr lang="de-DE" altLang="en-US" sz="2200"/>
              <a:t>Do not give us a mini intro to each offence examination.</a:t>
            </a:r>
          </a:p>
          <a:p>
            <a:pPr>
              <a:buFontTx/>
              <a:buChar char="•"/>
            </a:pPr>
            <a:r>
              <a:rPr lang="de-DE" altLang="en-US" sz="2200"/>
              <a:t>Do not say “the next issue is“ etc. all the time.</a:t>
            </a:r>
          </a:p>
          <a:p>
            <a:pPr>
              <a:buFontTx/>
              <a:buChar char="•"/>
            </a:pPr>
            <a:r>
              <a:rPr lang="de-DE" altLang="en-US" sz="2200"/>
              <a:t>Do not tell us that you need to establish both actus reus and mens rea for each offence.</a:t>
            </a:r>
          </a:p>
          <a:p>
            <a:pPr>
              <a:buFontTx/>
              <a:buChar char="•"/>
            </a:pPr>
            <a:r>
              <a:rPr lang="de-DE" altLang="en-US" sz="2200"/>
              <a:t>Do not hide behind the jury – make up your mind where you can and stick with it.</a:t>
            </a:r>
          </a:p>
          <a:p>
            <a:pPr>
              <a:buFontTx/>
              <a:buChar char="•"/>
            </a:pPr>
            <a:r>
              <a:rPr lang="de-DE" altLang="en-US" sz="2200"/>
              <a:t>Avoid words such as “likely“, “clearly“ etc.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4313DF-4E12-8C8B-8999-543F48AB11B8}"/>
              </a:ext>
            </a:extLst>
          </p:cNvPr>
          <p:cNvSpPr>
            <a:spLocks noGrp="1"/>
          </p:cNvSpPr>
          <p:nvPr>
            <p:ph type="title"/>
          </p:nvPr>
        </p:nvSpPr>
        <p:spPr/>
        <p:txBody>
          <a:bodyPr/>
          <a:lstStyle/>
          <a:p>
            <a:r>
              <a:rPr lang="en-GB" dirty="0"/>
              <a:t>Identifying offences in a scenario</a:t>
            </a:r>
          </a:p>
        </p:txBody>
      </p:sp>
      <p:sp>
        <p:nvSpPr>
          <p:cNvPr id="6" name="Content Placeholder 5">
            <a:extLst>
              <a:ext uri="{FF2B5EF4-FFF2-40B4-BE49-F238E27FC236}">
                <a16:creationId xmlns:a16="http://schemas.microsoft.com/office/drawing/2014/main" id="{0BC11EC1-5109-7501-B88E-2DE30EBB4CCA}"/>
              </a:ext>
            </a:extLst>
          </p:cNvPr>
          <p:cNvSpPr>
            <a:spLocks noGrp="1"/>
          </p:cNvSpPr>
          <p:nvPr>
            <p:ph idx="1"/>
          </p:nvPr>
        </p:nvSpPr>
        <p:spPr/>
        <p:txBody>
          <a:bodyPr/>
          <a:lstStyle/>
          <a:p>
            <a:pPr>
              <a:buAutoNum type="arabicPeriod"/>
            </a:pPr>
            <a:r>
              <a:rPr lang="en-GB" dirty="0"/>
              <a:t>Read through and identify possible offences.</a:t>
            </a:r>
          </a:p>
          <a:p>
            <a:pPr lvl="1"/>
            <a:r>
              <a:rPr lang="en-GB" dirty="0"/>
              <a:t>You need to have a good grasp of how the offences are defined</a:t>
            </a:r>
          </a:p>
          <a:p>
            <a:pPr>
              <a:buAutoNum type="arabicPeriod"/>
            </a:pPr>
            <a:r>
              <a:rPr lang="en-GB" dirty="0"/>
              <a:t>Start by looking for the </a:t>
            </a:r>
            <a:r>
              <a:rPr lang="en-GB" b="1" dirty="0"/>
              <a:t>actus reus</a:t>
            </a:r>
          </a:p>
          <a:p>
            <a:pPr lvl="1"/>
            <a:r>
              <a:rPr lang="en-GB" dirty="0"/>
              <a:t>For NFOAP you are looking for </a:t>
            </a:r>
            <a:r>
              <a:rPr lang="en-GB" b="1" dirty="0"/>
              <a:t>harms</a:t>
            </a:r>
            <a:r>
              <a:rPr lang="en-GB" dirty="0"/>
              <a:t> caused to individuals by other parties; these are the actus reus elements of the offences</a:t>
            </a:r>
          </a:p>
          <a:p>
            <a:pPr lvl="1"/>
            <a:r>
              <a:rPr lang="en-GB" dirty="0"/>
              <a:t>Read through the scenario, </a:t>
            </a:r>
            <a:r>
              <a:rPr lang="en-GB" dirty="0">
                <a:highlight>
                  <a:srgbClr val="FFFF00"/>
                </a:highlight>
              </a:rPr>
              <a:t>highlighting</a:t>
            </a:r>
            <a:r>
              <a:rPr lang="en-GB" dirty="0"/>
              <a:t> or </a:t>
            </a:r>
            <a:r>
              <a:rPr lang="en-GB" u="sng" dirty="0"/>
              <a:t>underlining</a:t>
            </a:r>
            <a:r>
              <a:rPr lang="en-GB" dirty="0"/>
              <a:t> any activities that you think might constitute a harm from one of the offences</a:t>
            </a:r>
          </a:p>
          <a:p>
            <a:pPr>
              <a:buAutoNum type="arabicPeriod" startAt="3"/>
            </a:pPr>
            <a:r>
              <a:rPr lang="en-GB" dirty="0"/>
              <a:t>Make a note of the </a:t>
            </a:r>
            <a:r>
              <a:rPr lang="en-GB" b="1" dirty="0"/>
              <a:t>potential defendant </a:t>
            </a:r>
            <a:r>
              <a:rPr lang="en-GB" dirty="0"/>
              <a:t>and the </a:t>
            </a:r>
            <a:r>
              <a:rPr lang="en-GB" b="1" dirty="0"/>
              <a:t>potential victim</a:t>
            </a:r>
          </a:p>
          <a:p>
            <a:pPr>
              <a:buAutoNum type="arabicPeriod" startAt="3"/>
            </a:pPr>
            <a:r>
              <a:rPr lang="en-GB" dirty="0"/>
              <a:t>Identify other information that will help you address the </a:t>
            </a:r>
            <a:r>
              <a:rPr lang="en-GB" b="1" dirty="0" err="1"/>
              <a:t>mens</a:t>
            </a:r>
            <a:r>
              <a:rPr lang="en-GB" b="1" dirty="0"/>
              <a:t> rea </a:t>
            </a:r>
            <a:r>
              <a:rPr lang="en-GB" dirty="0"/>
              <a:t>elements of the offences</a:t>
            </a:r>
          </a:p>
          <a:p>
            <a:pPr>
              <a:buAutoNum type="arabicPeriod" startAt="3"/>
            </a:pPr>
            <a:r>
              <a:rPr lang="en-GB" dirty="0"/>
              <a:t>Look for any information that might suggest there is a </a:t>
            </a:r>
            <a:r>
              <a:rPr lang="en-GB" b="1" dirty="0"/>
              <a:t>defence</a:t>
            </a:r>
          </a:p>
          <a:p>
            <a:pPr lvl="1">
              <a:buAutoNum type="arabicPeriod"/>
            </a:pPr>
            <a:endParaRPr lang="en-GB" dirty="0"/>
          </a:p>
        </p:txBody>
      </p:sp>
    </p:spTree>
    <p:extLst>
      <p:ext uri="{BB962C8B-B14F-4D97-AF65-F5344CB8AC3E}">
        <p14:creationId xmlns:p14="http://schemas.microsoft.com/office/powerpoint/2010/main" val="20635416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7FE9BC-3FE9-9332-1187-EF87B5E2A1EA}"/>
              </a:ext>
            </a:extLst>
          </p:cNvPr>
          <p:cNvSpPr>
            <a:spLocks noGrp="1"/>
          </p:cNvSpPr>
          <p:nvPr>
            <p:ph type="title"/>
          </p:nvPr>
        </p:nvSpPr>
        <p:spPr/>
        <p:txBody>
          <a:bodyPr/>
          <a:lstStyle/>
          <a:p>
            <a:r>
              <a:rPr lang="en-GB" dirty="0"/>
              <a:t>Step 1: know the offences!</a:t>
            </a:r>
          </a:p>
        </p:txBody>
      </p:sp>
    </p:spTree>
    <p:extLst>
      <p:ext uri="{BB962C8B-B14F-4D97-AF65-F5344CB8AC3E}">
        <p14:creationId xmlns:p14="http://schemas.microsoft.com/office/powerpoint/2010/main" val="34286743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734E5-5670-8E83-DDFE-8026110DAA98}"/>
              </a:ext>
            </a:extLst>
          </p:cNvPr>
          <p:cNvSpPr>
            <a:spLocks noGrp="1"/>
          </p:cNvSpPr>
          <p:nvPr>
            <p:ph type="title"/>
          </p:nvPr>
        </p:nvSpPr>
        <p:spPr/>
        <p:txBody>
          <a:bodyPr/>
          <a:lstStyle/>
          <a:p>
            <a:r>
              <a:rPr lang="en-GB" dirty="0"/>
              <a:t>Non-fatal offences against the person</a:t>
            </a:r>
          </a:p>
        </p:txBody>
      </p:sp>
      <p:sp>
        <p:nvSpPr>
          <p:cNvPr id="3" name="Content Placeholder 2">
            <a:extLst>
              <a:ext uri="{FF2B5EF4-FFF2-40B4-BE49-F238E27FC236}">
                <a16:creationId xmlns:a16="http://schemas.microsoft.com/office/drawing/2014/main" id="{0742050B-3E19-E421-68F7-01BC3F1059DC}"/>
              </a:ext>
            </a:extLst>
          </p:cNvPr>
          <p:cNvSpPr>
            <a:spLocks noGrp="1"/>
          </p:cNvSpPr>
          <p:nvPr>
            <p:ph idx="1"/>
          </p:nvPr>
        </p:nvSpPr>
        <p:spPr>
          <a:xfrm>
            <a:off x="684212" y="1989138"/>
            <a:ext cx="7848227" cy="3816350"/>
          </a:xfrm>
        </p:spPr>
        <p:txBody>
          <a:bodyPr/>
          <a:lstStyle/>
          <a:p>
            <a:r>
              <a:rPr lang="en-GB" sz="1600" b="1" dirty="0"/>
              <a:t>Assault</a:t>
            </a:r>
          </a:p>
          <a:p>
            <a:pPr>
              <a:buFont typeface="Arial" panose="020B0604020202020204" pitchFamily="34" charset="0"/>
              <a:buChar char="•"/>
            </a:pPr>
            <a:r>
              <a:rPr lang="en-GB" altLang="en-US" sz="1400" dirty="0"/>
              <a:t>Any act by D which, intentionally or recklessly, causes V to apprehend immediate and unlawful personal violence</a:t>
            </a:r>
          </a:p>
          <a:p>
            <a:r>
              <a:rPr lang="en-GB" sz="1600" b="1" dirty="0"/>
              <a:t>Battery</a:t>
            </a:r>
          </a:p>
          <a:p>
            <a:pPr>
              <a:buFont typeface="Arial" panose="020B0604020202020204" pitchFamily="34" charset="0"/>
              <a:buChar char="•"/>
            </a:pPr>
            <a:r>
              <a:rPr lang="en-GB" altLang="en-US" sz="1400" dirty="0"/>
              <a:t>Any conduct by D which, intentionally or recklessly, inflicts unlawful personal violence upon V</a:t>
            </a:r>
          </a:p>
          <a:p>
            <a:r>
              <a:rPr lang="en-GB" sz="1600" b="1" dirty="0"/>
              <a:t>Assault Occasioning Actual Bodily Harm</a:t>
            </a:r>
          </a:p>
          <a:p>
            <a:pPr>
              <a:buFont typeface="Arial" panose="020B0604020202020204" pitchFamily="34" charset="0"/>
              <a:buChar char="•"/>
            </a:pPr>
            <a:r>
              <a:rPr lang="en-US" altLang="en-US" sz="1400" dirty="0"/>
              <a:t>assault occasioning actual bodily harm</a:t>
            </a:r>
            <a:endParaRPr lang="en-GB" sz="1400" dirty="0"/>
          </a:p>
          <a:p>
            <a:r>
              <a:rPr lang="en-GB" sz="1600" b="1" dirty="0"/>
              <a:t>Section 20</a:t>
            </a:r>
          </a:p>
          <a:p>
            <a:pPr>
              <a:buFont typeface="Arial" panose="020B0604020202020204" pitchFamily="34" charset="0"/>
              <a:buChar char="•"/>
            </a:pPr>
            <a:r>
              <a:rPr lang="en-US" altLang="en-US" sz="1400" dirty="0"/>
              <a:t>Whosoever shall unlawfully and maliciously wound or inflict any grievous bodily harm upon any other person…</a:t>
            </a:r>
          </a:p>
          <a:p>
            <a:pPr marL="0" indent="0"/>
            <a:r>
              <a:rPr lang="en-US" sz="1600" b="1" dirty="0"/>
              <a:t>Section 18</a:t>
            </a:r>
          </a:p>
          <a:p>
            <a:pPr marL="285750" indent="-285750">
              <a:buFont typeface="Arial" panose="020B0604020202020204" pitchFamily="34" charset="0"/>
              <a:buChar char="•"/>
            </a:pPr>
            <a:r>
              <a:rPr lang="en-GB" altLang="en-US" sz="1400" dirty="0"/>
              <a:t>Whosoever shall unlawfully and maliciously by any means whatsoever wound or cause any grievous bodily harm to any person, with intent, to do some grievous bodily harm to any person</a:t>
            </a:r>
            <a:endParaRPr lang="en-US" sz="1400" dirty="0"/>
          </a:p>
          <a:p>
            <a:pPr marL="0" indent="0"/>
            <a:endParaRPr lang="en-GB" dirty="0"/>
          </a:p>
          <a:p>
            <a:endParaRPr lang="en-GB" dirty="0"/>
          </a:p>
          <a:p>
            <a:endParaRPr lang="en-GB" dirty="0"/>
          </a:p>
        </p:txBody>
      </p:sp>
    </p:spTree>
    <p:extLst>
      <p:ext uri="{BB962C8B-B14F-4D97-AF65-F5344CB8AC3E}">
        <p14:creationId xmlns:p14="http://schemas.microsoft.com/office/powerpoint/2010/main" val="350423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F6E74-72AB-2242-7290-0FE4913386EA}"/>
              </a:ext>
            </a:extLst>
          </p:cNvPr>
          <p:cNvSpPr>
            <a:spLocks noGrp="1"/>
          </p:cNvSpPr>
          <p:nvPr>
            <p:ph type="title"/>
          </p:nvPr>
        </p:nvSpPr>
        <p:spPr/>
        <p:txBody>
          <a:bodyPr/>
          <a:lstStyle/>
          <a:p>
            <a:r>
              <a:rPr lang="en-GB" dirty="0"/>
              <a:t>Step 2: identifying AR – Start with the harms</a:t>
            </a:r>
          </a:p>
        </p:txBody>
      </p:sp>
    </p:spTree>
    <p:extLst>
      <p:ext uri="{BB962C8B-B14F-4D97-AF65-F5344CB8AC3E}">
        <p14:creationId xmlns:p14="http://schemas.microsoft.com/office/powerpoint/2010/main" val="7226636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2426AD-5AF2-0087-0A2A-053B54048CEE}"/>
              </a:ext>
            </a:extLst>
          </p:cNvPr>
          <p:cNvSpPr>
            <a:spLocks noGrp="1"/>
          </p:cNvSpPr>
          <p:nvPr>
            <p:ph idx="1"/>
          </p:nvPr>
        </p:nvSpPr>
        <p:spPr>
          <a:xfrm>
            <a:off x="684213" y="332656"/>
            <a:ext cx="7772400" cy="5472832"/>
          </a:xfrm>
        </p:spPr>
        <p:txBody>
          <a:bodyPr anchor="ctr"/>
          <a:lstStyle/>
          <a:p>
            <a:pPr marL="0" indent="0" algn="just">
              <a:spcBef>
                <a:spcPts val="0"/>
              </a:spcBef>
              <a:spcAft>
                <a:spcPts val="600"/>
              </a:spcAft>
            </a:pPr>
            <a:r>
              <a:rPr lang="en-GB" sz="1400" dirty="0"/>
              <a:t>The local football team “Small Town United” are playing their rival club “Large Village Football Club” in the cup final of the year. The winner of the match will take home the trophy. Everyone knows these two teams hate each other and that emotions run high when they play; the fact that it is the cup final adds to the tense atmosphere. Five minutes before the end of the match, the score is 3-2 to “Small Town United”. Hamza, the “Small Town United” captain, who has scored three goals already, has the ball and is about to take another shot. Tony, a defender for the other team, is livid that his team are losing. He is determined to stop Hamza from scoring for the rest of the game, and so skids towards him at speed.</a:t>
            </a:r>
            <a:r>
              <a:rPr lang="en-GB" sz="1400" b="1" dirty="0"/>
              <a:t> </a:t>
            </a:r>
            <a:r>
              <a:rPr lang="en-GB" sz="1400" b="1" dirty="0">
                <a:solidFill>
                  <a:srgbClr val="FF0000"/>
                </a:solidFill>
              </a:rPr>
              <a:t>Tony’s foot collides directly with Hamza’s left ankle, causing Hamza to trip, land on his face, and break his nose.</a:t>
            </a:r>
            <a:r>
              <a:rPr lang="en-GB" sz="1400" b="1" dirty="0"/>
              <a:t>  </a:t>
            </a:r>
          </a:p>
          <a:p>
            <a:pPr marL="0" indent="0" algn="just">
              <a:spcBef>
                <a:spcPts val="0"/>
              </a:spcBef>
              <a:spcAft>
                <a:spcPts val="600"/>
              </a:spcAft>
            </a:pPr>
            <a:r>
              <a:rPr lang="en-GB" sz="1400" b="1" dirty="0">
                <a:solidFill>
                  <a:srgbClr val="FF0000"/>
                </a:solidFill>
              </a:rPr>
              <a:t>Carlos, a member of “Small Town United” is outraged. He shouts at Tony</a:t>
            </a:r>
            <a:r>
              <a:rPr lang="en-GB" sz="1400" b="1" dirty="0"/>
              <a:t>: </a:t>
            </a:r>
            <a:r>
              <a:rPr lang="en-GB" sz="1400" b="1" dirty="0">
                <a:solidFill>
                  <a:srgbClr val="FF0000"/>
                </a:solidFill>
              </a:rPr>
              <a:t>“You did that on purpose! You weren’t aiming for the ball but wanted to kick Hamza. I’m going to get you for that”. </a:t>
            </a:r>
            <a:r>
              <a:rPr lang="en-GB" sz="1400" dirty="0"/>
              <a:t>Alarmed by how angry Carlos appears to be, Tony goes to stand with his own team, away from Carlos. </a:t>
            </a:r>
            <a:r>
              <a:rPr lang="en-GB" sz="1400" b="1" dirty="0">
                <a:solidFill>
                  <a:srgbClr val="FF0000"/>
                </a:solidFill>
              </a:rPr>
              <a:t>Nikita, a teammate of Carlos, taps Carlos on the back </a:t>
            </a:r>
            <a:r>
              <a:rPr lang="en-GB" sz="1400" dirty="0"/>
              <a:t>saying, “Leave it, Carlos, he’s not worth it”. Carlos turns and walks away.  </a:t>
            </a:r>
          </a:p>
          <a:p>
            <a:pPr marL="0" indent="0" algn="just">
              <a:spcBef>
                <a:spcPts val="0"/>
              </a:spcBef>
              <a:spcAft>
                <a:spcPts val="600"/>
              </a:spcAft>
            </a:pPr>
            <a:r>
              <a:rPr lang="en-GB" sz="1400" dirty="0"/>
              <a:t>The referee, Oti, tries to calm the situation down. She declares that Tony’s “tackle” was a foul and that a free kick will be awarded to “Small Town United”. This decision enrages the players of “Large Village Football Club”. Johannes, a member of “Large Village Football Club” is so angry by the decision that he picks up a metal pole from the side line and charges towards Carlos. Johannes swings the pole behind him so that he can hit Carlos with force; however, in so doing, </a:t>
            </a:r>
            <a:r>
              <a:rPr lang="en-GB" sz="1400" b="1" dirty="0">
                <a:solidFill>
                  <a:srgbClr val="FF0000"/>
                </a:solidFill>
              </a:rPr>
              <a:t>Johannes accidentally drops the pole, which hits Oti on the head. Oti is knocked unconscious and sustains a brain injury</a:t>
            </a:r>
            <a:r>
              <a:rPr lang="en-GB" sz="1400" dirty="0"/>
              <a:t>, requiring surgery to release the swelling on her brain. The surgery is successful, and she makes a full recovery. </a:t>
            </a:r>
          </a:p>
          <a:p>
            <a:pPr marL="0" indent="0" algn="just">
              <a:spcBef>
                <a:spcPts val="0"/>
              </a:spcBef>
              <a:spcAft>
                <a:spcPts val="600"/>
              </a:spcAft>
            </a:pPr>
            <a:r>
              <a:rPr lang="en-GB" sz="1400" dirty="0"/>
              <a:t>Discuss any criminal liability that may arise as well as the defence of consent.</a:t>
            </a:r>
            <a:endParaRPr lang="en-GB" dirty="0"/>
          </a:p>
        </p:txBody>
      </p:sp>
    </p:spTree>
    <p:extLst>
      <p:ext uri="{BB962C8B-B14F-4D97-AF65-F5344CB8AC3E}">
        <p14:creationId xmlns:p14="http://schemas.microsoft.com/office/powerpoint/2010/main" val="19859163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39EF3-CE7D-F3E4-26BB-3CE6C8CF874F}"/>
              </a:ext>
            </a:extLst>
          </p:cNvPr>
          <p:cNvSpPr>
            <a:spLocks noGrp="1"/>
          </p:cNvSpPr>
          <p:nvPr>
            <p:ph type="title"/>
          </p:nvPr>
        </p:nvSpPr>
        <p:spPr/>
        <p:txBody>
          <a:bodyPr/>
          <a:lstStyle/>
          <a:p>
            <a:r>
              <a:rPr lang="en-GB" dirty="0"/>
              <a:t>Using the CPS charging standards</a:t>
            </a:r>
          </a:p>
        </p:txBody>
      </p:sp>
      <p:sp>
        <p:nvSpPr>
          <p:cNvPr id="3" name="Content Placeholder 2">
            <a:extLst>
              <a:ext uri="{FF2B5EF4-FFF2-40B4-BE49-F238E27FC236}">
                <a16:creationId xmlns:a16="http://schemas.microsoft.com/office/drawing/2014/main" id="{97BAC2B4-F529-24AA-60BE-B7AE1ED15E2C}"/>
              </a:ext>
            </a:extLst>
          </p:cNvPr>
          <p:cNvSpPr>
            <a:spLocks noGrp="1"/>
          </p:cNvSpPr>
          <p:nvPr>
            <p:ph idx="1"/>
          </p:nvPr>
        </p:nvSpPr>
        <p:spPr/>
        <p:txBody>
          <a:bodyPr/>
          <a:lstStyle/>
          <a:p>
            <a:pPr marL="457200" algn="just">
              <a:spcAft>
                <a:spcPts val="600"/>
              </a:spcAft>
            </a:pPr>
            <a:r>
              <a:rPr lang="en-GB" sz="1800" dirty="0">
                <a:effectLst/>
                <a:latin typeface="Calibri" panose="020F0502020204030204" pitchFamily="34" charset="0"/>
                <a:ea typeface="Calibri" panose="020F0502020204030204" pitchFamily="34" charset="0"/>
                <a:cs typeface="Calibri" panose="020F0502020204030204" pitchFamily="34" charset="0"/>
                <a:hlinkClick r:id="rId2"/>
              </a:rPr>
              <a:t>https://www.cps.gov.uk/legal-guidance/offences-against-person-incorporating-charging-standard</a:t>
            </a:r>
            <a:r>
              <a:rPr lang="en-GB" sz="1800" dirty="0">
                <a:effectLst/>
                <a:latin typeface="Calibri" panose="020F0502020204030204" pitchFamily="34" charset="0"/>
                <a:ea typeface="Calibri" panose="020F0502020204030204" pitchFamily="34" charset="0"/>
                <a:cs typeface="Calibri" panose="020F0502020204030204" pitchFamily="34" charset="0"/>
              </a:rPr>
              <a:t> </a:t>
            </a:r>
            <a:endParaRPr lang="en-GB" dirty="0">
              <a:latin typeface="Calibri" panose="020F0502020204030204" pitchFamily="34" charset="0"/>
              <a:ea typeface="Calibri" panose="020F0502020204030204" pitchFamily="34" charset="0"/>
              <a:cs typeface="Calibri" panose="020F0502020204030204" pitchFamily="34" charset="0"/>
            </a:endParaRPr>
          </a:p>
          <a:p>
            <a:pPr marL="457200" algn="just">
              <a:spcAft>
                <a:spcPts val="600"/>
              </a:spcAft>
            </a:pPr>
            <a:endParaRPr lang="en-GB" dirty="0">
              <a:latin typeface="Calibri" panose="020F0502020204030204" pitchFamily="34" charset="0"/>
              <a:ea typeface="Calibri" panose="020F0502020204030204" pitchFamily="34" charset="0"/>
              <a:cs typeface="Calibri" panose="020F0502020204030204" pitchFamily="34" charset="0"/>
            </a:endParaRPr>
          </a:p>
          <a:p>
            <a:pPr marL="457200" algn="just">
              <a:spcAft>
                <a:spcPts val="600"/>
              </a:spcAft>
            </a:pPr>
            <a:r>
              <a:rPr lang="en-GB" sz="1800" dirty="0">
                <a:effectLst/>
                <a:latin typeface="Calibri" panose="020F0502020204030204" pitchFamily="34" charset="0"/>
                <a:ea typeface="Calibri" panose="020F0502020204030204" pitchFamily="34" charset="0"/>
                <a:cs typeface="Calibri" panose="020F0502020204030204" pitchFamily="34" charset="0"/>
              </a:rPr>
              <a:t>A prosecutor should consider the following:</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spcAft>
                <a:spcPts val="600"/>
              </a:spcAft>
              <a:buFont typeface="Cambria" panose="02040503050406030204" pitchFamily="18" charset="0"/>
              <a:buChar char="-"/>
            </a:pPr>
            <a:r>
              <a:rPr lang="en-GB" sz="1800" dirty="0">
                <a:effectLst/>
                <a:latin typeface="Calibri" panose="020F0502020204030204" pitchFamily="34" charset="0"/>
                <a:ea typeface="Calibri" panose="020F0502020204030204" pitchFamily="34" charset="0"/>
                <a:cs typeface="Calibri" panose="020F0502020204030204" pitchFamily="34" charset="0"/>
              </a:rPr>
              <a:t>The </a:t>
            </a:r>
            <a:r>
              <a:rPr lang="en-GB" sz="1800" b="1" dirty="0">
                <a:effectLst/>
                <a:latin typeface="Calibri" panose="020F0502020204030204" pitchFamily="34" charset="0"/>
                <a:ea typeface="Calibri" panose="020F0502020204030204" pitchFamily="34" charset="0"/>
                <a:cs typeface="Calibri" panose="020F0502020204030204" pitchFamily="34" charset="0"/>
              </a:rPr>
              <a:t>culpability</a:t>
            </a:r>
            <a:r>
              <a:rPr lang="en-GB" sz="1800" dirty="0">
                <a:effectLst/>
                <a:latin typeface="Calibri" panose="020F0502020204030204" pitchFamily="34" charset="0"/>
                <a:ea typeface="Calibri" panose="020F0502020204030204" pitchFamily="34" charset="0"/>
                <a:cs typeface="Calibri" panose="020F0502020204030204" pitchFamily="34" charset="0"/>
              </a:rPr>
              <a:t> of the offender, the </a:t>
            </a:r>
            <a:r>
              <a:rPr lang="en-GB" sz="1800" b="1" dirty="0">
                <a:effectLst/>
                <a:latin typeface="Calibri" panose="020F0502020204030204" pitchFamily="34" charset="0"/>
                <a:ea typeface="Calibri" panose="020F0502020204030204" pitchFamily="34" charset="0"/>
                <a:cs typeface="Calibri" panose="020F0502020204030204" pitchFamily="34" charset="0"/>
              </a:rPr>
              <a:t>injuries</a:t>
            </a:r>
            <a:r>
              <a:rPr lang="en-GB" sz="1800" dirty="0">
                <a:effectLst/>
                <a:latin typeface="Calibri" panose="020F0502020204030204" pitchFamily="34" charset="0"/>
                <a:ea typeface="Calibri" panose="020F0502020204030204" pitchFamily="34" charset="0"/>
                <a:cs typeface="Calibri" panose="020F0502020204030204" pitchFamily="34" charset="0"/>
              </a:rPr>
              <a:t> suffered by the complainant and the </a:t>
            </a:r>
            <a:r>
              <a:rPr lang="en-GB" sz="1800" b="1" dirty="0">
                <a:effectLst/>
                <a:latin typeface="Calibri" panose="020F0502020204030204" pitchFamily="34" charset="0"/>
                <a:ea typeface="Calibri" panose="020F0502020204030204" pitchFamily="34" charset="0"/>
                <a:cs typeface="Calibri" panose="020F0502020204030204" pitchFamily="34" charset="0"/>
              </a:rPr>
              <a:t>overall harm </a:t>
            </a:r>
            <a:r>
              <a:rPr lang="en-GB" sz="1800" dirty="0">
                <a:effectLst/>
                <a:latin typeface="Calibri" panose="020F0502020204030204" pitchFamily="34" charset="0"/>
                <a:ea typeface="Calibri" panose="020F0502020204030204" pitchFamily="34" charset="0"/>
                <a:cs typeface="Calibri" panose="020F0502020204030204" pitchFamily="34" charset="0"/>
              </a:rPr>
              <a:t>caused;</a:t>
            </a:r>
          </a:p>
          <a:p>
            <a:pPr marL="342900" lvl="0" indent="-342900" algn="just">
              <a:spcAft>
                <a:spcPts val="600"/>
              </a:spcAft>
              <a:buFont typeface="Cambria" panose="02040503050406030204" pitchFamily="18" charset="0"/>
              <a:buChar char="-"/>
            </a:pPr>
            <a:r>
              <a:rPr lang="en-GB" sz="1800" b="1" dirty="0">
                <a:effectLst/>
                <a:latin typeface="Calibri" panose="020F0502020204030204" pitchFamily="34" charset="0"/>
                <a:ea typeface="Calibri" panose="020F0502020204030204" pitchFamily="34" charset="0"/>
                <a:cs typeface="Calibri" panose="020F0502020204030204" pitchFamily="34" charset="0"/>
              </a:rPr>
              <a:t>Aggravating factors </a:t>
            </a:r>
            <a:r>
              <a:rPr lang="en-GB" sz="1800" dirty="0">
                <a:effectLst/>
                <a:latin typeface="Calibri" panose="020F0502020204030204" pitchFamily="34" charset="0"/>
                <a:ea typeface="Calibri" panose="020F0502020204030204" pitchFamily="34" charset="0"/>
                <a:cs typeface="Calibri" panose="020F0502020204030204" pitchFamily="34" charset="0"/>
              </a:rPr>
              <a:t>in the case;</a:t>
            </a:r>
          </a:p>
          <a:p>
            <a:pPr marL="342900" lvl="0" indent="-342900" algn="just">
              <a:spcAft>
                <a:spcPts val="600"/>
              </a:spcAft>
              <a:buFont typeface="Cambria" panose="02040503050406030204" pitchFamily="18" charset="0"/>
              <a:buChar char="-"/>
            </a:pPr>
            <a:r>
              <a:rPr lang="en-GB" sz="1800" dirty="0">
                <a:effectLst/>
                <a:latin typeface="Calibri" panose="020F0502020204030204" pitchFamily="34" charset="0"/>
                <a:ea typeface="Calibri" panose="020F0502020204030204" pitchFamily="34" charset="0"/>
                <a:cs typeface="Calibri" panose="020F0502020204030204" pitchFamily="34" charset="0"/>
              </a:rPr>
              <a:t>The likely </a:t>
            </a:r>
            <a:r>
              <a:rPr lang="en-GB" sz="1800" b="1" dirty="0">
                <a:effectLst/>
                <a:latin typeface="Calibri" panose="020F0502020204030204" pitchFamily="34" charset="0"/>
                <a:ea typeface="Calibri" panose="020F0502020204030204" pitchFamily="34" charset="0"/>
                <a:cs typeface="Calibri" panose="020F0502020204030204" pitchFamily="34" charset="0"/>
              </a:rPr>
              <a:t>sentence</a:t>
            </a:r>
            <a:r>
              <a:rPr lang="en-GB" sz="1800" dirty="0">
                <a:effectLst/>
                <a:latin typeface="Calibri" panose="020F0502020204030204" pitchFamily="34" charset="0"/>
                <a:ea typeface="Calibri" panose="020F0502020204030204" pitchFamily="34" charset="0"/>
                <a:cs typeface="Calibri" panose="020F0502020204030204" pitchFamily="34" charset="0"/>
              </a:rPr>
              <a:t> on conviction.</a:t>
            </a:r>
          </a:p>
          <a:p>
            <a:endParaRPr lang="en-GB" dirty="0"/>
          </a:p>
        </p:txBody>
      </p:sp>
    </p:spTree>
    <p:extLst>
      <p:ext uri="{BB962C8B-B14F-4D97-AF65-F5344CB8AC3E}">
        <p14:creationId xmlns:p14="http://schemas.microsoft.com/office/powerpoint/2010/main" val="41928564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6A2412F0-1192-D2B0-11D9-F65757D89A77}"/>
              </a:ext>
            </a:extLst>
          </p:cNvPr>
          <p:cNvGraphicFramePr>
            <a:graphicFrameLocks noGrp="1"/>
          </p:cNvGraphicFramePr>
          <p:nvPr>
            <p:extLst>
              <p:ext uri="{D42A27DB-BD31-4B8C-83A1-F6EECF244321}">
                <p14:modId xmlns:p14="http://schemas.microsoft.com/office/powerpoint/2010/main" val="757398511"/>
              </p:ext>
            </p:extLst>
          </p:nvPr>
        </p:nvGraphicFramePr>
        <p:xfrm>
          <a:off x="899592" y="692696"/>
          <a:ext cx="7416825" cy="5558097"/>
        </p:xfrm>
        <a:graphic>
          <a:graphicData uri="http://schemas.openxmlformats.org/drawingml/2006/table">
            <a:tbl>
              <a:tblPr firstRow="1" firstCol="1" bandRow="1">
                <a:tableStyleId>{5C22544A-7EE6-4342-B048-85BDC9FD1C3A}</a:tableStyleId>
              </a:tblPr>
              <a:tblGrid>
                <a:gridCol w="2472001">
                  <a:extLst>
                    <a:ext uri="{9D8B030D-6E8A-4147-A177-3AD203B41FA5}">
                      <a16:colId xmlns:a16="http://schemas.microsoft.com/office/drawing/2014/main" val="200303174"/>
                    </a:ext>
                  </a:extLst>
                </a:gridCol>
                <a:gridCol w="2472001">
                  <a:extLst>
                    <a:ext uri="{9D8B030D-6E8A-4147-A177-3AD203B41FA5}">
                      <a16:colId xmlns:a16="http://schemas.microsoft.com/office/drawing/2014/main" val="1666200712"/>
                    </a:ext>
                  </a:extLst>
                </a:gridCol>
                <a:gridCol w="2472823">
                  <a:extLst>
                    <a:ext uri="{9D8B030D-6E8A-4147-A177-3AD203B41FA5}">
                      <a16:colId xmlns:a16="http://schemas.microsoft.com/office/drawing/2014/main" val="2106793331"/>
                    </a:ext>
                  </a:extLst>
                </a:gridCol>
              </a:tblGrid>
              <a:tr h="347177">
                <a:tc>
                  <a:txBody>
                    <a:bodyPr/>
                    <a:lstStyle/>
                    <a:p>
                      <a:pPr algn="ctr">
                        <a:lnSpc>
                          <a:spcPct val="107000"/>
                        </a:lnSpc>
                        <a:spcAft>
                          <a:spcPts val="800"/>
                        </a:spcAft>
                      </a:pPr>
                      <a:r>
                        <a:rPr lang="en-GB" sz="1400" kern="100">
                          <a:solidFill>
                            <a:schemeClr val="accent4"/>
                          </a:solidFill>
                          <a:effectLst/>
                        </a:rPr>
                        <a:t>Battery</a:t>
                      </a:r>
                      <a:endParaRPr lang="en-GB" sz="1400" kern="100">
                        <a:solidFill>
                          <a:schemeClr val="accent4"/>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2">
                        <a:lumMod val="20000"/>
                        <a:lumOff val="80000"/>
                      </a:schemeClr>
                    </a:solidFill>
                  </a:tcPr>
                </a:tc>
                <a:tc>
                  <a:txBody>
                    <a:bodyPr/>
                    <a:lstStyle/>
                    <a:p>
                      <a:pPr algn="ctr">
                        <a:lnSpc>
                          <a:spcPct val="107000"/>
                        </a:lnSpc>
                        <a:spcAft>
                          <a:spcPts val="800"/>
                        </a:spcAft>
                      </a:pPr>
                      <a:r>
                        <a:rPr lang="en-GB" sz="1400" kern="100" dirty="0">
                          <a:solidFill>
                            <a:schemeClr val="accent4"/>
                          </a:solidFill>
                          <a:effectLst/>
                        </a:rPr>
                        <a:t>ABH</a:t>
                      </a:r>
                      <a:endParaRPr lang="en-GB" sz="1400" kern="100" dirty="0">
                        <a:solidFill>
                          <a:schemeClr val="accent4"/>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2">
                        <a:lumMod val="20000"/>
                        <a:lumOff val="80000"/>
                      </a:schemeClr>
                    </a:solidFill>
                  </a:tcPr>
                </a:tc>
                <a:tc>
                  <a:txBody>
                    <a:bodyPr/>
                    <a:lstStyle/>
                    <a:p>
                      <a:pPr algn="ctr">
                        <a:lnSpc>
                          <a:spcPct val="107000"/>
                        </a:lnSpc>
                        <a:spcAft>
                          <a:spcPts val="800"/>
                        </a:spcAft>
                      </a:pPr>
                      <a:r>
                        <a:rPr lang="en-GB" sz="1400" kern="100" dirty="0">
                          <a:solidFill>
                            <a:schemeClr val="accent4"/>
                          </a:solidFill>
                          <a:effectLst/>
                        </a:rPr>
                        <a:t>GBH</a:t>
                      </a:r>
                      <a:endParaRPr lang="en-GB" sz="1400" kern="100" dirty="0">
                        <a:solidFill>
                          <a:schemeClr val="accent4"/>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2">
                        <a:lumMod val="20000"/>
                        <a:lumOff val="80000"/>
                      </a:schemeClr>
                    </a:solidFill>
                  </a:tcPr>
                </a:tc>
                <a:extLst>
                  <a:ext uri="{0D108BD9-81ED-4DB2-BD59-A6C34878D82A}">
                    <a16:rowId xmlns:a16="http://schemas.microsoft.com/office/drawing/2014/main" val="2976856810"/>
                  </a:ext>
                </a:extLst>
              </a:tr>
              <a:tr h="461517">
                <a:tc>
                  <a:txBody>
                    <a:bodyPr/>
                    <a:lstStyle/>
                    <a:p>
                      <a:pPr>
                        <a:lnSpc>
                          <a:spcPct val="107000"/>
                        </a:lnSpc>
                        <a:spcAft>
                          <a:spcPts val="800"/>
                        </a:spcAft>
                      </a:pPr>
                      <a:r>
                        <a:rPr lang="en-GB" sz="1400" b="0" kern="100">
                          <a:solidFill>
                            <a:schemeClr val="accent4">
                              <a:lumMod val="95000"/>
                              <a:lumOff val="5000"/>
                            </a:schemeClr>
                          </a:solidFill>
                          <a:effectLst/>
                        </a:rPr>
                        <a:t>Transient of trifling</a:t>
                      </a:r>
                      <a:endParaRPr lang="en-GB" sz="1400" b="0" kern="100">
                        <a:solidFill>
                          <a:schemeClr val="accent4">
                            <a:lumMod val="95000"/>
                            <a:lumOff val="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6">
                        <a:lumMod val="60000"/>
                        <a:lumOff val="40000"/>
                      </a:schemeClr>
                    </a:solidFill>
                  </a:tcPr>
                </a:tc>
                <a:tc>
                  <a:txBody>
                    <a:bodyPr/>
                    <a:lstStyle/>
                    <a:p>
                      <a:pPr>
                        <a:lnSpc>
                          <a:spcPct val="107000"/>
                        </a:lnSpc>
                        <a:spcAft>
                          <a:spcPts val="800"/>
                        </a:spcAft>
                      </a:pPr>
                      <a:r>
                        <a:rPr lang="en-GB" sz="1400" kern="100">
                          <a:effectLst/>
                        </a:rPr>
                        <a:t>More than transient or trifling</a:t>
                      </a:r>
                      <a:endParaRPr lang="en-GB"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6">
                        <a:lumMod val="40000"/>
                        <a:lumOff val="60000"/>
                      </a:schemeClr>
                    </a:solidFill>
                  </a:tcPr>
                </a:tc>
                <a:tc>
                  <a:txBody>
                    <a:bodyPr/>
                    <a:lstStyle/>
                    <a:p>
                      <a:pPr>
                        <a:lnSpc>
                          <a:spcPct val="107000"/>
                        </a:lnSpc>
                        <a:spcAft>
                          <a:spcPts val="800"/>
                        </a:spcAft>
                      </a:pPr>
                      <a:r>
                        <a:rPr lang="en-GB" sz="1400" kern="100" dirty="0">
                          <a:effectLst/>
                        </a:rPr>
                        <a:t>Really serious harm</a:t>
                      </a:r>
                      <a:endParaRPr lang="en-GB"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6">
                        <a:lumMod val="20000"/>
                        <a:lumOff val="80000"/>
                      </a:schemeClr>
                    </a:solidFill>
                  </a:tcPr>
                </a:tc>
                <a:extLst>
                  <a:ext uri="{0D108BD9-81ED-4DB2-BD59-A6C34878D82A}">
                    <a16:rowId xmlns:a16="http://schemas.microsoft.com/office/drawing/2014/main" val="1471502249"/>
                  </a:ext>
                </a:extLst>
              </a:tr>
              <a:tr h="1068997">
                <a:tc>
                  <a:txBody>
                    <a:bodyPr/>
                    <a:lstStyle/>
                    <a:p>
                      <a:pPr>
                        <a:lnSpc>
                          <a:spcPct val="107000"/>
                        </a:lnSpc>
                        <a:spcAft>
                          <a:spcPts val="800"/>
                        </a:spcAft>
                      </a:pPr>
                      <a:r>
                        <a:rPr lang="en-GB" sz="1400" b="0" kern="100">
                          <a:solidFill>
                            <a:schemeClr val="accent4">
                              <a:lumMod val="95000"/>
                              <a:lumOff val="5000"/>
                            </a:schemeClr>
                          </a:solidFill>
                          <a:effectLst/>
                        </a:rPr>
                        <a:t>No injury required. AR is unlawful application of force.</a:t>
                      </a:r>
                    </a:p>
                    <a:p>
                      <a:pPr>
                        <a:lnSpc>
                          <a:spcPct val="107000"/>
                        </a:lnSpc>
                        <a:spcAft>
                          <a:spcPts val="800"/>
                        </a:spcAft>
                      </a:pPr>
                      <a:r>
                        <a:rPr lang="en-GB" sz="1400" b="0" kern="100">
                          <a:solidFill>
                            <a:schemeClr val="accent4">
                              <a:lumMod val="95000"/>
                              <a:lumOff val="5000"/>
                            </a:schemeClr>
                          </a:solidFill>
                          <a:effectLst/>
                        </a:rPr>
                        <a:t> </a:t>
                      </a:r>
                      <a:endParaRPr lang="en-GB" sz="1400" b="0" kern="100">
                        <a:solidFill>
                          <a:schemeClr val="accent4">
                            <a:lumMod val="95000"/>
                            <a:lumOff val="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6">
                        <a:lumMod val="60000"/>
                        <a:lumOff val="40000"/>
                      </a:schemeClr>
                    </a:solidFill>
                  </a:tcPr>
                </a:tc>
                <a:tc>
                  <a:txBody>
                    <a:bodyPr/>
                    <a:lstStyle/>
                    <a:p>
                      <a:pPr>
                        <a:lnSpc>
                          <a:spcPct val="107000"/>
                        </a:lnSpc>
                        <a:spcAft>
                          <a:spcPts val="800"/>
                        </a:spcAft>
                      </a:pPr>
                      <a:r>
                        <a:rPr lang="en-GB" sz="1400" kern="100" dirty="0">
                          <a:effectLst/>
                        </a:rPr>
                        <a:t>Hurt calculated to interfere with health of comfort</a:t>
                      </a:r>
                      <a:endParaRPr lang="en-GB"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6">
                        <a:lumMod val="40000"/>
                        <a:lumOff val="60000"/>
                      </a:schemeClr>
                    </a:solidFill>
                  </a:tcPr>
                </a:tc>
                <a:tc>
                  <a:txBody>
                    <a:bodyPr/>
                    <a:lstStyle/>
                    <a:p>
                      <a:pPr>
                        <a:lnSpc>
                          <a:spcPct val="107000"/>
                        </a:lnSpc>
                        <a:spcAft>
                          <a:spcPts val="800"/>
                        </a:spcAft>
                      </a:pPr>
                      <a:r>
                        <a:rPr lang="en-GB" sz="1400" kern="100">
                          <a:effectLst/>
                        </a:rPr>
                        <a:t>Does not need to be permanent of life threatening.</a:t>
                      </a:r>
                      <a:endParaRPr lang="en-GB"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6">
                        <a:lumMod val="20000"/>
                        <a:lumOff val="80000"/>
                      </a:schemeClr>
                    </a:solidFill>
                  </a:tcPr>
                </a:tc>
                <a:extLst>
                  <a:ext uri="{0D108BD9-81ED-4DB2-BD59-A6C34878D82A}">
                    <a16:rowId xmlns:a16="http://schemas.microsoft.com/office/drawing/2014/main" val="2961822157"/>
                  </a:ext>
                </a:extLst>
              </a:tr>
              <a:tr h="698225">
                <a:tc>
                  <a:txBody>
                    <a:bodyPr/>
                    <a:lstStyle/>
                    <a:p>
                      <a:pPr>
                        <a:lnSpc>
                          <a:spcPct val="107000"/>
                        </a:lnSpc>
                        <a:spcAft>
                          <a:spcPts val="800"/>
                        </a:spcAft>
                      </a:pPr>
                      <a:r>
                        <a:rPr lang="en-GB" sz="1400" b="0" kern="100">
                          <a:solidFill>
                            <a:schemeClr val="accent4">
                              <a:lumMod val="95000"/>
                              <a:lumOff val="5000"/>
                            </a:schemeClr>
                          </a:solidFill>
                          <a:effectLst/>
                        </a:rPr>
                        <a:t>No medical treatment</a:t>
                      </a:r>
                      <a:endParaRPr lang="en-GB" sz="1400" b="0" kern="100">
                        <a:solidFill>
                          <a:schemeClr val="accent4">
                            <a:lumMod val="95000"/>
                            <a:lumOff val="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6">
                        <a:lumMod val="60000"/>
                        <a:lumOff val="40000"/>
                      </a:schemeClr>
                    </a:solidFill>
                  </a:tcPr>
                </a:tc>
                <a:tc>
                  <a:txBody>
                    <a:bodyPr/>
                    <a:lstStyle/>
                    <a:p>
                      <a:pPr>
                        <a:lnSpc>
                          <a:spcPct val="107000"/>
                        </a:lnSpc>
                        <a:spcAft>
                          <a:spcPts val="800"/>
                        </a:spcAft>
                      </a:pPr>
                      <a:r>
                        <a:rPr lang="en-GB" sz="1400" kern="100">
                          <a:effectLst/>
                        </a:rPr>
                        <a:t>The need for medical treatment or at least medical assessment</a:t>
                      </a:r>
                      <a:endParaRPr lang="en-GB"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6">
                        <a:lumMod val="40000"/>
                        <a:lumOff val="60000"/>
                      </a:schemeClr>
                    </a:solidFill>
                  </a:tcPr>
                </a:tc>
                <a:tc>
                  <a:txBody>
                    <a:bodyPr/>
                    <a:lstStyle/>
                    <a:p>
                      <a:pPr>
                        <a:lnSpc>
                          <a:spcPct val="107000"/>
                        </a:lnSpc>
                        <a:spcAft>
                          <a:spcPts val="800"/>
                        </a:spcAft>
                      </a:pPr>
                      <a:r>
                        <a:rPr lang="en-GB" sz="1400" kern="100" dirty="0">
                          <a:effectLst/>
                        </a:rPr>
                        <a:t>Significant and sustained medical treatment (intensive care, blood transfusion)</a:t>
                      </a:r>
                      <a:endParaRPr lang="en-GB"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6">
                        <a:lumMod val="20000"/>
                        <a:lumOff val="80000"/>
                      </a:schemeClr>
                    </a:solidFill>
                  </a:tcPr>
                </a:tc>
                <a:extLst>
                  <a:ext uri="{0D108BD9-81ED-4DB2-BD59-A6C34878D82A}">
                    <a16:rowId xmlns:a16="http://schemas.microsoft.com/office/drawing/2014/main" val="3162122871"/>
                  </a:ext>
                </a:extLst>
              </a:tr>
              <a:tr h="1676476">
                <a:tc>
                  <a:txBody>
                    <a:bodyPr/>
                    <a:lstStyle/>
                    <a:p>
                      <a:pPr>
                        <a:lnSpc>
                          <a:spcPct val="107000"/>
                        </a:lnSpc>
                        <a:spcAft>
                          <a:spcPts val="800"/>
                        </a:spcAft>
                      </a:pPr>
                      <a:r>
                        <a:rPr lang="en-GB" sz="1400" b="0" kern="100">
                          <a:solidFill>
                            <a:schemeClr val="accent4">
                              <a:lumMod val="95000"/>
                              <a:lumOff val="5000"/>
                            </a:schemeClr>
                          </a:solidFill>
                          <a:effectLst/>
                        </a:rPr>
                        <a:t>Minor injuries – Grazes; Scratches; Abrasions; Minor bruising; Swellings; Reddening of the skin; Superficial cuts.</a:t>
                      </a:r>
                    </a:p>
                    <a:p>
                      <a:pPr>
                        <a:lnSpc>
                          <a:spcPct val="107000"/>
                        </a:lnSpc>
                        <a:spcAft>
                          <a:spcPts val="800"/>
                        </a:spcAft>
                      </a:pPr>
                      <a:r>
                        <a:rPr lang="en-GB" sz="1400" b="0" kern="100">
                          <a:solidFill>
                            <a:schemeClr val="accent4">
                              <a:lumMod val="95000"/>
                              <a:lumOff val="5000"/>
                            </a:schemeClr>
                          </a:solidFill>
                          <a:effectLst/>
                        </a:rPr>
                        <a:t> </a:t>
                      </a:r>
                      <a:endParaRPr lang="en-GB" sz="1400" b="0" kern="100">
                        <a:solidFill>
                          <a:schemeClr val="accent4">
                            <a:lumMod val="95000"/>
                            <a:lumOff val="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6">
                        <a:lumMod val="60000"/>
                        <a:lumOff val="40000"/>
                      </a:schemeClr>
                    </a:solidFill>
                  </a:tcPr>
                </a:tc>
                <a:tc>
                  <a:txBody>
                    <a:bodyPr/>
                    <a:lstStyle/>
                    <a:p>
                      <a:pPr>
                        <a:lnSpc>
                          <a:spcPct val="107000"/>
                        </a:lnSpc>
                        <a:spcAft>
                          <a:spcPts val="800"/>
                        </a:spcAft>
                      </a:pPr>
                      <a:r>
                        <a:rPr lang="en-GB" sz="1400" kern="100" dirty="0">
                          <a:effectLst/>
                        </a:rPr>
                        <a:t>Serious injury – damaged teeth or bones, extensive and severe bruising, cuts requiring suturing, loss of consciousness.</a:t>
                      </a:r>
                      <a:endParaRPr lang="en-GB"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6">
                        <a:lumMod val="40000"/>
                        <a:lumOff val="60000"/>
                      </a:schemeClr>
                    </a:solidFill>
                  </a:tcPr>
                </a:tc>
                <a:tc>
                  <a:txBody>
                    <a:bodyPr/>
                    <a:lstStyle/>
                    <a:p>
                      <a:pPr>
                        <a:lnSpc>
                          <a:spcPct val="107000"/>
                        </a:lnSpc>
                        <a:spcAft>
                          <a:spcPts val="800"/>
                        </a:spcAft>
                      </a:pPr>
                      <a:r>
                        <a:rPr lang="en-GB" sz="1400" kern="100" dirty="0">
                          <a:effectLst/>
                        </a:rPr>
                        <a:t>May be life changing injuries, but can be really serious injuries that are not permanent.</a:t>
                      </a:r>
                    </a:p>
                    <a:p>
                      <a:pPr>
                        <a:lnSpc>
                          <a:spcPct val="107000"/>
                        </a:lnSpc>
                        <a:spcAft>
                          <a:spcPts val="800"/>
                        </a:spcAft>
                      </a:pPr>
                      <a:r>
                        <a:rPr lang="en-GB" sz="1400" kern="100" dirty="0">
                          <a:effectLst/>
                        </a:rPr>
                        <a:t>Wound must also be really serious.</a:t>
                      </a:r>
                      <a:endParaRPr lang="en-GB"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6">
                        <a:lumMod val="20000"/>
                        <a:lumOff val="80000"/>
                      </a:schemeClr>
                    </a:solidFill>
                  </a:tcPr>
                </a:tc>
                <a:extLst>
                  <a:ext uri="{0D108BD9-81ED-4DB2-BD59-A6C34878D82A}">
                    <a16:rowId xmlns:a16="http://schemas.microsoft.com/office/drawing/2014/main" val="696441484"/>
                  </a:ext>
                </a:extLst>
              </a:tr>
              <a:tr h="1305705">
                <a:tc>
                  <a:txBody>
                    <a:bodyPr/>
                    <a:lstStyle/>
                    <a:p>
                      <a:pPr>
                        <a:lnSpc>
                          <a:spcPct val="107000"/>
                        </a:lnSpc>
                        <a:spcAft>
                          <a:spcPts val="800"/>
                        </a:spcAft>
                      </a:pPr>
                      <a:r>
                        <a:rPr lang="en-GB" sz="1400" b="0" kern="100" dirty="0">
                          <a:solidFill>
                            <a:schemeClr val="accent4">
                              <a:lumMod val="95000"/>
                              <a:lumOff val="5000"/>
                            </a:schemeClr>
                          </a:solidFill>
                          <a:effectLst/>
                        </a:rPr>
                        <a:t>Pushing or slapping</a:t>
                      </a:r>
                      <a:endParaRPr lang="en-GB" sz="1400" b="0" kern="100" dirty="0">
                        <a:solidFill>
                          <a:schemeClr val="accent4">
                            <a:lumMod val="95000"/>
                            <a:lumOff val="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6">
                        <a:lumMod val="60000"/>
                        <a:lumOff val="40000"/>
                      </a:schemeClr>
                    </a:solidFill>
                  </a:tcPr>
                </a:tc>
                <a:tc>
                  <a:txBody>
                    <a:bodyPr/>
                    <a:lstStyle/>
                    <a:p>
                      <a:pPr>
                        <a:lnSpc>
                          <a:spcPct val="107000"/>
                        </a:lnSpc>
                        <a:spcAft>
                          <a:spcPts val="800"/>
                        </a:spcAft>
                      </a:pPr>
                      <a:r>
                        <a:rPr lang="en-GB" sz="1400" kern="100" dirty="0">
                          <a:effectLst/>
                        </a:rPr>
                        <a:t>Circumstances more serious – i.e. threats, significant violence.</a:t>
                      </a:r>
                    </a:p>
                    <a:p>
                      <a:pPr>
                        <a:lnSpc>
                          <a:spcPct val="107000"/>
                        </a:lnSpc>
                        <a:spcAft>
                          <a:spcPts val="800"/>
                        </a:spcAft>
                      </a:pPr>
                      <a:r>
                        <a:rPr lang="en-GB" sz="1400" kern="100" dirty="0">
                          <a:effectLst/>
                        </a:rPr>
                        <a:t>Punching, kicking or head-butting. </a:t>
                      </a:r>
                      <a:endParaRPr lang="en-GB"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6">
                        <a:lumMod val="40000"/>
                        <a:lumOff val="60000"/>
                      </a:schemeClr>
                    </a:solidFill>
                  </a:tcPr>
                </a:tc>
                <a:tc>
                  <a:txBody>
                    <a:bodyPr/>
                    <a:lstStyle/>
                    <a:p>
                      <a:pPr>
                        <a:lnSpc>
                          <a:spcPct val="107000"/>
                        </a:lnSpc>
                        <a:spcAft>
                          <a:spcPts val="800"/>
                        </a:spcAft>
                      </a:pPr>
                      <a:r>
                        <a:rPr lang="en-GB" sz="1400" kern="100" dirty="0">
                          <a:effectLst/>
                        </a:rPr>
                        <a:t>Wound caused by knife or another weapon</a:t>
                      </a:r>
                      <a:endParaRPr lang="en-GB"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6">
                        <a:lumMod val="20000"/>
                        <a:lumOff val="80000"/>
                      </a:schemeClr>
                    </a:solidFill>
                  </a:tcPr>
                </a:tc>
                <a:extLst>
                  <a:ext uri="{0D108BD9-81ED-4DB2-BD59-A6C34878D82A}">
                    <a16:rowId xmlns:a16="http://schemas.microsoft.com/office/drawing/2014/main" val="3584149550"/>
                  </a:ext>
                </a:extLst>
              </a:tr>
            </a:tbl>
          </a:graphicData>
        </a:graphic>
      </p:graphicFrame>
      <p:sp>
        <p:nvSpPr>
          <p:cNvPr id="3" name="Rectangle 1">
            <a:extLst>
              <a:ext uri="{FF2B5EF4-FFF2-40B4-BE49-F238E27FC236}">
                <a16:creationId xmlns:a16="http://schemas.microsoft.com/office/drawing/2014/main" id="{DE45A15C-E47B-A412-3947-456CD9F9F974}"/>
              </a:ext>
            </a:extLst>
          </p:cNvPr>
          <p:cNvSpPr>
            <a:spLocks noChangeArrowheads="1"/>
          </p:cNvSpPr>
          <p:nvPr/>
        </p:nvSpPr>
        <p:spPr bwMode="auto">
          <a:xfrm>
            <a:off x="417259" y="1891896"/>
            <a:ext cx="11845859" cy="5798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GB"/>
          </a:p>
        </p:txBody>
      </p:sp>
    </p:spTree>
    <p:extLst>
      <p:ext uri="{BB962C8B-B14F-4D97-AF65-F5344CB8AC3E}">
        <p14:creationId xmlns:p14="http://schemas.microsoft.com/office/powerpoint/2010/main" val="15912685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2426AD-5AF2-0087-0A2A-053B54048CEE}"/>
              </a:ext>
            </a:extLst>
          </p:cNvPr>
          <p:cNvSpPr>
            <a:spLocks noGrp="1"/>
          </p:cNvSpPr>
          <p:nvPr>
            <p:ph idx="1"/>
          </p:nvPr>
        </p:nvSpPr>
        <p:spPr>
          <a:xfrm>
            <a:off x="684213" y="332656"/>
            <a:ext cx="7772400" cy="5472832"/>
          </a:xfrm>
        </p:spPr>
        <p:txBody>
          <a:bodyPr anchor="ctr"/>
          <a:lstStyle/>
          <a:p>
            <a:pPr marL="0" indent="0" algn="just">
              <a:spcBef>
                <a:spcPts val="0"/>
              </a:spcBef>
              <a:spcAft>
                <a:spcPts val="600"/>
              </a:spcAft>
            </a:pPr>
            <a:r>
              <a:rPr lang="en-GB" dirty="0">
                <a:solidFill>
                  <a:srgbClr val="FF0000"/>
                </a:solidFill>
              </a:rPr>
              <a:t>Tony’s foot collides directly with Hamza’s left ankle, causing Hamza to trip, land on his face, and break his nose.</a:t>
            </a:r>
            <a:r>
              <a:rPr lang="en-GB" dirty="0"/>
              <a:t>  </a:t>
            </a:r>
          </a:p>
          <a:p>
            <a:pPr marL="285750" indent="-285750" algn="just">
              <a:spcBef>
                <a:spcPts val="0"/>
              </a:spcBef>
              <a:spcAft>
                <a:spcPts val="600"/>
              </a:spcAft>
              <a:buFont typeface="Arial" panose="020B0604020202020204" pitchFamily="34" charset="0"/>
              <a:buChar char="•"/>
            </a:pPr>
            <a:r>
              <a:rPr lang="en-GB" dirty="0"/>
              <a:t>Broken nose = battery? ABH? (why not GBH?)</a:t>
            </a:r>
          </a:p>
          <a:p>
            <a:pPr marL="0" indent="0" algn="just">
              <a:spcBef>
                <a:spcPts val="0"/>
              </a:spcBef>
              <a:spcAft>
                <a:spcPts val="600"/>
              </a:spcAft>
            </a:pPr>
            <a:endParaRPr lang="en-GB" dirty="0"/>
          </a:p>
          <a:p>
            <a:pPr marL="0" indent="0" algn="just">
              <a:spcBef>
                <a:spcPts val="0"/>
              </a:spcBef>
              <a:spcAft>
                <a:spcPts val="600"/>
              </a:spcAft>
            </a:pPr>
            <a:r>
              <a:rPr lang="en-GB" dirty="0">
                <a:solidFill>
                  <a:srgbClr val="FF0000"/>
                </a:solidFill>
              </a:rPr>
              <a:t>Carlos, a member of “Small Town United” is outraged. He shouts at Tony</a:t>
            </a:r>
          </a:p>
          <a:p>
            <a:pPr marL="285750" indent="-285750" algn="just">
              <a:spcBef>
                <a:spcPts val="0"/>
              </a:spcBef>
              <a:spcAft>
                <a:spcPts val="600"/>
              </a:spcAft>
              <a:buFont typeface="Arial" panose="020B0604020202020204" pitchFamily="34" charset="0"/>
              <a:buChar char="•"/>
            </a:pPr>
            <a:r>
              <a:rPr lang="en-GB" dirty="0"/>
              <a:t>Shouting = assault? (no contact, but has there been an apprehension of harm?)</a:t>
            </a:r>
          </a:p>
          <a:p>
            <a:pPr marL="0" indent="0" algn="just">
              <a:spcBef>
                <a:spcPts val="0"/>
              </a:spcBef>
              <a:spcAft>
                <a:spcPts val="600"/>
              </a:spcAft>
            </a:pPr>
            <a:endParaRPr lang="en-GB" dirty="0">
              <a:solidFill>
                <a:srgbClr val="FF0000"/>
              </a:solidFill>
            </a:endParaRPr>
          </a:p>
          <a:p>
            <a:pPr marL="0" indent="0" algn="just">
              <a:spcBef>
                <a:spcPts val="0"/>
              </a:spcBef>
              <a:spcAft>
                <a:spcPts val="600"/>
              </a:spcAft>
            </a:pPr>
            <a:r>
              <a:rPr lang="en-GB" dirty="0">
                <a:solidFill>
                  <a:srgbClr val="FF0000"/>
                </a:solidFill>
              </a:rPr>
              <a:t>Nikita, a teammate of Carlos, taps Carlos on the back</a:t>
            </a:r>
            <a:r>
              <a:rPr lang="en-GB" dirty="0"/>
              <a:t> </a:t>
            </a:r>
          </a:p>
          <a:p>
            <a:pPr marL="285750" indent="-285750" algn="just">
              <a:spcBef>
                <a:spcPts val="0"/>
              </a:spcBef>
              <a:spcAft>
                <a:spcPts val="600"/>
              </a:spcAft>
              <a:buFont typeface="Arial" panose="020B0604020202020204" pitchFamily="34" charset="0"/>
              <a:buChar char="•"/>
            </a:pPr>
            <a:r>
              <a:rPr lang="en-GB" dirty="0"/>
              <a:t>Technically touching = battery? (any non-consensual touching can be a battery)</a:t>
            </a:r>
          </a:p>
          <a:p>
            <a:pPr marL="0" indent="0" algn="just">
              <a:spcBef>
                <a:spcPts val="0"/>
              </a:spcBef>
              <a:spcAft>
                <a:spcPts val="600"/>
              </a:spcAft>
            </a:pPr>
            <a:endParaRPr lang="en-GB" dirty="0"/>
          </a:p>
          <a:p>
            <a:pPr marL="0" indent="0" algn="just">
              <a:spcBef>
                <a:spcPts val="0"/>
              </a:spcBef>
              <a:spcAft>
                <a:spcPts val="600"/>
              </a:spcAft>
            </a:pPr>
            <a:r>
              <a:rPr lang="en-GB" dirty="0">
                <a:solidFill>
                  <a:srgbClr val="FF0000"/>
                </a:solidFill>
              </a:rPr>
              <a:t>Johannes accidentally drops the pole, which hits Oti on the head. Oti is knocked unconscious and sustains a brain injury</a:t>
            </a:r>
          </a:p>
          <a:p>
            <a:pPr marL="285750" indent="-285750" algn="just">
              <a:spcBef>
                <a:spcPts val="0"/>
              </a:spcBef>
              <a:spcAft>
                <a:spcPts val="600"/>
              </a:spcAft>
              <a:buFont typeface="Arial" panose="020B0604020202020204" pitchFamily="34" charset="0"/>
              <a:buChar char="•"/>
            </a:pPr>
            <a:r>
              <a:rPr lang="en-GB" dirty="0"/>
              <a:t>A brain injury requiring surgery and loss of consciousness = GBH?</a:t>
            </a:r>
          </a:p>
        </p:txBody>
      </p:sp>
    </p:spTree>
    <p:extLst>
      <p:ext uri="{BB962C8B-B14F-4D97-AF65-F5344CB8AC3E}">
        <p14:creationId xmlns:p14="http://schemas.microsoft.com/office/powerpoint/2010/main" val="18344158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6A2412F0-1192-D2B0-11D9-F65757D89A77}"/>
              </a:ext>
            </a:extLst>
          </p:cNvPr>
          <p:cNvGraphicFramePr>
            <a:graphicFrameLocks noGrp="1"/>
          </p:cNvGraphicFramePr>
          <p:nvPr/>
        </p:nvGraphicFramePr>
        <p:xfrm>
          <a:off x="899592" y="692696"/>
          <a:ext cx="7416825" cy="5558097"/>
        </p:xfrm>
        <a:graphic>
          <a:graphicData uri="http://schemas.openxmlformats.org/drawingml/2006/table">
            <a:tbl>
              <a:tblPr firstRow="1" firstCol="1" bandRow="1">
                <a:tableStyleId>{5C22544A-7EE6-4342-B048-85BDC9FD1C3A}</a:tableStyleId>
              </a:tblPr>
              <a:tblGrid>
                <a:gridCol w="2472001">
                  <a:extLst>
                    <a:ext uri="{9D8B030D-6E8A-4147-A177-3AD203B41FA5}">
                      <a16:colId xmlns:a16="http://schemas.microsoft.com/office/drawing/2014/main" val="200303174"/>
                    </a:ext>
                  </a:extLst>
                </a:gridCol>
                <a:gridCol w="2472001">
                  <a:extLst>
                    <a:ext uri="{9D8B030D-6E8A-4147-A177-3AD203B41FA5}">
                      <a16:colId xmlns:a16="http://schemas.microsoft.com/office/drawing/2014/main" val="1666200712"/>
                    </a:ext>
                  </a:extLst>
                </a:gridCol>
                <a:gridCol w="2472823">
                  <a:extLst>
                    <a:ext uri="{9D8B030D-6E8A-4147-A177-3AD203B41FA5}">
                      <a16:colId xmlns:a16="http://schemas.microsoft.com/office/drawing/2014/main" val="2106793331"/>
                    </a:ext>
                  </a:extLst>
                </a:gridCol>
              </a:tblGrid>
              <a:tr h="347177">
                <a:tc>
                  <a:txBody>
                    <a:bodyPr/>
                    <a:lstStyle/>
                    <a:p>
                      <a:pPr algn="ctr">
                        <a:lnSpc>
                          <a:spcPct val="107000"/>
                        </a:lnSpc>
                        <a:spcAft>
                          <a:spcPts val="800"/>
                        </a:spcAft>
                      </a:pPr>
                      <a:r>
                        <a:rPr lang="en-GB" sz="1400" kern="100">
                          <a:solidFill>
                            <a:schemeClr val="accent4"/>
                          </a:solidFill>
                          <a:effectLst/>
                        </a:rPr>
                        <a:t>Battery</a:t>
                      </a:r>
                      <a:endParaRPr lang="en-GB" sz="1400" kern="100">
                        <a:solidFill>
                          <a:schemeClr val="accent4"/>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2">
                        <a:lumMod val="20000"/>
                        <a:lumOff val="80000"/>
                      </a:schemeClr>
                    </a:solidFill>
                  </a:tcPr>
                </a:tc>
                <a:tc>
                  <a:txBody>
                    <a:bodyPr/>
                    <a:lstStyle/>
                    <a:p>
                      <a:pPr algn="ctr">
                        <a:lnSpc>
                          <a:spcPct val="107000"/>
                        </a:lnSpc>
                        <a:spcAft>
                          <a:spcPts val="800"/>
                        </a:spcAft>
                      </a:pPr>
                      <a:r>
                        <a:rPr lang="en-GB" sz="1400" kern="100" dirty="0">
                          <a:solidFill>
                            <a:schemeClr val="accent4"/>
                          </a:solidFill>
                          <a:effectLst/>
                        </a:rPr>
                        <a:t>ABH</a:t>
                      </a:r>
                      <a:endParaRPr lang="en-GB" sz="1400" kern="100" dirty="0">
                        <a:solidFill>
                          <a:schemeClr val="accent4"/>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2">
                        <a:lumMod val="20000"/>
                        <a:lumOff val="80000"/>
                      </a:schemeClr>
                    </a:solidFill>
                  </a:tcPr>
                </a:tc>
                <a:tc>
                  <a:txBody>
                    <a:bodyPr/>
                    <a:lstStyle/>
                    <a:p>
                      <a:pPr algn="ctr">
                        <a:lnSpc>
                          <a:spcPct val="107000"/>
                        </a:lnSpc>
                        <a:spcAft>
                          <a:spcPts val="800"/>
                        </a:spcAft>
                      </a:pPr>
                      <a:r>
                        <a:rPr lang="en-GB" sz="1400" kern="100" dirty="0">
                          <a:solidFill>
                            <a:schemeClr val="accent4"/>
                          </a:solidFill>
                          <a:effectLst/>
                        </a:rPr>
                        <a:t>GBH</a:t>
                      </a:r>
                      <a:endParaRPr lang="en-GB" sz="1400" kern="100" dirty="0">
                        <a:solidFill>
                          <a:schemeClr val="accent4"/>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2">
                        <a:lumMod val="20000"/>
                        <a:lumOff val="80000"/>
                      </a:schemeClr>
                    </a:solidFill>
                  </a:tcPr>
                </a:tc>
                <a:extLst>
                  <a:ext uri="{0D108BD9-81ED-4DB2-BD59-A6C34878D82A}">
                    <a16:rowId xmlns:a16="http://schemas.microsoft.com/office/drawing/2014/main" val="2976856810"/>
                  </a:ext>
                </a:extLst>
              </a:tr>
              <a:tr h="461517">
                <a:tc>
                  <a:txBody>
                    <a:bodyPr/>
                    <a:lstStyle/>
                    <a:p>
                      <a:pPr>
                        <a:lnSpc>
                          <a:spcPct val="107000"/>
                        </a:lnSpc>
                        <a:spcAft>
                          <a:spcPts val="800"/>
                        </a:spcAft>
                      </a:pPr>
                      <a:r>
                        <a:rPr lang="en-GB" sz="1400" b="0" kern="100">
                          <a:solidFill>
                            <a:schemeClr val="accent4">
                              <a:lumMod val="95000"/>
                              <a:lumOff val="5000"/>
                            </a:schemeClr>
                          </a:solidFill>
                          <a:effectLst/>
                        </a:rPr>
                        <a:t>Transient of trifling</a:t>
                      </a:r>
                      <a:endParaRPr lang="en-GB" sz="1400" b="0" kern="100">
                        <a:solidFill>
                          <a:schemeClr val="accent4">
                            <a:lumMod val="95000"/>
                            <a:lumOff val="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6">
                        <a:lumMod val="60000"/>
                        <a:lumOff val="40000"/>
                      </a:schemeClr>
                    </a:solidFill>
                  </a:tcPr>
                </a:tc>
                <a:tc>
                  <a:txBody>
                    <a:bodyPr/>
                    <a:lstStyle/>
                    <a:p>
                      <a:pPr>
                        <a:lnSpc>
                          <a:spcPct val="107000"/>
                        </a:lnSpc>
                        <a:spcAft>
                          <a:spcPts val="800"/>
                        </a:spcAft>
                      </a:pPr>
                      <a:r>
                        <a:rPr lang="en-GB" sz="1400" kern="100">
                          <a:effectLst/>
                        </a:rPr>
                        <a:t>More than transient or trifling</a:t>
                      </a:r>
                      <a:endParaRPr lang="en-GB"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6">
                        <a:lumMod val="40000"/>
                        <a:lumOff val="60000"/>
                      </a:schemeClr>
                    </a:solidFill>
                  </a:tcPr>
                </a:tc>
                <a:tc>
                  <a:txBody>
                    <a:bodyPr/>
                    <a:lstStyle/>
                    <a:p>
                      <a:pPr>
                        <a:lnSpc>
                          <a:spcPct val="107000"/>
                        </a:lnSpc>
                        <a:spcAft>
                          <a:spcPts val="800"/>
                        </a:spcAft>
                      </a:pPr>
                      <a:r>
                        <a:rPr lang="en-GB" sz="1400" kern="100" dirty="0">
                          <a:effectLst/>
                        </a:rPr>
                        <a:t>Really serious harm</a:t>
                      </a:r>
                      <a:endParaRPr lang="en-GB"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6">
                        <a:lumMod val="20000"/>
                        <a:lumOff val="80000"/>
                      </a:schemeClr>
                    </a:solidFill>
                  </a:tcPr>
                </a:tc>
                <a:extLst>
                  <a:ext uri="{0D108BD9-81ED-4DB2-BD59-A6C34878D82A}">
                    <a16:rowId xmlns:a16="http://schemas.microsoft.com/office/drawing/2014/main" val="1471502249"/>
                  </a:ext>
                </a:extLst>
              </a:tr>
              <a:tr h="1068997">
                <a:tc>
                  <a:txBody>
                    <a:bodyPr/>
                    <a:lstStyle/>
                    <a:p>
                      <a:pPr>
                        <a:lnSpc>
                          <a:spcPct val="107000"/>
                        </a:lnSpc>
                        <a:spcAft>
                          <a:spcPts val="800"/>
                        </a:spcAft>
                      </a:pPr>
                      <a:r>
                        <a:rPr lang="en-GB" sz="1400" b="0" kern="100">
                          <a:solidFill>
                            <a:schemeClr val="accent4">
                              <a:lumMod val="95000"/>
                              <a:lumOff val="5000"/>
                            </a:schemeClr>
                          </a:solidFill>
                          <a:effectLst/>
                        </a:rPr>
                        <a:t>No injury required. AR is unlawful application of force.</a:t>
                      </a:r>
                    </a:p>
                    <a:p>
                      <a:pPr>
                        <a:lnSpc>
                          <a:spcPct val="107000"/>
                        </a:lnSpc>
                        <a:spcAft>
                          <a:spcPts val="800"/>
                        </a:spcAft>
                      </a:pPr>
                      <a:r>
                        <a:rPr lang="en-GB" sz="1400" b="0" kern="100">
                          <a:solidFill>
                            <a:schemeClr val="accent4">
                              <a:lumMod val="95000"/>
                              <a:lumOff val="5000"/>
                            </a:schemeClr>
                          </a:solidFill>
                          <a:effectLst/>
                        </a:rPr>
                        <a:t> </a:t>
                      </a:r>
                      <a:endParaRPr lang="en-GB" sz="1400" b="0" kern="100">
                        <a:solidFill>
                          <a:schemeClr val="accent4">
                            <a:lumMod val="95000"/>
                            <a:lumOff val="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6">
                        <a:lumMod val="60000"/>
                        <a:lumOff val="40000"/>
                      </a:schemeClr>
                    </a:solidFill>
                  </a:tcPr>
                </a:tc>
                <a:tc>
                  <a:txBody>
                    <a:bodyPr/>
                    <a:lstStyle/>
                    <a:p>
                      <a:pPr>
                        <a:lnSpc>
                          <a:spcPct val="107000"/>
                        </a:lnSpc>
                        <a:spcAft>
                          <a:spcPts val="800"/>
                        </a:spcAft>
                      </a:pPr>
                      <a:r>
                        <a:rPr lang="en-GB" sz="1400" kern="100" dirty="0">
                          <a:effectLst/>
                        </a:rPr>
                        <a:t>Hurt calculated to interfere with health of comfort</a:t>
                      </a:r>
                      <a:endParaRPr lang="en-GB"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6">
                        <a:lumMod val="40000"/>
                        <a:lumOff val="60000"/>
                      </a:schemeClr>
                    </a:solidFill>
                  </a:tcPr>
                </a:tc>
                <a:tc>
                  <a:txBody>
                    <a:bodyPr/>
                    <a:lstStyle/>
                    <a:p>
                      <a:pPr>
                        <a:lnSpc>
                          <a:spcPct val="107000"/>
                        </a:lnSpc>
                        <a:spcAft>
                          <a:spcPts val="800"/>
                        </a:spcAft>
                      </a:pPr>
                      <a:r>
                        <a:rPr lang="en-GB" sz="1400" kern="100">
                          <a:effectLst/>
                        </a:rPr>
                        <a:t>Does not need to be permanent of life threatening.</a:t>
                      </a:r>
                      <a:endParaRPr lang="en-GB"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6">
                        <a:lumMod val="20000"/>
                        <a:lumOff val="80000"/>
                      </a:schemeClr>
                    </a:solidFill>
                  </a:tcPr>
                </a:tc>
                <a:extLst>
                  <a:ext uri="{0D108BD9-81ED-4DB2-BD59-A6C34878D82A}">
                    <a16:rowId xmlns:a16="http://schemas.microsoft.com/office/drawing/2014/main" val="2961822157"/>
                  </a:ext>
                </a:extLst>
              </a:tr>
              <a:tr h="698225">
                <a:tc>
                  <a:txBody>
                    <a:bodyPr/>
                    <a:lstStyle/>
                    <a:p>
                      <a:pPr>
                        <a:lnSpc>
                          <a:spcPct val="107000"/>
                        </a:lnSpc>
                        <a:spcAft>
                          <a:spcPts val="800"/>
                        </a:spcAft>
                      </a:pPr>
                      <a:r>
                        <a:rPr lang="en-GB" sz="1400" b="0" kern="100">
                          <a:solidFill>
                            <a:schemeClr val="accent4">
                              <a:lumMod val="95000"/>
                              <a:lumOff val="5000"/>
                            </a:schemeClr>
                          </a:solidFill>
                          <a:effectLst/>
                        </a:rPr>
                        <a:t>No medical treatment</a:t>
                      </a:r>
                      <a:endParaRPr lang="en-GB" sz="1400" b="0" kern="100">
                        <a:solidFill>
                          <a:schemeClr val="accent4">
                            <a:lumMod val="95000"/>
                            <a:lumOff val="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6">
                        <a:lumMod val="60000"/>
                        <a:lumOff val="40000"/>
                      </a:schemeClr>
                    </a:solidFill>
                  </a:tcPr>
                </a:tc>
                <a:tc>
                  <a:txBody>
                    <a:bodyPr/>
                    <a:lstStyle/>
                    <a:p>
                      <a:pPr>
                        <a:lnSpc>
                          <a:spcPct val="107000"/>
                        </a:lnSpc>
                        <a:spcAft>
                          <a:spcPts val="800"/>
                        </a:spcAft>
                      </a:pPr>
                      <a:r>
                        <a:rPr lang="en-GB" sz="1400" kern="100">
                          <a:effectLst/>
                        </a:rPr>
                        <a:t>The need for medical treatment or at least medical assessment</a:t>
                      </a:r>
                      <a:endParaRPr lang="en-GB"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6">
                        <a:lumMod val="40000"/>
                        <a:lumOff val="60000"/>
                      </a:schemeClr>
                    </a:solidFill>
                  </a:tcPr>
                </a:tc>
                <a:tc>
                  <a:txBody>
                    <a:bodyPr/>
                    <a:lstStyle/>
                    <a:p>
                      <a:pPr>
                        <a:lnSpc>
                          <a:spcPct val="107000"/>
                        </a:lnSpc>
                        <a:spcAft>
                          <a:spcPts val="800"/>
                        </a:spcAft>
                      </a:pPr>
                      <a:r>
                        <a:rPr lang="en-GB" sz="1400" kern="100" dirty="0">
                          <a:effectLst/>
                        </a:rPr>
                        <a:t>Significant and sustained medical treatment (intensive care, blood transfusion)</a:t>
                      </a:r>
                      <a:endParaRPr lang="en-GB"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6">
                        <a:lumMod val="20000"/>
                        <a:lumOff val="80000"/>
                      </a:schemeClr>
                    </a:solidFill>
                  </a:tcPr>
                </a:tc>
                <a:extLst>
                  <a:ext uri="{0D108BD9-81ED-4DB2-BD59-A6C34878D82A}">
                    <a16:rowId xmlns:a16="http://schemas.microsoft.com/office/drawing/2014/main" val="3162122871"/>
                  </a:ext>
                </a:extLst>
              </a:tr>
              <a:tr h="1676476">
                <a:tc>
                  <a:txBody>
                    <a:bodyPr/>
                    <a:lstStyle/>
                    <a:p>
                      <a:pPr>
                        <a:lnSpc>
                          <a:spcPct val="107000"/>
                        </a:lnSpc>
                        <a:spcAft>
                          <a:spcPts val="800"/>
                        </a:spcAft>
                      </a:pPr>
                      <a:r>
                        <a:rPr lang="en-GB" sz="1400" b="0" kern="100">
                          <a:solidFill>
                            <a:schemeClr val="accent4">
                              <a:lumMod val="95000"/>
                              <a:lumOff val="5000"/>
                            </a:schemeClr>
                          </a:solidFill>
                          <a:effectLst/>
                        </a:rPr>
                        <a:t>Minor injuries – Grazes; Scratches; Abrasions; Minor bruising; Swellings; Reddening of the skin; Superficial cuts.</a:t>
                      </a:r>
                    </a:p>
                    <a:p>
                      <a:pPr>
                        <a:lnSpc>
                          <a:spcPct val="107000"/>
                        </a:lnSpc>
                        <a:spcAft>
                          <a:spcPts val="800"/>
                        </a:spcAft>
                      </a:pPr>
                      <a:r>
                        <a:rPr lang="en-GB" sz="1400" b="0" kern="100">
                          <a:solidFill>
                            <a:schemeClr val="accent4">
                              <a:lumMod val="95000"/>
                              <a:lumOff val="5000"/>
                            </a:schemeClr>
                          </a:solidFill>
                          <a:effectLst/>
                        </a:rPr>
                        <a:t> </a:t>
                      </a:r>
                      <a:endParaRPr lang="en-GB" sz="1400" b="0" kern="100">
                        <a:solidFill>
                          <a:schemeClr val="accent4">
                            <a:lumMod val="95000"/>
                            <a:lumOff val="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6">
                        <a:lumMod val="60000"/>
                        <a:lumOff val="40000"/>
                      </a:schemeClr>
                    </a:solidFill>
                  </a:tcPr>
                </a:tc>
                <a:tc>
                  <a:txBody>
                    <a:bodyPr/>
                    <a:lstStyle/>
                    <a:p>
                      <a:pPr>
                        <a:lnSpc>
                          <a:spcPct val="107000"/>
                        </a:lnSpc>
                        <a:spcAft>
                          <a:spcPts val="800"/>
                        </a:spcAft>
                      </a:pPr>
                      <a:r>
                        <a:rPr lang="en-GB" sz="1400" kern="100" dirty="0">
                          <a:effectLst/>
                        </a:rPr>
                        <a:t>Serious injury – damaged teeth or bones, extensive and severe bruising, cuts requiring suturing, loss of consciousness.</a:t>
                      </a:r>
                      <a:endParaRPr lang="en-GB"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6">
                        <a:lumMod val="40000"/>
                        <a:lumOff val="60000"/>
                      </a:schemeClr>
                    </a:solidFill>
                  </a:tcPr>
                </a:tc>
                <a:tc>
                  <a:txBody>
                    <a:bodyPr/>
                    <a:lstStyle/>
                    <a:p>
                      <a:pPr>
                        <a:lnSpc>
                          <a:spcPct val="107000"/>
                        </a:lnSpc>
                        <a:spcAft>
                          <a:spcPts val="800"/>
                        </a:spcAft>
                      </a:pPr>
                      <a:r>
                        <a:rPr lang="en-GB" sz="1400" kern="100" dirty="0">
                          <a:effectLst/>
                        </a:rPr>
                        <a:t>May be life changing injuries, but can be really serious injuries that are not permanent.</a:t>
                      </a:r>
                    </a:p>
                    <a:p>
                      <a:pPr>
                        <a:lnSpc>
                          <a:spcPct val="107000"/>
                        </a:lnSpc>
                        <a:spcAft>
                          <a:spcPts val="800"/>
                        </a:spcAft>
                      </a:pPr>
                      <a:r>
                        <a:rPr lang="en-GB" sz="1400" kern="100" dirty="0">
                          <a:effectLst/>
                        </a:rPr>
                        <a:t>Wound must also be really serious.</a:t>
                      </a:r>
                      <a:endParaRPr lang="en-GB"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6">
                        <a:lumMod val="20000"/>
                        <a:lumOff val="80000"/>
                      </a:schemeClr>
                    </a:solidFill>
                  </a:tcPr>
                </a:tc>
                <a:extLst>
                  <a:ext uri="{0D108BD9-81ED-4DB2-BD59-A6C34878D82A}">
                    <a16:rowId xmlns:a16="http://schemas.microsoft.com/office/drawing/2014/main" val="696441484"/>
                  </a:ext>
                </a:extLst>
              </a:tr>
              <a:tr h="1305705">
                <a:tc>
                  <a:txBody>
                    <a:bodyPr/>
                    <a:lstStyle/>
                    <a:p>
                      <a:pPr>
                        <a:lnSpc>
                          <a:spcPct val="107000"/>
                        </a:lnSpc>
                        <a:spcAft>
                          <a:spcPts val="800"/>
                        </a:spcAft>
                      </a:pPr>
                      <a:r>
                        <a:rPr lang="en-GB" sz="1400" b="0" kern="100" dirty="0">
                          <a:solidFill>
                            <a:schemeClr val="accent4">
                              <a:lumMod val="95000"/>
                              <a:lumOff val="5000"/>
                            </a:schemeClr>
                          </a:solidFill>
                          <a:effectLst/>
                        </a:rPr>
                        <a:t>Pushing or slapping</a:t>
                      </a:r>
                      <a:endParaRPr lang="en-GB" sz="1400" b="0" kern="100" dirty="0">
                        <a:solidFill>
                          <a:schemeClr val="accent4">
                            <a:lumMod val="95000"/>
                            <a:lumOff val="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6">
                        <a:lumMod val="60000"/>
                        <a:lumOff val="40000"/>
                      </a:schemeClr>
                    </a:solidFill>
                  </a:tcPr>
                </a:tc>
                <a:tc>
                  <a:txBody>
                    <a:bodyPr/>
                    <a:lstStyle/>
                    <a:p>
                      <a:pPr>
                        <a:lnSpc>
                          <a:spcPct val="107000"/>
                        </a:lnSpc>
                        <a:spcAft>
                          <a:spcPts val="800"/>
                        </a:spcAft>
                      </a:pPr>
                      <a:r>
                        <a:rPr lang="en-GB" sz="1400" kern="100" dirty="0">
                          <a:effectLst/>
                        </a:rPr>
                        <a:t>Circumstances more serious – i.e. threats, significant violence.</a:t>
                      </a:r>
                    </a:p>
                    <a:p>
                      <a:pPr>
                        <a:lnSpc>
                          <a:spcPct val="107000"/>
                        </a:lnSpc>
                        <a:spcAft>
                          <a:spcPts val="800"/>
                        </a:spcAft>
                      </a:pPr>
                      <a:r>
                        <a:rPr lang="en-GB" sz="1400" kern="100" dirty="0">
                          <a:effectLst/>
                        </a:rPr>
                        <a:t>Punching, kicking or head-butting. </a:t>
                      </a:r>
                      <a:endParaRPr lang="en-GB"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6">
                        <a:lumMod val="40000"/>
                        <a:lumOff val="60000"/>
                      </a:schemeClr>
                    </a:solidFill>
                  </a:tcPr>
                </a:tc>
                <a:tc>
                  <a:txBody>
                    <a:bodyPr/>
                    <a:lstStyle/>
                    <a:p>
                      <a:pPr>
                        <a:lnSpc>
                          <a:spcPct val="107000"/>
                        </a:lnSpc>
                        <a:spcAft>
                          <a:spcPts val="800"/>
                        </a:spcAft>
                      </a:pPr>
                      <a:r>
                        <a:rPr lang="en-GB" sz="1400" kern="100" dirty="0">
                          <a:effectLst/>
                        </a:rPr>
                        <a:t>Wound caused by knife or another weapon</a:t>
                      </a:r>
                      <a:endParaRPr lang="en-GB"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6">
                        <a:lumMod val="20000"/>
                        <a:lumOff val="80000"/>
                      </a:schemeClr>
                    </a:solidFill>
                  </a:tcPr>
                </a:tc>
                <a:extLst>
                  <a:ext uri="{0D108BD9-81ED-4DB2-BD59-A6C34878D82A}">
                    <a16:rowId xmlns:a16="http://schemas.microsoft.com/office/drawing/2014/main" val="3584149550"/>
                  </a:ext>
                </a:extLst>
              </a:tr>
            </a:tbl>
          </a:graphicData>
        </a:graphic>
      </p:graphicFrame>
      <p:sp>
        <p:nvSpPr>
          <p:cNvPr id="3" name="Rectangle 1">
            <a:extLst>
              <a:ext uri="{FF2B5EF4-FFF2-40B4-BE49-F238E27FC236}">
                <a16:creationId xmlns:a16="http://schemas.microsoft.com/office/drawing/2014/main" id="{DE45A15C-E47B-A412-3947-456CD9F9F974}"/>
              </a:ext>
            </a:extLst>
          </p:cNvPr>
          <p:cNvSpPr>
            <a:spLocks noChangeArrowheads="1"/>
          </p:cNvSpPr>
          <p:nvPr/>
        </p:nvSpPr>
        <p:spPr bwMode="auto">
          <a:xfrm>
            <a:off x="417259" y="1891896"/>
            <a:ext cx="11845859" cy="5798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GB"/>
          </a:p>
        </p:txBody>
      </p:sp>
    </p:spTree>
    <p:extLst>
      <p:ext uri="{BB962C8B-B14F-4D97-AF65-F5344CB8AC3E}">
        <p14:creationId xmlns:p14="http://schemas.microsoft.com/office/powerpoint/2010/main" val="8100799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734E5-5670-8E83-DDFE-8026110DAA98}"/>
              </a:ext>
            </a:extLst>
          </p:cNvPr>
          <p:cNvSpPr>
            <a:spLocks noGrp="1"/>
          </p:cNvSpPr>
          <p:nvPr>
            <p:ph type="title"/>
          </p:nvPr>
        </p:nvSpPr>
        <p:spPr/>
        <p:txBody>
          <a:bodyPr/>
          <a:lstStyle/>
          <a:p>
            <a:r>
              <a:rPr lang="en-GB" dirty="0"/>
              <a:t>Non-fatal offences against the person</a:t>
            </a:r>
          </a:p>
        </p:txBody>
      </p:sp>
      <p:sp>
        <p:nvSpPr>
          <p:cNvPr id="3" name="Content Placeholder 2">
            <a:extLst>
              <a:ext uri="{FF2B5EF4-FFF2-40B4-BE49-F238E27FC236}">
                <a16:creationId xmlns:a16="http://schemas.microsoft.com/office/drawing/2014/main" id="{0742050B-3E19-E421-68F7-01BC3F1059DC}"/>
              </a:ext>
            </a:extLst>
          </p:cNvPr>
          <p:cNvSpPr>
            <a:spLocks noGrp="1"/>
          </p:cNvSpPr>
          <p:nvPr>
            <p:ph idx="1"/>
          </p:nvPr>
        </p:nvSpPr>
        <p:spPr>
          <a:xfrm>
            <a:off x="684212" y="1989138"/>
            <a:ext cx="7848227" cy="3816350"/>
          </a:xfrm>
        </p:spPr>
        <p:txBody>
          <a:bodyPr/>
          <a:lstStyle/>
          <a:p>
            <a:r>
              <a:rPr lang="en-GB" sz="1600" b="1" dirty="0"/>
              <a:t>Assault</a:t>
            </a:r>
          </a:p>
          <a:p>
            <a:pPr>
              <a:buFont typeface="Arial" panose="020B0604020202020204" pitchFamily="34" charset="0"/>
              <a:buChar char="•"/>
            </a:pPr>
            <a:r>
              <a:rPr lang="en-GB" altLang="en-US" sz="1400" dirty="0"/>
              <a:t>Any act by D which, intentionally or recklessly, </a:t>
            </a:r>
            <a:r>
              <a:rPr lang="en-GB" altLang="en-US" sz="1400" dirty="0">
                <a:solidFill>
                  <a:srgbClr val="FF0000"/>
                </a:solidFill>
              </a:rPr>
              <a:t>causes V to apprehend immediate and unlawful personal violence</a:t>
            </a:r>
          </a:p>
          <a:p>
            <a:r>
              <a:rPr lang="en-GB" sz="1600" b="1" dirty="0"/>
              <a:t>Battery</a:t>
            </a:r>
          </a:p>
          <a:p>
            <a:pPr>
              <a:buFont typeface="Arial" panose="020B0604020202020204" pitchFamily="34" charset="0"/>
              <a:buChar char="•"/>
            </a:pPr>
            <a:r>
              <a:rPr lang="en-GB" altLang="en-US" sz="1400" dirty="0"/>
              <a:t>Any conduct by D which, intentionally or recklessly, i</a:t>
            </a:r>
            <a:r>
              <a:rPr lang="en-GB" altLang="en-US" sz="1400" dirty="0">
                <a:solidFill>
                  <a:srgbClr val="FF0000"/>
                </a:solidFill>
              </a:rPr>
              <a:t>nflicts unlawful personal violence upon V</a:t>
            </a:r>
          </a:p>
          <a:p>
            <a:r>
              <a:rPr lang="en-GB" sz="1600" b="1" dirty="0"/>
              <a:t>Assault Occasioning Actual Bodily Harm</a:t>
            </a:r>
          </a:p>
          <a:p>
            <a:pPr>
              <a:buFont typeface="Arial" panose="020B0604020202020204" pitchFamily="34" charset="0"/>
              <a:buChar char="•"/>
            </a:pPr>
            <a:r>
              <a:rPr lang="en-US" altLang="en-US" sz="1400" dirty="0"/>
              <a:t>assault (or battery) </a:t>
            </a:r>
            <a:r>
              <a:rPr lang="en-US" altLang="en-US" sz="1400" dirty="0">
                <a:solidFill>
                  <a:srgbClr val="FF0000"/>
                </a:solidFill>
              </a:rPr>
              <a:t>occasioning actual bodily harm</a:t>
            </a:r>
            <a:endParaRPr lang="en-GB" sz="1400" dirty="0">
              <a:solidFill>
                <a:srgbClr val="FF0000"/>
              </a:solidFill>
            </a:endParaRPr>
          </a:p>
          <a:p>
            <a:r>
              <a:rPr lang="en-GB" sz="1600" b="1" dirty="0"/>
              <a:t>Section 20</a:t>
            </a:r>
          </a:p>
          <a:p>
            <a:pPr>
              <a:buFont typeface="Arial" panose="020B0604020202020204" pitchFamily="34" charset="0"/>
              <a:buChar char="•"/>
            </a:pPr>
            <a:r>
              <a:rPr lang="en-US" altLang="en-US" sz="1400" dirty="0"/>
              <a:t>Whosoever shall unlawfully and maliciously </a:t>
            </a:r>
            <a:r>
              <a:rPr lang="en-US" altLang="en-US" sz="1400" dirty="0">
                <a:solidFill>
                  <a:srgbClr val="FF0000"/>
                </a:solidFill>
              </a:rPr>
              <a:t>wound or inflict any grievous bodily harm upon any other person.</a:t>
            </a:r>
          </a:p>
          <a:p>
            <a:pPr marL="0" indent="0"/>
            <a:r>
              <a:rPr lang="en-US" sz="1600" b="1" dirty="0"/>
              <a:t>Section 18</a:t>
            </a:r>
          </a:p>
          <a:p>
            <a:pPr marL="285750" indent="-285750">
              <a:buFont typeface="Arial" panose="020B0604020202020204" pitchFamily="34" charset="0"/>
              <a:buChar char="•"/>
            </a:pPr>
            <a:r>
              <a:rPr lang="en-GB" altLang="en-US" sz="1400" dirty="0"/>
              <a:t>Whosoever shall unlawfully and maliciously by any means whatsoever </a:t>
            </a:r>
            <a:r>
              <a:rPr lang="en-GB" altLang="en-US" sz="1400" dirty="0">
                <a:solidFill>
                  <a:srgbClr val="FF0000"/>
                </a:solidFill>
              </a:rPr>
              <a:t>wound or cause any grievous bodily harm to any person, </a:t>
            </a:r>
            <a:r>
              <a:rPr lang="en-GB" altLang="en-US" sz="1400" dirty="0"/>
              <a:t>with intent, to do some grievous bodily harm to any person</a:t>
            </a:r>
            <a:endParaRPr lang="en-US" sz="1400" dirty="0"/>
          </a:p>
          <a:p>
            <a:pPr marL="0" indent="0"/>
            <a:endParaRPr lang="en-GB" dirty="0"/>
          </a:p>
          <a:p>
            <a:endParaRPr lang="en-GB" dirty="0"/>
          </a:p>
          <a:p>
            <a:endParaRPr lang="en-GB" dirty="0"/>
          </a:p>
        </p:txBody>
      </p:sp>
    </p:spTree>
    <p:extLst>
      <p:ext uri="{BB962C8B-B14F-4D97-AF65-F5344CB8AC3E}">
        <p14:creationId xmlns:p14="http://schemas.microsoft.com/office/powerpoint/2010/main" val="34882810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48AC3D6-D497-00A6-8E53-6A87002A4D7D}"/>
              </a:ext>
            </a:extLst>
          </p:cNvPr>
          <p:cNvSpPr>
            <a:spLocks noGrp="1"/>
          </p:cNvSpPr>
          <p:nvPr>
            <p:ph type="title"/>
          </p:nvPr>
        </p:nvSpPr>
        <p:spPr>
          <a:xfrm>
            <a:off x="722312" y="4406900"/>
            <a:ext cx="7810127" cy="1362075"/>
          </a:xfrm>
        </p:spPr>
        <p:txBody>
          <a:bodyPr/>
          <a:lstStyle/>
          <a:p>
            <a:r>
              <a:rPr lang="en-GB" dirty="0"/>
              <a:t>Step 3: identifying d and v</a:t>
            </a:r>
          </a:p>
        </p:txBody>
      </p:sp>
    </p:spTree>
    <p:extLst>
      <p:ext uri="{BB962C8B-B14F-4D97-AF65-F5344CB8AC3E}">
        <p14:creationId xmlns:p14="http://schemas.microsoft.com/office/powerpoint/2010/main" val="14745792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2426AD-5AF2-0087-0A2A-053B54048CEE}"/>
              </a:ext>
            </a:extLst>
          </p:cNvPr>
          <p:cNvSpPr>
            <a:spLocks noGrp="1"/>
          </p:cNvSpPr>
          <p:nvPr>
            <p:ph idx="1"/>
          </p:nvPr>
        </p:nvSpPr>
        <p:spPr>
          <a:xfrm>
            <a:off x="684213" y="332656"/>
            <a:ext cx="7772400" cy="5472832"/>
          </a:xfrm>
        </p:spPr>
        <p:txBody>
          <a:bodyPr anchor="ctr"/>
          <a:lstStyle/>
          <a:p>
            <a:pPr marL="0" indent="0" algn="just">
              <a:spcBef>
                <a:spcPts val="0"/>
              </a:spcBef>
              <a:spcAft>
                <a:spcPts val="600"/>
              </a:spcAft>
            </a:pPr>
            <a:endParaRPr lang="en-GB" sz="2000" dirty="0"/>
          </a:p>
          <a:p>
            <a:pPr marL="0" indent="0" algn="just">
              <a:spcBef>
                <a:spcPts val="0"/>
              </a:spcBef>
              <a:spcAft>
                <a:spcPts val="600"/>
              </a:spcAft>
            </a:pPr>
            <a:r>
              <a:rPr lang="en-GB" sz="2000" dirty="0">
                <a:solidFill>
                  <a:srgbClr val="FF0000"/>
                </a:solidFill>
              </a:rPr>
              <a:t>Tony’s foot collides directly with Hamza’s left ankle, causing Hamza to trip, land on his face, and break his nose.</a:t>
            </a:r>
            <a:r>
              <a:rPr lang="en-GB" sz="2000" dirty="0"/>
              <a:t>  </a:t>
            </a:r>
          </a:p>
          <a:p>
            <a:pPr marL="285750" indent="-285750" algn="just">
              <a:spcBef>
                <a:spcPts val="0"/>
              </a:spcBef>
              <a:spcAft>
                <a:spcPts val="600"/>
              </a:spcAft>
              <a:buFont typeface="Arial" panose="020B0604020202020204" pitchFamily="34" charset="0"/>
              <a:buChar char="•"/>
            </a:pPr>
            <a:r>
              <a:rPr lang="en-GB" sz="2000" dirty="0"/>
              <a:t>D = Tony</a:t>
            </a:r>
          </a:p>
          <a:p>
            <a:pPr marL="285750" indent="-285750" algn="just">
              <a:spcBef>
                <a:spcPts val="0"/>
              </a:spcBef>
              <a:spcAft>
                <a:spcPts val="600"/>
              </a:spcAft>
              <a:buFont typeface="Arial" panose="020B0604020202020204" pitchFamily="34" charset="0"/>
              <a:buChar char="•"/>
            </a:pPr>
            <a:r>
              <a:rPr lang="en-GB" sz="2000" dirty="0"/>
              <a:t>V = Hamza</a:t>
            </a:r>
          </a:p>
          <a:p>
            <a:pPr marL="0" indent="0" algn="just">
              <a:spcBef>
                <a:spcPts val="0"/>
              </a:spcBef>
              <a:spcAft>
                <a:spcPts val="600"/>
              </a:spcAft>
            </a:pPr>
            <a:r>
              <a:rPr lang="en-GB" sz="2000" dirty="0">
                <a:solidFill>
                  <a:srgbClr val="FF0000"/>
                </a:solidFill>
              </a:rPr>
              <a:t>Carlos, a member of “Small Town United” is outraged. He shouts at Tony</a:t>
            </a:r>
            <a:endParaRPr lang="en-GB" sz="2000" dirty="0"/>
          </a:p>
          <a:p>
            <a:pPr marL="285750" indent="-285750" algn="just">
              <a:spcBef>
                <a:spcPts val="0"/>
              </a:spcBef>
              <a:spcAft>
                <a:spcPts val="600"/>
              </a:spcAft>
              <a:buFont typeface="Arial" panose="020B0604020202020204" pitchFamily="34" charset="0"/>
              <a:buChar char="•"/>
            </a:pPr>
            <a:r>
              <a:rPr lang="en-GB" sz="2000" dirty="0"/>
              <a:t>D = Carlos</a:t>
            </a:r>
          </a:p>
          <a:p>
            <a:pPr marL="285750" indent="-285750" algn="just">
              <a:spcBef>
                <a:spcPts val="0"/>
              </a:spcBef>
              <a:spcAft>
                <a:spcPts val="600"/>
              </a:spcAft>
              <a:buFont typeface="Arial" panose="020B0604020202020204" pitchFamily="34" charset="0"/>
              <a:buChar char="•"/>
            </a:pPr>
            <a:r>
              <a:rPr lang="en-GB" sz="2000" dirty="0"/>
              <a:t>V = Tony</a:t>
            </a:r>
            <a:endParaRPr lang="en-GB" sz="2000" dirty="0">
              <a:solidFill>
                <a:srgbClr val="FF0000"/>
              </a:solidFill>
            </a:endParaRPr>
          </a:p>
          <a:p>
            <a:pPr marL="0" indent="0" algn="just">
              <a:spcBef>
                <a:spcPts val="0"/>
              </a:spcBef>
              <a:spcAft>
                <a:spcPts val="600"/>
              </a:spcAft>
            </a:pPr>
            <a:r>
              <a:rPr lang="en-GB" sz="2000" dirty="0">
                <a:solidFill>
                  <a:srgbClr val="FF0000"/>
                </a:solidFill>
              </a:rPr>
              <a:t>Nikita, a teammate of Carlos, taps Carlos on the back</a:t>
            </a:r>
          </a:p>
          <a:p>
            <a:pPr marL="285750" indent="-285750" algn="just">
              <a:spcBef>
                <a:spcPts val="0"/>
              </a:spcBef>
              <a:spcAft>
                <a:spcPts val="600"/>
              </a:spcAft>
              <a:buFont typeface="Arial" panose="020B0604020202020204" pitchFamily="34" charset="0"/>
              <a:buChar char="•"/>
            </a:pPr>
            <a:r>
              <a:rPr lang="en-GB" sz="2000" dirty="0"/>
              <a:t>D = Nikita</a:t>
            </a:r>
          </a:p>
          <a:p>
            <a:pPr marL="285750" indent="-285750" algn="just">
              <a:spcBef>
                <a:spcPts val="0"/>
              </a:spcBef>
              <a:spcAft>
                <a:spcPts val="600"/>
              </a:spcAft>
              <a:buFont typeface="Arial" panose="020B0604020202020204" pitchFamily="34" charset="0"/>
              <a:buChar char="•"/>
            </a:pPr>
            <a:r>
              <a:rPr lang="en-GB" sz="2000" dirty="0"/>
              <a:t>V = Carlos</a:t>
            </a:r>
            <a:endParaRPr lang="en-GB" sz="2000" dirty="0">
              <a:solidFill>
                <a:srgbClr val="FF0000"/>
              </a:solidFill>
            </a:endParaRPr>
          </a:p>
          <a:p>
            <a:pPr marL="0" indent="0" algn="just">
              <a:spcBef>
                <a:spcPts val="0"/>
              </a:spcBef>
              <a:spcAft>
                <a:spcPts val="600"/>
              </a:spcAft>
            </a:pPr>
            <a:r>
              <a:rPr lang="en-GB" sz="2000" dirty="0">
                <a:solidFill>
                  <a:srgbClr val="FF0000"/>
                </a:solidFill>
              </a:rPr>
              <a:t>Johannes accidentally drops the pole, which hits Oti on the head. Oti is knocked unconscious and sustains a brain injury</a:t>
            </a:r>
          </a:p>
          <a:p>
            <a:pPr marL="285750" indent="-285750" algn="just">
              <a:spcBef>
                <a:spcPts val="0"/>
              </a:spcBef>
              <a:spcAft>
                <a:spcPts val="600"/>
              </a:spcAft>
              <a:buFont typeface="Arial" panose="020B0604020202020204" pitchFamily="34" charset="0"/>
              <a:buChar char="•"/>
            </a:pPr>
            <a:r>
              <a:rPr lang="en-GB" sz="2000" dirty="0"/>
              <a:t>D = Johannes</a:t>
            </a:r>
          </a:p>
          <a:p>
            <a:pPr marL="285750" indent="-285750" algn="just">
              <a:spcBef>
                <a:spcPts val="0"/>
              </a:spcBef>
              <a:spcAft>
                <a:spcPts val="600"/>
              </a:spcAft>
              <a:buFont typeface="Arial" panose="020B0604020202020204" pitchFamily="34" charset="0"/>
              <a:buChar char="•"/>
            </a:pPr>
            <a:r>
              <a:rPr lang="en-GB" sz="2000" dirty="0"/>
              <a:t>V = Oti</a:t>
            </a:r>
          </a:p>
        </p:txBody>
      </p:sp>
    </p:spTree>
    <p:extLst>
      <p:ext uri="{BB962C8B-B14F-4D97-AF65-F5344CB8AC3E}">
        <p14:creationId xmlns:p14="http://schemas.microsoft.com/office/powerpoint/2010/main" val="21552735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48AC3D6-D497-00A6-8E53-6A87002A4D7D}"/>
              </a:ext>
            </a:extLst>
          </p:cNvPr>
          <p:cNvSpPr>
            <a:spLocks noGrp="1"/>
          </p:cNvSpPr>
          <p:nvPr>
            <p:ph type="title"/>
          </p:nvPr>
        </p:nvSpPr>
        <p:spPr>
          <a:xfrm>
            <a:off x="722312" y="4406900"/>
            <a:ext cx="7810127" cy="1362075"/>
          </a:xfrm>
        </p:spPr>
        <p:txBody>
          <a:bodyPr/>
          <a:lstStyle/>
          <a:p>
            <a:r>
              <a:rPr lang="en-GB" dirty="0"/>
              <a:t>Step 4: identifying </a:t>
            </a:r>
            <a:r>
              <a:rPr lang="en-GB" dirty="0" err="1"/>
              <a:t>mens</a:t>
            </a:r>
            <a:r>
              <a:rPr lang="en-GB" dirty="0"/>
              <a:t> rea</a:t>
            </a:r>
          </a:p>
        </p:txBody>
      </p:sp>
    </p:spTree>
    <p:extLst>
      <p:ext uri="{BB962C8B-B14F-4D97-AF65-F5344CB8AC3E}">
        <p14:creationId xmlns:p14="http://schemas.microsoft.com/office/powerpoint/2010/main" val="2341062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2426AD-5AF2-0087-0A2A-053B54048CEE}"/>
              </a:ext>
            </a:extLst>
          </p:cNvPr>
          <p:cNvSpPr>
            <a:spLocks noGrp="1"/>
          </p:cNvSpPr>
          <p:nvPr>
            <p:ph idx="1"/>
          </p:nvPr>
        </p:nvSpPr>
        <p:spPr>
          <a:xfrm>
            <a:off x="684213" y="332656"/>
            <a:ext cx="7772400" cy="5472832"/>
          </a:xfrm>
        </p:spPr>
        <p:txBody>
          <a:bodyPr anchor="ctr"/>
          <a:lstStyle/>
          <a:p>
            <a:pPr marL="0" indent="0" algn="just">
              <a:spcBef>
                <a:spcPts val="0"/>
              </a:spcBef>
              <a:spcAft>
                <a:spcPts val="600"/>
              </a:spcAft>
            </a:pPr>
            <a:r>
              <a:rPr lang="en-GB" sz="1400" dirty="0"/>
              <a:t>The local football team “Small Town United” are playing their rival club “Large Village Football Club” in the cup final of the year. The winner of the match will take home the trophy. Everyone knows these two teams hate each other and that emotions run high when they play; the fact that it is the cup final adds to the tense atmosphere. Five minutes before the end of the match, the score is 3-2 to “Small Town United”. Hamza, the “Small Town United” captain, who has scored three goals already, has the ball and is about to take another shot. </a:t>
            </a:r>
            <a:r>
              <a:rPr lang="en-GB" sz="1400" b="1" dirty="0">
                <a:solidFill>
                  <a:srgbClr val="00B050"/>
                </a:solidFill>
              </a:rPr>
              <a:t>Tony, a defender for the other team, is livid that his team are losing. He is determined to stop Hamza from scoring for the rest of the game</a:t>
            </a:r>
            <a:r>
              <a:rPr lang="en-GB" sz="1400" b="1" dirty="0"/>
              <a:t>, </a:t>
            </a:r>
            <a:r>
              <a:rPr lang="en-GB" sz="1400" dirty="0"/>
              <a:t>and so skids towards him at speed. Tony’s foot collides directly with Hamza’s left ankle, causing Hamza to trip, land on his face, and break his nose.  </a:t>
            </a:r>
          </a:p>
          <a:p>
            <a:pPr marL="0" indent="0" algn="just">
              <a:spcBef>
                <a:spcPts val="0"/>
              </a:spcBef>
              <a:spcAft>
                <a:spcPts val="600"/>
              </a:spcAft>
            </a:pPr>
            <a:r>
              <a:rPr lang="en-GB" sz="1400" b="1" dirty="0">
                <a:solidFill>
                  <a:srgbClr val="00B050"/>
                </a:solidFill>
              </a:rPr>
              <a:t>Carlos, a member of “Small Town United” is outraged. He shouts at Tony: “You did that on purpose! You weren’t aiming for the ball but wanted to kick Hamza. I’m going to get you for that”</a:t>
            </a:r>
            <a:r>
              <a:rPr lang="en-GB" sz="1400" b="1" dirty="0"/>
              <a:t>. </a:t>
            </a:r>
            <a:r>
              <a:rPr lang="en-GB" sz="1400" dirty="0"/>
              <a:t>Alarmed by how angry Carlos appears to be, Tony goes to stand with his own team, away from Carlos. </a:t>
            </a:r>
            <a:r>
              <a:rPr lang="en-GB" sz="1400" b="1" dirty="0">
                <a:solidFill>
                  <a:srgbClr val="00B050"/>
                </a:solidFill>
              </a:rPr>
              <a:t>Nikita, a teammate of Carlos, taps Carlos </a:t>
            </a:r>
            <a:r>
              <a:rPr lang="en-GB" sz="1400" dirty="0"/>
              <a:t>on the back saying, “Leave it, Carlos, he’s not worth it”. Carlos turns and walks away.  </a:t>
            </a:r>
          </a:p>
          <a:p>
            <a:pPr marL="0" indent="0" algn="just">
              <a:spcBef>
                <a:spcPts val="0"/>
              </a:spcBef>
              <a:spcAft>
                <a:spcPts val="600"/>
              </a:spcAft>
            </a:pPr>
            <a:r>
              <a:rPr lang="en-GB" sz="1400" dirty="0"/>
              <a:t>The referee, Oti, tries to calm the situation down. She declares that Tony’s “tackle” was a foul and that a free kick will be awarded to “Small Town United”. This decision enrages the players of “Large Village Football Club”. </a:t>
            </a:r>
            <a:r>
              <a:rPr lang="en-GB" sz="1400" b="1" dirty="0">
                <a:solidFill>
                  <a:srgbClr val="00B050"/>
                </a:solidFill>
              </a:rPr>
              <a:t>Johannes, a member of “Large Village Football Club” is so angry by the decision that he picks up a metal pole from the side line and charges towards Carlos</a:t>
            </a:r>
            <a:r>
              <a:rPr lang="en-GB" sz="1400" b="1" dirty="0"/>
              <a:t>. </a:t>
            </a:r>
            <a:r>
              <a:rPr lang="en-GB" sz="1400" dirty="0"/>
              <a:t>Johannes swings the pole behind him so that he can hit Carlos with force; however, in so doing, Johannes accidentally drops the pole, which hits Oti on the head. Oti is knocked unconscious and sustains a brain injury, requiring surgery to release the swelling on her brain. The surgery is successful, and she makes a full recovery. </a:t>
            </a:r>
          </a:p>
          <a:p>
            <a:pPr marL="0" indent="0" algn="just">
              <a:spcBef>
                <a:spcPts val="0"/>
              </a:spcBef>
              <a:spcAft>
                <a:spcPts val="600"/>
              </a:spcAft>
            </a:pPr>
            <a:r>
              <a:rPr lang="en-GB" sz="1400" dirty="0"/>
              <a:t>Discuss any criminal liability that may arise as well as the defence of consent.</a:t>
            </a:r>
            <a:endParaRPr lang="en-GB" dirty="0"/>
          </a:p>
        </p:txBody>
      </p:sp>
    </p:spTree>
    <p:extLst>
      <p:ext uri="{BB962C8B-B14F-4D97-AF65-F5344CB8AC3E}">
        <p14:creationId xmlns:p14="http://schemas.microsoft.com/office/powerpoint/2010/main" val="19962990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734E5-5670-8E83-DDFE-8026110DAA98}"/>
              </a:ext>
            </a:extLst>
          </p:cNvPr>
          <p:cNvSpPr>
            <a:spLocks noGrp="1"/>
          </p:cNvSpPr>
          <p:nvPr>
            <p:ph type="title"/>
          </p:nvPr>
        </p:nvSpPr>
        <p:spPr/>
        <p:txBody>
          <a:bodyPr/>
          <a:lstStyle/>
          <a:p>
            <a:r>
              <a:rPr lang="en-GB" dirty="0"/>
              <a:t>Non-fatal offences against the person</a:t>
            </a:r>
          </a:p>
        </p:txBody>
      </p:sp>
      <p:sp>
        <p:nvSpPr>
          <p:cNvPr id="3" name="Content Placeholder 2">
            <a:extLst>
              <a:ext uri="{FF2B5EF4-FFF2-40B4-BE49-F238E27FC236}">
                <a16:creationId xmlns:a16="http://schemas.microsoft.com/office/drawing/2014/main" id="{0742050B-3E19-E421-68F7-01BC3F1059DC}"/>
              </a:ext>
            </a:extLst>
          </p:cNvPr>
          <p:cNvSpPr>
            <a:spLocks noGrp="1"/>
          </p:cNvSpPr>
          <p:nvPr>
            <p:ph idx="1"/>
          </p:nvPr>
        </p:nvSpPr>
        <p:spPr>
          <a:xfrm>
            <a:off x="684212" y="1989138"/>
            <a:ext cx="7848227" cy="3816350"/>
          </a:xfrm>
        </p:spPr>
        <p:txBody>
          <a:bodyPr/>
          <a:lstStyle/>
          <a:p>
            <a:r>
              <a:rPr lang="en-GB" sz="1600" b="1" dirty="0"/>
              <a:t>Assault</a:t>
            </a:r>
          </a:p>
          <a:p>
            <a:pPr>
              <a:buFont typeface="Arial" panose="020B0604020202020204" pitchFamily="34" charset="0"/>
              <a:buChar char="•"/>
            </a:pPr>
            <a:r>
              <a:rPr lang="en-GB" altLang="en-US" sz="1400" dirty="0"/>
              <a:t>Any act by D which, </a:t>
            </a:r>
            <a:r>
              <a:rPr lang="en-GB" altLang="en-US" sz="1400" dirty="0">
                <a:solidFill>
                  <a:srgbClr val="00B050"/>
                </a:solidFill>
              </a:rPr>
              <a:t>intentionally or recklessly</a:t>
            </a:r>
            <a:r>
              <a:rPr lang="en-GB" altLang="en-US" sz="1400" dirty="0"/>
              <a:t>, causes V to apprehend immediate and unlawful personal violence</a:t>
            </a:r>
          </a:p>
          <a:p>
            <a:r>
              <a:rPr lang="en-GB" sz="1600" b="1" dirty="0"/>
              <a:t>Battery</a:t>
            </a:r>
          </a:p>
          <a:p>
            <a:pPr>
              <a:buFont typeface="Arial" panose="020B0604020202020204" pitchFamily="34" charset="0"/>
              <a:buChar char="•"/>
            </a:pPr>
            <a:r>
              <a:rPr lang="en-GB" altLang="en-US" sz="1400" dirty="0"/>
              <a:t>Any conduct by D which, </a:t>
            </a:r>
            <a:r>
              <a:rPr lang="en-GB" altLang="en-US" sz="1400" dirty="0">
                <a:solidFill>
                  <a:srgbClr val="00B050"/>
                </a:solidFill>
              </a:rPr>
              <a:t>intentionally or recklessly</a:t>
            </a:r>
            <a:r>
              <a:rPr lang="en-GB" altLang="en-US" sz="1400" dirty="0"/>
              <a:t>, inflicts unlawful personal violence upon V</a:t>
            </a:r>
          </a:p>
          <a:p>
            <a:r>
              <a:rPr lang="en-GB" sz="1600" b="1" dirty="0"/>
              <a:t>Assault Occasioning Actual Bodily Harm</a:t>
            </a:r>
          </a:p>
          <a:p>
            <a:pPr>
              <a:buFont typeface="Arial" panose="020B0604020202020204" pitchFamily="34" charset="0"/>
              <a:buChar char="•"/>
            </a:pPr>
            <a:r>
              <a:rPr lang="en-US" altLang="en-US" sz="1400" dirty="0"/>
              <a:t>assault (or battery) occasioning actual bodily harm</a:t>
            </a:r>
            <a:endParaRPr lang="en-GB" sz="1400" dirty="0"/>
          </a:p>
          <a:p>
            <a:r>
              <a:rPr lang="en-GB" sz="1600" b="1" dirty="0"/>
              <a:t>Section 20</a:t>
            </a:r>
          </a:p>
          <a:p>
            <a:pPr>
              <a:buFont typeface="Arial" panose="020B0604020202020204" pitchFamily="34" charset="0"/>
              <a:buChar char="•"/>
            </a:pPr>
            <a:r>
              <a:rPr lang="en-US" altLang="en-US" sz="1400" dirty="0"/>
              <a:t>Whosoever shall unlawfully and </a:t>
            </a:r>
            <a:r>
              <a:rPr lang="en-US" altLang="en-US" sz="1400" dirty="0">
                <a:solidFill>
                  <a:srgbClr val="00B050"/>
                </a:solidFill>
              </a:rPr>
              <a:t>maliciously wound </a:t>
            </a:r>
            <a:r>
              <a:rPr lang="en-US" altLang="en-US" sz="1400" dirty="0"/>
              <a:t>or inflict any grievous bodily harm upon any other person.</a:t>
            </a:r>
          </a:p>
          <a:p>
            <a:pPr marL="0" indent="0"/>
            <a:r>
              <a:rPr lang="en-US" sz="1600" b="1" dirty="0"/>
              <a:t>Section 18</a:t>
            </a:r>
          </a:p>
          <a:p>
            <a:pPr marL="285750" indent="-285750">
              <a:buFont typeface="Arial" panose="020B0604020202020204" pitchFamily="34" charset="0"/>
              <a:buChar char="•"/>
            </a:pPr>
            <a:r>
              <a:rPr lang="en-GB" altLang="en-US" sz="1400" dirty="0"/>
              <a:t>Whosoever shall unlawfully and </a:t>
            </a:r>
            <a:r>
              <a:rPr lang="en-GB" altLang="en-US" sz="1400" dirty="0">
                <a:solidFill>
                  <a:srgbClr val="00B050"/>
                </a:solidFill>
              </a:rPr>
              <a:t>maliciously</a:t>
            </a:r>
            <a:r>
              <a:rPr lang="en-GB" altLang="en-US" sz="1400" dirty="0"/>
              <a:t> by any means whatsoever wound or cause any grievous bodily harm to any person</a:t>
            </a:r>
            <a:r>
              <a:rPr lang="en-GB" altLang="en-US" sz="1400" dirty="0">
                <a:solidFill>
                  <a:srgbClr val="00B050"/>
                </a:solidFill>
              </a:rPr>
              <a:t>, with intent, to do some grievous bodily harm to any person</a:t>
            </a:r>
            <a:endParaRPr lang="en-US" sz="1400" dirty="0">
              <a:solidFill>
                <a:srgbClr val="00B050"/>
              </a:solidFill>
            </a:endParaRPr>
          </a:p>
          <a:p>
            <a:pPr marL="0" indent="0"/>
            <a:endParaRPr lang="en-GB" dirty="0"/>
          </a:p>
          <a:p>
            <a:endParaRPr lang="en-GB" dirty="0"/>
          </a:p>
          <a:p>
            <a:endParaRPr lang="en-GB" dirty="0"/>
          </a:p>
        </p:txBody>
      </p:sp>
    </p:spTree>
    <p:extLst>
      <p:ext uri="{BB962C8B-B14F-4D97-AF65-F5344CB8AC3E}">
        <p14:creationId xmlns:p14="http://schemas.microsoft.com/office/powerpoint/2010/main" val="14332727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2426AD-5AF2-0087-0A2A-053B54048CEE}"/>
              </a:ext>
            </a:extLst>
          </p:cNvPr>
          <p:cNvSpPr>
            <a:spLocks noGrp="1"/>
          </p:cNvSpPr>
          <p:nvPr>
            <p:ph idx="1"/>
          </p:nvPr>
        </p:nvSpPr>
        <p:spPr>
          <a:xfrm>
            <a:off x="684213" y="332656"/>
            <a:ext cx="7772400" cy="5472832"/>
          </a:xfrm>
        </p:spPr>
        <p:txBody>
          <a:bodyPr anchor="ctr"/>
          <a:lstStyle/>
          <a:p>
            <a:pPr marL="0" indent="0" algn="just">
              <a:spcBef>
                <a:spcPts val="0"/>
              </a:spcBef>
              <a:spcAft>
                <a:spcPts val="600"/>
              </a:spcAft>
            </a:pPr>
            <a:r>
              <a:rPr lang="en-GB" sz="1600" dirty="0">
                <a:solidFill>
                  <a:srgbClr val="00B050"/>
                </a:solidFill>
              </a:rPr>
              <a:t>Tony, a defender for the other team, is livid that his team are losing. He is determined to stop Hamza from scoring for the rest of the game</a:t>
            </a:r>
            <a:endParaRPr lang="en-GB" sz="1600" dirty="0"/>
          </a:p>
          <a:p>
            <a:pPr marL="285750" indent="-285750" algn="just">
              <a:spcBef>
                <a:spcPts val="0"/>
              </a:spcBef>
              <a:spcAft>
                <a:spcPts val="600"/>
              </a:spcAft>
              <a:buFont typeface="Arial" panose="020B0604020202020204" pitchFamily="34" charset="0"/>
              <a:buChar char="•"/>
            </a:pPr>
            <a:r>
              <a:rPr lang="en-GB" sz="1600" dirty="0"/>
              <a:t>ABH: intention or recklessness as to the base offence (battery)</a:t>
            </a:r>
          </a:p>
          <a:p>
            <a:pPr marL="0" indent="0" algn="just">
              <a:spcBef>
                <a:spcPts val="0"/>
              </a:spcBef>
              <a:spcAft>
                <a:spcPts val="600"/>
              </a:spcAft>
            </a:pPr>
            <a:endParaRPr lang="en-GB" sz="1600" dirty="0">
              <a:solidFill>
                <a:srgbClr val="00B050"/>
              </a:solidFill>
            </a:endParaRPr>
          </a:p>
          <a:p>
            <a:pPr marL="0" indent="0" algn="just">
              <a:spcBef>
                <a:spcPts val="0"/>
              </a:spcBef>
              <a:spcAft>
                <a:spcPts val="600"/>
              </a:spcAft>
            </a:pPr>
            <a:r>
              <a:rPr lang="en-GB" sz="1600" dirty="0">
                <a:solidFill>
                  <a:srgbClr val="00B050"/>
                </a:solidFill>
              </a:rPr>
              <a:t>Carlos, a member of “Small Town United” is outraged. He shouts at Tony: “You did that on purpose! You weren’t aiming for the ball but wanted to kick Hamza. I’m going to get you for that”</a:t>
            </a:r>
            <a:r>
              <a:rPr lang="en-GB" sz="1600" dirty="0"/>
              <a:t>. </a:t>
            </a:r>
          </a:p>
          <a:p>
            <a:pPr marL="285750" indent="-285750" algn="just">
              <a:spcBef>
                <a:spcPts val="0"/>
              </a:spcBef>
              <a:spcAft>
                <a:spcPts val="600"/>
              </a:spcAft>
              <a:buFont typeface="Arial" panose="020B0604020202020204" pitchFamily="34" charset="0"/>
              <a:buChar char="•"/>
            </a:pPr>
            <a:r>
              <a:rPr lang="en-GB" sz="1600" dirty="0"/>
              <a:t>Assault: intention or recklessness </a:t>
            </a:r>
          </a:p>
          <a:p>
            <a:pPr marL="0" indent="0" algn="just">
              <a:spcBef>
                <a:spcPts val="0"/>
              </a:spcBef>
              <a:spcAft>
                <a:spcPts val="600"/>
              </a:spcAft>
            </a:pPr>
            <a:endParaRPr lang="en-GB" sz="1600" dirty="0">
              <a:solidFill>
                <a:srgbClr val="00B050"/>
              </a:solidFill>
            </a:endParaRPr>
          </a:p>
          <a:p>
            <a:pPr marL="0" indent="0" algn="just">
              <a:spcBef>
                <a:spcPts val="0"/>
              </a:spcBef>
              <a:spcAft>
                <a:spcPts val="600"/>
              </a:spcAft>
            </a:pPr>
            <a:r>
              <a:rPr lang="en-GB" sz="1600" dirty="0">
                <a:solidFill>
                  <a:srgbClr val="00B050"/>
                </a:solidFill>
              </a:rPr>
              <a:t>Nikita, a teammate of Carlos, taps Carlos </a:t>
            </a:r>
            <a:endParaRPr lang="en-GB" sz="1600" dirty="0"/>
          </a:p>
          <a:p>
            <a:pPr marL="285750" indent="-285750" algn="just">
              <a:spcBef>
                <a:spcPts val="0"/>
              </a:spcBef>
              <a:spcAft>
                <a:spcPts val="600"/>
              </a:spcAft>
              <a:buFont typeface="Arial" panose="020B0604020202020204" pitchFamily="34" charset="0"/>
              <a:buChar char="•"/>
            </a:pPr>
            <a:r>
              <a:rPr lang="en-GB" sz="1600" dirty="0"/>
              <a:t>Battery: intention or recklessness </a:t>
            </a:r>
          </a:p>
          <a:p>
            <a:pPr marL="0" indent="0" algn="just">
              <a:spcBef>
                <a:spcPts val="0"/>
              </a:spcBef>
              <a:spcAft>
                <a:spcPts val="600"/>
              </a:spcAft>
            </a:pPr>
            <a:endParaRPr lang="en-GB" sz="1600" dirty="0">
              <a:solidFill>
                <a:srgbClr val="00B050"/>
              </a:solidFill>
            </a:endParaRPr>
          </a:p>
          <a:p>
            <a:pPr marL="0" indent="0" algn="just">
              <a:spcBef>
                <a:spcPts val="0"/>
              </a:spcBef>
              <a:spcAft>
                <a:spcPts val="600"/>
              </a:spcAft>
            </a:pPr>
            <a:r>
              <a:rPr lang="en-GB" sz="1600" dirty="0">
                <a:solidFill>
                  <a:srgbClr val="00B050"/>
                </a:solidFill>
              </a:rPr>
              <a:t>Johannes, a member of “Large Village Football Club” is so angry by the decision that he picks up a metal pole from the side line and charges towards Carlos</a:t>
            </a:r>
          </a:p>
          <a:p>
            <a:pPr marL="285750" indent="-285750" algn="just">
              <a:spcBef>
                <a:spcPts val="0"/>
              </a:spcBef>
              <a:spcAft>
                <a:spcPts val="600"/>
              </a:spcAft>
              <a:buFont typeface="Arial" panose="020B0604020202020204" pitchFamily="34" charset="0"/>
              <a:buChar char="•"/>
            </a:pPr>
            <a:r>
              <a:rPr lang="en-GB" sz="1600" dirty="0"/>
              <a:t>GBH: section 18 </a:t>
            </a:r>
            <a:r>
              <a:rPr lang="en-GB" sz="1600" dirty="0">
                <a:sym typeface="Wingdings" panose="05000000000000000000" pitchFamily="2" charset="2"/>
              </a:rPr>
              <a:t> intention to cause GBH</a:t>
            </a:r>
          </a:p>
          <a:p>
            <a:pPr marL="285750" indent="-285750" algn="just">
              <a:spcBef>
                <a:spcPts val="0"/>
              </a:spcBef>
              <a:spcAft>
                <a:spcPts val="600"/>
              </a:spcAft>
              <a:buFont typeface="Arial" panose="020B0604020202020204" pitchFamily="34" charset="0"/>
              <a:buChar char="•"/>
            </a:pPr>
            <a:r>
              <a:rPr lang="en-GB" sz="1600" dirty="0"/>
              <a:t>GBH: section 20 </a:t>
            </a:r>
            <a:r>
              <a:rPr lang="en-GB" sz="1600" dirty="0">
                <a:sym typeface="Wingdings" panose="05000000000000000000" pitchFamily="2" charset="2"/>
              </a:rPr>
              <a:t> intention to cause some harm</a:t>
            </a:r>
          </a:p>
          <a:p>
            <a:pPr marL="285750" indent="-285750" algn="just">
              <a:spcBef>
                <a:spcPts val="0"/>
              </a:spcBef>
              <a:spcAft>
                <a:spcPts val="600"/>
              </a:spcAft>
              <a:buFont typeface="Arial" panose="020B0604020202020204" pitchFamily="34" charset="0"/>
              <a:buChar char="•"/>
            </a:pPr>
            <a:r>
              <a:rPr lang="en-GB" sz="1600" dirty="0">
                <a:sym typeface="Wingdings" panose="05000000000000000000" pitchFamily="2" charset="2"/>
              </a:rPr>
              <a:t>Transferred Malice</a:t>
            </a:r>
          </a:p>
        </p:txBody>
      </p:sp>
    </p:spTree>
    <p:extLst>
      <p:ext uri="{BB962C8B-B14F-4D97-AF65-F5344CB8AC3E}">
        <p14:creationId xmlns:p14="http://schemas.microsoft.com/office/powerpoint/2010/main" val="41357582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BCD84-8959-96FB-2DBE-08B96C83CAEB}"/>
              </a:ext>
            </a:extLst>
          </p:cNvPr>
          <p:cNvSpPr>
            <a:spLocks noGrp="1"/>
          </p:cNvSpPr>
          <p:nvPr>
            <p:ph type="title"/>
          </p:nvPr>
        </p:nvSpPr>
        <p:spPr/>
        <p:txBody>
          <a:bodyPr/>
          <a:lstStyle/>
          <a:p>
            <a:r>
              <a:rPr lang="en-GB" dirty="0"/>
              <a:t>Transferred Malice</a:t>
            </a:r>
          </a:p>
        </p:txBody>
      </p:sp>
      <p:sp>
        <p:nvSpPr>
          <p:cNvPr id="3" name="Content Placeholder 2">
            <a:extLst>
              <a:ext uri="{FF2B5EF4-FFF2-40B4-BE49-F238E27FC236}">
                <a16:creationId xmlns:a16="http://schemas.microsoft.com/office/drawing/2014/main" id="{94B74CF5-A5D4-6280-69AF-D166EF0EED29}"/>
              </a:ext>
            </a:extLst>
          </p:cNvPr>
          <p:cNvSpPr>
            <a:spLocks noGrp="1"/>
          </p:cNvSpPr>
          <p:nvPr>
            <p:ph idx="1"/>
          </p:nvPr>
        </p:nvSpPr>
        <p:spPr/>
        <p:txBody>
          <a:bodyPr/>
          <a:lstStyle/>
          <a:p>
            <a:pPr>
              <a:buFont typeface="Arial" panose="020B0604020202020204" pitchFamily="34" charset="0"/>
              <a:buChar char="•"/>
            </a:pPr>
            <a:r>
              <a:rPr lang="en-GB" dirty="0"/>
              <a:t>MR and AR must </a:t>
            </a:r>
            <a:r>
              <a:rPr lang="en-GB" b="1" dirty="0"/>
              <a:t>correspond</a:t>
            </a:r>
            <a:r>
              <a:rPr lang="en-GB" dirty="0"/>
              <a:t> (i.e. D intent to injure X unless intent is indiscriminate).</a:t>
            </a:r>
          </a:p>
          <a:p>
            <a:pPr>
              <a:buFont typeface="Arial" panose="020B0604020202020204" pitchFamily="34" charset="0"/>
              <a:buChar char="•"/>
            </a:pPr>
            <a:r>
              <a:rPr lang="en-GB" dirty="0"/>
              <a:t>Problems arise if D’s MR relates to X but the actual target ends up Y.</a:t>
            </a:r>
          </a:p>
          <a:p>
            <a:pPr>
              <a:buFont typeface="Arial" panose="020B0604020202020204" pitchFamily="34" charset="0"/>
              <a:buChar char="•"/>
            </a:pPr>
            <a:r>
              <a:rPr lang="en-GB" dirty="0"/>
              <a:t>Where D’s AR and MR target different objects liability is found through the doctrine of </a:t>
            </a:r>
            <a:r>
              <a:rPr lang="en-GB" b="1" dirty="0"/>
              <a:t>transferred malice. </a:t>
            </a:r>
            <a:r>
              <a:rPr lang="en-GB" dirty="0"/>
              <a:t>See Latimer (1886) 17 QBD 359</a:t>
            </a:r>
          </a:p>
          <a:p>
            <a:pPr>
              <a:buFont typeface="Arial" panose="020B0604020202020204" pitchFamily="34" charset="0"/>
              <a:buChar char="•"/>
            </a:pPr>
            <a:r>
              <a:rPr lang="en-GB" dirty="0"/>
              <a:t>i.e. D intents to harm X but ends up harming Y. MR for X is transferred to Y so that AR and MR correspond. There is no need to foresee any harm to Y.</a:t>
            </a:r>
          </a:p>
          <a:p>
            <a:pPr>
              <a:buFont typeface="Arial" panose="020B0604020202020204" pitchFamily="34" charset="0"/>
              <a:buChar char="•"/>
            </a:pPr>
            <a:r>
              <a:rPr lang="en-GB" dirty="0"/>
              <a:t>Transferred malice can only apply when it relates to the </a:t>
            </a:r>
            <a:r>
              <a:rPr lang="en-GB" b="1" dirty="0"/>
              <a:t>same crime.</a:t>
            </a:r>
          </a:p>
          <a:p>
            <a:pPr>
              <a:buFont typeface="Arial" panose="020B0604020202020204" pitchFamily="34" charset="0"/>
              <a:buChar char="•"/>
            </a:pPr>
            <a:r>
              <a:rPr lang="en-GB" dirty="0"/>
              <a:t>As D’s MR is moved from one target to another it would be inappropriate to find D liable of an offence in relation to both X and Y.</a:t>
            </a:r>
          </a:p>
        </p:txBody>
      </p:sp>
    </p:spTree>
    <p:extLst>
      <p:ext uri="{BB962C8B-B14F-4D97-AF65-F5344CB8AC3E}">
        <p14:creationId xmlns:p14="http://schemas.microsoft.com/office/powerpoint/2010/main" val="19950432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48AC3D6-D497-00A6-8E53-6A87002A4D7D}"/>
              </a:ext>
            </a:extLst>
          </p:cNvPr>
          <p:cNvSpPr>
            <a:spLocks noGrp="1"/>
          </p:cNvSpPr>
          <p:nvPr>
            <p:ph type="title"/>
          </p:nvPr>
        </p:nvSpPr>
        <p:spPr>
          <a:xfrm>
            <a:off x="722312" y="4406900"/>
            <a:ext cx="7810127" cy="1362075"/>
          </a:xfrm>
        </p:spPr>
        <p:txBody>
          <a:bodyPr/>
          <a:lstStyle/>
          <a:p>
            <a:r>
              <a:rPr lang="en-GB" dirty="0"/>
              <a:t>Step 5: identifying defences</a:t>
            </a:r>
          </a:p>
        </p:txBody>
      </p:sp>
    </p:spTree>
    <p:extLst>
      <p:ext uri="{BB962C8B-B14F-4D97-AF65-F5344CB8AC3E}">
        <p14:creationId xmlns:p14="http://schemas.microsoft.com/office/powerpoint/2010/main" val="7728712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2426AD-5AF2-0087-0A2A-053B54048CEE}"/>
              </a:ext>
            </a:extLst>
          </p:cNvPr>
          <p:cNvSpPr>
            <a:spLocks noGrp="1"/>
          </p:cNvSpPr>
          <p:nvPr>
            <p:ph idx="1"/>
          </p:nvPr>
        </p:nvSpPr>
        <p:spPr>
          <a:xfrm>
            <a:off x="684213" y="332656"/>
            <a:ext cx="7772400" cy="5472832"/>
          </a:xfrm>
        </p:spPr>
        <p:txBody>
          <a:bodyPr anchor="ctr"/>
          <a:lstStyle/>
          <a:p>
            <a:pPr marL="0" indent="0" algn="just">
              <a:spcBef>
                <a:spcPts val="0"/>
              </a:spcBef>
              <a:spcAft>
                <a:spcPts val="600"/>
              </a:spcAft>
            </a:pPr>
            <a:r>
              <a:rPr lang="en-GB" sz="1400" b="1" dirty="0">
                <a:solidFill>
                  <a:srgbClr val="00B0F0"/>
                </a:solidFill>
              </a:rPr>
              <a:t>The local football team “Small Town United” are playing their rival club “Large Village Football Club” in the cup final of the year. </a:t>
            </a:r>
            <a:r>
              <a:rPr lang="en-GB" sz="1400" dirty="0"/>
              <a:t>The winner of the match will take home the trophy. Everyone knows these two teams hate each other and that emotions run high when they play; the fact that it is the cup final adds to the tense atmosphere. Five minutes before the end of the match, the score is 3-2 to “Small Town United”. Hamza, the “Small Town United” captain, who has scored three goals already, has the ball and is about to take another shot. Tony, a defender for the other team, is livid that his team are losing. He is determined to stop Hamza from scoring for the rest of the game, and so skids towards him at speed. Tony’s foot collides directly with Hamza’s left ankle, causing Hamza to trip, land on his face, and break his nose.  </a:t>
            </a:r>
          </a:p>
          <a:p>
            <a:pPr marL="0" indent="0" algn="just">
              <a:spcBef>
                <a:spcPts val="0"/>
              </a:spcBef>
              <a:spcAft>
                <a:spcPts val="600"/>
              </a:spcAft>
            </a:pPr>
            <a:r>
              <a:rPr lang="en-GB" sz="1400" dirty="0"/>
              <a:t>Carlos, a member of “Small Town United” is outraged. He shouts at Tony: “You did that on purpose! You weren’t aiming for the ball but wanted to kick Hamza. I’m going to get you for that”. Alarmed by how angry Carlos appears to be, Tony goes to stand with his own team, away from Carlos. Nikita, a teammate of Carlos, taps Carlos on the back saying, “Leave it, Carlos, he’s not worth it”. Carlos turns and walks away.  </a:t>
            </a:r>
          </a:p>
          <a:p>
            <a:pPr marL="0" indent="0" algn="just">
              <a:spcBef>
                <a:spcPts val="0"/>
              </a:spcBef>
              <a:spcAft>
                <a:spcPts val="600"/>
              </a:spcAft>
            </a:pPr>
            <a:r>
              <a:rPr lang="en-GB" sz="1400" dirty="0"/>
              <a:t>The referee, Oti, tries to calm the situation down. She declares that Tony’s “tackle” was a foul and that a free kick will be awarded to “Small Town United”. This decision enrages the players of “Large Village Football Club”. Johannes, a member of “Large Village Football Club” is so angry by the decision that he picks up a metal pole from the side line and charges towards Carlos. Johannes swings the pole behind him so that he can hit Carlos with force; however, in so doing, Johannes accidentally drops the pole, which hits Oti on the head. Oti is knocked unconscious and sustains a brain injury, requiring surgery to release the swelling on her brain. The surgery is successful, and she makes a full recovery. </a:t>
            </a:r>
          </a:p>
          <a:p>
            <a:pPr marL="0" indent="0" algn="just">
              <a:spcBef>
                <a:spcPts val="0"/>
              </a:spcBef>
              <a:spcAft>
                <a:spcPts val="600"/>
              </a:spcAft>
            </a:pPr>
            <a:r>
              <a:rPr lang="en-GB" sz="1400" dirty="0"/>
              <a:t>Discuss any criminal liability that may arise as well as the defence of consent.</a:t>
            </a:r>
            <a:endParaRPr lang="en-GB" dirty="0"/>
          </a:p>
        </p:txBody>
      </p:sp>
    </p:spTree>
    <p:extLst>
      <p:ext uri="{BB962C8B-B14F-4D97-AF65-F5344CB8AC3E}">
        <p14:creationId xmlns:p14="http://schemas.microsoft.com/office/powerpoint/2010/main" val="14659160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3FB84D-5712-DC9D-1A46-A0BC92AEB5CD}"/>
              </a:ext>
            </a:extLst>
          </p:cNvPr>
          <p:cNvSpPr>
            <a:spLocks noGrp="1"/>
          </p:cNvSpPr>
          <p:nvPr>
            <p:ph type="title"/>
          </p:nvPr>
        </p:nvSpPr>
        <p:spPr/>
        <p:txBody>
          <a:bodyPr/>
          <a:lstStyle/>
          <a:p>
            <a:r>
              <a:rPr lang="en-GB" dirty="0"/>
              <a:t>Consent</a:t>
            </a:r>
          </a:p>
        </p:txBody>
      </p:sp>
      <p:sp>
        <p:nvSpPr>
          <p:cNvPr id="3" name="Content Placeholder 2">
            <a:extLst>
              <a:ext uri="{FF2B5EF4-FFF2-40B4-BE49-F238E27FC236}">
                <a16:creationId xmlns:a16="http://schemas.microsoft.com/office/drawing/2014/main" id="{E1F3FB69-EEBE-B80D-0261-4B0B2859CC4F}"/>
              </a:ext>
            </a:extLst>
          </p:cNvPr>
          <p:cNvSpPr>
            <a:spLocks noGrp="1"/>
          </p:cNvSpPr>
          <p:nvPr>
            <p:ph idx="1"/>
          </p:nvPr>
        </p:nvSpPr>
        <p:spPr/>
        <p:txBody>
          <a:bodyPr/>
          <a:lstStyle/>
          <a:p>
            <a:pPr>
              <a:buFont typeface="Arial" panose="020B0604020202020204" pitchFamily="34" charset="0"/>
              <a:buChar char="•"/>
            </a:pPr>
            <a:r>
              <a:rPr lang="en-GB" dirty="0"/>
              <a:t>Consent is available as a defence to assault and battery, but the consent must be (</a:t>
            </a:r>
            <a:r>
              <a:rPr lang="en-GB" dirty="0" err="1"/>
              <a:t>i</a:t>
            </a:r>
            <a:r>
              <a:rPr lang="en-GB" dirty="0"/>
              <a:t>) express or implied and (ii) effective.</a:t>
            </a:r>
          </a:p>
          <a:p>
            <a:pPr>
              <a:buFont typeface="Arial" panose="020B0604020202020204" pitchFamily="34" charset="0"/>
              <a:buChar char="•"/>
            </a:pPr>
            <a:r>
              <a:rPr lang="en-GB" dirty="0"/>
              <a:t>Consent is only available as a defence to ABH and GBH where the consent is (</a:t>
            </a:r>
            <a:r>
              <a:rPr lang="en-GB" dirty="0" err="1"/>
              <a:t>i</a:t>
            </a:r>
            <a:r>
              <a:rPr lang="en-GB" dirty="0"/>
              <a:t>) express or implied and (ii) effective and (iii) </a:t>
            </a:r>
            <a:r>
              <a:rPr lang="en-GB" b="1" dirty="0"/>
              <a:t>D’s conduct falls within a recognised category of exception. R v Brown [1994]</a:t>
            </a:r>
          </a:p>
          <a:p>
            <a:pPr>
              <a:buFont typeface="Arial" panose="020B0604020202020204" pitchFamily="34" charset="0"/>
              <a:buChar char="•"/>
            </a:pPr>
            <a:r>
              <a:rPr lang="en-GB" dirty="0"/>
              <a:t>The law recognises the social utility of sport, despite the high risk of bodily injury involved in some sports. Several principle have developed to ensure that consent to the harm involved in sport is valid.</a:t>
            </a:r>
          </a:p>
          <a:p>
            <a:pPr>
              <a:buFont typeface="+mj-lt"/>
              <a:buAutoNum type="arabicPeriod"/>
            </a:pPr>
            <a:r>
              <a:rPr lang="en-GB" dirty="0"/>
              <a:t>The sport must be recognised by the law</a:t>
            </a:r>
          </a:p>
          <a:p>
            <a:pPr>
              <a:buFont typeface="+mj-lt"/>
              <a:buAutoNum type="arabicPeriod"/>
            </a:pPr>
            <a:r>
              <a:rPr lang="en-GB" dirty="0"/>
              <a:t>No offence arises for conduct within the rules of the sport, played consensually.</a:t>
            </a:r>
          </a:p>
          <a:p>
            <a:pPr>
              <a:buFont typeface="+mj-lt"/>
              <a:buAutoNum type="arabicPeriod"/>
            </a:pPr>
            <a:r>
              <a:rPr lang="en-GB" dirty="0"/>
              <a:t>Consent </a:t>
            </a:r>
            <a:r>
              <a:rPr lang="en-GB" b="1" dirty="0"/>
              <a:t>may</a:t>
            </a:r>
            <a:r>
              <a:rPr lang="en-GB" dirty="0"/>
              <a:t> be valid to injuries that result outside the rules of the game, but which might constitute </a:t>
            </a:r>
            <a:r>
              <a:rPr lang="en-GB" b="1" dirty="0"/>
              <a:t>legitimate foul play</a:t>
            </a:r>
            <a:r>
              <a:rPr lang="en-GB" dirty="0"/>
              <a:t>, that is still impliedly consented to.</a:t>
            </a:r>
          </a:p>
          <a:p>
            <a:pPr>
              <a:buFont typeface="+mj-lt"/>
              <a:buAutoNum type="arabicPeriod"/>
            </a:pPr>
            <a:endParaRPr lang="en-GB" dirty="0"/>
          </a:p>
          <a:p>
            <a:pPr marL="0" indent="0"/>
            <a:endParaRPr lang="en-GB" dirty="0"/>
          </a:p>
          <a:p>
            <a:endParaRPr lang="en-GB" dirty="0"/>
          </a:p>
        </p:txBody>
      </p:sp>
    </p:spTree>
    <p:extLst>
      <p:ext uri="{BB962C8B-B14F-4D97-AF65-F5344CB8AC3E}">
        <p14:creationId xmlns:p14="http://schemas.microsoft.com/office/powerpoint/2010/main" val="42353994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3127E6-D173-9143-C372-26EF68D0D3BE}"/>
              </a:ext>
            </a:extLst>
          </p:cNvPr>
          <p:cNvSpPr>
            <a:spLocks noGrp="1"/>
          </p:cNvSpPr>
          <p:nvPr>
            <p:ph type="title"/>
          </p:nvPr>
        </p:nvSpPr>
        <p:spPr/>
        <p:txBody>
          <a:bodyPr/>
          <a:lstStyle/>
          <a:p>
            <a:r>
              <a:rPr lang="en-GB" dirty="0"/>
              <a:t>Barnes [2005] 1 WLR 910</a:t>
            </a:r>
          </a:p>
        </p:txBody>
      </p:sp>
      <p:sp>
        <p:nvSpPr>
          <p:cNvPr id="3" name="Content Placeholder 2">
            <a:extLst>
              <a:ext uri="{FF2B5EF4-FFF2-40B4-BE49-F238E27FC236}">
                <a16:creationId xmlns:a16="http://schemas.microsoft.com/office/drawing/2014/main" id="{58E844CA-2DFD-BFB1-128C-94E8C5172561}"/>
              </a:ext>
            </a:extLst>
          </p:cNvPr>
          <p:cNvSpPr>
            <a:spLocks noGrp="1"/>
          </p:cNvSpPr>
          <p:nvPr>
            <p:ph idx="1"/>
          </p:nvPr>
        </p:nvSpPr>
        <p:spPr/>
        <p:txBody>
          <a:bodyPr/>
          <a:lstStyle/>
          <a:p>
            <a:pPr marL="285750" indent="-285750">
              <a:buFont typeface="Arial" panose="020B0604020202020204" pitchFamily="34" charset="0"/>
              <a:buChar char="•"/>
            </a:pPr>
            <a:r>
              <a:rPr lang="en-GB" dirty="0"/>
              <a:t>An offence may arise where D engages in conduct that breaches the rules of the sport to such an extent that it is not validly consented to.</a:t>
            </a:r>
          </a:p>
          <a:p>
            <a:pPr>
              <a:buFont typeface="Arial" panose="020B0604020202020204" pitchFamily="34" charset="0"/>
              <a:buChar char="•"/>
            </a:pPr>
            <a:r>
              <a:rPr lang="en-GB" dirty="0"/>
              <a:t>Criminal prosecutions are rare and reserved for only the gravest conduct.</a:t>
            </a:r>
          </a:p>
          <a:p>
            <a:pPr>
              <a:buFont typeface="Arial" panose="020B0604020202020204" pitchFamily="34" charset="0"/>
              <a:buChar char="•"/>
            </a:pPr>
            <a:r>
              <a:rPr lang="en-GB" dirty="0"/>
              <a:t>The Court of Appeal set out several factors that should be considered:</a:t>
            </a:r>
          </a:p>
          <a:p>
            <a:pPr marL="857250" lvl="1" indent="-400050">
              <a:buFont typeface="+mj-lt"/>
              <a:buAutoNum type="romanUcPeriod"/>
            </a:pPr>
            <a:r>
              <a:rPr lang="en-GB" dirty="0"/>
              <a:t>the type of sport</a:t>
            </a:r>
          </a:p>
          <a:p>
            <a:pPr marL="857250" lvl="1" indent="-400050">
              <a:buFont typeface="+mj-lt"/>
              <a:buAutoNum type="romanUcPeriod"/>
            </a:pPr>
            <a:r>
              <a:rPr lang="en-GB" dirty="0"/>
              <a:t>the level it is played at</a:t>
            </a:r>
          </a:p>
          <a:p>
            <a:pPr marL="857250" lvl="1" indent="-400050">
              <a:buFont typeface="+mj-lt"/>
              <a:buAutoNum type="romanUcPeriod"/>
            </a:pPr>
            <a:r>
              <a:rPr lang="en-GB" dirty="0"/>
              <a:t>the nature of the act</a:t>
            </a:r>
          </a:p>
          <a:p>
            <a:pPr marL="857250" lvl="1" indent="-400050">
              <a:buFont typeface="+mj-lt"/>
              <a:buAutoNum type="romanUcPeriod"/>
            </a:pPr>
            <a:r>
              <a:rPr lang="en-GB" dirty="0"/>
              <a:t>the degree of force</a:t>
            </a:r>
          </a:p>
          <a:p>
            <a:pPr marL="857250" lvl="1" indent="-400050">
              <a:buFont typeface="+mj-lt"/>
              <a:buAutoNum type="romanUcPeriod"/>
            </a:pPr>
            <a:r>
              <a:rPr lang="en-GB" dirty="0"/>
              <a:t>the extent of the risk of injury</a:t>
            </a:r>
          </a:p>
          <a:p>
            <a:pPr marL="857250" lvl="1" indent="-400050">
              <a:buFont typeface="+mj-lt"/>
              <a:buAutoNum type="romanUcPeriod"/>
            </a:pPr>
            <a:r>
              <a:rPr lang="en-GB" dirty="0"/>
              <a:t>D’s state of mind – was the injury intentional?</a:t>
            </a:r>
          </a:p>
        </p:txBody>
      </p:sp>
    </p:spTree>
    <p:extLst>
      <p:ext uri="{BB962C8B-B14F-4D97-AF65-F5344CB8AC3E}">
        <p14:creationId xmlns:p14="http://schemas.microsoft.com/office/powerpoint/2010/main" val="34295648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48AC3D6-D497-00A6-8E53-6A87002A4D7D}"/>
              </a:ext>
            </a:extLst>
          </p:cNvPr>
          <p:cNvSpPr>
            <a:spLocks noGrp="1"/>
          </p:cNvSpPr>
          <p:nvPr>
            <p:ph type="title"/>
          </p:nvPr>
        </p:nvSpPr>
        <p:spPr>
          <a:xfrm>
            <a:off x="722312" y="4406900"/>
            <a:ext cx="7810127" cy="1362075"/>
          </a:xfrm>
        </p:spPr>
        <p:txBody>
          <a:bodyPr/>
          <a:lstStyle/>
          <a:p>
            <a:r>
              <a:rPr lang="en-GB" dirty="0"/>
              <a:t>Recap of </a:t>
            </a:r>
            <a:r>
              <a:rPr lang="en-GB" dirty="0" err="1"/>
              <a:t>nfoap</a:t>
            </a:r>
            <a:endParaRPr lang="en-GB" dirty="0"/>
          </a:p>
        </p:txBody>
      </p:sp>
    </p:spTree>
    <p:extLst>
      <p:ext uri="{BB962C8B-B14F-4D97-AF65-F5344CB8AC3E}">
        <p14:creationId xmlns:p14="http://schemas.microsoft.com/office/powerpoint/2010/main" val="22646252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627F2534-999B-1E6B-7A3D-C291D94A5932}"/>
              </a:ext>
            </a:extLst>
          </p:cNvPr>
          <p:cNvSpPr>
            <a:spLocks noGrp="1" noChangeArrowheads="1"/>
          </p:cNvSpPr>
          <p:nvPr>
            <p:ph type="title"/>
          </p:nvPr>
        </p:nvSpPr>
        <p:spPr/>
        <p:txBody>
          <a:bodyPr/>
          <a:lstStyle/>
          <a:p>
            <a:r>
              <a:rPr lang="en-GB" altLang="en-US"/>
              <a:t>Assault</a:t>
            </a:r>
          </a:p>
        </p:txBody>
      </p:sp>
      <p:sp>
        <p:nvSpPr>
          <p:cNvPr id="8195" name="Text Placeholder 3">
            <a:extLst>
              <a:ext uri="{FF2B5EF4-FFF2-40B4-BE49-F238E27FC236}">
                <a16:creationId xmlns:a16="http://schemas.microsoft.com/office/drawing/2014/main" id="{964F4A3A-DC47-6A0B-B13B-C06DAC3AFA41}"/>
              </a:ext>
            </a:extLst>
          </p:cNvPr>
          <p:cNvSpPr>
            <a:spLocks noGrp="1" noChangeArrowheads="1"/>
          </p:cNvSpPr>
          <p:nvPr>
            <p:ph type="body" idx="1"/>
          </p:nvPr>
        </p:nvSpPr>
        <p:spPr/>
        <p:txBody>
          <a:bodyPr anchor="t"/>
          <a:lstStyle/>
          <a:p>
            <a:r>
              <a:rPr lang="en-GB" altLang="en-US" dirty="0"/>
              <a:t>Definition</a:t>
            </a:r>
          </a:p>
        </p:txBody>
      </p:sp>
      <p:sp>
        <p:nvSpPr>
          <p:cNvPr id="8196" name="Content Placeholder 4">
            <a:extLst>
              <a:ext uri="{FF2B5EF4-FFF2-40B4-BE49-F238E27FC236}">
                <a16:creationId xmlns:a16="http://schemas.microsoft.com/office/drawing/2014/main" id="{1F0DA4C8-06CD-E752-5543-482FDE6F9630}"/>
              </a:ext>
            </a:extLst>
          </p:cNvPr>
          <p:cNvSpPr>
            <a:spLocks noGrp="1" noChangeArrowheads="1"/>
          </p:cNvSpPr>
          <p:nvPr>
            <p:ph sz="half" idx="2"/>
          </p:nvPr>
        </p:nvSpPr>
        <p:spPr>
          <a:xfrm>
            <a:off x="457200" y="2174875"/>
            <a:ext cx="3322638" cy="3951288"/>
          </a:xfrm>
        </p:spPr>
        <p:txBody>
          <a:bodyPr/>
          <a:lstStyle/>
          <a:p>
            <a:pPr marL="0" indent="0">
              <a:buFontTx/>
              <a:buChar char="•"/>
            </a:pPr>
            <a:r>
              <a:rPr lang="en-GB" altLang="en-US" dirty="0"/>
              <a:t>Any act by D which, </a:t>
            </a:r>
            <a:r>
              <a:rPr lang="en-GB" altLang="en-US" dirty="0">
                <a:solidFill>
                  <a:srgbClr val="00B050"/>
                </a:solidFill>
              </a:rPr>
              <a:t>intentionally or recklessly</a:t>
            </a:r>
            <a:r>
              <a:rPr lang="en-GB" altLang="en-US" dirty="0"/>
              <a:t>, </a:t>
            </a:r>
            <a:r>
              <a:rPr lang="en-GB" altLang="en-US" dirty="0">
                <a:solidFill>
                  <a:srgbClr val="FF0000"/>
                </a:solidFill>
              </a:rPr>
              <a:t>causes V to apprehend immediate and unlawful personal violence</a:t>
            </a:r>
          </a:p>
          <a:p>
            <a:pPr marL="0" indent="0">
              <a:buFontTx/>
              <a:buChar char="•"/>
            </a:pPr>
            <a:r>
              <a:rPr lang="en-GB" altLang="en-US" sz="2000" i="1" dirty="0"/>
              <a:t>Fagan v Metropolitan Police Commissioner</a:t>
            </a:r>
            <a:r>
              <a:rPr lang="en-GB" altLang="en-US" sz="2000" dirty="0"/>
              <a:t> [1969] 1 QB 439</a:t>
            </a:r>
          </a:p>
          <a:p>
            <a:pPr marL="0" indent="0">
              <a:buFontTx/>
              <a:buChar char="•"/>
            </a:pPr>
            <a:endParaRPr lang="en-GB" altLang="en-US" dirty="0"/>
          </a:p>
          <a:p>
            <a:pPr marL="0" indent="0"/>
            <a:endParaRPr lang="en-GB" altLang="en-US" dirty="0"/>
          </a:p>
        </p:txBody>
      </p:sp>
      <p:sp>
        <p:nvSpPr>
          <p:cNvPr id="8197" name="Text Placeholder 5">
            <a:extLst>
              <a:ext uri="{FF2B5EF4-FFF2-40B4-BE49-F238E27FC236}">
                <a16:creationId xmlns:a16="http://schemas.microsoft.com/office/drawing/2014/main" id="{85241CCC-F8FB-3BA7-0317-ECA6AD1B7573}"/>
              </a:ext>
            </a:extLst>
          </p:cNvPr>
          <p:cNvSpPr>
            <a:spLocks noGrp="1" noChangeArrowheads="1"/>
          </p:cNvSpPr>
          <p:nvPr>
            <p:ph type="body" sz="quarter" idx="3"/>
          </p:nvPr>
        </p:nvSpPr>
        <p:spPr>
          <a:xfrm>
            <a:off x="3924300" y="1535113"/>
            <a:ext cx="4762500" cy="639762"/>
          </a:xfrm>
        </p:spPr>
        <p:txBody>
          <a:bodyPr anchor="t"/>
          <a:lstStyle/>
          <a:p>
            <a:r>
              <a:rPr lang="en-GB" altLang="en-US"/>
              <a:t>Key AR and MR elements</a:t>
            </a:r>
          </a:p>
        </p:txBody>
      </p:sp>
      <p:graphicFrame>
        <p:nvGraphicFramePr>
          <p:cNvPr id="9" name="Table 9">
            <a:extLst>
              <a:ext uri="{FF2B5EF4-FFF2-40B4-BE49-F238E27FC236}">
                <a16:creationId xmlns:a16="http://schemas.microsoft.com/office/drawing/2014/main" id="{6D8D897E-F589-88F0-6348-237C2D97D00F}"/>
              </a:ext>
            </a:extLst>
          </p:cNvPr>
          <p:cNvGraphicFramePr>
            <a:graphicFrameLocks noGrp="1"/>
          </p:cNvGraphicFramePr>
          <p:nvPr>
            <p:ph sz="quarter" idx="4"/>
          </p:nvPr>
        </p:nvGraphicFramePr>
        <p:xfrm>
          <a:off x="3924300" y="2174875"/>
          <a:ext cx="4762500" cy="3951288"/>
        </p:xfrm>
        <a:graphic>
          <a:graphicData uri="http://schemas.openxmlformats.org/drawingml/2006/table">
            <a:tbl>
              <a:tblPr firstRow="1" bandRow="1">
                <a:tableStyleId>{5C22544A-7EE6-4342-B048-85BDC9FD1C3A}</a:tableStyleId>
              </a:tblPr>
              <a:tblGrid>
                <a:gridCol w="2381250">
                  <a:extLst>
                    <a:ext uri="{9D8B030D-6E8A-4147-A177-3AD203B41FA5}">
                      <a16:colId xmlns:a16="http://schemas.microsoft.com/office/drawing/2014/main" val="20000"/>
                    </a:ext>
                  </a:extLst>
                </a:gridCol>
                <a:gridCol w="2381250">
                  <a:extLst>
                    <a:ext uri="{9D8B030D-6E8A-4147-A177-3AD203B41FA5}">
                      <a16:colId xmlns:a16="http://schemas.microsoft.com/office/drawing/2014/main" val="20001"/>
                    </a:ext>
                  </a:extLst>
                </a:gridCol>
              </a:tblGrid>
              <a:tr h="828907">
                <a:tc>
                  <a:txBody>
                    <a:bodyPr/>
                    <a:lstStyle/>
                    <a:p>
                      <a:r>
                        <a:rPr lang="en-GB" dirty="0"/>
                        <a:t>Actus Reus</a:t>
                      </a:r>
                    </a:p>
                  </a:txBody>
                  <a:tcPr marL="91433" marR="91433"/>
                </a:tc>
                <a:tc>
                  <a:txBody>
                    <a:bodyPr/>
                    <a:lstStyle/>
                    <a:p>
                      <a:r>
                        <a:rPr lang="en-GB" dirty="0" err="1"/>
                        <a:t>Mens</a:t>
                      </a:r>
                      <a:r>
                        <a:rPr lang="en-GB" dirty="0"/>
                        <a:t> Rea</a:t>
                      </a:r>
                    </a:p>
                  </a:txBody>
                  <a:tcPr marL="91433" marR="91433"/>
                </a:tc>
                <a:extLst>
                  <a:ext uri="{0D108BD9-81ED-4DB2-BD59-A6C34878D82A}">
                    <a16:rowId xmlns:a16="http://schemas.microsoft.com/office/drawing/2014/main" val="10000"/>
                  </a:ext>
                </a:extLst>
              </a:tr>
              <a:tr h="3122381">
                <a:tc>
                  <a:txBody>
                    <a:bodyPr/>
                    <a:lstStyle/>
                    <a:p>
                      <a:pPr marL="285750" indent="-285750">
                        <a:buFont typeface="Arial" panose="020B0604020202020204" pitchFamily="34" charset="0"/>
                        <a:buChar char="•"/>
                      </a:pPr>
                      <a:r>
                        <a:rPr lang="en-GB" dirty="0"/>
                        <a:t>Causing the</a:t>
                      </a:r>
                    </a:p>
                    <a:p>
                      <a:pPr marL="742950" lvl="1" indent="-285750">
                        <a:buFont typeface="Arial" panose="020B0604020202020204" pitchFamily="34" charset="0"/>
                        <a:buChar char="•"/>
                      </a:pPr>
                      <a:r>
                        <a:rPr lang="en-GB" dirty="0"/>
                        <a:t>Apprehension (of)</a:t>
                      </a:r>
                    </a:p>
                    <a:p>
                      <a:pPr marL="742950" lvl="1" indent="-285750">
                        <a:buFont typeface="Arial" panose="020B0604020202020204" pitchFamily="34" charset="0"/>
                        <a:buChar char="•"/>
                      </a:pPr>
                      <a:r>
                        <a:rPr lang="en-GB" dirty="0"/>
                        <a:t>Immediate</a:t>
                      </a:r>
                    </a:p>
                    <a:p>
                      <a:pPr marL="742950" lvl="1" indent="-285750">
                        <a:buFont typeface="Arial" panose="020B0604020202020204" pitchFamily="34" charset="0"/>
                        <a:buChar char="•"/>
                      </a:pPr>
                      <a:r>
                        <a:rPr lang="en-GB" dirty="0"/>
                        <a:t>Unlawful personal violence</a:t>
                      </a:r>
                    </a:p>
                  </a:txBody>
                  <a:tcPr marL="91433" marR="91433"/>
                </a:tc>
                <a:tc>
                  <a:txBody>
                    <a:bodyPr/>
                    <a:lstStyle/>
                    <a:p>
                      <a:pPr marL="285750" indent="-285750">
                        <a:buFont typeface="Arial" panose="020B0604020202020204" pitchFamily="34" charset="0"/>
                        <a:buChar char="•"/>
                      </a:pPr>
                      <a:r>
                        <a:rPr lang="en-GB" dirty="0"/>
                        <a:t>Intention </a:t>
                      </a:r>
                      <a:r>
                        <a:rPr lang="en-GB" b="1" u="sng" dirty="0"/>
                        <a:t>or </a:t>
                      </a:r>
                      <a:r>
                        <a:rPr lang="en-GB" b="0" u="none" dirty="0"/>
                        <a:t>r</a:t>
                      </a:r>
                      <a:r>
                        <a:rPr lang="en-GB" dirty="0"/>
                        <a:t>ecklessness</a:t>
                      </a:r>
                    </a:p>
                  </a:txBody>
                  <a:tcPr marL="91433" marR="91433"/>
                </a:tc>
                <a:extLst>
                  <a:ext uri="{0D108BD9-81ED-4DB2-BD59-A6C34878D82A}">
                    <a16:rowId xmlns:a16="http://schemas.microsoft.com/office/drawing/2014/main" val="10001"/>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249E73A5-B0ED-58CD-685C-ADCDC3877C39}"/>
              </a:ext>
            </a:extLst>
          </p:cNvPr>
          <p:cNvSpPr>
            <a:spLocks noGrp="1" noChangeArrowheads="1"/>
          </p:cNvSpPr>
          <p:nvPr>
            <p:ph type="title"/>
          </p:nvPr>
        </p:nvSpPr>
        <p:spPr/>
        <p:txBody>
          <a:bodyPr/>
          <a:lstStyle/>
          <a:p>
            <a:r>
              <a:rPr lang="en-GB" altLang="en-US"/>
              <a:t>Battery</a:t>
            </a:r>
          </a:p>
        </p:txBody>
      </p:sp>
      <p:sp>
        <p:nvSpPr>
          <p:cNvPr id="10243" name="Text Placeholder 3">
            <a:extLst>
              <a:ext uri="{FF2B5EF4-FFF2-40B4-BE49-F238E27FC236}">
                <a16:creationId xmlns:a16="http://schemas.microsoft.com/office/drawing/2014/main" id="{BD2A4311-FDD3-D9AB-5E50-BB7C27F55E67}"/>
              </a:ext>
            </a:extLst>
          </p:cNvPr>
          <p:cNvSpPr>
            <a:spLocks noGrp="1" noChangeArrowheads="1"/>
          </p:cNvSpPr>
          <p:nvPr>
            <p:ph type="body" idx="1"/>
          </p:nvPr>
        </p:nvSpPr>
        <p:spPr/>
        <p:txBody>
          <a:bodyPr anchor="t"/>
          <a:lstStyle/>
          <a:p>
            <a:r>
              <a:rPr lang="en-GB" altLang="en-US"/>
              <a:t>Definition</a:t>
            </a:r>
          </a:p>
        </p:txBody>
      </p:sp>
      <p:sp>
        <p:nvSpPr>
          <p:cNvPr id="10244" name="Content Placeholder 4">
            <a:extLst>
              <a:ext uri="{FF2B5EF4-FFF2-40B4-BE49-F238E27FC236}">
                <a16:creationId xmlns:a16="http://schemas.microsoft.com/office/drawing/2014/main" id="{1A0AC15A-082E-19EE-9E43-898D1ABBF894}"/>
              </a:ext>
            </a:extLst>
          </p:cNvPr>
          <p:cNvSpPr>
            <a:spLocks noGrp="1" noChangeArrowheads="1"/>
          </p:cNvSpPr>
          <p:nvPr>
            <p:ph sz="half" idx="2"/>
          </p:nvPr>
        </p:nvSpPr>
        <p:spPr/>
        <p:txBody>
          <a:bodyPr/>
          <a:lstStyle/>
          <a:p>
            <a:pPr marL="0" indent="0">
              <a:buFontTx/>
              <a:buChar char="•"/>
            </a:pPr>
            <a:r>
              <a:rPr lang="en-GB" altLang="en-US" dirty="0"/>
              <a:t>Any conduct by D which, </a:t>
            </a:r>
            <a:r>
              <a:rPr lang="en-GB" altLang="en-US" dirty="0">
                <a:solidFill>
                  <a:srgbClr val="00B050"/>
                </a:solidFill>
              </a:rPr>
              <a:t>intentionally or recklessly</a:t>
            </a:r>
            <a:r>
              <a:rPr lang="en-GB" altLang="en-US" dirty="0"/>
              <a:t>, </a:t>
            </a:r>
            <a:r>
              <a:rPr lang="en-GB" altLang="en-US" dirty="0">
                <a:solidFill>
                  <a:srgbClr val="FF0000"/>
                </a:solidFill>
              </a:rPr>
              <a:t>inflicts unlawful personal violence upon V</a:t>
            </a:r>
          </a:p>
          <a:p>
            <a:pPr marL="0" indent="0">
              <a:buFontTx/>
              <a:buChar char="•"/>
            </a:pPr>
            <a:r>
              <a:rPr lang="en-GB" altLang="en-US" sz="2000" i="1" dirty="0"/>
              <a:t>Fagan v Metropolitan Police Commissioner</a:t>
            </a:r>
            <a:r>
              <a:rPr lang="en-GB" altLang="en-US" sz="2000" dirty="0"/>
              <a:t> [1969] 1 QB 439</a:t>
            </a:r>
          </a:p>
          <a:p>
            <a:pPr marL="0" indent="0">
              <a:buFontTx/>
              <a:buChar char="•"/>
            </a:pPr>
            <a:endParaRPr lang="en-GB" altLang="en-US" dirty="0"/>
          </a:p>
          <a:p>
            <a:pPr marL="0" indent="0"/>
            <a:endParaRPr lang="en-GB" altLang="en-US" dirty="0"/>
          </a:p>
        </p:txBody>
      </p:sp>
      <p:sp>
        <p:nvSpPr>
          <p:cNvPr id="10245" name="Text Placeholder 5">
            <a:extLst>
              <a:ext uri="{FF2B5EF4-FFF2-40B4-BE49-F238E27FC236}">
                <a16:creationId xmlns:a16="http://schemas.microsoft.com/office/drawing/2014/main" id="{0A863716-5AD6-D09B-685E-E3CE0D0ED05B}"/>
              </a:ext>
            </a:extLst>
          </p:cNvPr>
          <p:cNvSpPr>
            <a:spLocks noGrp="1" noChangeArrowheads="1"/>
          </p:cNvSpPr>
          <p:nvPr>
            <p:ph type="body" sz="quarter" idx="3"/>
          </p:nvPr>
        </p:nvSpPr>
        <p:spPr/>
        <p:txBody>
          <a:bodyPr anchor="t"/>
          <a:lstStyle/>
          <a:p>
            <a:r>
              <a:rPr lang="en-GB" altLang="en-US"/>
              <a:t>Key AR and MR elements</a:t>
            </a:r>
          </a:p>
        </p:txBody>
      </p:sp>
      <p:graphicFrame>
        <p:nvGraphicFramePr>
          <p:cNvPr id="9" name="Table 9">
            <a:extLst>
              <a:ext uri="{FF2B5EF4-FFF2-40B4-BE49-F238E27FC236}">
                <a16:creationId xmlns:a16="http://schemas.microsoft.com/office/drawing/2014/main" id="{63360487-3B61-0B81-517B-4855CF7F7176}"/>
              </a:ext>
            </a:extLst>
          </p:cNvPr>
          <p:cNvGraphicFramePr>
            <a:graphicFrameLocks noGrp="1"/>
          </p:cNvGraphicFramePr>
          <p:nvPr>
            <p:ph sz="quarter" idx="4"/>
          </p:nvPr>
        </p:nvGraphicFramePr>
        <p:xfrm>
          <a:off x="4645025" y="2174875"/>
          <a:ext cx="4041776" cy="3951288"/>
        </p:xfrm>
        <a:graphic>
          <a:graphicData uri="http://schemas.openxmlformats.org/drawingml/2006/table">
            <a:tbl>
              <a:tblPr firstRow="1" bandRow="1">
                <a:tableStyleId>{5C22544A-7EE6-4342-B048-85BDC9FD1C3A}</a:tableStyleId>
              </a:tblPr>
              <a:tblGrid>
                <a:gridCol w="2020888">
                  <a:extLst>
                    <a:ext uri="{9D8B030D-6E8A-4147-A177-3AD203B41FA5}">
                      <a16:colId xmlns:a16="http://schemas.microsoft.com/office/drawing/2014/main" val="20000"/>
                    </a:ext>
                  </a:extLst>
                </a:gridCol>
                <a:gridCol w="2020888">
                  <a:extLst>
                    <a:ext uri="{9D8B030D-6E8A-4147-A177-3AD203B41FA5}">
                      <a16:colId xmlns:a16="http://schemas.microsoft.com/office/drawing/2014/main" val="20001"/>
                    </a:ext>
                  </a:extLst>
                </a:gridCol>
              </a:tblGrid>
              <a:tr h="828907">
                <a:tc>
                  <a:txBody>
                    <a:bodyPr/>
                    <a:lstStyle/>
                    <a:p>
                      <a:r>
                        <a:rPr lang="en-GB" dirty="0"/>
                        <a:t>Actus Reus</a:t>
                      </a:r>
                    </a:p>
                  </a:txBody>
                  <a:tcPr/>
                </a:tc>
                <a:tc>
                  <a:txBody>
                    <a:bodyPr/>
                    <a:lstStyle/>
                    <a:p>
                      <a:r>
                        <a:rPr lang="en-GB" dirty="0" err="1"/>
                        <a:t>Mens</a:t>
                      </a:r>
                      <a:r>
                        <a:rPr lang="en-GB" dirty="0"/>
                        <a:t> Rea</a:t>
                      </a:r>
                    </a:p>
                  </a:txBody>
                  <a:tcPr/>
                </a:tc>
                <a:extLst>
                  <a:ext uri="{0D108BD9-81ED-4DB2-BD59-A6C34878D82A}">
                    <a16:rowId xmlns:a16="http://schemas.microsoft.com/office/drawing/2014/main" val="10000"/>
                  </a:ext>
                </a:extLst>
              </a:tr>
              <a:tr h="3122381">
                <a:tc>
                  <a:txBody>
                    <a:bodyPr/>
                    <a:lstStyle/>
                    <a:p>
                      <a:pPr marL="285750" indent="-285750">
                        <a:buFont typeface="Arial" panose="020B0604020202020204" pitchFamily="34" charset="0"/>
                        <a:buChar char="•"/>
                      </a:pPr>
                      <a:r>
                        <a:rPr lang="en-GB" dirty="0"/>
                        <a:t>Inflicting</a:t>
                      </a:r>
                    </a:p>
                    <a:p>
                      <a:pPr marL="742950" lvl="1" indent="-285750">
                        <a:buFont typeface="Arial" panose="020B0604020202020204" pitchFamily="34" charset="0"/>
                        <a:buChar char="•"/>
                      </a:pPr>
                      <a:r>
                        <a:rPr lang="en-GB" dirty="0"/>
                        <a:t>Unlawful personal violence</a:t>
                      </a:r>
                    </a:p>
                  </a:txBody>
                  <a:tcPr/>
                </a:tc>
                <a:tc>
                  <a:txBody>
                    <a:bodyPr/>
                    <a:lstStyle/>
                    <a:p>
                      <a:pPr marL="285750" indent="-285750">
                        <a:buFont typeface="Arial" panose="020B0604020202020204" pitchFamily="34" charset="0"/>
                        <a:buChar char="•"/>
                      </a:pPr>
                      <a:r>
                        <a:rPr lang="en-GB" dirty="0"/>
                        <a:t>Intention </a:t>
                      </a:r>
                      <a:r>
                        <a:rPr lang="en-GB" b="1" u="sng" dirty="0"/>
                        <a:t>or </a:t>
                      </a:r>
                      <a:r>
                        <a:rPr lang="en-GB" b="0" u="none" dirty="0"/>
                        <a:t>r</a:t>
                      </a:r>
                      <a:r>
                        <a:rPr lang="en-GB" dirty="0"/>
                        <a:t>ecklessness</a:t>
                      </a:r>
                    </a:p>
                  </a:txBody>
                  <a:tcPr/>
                </a:tc>
                <a:extLst>
                  <a:ext uri="{0D108BD9-81ED-4DB2-BD59-A6C34878D82A}">
                    <a16:rowId xmlns:a16="http://schemas.microsoft.com/office/drawing/2014/main" val="10001"/>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F5F7A3B8-07E6-3A4E-DD23-8204CB6F87CD}"/>
              </a:ext>
            </a:extLst>
          </p:cNvPr>
          <p:cNvSpPr>
            <a:spLocks noGrp="1" noChangeArrowheads="1"/>
          </p:cNvSpPr>
          <p:nvPr>
            <p:ph type="title"/>
          </p:nvPr>
        </p:nvSpPr>
        <p:spPr/>
        <p:txBody>
          <a:bodyPr/>
          <a:lstStyle/>
          <a:p>
            <a:r>
              <a:rPr lang="en-GB" altLang="en-US"/>
              <a:t>Assault Occasioning ABH</a:t>
            </a:r>
          </a:p>
        </p:txBody>
      </p:sp>
      <p:sp>
        <p:nvSpPr>
          <p:cNvPr id="12291" name="Text Placeholder 3">
            <a:extLst>
              <a:ext uri="{FF2B5EF4-FFF2-40B4-BE49-F238E27FC236}">
                <a16:creationId xmlns:a16="http://schemas.microsoft.com/office/drawing/2014/main" id="{71E4D8DC-A15E-6E9D-5ED7-8C820F4FC83E}"/>
              </a:ext>
            </a:extLst>
          </p:cNvPr>
          <p:cNvSpPr>
            <a:spLocks noGrp="1" noChangeArrowheads="1"/>
          </p:cNvSpPr>
          <p:nvPr>
            <p:ph type="body" idx="1"/>
          </p:nvPr>
        </p:nvSpPr>
        <p:spPr/>
        <p:txBody>
          <a:bodyPr anchor="t"/>
          <a:lstStyle/>
          <a:p>
            <a:r>
              <a:rPr lang="en-GB" altLang="en-US"/>
              <a:t>Definition</a:t>
            </a:r>
          </a:p>
        </p:txBody>
      </p:sp>
      <p:sp>
        <p:nvSpPr>
          <p:cNvPr id="12292" name="Content Placeholder 4">
            <a:extLst>
              <a:ext uri="{FF2B5EF4-FFF2-40B4-BE49-F238E27FC236}">
                <a16:creationId xmlns:a16="http://schemas.microsoft.com/office/drawing/2014/main" id="{A89CA657-661B-3302-A1D6-3AA256D93A38}"/>
              </a:ext>
            </a:extLst>
          </p:cNvPr>
          <p:cNvSpPr>
            <a:spLocks noGrp="1" noChangeArrowheads="1"/>
          </p:cNvSpPr>
          <p:nvPr>
            <p:ph sz="half" idx="2"/>
          </p:nvPr>
        </p:nvSpPr>
        <p:spPr/>
        <p:txBody>
          <a:bodyPr/>
          <a:lstStyle/>
          <a:p>
            <a:pPr marL="0" indent="0">
              <a:buFontTx/>
              <a:buChar char="•"/>
            </a:pPr>
            <a:r>
              <a:rPr lang="en-US" altLang="en-US" dirty="0"/>
              <a:t>“Whosoever shall be convicted upon an indictment of any </a:t>
            </a:r>
            <a:r>
              <a:rPr lang="en-US" altLang="en-US" dirty="0">
                <a:solidFill>
                  <a:srgbClr val="FF0000"/>
                </a:solidFill>
              </a:rPr>
              <a:t>assault occasioning actual bodily harm </a:t>
            </a:r>
            <a:r>
              <a:rPr lang="en-US" altLang="en-US" dirty="0"/>
              <a:t>shall be liable to be kept in penal servitude”</a:t>
            </a:r>
            <a:endParaRPr lang="en-GB" altLang="en-US" dirty="0"/>
          </a:p>
          <a:p>
            <a:pPr marL="0" indent="0">
              <a:buFontTx/>
              <a:buChar char="•"/>
            </a:pPr>
            <a:r>
              <a:rPr lang="en-GB" altLang="en-US" sz="2000" i="1" dirty="0"/>
              <a:t>Offences Against the Person Act 1861, s 47</a:t>
            </a:r>
            <a:endParaRPr lang="en-GB" altLang="en-US" sz="2000" dirty="0"/>
          </a:p>
          <a:p>
            <a:pPr marL="0" indent="0">
              <a:buFontTx/>
              <a:buChar char="•"/>
            </a:pPr>
            <a:endParaRPr lang="en-GB" altLang="en-US" dirty="0"/>
          </a:p>
          <a:p>
            <a:pPr marL="0" indent="0"/>
            <a:endParaRPr lang="en-GB" altLang="en-US" dirty="0"/>
          </a:p>
        </p:txBody>
      </p:sp>
      <p:sp>
        <p:nvSpPr>
          <p:cNvPr id="12293" name="Text Placeholder 5">
            <a:extLst>
              <a:ext uri="{FF2B5EF4-FFF2-40B4-BE49-F238E27FC236}">
                <a16:creationId xmlns:a16="http://schemas.microsoft.com/office/drawing/2014/main" id="{CAD336F9-4F07-93EE-C4FE-3E2B92AA2E34}"/>
              </a:ext>
            </a:extLst>
          </p:cNvPr>
          <p:cNvSpPr>
            <a:spLocks noGrp="1" noChangeArrowheads="1"/>
          </p:cNvSpPr>
          <p:nvPr>
            <p:ph type="body" sz="quarter" idx="3"/>
          </p:nvPr>
        </p:nvSpPr>
        <p:spPr/>
        <p:txBody>
          <a:bodyPr anchor="t"/>
          <a:lstStyle/>
          <a:p>
            <a:r>
              <a:rPr lang="en-GB" altLang="en-US"/>
              <a:t>Key AR and MR elements</a:t>
            </a:r>
          </a:p>
        </p:txBody>
      </p:sp>
      <p:graphicFrame>
        <p:nvGraphicFramePr>
          <p:cNvPr id="9" name="Table 9">
            <a:extLst>
              <a:ext uri="{FF2B5EF4-FFF2-40B4-BE49-F238E27FC236}">
                <a16:creationId xmlns:a16="http://schemas.microsoft.com/office/drawing/2014/main" id="{C77617A9-5034-A7B5-DB76-516B3FF674DD}"/>
              </a:ext>
            </a:extLst>
          </p:cNvPr>
          <p:cNvGraphicFramePr>
            <a:graphicFrameLocks noGrp="1"/>
          </p:cNvGraphicFramePr>
          <p:nvPr>
            <p:ph sz="quarter" idx="4"/>
          </p:nvPr>
        </p:nvGraphicFramePr>
        <p:xfrm>
          <a:off x="4645025" y="2174875"/>
          <a:ext cx="4041776" cy="3951288"/>
        </p:xfrm>
        <a:graphic>
          <a:graphicData uri="http://schemas.openxmlformats.org/drawingml/2006/table">
            <a:tbl>
              <a:tblPr firstRow="1" bandRow="1">
                <a:tableStyleId>{5C22544A-7EE6-4342-B048-85BDC9FD1C3A}</a:tableStyleId>
              </a:tblPr>
              <a:tblGrid>
                <a:gridCol w="2020888">
                  <a:extLst>
                    <a:ext uri="{9D8B030D-6E8A-4147-A177-3AD203B41FA5}">
                      <a16:colId xmlns:a16="http://schemas.microsoft.com/office/drawing/2014/main" val="20000"/>
                    </a:ext>
                  </a:extLst>
                </a:gridCol>
                <a:gridCol w="2020888">
                  <a:extLst>
                    <a:ext uri="{9D8B030D-6E8A-4147-A177-3AD203B41FA5}">
                      <a16:colId xmlns:a16="http://schemas.microsoft.com/office/drawing/2014/main" val="20001"/>
                    </a:ext>
                  </a:extLst>
                </a:gridCol>
              </a:tblGrid>
              <a:tr h="828907">
                <a:tc>
                  <a:txBody>
                    <a:bodyPr/>
                    <a:lstStyle/>
                    <a:p>
                      <a:r>
                        <a:rPr lang="en-GB" dirty="0"/>
                        <a:t>Actus Reus</a:t>
                      </a:r>
                    </a:p>
                  </a:txBody>
                  <a:tcPr/>
                </a:tc>
                <a:tc>
                  <a:txBody>
                    <a:bodyPr/>
                    <a:lstStyle/>
                    <a:p>
                      <a:r>
                        <a:rPr lang="en-GB" dirty="0" err="1"/>
                        <a:t>Mens</a:t>
                      </a:r>
                      <a:r>
                        <a:rPr lang="en-GB" dirty="0"/>
                        <a:t> Rea</a:t>
                      </a:r>
                    </a:p>
                  </a:txBody>
                  <a:tcPr/>
                </a:tc>
                <a:extLst>
                  <a:ext uri="{0D108BD9-81ED-4DB2-BD59-A6C34878D82A}">
                    <a16:rowId xmlns:a16="http://schemas.microsoft.com/office/drawing/2014/main" val="10000"/>
                  </a:ext>
                </a:extLst>
              </a:tr>
              <a:tr h="3122381">
                <a:tc>
                  <a:txBody>
                    <a:bodyPr/>
                    <a:lstStyle/>
                    <a:p>
                      <a:pPr marL="285750" indent="-285750">
                        <a:buFont typeface="Arial" panose="020B0604020202020204" pitchFamily="34" charset="0"/>
                        <a:buChar char="•"/>
                      </a:pPr>
                      <a:r>
                        <a:rPr lang="en-GB" dirty="0"/>
                        <a:t>Assault or Battery</a:t>
                      </a:r>
                    </a:p>
                    <a:p>
                      <a:pPr marL="285750" indent="-285750">
                        <a:buFont typeface="Arial" panose="020B0604020202020204" pitchFamily="34" charset="0"/>
                        <a:buChar char="•"/>
                      </a:pPr>
                      <a:r>
                        <a:rPr lang="en-GB" dirty="0"/>
                        <a:t>Occasioning</a:t>
                      </a:r>
                    </a:p>
                    <a:p>
                      <a:pPr marL="742950" lvl="1" indent="-285750">
                        <a:buFont typeface="Arial" panose="020B0604020202020204" pitchFamily="34" charset="0"/>
                        <a:buChar char="•"/>
                      </a:pPr>
                      <a:r>
                        <a:rPr lang="en-GB" dirty="0"/>
                        <a:t>Actual bodily harm</a:t>
                      </a:r>
                    </a:p>
                  </a:txBody>
                  <a:tcPr/>
                </a:tc>
                <a:tc>
                  <a:txBody>
                    <a:bodyPr/>
                    <a:lstStyle/>
                    <a:p>
                      <a:pPr marL="285750" indent="-285750">
                        <a:buFont typeface="Arial" panose="020B0604020202020204" pitchFamily="34" charset="0"/>
                        <a:buChar char="•"/>
                      </a:pPr>
                      <a:r>
                        <a:rPr lang="en-GB" dirty="0"/>
                        <a:t>Intention </a:t>
                      </a:r>
                      <a:r>
                        <a:rPr lang="en-GB" b="1" u="sng" dirty="0"/>
                        <a:t>or </a:t>
                      </a:r>
                      <a:r>
                        <a:rPr lang="en-GB" b="0" u="none" dirty="0"/>
                        <a:t>r</a:t>
                      </a:r>
                      <a:r>
                        <a:rPr lang="en-GB" dirty="0"/>
                        <a:t>ecklessness to the base offence (assault or battery)</a:t>
                      </a:r>
                    </a:p>
                  </a:txBody>
                  <a:tcPr/>
                </a:tc>
                <a:extLst>
                  <a:ext uri="{0D108BD9-81ED-4DB2-BD59-A6C34878D82A}">
                    <a16:rowId xmlns:a16="http://schemas.microsoft.com/office/drawing/2014/main" val="10001"/>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9640A2A5-4870-11D2-889B-87F6E7D132F3}"/>
              </a:ext>
            </a:extLst>
          </p:cNvPr>
          <p:cNvSpPr>
            <a:spLocks noGrp="1" noChangeArrowheads="1"/>
          </p:cNvSpPr>
          <p:nvPr>
            <p:ph type="title"/>
          </p:nvPr>
        </p:nvSpPr>
        <p:spPr/>
        <p:txBody>
          <a:bodyPr/>
          <a:lstStyle/>
          <a:p>
            <a:r>
              <a:rPr lang="en-GB" altLang="en-US"/>
              <a:t>Section 20: GBH</a:t>
            </a:r>
          </a:p>
        </p:txBody>
      </p:sp>
      <p:sp>
        <p:nvSpPr>
          <p:cNvPr id="14339" name="Text Placeholder 3">
            <a:extLst>
              <a:ext uri="{FF2B5EF4-FFF2-40B4-BE49-F238E27FC236}">
                <a16:creationId xmlns:a16="http://schemas.microsoft.com/office/drawing/2014/main" id="{4A131559-2550-89DB-A14F-B491C72A0877}"/>
              </a:ext>
            </a:extLst>
          </p:cNvPr>
          <p:cNvSpPr>
            <a:spLocks noGrp="1" noChangeArrowheads="1"/>
          </p:cNvSpPr>
          <p:nvPr>
            <p:ph type="body" idx="1"/>
          </p:nvPr>
        </p:nvSpPr>
        <p:spPr/>
        <p:txBody>
          <a:bodyPr anchor="t"/>
          <a:lstStyle/>
          <a:p>
            <a:r>
              <a:rPr lang="en-GB" altLang="en-US"/>
              <a:t>Definition</a:t>
            </a:r>
          </a:p>
        </p:txBody>
      </p:sp>
      <p:sp>
        <p:nvSpPr>
          <p:cNvPr id="14340" name="Content Placeholder 4">
            <a:extLst>
              <a:ext uri="{FF2B5EF4-FFF2-40B4-BE49-F238E27FC236}">
                <a16:creationId xmlns:a16="http://schemas.microsoft.com/office/drawing/2014/main" id="{8BC6C757-7566-1464-696B-F8D4BB9CFA44}"/>
              </a:ext>
            </a:extLst>
          </p:cNvPr>
          <p:cNvSpPr>
            <a:spLocks noGrp="1" noChangeArrowheads="1"/>
          </p:cNvSpPr>
          <p:nvPr>
            <p:ph sz="half" idx="2"/>
          </p:nvPr>
        </p:nvSpPr>
        <p:spPr/>
        <p:txBody>
          <a:bodyPr/>
          <a:lstStyle/>
          <a:p>
            <a:pPr marL="0" indent="0">
              <a:buFontTx/>
              <a:buChar char="•"/>
            </a:pPr>
            <a:r>
              <a:rPr lang="en-US" altLang="en-US" sz="2000" dirty="0"/>
              <a:t>“Whosoever shall unlawfully and </a:t>
            </a:r>
            <a:r>
              <a:rPr lang="en-US" altLang="en-US" sz="2000" dirty="0">
                <a:solidFill>
                  <a:srgbClr val="00B050"/>
                </a:solidFill>
              </a:rPr>
              <a:t>maliciously</a:t>
            </a:r>
            <a:r>
              <a:rPr lang="en-US" altLang="en-US" sz="2000" dirty="0"/>
              <a:t> </a:t>
            </a:r>
            <a:r>
              <a:rPr lang="en-US" altLang="en-US" sz="2000" dirty="0">
                <a:solidFill>
                  <a:srgbClr val="FF0000"/>
                </a:solidFill>
              </a:rPr>
              <a:t>wound or inflict any grievous bodily harm </a:t>
            </a:r>
            <a:r>
              <a:rPr lang="en-US" altLang="en-US" sz="2000" dirty="0"/>
              <a:t>upon any other person, either with or without any weapon or instrument, shall be guilty of a misdemeanor, and being convicted thereof shall be liable to be kept in penal servitude.”</a:t>
            </a:r>
          </a:p>
          <a:p>
            <a:pPr marL="0" indent="0">
              <a:buFontTx/>
              <a:buChar char="•"/>
            </a:pPr>
            <a:r>
              <a:rPr lang="en-US" altLang="en-US" sz="1800" i="1" dirty="0"/>
              <a:t>Offences Against the Person Act 1861, s 20</a:t>
            </a:r>
            <a:endParaRPr lang="en-GB" altLang="en-US" sz="1800" i="1" dirty="0"/>
          </a:p>
          <a:p>
            <a:pPr marL="0" indent="0">
              <a:buFontTx/>
              <a:buChar char="•"/>
            </a:pPr>
            <a:endParaRPr lang="en-GB" altLang="en-US" dirty="0"/>
          </a:p>
          <a:p>
            <a:pPr marL="0" indent="0"/>
            <a:endParaRPr lang="en-GB" altLang="en-US" dirty="0"/>
          </a:p>
        </p:txBody>
      </p:sp>
      <p:sp>
        <p:nvSpPr>
          <p:cNvPr id="14341" name="Text Placeholder 5">
            <a:extLst>
              <a:ext uri="{FF2B5EF4-FFF2-40B4-BE49-F238E27FC236}">
                <a16:creationId xmlns:a16="http://schemas.microsoft.com/office/drawing/2014/main" id="{6F54D2C3-D984-126D-1194-CE1EB0A14DC1}"/>
              </a:ext>
            </a:extLst>
          </p:cNvPr>
          <p:cNvSpPr>
            <a:spLocks noGrp="1" noChangeArrowheads="1"/>
          </p:cNvSpPr>
          <p:nvPr>
            <p:ph type="body" sz="quarter" idx="3"/>
          </p:nvPr>
        </p:nvSpPr>
        <p:spPr/>
        <p:txBody>
          <a:bodyPr anchor="t"/>
          <a:lstStyle/>
          <a:p>
            <a:r>
              <a:rPr lang="en-GB" altLang="en-US"/>
              <a:t>Key AR and MR elements</a:t>
            </a:r>
          </a:p>
        </p:txBody>
      </p:sp>
      <p:graphicFrame>
        <p:nvGraphicFramePr>
          <p:cNvPr id="9" name="Table 9">
            <a:extLst>
              <a:ext uri="{FF2B5EF4-FFF2-40B4-BE49-F238E27FC236}">
                <a16:creationId xmlns:a16="http://schemas.microsoft.com/office/drawing/2014/main" id="{83A4D481-95D9-8D88-FFEA-88DAA83A22D4}"/>
              </a:ext>
            </a:extLst>
          </p:cNvPr>
          <p:cNvGraphicFramePr>
            <a:graphicFrameLocks noGrp="1"/>
          </p:cNvGraphicFramePr>
          <p:nvPr>
            <p:ph sz="quarter" idx="4"/>
          </p:nvPr>
        </p:nvGraphicFramePr>
        <p:xfrm>
          <a:off x="4645025" y="2174875"/>
          <a:ext cx="4041776" cy="3951288"/>
        </p:xfrm>
        <a:graphic>
          <a:graphicData uri="http://schemas.openxmlformats.org/drawingml/2006/table">
            <a:tbl>
              <a:tblPr firstRow="1" bandRow="1">
                <a:tableStyleId>{5C22544A-7EE6-4342-B048-85BDC9FD1C3A}</a:tableStyleId>
              </a:tblPr>
              <a:tblGrid>
                <a:gridCol w="2020888">
                  <a:extLst>
                    <a:ext uri="{9D8B030D-6E8A-4147-A177-3AD203B41FA5}">
                      <a16:colId xmlns:a16="http://schemas.microsoft.com/office/drawing/2014/main" val="20000"/>
                    </a:ext>
                  </a:extLst>
                </a:gridCol>
                <a:gridCol w="2020888">
                  <a:extLst>
                    <a:ext uri="{9D8B030D-6E8A-4147-A177-3AD203B41FA5}">
                      <a16:colId xmlns:a16="http://schemas.microsoft.com/office/drawing/2014/main" val="20001"/>
                    </a:ext>
                  </a:extLst>
                </a:gridCol>
              </a:tblGrid>
              <a:tr h="828907">
                <a:tc>
                  <a:txBody>
                    <a:bodyPr/>
                    <a:lstStyle/>
                    <a:p>
                      <a:r>
                        <a:rPr lang="en-GB" dirty="0"/>
                        <a:t>Actus Reus</a:t>
                      </a:r>
                    </a:p>
                  </a:txBody>
                  <a:tcPr/>
                </a:tc>
                <a:tc>
                  <a:txBody>
                    <a:bodyPr/>
                    <a:lstStyle/>
                    <a:p>
                      <a:r>
                        <a:rPr lang="en-GB" dirty="0" err="1"/>
                        <a:t>Mens</a:t>
                      </a:r>
                      <a:r>
                        <a:rPr lang="en-GB" dirty="0"/>
                        <a:t> Rea</a:t>
                      </a:r>
                    </a:p>
                  </a:txBody>
                  <a:tcPr/>
                </a:tc>
                <a:extLst>
                  <a:ext uri="{0D108BD9-81ED-4DB2-BD59-A6C34878D82A}">
                    <a16:rowId xmlns:a16="http://schemas.microsoft.com/office/drawing/2014/main" val="10000"/>
                  </a:ext>
                </a:extLst>
              </a:tr>
              <a:tr h="3122381">
                <a:tc>
                  <a:txBody>
                    <a:bodyPr/>
                    <a:lstStyle/>
                    <a:p>
                      <a:pPr marL="285750" indent="-285750">
                        <a:buFont typeface="Arial" panose="020B0604020202020204" pitchFamily="34" charset="0"/>
                        <a:buChar char="•"/>
                      </a:pPr>
                      <a:r>
                        <a:rPr lang="en-GB" dirty="0"/>
                        <a:t>Wounding </a:t>
                      </a:r>
                      <a:r>
                        <a:rPr lang="en-GB" b="1" u="sng" dirty="0"/>
                        <a:t>or </a:t>
                      </a:r>
                      <a:r>
                        <a:rPr lang="en-GB" b="0" u="none" dirty="0"/>
                        <a:t>causing GBH</a:t>
                      </a:r>
                      <a:endParaRPr lang="en-GB" b="1" u="none" dirty="0"/>
                    </a:p>
                  </a:txBody>
                  <a:tcPr/>
                </a:tc>
                <a:tc>
                  <a:txBody>
                    <a:bodyPr/>
                    <a:lstStyle/>
                    <a:p>
                      <a:r>
                        <a:rPr lang="en-GB" dirty="0"/>
                        <a:t>Intention </a:t>
                      </a:r>
                      <a:r>
                        <a:rPr lang="en-GB" b="1" u="sng" dirty="0"/>
                        <a:t>or</a:t>
                      </a:r>
                    </a:p>
                    <a:p>
                      <a:r>
                        <a:rPr lang="en-GB" dirty="0"/>
                        <a:t>Recklessness as to some harm</a:t>
                      </a:r>
                    </a:p>
                  </a:txBody>
                  <a:tcPr/>
                </a:tc>
                <a:extLst>
                  <a:ext uri="{0D108BD9-81ED-4DB2-BD59-A6C34878D82A}">
                    <a16:rowId xmlns:a16="http://schemas.microsoft.com/office/drawing/2014/main" val="10001"/>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52479C4F-71C5-B439-FB18-387A17D1B85A}"/>
              </a:ext>
            </a:extLst>
          </p:cNvPr>
          <p:cNvSpPr>
            <a:spLocks noGrp="1" noChangeArrowheads="1"/>
          </p:cNvSpPr>
          <p:nvPr>
            <p:ph type="title"/>
          </p:nvPr>
        </p:nvSpPr>
        <p:spPr/>
        <p:txBody>
          <a:bodyPr/>
          <a:lstStyle/>
          <a:p>
            <a:r>
              <a:rPr lang="en-GB" altLang="en-US"/>
              <a:t>Section 18: GBH with intent</a:t>
            </a:r>
          </a:p>
        </p:txBody>
      </p:sp>
      <p:sp>
        <p:nvSpPr>
          <p:cNvPr id="16387" name="Text Placeholder 3">
            <a:extLst>
              <a:ext uri="{FF2B5EF4-FFF2-40B4-BE49-F238E27FC236}">
                <a16:creationId xmlns:a16="http://schemas.microsoft.com/office/drawing/2014/main" id="{40EED4BE-BDC5-FBEA-AB6A-C3F88CA3BAD3}"/>
              </a:ext>
            </a:extLst>
          </p:cNvPr>
          <p:cNvSpPr>
            <a:spLocks noGrp="1" noChangeArrowheads="1"/>
          </p:cNvSpPr>
          <p:nvPr>
            <p:ph type="body" idx="1"/>
          </p:nvPr>
        </p:nvSpPr>
        <p:spPr/>
        <p:txBody>
          <a:bodyPr anchor="t"/>
          <a:lstStyle/>
          <a:p>
            <a:r>
              <a:rPr lang="en-GB" altLang="en-US"/>
              <a:t>Definition</a:t>
            </a:r>
          </a:p>
        </p:txBody>
      </p:sp>
      <p:sp>
        <p:nvSpPr>
          <p:cNvPr id="16388" name="Content Placeholder 4">
            <a:extLst>
              <a:ext uri="{FF2B5EF4-FFF2-40B4-BE49-F238E27FC236}">
                <a16:creationId xmlns:a16="http://schemas.microsoft.com/office/drawing/2014/main" id="{A56E91D2-D389-BEA4-FCAA-0B0E2E6CEAA9}"/>
              </a:ext>
            </a:extLst>
          </p:cNvPr>
          <p:cNvSpPr>
            <a:spLocks noGrp="1" noChangeArrowheads="1"/>
          </p:cNvSpPr>
          <p:nvPr>
            <p:ph sz="half" idx="2"/>
          </p:nvPr>
        </p:nvSpPr>
        <p:spPr/>
        <p:txBody>
          <a:bodyPr/>
          <a:lstStyle/>
          <a:p>
            <a:pPr marL="0" indent="0">
              <a:buFontTx/>
              <a:buChar char="•"/>
            </a:pPr>
            <a:r>
              <a:rPr lang="en-GB" altLang="en-US" sz="2200" dirty="0"/>
              <a:t>“Whosoever shall unlawfully and maliciously by any means whatsoever </a:t>
            </a:r>
            <a:r>
              <a:rPr lang="en-GB" altLang="en-US" sz="2200" dirty="0">
                <a:solidFill>
                  <a:srgbClr val="FF0000"/>
                </a:solidFill>
              </a:rPr>
              <a:t>wound or cause any grievous </a:t>
            </a:r>
            <a:r>
              <a:rPr lang="en-GB" altLang="en-US" sz="2200" dirty="0"/>
              <a:t>bodily harm to any person, with </a:t>
            </a:r>
            <a:r>
              <a:rPr lang="en-GB" altLang="en-US" sz="2200" dirty="0">
                <a:solidFill>
                  <a:srgbClr val="00B050"/>
                </a:solidFill>
              </a:rPr>
              <a:t>intent, to do some grievous bodily harm </a:t>
            </a:r>
            <a:r>
              <a:rPr lang="en-GB" altLang="en-US" sz="2200" dirty="0"/>
              <a:t>to any person…”</a:t>
            </a:r>
          </a:p>
          <a:p>
            <a:pPr marL="0" indent="0">
              <a:buFontTx/>
              <a:buChar char="•"/>
            </a:pPr>
            <a:r>
              <a:rPr lang="en-US" altLang="en-US" sz="2000" i="1" dirty="0"/>
              <a:t>Offences Against the Person Act 1861, s 18</a:t>
            </a:r>
            <a:endParaRPr lang="en-GB" altLang="en-US" sz="2000" i="1" dirty="0"/>
          </a:p>
          <a:p>
            <a:pPr marL="0" indent="0">
              <a:buFontTx/>
              <a:buChar char="•"/>
            </a:pPr>
            <a:endParaRPr lang="en-GB" altLang="en-US" sz="2000" dirty="0"/>
          </a:p>
          <a:p>
            <a:pPr marL="0" indent="0">
              <a:buFontTx/>
              <a:buChar char="•"/>
            </a:pPr>
            <a:endParaRPr lang="en-GB" altLang="en-US" sz="2000" dirty="0"/>
          </a:p>
          <a:p>
            <a:pPr marL="0" indent="0"/>
            <a:endParaRPr lang="en-GB" altLang="en-US" dirty="0"/>
          </a:p>
        </p:txBody>
      </p:sp>
      <p:sp>
        <p:nvSpPr>
          <p:cNvPr id="16389" name="Text Placeholder 5">
            <a:extLst>
              <a:ext uri="{FF2B5EF4-FFF2-40B4-BE49-F238E27FC236}">
                <a16:creationId xmlns:a16="http://schemas.microsoft.com/office/drawing/2014/main" id="{BEFEDA25-A214-D735-2800-4D0A04064C01}"/>
              </a:ext>
            </a:extLst>
          </p:cNvPr>
          <p:cNvSpPr>
            <a:spLocks noGrp="1" noChangeArrowheads="1"/>
          </p:cNvSpPr>
          <p:nvPr>
            <p:ph type="body" sz="quarter" idx="3"/>
          </p:nvPr>
        </p:nvSpPr>
        <p:spPr/>
        <p:txBody>
          <a:bodyPr anchor="t"/>
          <a:lstStyle/>
          <a:p>
            <a:r>
              <a:rPr lang="en-GB" altLang="en-US"/>
              <a:t>Key AR and MR elements</a:t>
            </a:r>
          </a:p>
        </p:txBody>
      </p:sp>
      <p:graphicFrame>
        <p:nvGraphicFramePr>
          <p:cNvPr id="9" name="Table 9">
            <a:extLst>
              <a:ext uri="{FF2B5EF4-FFF2-40B4-BE49-F238E27FC236}">
                <a16:creationId xmlns:a16="http://schemas.microsoft.com/office/drawing/2014/main" id="{053EE600-4682-C73E-251B-CEAE087340CE}"/>
              </a:ext>
            </a:extLst>
          </p:cNvPr>
          <p:cNvGraphicFramePr>
            <a:graphicFrameLocks noGrp="1"/>
          </p:cNvGraphicFramePr>
          <p:nvPr>
            <p:ph sz="quarter" idx="4"/>
          </p:nvPr>
        </p:nvGraphicFramePr>
        <p:xfrm>
          <a:off x="4645025" y="2174875"/>
          <a:ext cx="4041776" cy="3951288"/>
        </p:xfrm>
        <a:graphic>
          <a:graphicData uri="http://schemas.openxmlformats.org/drawingml/2006/table">
            <a:tbl>
              <a:tblPr firstRow="1" bandRow="1">
                <a:tableStyleId>{5C22544A-7EE6-4342-B048-85BDC9FD1C3A}</a:tableStyleId>
              </a:tblPr>
              <a:tblGrid>
                <a:gridCol w="2020888">
                  <a:extLst>
                    <a:ext uri="{9D8B030D-6E8A-4147-A177-3AD203B41FA5}">
                      <a16:colId xmlns:a16="http://schemas.microsoft.com/office/drawing/2014/main" val="20000"/>
                    </a:ext>
                  </a:extLst>
                </a:gridCol>
                <a:gridCol w="2020888">
                  <a:extLst>
                    <a:ext uri="{9D8B030D-6E8A-4147-A177-3AD203B41FA5}">
                      <a16:colId xmlns:a16="http://schemas.microsoft.com/office/drawing/2014/main" val="20001"/>
                    </a:ext>
                  </a:extLst>
                </a:gridCol>
              </a:tblGrid>
              <a:tr h="828907">
                <a:tc>
                  <a:txBody>
                    <a:bodyPr/>
                    <a:lstStyle/>
                    <a:p>
                      <a:r>
                        <a:rPr lang="en-GB" dirty="0"/>
                        <a:t>Actus Reus</a:t>
                      </a:r>
                    </a:p>
                  </a:txBody>
                  <a:tcPr/>
                </a:tc>
                <a:tc>
                  <a:txBody>
                    <a:bodyPr/>
                    <a:lstStyle/>
                    <a:p>
                      <a:r>
                        <a:rPr lang="en-GB" dirty="0" err="1"/>
                        <a:t>Mens</a:t>
                      </a:r>
                      <a:r>
                        <a:rPr lang="en-GB" dirty="0"/>
                        <a:t> Rea</a:t>
                      </a:r>
                    </a:p>
                  </a:txBody>
                  <a:tcPr/>
                </a:tc>
                <a:extLst>
                  <a:ext uri="{0D108BD9-81ED-4DB2-BD59-A6C34878D82A}">
                    <a16:rowId xmlns:a16="http://schemas.microsoft.com/office/drawing/2014/main" val="10000"/>
                  </a:ext>
                </a:extLst>
              </a:tr>
              <a:tr h="3122381">
                <a:tc>
                  <a:txBody>
                    <a:bodyPr/>
                    <a:lstStyle/>
                    <a:p>
                      <a:pPr marL="285750" indent="-285750">
                        <a:buFont typeface="Arial" panose="020B0604020202020204" pitchFamily="34" charset="0"/>
                        <a:buChar char="•"/>
                      </a:pPr>
                      <a:r>
                        <a:rPr lang="en-GB" dirty="0"/>
                        <a:t>Wounding </a:t>
                      </a:r>
                      <a:r>
                        <a:rPr lang="en-GB" b="1" u="sng" dirty="0"/>
                        <a:t>or </a:t>
                      </a:r>
                      <a:r>
                        <a:rPr lang="en-GB" b="0" u="none" dirty="0"/>
                        <a:t>causing GBH</a:t>
                      </a:r>
                      <a:endParaRPr lang="en-GB" dirty="0"/>
                    </a:p>
                  </a:txBody>
                  <a:tcPr/>
                </a:tc>
                <a:tc>
                  <a:txBody>
                    <a:bodyPr/>
                    <a:lstStyle/>
                    <a:p>
                      <a:r>
                        <a:rPr lang="en-GB" dirty="0"/>
                        <a:t>Intention </a:t>
                      </a:r>
                      <a:r>
                        <a:rPr lang="en-GB" b="0" u="none" dirty="0"/>
                        <a:t>to cause GBH</a:t>
                      </a:r>
                      <a:endParaRPr lang="en-GB" dirty="0"/>
                    </a:p>
                  </a:txBody>
                  <a:tcPr/>
                </a:tc>
                <a:extLst>
                  <a:ext uri="{0D108BD9-81ED-4DB2-BD59-A6C34878D82A}">
                    <a16:rowId xmlns:a16="http://schemas.microsoft.com/office/drawing/2014/main" val="10001"/>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D3630-F71C-C146-2EBE-1EA37D6E9C10}"/>
              </a:ext>
            </a:extLst>
          </p:cNvPr>
          <p:cNvSpPr>
            <a:spLocks noGrp="1"/>
          </p:cNvSpPr>
          <p:nvPr>
            <p:ph type="title"/>
          </p:nvPr>
        </p:nvSpPr>
        <p:spPr/>
        <p:txBody>
          <a:bodyPr/>
          <a:lstStyle/>
          <a:p>
            <a:r>
              <a:rPr lang="en-GB" dirty="0"/>
              <a:t>General Feedback (i): structure</a:t>
            </a:r>
          </a:p>
        </p:txBody>
      </p:sp>
      <p:sp>
        <p:nvSpPr>
          <p:cNvPr id="4" name="Content Placeholder 3">
            <a:extLst>
              <a:ext uri="{FF2B5EF4-FFF2-40B4-BE49-F238E27FC236}">
                <a16:creationId xmlns:a16="http://schemas.microsoft.com/office/drawing/2014/main" id="{6C62CAFC-6E08-9037-1EED-405BD357E9C7}"/>
              </a:ext>
            </a:extLst>
          </p:cNvPr>
          <p:cNvSpPr>
            <a:spLocks noGrp="1"/>
          </p:cNvSpPr>
          <p:nvPr>
            <p:ph idx="1"/>
          </p:nvPr>
        </p:nvSpPr>
        <p:spPr/>
        <p:txBody>
          <a:bodyPr/>
          <a:lstStyle/>
          <a:p>
            <a:pPr>
              <a:spcBef>
                <a:spcPts val="0"/>
              </a:spcBef>
              <a:spcAft>
                <a:spcPts val="200"/>
              </a:spcAft>
              <a:buFont typeface="Arial" panose="020B0604020202020204" pitchFamily="34" charset="0"/>
              <a:buChar char="•"/>
            </a:pPr>
            <a:r>
              <a:rPr lang="en-GB" sz="1600" dirty="0"/>
              <a:t>Clearly summarise your findings on likely liability and defences for each party.</a:t>
            </a:r>
          </a:p>
          <a:p>
            <a:pPr>
              <a:spcBef>
                <a:spcPts val="0"/>
              </a:spcBef>
              <a:spcAft>
                <a:spcPts val="200"/>
              </a:spcAft>
              <a:buFont typeface="Arial" panose="020B0604020202020204" pitchFamily="34" charset="0"/>
              <a:buChar char="•"/>
            </a:pPr>
            <a:r>
              <a:rPr lang="en-GB" sz="1600" dirty="0"/>
              <a:t>Separate out by party (and use subheadings)</a:t>
            </a:r>
          </a:p>
          <a:p>
            <a:pPr lvl="1">
              <a:spcBef>
                <a:spcPts val="0"/>
              </a:spcBef>
              <a:spcAft>
                <a:spcPts val="200"/>
              </a:spcAft>
              <a:buFont typeface="Arial" panose="020B0604020202020204" pitchFamily="34" charset="0"/>
              <a:buChar char="•"/>
            </a:pPr>
            <a:r>
              <a:rPr lang="en-GB" sz="1400" dirty="0"/>
              <a:t>Identify and define the offence (in statute or case law)</a:t>
            </a:r>
          </a:p>
          <a:p>
            <a:pPr lvl="1">
              <a:spcBef>
                <a:spcPts val="0"/>
              </a:spcBef>
              <a:spcAft>
                <a:spcPts val="200"/>
              </a:spcAft>
              <a:buFont typeface="Arial" panose="020B0604020202020204" pitchFamily="34" charset="0"/>
              <a:buChar char="•"/>
            </a:pPr>
            <a:r>
              <a:rPr lang="en-GB" sz="1400" b="1" dirty="0"/>
              <a:t>Actus reus</a:t>
            </a:r>
          </a:p>
          <a:p>
            <a:pPr lvl="2">
              <a:spcBef>
                <a:spcPts val="0"/>
              </a:spcBef>
              <a:spcAft>
                <a:spcPts val="200"/>
              </a:spcAft>
              <a:buFont typeface="Arial" panose="020B0604020202020204" pitchFamily="34" charset="0"/>
              <a:buChar char="•"/>
            </a:pPr>
            <a:r>
              <a:rPr lang="en-GB" sz="1200" dirty="0"/>
              <a:t>State each element</a:t>
            </a:r>
          </a:p>
          <a:p>
            <a:pPr lvl="2">
              <a:spcBef>
                <a:spcPts val="0"/>
              </a:spcBef>
              <a:spcAft>
                <a:spcPts val="200"/>
              </a:spcAft>
              <a:buFont typeface="Arial" panose="020B0604020202020204" pitchFamily="34" charset="0"/>
              <a:buChar char="•"/>
            </a:pPr>
            <a:r>
              <a:rPr lang="en-GB" sz="1200" dirty="0"/>
              <a:t>State how the courts have interpreted the relevant AR elements</a:t>
            </a:r>
          </a:p>
          <a:p>
            <a:pPr lvl="2">
              <a:spcBef>
                <a:spcPts val="0"/>
              </a:spcBef>
              <a:spcAft>
                <a:spcPts val="200"/>
              </a:spcAft>
              <a:buFont typeface="Arial" panose="020B0604020202020204" pitchFamily="34" charset="0"/>
              <a:buChar char="•"/>
            </a:pPr>
            <a:r>
              <a:rPr lang="en-GB" sz="1200" dirty="0"/>
              <a:t>Apply these to the facts</a:t>
            </a:r>
          </a:p>
          <a:p>
            <a:pPr lvl="1">
              <a:spcBef>
                <a:spcPts val="0"/>
              </a:spcBef>
              <a:spcAft>
                <a:spcPts val="200"/>
              </a:spcAft>
              <a:buFont typeface="Arial" panose="020B0604020202020204" pitchFamily="34" charset="0"/>
              <a:buChar char="•"/>
            </a:pPr>
            <a:r>
              <a:rPr lang="en-GB" sz="1400" b="1" dirty="0" err="1"/>
              <a:t>Mens</a:t>
            </a:r>
            <a:r>
              <a:rPr lang="en-GB" sz="1400" b="1" dirty="0"/>
              <a:t> rea</a:t>
            </a:r>
          </a:p>
          <a:p>
            <a:pPr lvl="2">
              <a:spcBef>
                <a:spcPts val="0"/>
              </a:spcBef>
              <a:spcAft>
                <a:spcPts val="200"/>
              </a:spcAft>
              <a:buFont typeface="Arial" panose="020B0604020202020204" pitchFamily="34" charset="0"/>
              <a:buChar char="•"/>
            </a:pPr>
            <a:r>
              <a:rPr lang="en-GB" sz="1200" dirty="0"/>
              <a:t>State each element</a:t>
            </a:r>
          </a:p>
          <a:p>
            <a:pPr lvl="2">
              <a:spcBef>
                <a:spcPts val="0"/>
              </a:spcBef>
              <a:spcAft>
                <a:spcPts val="200"/>
              </a:spcAft>
              <a:buFont typeface="Arial" panose="020B0604020202020204" pitchFamily="34" charset="0"/>
              <a:buChar char="•"/>
            </a:pPr>
            <a:r>
              <a:rPr lang="en-GB" sz="1200" dirty="0"/>
              <a:t>State how the courts have interpreted the relevant MR elements</a:t>
            </a:r>
          </a:p>
          <a:p>
            <a:pPr lvl="3">
              <a:spcBef>
                <a:spcPts val="0"/>
              </a:spcBef>
              <a:spcAft>
                <a:spcPts val="200"/>
              </a:spcAft>
              <a:buFont typeface="Arial" panose="020B0604020202020204" pitchFamily="34" charset="0"/>
              <a:buChar char="•"/>
            </a:pPr>
            <a:r>
              <a:rPr lang="en-GB" sz="1100" dirty="0"/>
              <a:t>Be specific: direct intention; indirect/oblique intention; recklessness</a:t>
            </a:r>
          </a:p>
          <a:p>
            <a:pPr lvl="2">
              <a:spcBef>
                <a:spcPts val="0"/>
              </a:spcBef>
              <a:spcAft>
                <a:spcPts val="200"/>
              </a:spcAft>
              <a:buFont typeface="Arial" panose="020B0604020202020204" pitchFamily="34" charset="0"/>
              <a:buChar char="•"/>
            </a:pPr>
            <a:r>
              <a:rPr lang="en-GB" sz="1200" dirty="0"/>
              <a:t>Apply these to the facts</a:t>
            </a:r>
          </a:p>
          <a:p>
            <a:pPr lvl="1">
              <a:spcBef>
                <a:spcPts val="0"/>
              </a:spcBef>
              <a:spcAft>
                <a:spcPts val="200"/>
              </a:spcAft>
              <a:buFont typeface="Arial" panose="020B0604020202020204" pitchFamily="34" charset="0"/>
              <a:buChar char="•"/>
            </a:pPr>
            <a:r>
              <a:rPr lang="en-GB" sz="1400" b="1" dirty="0"/>
              <a:t>Defences </a:t>
            </a:r>
          </a:p>
          <a:p>
            <a:pPr lvl="2">
              <a:spcBef>
                <a:spcPts val="0"/>
              </a:spcBef>
              <a:spcAft>
                <a:spcPts val="200"/>
              </a:spcAft>
              <a:buFont typeface="Arial" panose="020B0604020202020204" pitchFamily="34" charset="0"/>
              <a:buChar char="•"/>
            </a:pPr>
            <a:r>
              <a:rPr lang="en-GB" sz="1200" dirty="0"/>
              <a:t>For non-fatal offences against the person and the defence of consent you need to consider background to the rules and specific examples</a:t>
            </a:r>
          </a:p>
          <a:p>
            <a:pPr lvl="3">
              <a:spcBef>
                <a:spcPts val="0"/>
              </a:spcBef>
              <a:spcAft>
                <a:spcPts val="200"/>
              </a:spcAft>
              <a:buFont typeface="Arial" panose="020B0604020202020204" pitchFamily="34" charset="0"/>
              <a:buChar char="•"/>
            </a:pPr>
            <a:r>
              <a:rPr lang="en-GB" sz="1100" i="1" dirty="0"/>
              <a:t>R v Brown </a:t>
            </a:r>
            <a:r>
              <a:rPr lang="en-GB" sz="1100" dirty="0"/>
              <a:t>[1994] 1 AC 212</a:t>
            </a:r>
          </a:p>
          <a:p>
            <a:pPr lvl="3">
              <a:spcBef>
                <a:spcPts val="0"/>
              </a:spcBef>
              <a:spcAft>
                <a:spcPts val="200"/>
              </a:spcAft>
              <a:buFont typeface="Arial" panose="020B0604020202020204" pitchFamily="34" charset="0"/>
              <a:buChar char="•"/>
            </a:pPr>
            <a:r>
              <a:rPr lang="en-GB" sz="1100" dirty="0"/>
              <a:t>Then consider specific cases relating to sport and consent </a:t>
            </a:r>
            <a:r>
              <a:rPr lang="nb-NO" sz="1100" dirty="0"/>
              <a:t>Barnes [2005] 1 WLR 910</a:t>
            </a:r>
            <a:endParaRPr lang="en-GB" sz="1100" dirty="0"/>
          </a:p>
          <a:p>
            <a:pPr lvl="2">
              <a:buFont typeface="Arial" panose="020B0604020202020204" pitchFamily="34" charset="0"/>
              <a:buChar char="•"/>
            </a:pPr>
            <a:endParaRPr lang="en-GB" dirty="0"/>
          </a:p>
        </p:txBody>
      </p:sp>
    </p:spTree>
    <p:extLst>
      <p:ext uri="{BB962C8B-B14F-4D97-AF65-F5344CB8AC3E}">
        <p14:creationId xmlns:p14="http://schemas.microsoft.com/office/powerpoint/2010/main" val="38458557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0E31F-B061-AA10-B0C2-5E88B46A544B}"/>
              </a:ext>
            </a:extLst>
          </p:cNvPr>
          <p:cNvSpPr>
            <a:spLocks noGrp="1"/>
          </p:cNvSpPr>
          <p:nvPr>
            <p:ph type="title"/>
          </p:nvPr>
        </p:nvSpPr>
        <p:spPr/>
        <p:txBody>
          <a:bodyPr/>
          <a:lstStyle/>
          <a:p>
            <a:r>
              <a:rPr lang="en-GB" dirty="0"/>
              <a:t>General Feedback (ii): writing</a:t>
            </a:r>
          </a:p>
        </p:txBody>
      </p:sp>
      <p:sp>
        <p:nvSpPr>
          <p:cNvPr id="3" name="Content Placeholder 2">
            <a:extLst>
              <a:ext uri="{FF2B5EF4-FFF2-40B4-BE49-F238E27FC236}">
                <a16:creationId xmlns:a16="http://schemas.microsoft.com/office/drawing/2014/main" id="{088D0829-B34F-D56C-D1F3-A656C191AD80}"/>
              </a:ext>
            </a:extLst>
          </p:cNvPr>
          <p:cNvSpPr>
            <a:spLocks noGrp="1"/>
          </p:cNvSpPr>
          <p:nvPr>
            <p:ph idx="1"/>
          </p:nvPr>
        </p:nvSpPr>
        <p:spPr/>
        <p:txBody>
          <a:bodyPr/>
          <a:lstStyle/>
          <a:p>
            <a:pPr lvl="0">
              <a:spcBef>
                <a:spcPts val="0"/>
              </a:spcBef>
              <a:spcAft>
                <a:spcPts val="300"/>
              </a:spcAft>
              <a:buFont typeface="Arial" panose="020B0604020202020204" pitchFamily="34" charset="0"/>
              <a:buChar char="•"/>
            </a:pPr>
            <a:r>
              <a:rPr lang="en-GB" dirty="0"/>
              <a:t>Identify </a:t>
            </a:r>
            <a:r>
              <a:rPr lang="en-GB" b="1" dirty="0"/>
              <a:t>relevant</a:t>
            </a:r>
            <a:r>
              <a:rPr lang="en-GB" dirty="0"/>
              <a:t> information </a:t>
            </a:r>
          </a:p>
          <a:p>
            <a:pPr lvl="0">
              <a:spcBef>
                <a:spcPts val="0"/>
              </a:spcBef>
              <a:spcAft>
                <a:spcPts val="300"/>
              </a:spcAft>
              <a:buFont typeface="Arial" panose="020B0604020202020204" pitchFamily="34" charset="0"/>
              <a:buChar char="•"/>
            </a:pPr>
            <a:r>
              <a:rPr lang="en-GB" dirty="0"/>
              <a:t>Discard irrelevant information!</a:t>
            </a:r>
          </a:p>
          <a:p>
            <a:pPr lvl="1">
              <a:spcBef>
                <a:spcPts val="0"/>
              </a:spcBef>
              <a:spcAft>
                <a:spcPts val="300"/>
              </a:spcAft>
              <a:buFont typeface="Arial" panose="020B0604020202020204" pitchFamily="34" charset="0"/>
              <a:buChar char="•"/>
            </a:pPr>
            <a:r>
              <a:rPr lang="en-GB" dirty="0"/>
              <a:t>Do not write everything you know on the subject</a:t>
            </a:r>
          </a:p>
          <a:p>
            <a:pPr lvl="1">
              <a:spcBef>
                <a:spcPts val="0"/>
              </a:spcBef>
              <a:spcAft>
                <a:spcPts val="300"/>
              </a:spcAft>
              <a:buFont typeface="Arial" panose="020B0604020202020204" pitchFamily="34" charset="0"/>
              <a:buChar char="•"/>
            </a:pPr>
            <a:r>
              <a:rPr lang="en-GB" dirty="0"/>
              <a:t>If  causation is clearly not in issue, there is no need to discuss at length</a:t>
            </a:r>
          </a:p>
          <a:p>
            <a:pPr lvl="0">
              <a:spcBef>
                <a:spcPts val="0"/>
              </a:spcBef>
              <a:spcAft>
                <a:spcPts val="300"/>
              </a:spcAft>
              <a:buFont typeface="Arial" panose="020B0604020202020204" pitchFamily="34" charset="0"/>
              <a:buChar char="•"/>
            </a:pPr>
            <a:r>
              <a:rPr lang="en-GB" dirty="0"/>
              <a:t>Importance of</a:t>
            </a:r>
            <a:r>
              <a:rPr lang="en-GB" b="1" dirty="0"/>
              <a:t> precision </a:t>
            </a:r>
            <a:r>
              <a:rPr lang="en-GB" dirty="0"/>
              <a:t>in language</a:t>
            </a:r>
          </a:p>
          <a:p>
            <a:pPr lvl="1">
              <a:spcBef>
                <a:spcPts val="0"/>
              </a:spcBef>
              <a:spcAft>
                <a:spcPts val="300"/>
              </a:spcAft>
              <a:buFont typeface="Arial" panose="020B0604020202020204" pitchFamily="34" charset="0"/>
              <a:buChar char="•"/>
            </a:pPr>
            <a:r>
              <a:rPr lang="en-GB" dirty="0"/>
              <a:t>For example, it is imprecise to describe assault as threatening behaviour</a:t>
            </a:r>
          </a:p>
          <a:p>
            <a:pPr lvl="1">
              <a:spcBef>
                <a:spcPts val="0"/>
              </a:spcBef>
              <a:spcAft>
                <a:spcPts val="300"/>
              </a:spcAft>
              <a:buFont typeface="Arial" panose="020B0604020202020204" pitchFamily="34" charset="0"/>
              <a:buChar char="•"/>
            </a:pPr>
            <a:r>
              <a:rPr lang="en-GB" dirty="0"/>
              <a:t>For example, it is incorrect to say that the MR for assault is intent to assault</a:t>
            </a:r>
          </a:p>
          <a:p>
            <a:pPr lvl="1">
              <a:spcBef>
                <a:spcPts val="0"/>
              </a:spcBef>
              <a:spcAft>
                <a:spcPts val="300"/>
              </a:spcAft>
              <a:buFont typeface="Arial" panose="020B0604020202020204" pitchFamily="34" charset="0"/>
              <a:buChar char="•"/>
            </a:pPr>
            <a:r>
              <a:rPr lang="en-GB" dirty="0"/>
              <a:t>For example, do not use legal language in non-legal ways, in particular do not use ‘intent’ in its ordinary language meaning; it has a legal meaning</a:t>
            </a:r>
          </a:p>
          <a:p>
            <a:pPr lvl="0">
              <a:spcBef>
                <a:spcPts val="0"/>
              </a:spcBef>
              <a:spcAft>
                <a:spcPts val="300"/>
              </a:spcAft>
              <a:buFont typeface="Arial" panose="020B0604020202020204" pitchFamily="34" charset="0"/>
              <a:buChar char="•"/>
            </a:pPr>
            <a:r>
              <a:rPr lang="en-GB" dirty="0"/>
              <a:t>Reason towards your </a:t>
            </a:r>
            <a:r>
              <a:rPr lang="en-GB" b="1" dirty="0"/>
              <a:t>conclusion</a:t>
            </a:r>
            <a:r>
              <a:rPr lang="en-GB" dirty="0"/>
              <a:t> as to which offence has been committed by building the elements (AR, MR, defence)</a:t>
            </a:r>
          </a:p>
          <a:p>
            <a:pPr lvl="0">
              <a:spcBef>
                <a:spcPts val="0"/>
              </a:spcBef>
              <a:spcAft>
                <a:spcPts val="300"/>
              </a:spcAft>
              <a:buFont typeface="Arial" panose="020B0604020202020204" pitchFamily="34" charset="0"/>
              <a:buChar char="•"/>
            </a:pPr>
            <a:r>
              <a:rPr lang="en-GB" dirty="0"/>
              <a:t>Use</a:t>
            </a:r>
            <a:r>
              <a:rPr lang="en-GB" b="1" dirty="0"/>
              <a:t> paragraphs</a:t>
            </a:r>
            <a:r>
              <a:rPr lang="en-GB" dirty="0"/>
              <a:t>. Split AR, MR and defences up.</a:t>
            </a:r>
          </a:p>
          <a:p>
            <a:pPr lvl="0">
              <a:spcBef>
                <a:spcPts val="0"/>
              </a:spcBef>
              <a:spcAft>
                <a:spcPts val="300"/>
              </a:spcAft>
              <a:buFont typeface="Arial" panose="020B0604020202020204" pitchFamily="34" charset="0"/>
              <a:buChar char="•"/>
            </a:pPr>
            <a:r>
              <a:rPr lang="en-GB" b="1" dirty="0"/>
              <a:t>Proofread</a:t>
            </a:r>
            <a:r>
              <a:rPr lang="en-GB" dirty="0"/>
              <a:t> and spell check your work</a:t>
            </a:r>
          </a:p>
          <a:p>
            <a:pPr lvl="0">
              <a:spcBef>
                <a:spcPts val="0"/>
              </a:spcBef>
              <a:spcAft>
                <a:spcPts val="300"/>
              </a:spcAft>
              <a:buFont typeface="Arial" panose="020B0604020202020204" pitchFamily="34" charset="0"/>
              <a:buChar char="•"/>
            </a:pPr>
            <a:r>
              <a:rPr lang="en-GB" dirty="0"/>
              <a:t>Use </a:t>
            </a:r>
            <a:r>
              <a:rPr lang="en-GB" b="1" dirty="0"/>
              <a:t>in text citations</a:t>
            </a:r>
            <a:r>
              <a:rPr lang="en-GB" dirty="0"/>
              <a:t>, not footnotes.</a:t>
            </a:r>
          </a:p>
          <a:p>
            <a:endParaRPr lang="en-GB" dirty="0"/>
          </a:p>
        </p:txBody>
      </p:sp>
    </p:spTree>
    <p:extLst>
      <p:ext uri="{BB962C8B-B14F-4D97-AF65-F5344CB8AC3E}">
        <p14:creationId xmlns:p14="http://schemas.microsoft.com/office/powerpoint/2010/main" val="39409531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68A56-785E-91FD-EAB6-57AB43EAF86B}"/>
              </a:ext>
            </a:extLst>
          </p:cNvPr>
          <p:cNvSpPr>
            <a:spLocks noGrp="1"/>
          </p:cNvSpPr>
          <p:nvPr>
            <p:ph type="title"/>
          </p:nvPr>
        </p:nvSpPr>
        <p:spPr>
          <a:xfrm>
            <a:off x="685800" y="609600"/>
            <a:ext cx="7846640" cy="1143000"/>
          </a:xfrm>
        </p:spPr>
        <p:txBody>
          <a:bodyPr/>
          <a:lstStyle/>
          <a:p>
            <a:r>
              <a:rPr lang="en-GB" dirty="0"/>
              <a:t>How we assess problem questions</a:t>
            </a:r>
          </a:p>
        </p:txBody>
      </p:sp>
      <p:sp>
        <p:nvSpPr>
          <p:cNvPr id="3" name="Content Placeholder 2">
            <a:extLst>
              <a:ext uri="{FF2B5EF4-FFF2-40B4-BE49-F238E27FC236}">
                <a16:creationId xmlns:a16="http://schemas.microsoft.com/office/drawing/2014/main" id="{C60AA33D-128C-9DB7-D0C8-44C09C0F7647}"/>
              </a:ext>
            </a:extLst>
          </p:cNvPr>
          <p:cNvSpPr>
            <a:spLocks noGrp="1"/>
          </p:cNvSpPr>
          <p:nvPr>
            <p:ph idx="1"/>
          </p:nvPr>
        </p:nvSpPr>
        <p:spPr/>
        <p:txBody>
          <a:bodyPr/>
          <a:lstStyle/>
          <a:p>
            <a:pPr lvl="0">
              <a:buFont typeface="Arial" panose="020B0604020202020204" pitchFamily="34" charset="0"/>
              <a:buChar char="•"/>
            </a:pPr>
            <a:r>
              <a:rPr lang="en-GB" sz="1600" dirty="0"/>
              <a:t>Ability to </a:t>
            </a:r>
            <a:r>
              <a:rPr lang="en-GB" sz="1600" b="1" dirty="0"/>
              <a:t>identify issues </a:t>
            </a:r>
            <a:r>
              <a:rPr lang="en-GB" sz="1600" dirty="0"/>
              <a:t>and how they relate to one another</a:t>
            </a:r>
          </a:p>
          <a:p>
            <a:pPr lvl="0">
              <a:buFont typeface="Arial" panose="020B0604020202020204" pitchFamily="34" charset="0"/>
              <a:buChar char="•"/>
            </a:pPr>
            <a:r>
              <a:rPr lang="en-GB" sz="1600" b="1" dirty="0"/>
              <a:t>Clarity of explanation </a:t>
            </a:r>
            <a:r>
              <a:rPr lang="en-GB" sz="1600" dirty="0"/>
              <a:t>of basic legal position: make sure you understand the position before you try to explain it</a:t>
            </a:r>
          </a:p>
          <a:p>
            <a:pPr lvl="0">
              <a:buFont typeface="Arial" panose="020B0604020202020204" pitchFamily="34" charset="0"/>
              <a:buChar char="•"/>
            </a:pPr>
            <a:r>
              <a:rPr lang="en-GB" sz="1600" b="1" dirty="0"/>
              <a:t>Authority</a:t>
            </a:r>
            <a:r>
              <a:rPr lang="en-GB" sz="1600" dirty="0"/>
              <a:t>: you must cite </a:t>
            </a:r>
            <a:r>
              <a:rPr lang="en-GB" sz="1600" b="1" dirty="0"/>
              <a:t>cases or statutes </a:t>
            </a:r>
            <a:r>
              <a:rPr lang="en-GB" sz="1600" dirty="0"/>
              <a:t>for your argument</a:t>
            </a:r>
          </a:p>
          <a:p>
            <a:pPr lvl="1">
              <a:buFont typeface="Arial" panose="020B0604020202020204" pitchFamily="34" charset="0"/>
              <a:buChar char="•"/>
            </a:pPr>
            <a:r>
              <a:rPr lang="en-GB" sz="1400" dirty="0"/>
              <a:t>Even if you get the law right, if you do not cite cases or other authority you will not get a good mark</a:t>
            </a:r>
          </a:p>
          <a:p>
            <a:pPr lvl="0">
              <a:buFont typeface="Arial" panose="020B0604020202020204" pitchFamily="34" charset="0"/>
              <a:buChar char="•"/>
            </a:pPr>
            <a:r>
              <a:rPr lang="en-GB" sz="1600" b="1" dirty="0"/>
              <a:t>Accuracy</a:t>
            </a:r>
            <a:r>
              <a:rPr lang="en-GB" sz="1600" dirty="0"/>
              <a:t> in use of authority: make sure you understand the principle applied in the case you are citing</a:t>
            </a:r>
          </a:p>
          <a:p>
            <a:pPr lvl="1">
              <a:buFont typeface="Arial" panose="020B0604020202020204" pitchFamily="34" charset="0"/>
              <a:buChar char="•"/>
            </a:pPr>
            <a:r>
              <a:rPr lang="en-GB" sz="1400" dirty="0"/>
              <a:t>Note: it is rarely necessary to repeat the wording of a relevant statutory provision (and this takes up a lot of words and time)</a:t>
            </a:r>
          </a:p>
          <a:p>
            <a:pPr lvl="0">
              <a:buFont typeface="Arial" panose="020B0604020202020204" pitchFamily="34" charset="0"/>
              <a:buChar char="•"/>
            </a:pPr>
            <a:r>
              <a:rPr lang="en-GB" sz="1600" b="1" dirty="0"/>
              <a:t>Relevance</a:t>
            </a:r>
            <a:r>
              <a:rPr lang="en-GB" sz="1600" dirty="0"/>
              <a:t>: exclusion of irrelevant material and inclusion of relevant material</a:t>
            </a:r>
          </a:p>
          <a:p>
            <a:pPr lvl="0">
              <a:buFont typeface="Arial" panose="020B0604020202020204" pitchFamily="34" charset="0"/>
              <a:buChar char="•"/>
            </a:pPr>
            <a:r>
              <a:rPr lang="en-GB" sz="1600" b="1" dirty="0"/>
              <a:t>Structure</a:t>
            </a:r>
            <a:r>
              <a:rPr lang="en-GB" sz="1600" dirty="0"/>
              <a:t>, logical ordering of material and avoidance of repetition</a:t>
            </a:r>
          </a:p>
          <a:p>
            <a:pPr lvl="0">
              <a:buFont typeface="Arial" panose="020B0604020202020204" pitchFamily="34" charset="0"/>
              <a:buChar char="•"/>
            </a:pPr>
            <a:r>
              <a:rPr lang="en-GB" sz="1600" dirty="0"/>
              <a:t>Use of a </a:t>
            </a:r>
            <a:r>
              <a:rPr lang="en-GB" sz="1600" b="1" dirty="0"/>
              <a:t>range of material </a:t>
            </a:r>
            <a:r>
              <a:rPr lang="en-GB" sz="1600" dirty="0"/>
              <a:t>to develop arguments (statute, case law, CPS Charging Standards, academic opinions [where relevant])</a:t>
            </a:r>
          </a:p>
          <a:p>
            <a:endParaRPr lang="en-GB" dirty="0"/>
          </a:p>
        </p:txBody>
      </p:sp>
    </p:spTree>
    <p:extLst>
      <p:ext uri="{BB962C8B-B14F-4D97-AF65-F5344CB8AC3E}">
        <p14:creationId xmlns:p14="http://schemas.microsoft.com/office/powerpoint/2010/main" val="12622848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D7D1E-7AE1-13B0-20A1-86D247147D0A}"/>
              </a:ext>
            </a:extLst>
          </p:cNvPr>
          <p:cNvSpPr>
            <a:spLocks noGrp="1"/>
          </p:cNvSpPr>
          <p:nvPr>
            <p:ph type="title"/>
          </p:nvPr>
        </p:nvSpPr>
        <p:spPr/>
        <p:txBody>
          <a:bodyPr/>
          <a:lstStyle/>
          <a:p>
            <a:r>
              <a:rPr lang="en-GB" dirty="0"/>
              <a:t>Some common mistakes</a:t>
            </a:r>
          </a:p>
        </p:txBody>
      </p:sp>
      <p:sp>
        <p:nvSpPr>
          <p:cNvPr id="3" name="Content Placeholder 2">
            <a:extLst>
              <a:ext uri="{FF2B5EF4-FFF2-40B4-BE49-F238E27FC236}">
                <a16:creationId xmlns:a16="http://schemas.microsoft.com/office/drawing/2014/main" id="{86B6114B-C25E-A5BA-E123-E0675A67AC33}"/>
              </a:ext>
            </a:extLst>
          </p:cNvPr>
          <p:cNvSpPr>
            <a:spLocks noGrp="1"/>
          </p:cNvSpPr>
          <p:nvPr>
            <p:ph idx="1"/>
          </p:nvPr>
        </p:nvSpPr>
        <p:spPr/>
        <p:txBody>
          <a:bodyPr/>
          <a:lstStyle/>
          <a:p>
            <a:pPr>
              <a:spcBef>
                <a:spcPts val="0"/>
              </a:spcBef>
              <a:spcAft>
                <a:spcPts val="300"/>
              </a:spcAft>
              <a:buFont typeface="Arial" panose="020B0604020202020204" pitchFamily="34" charset="0"/>
              <a:buChar char="•"/>
            </a:pPr>
            <a:r>
              <a:rPr lang="en-GB" sz="1600" dirty="0"/>
              <a:t>“A broken nose constitutes really serious harm and so Tony should be held liable for GBH”</a:t>
            </a:r>
          </a:p>
          <a:p>
            <a:pPr lvl="1">
              <a:spcBef>
                <a:spcPts val="0"/>
              </a:spcBef>
              <a:spcAft>
                <a:spcPts val="300"/>
              </a:spcAft>
              <a:buFont typeface="Arial" panose="020B0604020202020204" pitchFamily="34" charset="0"/>
              <a:buChar char="•"/>
            </a:pPr>
            <a:r>
              <a:rPr lang="en-GB" sz="1400" dirty="0"/>
              <a:t>The level of harm has to be carefully considered and clearly argued. Using case law and the CPS charging standards what is the likely charge and why. </a:t>
            </a:r>
          </a:p>
          <a:p>
            <a:pPr>
              <a:spcBef>
                <a:spcPts val="0"/>
              </a:spcBef>
              <a:spcAft>
                <a:spcPts val="300"/>
              </a:spcAft>
              <a:buFont typeface="Arial" panose="020B0604020202020204" pitchFamily="34" charset="0"/>
              <a:buChar char="•"/>
            </a:pPr>
            <a:r>
              <a:rPr lang="en-GB" sz="1600" dirty="0"/>
              <a:t>“Johannes has committed an assault against Carlos”</a:t>
            </a:r>
          </a:p>
          <a:p>
            <a:pPr lvl="1">
              <a:spcBef>
                <a:spcPts val="0"/>
              </a:spcBef>
              <a:spcAft>
                <a:spcPts val="300"/>
              </a:spcAft>
              <a:buFont typeface="Arial" panose="020B0604020202020204" pitchFamily="34" charset="0"/>
              <a:buChar char="•"/>
            </a:pPr>
            <a:r>
              <a:rPr lang="en-GB" sz="1400" dirty="0"/>
              <a:t>“Johannes, a member of “Large Village Football Club” is so angry by the decision that he picks up a metal pole from the side line and charges towards Carlos. Johannes swings the pole behind him so that he can hit Carlos with force”</a:t>
            </a:r>
          </a:p>
          <a:p>
            <a:pPr lvl="2">
              <a:spcBef>
                <a:spcPts val="0"/>
              </a:spcBef>
              <a:spcAft>
                <a:spcPts val="300"/>
              </a:spcAft>
              <a:buFont typeface="Arial" panose="020B0604020202020204" pitchFamily="34" charset="0"/>
              <a:buChar char="•"/>
            </a:pPr>
            <a:r>
              <a:rPr lang="en-GB" sz="1200" dirty="0"/>
              <a:t>There is no suggestion that Carlos has seen this, and therefore cannot have apprehended unlawful personal violence </a:t>
            </a:r>
            <a:r>
              <a:rPr lang="en-GB" sz="1200" dirty="0">
                <a:sym typeface="Wingdings" panose="05000000000000000000" pitchFamily="2" charset="2"/>
              </a:rPr>
              <a:t> the key AR element is missing!</a:t>
            </a:r>
          </a:p>
          <a:p>
            <a:pPr>
              <a:spcBef>
                <a:spcPts val="0"/>
              </a:spcBef>
              <a:spcAft>
                <a:spcPts val="300"/>
              </a:spcAft>
              <a:buFont typeface="Arial" panose="020B0604020202020204" pitchFamily="34" charset="0"/>
              <a:buChar char="•"/>
            </a:pPr>
            <a:r>
              <a:rPr lang="en-GB" sz="1600" dirty="0">
                <a:sym typeface="Wingdings" panose="05000000000000000000" pitchFamily="2" charset="2"/>
              </a:rPr>
              <a:t> “D clearly had intention” or “D is clearly reckless”</a:t>
            </a:r>
          </a:p>
          <a:p>
            <a:pPr lvl="1">
              <a:spcBef>
                <a:spcPts val="0"/>
              </a:spcBef>
              <a:spcAft>
                <a:spcPts val="300"/>
              </a:spcAft>
              <a:buFont typeface="Arial" panose="020B0604020202020204" pitchFamily="34" charset="0"/>
              <a:buChar char="•"/>
            </a:pPr>
            <a:r>
              <a:rPr lang="en-GB" sz="1400" dirty="0">
                <a:sym typeface="Wingdings" panose="05000000000000000000" pitchFamily="2" charset="2"/>
              </a:rPr>
              <a:t>It is not clear or evident  you have to show us how the elements of the offences and defences are met by explaining how the court has interpreted them and using material from the fact scenario to show us how the offences are (or are not) satisfied</a:t>
            </a:r>
          </a:p>
        </p:txBody>
      </p:sp>
    </p:spTree>
    <p:extLst>
      <p:ext uri="{BB962C8B-B14F-4D97-AF65-F5344CB8AC3E}">
        <p14:creationId xmlns:p14="http://schemas.microsoft.com/office/powerpoint/2010/main" val="2529392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32B74E-B8CE-0CAB-20B6-EAF34583A937}"/>
              </a:ext>
            </a:extLst>
          </p:cNvPr>
          <p:cNvSpPr>
            <a:spLocks noGrp="1"/>
          </p:cNvSpPr>
          <p:nvPr>
            <p:ph type="title"/>
          </p:nvPr>
        </p:nvSpPr>
        <p:spPr/>
        <p:txBody>
          <a:bodyPr/>
          <a:lstStyle/>
          <a:p>
            <a:r>
              <a:rPr lang="en-GB" dirty="0"/>
              <a:t>Assessment Preparation</a:t>
            </a:r>
          </a:p>
        </p:txBody>
      </p:sp>
      <p:sp>
        <p:nvSpPr>
          <p:cNvPr id="3" name="Content Placeholder 2">
            <a:extLst>
              <a:ext uri="{FF2B5EF4-FFF2-40B4-BE49-F238E27FC236}">
                <a16:creationId xmlns:a16="http://schemas.microsoft.com/office/drawing/2014/main" id="{6D18F288-90BB-F7D4-081F-AE3F739490F5}"/>
              </a:ext>
            </a:extLst>
          </p:cNvPr>
          <p:cNvSpPr>
            <a:spLocks noGrp="1"/>
          </p:cNvSpPr>
          <p:nvPr>
            <p:ph idx="1"/>
          </p:nvPr>
        </p:nvSpPr>
        <p:spPr/>
        <p:txBody>
          <a:bodyPr/>
          <a:lstStyle/>
          <a:p>
            <a:pPr>
              <a:buFont typeface="Arial" panose="020B0604020202020204" pitchFamily="34" charset="0"/>
              <a:buChar char="•"/>
            </a:pPr>
            <a:r>
              <a:rPr lang="en-GB" sz="2400" dirty="0"/>
              <a:t>Read your </a:t>
            </a:r>
            <a:r>
              <a:rPr lang="en-GB" sz="2400" b="1" dirty="0"/>
              <a:t>formative feedback </a:t>
            </a:r>
            <a:r>
              <a:rPr lang="en-GB" sz="2400" dirty="0"/>
              <a:t>carefully.</a:t>
            </a:r>
          </a:p>
          <a:p>
            <a:pPr>
              <a:buFont typeface="Arial" panose="020B0604020202020204" pitchFamily="34" charset="0"/>
              <a:buChar char="•"/>
            </a:pPr>
            <a:r>
              <a:rPr lang="en-GB" sz="2400" dirty="0"/>
              <a:t>Make use of the remaining </a:t>
            </a:r>
            <a:r>
              <a:rPr lang="en-GB" sz="2400" b="1" dirty="0"/>
              <a:t>office hours</a:t>
            </a:r>
            <a:r>
              <a:rPr lang="en-GB" sz="2400" dirty="0"/>
              <a:t>.</a:t>
            </a:r>
          </a:p>
          <a:p>
            <a:pPr>
              <a:buFont typeface="Arial" panose="020B0604020202020204" pitchFamily="34" charset="0"/>
              <a:buChar char="•"/>
            </a:pPr>
            <a:r>
              <a:rPr lang="en-GB" sz="2400" dirty="0"/>
              <a:t>Attend </a:t>
            </a:r>
            <a:r>
              <a:rPr lang="en-GB" sz="2400" b="1" dirty="0"/>
              <a:t>seminar 6.</a:t>
            </a:r>
          </a:p>
          <a:p>
            <a:pPr>
              <a:buFont typeface="Arial" panose="020B0604020202020204" pitchFamily="34" charset="0"/>
              <a:buChar char="•"/>
            </a:pPr>
            <a:r>
              <a:rPr lang="en-GB" sz="2400" dirty="0"/>
              <a:t>Submit questions on assessment before the </a:t>
            </a:r>
            <a:r>
              <a:rPr lang="en-GB" sz="2400" b="1" dirty="0"/>
              <a:t>revision lecture</a:t>
            </a:r>
            <a:r>
              <a:rPr lang="en-GB" sz="2400" dirty="0"/>
              <a:t> on Tuesday 29</a:t>
            </a:r>
            <a:r>
              <a:rPr lang="en-GB" sz="2400" baseline="30000" dirty="0"/>
              <a:t>th</a:t>
            </a:r>
            <a:r>
              <a:rPr lang="en-GB" sz="2400" dirty="0"/>
              <a:t> April.</a:t>
            </a:r>
          </a:p>
          <a:p>
            <a:pPr>
              <a:buFont typeface="Arial" panose="020B0604020202020204" pitchFamily="34" charset="0"/>
              <a:buChar char="•"/>
            </a:pPr>
            <a:r>
              <a:rPr lang="en-GB" sz="2400" b="1" dirty="0"/>
              <a:t>Review</a:t>
            </a:r>
            <a:r>
              <a:rPr lang="en-GB" sz="2400" dirty="0"/>
              <a:t> you notes from - lectures, lecture handouts, seminar notes and the textbook.</a:t>
            </a:r>
          </a:p>
          <a:p>
            <a:pPr>
              <a:buFont typeface="Arial" panose="020B0604020202020204" pitchFamily="34" charset="0"/>
              <a:buChar char="•"/>
            </a:pPr>
            <a:r>
              <a:rPr lang="en-GB" sz="2400" dirty="0"/>
              <a:t>Don’t forget to prepare for the </a:t>
            </a:r>
            <a:r>
              <a:rPr lang="en-GB" sz="2400" b="1" dirty="0"/>
              <a:t>essay question</a:t>
            </a:r>
            <a:r>
              <a:rPr lang="en-GB" sz="2400" dirty="0"/>
              <a:t>.</a:t>
            </a:r>
          </a:p>
        </p:txBody>
      </p:sp>
    </p:spTree>
    <p:extLst>
      <p:ext uri="{BB962C8B-B14F-4D97-AF65-F5344CB8AC3E}">
        <p14:creationId xmlns:p14="http://schemas.microsoft.com/office/powerpoint/2010/main" val="8031668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1E78C-CB96-AEC7-26E5-FF294FAD3E2D}"/>
              </a:ext>
            </a:extLst>
          </p:cNvPr>
          <p:cNvSpPr>
            <a:spLocks noGrp="1"/>
          </p:cNvSpPr>
          <p:nvPr>
            <p:ph type="title"/>
          </p:nvPr>
        </p:nvSpPr>
        <p:spPr>
          <a:xfrm>
            <a:off x="685800" y="609600"/>
            <a:ext cx="7772400" cy="1143000"/>
          </a:xfrm>
        </p:spPr>
        <p:txBody>
          <a:bodyPr wrap="square" anchor="ctr">
            <a:normAutofit/>
          </a:bodyPr>
          <a:lstStyle/>
          <a:p>
            <a:r>
              <a:rPr lang="en-US" dirty="0"/>
              <a:t>Feedback for me</a:t>
            </a:r>
          </a:p>
        </p:txBody>
      </p:sp>
      <p:sp>
        <p:nvSpPr>
          <p:cNvPr id="3" name="Content Placeholder 2">
            <a:extLst>
              <a:ext uri="{FF2B5EF4-FFF2-40B4-BE49-F238E27FC236}">
                <a16:creationId xmlns:a16="http://schemas.microsoft.com/office/drawing/2014/main" id="{B9624FB5-5426-57E1-D1E9-BEE0788554B3}"/>
              </a:ext>
            </a:extLst>
          </p:cNvPr>
          <p:cNvSpPr>
            <a:spLocks noGrp="1"/>
          </p:cNvSpPr>
          <p:nvPr>
            <p:ph sz="half" idx="1"/>
          </p:nvPr>
        </p:nvSpPr>
        <p:spPr>
          <a:xfrm>
            <a:off x="684213" y="1989138"/>
            <a:ext cx="3810000" cy="3816350"/>
          </a:xfrm>
        </p:spPr>
        <p:txBody>
          <a:bodyPr wrap="square" anchor="t">
            <a:normAutofit/>
          </a:bodyPr>
          <a:lstStyle/>
          <a:p>
            <a:r>
              <a:rPr lang="en-GB" b="0" i="0" u="none" strike="noStrike" dirty="0">
                <a:effectLst/>
                <a:hlinkClick r:id="rId2"/>
              </a:rPr>
              <a:t>https://PollEv.com/surveys/KTlhIIr2JJW2ODuJHOb5i/respond</a:t>
            </a:r>
            <a:r>
              <a:rPr lang="en-GB" b="0" i="0" u="none" strike="noStrike" dirty="0">
                <a:effectLst/>
              </a:rPr>
              <a:t> </a:t>
            </a:r>
          </a:p>
          <a:p>
            <a:endParaRPr lang="en-GB" dirty="0"/>
          </a:p>
          <a:p>
            <a:pPr algn="ctr"/>
            <a:r>
              <a:rPr lang="en-US" dirty="0"/>
              <a:t>THANK YOU!</a:t>
            </a:r>
          </a:p>
        </p:txBody>
      </p:sp>
      <p:pic>
        <p:nvPicPr>
          <p:cNvPr id="4" name="Picture 3">
            <a:extLst>
              <a:ext uri="{FF2B5EF4-FFF2-40B4-BE49-F238E27FC236}">
                <a16:creationId xmlns:a16="http://schemas.microsoft.com/office/drawing/2014/main" id="{24B0BDA4-5720-8EAE-0B4D-FAF076913BE5}"/>
              </a:ext>
            </a:extLst>
          </p:cNvPr>
          <p:cNvPicPr>
            <a:picLocks noChangeAspect="1"/>
          </p:cNvPicPr>
          <p:nvPr/>
        </p:nvPicPr>
        <p:blipFill>
          <a:blip r:embed="rId3"/>
          <a:srcRect l="9031" r="14555" b="12174"/>
          <a:stretch/>
        </p:blipFill>
        <p:spPr>
          <a:xfrm>
            <a:off x="5004047" y="2112313"/>
            <a:ext cx="3024337" cy="3116887"/>
          </a:xfrm>
          <a:prstGeom prst="rect">
            <a:avLst/>
          </a:prstGeom>
          <a:noFill/>
        </p:spPr>
      </p:pic>
    </p:spTree>
    <p:extLst>
      <p:ext uri="{BB962C8B-B14F-4D97-AF65-F5344CB8AC3E}">
        <p14:creationId xmlns:p14="http://schemas.microsoft.com/office/powerpoint/2010/main" val="1178668552"/>
      </p:ext>
    </p:extLst>
  </p:cSld>
  <p:clrMapOvr>
    <a:masterClrMapping/>
  </p:clrMapOvr>
</p:sld>
</file>

<file path=ppt/theme/theme1.xml><?xml version="1.0" encoding="utf-8"?>
<a:theme xmlns:a="http://schemas.openxmlformats.org/drawingml/2006/main" name="Blank">
  <a:themeElements>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a:majorFont>
        <a:latin typeface="Times"/>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pitchFamily="18" charset="0"/>
          </a:defRPr>
        </a:defP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25DC466676EBC46AA6D894103B834EA" ma:contentTypeVersion="4" ma:contentTypeDescription="Create a new document." ma:contentTypeScope="" ma:versionID="ba0d6e5947a0952b79e872aa26003495">
  <xsd:schema xmlns:xsd="http://www.w3.org/2001/XMLSchema" xmlns:xs="http://www.w3.org/2001/XMLSchema" xmlns:p="http://schemas.microsoft.com/office/2006/metadata/properties" xmlns:ns2="8cb6f0ce-4087-48d0-bd68-6d11fe1cb46f" targetNamespace="http://schemas.microsoft.com/office/2006/metadata/properties" ma:root="true" ma:fieldsID="301b56431b729dd40b1a5f9e2ee95914" ns2:_="">
    <xsd:import namespace="8cb6f0ce-4087-48d0-bd68-6d11fe1cb46f"/>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cb6f0ce-4087-48d0-bd68-6d11fe1cb46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28643C1-3882-4EDD-8D3C-869636B7608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cb6f0ce-4087-48d0-bd68-6d11fe1cb46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5212BE8-5BF8-42EF-A5A6-411F8ECD0638}">
  <ds:schemaRefs>
    <ds:schemaRef ds:uri="http://schemas.microsoft.com/office/2006/metadata/properties"/>
    <ds:schemaRef ds:uri="http://www.w3.org/XML/1998/namespace"/>
    <ds:schemaRef ds:uri="http://purl.org/dc/terms/"/>
    <ds:schemaRef ds:uri="http://schemas.microsoft.com/office/2006/documentManagement/types"/>
    <ds:schemaRef ds:uri="http://purl.org/dc/elements/1.1/"/>
    <ds:schemaRef ds:uri="http://schemas.microsoft.com/office/infopath/2007/PartnerControls"/>
    <ds:schemaRef ds:uri="8cb6f0ce-4087-48d0-bd68-6d11fe1cb46f"/>
    <ds:schemaRef ds:uri="http://schemas.openxmlformats.org/package/2006/metadata/core-properties"/>
    <ds:schemaRef ds:uri="http://purl.org/dc/dcmitype/"/>
  </ds:schemaRefs>
</ds:datastoreItem>
</file>

<file path=customXml/itemProps3.xml><?xml version="1.0" encoding="utf-8"?>
<ds:datastoreItem xmlns:ds="http://schemas.openxmlformats.org/officeDocument/2006/customXml" ds:itemID="{BAAC8210-D153-4BB9-871C-747A9DCF1A2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4243</TotalTime>
  <Words>4231</Words>
  <Application>Microsoft Macintosh PowerPoint</Application>
  <PresentationFormat>On-screen Show (4:3)</PresentationFormat>
  <Paragraphs>312</Paragraphs>
  <Slides>37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37</vt:i4>
      </vt:variant>
    </vt:vector>
  </HeadingPairs>
  <TitlesOfParts>
    <vt:vector size="44" baseType="lpstr">
      <vt:lpstr>Arial</vt:lpstr>
      <vt:lpstr>Calibri</vt:lpstr>
      <vt:lpstr>Cambria</vt:lpstr>
      <vt:lpstr>Cambria Math</vt:lpstr>
      <vt:lpstr>Times</vt:lpstr>
      <vt:lpstr>Wingdings</vt:lpstr>
      <vt:lpstr>Blank</vt:lpstr>
      <vt:lpstr>Formative Feedback</vt:lpstr>
      <vt:lpstr>Today’s Lecture</vt:lpstr>
      <vt:lpstr>General issues</vt:lpstr>
      <vt:lpstr>Presentation tips</vt:lpstr>
      <vt:lpstr>Identifying offences in a scenario</vt:lpstr>
      <vt:lpstr>Step 1: know the offences!</vt:lpstr>
      <vt:lpstr>Non-fatal offences against the person</vt:lpstr>
      <vt:lpstr>Step 2: identifying AR – Start with the harms</vt:lpstr>
      <vt:lpstr>PowerPoint Presentation</vt:lpstr>
      <vt:lpstr>Using the CPS charging standards</vt:lpstr>
      <vt:lpstr>PowerPoint Presentation</vt:lpstr>
      <vt:lpstr>PowerPoint Presentation</vt:lpstr>
      <vt:lpstr>PowerPoint Presentation</vt:lpstr>
      <vt:lpstr>Non-fatal offences against the person</vt:lpstr>
      <vt:lpstr>Step 3: identifying d and v</vt:lpstr>
      <vt:lpstr>PowerPoint Presentation</vt:lpstr>
      <vt:lpstr>Step 4: identifying mens rea</vt:lpstr>
      <vt:lpstr>PowerPoint Presentation</vt:lpstr>
      <vt:lpstr>Non-fatal offences against the person</vt:lpstr>
      <vt:lpstr>PowerPoint Presentation</vt:lpstr>
      <vt:lpstr>Transferred Malice</vt:lpstr>
      <vt:lpstr>Step 5: identifying defences</vt:lpstr>
      <vt:lpstr>PowerPoint Presentation</vt:lpstr>
      <vt:lpstr>Consent</vt:lpstr>
      <vt:lpstr>Barnes [2005] 1 WLR 910</vt:lpstr>
      <vt:lpstr>Recap of nfoap</vt:lpstr>
      <vt:lpstr>Assault</vt:lpstr>
      <vt:lpstr>Battery</vt:lpstr>
      <vt:lpstr>Assault Occasioning ABH</vt:lpstr>
      <vt:lpstr>Section 20: GBH</vt:lpstr>
      <vt:lpstr>Section 18: GBH with intent</vt:lpstr>
      <vt:lpstr>General Feedback (i): structure</vt:lpstr>
      <vt:lpstr>General Feedback (ii): writing</vt:lpstr>
      <vt:lpstr>How we assess problem questions</vt:lpstr>
      <vt:lpstr>Some common mistakes</vt:lpstr>
      <vt:lpstr>Assessment Preparation</vt:lpstr>
      <vt:lpstr>Feedback for me</vt:lpstr>
    </vt:vector>
  </TitlesOfParts>
  <Company>MUFC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Heading style for title slide</dc:title>
  <dc:creator>Eric</dc:creator>
  <cp:lastModifiedBy>LANGLEY, KAT L.</cp:lastModifiedBy>
  <cp:revision>54</cp:revision>
  <dcterms:created xsi:type="dcterms:W3CDTF">2005-05-25T16:21:13Z</dcterms:created>
  <dcterms:modified xsi:type="dcterms:W3CDTF">2025-03-11T09:00:48Z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0x010100125DC466676EBC46AA6D894103B834EA</vt:lpwstr>
  </property>
</Properties>
</file>