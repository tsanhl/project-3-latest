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48" r:id="rId4"/>
    <p:sldMasterId id="2147483792" r:id="rId5"/>
  </p:sldMasterIdLst>
  <p:notesMasterIdLst>
    <p:notesMasterId r:id="rId26"/>
  </p:notesMasterIdLst>
  <p:handoutMasterIdLst>
    <p:handoutMasterId r:id="rId27"/>
  </p:handoutMasterIdLst>
  <p:sldIdLst>
    <p:sldId id="297" r:id="rId6"/>
    <p:sldId id="298" r:id="rId7"/>
    <p:sldId id="299" r:id="rId8"/>
    <p:sldId id="300" r:id="rId9"/>
    <p:sldId id="301" r:id="rId10"/>
    <p:sldId id="302" r:id="rId11"/>
    <p:sldId id="303" r:id="rId12"/>
    <p:sldId id="304" r:id="rId13"/>
    <p:sldId id="305" r:id="rId14"/>
    <p:sldId id="307" r:id="rId15"/>
    <p:sldId id="306" r:id="rId16"/>
    <p:sldId id="327" r:id="rId17"/>
    <p:sldId id="308" r:id="rId18"/>
    <p:sldId id="326" r:id="rId19"/>
    <p:sldId id="309" r:id="rId20"/>
    <p:sldId id="328" r:id="rId21"/>
    <p:sldId id="329" r:id="rId22"/>
    <p:sldId id="330" r:id="rId23"/>
    <p:sldId id="310" r:id="rId24"/>
    <p:sldId id="325" r:id="rId25"/>
  </p:sldIdLst>
  <p:sldSz cx="9144000" cy="6858000" type="screen4x3"/>
  <p:notesSz cx="6797675" cy="9928225"/>
  <p:embeddedFontLst>
    <p:embeddedFont>
      <p:font typeface="Times" panose="02020603050405020304" pitchFamily="18" charset="0"/>
      <p:regular r:id="rId28"/>
      <p:bold r:id="rId29"/>
      <p:italic r:id="rId30"/>
      <p:boldItalic r:id="rId31"/>
    </p:embeddedFont>
  </p:embeddedFontLst>
  <p:defaultTex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80"/>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76"/>
    <p:restoredTop sz="95304" autoAdjust="0"/>
  </p:normalViewPr>
  <p:slideViewPr>
    <p:cSldViewPr>
      <p:cViewPr varScale="1">
        <p:scale>
          <a:sx n="94" d="100"/>
          <a:sy n="94" d="100"/>
        </p:scale>
        <p:origin x="648"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1.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tableStyles" Target="tableStyle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1CC5F04B-F853-4AA9-BD37-21BFBF7B2029}" type="datetimeFigureOut">
              <a:rPr lang="en-GB" smtClean="0"/>
              <a:t>11/02/2025</a:t>
            </a:fld>
            <a:endParaRPr lang="en-GB"/>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7D3AA990-0D7A-4F8D-B741-63C40D8C68E3}" type="slidenum">
              <a:rPr lang="en-GB" smtClean="0"/>
              <a:t>‹#›</a:t>
            </a:fld>
            <a:endParaRPr lang="en-GB"/>
          </a:p>
        </p:txBody>
      </p:sp>
    </p:spTree>
    <p:extLst>
      <p:ext uri="{BB962C8B-B14F-4D97-AF65-F5344CB8AC3E}">
        <p14:creationId xmlns:p14="http://schemas.microsoft.com/office/powerpoint/2010/main" val="3241482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5124"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79768" y="4715907"/>
            <a:ext cx="5438140"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C77DB36-FD0D-48C1-A012-6A01241BC482}"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66C73BC-36B0-42E2-AC94-D34EE9196ECF}" type="slidenum">
              <a:rPr lang="en-GB" altLang="en-US" sz="1200" smtClean="0">
                <a:solidFill>
                  <a:srgbClr val="000000"/>
                </a:solidFill>
              </a:rPr>
              <a:pPr/>
              <a:t>1</a:t>
            </a:fld>
            <a:endParaRPr lang="en-GB" altLang="en-US" sz="1200">
              <a:solidFill>
                <a:srgbClr val="000000"/>
              </a:solidFill>
            </a:endParaRPr>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5</a:t>
            </a:fld>
            <a:endParaRPr lang="en-GB" altLang="en-US"/>
          </a:p>
        </p:txBody>
      </p:sp>
    </p:spTree>
    <p:extLst>
      <p:ext uri="{BB962C8B-B14F-4D97-AF65-F5344CB8AC3E}">
        <p14:creationId xmlns:p14="http://schemas.microsoft.com/office/powerpoint/2010/main" val="1827844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Clearest case is when D is unconscious but not limited to states of unconsciousness. i.e. </a:t>
            </a:r>
            <a:r>
              <a:rPr lang="en-GB" dirty="0" err="1"/>
              <a:t>phycially</a:t>
            </a:r>
            <a:r>
              <a:rPr lang="en-GB" dirty="0"/>
              <a:t> overpowered, spasm, shock. D is conscious but not in control of actions</a:t>
            </a:r>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6</a:t>
            </a:fld>
            <a:endParaRPr lang="en-GB" altLang="en-US"/>
          </a:p>
        </p:txBody>
      </p:sp>
    </p:spTree>
    <p:extLst>
      <p:ext uri="{BB962C8B-B14F-4D97-AF65-F5344CB8AC3E}">
        <p14:creationId xmlns:p14="http://schemas.microsoft.com/office/powerpoint/2010/main" val="1225005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9</a:t>
            </a:fld>
            <a:endParaRPr lang="en-GB" altLang="en-US"/>
          </a:p>
        </p:txBody>
      </p:sp>
    </p:spTree>
    <p:extLst>
      <p:ext uri="{BB962C8B-B14F-4D97-AF65-F5344CB8AC3E}">
        <p14:creationId xmlns:p14="http://schemas.microsoft.com/office/powerpoint/2010/main" val="3903977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11</a:t>
            </a:fld>
            <a:endParaRPr lang="en-GB" altLang="en-US"/>
          </a:p>
        </p:txBody>
      </p:sp>
    </p:spTree>
    <p:extLst>
      <p:ext uri="{BB962C8B-B14F-4D97-AF65-F5344CB8AC3E}">
        <p14:creationId xmlns:p14="http://schemas.microsoft.com/office/powerpoint/2010/main" val="38022565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374865E9-C975-46B8-BCC7-F2D761D0BAFA}" type="slidenum">
              <a:rPr lang="en-GB" altLang="en-US"/>
              <a:pPr>
                <a:defRPr/>
              </a:pPr>
              <a:t>‹#›</a:t>
            </a:fld>
            <a:endParaRPr lang="en-GB" altLang="en-US"/>
          </a:p>
        </p:txBody>
      </p:sp>
    </p:spTree>
    <p:extLst>
      <p:ext uri="{BB962C8B-B14F-4D97-AF65-F5344CB8AC3E}">
        <p14:creationId xmlns:p14="http://schemas.microsoft.com/office/powerpoint/2010/main" val="95089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C373052-BFBF-46FC-93B6-1CF00E3EE40D}" type="slidenum">
              <a:rPr lang="en-GB" altLang="en-US"/>
              <a:pPr>
                <a:defRPr/>
              </a:pPr>
              <a:t>‹#›</a:t>
            </a:fld>
            <a:endParaRPr lang="en-GB" altLang="en-US"/>
          </a:p>
        </p:txBody>
      </p:sp>
    </p:spTree>
    <p:extLst>
      <p:ext uri="{BB962C8B-B14F-4D97-AF65-F5344CB8AC3E}">
        <p14:creationId xmlns:p14="http://schemas.microsoft.com/office/powerpoint/2010/main" val="2474509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891A14E7-0E1F-4BAB-8E37-497D900DC396}" type="slidenum">
              <a:rPr lang="en-GB" altLang="en-US"/>
              <a:pPr>
                <a:defRPr/>
              </a:pPr>
              <a:t>‹#›</a:t>
            </a:fld>
            <a:endParaRPr lang="en-GB" altLang="en-US"/>
          </a:p>
        </p:txBody>
      </p:sp>
    </p:spTree>
    <p:extLst>
      <p:ext uri="{BB962C8B-B14F-4D97-AF65-F5344CB8AC3E}">
        <p14:creationId xmlns:p14="http://schemas.microsoft.com/office/powerpoint/2010/main" val="2931950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6D2E12F-85BD-4F5C-A357-240497D2C7A0}" type="slidenum">
              <a:rPr lang="en-GB" altLang="en-US"/>
              <a:pPr>
                <a:defRPr/>
              </a:pPr>
              <a:t>‹#›</a:t>
            </a:fld>
            <a:endParaRPr lang="en-GB" altLang="en-US"/>
          </a:p>
        </p:txBody>
      </p:sp>
    </p:spTree>
    <p:extLst>
      <p:ext uri="{BB962C8B-B14F-4D97-AF65-F5344CB8AC3E}">
        <p14:creationId xmlns:p14="http://schemas.microsoft.com/office/powerpoint/2010/main" val="1315124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A5370C4E-86BA-4D72-86E3-675490C30C16}" type="slidenum">
              <a:rPr lang="en-GB" altLang="en-US"/>
              <a:pPr>
                <a:defRPr/>
              </a:pPr>
              <a:t>‹#›</a:t>
            </a:fld>
            <a:endParaRPr lang="en-GB" altLang="en-US"/>
          </a:p>
        </p:txBody>
      </p:sp>
    </p:spTree>
    <p:extLst>
      <p:ext uri="{BB962C8B-B14F-4D97-AF65-F5344CB8AC3E}">
        <p14:creationId xmlns:p14="http://schemas.microsoft.com/office/powerpoint/2010/main" val="1780231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11ED3913-B0E8-4C31-93FA-6AF5B9A4C8FD}" type="slidenum">
              <a:rPr lang="en-GB" altLang="en-US"/>
              <a:pPr>
                <a:defRPr/>
              </a:pPr>
              <a:t>‹#›</a:t>
            </a:fld>
            <a:endParaRPr lang="en-GB" altLang="en-US"/>
          </a:p>
        </p:txBody>
      </p:sp>
    </p:spTree>
    <p:extLst>
      <p:ext uri="{BB962C8B-B14F-4D97-AF65-F5344CB8AC3E}">
        <p14:creationId xmlns:p14="http://schemas.microsoft.com/office/powerpoint/2010/main" val="3421879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DEC0345-3EE4-4F0D-8AEF-84A9B492946B}" type="slidenum">
              <a:rPr lang="en-GB" altLang="en-US"/>
              <a:pPr>
                <a:defRPr/>
              </a:pPr>
              <a:t>‹#›</a:t>
            </a:fld>
            <a:endParaRPr lang="en-GB" altLang="en-US"/>
          </a:p>
        </p:txBody>
      </p:sp>
    </p:spTree>
    <p:extLst>
      <p:ext uri="{BB962C8B-B14F-4D97-AF65-F5344CB8AC3E}">
        <p14:creationId xmlns:p14="http://schemas.microsoft.com/office/powerpoint/2010/main" val="1994164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0F79929-02DF-4E06-AA76-063D5B88FD07}" type="slidenum">
              <a:rPr lang="en-GB" altLang="en-US"/>
              <a:pPr>
                <a:defRPr/>
              </a:pPr>
              <a:t>‹#›</a:t>
            </a:fld>
            <a:endParaRPr lang="en-GB" altLang="en-US"/>
          </a:p>
        </p:txBody>
      </p:sp>
    </p:spTree>
    <p:extLst>
      <p:ext uri="{BB962C8B-B14F-4D97-AF65-F5344CB8AC3E}">
        <p14:creationId xmlns:p14="http://schemas.microsoft.com/office/powerpoint/2010/main" val="1723490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9B0DD1E-FA50-4EA3-82A1-A11F7B5BF8AF}" type="slidenum">
              <a:rPr lang="en-GB" altLang="en-US"/>
              <a:pPr>
                <a:defRPr/>
              </a:pPr>
              <a:t>‹#›</a:t>
            </a:fld>
            <a:endParaRPr lang="en-GB" altLang="en-US"/>
          </a:p>
        </p:txBody>
      </p:sp>
    </p:spTree>
    <p:extLst>
      <p:ext uri="{BB962C8B-B14F-4D97-AF65-F5344CB8AC3E}">
        <p14:creationId xmlns:p14="http://schemas.microsoft.com/office/powerpoint/2010/main" val="130461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27E8A823-E353-442E-AF5C-DDC5B9E70F5A}" type="slidenum">
              <a:rPr lang="en-GB" altLang="en-US"/>
              <a:pPr>
                <a:defRPr/>
              </a:pPr>
              <a:t>‹#›</a:t>
            </a:fld>
            <a:endParaRPr lang="en-GB" altLang="en-US"/>
          </a:p>
        </p:txBody>
      </p:sp>
    </p:spTree>
    <p:extLst>
      <p:ext uri="{BB962C8B-B14F-4D97-AF65-F5344CB8AC3E}">
        <p14:creationId xmlns:p14="http://schemas.microsoft.com/office/powerpoint/2010/main" val="3456357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C1FE3B0-2A27-40DB-9C91-0277A0C7B2D2}" type="slidenum">
              <a:rPr lang="en-GB" altLang="en-US"/>
              <a:pPr>
                <a:defRPr/>
              </a:pPr>
              <a:t>‹#›</a:t>
            </a:fld>
            <a:endParaRPr lang="en-GB" altLang="en-US"/>
          </a:p>
        </p:txBody>
      </p:sp>
    </p:spTree>
    <p:extLst>
      <p:ext uri="{BB962C8B-B14F-4D97-AF65-F5344CB8AC3E}">
        <p14:creationId xmlns:p14="http://schemas.microsoft.com/office/powerpoint/2010/main" val="18902200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US"/>
              <a:t>Click to edit Master title style</a:t>
            </a:r>
            <a:endParaRPr lang="en-GB"/>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US"/>
              <a:t>Click to edit Master subtitle style</a:t>
            </a:r>
            <a:endParaRPr lang="en-GB"/>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1F277032-A232-4923-8C51-35BF8EC116C5}" type="slidenum">
              <a:rPr lang="en-GB"/>
              <a:pPr>
                <a:defRPr/>
              </a:pPr>
              <a:t>‹#›</a:t>
            </a:fld>
            <a:endParaRPr lang="en-GB"/>
          </a:p>
        </p:txBody>
      </p:sp>
    </p:spTree>
    <p:extLst>
      <p:ext uri="{BB962C8B-B14F-4D97-AF65-F5344CB8AC3E}">
        <p14:creationId xmlns:p14="http://schemas.microsoft.com/office/powerpoint/2010/main" val="25570501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E39A9F4C-739E-44F8-A701-3D711D3B0885}" type="slidenum">
              <a:rPr lang="en-GB"/>
              <a:pPr>
                <a:defRPr/>
              </a:pPr>
              <a:t>‹#›</a:t>
            </a:fld>
            <a:endParaRPr lang="en-GB"/>
          </a:p>
        </p:txBody>
      </p:sp>
    </p:spTree>
    <p:extLst>
      <p:ext uri="{BB962C8B-B14F-4D97-AF65-F5344CB8AC3E}">
        <p14:creationId xmlns:p14="http://schemas.microsoft.com/office/powerpoint/2010/main" val="784265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B74149D-989A-4095-B30F-D0B281C51AA8}" type="slidenum">
              <a:rPr lang="en-GB"/>
              <a:pPr>
                <a:defRPr/>
              </a:pPr>
              <a:t>‹#›</a:t>
            </a:fld>
            <a:endParaRPr lang="en-GB"/>
          </a:p>
        </p:txBody>
      </p:sp>
    </p:spTree>
    <p:extLst>
      <p:ext uri="{BB962C8B-B14F-4D97-AF65-F5344CB8AC3E}">
        <p14:creationId xmlns:p14="http://schemas.microsoft.com/office/powerpoint/2010/main" val="15546397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F421F05-1AEA-4AE8-A525-3E05A517C042}" type="slidenum">
              <a:rPr lang="en-GB"/>
              <a:pPr>
                <a:defRPr/>
              </a:pPr>
              <a:t>‹#›</a:t>
            </a:fld>
            <a:endParaRPr lang="en-GB"/>
          </a:p>
        </p:txBody>
      </p:sp>
    </p:spTree>
    <p:extLst>
      <p:ext uri="{BB962C8B-B14F-4D97-AF65-F5344CB8AC3E}">
        <p14:creationId xmlns:p14="http://schemas.microsoft.com/office/powerpoint/2010/main" val="30201855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E8176785-3529-4663-A2A2-EE8462A17BFF}" type="slidenum">
              <a:rPr lang="en-GB"/>
              <a:pPr>
                <a:defRPr/>
              </a:pPr>
              <a:t>‹#›</a:t>
            </a:fld>
            <a:endParaRPr lang="en-GB"/>
          </a:p>
        </p:txBody>
      </p:sp>
    </p:spTree>
    <p:extLst>
      <p:ext uri="{BB962C8B-B14F-4D97-AF65-F5344CB8AC3E}">
        <p14:creationId xmlns:p14="http://schemas.microsoft.com/office/powerpoint/2010/main" val="14413279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13F340D7-2078-49F3-BAB4-DE1EBD1F5B67}" type="slidenum">
              <a:rPr lang="en-GB"/>
              <a:pPr>
                <a:defRPr/>
              </a:pPr>
              <a:t>‹#›</a:t>
            </a:fld>
            <a:endParaRPr lang="en-GB"/>
          </a:p>
        </p:txBody>
      </p:sp>
    </p:spTree>
    <p:extLst>
      <p:ext uri="{BB962C8B-B14F-4D97-AF65-F5344CB8AC3E}">
        <p14:creationId xmlns:p14="http://schemas.microsoft.com/office/powerpoint/2010/main" val="3073133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07522E52-8A30-42A4-BFA1-6144F0A09E35}" type="slidenum">
              <a:rPr lang="en-GB"/>
              <a:pPr>
                <a:defRPr/>
              </a:pPr>
              <a:t>‹#›</a:t>
            </a:fld>
            <a:endParaRPr lang="en-GB"/>
          </a:p>
        </p:txBody>
      </p:sp>
    </p:spTree>
    <p:extLst>
      <p:ext uri="{BB962C8B-B14F-4D97-AF65-F5344CB8AC3E}">
        <p14:creationId xmlns:p14="http://schemas.microsoft.com/office/powerpoint/2010/main" val="2941650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D45042F6-58B5-42DB-A37F-A92E809DBB39}" type="slidenum">
              <a:rPr lang="en-GB"/>
              <a:pPr>
                <a:defRPr/>
              </a:pPr>
              <a:t>‹#›</a:t>
            </a:fld>
            <a:endParaRPr lang="en-GB"/>
          </a:p>
        </p:txBody>
      </p:sp>
    </p:spTree>
    <p:extLst>
      <p:ext uri="{BB962C8B-B14F-4D97-AF65-F5344CB8AC3E}">
        <p14:creationId xmlns:p14="http://schemas.microsoft.com/office/powerpoint/2010/main" val="20718045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6FCFBE5-146D-48F3-85E2-5DB5F2ACF84E}" type="slidenum">
              <a:rPr lang="en-GB"/>
              <a:pPr>
                <a:defRPr/>
              </a:pPr>
              <a:t>‹#›</a:t>
            </a:fld>
            <a:endParaRPr lang="en-GB"/>
          </a:p>
        </p:txBody>
      </p:sp>
    </p:spTree>
    <p:extLst>
      <p:ext uri="{BB962C8B-B14F-4D97-AF65-F5344CB8AC3E}">
        <p14:creationId xmlns:p14="http://schemas.microsoft.com/office/powerpoint/2010/main" val="37088718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1771DCC-43F0-4DC9-B590-A36DA7F9250F}" type="slidenum">
              <a:rPr lang="en-GB"/>
              <a:pPr>
                <a:defRPr/>
              </a:pPr>
              <a:t>‹#›</a:t>
            </a:fld>
            <a:endParaRPr lang="en-GB"/>
          </a:p>
        </p:txBody>
      </p:sp>
    </p:spTree>
    <p:extLst>
      <p:ext uri="{BB962C8B-B14F-4D97-AF65-F5344CB8AC3E}">
        <p14:creationId xmlns:p14="http://schemas.microsoft.com/office/powerpoint/2010/main" val="3378199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7ADFF925-CDDF-40F5-B427-F091DBDA45AE}" type="slidenum">
              <a:rPr lang="en-GB"/>
              <a:pPr>
                <a:defRPr/>
              </a:pPr>
              <a:t>‹#›</a:t>
            </a:fld>
            <a:endParaRPr lang="en-GB"/>
          </a:p>
        </p:txBody>
      </p:sp>
    </p:spTree>
    <p:extLst>
      <p:ext uri="{BB962C8B-B14F-4D97-AF65-F5344CB8AC3E}">
        <p14:creationId xmlns:p14="http://schemas.microsoft.com/office/powerpoint/2010/main" val="4157746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r>
              <a:rPr lang="en-GB" altLang="en-US">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491A1708-3092-4697-8453-7594478CD250}" type="slidenum">
              <a:rPr lang="en-GB" altLang="en-US"/>
              <a:pPr>
                <a:defRPr/>
              </a:pPr>
              <a:t>‹#›</a:t>
            </a:fld>
            <a:endParaRPr lang="en-GB" altLang="en-US"/>
          </a:p>
        </p:txBody>
      </p:sp>
      <p:sp>
        <p:nvSpPr>
          <p:cNvPr id="1033" name="Rectangle 9"/>
          <p:cNvSpPr>
            <a:spLocks noChangeArrowheads="1"/>
          </p:cNvSpPr>
          <p:nvPr userDrawn="1"/>
        </p:nvSpPr>
        <p:spPr bwMode="auto">
          <a:xfrm>
            <a:off x="790575" y="611188"/>
            <a:ext cx="8024813" cy="1143000"/>
          </a:xfrm>
          <a:prstGeom prst="rect">
            <a:avLst/>
          </a:prstGeom>
          <a:noFill/>
          <a:ln>
            <a:noFill/>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defRPr/>
            </a:pPr>
            <a:endParaRPr lang="en-US" altLang="en-US" sz="4400">
              <a:solidFill>
                <a:schemeClr val="bg1"/>
              </a:solidFill>
            </a:endParaRPr>
          </a:p>
        </p:txBody>
      </p:sp>
      <p:sp>
        <p:nvSpPr>
          <p:cNvPr id="1034" name="Rectangle 10"/>
          <p:cNvSpPr>
            <a:spLocks noChangeArrowheads="1"/>
          </p:cNvSpPr>
          <p:nvPr userDrawn="1"/>
        </p:nvSpPr>
        <p:spPr bwMode="auto">
          <a:xfrm>
            <a:off x="790575" y="1798638"/>
            <a:ext cx="8024813" cy="3813175"/>
          </a:xfrm>
          <a:prstGeom prst="rect">
            <a:avLst/>
          </a:prstGeom>
          <a:noFill/>
          <a:ln>
            <a:noFill/>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20000"/>
              </a:spcBef>
              <a:defRPr/>
            </a:pPr>
            <a:endParaRPr lang="en-US" altLang="en-US" sz="1800" b="1">
              <a:solidFill>
                <a:schemeClr val="bg1"/>
              </a:solidFill>
              <a:latin typeface="Arial" panose="020B0604020202020204" pitchFamily="34" charset="0"/>
            </a:endParaRPr>
          </a:p>
        </p:txBody>
      </p:sp>
      <p:pic>
        <p:nvPicPr>
          <p:cNvPr id="1035" name="Picture 1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50"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7"/>
          <p:cNvSpPr>
            <a:spLocks noChangeArrowheads="1"/>
          </p:cNvSpPr>
          <p:nvPr/>
        </p:nvSpPr>
        <p:spPr bwMode="auto">
          <a:xfrm>
            <a:off x="0" y="0"/>
            <a:ext cx="9140825" cy="6873875"/>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r>
              <a:rPr lang="en-GB" altLang="en-US">
                <a:solidFill>
                  <a:srgbClr val="663366"/>
                </a:solidFill>
              </a:rPr>
              <a:t>∂</a:t>
            </a:r>
          </a:p>
        </p:txBody>
      </p:sp>
      <p:sp>
        <p:nvSpPr>
          <p:cNvPr id="2051" name="Rectangle 8"/>
          <p:cNvSpPr>
            <a:spLocks noChangeArrowheads="1"/>
          </p:cNvSpPr>
          <p:nvPr/>
        </p:nvSpPr>
        <p:spPr bwMode="auto">
          <a:xfrm>
            <a:off x="107950" y="107950"/>
            <a:ext cx="8924925" cy="665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sp>
        <p:nvSpPr>
          <p:cNvPr id="2052"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2053"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0F32BBF1-A42C-44B4-8BF3-28F0784A9867}" type="slidenum">
              <a:rPr lang="en-GB"/>
              <a:pPr>
                <a:defRPr/>
              </a:pPr>
              <a:t>‹#›</a:t>
            </a:fld>
            <a:endParaRPr lang="en-GB"/>
          </a:p>
        </p:txBody>
      </p:sp>
      <p:sp>
        <p:nvSpPr>
          <p:cNvPr id="2057" name="Rectangle 9"/>
          <p:cNvSpPr>
            <a:spLocks noChangeArrowheads="1"/>
          </p:cNvSpPr>
          <p:nvPr/>
        </p:nvSpPr>
        <p:spPr bwMode="auto">
          <a:xfrm>
            <a:off x="790575" y="611188"/>
            <a:ext cx="80248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defRPr/>
            </a:pPr>
            <a:endParaRPr lang="en-US" altLang="en-US" sz="4400">
              <a:solidFill>
                <a:schemeClr val="bg1"/>
              </a:solidFill>
            </a:endParaRPr>
          </a:p>
        </p:txBody>
      </p:sp>
      <p:sp>
        <p:nvSpPr>
          <p:cNvPr id="2058" name="Rectangle 10"/>
          <p:cNvSpPr>
            <a:spLocks noChangeArrowheads="1"/>
          </p:cNvSpPr>
          <p:nvPr/>
        </p:nvSpPr>
        <p:spPr bwMode="auto">
          <a:xfrm>
            <a:off x="790575" y="1798638"/>
            <a:ext cx="8024813" cy="381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20000"/>
              </a:spcBef>
              <a:defRPr/>
            </a:pPr>
            <a:endParaRPr lang="en-US" altLang="en-US" sz="1800" b="1">
              <a:solidFill>
                <a:schemeClr val="bg1"/>
              </a:solidFill>
              <a:latin typeface="Arial" panose="020B0604020202020204" pitchFamily="34" charset="0"/>
            </a:endParaRPr>
          </a:p>
        </p:txBody>
      </p:sp>
      <p:pic>
        <p:nvPicPr>
          <p:cNvPr id="2059" name="Picture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51"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eaLnBrk="1" fontAlgn="base" hangingPunct="1">
        <a:spcBef>
          <a:spcPct val="0"/>
        </a:spcBef>
        <a:spcAft>
          <a:spcPct val="0"/>
        </a:spcAft>
        <a:defRPr sz="4400">
          <a:solidFill>
            <a:srgbClr val="663366"/>
          </a:solidFill>
          <a:latin typeface="Times" pitchFamily="18" charset="0"/>
        </a:defRPr>
      </a:lvl6pPr>
      <a:lvl7pPr marL="914400" algn="l" rtl="0" eaLnBrk="1" fontAlgn="base" hangingPunct="1">
        <a:spcBef>
          <a:spcPct val="0"/>
        </a:spcBef>
        <a:spcAft>
          <a:spcPct val="0"/>
        </a:spcAft>
        <a:defRPr sz="4400">
          <a:solidFill>
            <a:srgbClr val="663366"/>
          </a:solidFill>
          <a:latin typeface="Times" pitchFamily="18" charset="0"/>
        </a:defRPr>
      </a:lvl7pPr>
      <a:lvl8pPr marL="1371600" algn="l" rtl="0" eaLnBrk="1" fontAlgn="base" hangingPunct="1">
        <a:spcBef>
          <a:spcPct val="0"/>
        </a:spcBef>
        <a:spcAft>
          <a:spcPct val="0"/>
        </a:spcAft>
        <a:defRPr sz="4400">
          <a:solidFill>
            <a:srgbClr val="663366"/>
          </a:solidFill>
          <a:latin typeface="Times" pitchFamily="18" charset="0"/>
        </a:defRPr>
      </a:lvl8pPr>
      <a:lvl9pPr marL="1828800" algn="l" rtl="0" eaLnBrk="1" fontAlgn="base" hangingPunct="1">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ctrTitle"/>
          </p:nvPr>
        </p:nvSpPr>
        <p:spPr>
          <a:xfrm>
            <a:off x="688032" y="2060848"/>
            <a:ext cx="7772400" cy="1470025"/>
          </a:xfrm>
        </p:spPr>
        <p:txBody>
          <a:bodyPr/>
          <a:lstStyle/>
          <a:p>
            <a:pPr algn="r" eaLnBrk="1" hangingPunct="1"/>
            <a:r>
              <a:rPr lang="de-DE" altLang="en-US" dirty="0">
                <a:latin typeface="Arial" panose="020B0604020202020204" pitchFamily="34" charset="0"/>
                <a:cs typeface="Arial" panose="020B0604020202020204" pitchFamily="34" charset="0"/>
              </a:rPr>
              <a:t>Criminal Law, Lecture 16:</a:t>
            </a:r>
            <a:br>
              <a:rPr lang="de-DE" altLang="en-US" dirty="0">
                <a:latin typeface="Arial" panose="020B0604020202020204" pitchFamily="34" charset="0"/>
                <a:cs typeface="Arial" panose="020B0604020202020204" pitchFamily="34" charset="0"/>
              </a:rPr>
            </a:br>
            <a:r>
              <a:rPr lang="de-DE" altLang="en-US" dirty="0">
                <a:latin typeface="Arial" panose="020B0604020202020204" pitchFamily="34" charset="0"/>
                <a:cs typeface="Arial" panose="020B0604020202020204" pitchFamily="34" charset="0"/>
              </a:rPr>
              <a:t>Automatism</a:t>
            </a:r>
            <a:br>
              <a:rPr lang="de-DE" altLang="en-US" dirty="0">
                <a:latin typeface="Calibri" panose="020F0502020204030204" pitchFamily="34" charset="0"/>
                <a:cs typeface="Calibri" panose="020F0502020204030204" pitchFamily="34" charset="0"/>
              </a:rPr>
            </a:br>
            <a:endParaRPr lang="en-US" altLang="en-US" dirty="0">
              <a:latin typeface="Calibri" panose="020F0502020204030204" pitchFamily="34" charset="0"/>
              <a:cs typeface="Calibri" panose="020F0502020204030204" pitchFamily="34" charset="0"/>
            </a:endParaRPr>
          </a:p>
        </p:txBody>
      </p:sp>
      <p:sp>
        <p:nvSpPr>
          <p:cNvPr id="7171" name="Rectangle 5"/>
          <p:cNvSpPr>
            <a:spLocks noGrp="1" noChangeArrowheads="1"/>
          </p:cNvSpPr>
          <p:nvPr>
            <p:ph type="subTitle" idx="1"/>
          </p:nvPr>
        </p:nvSpPr>
        <p:spPr>
          <a:xfrm>
            <a:off x="764180" y="3502025"/>
            <a:ext cx="7993063" cy="2879725"/>
          </a:xfrm>
        </p:spPr>
        <p:txBody>
          <a:bodyPr/>
          <a:lstStyle/>
          <a:p>
            <a:pPr algn="r" eaLnBrk="1" hangingPunct="1"/>
            <a:endParaRPr lang="en-GB" altLang="en-US" sz="2400" b="0" dirty="0">
              <a:latin typeface="Calibri" panose="020F0502020204030204" pitchFamily="34" charset="0"/>
              <a:cs typeface="Calibri" panose="020F0502020204030204" pitchFamily="34" charset="0"/>
            </a:endParaRPr>
          </a:p>
          <a:p>
            <a:pPr algn="r" eaLnBrk="1" hangingPunct="1"/>
            <a:r>
              <a:rPr lang="en-GB" altLang="en-US" sz="2400" b="0" dirty="0">
                <a:latin typeface="Arial" panose="020B0604020202020204" pitchFamily="34" charset="0"/>
                <a:cs typeface="Arial" panose="020B0604020202020204" pitchFamily="34" charset="0"/>
              </a:rPr>
              <a:t>Dr Kat Langley</a:t>
            </a:r>
          </a:p>
          <a:p>
            <a:pPr algn="r" eaLnBrk="1" hangingPunct="1"/>
            <a:r>
              <a:rPr lang="en-GB" altLang="en-US" sz="2400" b="0" dirty="0" err="1">
                <a:latin typeface="Arial" panose="020B0604020202020204" pitchFamily="34" charset="0"/>
                <a:cs typeface="Arial" panose="020B0604020202020204" pitchFamily="34" charset="0"/>
              </a:rPr>
              <a:t>Katherine.l.langley@durham.ac.uk</a:t>
            </a:r>
            <a:endParaRPr lang="en-GB" altLang="en-US" sz="2400" b="0" dirty="0">
              <a:latin typeface="Arial" panose="020B0604020202020204" pitchFamily="34" charset="0"/>
              <a:cs typeface="Arial" panose="020B0604020202020204" pitchFamily="34" charset="0"/>
            </a:endParaRPr>
          </a:p>
        </p:txBody>
      </p:sp>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E6FA9-1267-4E34-BA6F-D8BE75C514CA}"/>
              </a:ext>
            </a:extLst>
          </p:cNvPr>
          <p:cNvSpPr>
            <a:spLocks noGrp="1"/>
          </p:cNvSpPr>
          <p:nvPr>
            <p:ph type="title"/>
          </p:nvPr>
        </p:nvSpPr>
        <p:spPr/>
        <p:txBody>
          <a:bodyPr/>
          <a:lstStyle/>
          <a:p>
            <a:r>
              <a:rPr lang="en-GB" dirty="0"/>
              <a:t>Denial of Crime</a:t>
            </a:r>
            <a:endParaRPr lang="en-US" dirty="0"/>
          </a:p>
        </p:txBody>
      </p:sp>
      <p:sp>
        <p:nvSpPr>
          <p:cNvPr id="3" name="Content Placeholder 2">
            <a:extLst>
              <a:ext uri="{FF2B5EF4-FFF2-40B4-BE49-F238E27FC236}">
                <a16:creationId xmlns:a16="http://schemas.microsoft.com/office/drawing/2014/main" id="{C38C15BC-135D-4701-A0F8-AFE6764759A5}"/>
              </a:ext>
            </a:extLst>
          </p:cNvPr>
          <p:cNvSpPr>
            <a:spLocks noGrp="1"/>
          </p:cNvSpPr>
          <p:nvPr>
            <p:ph idx="1"/>
          </p:nvPr>
        </p:nvSpPr>
        <p:spPr>
          <a:xfrm>
            <a:off x="684213" y="1700808"/>
            <a:ext cx="7772400" cy="3816350"/>
          </a:xfrm>
        </p:spPr>
        <p:txBody>
          <a:bodyPr/>
          <a:lstStyle/>
          <a:p>
            <a:pPr>
              <a:buFont typeface="Arial" panose="020B0604020202020204" pitchFamily="34" charset="0"/>
              <a:buChar char="•"/>
            </a:pPr>
            <a:r>
              <a:rPr lang="en-GB" sz="2200" dirty="0"/>
              <a:t>Automatism, insanity and intoxication can be classed as ‘denial of crime’ – in that they raise an issue about whether an element of the offence is established at all. </a:t>
            </a:r>
          </a:p>
          <a:p>
            <a:pPr lvl="1">
              <a:buFont typeface="Arial" panose="020B0604020202020204" pitchFamily="34" charset="0"/>
              <a:buChar char="•"/>
            </a:pPr>
            <a:r>
              <a:rPr lang="en-GB" sz="2000" b="1" dirty="0"/>
              <a:t>Automatism</a:t>
            </a:r>
            <a:r>
              <a:rPr lang="en-GB" sz="2000" dirty="0"/>
              <a:t>: question of whether or not actions were voluntary, which can be seen as core part of the </a:t>
            </a:r>
            <a:r>
              <a:rPr lang="en-GB" sz="2000" i="1" dirty="0"/>
              <a:t>actus reus</a:t>
            </a:r>
            <a:r>
              <a:rPr lang="en-GB" sz="2000" dirty="0"/>
              <a:t> of the offence. </a:t>
            </a:r>
          </a:p>
          <a:p>
            <a:pPr>
              <a:buFont typeface="Arial" panose="020B0604020202020204" pitchFamily="34" charset="0"/>
              <a:buChar char="•"/>
            </a:pPr>
            <a:r>
              <a:rPr lang="en-GB" sz="2200" dirty="0"/>
              <a:t>We can distinguish ‘defences’ (where </a:t>
            </a:r>
            <a:r>
              <a:rPr lang="en-GB" sz="2200" i="1" dirty="0"/>
              <a:t>actus reus</a:t>
            </a:r>
            <a:r>
              <a:rPr lang="en-GB" sz="2200" dirty="0"/>
              <a:t> and </a:t>
            </a:r>
            <a:r>
              <a:rPr lang="en-GB" sz="2200" i="1" dirty="0" err="1"/>
              <a:t>mens</a:t>
            </a:r>
            <a:r>
              <a:rPr lang="en-GB" sz="2200" i="1" dirty="0"/>
              <a:t> rea</a:t>
            </a:r>
            <a:r>
              <a:rPr lang="en-GB" sz="2200" dirty="0"/>
              <a:t> are proven) from denial of crime (argument that D couldn’t have committed the crime because of automatism/intoxication/insanity). </a:t>
            </a:r>
          </a:p>
          <a:p>
            <a:endParaRPr lang="en-US" dirty="0"/>
          </a:p>
        </p:txBody>
      </p:sp>
    </p:spTree>
    <p:extLst>
      <p:ext uri="{BB962C8B-B14F-4D97-AF65-F5344CB8AC3E}">
        <p14:creationId xmlns:p14="http://schemas.microsoft.com/office/powerpoint/2010/main" val="4046768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98D2-5046-45F1-9719-94845EAEBC79}"/>
              </a:ext>
            </a:extLst>
          </p:cNvPr>
          <p:cNvSpPr>
            <a:spLocks noGrp="1"/>
          </p:cNvSpPr>
          <p:nvPr>
            <p:ph type="title"/>
          </p:nvPr>
        </p:nvSpPr>
        <p:spPr/>
        <p:txBody>
          <a:bodyPr/>
          <a:lstStyle/>
          <a:p>
            <a:r>
              <a:rPr lang="en-GB" dirty="0"/>
              <a:t>Denial of a crime</a:t>
            </a:r>
            <a:endParaRPr lang="en-US" dirty="0"/>
          </a:p>
        </p:txBody>
      </p:sp>
      <p:sp>
        <p:nvSpPr>
          <p:cNvPr id="3" name="Content Placeholder 2">
            <a:extLst>
              <a:ext uri="{FF2B5EF4-FFF2-40B4-BE49-F238E27FC236}">
                <a16:creationId xmlns:a16="http://schemas.microsoft.com/office/drawing/2014/main" id="{7C21F218-0F73-472B-BDBD-1D53C5A6860A}"/>
              </a:ext>
            </a:extLst>
          </p:cNvPr>
          <p:cNvSpPr>
            <a:spLocks noGrp="1"/>
          </p:cNvSpPr>
          <p:nvPr>
            <p:ph idx="1"/>
          </p:nvPr>
        </p:nvSpPr>
        <p:spPr>
          <a:xfrm>
            <a:off x="684213" y="1772816"/>
            <a:ext cx="7772400" cy="3816350"/>
          </a:xfrm>
        </p:spPr>
        <p:txBody>
          <a:bodyPr/>
          <a:lstStyle/>
          <a:p>
            <a:pPr marL="0" indent="0"/>
            <a:r>
              <a:rPr lang="en-GB" sz="1400" u="sng" dirty="0"/>
              <a:t>Automatism</a:t>
            </a:r>
            <a:r>
              <a:rPr lang="en-GB" sz="1400" dirty="0"/>
              <a:t>: </a:t>
            </a:r>
          </a:p>
          <a:p>
            <a:pPr marL="285750" indent="-285750">
              <a:buFont typeface="Arial" panose="020B0604020202020204" pitchFamily="34" charset="0"/>
              <a:buChar char="•"/>
            </a:pPr>
            <a:r>
              <a:rPr lang="en-GB" sz="1400" dirty="0"/>
              <a:t>D states actions were involuntary (not controlled by the brain) because they were incapacitated by an external factor. Results in complete acquittal. </a:t>
            </a:r>
          </a:p>
          <a:p>
            <a:pPr marL="0" indent="0"/>
            <a:r>
              <a:rPr lang="en-GB" sz="1400" u="sng" dirty="0"/>
              <a:t>Insanity</a:t>
            </a:r>
            <a:r>
              <a:rPr lang="en-GB" sz="1400" dirty="0"/>
              <a:t>: </a:t>
            </a:r>
          </a:p>
          <a:p>
            <a:pPr marL="285750" indent="-285750">
              <a:buFont typeface="Arial" panose="020B0604020202020204" pitchFamily="34" charset="0"/>
              <a:buChar char="•"/>
            </a:pPr>
            <a:r>
              <a:rPr lang="en-GB" sz="1400" dirty="0"/>
              <a:t>D explains lack of MR (or voluntary movement) on an internal condition which has caused a bodily malfunction such that D does not understand the nature of quality of their act. Results in a verdict of Not Guilty by Reason of Insanity.</a:t>
            </a:r>
          </a:p>
          <a:p>
            <a:pPr marL="0" indent="0"/>
            <a:r>
              <a:rPr lang="en-GB" sz="1400" u="sng" dirty="0"/>
              <a:t>Intoxication</a:t>
            </a:r>
            <a:r>
              <a:rPr lang="en-GB" sz="1400" dirty="0"/>
              <a:t>: </a:t>
            </a:r>
          </a:p>
          <a:p>
            <a:pPr marL="285750" indent="-285750">
              <a:buFont typeface="Arial" panose="020B0604020202020204" pitchFamily="34" charset="0"/>
              <a:buChar char="•"/>
            </a:pPr>
            <a:r>
              <a:rPr lang="en-US" sz="1400" dirty="0"/>
              <a:t>D explains that lack of MR is caused by intoxication. This may result in an acquittal</a:t>
            </a:r>
          </a:p>
          <a:p>
            <a:pPr>
              <a:buFont typeface="Arial" panose="020B0604020202020204" pitchFamily="34" charset="0"/>
              <a:buChar char="•"/>
            </a:pPr>
            <a:endParaRPr lang="en-US" sz="1400" dirty="0"/>
          </a:p>
          <a:p>
            <a:pPr marL="0" indent="0"/>
            <a:r>
              <a:rPr lang="en-US" sz="1400" dirty="0"/>
              <a:t>All are </a:t>
            </a:r>
            <a:r>
              <a:rPr lang="en-US" sz="1400" u="sng" dirty="0"/>
              <a:t>capacity-related</a:t>
            </a:r>
            <a:r>
              <a:rPr lang="en-US" sz="1400" dirty="0"/>
              <a:t> pleas – they involve an argument that D was not a responsible actor at the time of the offence. </a:t>
            </a:r>
          </a:p>
          <a:p>
            <a:pPr marL="285750" indent="-285750">
              <a:buFont typeface="Arial" panose="020B0604020202020204" pitchFamily="34" charset="0"/>
              <a:buChar char="•"/>
            </a:pPr>
            <a:r>
              <a:rPr lang="en-US" sz="1400" dirty="0"/>
              <a:t>Core principle: a person should only be blamed if he has the ‘capacity and fair opportunity to change or adjust his </a:t>
            </a:r>
            <a:r>
              <a:rPr lang="en-US" sz="1400" dirty="0" err="1"/>
              <a:t>behaviour</a:t>
            </a:r>
            <a:r>
              <a:rPr lang="en-US" sz="1400" dirty="0"/>
              <a:t> to the law’ (HLA Hart, </a:t>
            </a:r>
            <a:r>
              <a:rPr lang="en-US" sz="1400" i="1" dirty="0"/>
              <a:t>Punishment and Responsibility </a:t>
            </a:r>
            <a:r>
              <a:rPr lang="en-US" sz="1400" dirty="0"/>
              <a:t>(OUP 1968, 181).  </a:t>
            </a:r>
          </a:p>
        </p:txBody>
      </p:sp>
    </p:spTree>
    <p:extLst>
      <p:ext uri="{BB962C8B-B14F-4D97-AF65-F5344CB8AC3E}">
        <p14:creationId xmlns:p14="http://schemas.microsoft.com/office/powerpoint/2010/main" val="669969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5994D-C02D-42F0-A4AB-2700C29C0FD8}"/>
              </a:ext>
            </a:extLst>
          </p:cNvPr>
          <p:cNvSpPr>
            <a:spLocks noGrp="1"/>
          </p:cNvSpPr>
          <p:nvPr>
            <p:ph type="title"/>
          </p:nvPr>
        </p:nvSpPr>
        <p:spPr/>
        <p:txBody>
          <a:bodyPr/>
          <a:lstStyle/>
          <a:p>
            <a:r>
              <a:rPr lang="en-GB" dirty="0"/>
              <a:t>(Sane) Automatism: Definition</a:t>
            </a:r>
            <a:endParaRPr lang="en-US" dirty="0"/>
          </a:p>
        </p:txBody>
      </p:sp>
      <p:sp>
        <p:nvSpPr>
          <p:cNvPr id="3" name="Content Placeholder 2">
            <a:extLst>
              <a:ext uri="{FF2B5EF4-FFF2-40B4-BE49-F238E27FC236}">
                <a16:creationId xmlns:a16="http://schemas.microsoft.com/office/drawing/2014/main" id="{F851E4F0-6612-4447-840A-44502A13051B}"/>
              </a:ext>
            </a:extLst>
          </p:cNvPr>
          <p:cNvSpPr>
            <a:spLocks noGrp="1"/>
          </p:cNvSpPr>
          <p:nvPr>
            <p:ph idx="1"/>
          </p:nvPr>
        </p:nvSpPr>
        <p:spPr>
          <a:xfrm>
            <a:off x="684213" y="1772816"/>
            <a:ext cx="7772400" cy="3816350"/>
          </a:xfrm>
        </p:spPr>
        <p:txBody>
          <a:bodyPr/>
          <a:lstStyle/>
          <a:p>
            <a:pPr marL="36899" indent="0">
              <a:buNone/>
            </a:pPr>
            <a:r>
              <a:rPr lang="en-GB" dirty="0"/>
              <a:t>Broad definitions:</a:t>
            </a:r>
          </a:p>
          <a:p>
            <a:pPr algn="just">
              <a:buFont typeface="Arial" panose="020B0604020202020204" pitchFamily="34" charset="0"/>
              <a:buChar char="•"/>
            </a:pPr>
            <a:r>
              <a:rPr lang="en-GB" sz="1600" dirty="0">
                <a:effectLst/>
                <a:ea typeface="Times New Roman" panose="02020603050405020304" pitchFamily="18" charset="0"/>
              </a:rPr>
              <a:t>‘an involuntary movement of the body or limbs of a person [following] a complete destruction of voluntary control’ (</a:t>
            </a:r>
            <a:r>
              <a:rPr lang="en-GB" sz="1600" b="1" i="1" dirty="0">
                <a:effectLst/>
                <a:ea typeface="Times New Roman" panose="02020603050405020304" pitchFamily="18" charset="0"/>
              </a:rPr>
              <a:t>Watmore v Jenkins </a:t>
            </a:r>
            <a:r>
              <a:rPr lang="en-GB" sz="1600" b="1" dirty="0">
                <a:effectLst/>
                <a:ea typeface="Times New Roman" panose="02020603050405020304" pitchFamily="18" charset="0"/>
              </a:rPr>
              <a:t>[1962] 2 QB 572, 587</a:t>
            </a:r>
            <a:r>
              <a:rPr lang="en-GB" sz="1600" dirty="0">
                <a:effectLst/>
                <a:ea typeface="Times New Roman" panose="02020603050405020304" pitchFamily="18" charset="0"/>
              </a:rPr>
              <a:t>)</a:t>
            </a:r>
          </a:p>
          <a:p>
            <a:pPr algn="just">
              <a:buFont typeface="Arial" panose="020B0604020202020204" pitchFamily="34" charset="0"/>
              <a:buChar char="•"/>
            </a:pPr>
            <a:r>
              <a:rPr lang="en-GB" sz="1600" dirty="0">
                <a:effectLst/>
                <a:ea typeface="Times New Roman" panose="02020603050405020304" pitchFamily="18" charset="0"/>
              </a:rPr>
              <a:t>‘No act is punishable if it is done involuntarily: </a:t>
            </a:r>
            <a:r>
              <a:rPr lang="en-US" sz="1600" dirty="0">
                <a:effectLst/>
                <a:ea typeface="Times New Roman" panose="02020603050405020304" pitchFamily="18" charset="0"/>
              </a:rPr>
              <a:t>and an involuntary act in this context—some people nowadays prefer to speak of it as "automatism" –means an act which is done by the muscles without any control by the mind such as a spasm, a reflex action or a convulsion; or an act done by a person who is not conscious of what he is doing such as an act done whilst suffering from concussion </a:t>
            </a:r>
            <a:r>
              <a:rPr lang="en-US" sz="1600" strike="sngStrike" dirty="0">
                <a:effectLst/>
                <a:ea typeface="Times New Roman" panose="02020603050405020304" pitchFamily="18" charset="0"/>
              </a:rPr>
              <a:t>or whilst sleep-walking.’ </a:t>
            </a:r>
            <a:r>
              <a:rPr lang="en-US" sz="1600" dirty="0">
                <a:effectLst/>
                <a:ea typeface="Times New Roman" panose="02020603050405020304" pitchFamily="18" charset="0"/>
              </a:rPr>
              <a:t>(</a:t>
            </a:r>
            <a:r>
              <a:rPr lang="en-US" sz="1600" b="1" i="1" dirty="0">
                <a:effectLst/>
                <a:ea typeface="Times New Roman" panose="02020603050405020304" pitchFamily="18" charset="0"/>
              </a:rPr>
              <a:t>Bratty v AG for Northern Ireland </a:t>
            </a:r>
            <a:r>
              <a:rPr lang="en-US" sz="1600" b="1" dirty="0">
                <a:effectLst/>
                <a:ea typeface="Times New Roman" panose="02020603050405020304" pitchFamily="18" charset="0"/>
              </a:rPr>
              <a:t>[1963] AC 363, 409 Lord Denning</a:t>
            </a:r>
            <a:r>
              <a:rPr lang="en-US" sz="1600" dirty="0">
                <a:effectLst/>
                <a:ea typeface="Times New Roman" panose="02020603050405020304" pitchFamily="18" charset="0"/>
              </a:rPr>
              <a:t>)</a:t>
            </a:r>
            <a:endParaRPr lang="en-GB" dirty="0"/>
          </a:p>
          <a:p>
            <a:pPr>
              <a:buFont typeface="Wingdings" panose="05000000000000000000" pitchFamily="2" charset="2"/>
              <a:buChar char="Ø"/>
            </a:pPr>
            <a:r>
              <a:rPr lang="en-GB" dirty="0"/>
              <a:t>D’s actions were “automatic” – D exercised no conscious control over their conduct.</a:t>
            </a:r>
          </a:p>
          <a:p>
            <a:pPr>
              <a:buFont typeface="Wingdings" panose="05000000000000000000" pitchFamily="2" charset="2"/>
              <a:buChar char="Ø"/>
            </a:pPr>
            <a:r>
              <a:rPr lang="en-GB" dirty="0"/>
              <a:t>This makes D’s conduct </a:t>
            </a:r>
            <a:r>
              <a:rPr lang="en-GB" i="1" dirty="0"/>
              <a:t>involuntary.</a:t>
            </a:r>
          </a:p>
          <a:p>
            <a:pPr>
              <a:buFont typeface="Wingdings" panose="05000000000000000000" pitchFamily="2" charset="2"/>
              <a:buChar char="Ø"/>
            </a:pPr>
            <a:r>
              <a:rPr lang="en-GB" dirty="0"/>
              <a:t>Arises from an </a:t>
            </a:r>
            <a:r>
              <a:rPr lang="en-GB" i="1" dirty="0"/>
              <a:t>external</a:t>
            </a:r>
            <a:r>
              <a:rPr lang="en-GB" dirty="0"/>
              <a:t> cause (distinction from insanity). </a:t>
            </a:r>
          </a:p>
          <a:p>
            <a:endParaRPr lang="en-US" dirty="0"/>
          </a:p>
        </p:txBody>
      </p:sp>
    </p:spTree>
    <p:extLst>
      <p:ext uri="{BB962C8B-B14F-4D97-AF65-F5344CB8AC3E}">
        <p14:creationId xmlns:p14="http://schemas.microsoft.com/office/powerpoint/2010/main" val="37317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33167-5B2F-4DC6-8331-B7A8F2B963F8}"/>
              </a:ext>
            </a:extLst>
          </p:cNvPr>
          <p:cNvSpPr>
            <a:spLocks noGrp="1"/>
          </p:cNvSpPr>
          <p:nvPr>
            <p:ph type="title"/>
          </p:nvPr>
        </p:nvSpPr>
        <p:spPr>
          <a:xfrm>
            <a:off x="685800" y="629816"/>
            <a:ext cx="7772400" cy="1143000"/>
          </a:xfrm>
        </p:spPr>
        <p:txBody>
          <a:bodyPr/>
          <a:lstStyle/>
          <a:p>
            <a:r>
              <a:rPr lang="en-GB" dirty="0"/>
              <a:t>(Sane) Automatism: Operation</a:t>
            </a:r>
            <a:endParaRPr lang="en-US" dirty="0"/>
          </a:p>
        </p:txBody>
      </p:sp>
      <p:sp>
        <p:nvSpPr>
          <p:cNvPr id="3" name="Content Placeholder 2">
            <a:extLst>
              <a:ext uri="{FF2B5EF4-FFF2-40B4-BE49-F238E27FC236}">
                <a16:creationId xmlns:a16="http://schemas.microsoft.com/office/drawing/2014/main" id="{9ED91855-908A-4C81-A688-DFDF840DF711}"/>
              </a:ext>
            </a:extLst>
          </p:cNvPr>
          <p:cNvSpPr>
            <a:spLocks noGrp="1"/>
          </p:cNvSpPr>
          <p:nvPr>
            <p:ph idx="1"/>
          </p:nvPr>
        </p:nvSpPr>
        <p:spPr>
          <a:xfrm>
            <a:off x="684213" y="1700882"/>
            <a:ext cx="7772400" cy="3816350"/>
          </a:xfrm>
        </p:spPr>
        <p:txBody>
          <a:bodyPr/>
          <a:lstStyle/>
          <a:p>
            <a:pPr marL="0" indent="0"/>
            <a:r>
              <a:rPr lang="en-GB" sz="2100" b="1" dirty="0"/>
              <a:t>Burden of proof – evidential</a:t>
            </a:r>
          </a:p>
          <a:p>
            <a:pPr>
              <a:buFont typeface="Arial" panose="020B0604020202020204" pitchFamily="34" charset="0"/>
              <a:buChar char="•"/>
            </a:pPr>
            <a:r>
              <a:rPr lang="en-GB" sz="2100" dirty="0"/>
              <a:t>D must raise evidence that the act was involuntary (in accordance with the legal standards for the defence) </a:t>
            </a:r>
          </a:p>
          <a:p>
            <a:pPr>
              <a:buFont typeface="Arial" panose="020B0604020202020204" pitchFamily="34" charset="0"/>
              <a:buChar char="•"/>
            </a:pPr>
            <a:r>
              <a:rPr lang="en-GB" sz="2100" dirty="0"/>
              <a:t>This is a legal question: judge decides whether evidence is sufficient to put the matter to the jury</a:t>
            </a:r>
          </a:p>
          <a:p>
            <a:pPr>
              <a:buFont typeface="Arial" panose="020B0604020202020204" pitchFamily="34" charset="0"/>
              <a:buChar char="•"/>
            </a:pPr>
            <a:r>
              <a:rPr lang="en-GB" sz="2100" dirty="0"/>
              <a:t>But medical evidence is highly relevant: D’s own word, without medical support, is unlikely to be enough to defeat the factual presumption that D had capacity (</a:t>
            </a:r>
            <a:r>
              <a:rPr lang="en-GB" sz="2100" b="1" i="1" dirty="0"/>
              <a:t>Bratty </a:t>
            </a:r>
            <a:r>
              <a:rPr lang="en-GB" sz="2100" b="1" dirty="0"/>
              <a:t>[1963]</a:t>
            </a:r>
            <a:r>
              <a:rPr lang="en-GB" sz="2100" dirty="0"/>
              <a:t>)</a:t>
            </a:r>
          </a:p>
          <a:p>
            <a:pPr>
              <a:buFont typeface="Arial" panose="020B0604020202020204" pitchFamily="34" charset="0"/>
              <a:buChar char="•"/>
            </a:pPr>
            <a:r>
              <a:rPr lang="en-GB" sz="2100" dirty="0"/>
              <a:t>E.g. D claiming they “blacked out”, without medical support, is not enough (</a:t>
            </a:r>
            <a:r>
              <a:rPr lang="en-GB" sz="2100" i="1" dirty="0"/>
              <a:t>Dervish </a:t>
            </a:r>
            <a:r>
              <a:rPr lang="en-GB" sz="2100" dirty="0"/>
              <a:t>[1968] Crim LR 37)</a:t>
            </a:r>
          </a:p>
          <a:p>
            <a:pPr>
              <a:buFont typeface="Arial" panose="020B0604020202020204" pitchFamily="34" charset="0"/>
              <a:buChar char="•"/>
            </a:pPr>
            <a:r>
              <a:rPr lang="en-GB" sz="2100" dirty="0">
                <a:ln>
                  <a:solidFill>
                    <a:prstClr val="black">
                      <a:lumMod val="75000"/>
                      <a:lumOff val="25000"/>
                      <a:alpha val="10000"/>
                    </a:prstClr>
                  </a:solidFill>
                </a:ln>
              </a:rPr>
              <a:t>If put to jury, prosecution must disprove the defence.</a:t>
            </a:r>
          </a:p>
          <a:p>
            <a:endParaRPr lang="en-US" dirty="0"/>
          </a:p>
        </p:txBody>
      </p:sp>
    </p:spTree>
    <p:extLst>
      <p:ext uri="{BB962C8B-B14F-4D97-AF65-F5344CB8AC3E}">
        <p14:creationId xmlns:p14="http://schemas.microsoft.com/office/powerpoint/2010/main" val="2011778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4B5B8-4D82-45E2-8A9A-978EA2511D0F}"/>
              </a:ext>
            </a:extLst>
          </p:cNvPr>
          <p:cNvSpPr>
            <a:spLocks noGrp="1"/>
          </p:cNvSpPr>
          <p:nvPr>
            <p:ph type="title"/>
          </p:nvPr>
        </p:nvSpPr>
        <p:spPr/>
        <p:txBody>
          <a:bodyPr/>
          <a:lstStyle/>
          <a:p>
            <a:r>
              <a:rPr lang="en-GB" dirty="0"/>
              <a:t>Operation </a:t>
            </a:r>
            <a:r>
              <a:rPr lang="en-GB" dirty="0" err="1"/>
              <a:t>cont</a:t>
            </a:r>
            <a:r>
              <a:rPr lang="en-GB" dirty="0"/>
              <a:t>…</a:t>
            </a:r>
            <a:endParaRPr lang="en-US" dirty="0"/>
          </a:p>
        </p:txBody>
      </p:sp>
      <p:sp>
        <p:nvSpPr>
          <p:cNvPr id="3" name="Content Placeholder 2">
            <a:extLst>
              <a:ext uri="{FF2B5EF4-FFF2-40B4-BE49-F238E27FC236}">
                <a16:creationId xmlns:a16="http://schemas.microsoft.com/office/drawing/2014/main" id="{7ADF70EB-AF73-43BA-AD74-1639AB4F6BB0}"/>
              </a:ext>
            </a:extLst>
          </p:cNvPr>
          <p:cNvSpPr>
            <a:spLocks noGrp="1"/>
          </p:cNvSpPr>
          <p:nvPr>
            <p:ph idx="1"/>
          </p:nvPr>
        </p:nvSpPr>
        <p:spPr/>
        <p:txBody>
          <a:bodyPr/>
          <a:lstStyle/>
          <a:p>
            <a:pPr lvl="1"/>
            <a:r>
              <a:rPr lang="en-GB" sz="1700" i="1" dirty="0"/>
              <a:t>‘No act is punishable if it is done involuntarily …[automatism] means an act which is done by the muscles without control of the mind’ (</a:t>
            </a:r>
            <a:r>
              <a:rPr lang="en-GB" sz="1700" b="1" i="1" dirty="0"/>
              <a:t>Bratty [1963] at 409</a:t>
            </a:r>
            <a:r>
              <a:rPr lang="en-GB" sz="1700" i="1" dirty="0"/>
              <a:t>)</a:t>
            </a:r>
          </a:p>
          <a:p>
            <a:pPr marL="457200" lvl="1" indent="0">
              <a:buNone/>
            </a:pPr>
            <a:endParaRPr lang="en-GB" sz="1700" i="1" dirty="0"/>
          </a:p>
          <a:p>
            <a:pPr>
              <a:buFont typeface="Arial" panose="020B0604020202020204" pitchFamily="34" charset="0"/>
              <a:buChar char="•"/>
            </a:pPr>
            <a:r>
              <a:rPr lang="en-US" kern="1200" dirty="0">
                <a:ln>
                  <a:solidFill>
                    <a:prstClr val="black">
                      <a:lumMod val="75000"/>
                      <a:lumOff val="25000"/>
                      <a:alpha val="10000"/>
                    </a:prstClr>
                  </a:solidFill>
                </a:ln>
              </a:rPr>
              <a:t>If D’s act is automatic no liability can result and an acquittal must follow.</a:t>
            </a:r>
          </a:p>
          <a:p>
            <a:pPr>
              <a:buFont typeface="Arial" panose="020B0604020202020204" pitchFamily="34" charset="0"/>
              <a:buChar char="•"/>
            </a:pPr>
            <a:r>
              <a:rPr kumimoji="0" lang="en-GB" b="0" i="0" u="none" strike="noStrike" kern="1200" cap="none" spc="0" normalizeH="0" baseline="0" noProof="0" dirty="0">
                <a:ln>
                  <a:solidFill>
                    <a:prstClr val="black">
                      <a:lumMod val="75000"/>
                      <a:lumOff val="25000"/>
                      <a:alpha val="10000"/>
                    </a:prstClr>
                  </a:solidFill>
                </a:ln>
                <a:uLnTx/>
                <a:uFillTx/>
                <a:ea typeface="+mn-ea"/>
                <a:cs typeface="+mn-cs"/>
              </a:rPr>
              <a:t>The standard is high. Only ‘</a:t>
            </a:r>
            <a:r>
              <a:rPr kumimoji="0" lang="en-GB" b="1" i="0" u="none" strike="noStrike" kern="1200" cap="none" spc="0" normalizeH="0" baseline="0" noProof="0" dirty="0">
                <a:ln>
                  <a:solidFill>
                    <a:prstClr val="black">
                      <a:lumMod val="75000"/>
                      <a:lumOff val="25000"/>
                      <a:alpha val="10000"/>
                    </a:prstClr>
                  </a:solidFill>
                </a:ln>
                <a:uLnTx/>
                <a:uFillTx/>
                <a:ea typeface="+mn-ea"/>
                <a:cs typeface="+mn-cs"/>
              </a:rPr>
              <a:t>total destruction of voluntary control</a:t>
            </a:r>
            <a:r>
              <a:rPr kumimoji="0" lang="en-GB" b="0" i="0" u="none" strike="noStrike" kern="1200" cap="none" spc="0" normalizeH="0" baseline="0" noProof="0" dirty="0">
                <a:ln>
                  <a:solidFill>
                    <a:prstClr val="black">
                      <a:lumMod val="75000"/>
                      <a:lumOff val="25000"/>
                      <a:alpha val="10000"/>
                    </a:prstClr>
                  </a:solidFill>
                </a:ln>
                <a:uLnTx/>
                <a:uFillTx/>
                <a:ea typeface="+mn-ea"/>
                <a:cs typeface="+mn-cs"/>
              </a:rPr>
              <a:t>’ is sufficient. </a:t>
            </a:r>
            <a:r>
              <a:rPr lang="en-GB" sz="1600" kern="1200" dirty="0">
                <a:ln>
                  <a:solidFill>
                    <a:prstClr val="black">
                      <a:lumMod val="75000"/>
                      <a:lumOff val="25000"/>
                      <a:alpha val="10000"/>
                    </a:prstClr>
                  </a:solidFill>
                </a:ln>
              </a:rPr>
              <a:t>See Broome v Perkins [1987] Crim LR 271 and AG’s Reference (No 2 of 1992) [1994] Crim LR 692 and Coley [2013] EWCA Crim 223</a:t>
            </a:r>
            <a:endParaRPr kumimoji="0" lang="en-GB" sz="1600" b="0" i="0" u="none" strike="noStrike" kern="1200" cap="none" spc="0" normalizeH="0" baseline="0" noProof="0" dirty="0">
              <a:ln>
                <a:solidFill>
                  <a:prstClr val="black">
                    <a:lumMod val="75000"/>
                    <a:lumOff val="25000"/>
                    <a:alpha val="10000"/>
                  </a:prstClr>
                </a:solidFill>
              </a:ln>
              <a:uLnTx/>
              <a:uFillTx/>
              <a:ea typeface="+mn-ea"/>
              <a:cs typeface="+mn-cs"/>
            </a:endParaRPr>
          </a:p>
        </p:txBody>
      </p:sp>
      <p:pic>
        <p:nvPicPr>
          <p:cNvPr id="4" name="Picture 3">
            <a:extLst>
              <a:ext uri="{FF2B5EF4-FFF2-40B4-BE49-F238E27FC236}">
                <a16:creationId xmlns:a16="http://schemas.microsoft.com/office/drawing/2014/main" id="{729737E0-CE6B-BEFA-6E24-11ECA3384BA0}"/>
              </a:ext>
            </a:extLst>
          </p:cNvPr>
          <p:cNvPicPr>
            <a:picLocks noChangeAspect="1"/>
          </p:cNvPicPr>
          <p:nvPr/>
        </p:nvPicPr>
        <p:blipFill>
          <a:blip r:embed="rId3"/>
          <a:stretch>
            <a:fillRect/>
          </a:stretch>
        </p:blipFill>
        <p:spPr>
          <a:xfrm>
            <a:off x="1619672" y="4581128"/>
            <a:ext cx="6286500" cy="885825"/>
          </a:xfrm>
          <a:prstGeom prst="rect">
            <a:avLst/>
          </a:prstGeom>
        </p:spPr>
      </p:pic>
    </p:spTree>
    <p:extLst>
      <p:ext uri="{BB962C8B-B14F-4D97-AF65-F5344CB8AC3E}">
        <p14:creationId xmlns:p14="http://schemas.microsoft.com/office/powerpoint/2010/main" val="510406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9BCEB-A503-4E2B-8FDA-880D3708CF90}"/>
              </a:ext>
            </a:extLst>
          </p:cNvPr>
          <p:cNvSpPr>
            <a:spLocks noGrp="1"/>
          </p:cNvSpPr>
          <p:nvPr>
            <p:ph type="title"/>
          </p:nvPr>
        </p:nvSpPr>
        <p:spPr/>
        <p:txBody>
          <a:bodyPr/>
          <a:lstStyle/>
          <a:p>
            <a:r>
              <a:rPr lang="en-GB" dirty="0"/>
              <a:t>Automatism: Elements</a:t>
            </a:r>
            <a:endParaRPr lang="en-US" dirty="0"/>
          </a:p>
        </p:txBody>
      </p:sp>
      <p:sp>
        <p:nvSpPr>
          <p:cNvPr id="3" name="Content Placeholder 2">
            <a:extLst>
              <a:ext uri="{FF2B5EF4-FFF2-40B4-BE49-F238E27FC236}">
                <a16:creationId xmlns:a16="http://schemas.microsoft.com/office/drawing/2014/main" id="{6CBF8DC0-0757-4B24-8703-584B1353DF87}"/>
              </a:ext>
            </a:extLst>
          </p:cNvPr>
          <p:cNvSpPr>
            <a:spLocks noGrp="1"/>
          </p:cNvSpPr>
          <p:nvPr>
            <p:ph idx="1"/>
          </p:nvPr>
        </p:nvSpPr>
        <p:spPr/>
        <p:txBody>
          <a:bodyPr/>
          <a:lstStyle/>
          <a:p>
            <a:pPr algn="just">
              <a:spcAft>
                <a:spcPts val="1200"/>
              </a:spcAft>
            </a:pPr>
            <a:endParaRPr lang="en-GB" sz="500" dirty="0"/>
          </a:p>
          <a:p>
            <a:pPr algn="just">
              <a:spcAft>
                <a:spcPts val="1200"/>
              </a:spcAft>
            </a:pPr>
            <a:r>
              <a:rPr lang="en-GB" sz="2400" dirty="0"/>
              <a:t>Evidence must suggest that: </a:t>
            </a:r>
          </a:p>
          <a:p>
            <a:pPr lvl="1" indent="-342900" algn="just">
              <a:spcAft>
                <a:spcPts val="1200"/>
              </a:spcAft>
              <a:buFont typeface="+mj-lt"/>
              <a:buAutoNum type="arabicPeriod"/>
            </a:pPr>
            <a:r>
              <a:rPr lang="en-GB" sz="2400" dirty="0"/>
              <a:t>D suffered a </a:t>
            </a:r>
            <a:r>
              <a:rPr lang="en-GB" sz="2400" u="sng" dirty="0"/>
              <a:t>complete loss of voluntary control</a:t>
            </a:r>
            <a:r>
              <a:rPr lang="en-GB" sz="2400" dirty="0"/>
              <a:t>; </a:t>
            </a:r>
          </a:p>
          <a:p>
            <a:pPr lvl="1" indent="-342900" algn="just">
              <a:spcAft>
                <a:spcPts val="1200"/>
              </a:spcAft>
              <a:buFont typeface="+mj-lt"/>
              <a:buAutoNum type="arabicPeriod"/>
            </a:pPr>
            <a:r>
              <a:rPr lang="en-GB" sz="2400" dirty="0"/>
              <a:t>This was caused by an </a:t>
            </a:r>
            <a:r>
              <a:rPr lang="en-GB" sz="2400" u="sng" dirty="0"/>
              <a:t>external</a:t>
            </a:r>
            <a:r>
              <a:rPr lang="en-GB" sz="2400" dirty="0"/>
              <a:t> (not internal) factor; and</a:t>
            </a:r>
          </a:p>
          <a:p>
            <a:pPr lvl="1" indent="-342900" algn="just">
              <a:spcAft>
                <a:spcPts val="1200"/>
              </a:spcAft>
              <a:buFont typeface="+mj-lt"/>
              <a:buAutoNum type="arabicPeriod"/>
            </a:pPr>
            <a:r>
              <a:rPr lang="en-GB" sz="2400" dirty="0"/>
              <a:t>D was </a:t>
            </a:r>
            <a:r>
              <a:rPr lang="en-GB" sz="2400" u="sng" dirty="0"/>
              <a:t>not at fault</a:t>
            </a:r>
            <a:r>
              <a:rPr lang="en-GB" sz="2400" dirty="0"/>
              <a:t> in losing capacity.</a:t>
            </a:r>
          </a:p>
          <a:p>
            <a:pPr marL="342900" indent="-342900" algn="just">
              <a:spcAft>
                <a:spcPts val="1200"/>
              </a:spcAft>
              <a:buFont typeface="+mj-lt"/>
              <a:buAutoNum type="arabicPeriod"/>
            </a:pPr>
            <a:endParaRPr lang="en-GB" sz="2400" dirty="0"/>
          </a:p>
          <a:p>
            <a:endParaRPr lang="en-US" dirty="0"/>
          </a:p>
        </p:txBody>
      </p:sp>
    </p:spTree>
    <p:extLst>
      <p:ext uri="{BB962C8B-B14F-4D97-AF65-F5344CB8AC3E}">
        <p14:creationId xmlns:p14="http://schemas.microsoft.com/office/powerpoint/2010/main" val="3496366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62844-7DF3-4C21-B6C5-385930D0B343}"/>
              </a:ext>
            </a:extLst>
          </p:cNvPr>
          <p:cNvSpPr>
            <a:spLocks noGrp="1"/>
          </p:cNvSpPr>
          <p:nvPr>
            <p:ph type="title"/>
          </p:nvPr>
        </p:nvSpPr>
        <p:spPr/>
        <p:txBody>
          <a:bodyPr/>
          <a:lstStyle/>
          <a:p>
            <a:r>
              <a:rPr lang="en-GB" sz="4000" dirty="0"/>
              <a:t>Complete Loss of Voluntary Control</a:t>
            </a:r>
            <a:endParaRPr lang="en-US" sz="4000" dirty="0"/>
          </a:p>
        </p:txBody>
      </p:sp>
      <p:sp>
        <p:nvSpPr>
          <p:cNvPr id="3" name="Content Placeholder 2">
            <a:extLst>
              <a:ext uri="{FF2B5EF4-FFF2-40B4-BE49-F238E27FC236}">
                <a16:creationId xmlns:a16="http://schemas.microsoft.com/office/drawing/2014/main" id="{F5969094-FF75-4740-B46A-E51EB7D95807}"/>
              </a:ext>
            </a:extLst>
          </p:cNvPr>
          <p:cNvSpPr>
            <a:spLocks noGrp="1"/>
          </p:cNvSpPr>
          <p:nvPr>
            <p:ph idx="1"/>
          </p:nvPr>
        </p:nvSpPr>
        <p:spPr>
          <a:xfrm>
            <a:off x="684213" y="1844824"/>
            <a:ext cx="7772400" cy="3816350"/>
          </a:xfrm>
        </p:spPr>
        <p:txBody>
          <a:bodyPr/>
          <a:lstStyle/>
          <a:p>
            <a:pPr marL="0" indent="0"/>
            <a:r>
              <a:rPr lang="en-GB" b="1" dirty="0"/>
              <a:t>Physical control: </a:t>
            </a:r>
          </a:p>
          <a:p>
            <a:pPr>
              <a:buFont typeface="Arial" panose="020B0604020202020204" pitchFamily="34" charset="0"/>
              <a:buChar char="•"/>
            </a:pPr>
            <a:r>
              <a:rPr lang="en-GB" dirty="0"/>
              <a:t>No ‘wider or looser concept than involuntary movement of the body or limbs’ (</a:t>
            </a:r>
            <a:r>
              <a:rPr lang="en-GB" b="1" i="1" dirty="0"/>
              <a:t>Watmore v Jenkins </a:t>
            </a:r>
            <a:r>
              <a:rPr lang="en-GB" b="1" dirty="0"/>
              <a:t>[1962] 2 QB 572)</a:t>
            </a:r>
          </a:p>
          <a:p>
            <a:pPr>
              <a:buFont typeface="Arial" panose="020B0604020202020204" pitchFamily="34" charset="0"/>
              <a:buChar char="•"/>
            </a:pPr>
            <a:r>
              <a:rPr lang="en-GB" dirty="0"/>
              <a:t>No defence for ‘irresistible impulse’ (</a:t>
            </a:r>
            <a:r>
              <a:rPr lang="en-GB" b="1" i="1" dirty="0"/>
              <a:t>AG for South Australia v Brown </a:t>
            </a:r>
            <a:r>
              <a:rPr lang="en-GB" b="1" dirty="0"/>
              <a:t>[1960] AC 432</a:t>
            </a:r>
            <a:r>
              <a:rPr lang="en-GB" dirty="0"/>
              <a:t>).</a:t>
            </a:r>
          </a:p>
          <a:p>
            <a:pPr marL="457200" lvl="1" indent="0">
              <a:buNone/>
            </a:pPr>
            <a:endParaRPr lang="en-GB" dirty="0"/>
          </a:p>
          <a:p>
            <a:pPr marL="36899" marR="0" lvl="0" indent="0" algn="l" defTabSz="457189" rtl="0" eaLnBrk="1" fontAlgn="auto" latinLnBrk="0" hangingPunct="1">
              <a:lnSpc>
                <a:spcPct val="100000"/>
              </a:lnSpc>
              <a:spcBef>
                <a:spcPct val="20000"/>
              </a:spcBef>
              <a:spcAft>
                <a:spcPts val="600"/>
              </a:spcAft>
              <a:buClr>
                <a:srgbClr val="DADADA"/>
              </a:buClr>
              <a:buSzPct val="70000"/>
              <a:tabLst/>
              <a:defRPr/>
            </a:pPr>
            <a:r>
              <a:rPr kumimoji="0" lang="en-GB" sz="2000" b="1" i="1" u="none" strike="noStrike" kern="1200" cap="none" spc="0" normalizeH="0" baseline="0" noProof="0" dirty="0">
                <a:ln>
                  <a:solidFill>
                    <a:prstClr val="black">
                      <a:lumMod val="75000"/>
                      <a:lumOff val="25000"/>
                      <a:alpha val="10000"/>
                    </a:prstClr>
                  </a:solidFill>
                </a:ln>
                <a:uLnTx/>
                <a:uFillTx/>
                <a:ea typeface="+mn-ea"/>
                <a:cs typeface="+mn-cs"/>
              </a:rPr>
              <a:t>Complete </a:t>
            </a:r>
            <a:r>
              <a:rPr kumimoji="0" lang="en-GB" sz="2000" b="1" u="none" strike="noStrike" kern="1200" cap="none" spc="0" normalizeH="0" baseline="0" noProof="0" dirty="0">
                <a:ln>
                  <a:solidFill>
                    <a:prstClr val="black">
                      <a:lumMod val="75000"/>
                      <a:lumOff val="25000"/>
                      <a:alpha val="10000"/>
                    </a:prstClr>
                  </a:solidFill>
                </a:ln>
                <a:uLnTx/>
                <a:uFillTx/>
                <a:ea typeface="+mn-ea"/>
                <a:cs typeface="+mn-cs"/>
              </a:rPr>
              <a:t>loss of control</a:t>
            </a:r>
            <a:r>
              <a:rPr lang="en-GB" b="1" dirty="0">
                <a:ln>
                  <a:solidFill>
                    <a:prstClr val="black">
                      <a:lumMod val="75000"/>
                      <a:lumOff val="25000"/>
                      <a:alpha val="10000"/>
                    </a:prstClr>
                  </a:solidFill>
                </a:ln>
              </a:rPr>
              <a:t>:</a:t>
            </a:r>
          </a:p>
          <a:p>
            <a:pPr indent="-305992">
              <a:buFont typeface="Arial" panose="020B0604020202020204" pitchFamily="34" charset="0"/>
              <a:buChar char="•"/>
              <a:defRPr/>
            </a:pPr>
            <a:r>
              <a:rPr kumimoji="0" lang="en-GB" b="1" i="1" u="none" strike="noStrike" kern="1200" cap="none" spc="0" normalizeH="0" baseline="0" noProof="0" dirty="0">
                <a:ln>
                  <a:solidFill>
                    <a:prstClr val="black">
                      <a:lumMod val="75000"/>
                      <a:lumOff val="25000"/>
                      <a:alpha val="10000"/>
                    </a:prstClr>
                  </a:solidFill>
                </a:ln>
                <a:uLnTx/>
                <a:uFillTx/>
                <a:ea typeface="+mn-ea"/>
                <a:cs typeface="+mn-cs"/>
              </a:rPr>
              <a:t>Watmore v Jenkins </a:t>
            </a:r>
            <a:r>
              <a:rPr kumimoji="0" lang="en-GB" b="1" u="none" strike="noStrike" kern="1200" cap="none" spc="0" normalizeH="0" baseline="0" noProof="0" dirty="0">
                <a:ln>
                  <a:solidFill>
                    <a:prstClr val="black">
                      <a:lumMod val="75000"/>
                      <a:lumOff val="25000"/>
                      <a:alpha val="10000"/>
                    </a:prstClr>
                  </a:solidFill>
                </a:ln>
                <a:uLnTx/>
                <a:uFillTx/>
                <a:ea typeface="+mn-ea"/>
                <a:cs typeface="+mn-cs"/>
              </a:rPr>
              <a:t>[1962]: </a:t>
            </a:r>
            <a:r>
              <a:rPr kumimoji="0" lang="en-GB" u="none" strike="noStrike" kern="1200" cap="none" spc="0" normalizeH="0" baseline="0" noProof="0" dirty="0">
                <a:ln>
                  <a:solidFill>
                    <a:prstClr val="black">
                      <a:lumMod val="75000"/>
                      <a:lumOff val="25000"/>
                      <a:alpha val="10000"/>
                    </a:prstClr>
                  </a:solidFill>
                </a:ln>
                <a:uLnTx/>
                <a:uFillTx/>
                <a:ea typeface="+mn-ea"/>
                <a:cs typeface="+mn-cs"/>
              </a:rPr>
              <a:t>D continued ‘to perform the functions of driving’; D ‘turned his car hither and thither and kept it moving at a fairly steady speed’. Not automatism. </a:t>
            </a:r>
          </a:p>
          <a:p>
            <a:pPr indent="-305992">
              <a:buFont typeface="Arial" panose="020B0604020202020204" pitchFamily="34" charset="0"/>
              <a:buChar char="•"/>
              <a:defRPr/>
            </a:pPr>
            <a:r>
              <a:rPr lang="en-GB" b="1" i="1" dirty="0">
                <a:ln>
                  <a:solidFill>
                    <a:prstClr val="black">
                      <a:lumMod val="75000"/>
                      <a:lumOff val="25000"/>
                      <a:alpha val="10000"/>
                    </a:prstClr>
                  </a:solidFill>
                </a:ln>
              </a:rPr>
              <a:t>AG’s Reference (No2 of 1992) </a:t>
            </a:r>
            <a:r>
              <a:rPr lang="en-GB" b="1" dirty="0">
                <a:ln>
                  <a:solidFill>
                    <a:prstClr val="black">
                      <a:lumMod val="75000"/>
                      <a:lumOff val="25000"/>
                      <a:alpha val="10000"/>
                    </a:prstClr>
                  </a:solidFill>
                </a:ln>
              </a:rPr>
              <a:t>[1994] QB 91 </a:t>
            </a:r>
            <a:r>
              <a:rPr lang="en-GB" dirty="0">
                <a:ln>
                  <a:solidFill>
                    <a:prstClr val="black">
                      <a:lumMod val="75000"/>
                      <a:lumOff val="25000"/>
                      <a:alpha val="10000"/>
                    </a:prstClr>
                  </a:solidFill>
                </a:ln>
              </a:rPr>
              <a:t>(“driving without awareness”): D was still able to steer and react to significant stimuli. Not automatism.</a:t>
            </a:r>
            <a:endParaRPr kumimoji="0" lang="en-GB" b="1" i="1" u="none" strike="noStrike" kern="1200" cap="none" spc="0" normalizeH="0" baseline="0" noProof="0" dirty="0">
              <a:ln>
                <a:solidFill>
                  <a:prstClr val="black">
                    <a:lumMod val="75000"/>
                    <a:lumOff val="25000"/>
                    <a:alpha val="10000"/>
                  </a:prstClr>
                </a:solidFill>
              </a:ln>
              <a:uLnTx/>
              <a:uFillTx/>
              <a:ea typeface="+mn-ea"/>
              <a:cs typeface="+mn-cs"/>
            </a:endParaRPr>
          </a:p>
          <a:p>
            <a:endParaRPr lang="en-US" dirty="0"/>
          </a:p>
        </p:txBody>
      </p:sp>
    </p:spTree>
    <p:extLst>
      <p:ext uri="{BB962C8B-B14F-4D97-AF65-F5344CB8AC3E}">
        <p14:creationId xmlns:p14="http://schemas.microsoft.com/office/powerpoint/2010/main" val="1271894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03F0C-A0BE-41CD-B6B0-68900D006966}"/>
              </a:ext>
            </a:extLst>
          </p:cNvPr>
          <p:cNvSpPr>
            <a:spLocks noGrp="1"/>
          </p:cNvSpPr>
          <p:nvPr>
            <p:ph type="title"/>
          </p:nvPr>
        </p:nvSpPr>
        <p:spPr/>
        <p:txBody>
          <a:bodyPr/>
          <a:lstStyle/>
          <a:p>
            <a:r>
              <a:rPr lang="en-GB" dirty="0"/>
              <a:t>Caused by an External Factor</a:t>
            </a:r>
            <a:endParaRPr lang="en-US" dirty="0"/>
          </a:p>
        </p:txBody>
      </p:sp>
      <p:sp>
        <p:nvSpPr>
          <p:cNvPr id="3" name="Content Placeholder 2">
            <a:extLst>
              <a:ext uri="{FF2B5EF4-FFF2-40B4-BE49-F238E27FC236}">
                <a16:creationId xmlns:a16="http://schemas.microsoft.com/office/drawing/2014/main" id="{26FA52DA-067B-47A2-9747-958875B61D15}"/>
              </a:ext>
            </a:extLst>
          </p:cNvPr>
          <p:cNvSpPr>
            <a:spLocks noGrp="1"/>
          </p:cNvSpPr>
          <p:nvPr>
            <p:ph idx="1"/>
          </p:nvPr>
        </p:nvSpPr>
        <p:spPr>
          <a:xfrm>
            <a:off x="684213" y="1844824"/>
            <a:ext cx="7772400" cy="3816350"/>
          </a:xfrm>
        </p:spPr>
        <p:txBody>
          <a:bodyPr/>
          <a:lstStyle/>
          <a:p>
            <a:r>
              <a:rPr lang="en-GB" sz="2400" b="1" dirty="0"/>
              <a:t>Important distinction from insanity:</a:t>
            </a:r>
          </a:p>
          <a:p>
            <a:pPr>
              <a:buFont typeface="Arial" panose="020B0604020202020204" pitchFamily="34" charset="0"/>
              <a:buChar char="•"/>
            </a:pPr>
            <a:r>
              <a:rPr lang="en-GB" sz="2400" dirty="0"/>
              <a:t>D’s incapacity caused by external factor = automatism = full acquittal.</a:t>
            </a:r>
          </a:p>
          <a:p>
            <a:pPr>
              <a:buFont typeface="Arial" panose="020B0604020202020204" pitchFamily="34" charset="0"/>
              <a:buChar char="•"/>
            </a:pPr>
            <a:r>
              <a:rPr lang="en-GB" sz="2400" dirty="0"/>
              <a:t>D’s incapacity caused by internal factor = disease of the mind = insanity = “not guilty by reason of insanity”</a:t>
            </a:r>
          </a:p>
          <a:p>
            <a:pPr>
              <a:buFont typeface="Arial" panose="020B0604020202020204" pitchFamily="34" charset="0"/>
              <a:buChar char="•"/>
            </a:pPr>
            <a:r>
              <a:rPr lang="en-GB" sz="2400" dirty="0"/>
              <a:t>See Bratty v AG for Northern Ireland [1963] AC 386 and Sullivan [1984] AC 156</a:t>
            </a:r>
            <a:endParaRPr lang="en-US" sz="2400" dirty="0"/>
          </a:p>
          <a:p>
            <a:pPr marL="0" indent="0"/>
            <a:r>
              <a:rPr lang="en-US" sz="2400" b="1" dirty="0"/>
              <a:t>The consequences of the distinction are significant. How easy is it, then, to draw? </a:t>
            </a:r>
          </a:p>
        </p:txBody>
      </p:sp>
    </p:spTree>
    <p:extLst>
      <p:ext uri="{BB962C8B-B14F-4D97-AF65-F5344CB8AC3E}">
        <p14:creationId xmlns:p14="http://schemas.microsoft.com/office/powerpoint/2010/main" val="2720685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FE1B3-6507-4D4A-8C70-B94AC0CEB58B}"/>
              </a:ext>
            </a:extLst>
          </p:cNvPr>
          <p:cNvSpPr>
            <a:spLocks noGrp="1"/>
          </p:cNvSpPr>
          <p:nvPr>
            <p:ph type="title"/>
          </p:nvPr>
        </p:nvSpPr>
        <p:spPr/>
        <p:txBody>
          <a:bodyPr/>
          <a:lstStyle/>
          <a:p>
            <a:r>
              <a:rPr lang="en-GB" sz="4100" dirty="0"/>
              <a:t>Mental States: Internal or External?</a:t>
            </a:r>
            <a:endParaRPr lang="en-US" sz="4100" dirty="0"/>
          </a:p>
        </p:txBody>
      </p:sp>
      <p:sp>
        <p:nvSpPr>
          <p:cNvPr id="3" name="Content Placeholder 2">
            <a:extLst>
              <a:ext uri="{FF2B5EF4-FFF2-40B4-BE49-F238E27FC236}">
                <a16:creationId xmlns:a16="http://schemas.microsoft.com/office/drawing/2014/main" id="{908368E2-E90B-4F66-871C-FDB293F8BEFB}"/>
              </a:ext>
            </a:extLst>
          </p:cNvPr>
          <p:cNvSpPr>
            <a:spLocks noGrp="1"/>
          </p:cNvSpPr>
          <p:nvPr>
            <p:ph idx="1"/>
          </p:nvPr>
        </p:nvSpPr>
        <p:spPr>
          <a:xfrm>
            <a:off x="684213" y="1628800"/>
            <a:ext cx="7772400" cy="3816350"/>
          </a:xfrm>
        </p:spPr>
        <p:txBody>
          <a:bodyPr/>
          <a:lstStyle/>
          <a:p>
            <a:pPr marL="0" indent="0"/>
            <a:r>
              <a:rPr lang="en-GB" b="1" i="1" dirty="0" err="1"/>
              <a:t>Rabey</a:t>
            </a:r>
            <a:r>
              <a:rPr lang="en-GB" b="1" i="1" dirty="0"/>
              <a:t> </a:t>
            </a:r>
            <a:r>
              <a:rPr lang="en-GB" b="1" dirty="0"/>
              <a:t>[1980] SCR 513, 54 CCC (2d) 1 (Ontario) – NOT AUTOMATISM</a:t>
            </a:r>
          </a:p>
          <a:p>
            <a:pPr>
              <a:buFont typeface="Arial" panose="020B0604020202020204" pitchFamily="34" charset="0"/>
              <a:buChar char="•"/>
            </a:pPr>
            <a:r>
              <a:rPr lang="en-GB" sz="1600" dirty="0"/>
              <a:t>D inflicts ABH, after V tells him he is “just a friend”. D claimed to be in a dissociative state amounting to automatism due to a psychological blow, which should be seen as an external cause.</a:t>
            </a:r>
          </a:p>
          <a:p>
            <a:pPr>
              <a:buFont typeface="Arial" panose="020B0604020202020204" pitchFamily="34" charset="0"/>
              <a:buChar char="•"/>
            </a:pPr>
            <a:r>
              <a:rPr lang="en-GB" sz="1600" b="1" dirty="0"/>
              <a:t>Held: </a:t>
            </a:r>
            <a:r>
              <a:rPr lang="en-GB" sz="1600" dirty="0"/>
              <a:t>If the rejection was the trigger, the cause was the mental condition of D arising from his infatuation. This kind of rejection was one of the ‘ordinary stresses and disappointments of life which are the common lot of mankind” – true cause is specific to D. </a:t>
            </a:r>
          </a:p>
          <a:p>
            <a:pPr marL="36899" marR="0" lvl="0" indent="0" algn="l" defTabSz="457189" rtl="0" eaLnBrk="1" fontAlgn="auto" latinLnBrk="0" hangingPunct="1">
              <a:lnSpc>
                <a:spcPct val="100000"/>
              </a:lnSpc>
              <a:spcBef>
                <a:spcPct val="20000"/>
              </a:spcBef>
              <a:spcAft>
                <a:spcPts val="600"/>
              </a:spcAft>
              <a:buClr>
                <a:srgbClr val="DADADA"/>
              </a:buClr>
              <a:buSzPct val="70000"/>
              <a:tabLst/>
              <a:defRPr/>
            </a:pPr>
            <a:endParaRPr lang="en-GB" sz="200" noProof="0" dirty="0"/>
          </a:p>
          <a:p>
            <a:pPr marL="36899" marR="0" lvl="0" indent="0" algn="l" defTabSz="457189" rtl="0" eaLnBrk="1" fontAlgn="auto" latinLnBrk="0" hangingPunct="1">
              <a:lnSpc>
                <a:spcPct val="100000"/>
              </a:lnSpc>
              <a:spcBef>
                <a:spcPct val="20000"/>
              </a:spcBef>
              <a:spcAft>
                <a:spcPts val="0"/>
              </a:spcAft>
              <a:buClr>
                <a:srgbClr val="DADADA"/>
              </a:buClr>
              <a:buSzPct val="70000"/>
              <a:tabLst/>
              <a:defRPr/>
            </a:pPr>
            <a:r>
              <a:rPr kumimoji="0" lang="en-GB" b="1" i="1" u="none" strike="noStrike" kern="1200" cap="none" spc="0" normalizeH="0" baseline="0" noProof="0" dirty="0">
                <a:ln>
                  <a:solidFill>
                    <a:prstClr val="black">
                      <a:lumMod val="75000"/>
                      <a:lumOff val="25000"/>
                      <a:alpha val="10000"/>
                    </a:prstClr>
                  </a:solidFill>
                </a:ln>
                <a:uLnTx/>
                <a:uFillTx/>
                <a:ea typeface="+mn-ea"/>
                <a:cs typeface="+mn-cs"/>
              </a:rPr>
              <a:t>R v T </a:t>
            </a:r>
            <a:r>
              <a:rPr kumimoji="0" lang="en-GB" b="1" u="none" strike="noStrike" kern="1200" cap="none" spc="0" normalizeH="0" baseline="0" noProof="0" dirty="0">
                <a:ln>
                  <a:solidFill>
                    <a:prstClr val="black">
                      <a:lumMod val="75000"/>
                      <a:lumOff val="25000"/>
                      <a:alpha val="10000"/>
                    </a:prstClr>
                  </a:solidFill>
                </a:ln>
                <a:uLnTx/>
                <a:uFillTx/>
                <a:ea typeface="+mn-ea"/>
                <a:cs typeface="+mn-cs"/>
              </a:rPr>
              <a:t>[1990] Crim LR 256 – AUTOMATISM</a:t>
            </a:r>
          </a:p>
          <a:p>
            <a:pPr indent="-305992">
              <a:buClr>
                <a:srgbClr val="DADADA"/>
              </a:buClr>
              <a:buFont typeface="Arial" panose="020B0604020202020204" pitchFamily="34" charset="0"/>
              <a:buChar char="•"/>
              <a:defRPr/>
            </a:pPr>
            <a:r>
              <a:rPr kumimoji="0" lang="en-GB" sz="1600" u="none" strike="noStrike" kern="1200" cap="none" spc="0" normalizeH="0" baseline="0" noProof="0" dirty="0">
                <a:ln>
                  <a:solidFill>
                    <a:prstClr val="black">
                      <a:lumMod val="75000"/>
                      <a:lumOff val="25000"/>
                      <a:alpha val="10000"/>
                    </a:prstClr>
                  </a:solidFill>
                </a:ln>
                <a:uLnTx/>
                <a:uFillTx/>
              </a:rPr>
              <a:t>D engages in armed robbery. </a:t>
            </a:r>
            <a:r>
              <a:rPr kumimoji="0" lang="en-GB" sz="1600" u="none" strike="noStrike" kern="1200" cap="none" spc="0" normalizeH="0" baseline="0" noProof="0" dirty="0">
                <a:ln>
                  <a:solidFill>
                    <a:prstClr val="black">
                      <a:lumMod val="75000"/>
                      <a:lumOff val="25000"/>
                      <a:alpha val="10000"/>
                    </a:prstClr>
                  </a:solidFill>
                </a:ln>
                <a:uLnTx/>
                <a:uFillTx/>
                <a:ea typeface="+mn-ea"/>
                <a:cs typeface="+mn-cs"/>
              </a:rPr>
              <a:t>Claimed to be an a dissociative state resulting from PTSD triggered by her rape a few days earlier. </a:t>
            </a:r>
          </a:p>
          <a:p>
            <a:pPr indent="-305992">
              <a:buClr>
                <a:srgbClr val="DADADA"/>
              </a:buClr>
              <a:buFont typeface="Arial" panose="020B0604020202020204" pitchFamily="34" charset="0"/>
              <a:buChar char="•"/>
              <a:defRPr/>
            </a:pPr>
            <a:r>
              <a:rPr lang="en-GB" sz="1600" b="1" dirty="0">
                <a:ln>
                  <a:solidFill>
                    <a:prstClr val="black">
                      <a:lumMod val="75000"/>
                      <a:lumOff val="25000"/>
                      <a:alpha val="10000"/>
                    </a:prstClr>
                  </a:solidFill>
                </a:ln>
              </a:rPr>
              <a:t>Held: </a:t>
            </a:r>
            <a:r>
              <a:rPr lang="en-GB" sz="1600" dirty="0">
                <a:ln>
                  <a:solidFill>
                    <a:prstClr val="black">
                      <a:lumMod val="75000"/>
                      <a:lumOff val="25000"/>
                      <a:alpha val="10000"/>
                    </a:prstClr>
                  </a:solidFill>
                </a:ln>
              </a:rPr>
              <a:t>‘There could be no clearer example of an “external” rather than an “internal” factor than rape.</a:t>
            </a:r>
          </a:p>
          <a:p>
            <a:pPr indent="-305992">
              <a:buClr>
                <a:srgbClr val="DADADA"/>
              </a:buClr>
              <a:buFont typeface="Arial" panose="020B0604020202020204" pitchFamily="34" charset="0"/>
              <a:buChar char="•"/>
              <a:defRPr/>
            </a:pPr>
            <a:r>
              <a:rPr kumimoji="0" lang="en-GB" sz="1600" b="1" u="none" strike="noStrike" kern="1200" cap="none" spc="0" normalizeH="0" baseline="0" noProof="0" dirty="0">
                <a:ln>
                  <a:solidFill>
                    <a:prstClr val="black">
                      <a:lumMod val="75000"/>
                      <a:lumOff val="25000"/>
                      <a:alpha val="10000"/>
                    </a:prstClr>
                  </a:solidFill>
                </a:ln>
                <a:uLnTx/>
                <a:uFillTx/>
                <a:ea typeface="+mn-ea"/>
                <a:cs typeface="+mn-cs"/>
              </a:rPr>
              <a:t>Distinguished </a:t>
            </a:r>
            <a:r>
              <a:rPr kumimoji="0" lang="en-GB" sz="1600" b="1" i="1" u="none" strike="noStrike" kern="1200" cap="none" spc="0" normalizeH="0" baseline="0" noProof="0" dirty="0" err="1">
                <a:ln>
                  <a:solidFill>
                    <a:prstClr val="black">
                      <a:lumMod val="75000"/>
                      <a:lumOff val="25000"/>
                      <a:alpha val="10000"/>
                    </a:prstClr>
                  </a:solidFill>
                </a:ln>
                <a:uLnTx/>
                <a:uFillTx/>
                <a:ea typeface="+mn-ea"/>
                <a:cs typeface="+mn-cs"/>
              </a:rPr>
              <a:t>Rabey</a:t>
            </a:r>
            <a:r>
              <a:rPr kumimoji="0" lang="en-GB" sz="1600" b="1" i="1" u="none" strike="noStrike" kern="1200" cap="none" spc="0" normalizeH="0" baseline="0" noProof="0" dirty="0">
                <a:ln>
                  <a:solidFill>
                    <a:prstClr val="black">
                      <a:lumMod val="75000"/>
                      <a:lumOff val="25000"/>
                      <a:alpha val="10000"/>
                    </a:prstClr>
                  </a:solidFill>
                </a:ln>
                <a:uLnTx/>
                <a:uFillTx/>
                <a:ea typeface="+mn-ea"/>
                <a:cs typeface="+mn-cs"/>
              </a:rPr>
              <a:t>: </a:t>
            </a:r>
            <a:r>
              <a:rPr kumimoji="0" lang="en-GB" sz="1600" b="1" u="none" strike="noStrike" kern="1200" cap="none" spc="0" normalizeH="0" baseline="0" noProof="0" dirty="0">
                <a:ln>
                  <a:solidFill>
                    <a:prstClr val="black">
                      <a:lumMod val="75000"/>
                      <a:lumOff val="25000"/>
                      <a:alpha val="10000"/>
                    </a:prstClr>
                  </a:solidFill>
                </a:ln>
                <a:uLnTx/>
                <a:uFillTx/>
                <a:ea typeface="+mn-ea"/>
                <a:cs typeface="+mn-cs"/>
              </a:rPr>
              <a:t>‘</a:t>
            </a:r>
            <a:r>
              <a:rPr kumimoji="0" lang="en-GB" sz="1600" u="none" strike="noStrike" kern="1200" cap="none" spc="0" normalizeH="0" baseline="0" noProof="0" dirty="0">
                <a:ln>
                  <a:solidFill>
                    <a:prstClr val="black">
                      <a:lumMod val="75000"/>
                      <a:lumOff val="25000"/>
                      <a:alpha val="10000"/>
                    </a:prstClr>
                  </a:solidFill>
                </a:ln>
                <a:uLnTx/>
                <a:uFillTx/>
                <a:ea typeface="+mn-ea"/>
                <a:cs typeface="+mn-cs"/>
              </a:rPr>
              <a:t>Rape is all too prevalent but we have not yet reached, and it is hoped we never shall reach, the stage when it has to be regarded as one of “the ordinary stresses of life”’.</a:t>
            </a:r>
            <a:endParaRPr kumimoji="0" lang="en-GB" sz="1600" b="1" u="none" strike="noStrike" kern="1200" cap="none" spc="0" normalizeH="0" baseline="0" noProof="0" dirty="0">
              <a:ln>
                <a:solidFill>
                  <a:prstClr val="black">
                    <a:lumMod val="75000"/>
                    <a:lumOff val="25000"/>
                    <a:alpha val="10000"/>
                  </a:prstClr>
                </a:solidFill>
              </a:ln>
              <a:uLnTx/>
              <a:uFillTx/>
              <a:ea typeface="+mn-ea"/>
              <a:cs typeface="+mn-cs"/>
            </a:endParaRPr>
          </a:p>
          <a:p>
            <a:endParaRPr lang="en-US" dirty="0"/>
          </a:p>
        </p:txBody>
      </p:sp>
    </p:spTree>
    <p:extLst>
      <p:ext uri="{BB962C8B-B14F-4D97-AF65-F5344CB8AC3E}">
        <p14:creationId xmlns:p14="http://schemas.microsoft.com/office/powerpoint/2010/main" val="3945209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135D4-15A8-4983-BF97-24C076B079A4}"/>
              </a:ext>
            </a:extLst>
          </p:cNvPr>
          <p:cNvSpPr>
            <a:spLocks noGrp="1"/>
          </p:cNvSpPr>
          <p:nvPr>
            <p:ph type="title"/>
          </p:nvPr>
        </p:nvSpPr>
        <p:spPr/>
        <p:txBody>
          <a:bodyPr/>
          <a:lstStyle/>
          <a:p>
            <a:r>
              <a:rPr lang="en-GB" dirty="0"/>
              <a:t>Diabetes: Internal or External?</a:t>
            </a:r>
            <a:endParaRPr lang="en-US" dirty="0"/>
          </a:p>
        </p:txBody>
      </p:sp>
      <p:sp>
        <p:nvSpPr>
          <p:cNvPr id="3" name="Content Placeholder 2">
            <a:extLst>
              <a:ext uri="{FF2B5EF4-FFF2-40B4-BE49-F238E27FC236}">
                <a16:creationId xmlns:a16="http://schemas.microsoft.com/office/drawing/2014/main" id="{E5909194-EC1B-457A-A456-DFA07A95A88E}"/>
              </a:ext>
            </a:extLst>
          </p:cNvPr>
          <p:cNvSpPr>
            <a:spLocks noGrp="1"/>
          </p:cNvSpPr>
          <p:nvPr>
            <p:ph idx="1"/>
          </p:nvPr>
        </p:nvSpPr>
        <p:spPr>
          <a:xfrm>
            <a:off x="684213" y="1772816"/>
            <a:ext cx="7772400" cy="3816350"/>
          </a:xfrm>
        </p:spPr>
        <p:txBody>
          <a:bodyPr/>
          <a:lstStyle/>
          <a:p>
            <a:pPr>
              <a:spcAft>
                <a:spcPts val="0"/>
              </a:spcAft>
            </a:pPr>
            <a:r>
              <a:rPr lang="en-GB" b="1" i="1" dirty="0"/>
              <a:t>Quick </a:t>
            </a:r>
            <a:r>
              <a:rPr lang="en-GB" b="1" dirty="0"/>
              <a:t>[1973] – AUTOMATISM</a:t>
            </a:r>
          </a:p>
          <a:p>
            <a:pPr>
              <a:spcAft>
                <a:spcPts val="0"/>
              </a:spcAft>
              <a:buFont typeface="Arial" panose="020B0604020202020204" pitchFamily="34" charset="0"/>
              <a:buChar char="•"/>
            </a:pPr>
            <a:r>
              <a:rPr lang="en-GB" sz="1700" dirty="0"/>
              <a:t>Hypoglycaemic episode – due to taking insulin and failing to eat.</a:t>
            </a:r>
          </a:p>
          <a:p>
            <a:pPr>
              <a:spcAft>
                <a:spcPts val="0"/>
              </a:spcAft>
              <a:buFont typeface="Arial" panose="020B0604020202020204" pitchFamily="34" charset="0"/>
              <a:buChar char="•"/>
            </a:pPr>
            <a:r>
              <a:rPr lang="en-GB" sz="1700" dirty="0"/>
              <a:t>Trial judge: cause was diabetes – internal factor = insanity.  </a:t>
            </a:r>
          </a:p>
          <a:p>
            <a:pPr>
              <a:spcAft>
                <a:spcPts val="0"/>
              </a:spcAft>
              <a:buFont typeface="Arial" panose="020B0604020202020204" pitchFamily="34" charset="0"/>
              <a:buChar char="•"/>
            </a:pPr>
            <a:r>
              <a:rPr lang="en-GB" sz="1700" b="1" dirty="0"/>
              <a:t>Overruled: </a:t>
            </a:r>
            <a:r>
              <a:rPr lang="en-GB" sz="1700" dirty="0"/>
              <a:t>cause was not the diabetes, but the insulin = external factor = automatism.</a:t>
            </a:r>
          </a:p>
          <a:p>
            <a:pPr lvl="1">
              <a:spcAft>
                <a:spcPts val="0"/>
              </a:spcAft>
            </a:pPr>
            <a:endParaRPr lang="en-GB" b="1" dirty="0"/>
          </a:p>
          <a:p>
            <a:pPr marL="36899" marR="0" lvl="0" indent="0" algn="l" defTabSz="457189" rtl="0" eaLnBrk="1" fontAlgn="auto" latinLnBrk="0" hangingPunct="1">
              <a:spcBef>
                <a:spcPct val="20000"/>
              </a:spcBef>
              <a:spcAft>
                <a:spcPts val="0"/>
              </a:spcAft>
              <a:buClr>
                <a:srgbClr val="DADADA"/>
              </a:buClr>
              <a:buSzPct val="70000"/>
              <a:tabLst/>
              <a:defRPr/>
            </a:pPr>
            <a:r>
              <a:rPr lang="en-GB" b="1" i="1" dirty="0">
                <a:ln>
                  <a:solidFill>
                    <a:prstClr val="black">
                      <a:lumMod val="75000"/>
                      <a:lumOff val="25000"/>
                      <a:alpha val="10000"/>
                    </a:prstClr>
                  </a:solidFill>
                </a:ln>
              </a:rPr>
              <a:t>Hennessy </a:t>
            </a:r>
            <a:r>
              <a:rPr kumimoji="0" lang="en-GB" b="1" i="0" u="none" strike="noStrike" kern="1200" cap="none" spc="0" normalizeH="0" baseline="0" noProof="0" dirty="0">
                <a:ln>
                  <a:solidFill>
                    <a:prstClr val="black">
                      <a:lumMod val="75000"/>
                      <a:lumOff val="25000"/>
                      <a:alpha val="10000"/>
                    </a:prstClr>
                  </a:solidFill>
                </a:ln>
                <a:uLnTx/>
                <a:uFillTx/>
                <a:ea typeface="+mn-ea"/>
                <a:cs typeface="+mn-cs"/>
              </a:rPr>
              <a:t>[1989]  2 All ER 9 – INSANITY</a:t>
            </a:r>
          </a:p>
          <a:p>
            <a:pPr marL="322649" marR="0" lvl="0" indent="-285750" algn="l" defTabSz="457189" rtl="0" eaLnBrk="1" fontAlgn="auto" latinLnBrk="0" hangingPunct="1">
              <a:spcBef>
                <a:spcPct val="20000"/>
              </a:spcBef>
              <a:spcAft>
                <a:spcPts val="0"/>
              </a:spcAft>
              <a:buSzPct val="70000"/>
              <a:buFont typeface="Arial" panose="020B0604020202020204" pitchFamily="34" charset="0"/>
              <a:buChar char="•"/>
              <a:tabLst/>
              <a:defRPr/>
            </a:pPr>
            <a:r>
              <a:rPr kumimoji="0" lang="en-GB" sz="1700" i="0" u="none" strike="noStrike" kern="1200" cap="none" spc="0" normalizeH="0" baseline="0" noProof="0" dirty="0">
                <a:ln>
                  <a:solidFill>
                    <a:prstClr val="black">
                      <a:lumMod val="75000"/>
                      <a:lumOff val="25000"/>
                      <a:alpha val="10000"/>
                    </a:prstClr>
                  </a:solidFill>
                </a:ln>
                <a:uLnTx/>
                <a:uFillTx/>
                <a:ea typeface="+mn-ea"/>
                <a:cs typeface="+mn-cs"/>
              </a:rPr>
              <a:t>Hyperglycaemic attack caused by not taking insulin, and heightened by stress.</a:t>
            </a:r>
          </a:p>
          <a:p>
            <a:pPr marL="322649" marR="0" lvl="0" indent="-285750" algn="l" defTabSz="457189" rtl="0" eaLnBrk="1" fontAlgn="auto" latinLnBrk="0" hangingPunct="1">
              <a:spcBef>
                <a:spcPct val="20000"/>
              </a:spcBef>
              <a:spcAft>
                <a:spcPts val="0"/>
              </a:spcAft>
              <a:buSzPct val="70000"/>
              <a:buFont typeface="Arial" panose="020B0604020202020204" pitchFamily="34" charset="0"/>
              <a:buChar char="•"/>
              <a:tabLst/>
              <a:defRPr/>
            </a:pPr>
            <a:r>
              <a:rPr lang="en-GB" sz="1700" dirty="0">
                <a:ln>
                  <a:solidFill>
                    <a:prstClr val="black">
                      <a:lumMod val="75000"/>
                      <a:lumOff val="25000"/>
                      <a:alpha val="10000"/>
                    </a:prstClr>
                  </a:solidFill>
                </a:ln>
              </a:rPr>
              <a:t>Trial judge ruled the diabetes was an internal factor  = insanity.</a:t>
            </a:r>
          </a:p>
          <a:p>
            <a:pPr marL="322649" marR="0" lvl="0" indent="-285750" algn="l" defTabSz="457189" rtl="0" eaLnBrk="1" fontAlgn="auto" latinLnBrk="0" hangingPunct="1">
              <a:spcBef>
                <a:spcPct val="20000"/>
              </a:spcBef>
              <a:spcAft>
                <a:spcPts val="0"/>
              </a:spcAft>
              <a:buSzPct val="70000"/>
              <a:buFont typeface="Arial" panose="020B0604020202020204" pitchFamily="34" charset="0"/>
              <a:buChar char="•"/>
              <a:tabLst/>
              <a:defRPr/>
            </a:pPr>
            <a:r>
              <a:rPr kumimoji="0" lang="en-GB" sz="1700" b="1" i="0" u="none" strike="noStrike" kern="1200" cap="none" spc="0" normalizeH="0" baseline="0" noProof="0" dirty="0">
                <a:ln>
                  <a:solidFill>
                    <a:prstClr val="black">
                      <a:lumMod val="75000"/>
                      <a:lumOff val="25000"/>
                      <a:alpha val="10000"/>
                    </a:prstClr>
                  </a:solidFill>
                </a:ln>
                <a:uLnTx/>
                <a:uFillTx/>
                <a:ea typeface="+mn-ea"/>
                <a:cs typeface="+mn-cs"/>
              </a:rPr>
              <a:t>Up</a:t>
            </a:r>
            <a:r>
              <a:rPr lang="en-GB" sz="1700" b="1" dirty="0">
                <a:ln>
                  <a:solidFill>
                    <a:prstClr val="black">
                      <a:lumMod val="75000"/>
                      <a:lumOff val="25000"/>
                      <a:alpha val="10000"/>
                    </a:prstClr>
                  </a:solidFill>
                </a:ln>
              </a:rPr>
              <a:t>held</a:t>
            </a:r>
            <a:r>
              <a:rPr lang="en-GB" sz="1700" dirty="0">
                <a:ln>
                  <a:solidFill>
                    <a:prstClr val="black">
                      <a:lumMod val="75000"/>
                      <a:lumOff val="25000"/>
                      <a:alpha val="10000"/>
                    </a:prstClr>
                  </a:solidFill>
                </a:ln>
              </a:rPr>
              <a:t>: cause was the diabetes itself (lack of insulin).</a:t>
            </a:r>
          </a:p>
          <a:p>
            <a:pPr marL="322649" marR="0" lvl="0" indent="-285750" algn="l" defTabSz="457189" rtl="0" eaLnBrk="1" fontAlgn="auto" latinLnBrk="0" hangingPunct="1">
              <a:spcBef>
                <a:spcPct val="20000"/>
              </a:spcBef>
              <a:spcAft>
                <a:spcPts val="0"/>
              </a:spcAft>
              <a:buSzPct val="70000"/>
              <a:buFont typeface="Arial" panose="020B0604020202020204" pitchFamily="34" charset="0"/>
              <a:buChar char="•"/>
              <a:tabLst/>
              <a:defRPr/>
            </a:pPr>
            <a:r>
              <a:rPr kumimoji="0" lang="en-GB" sz="1700" i="0" u="none" strike="noStrike" kern="1200" cap="none" spc="0" normalizeH="0" baseline="0" noProof="0" dirty="0">
                <a:ln>
                  <a:solidFill>
                    <a:prstClr val="black">
                      <a:lumMod val="75000"/>
                      <a:lumOff val="25000"/>
                      <a:alpha val="10000"/>
                    </a:prstClr>
                  </a:solidFill>
                </a:ln>
                <a:uLnTx/>
                <a:uFillTx/>
                <a:ea typeface="+mn-ea"/>
                <a:cs typeface="+mn-cs"/>
              </a:rPr>
              <a:t>Argument that stress, anxiety and depression were caused by external factors rejected: ‘They constitute a state of mind which is prone to recur’.</a:t>
            </a:r>
          </a:p>
          <a:p>
            <a:endParaRPr lang="en-US" dirty="0"/>
          </a:p>
        </p:txBody>
      </p:sp>
    </p:spTree>
    <p:extLst>
      <p:ext uri="{BB962C8B-B14F-4D97-AF65-F5344CB8AC3E}">
        <p14:creationId xmlns:p14="http://schemas.microsoft.com/office/powerpoint/2010/main" val="1764244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B3623-BD26-D02C-1A0B-8688A35A1673}"/>
              </a:ext>
            </a:extLst>
          </p:cNvPr>
          <p:cNvSpPr>
            <a:spLocks noGrp="1"/>
          </p:cNvSpPr>
          <p:nvPr>
            <p:ph type="title"/>
          </p:nvPr>
        </p:nvSpPr>
        <p:spPr/>
        <p:txBody>
          <a:bodyPr/>
          <a:lstStyle/>
          <a:p>
            <a:r>
              <a:rPr lang="en-GB" dirty="0"/>
              <a:t>Somnambulism (sleep walking)</a:t>
            </a:r>
          </a:p>
        </p:txBody>
      </p:sp>
      <p:sp>
        <p:nvSpPr>
          <p:cNvPr id="3" name="Content Placeholder 2">
            <a:extLst>
              <a:ext uri="{FF2B5EF4-FFF2-40B4-BE49-F238E27FC236}">
                <a16:creationId xmlns:a16="http://schemas.microsoft.com/office/drawing/2014/main" id="{0FF8CD20-DEAF-016A-0CBD-7CDB0E960B50}"/>
              </a:ext>
            </a:extLst>
          </p:cNvPr>
          <p:cNvSpPr>
            <a:spLocks noGrp="1"/>
          </p:cNvSpPr>
          <p:nvPr>
            <p:ph idx="1"/>
          </p:nvPr>
        </p:nvSpPr>
        <p:spPr/>
        <p:txBody>
          <a:bodyPr/>
          <a:lstStyle/>
          <a:p>
            <a:pPr>
              <a:buFont typeface="Arial" panose="020B0604020202020204" pitchFamily="34" charset="0"/>
              <a:buChar char="•"/>
            </a:pPr>
            <a:r>
              <a:rPr lang="en-GB" dirty="0"/>
              <a:t>D engages in purposive conduct while asleep.</a:t>
            </a:r>
          </a:p>
          <a:p>
            <a:pPr>
              <a:buFont typeface="Arial" panose="020B0604020202020204" pitchFamily="34" charset="0"/>
              <a:buChar char="•"/>
            </a:pPr>
            <a:r>
              <a:rPr lang="en-GB" dirty="0"/>
              <a:t>The cause seems to be internal (so should be insanity)</a:t>
            </a:r>
          </a:p>
          <a:p>
            <a:pPr>
              <a:buFont typeface="Arial" panose="020B0604020202020204" pitchFamily="34" charset="0"/>
              <a:buChar char="•"/>
            </a:pPr>
            <a:r>
              <a:rPr lang="en-GB" dirty="0"/>
              <a:t>See </a:t>
            </a:r>
            <a:r>
              <a:rPr lang="en-GB" dirty="0" err="1"/>
              <a:t>Lillienfield</a:t>
            </a:r>
            <a:r>
              <a:rPr lang="en-GB" dirty="0"/>
              <a:t>, The Times 17 October 1985</a:t>
            </a:r>
          </a:p>
          <a:p>
            <a:pPr>
              <a:buFont typeface="Arial" panose="020B0604020202020204" pitchFamily="34" charset="0"/>
              <a:buChar char="•"/>
            </a:pPr>
            <a:r>
              <a:rPr lang="en-GB" dirty="0"/>
              <a:t>Lord Denning cited with approval the dictum in Tolson (1889)</a:t>
            </a:r>
          </a:p>
          <a:p>
            <a:pPr lvl="1">
              <a:buFont typeface="Arial" panose="020B0604020202020204" pitchFamily="34" charset="0"/>
              <a:buChar char="•"/>
            </a:pPr>
            <a:r>
              <a:rPr lang="en-GB" dirty="0"/>
              <a:t>Can anyone doubt that a man who, though he might be perfectly sane, committed what would otherwise be a crime in a state of somnambulism, would be entitled to be acquitted? And why is this? Simply because he would not know what he was doing.</a:t>
            </a:r>
          </a:p>
          <a:p>
            <a:pPr>
              <a:buFont typeface="Arial" panose="020B0604020202020204" pitchFamily="34" charset="0"/>
              <a:buChar char="•"/>
            </a:pPr>
            <a:r>
              <a:rPr lang="en-GB" dirty="0"/>
              <a:t>The problem is with conditions that in common use of language could not be described as ‘insane’.</a:t>
            </a:r>
          </a:p>
          <a:p>
            <a:pPr>
              <a:buFont typeface="Arial" panose="020B0604020202020204" pitchFamily="34" charset="0"/>
              <a:buChar char="•"/>
            </a:pPr>
            <a:r>
              <a:rPr lang="en-GB" dirty="0"/>
              <a:t>Revisited in Burgess [1991] 2 QB 92</a:t>
            </a:r>
          </a:p>
          <a:p>
            <a:pPr>
              <a:buFont typeface="Arial" panose="020B0604020202020204" pitchFamily="34" charset="0"/>
              <a:buChar char="•"/>
            </a:pPr>
            <a:r>
              <a:rPr lang="en-GB" dirty="0" err="1"/>
              <a:t>Finegan</a:t>
            </a:r>
            <a:r>
              <a:rPr lang="en-GB" dirty="0"/>
              <a:t> v Heywood, The Times, 10 May 2000</a:t>
            </a:r>
          </a:p>
        </p:txBody>
      </p:sp>
    </p:spTree>
    <p:extLst>
      <p:ext uri="{BB962C8B-B14F-4D97-AF65-F5344CB8AC3E}">
        <p14:creationId xmlns:p14="http://schemas.microsoft.com/office/powerpoint/2010/main" val="2706065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95B6C-6E56-4AE4-83C3-A45D48B158C7}"/>
              </a:ext>
            </a:extLst>
          </p:cNvPr>
          <p:cNvSpPr>
            <a:spLocks noGrp="1"/>
          </p:cNvSpPr>
          <p:nvPr>
            <p:ph type="title"/>
          </p:nvPr>
        </p:nvSpPr>
        <p:spPr/>
        <p:txBody>
          <a:bodyPr/>
          <a:lstStyle/>
          <a:p>
            <a:r>
              <a:rPr lang="en-GB" dirty="0"/>
              <a:t>D Not At Fault</a:t>
            </a:r>
            <a:endParaRPr lang="en-US" dirty="0"/>
          </a:p>
        </p:txBody>
      </p:sp>
      <p:sp>
        <p:nvSpPr>
          <p:cNvPr id="3" name="Content Placeholder 2">
            <a:extLst>
              <a:ext uri="{FF2B5EF4-FFF2-40B4-BE49-F238E27FC236}">
                <a16:creationId xmlns:a16="http://schemas.microsoft.com/office/drawing/2014/main" id="{E6936B0E-EDC7-4107-89EA-7642FC910B60}"/>
              </a:ext>
            </a:extLst>
          </p:cNvPr>
          <p:cNvSpPr>
            <a:spLocks noGrp="1"/>
          </p:cNvSpPr>
          <p:nvPr>
            <p:ph idx="1"/>
          </p:nvPr>
        </p:nvSpPr>
        <p:spPr>
          <a:xfrm>
            <a:off x="684213" y="1772816"/>
            <a:ext cx="7772400" cy="3816350"/>
          </a:xfrm>
        </p:spPr>
        <p:txBody>
          <a:bodyPr/>
          <a:lstStyle/>
          <a:p>
            <a:pPr>
              <a:spcAft>
                <a:spcPts val="1200"/>
              </a:spcAft>
              <a:buFont typeface="Arial" panose="020B0604020202020204" pitchFamily="34" charset="0"/>
              <a:buChar char="•"/>
            </a:pPr>
            <a:r>
              <a:rPr lang="en-GB" sz="2000" b="1" dirty="0"/>
              <a:t>Key principle: </a:t>
            </a:r>
            <a:r>
              <a:rPr lang="en-GB" sz="2000" b="1" u="sng" dirty="0"/>
              <a:t>D is not able to rely on automatism where they are responsible for causing their condition.</a:t>
            </a:r>
          </a:p>
          <a:p>
            <a:pPr>
              <a:spcAft>
                <a:spcPts val="1200"/>
              </a:spcAft>
              <a:buFont typeface="Arial" panose="020B0604020202020204" pitchFamily="34" charset="0"/>
              <a:buChar char="•"/>
            </a:pPr>
            <a:r>
              <a:rPr kumimoji="0" lang="en-GB" sz="2000" b="1" i="1" u="none" strike="noStrike" kern="1200" cap="none" spc="0" normalizeH="0" baseline="0" noProof="0" dirty="0">
                <a:ln>
                  <a:solidFill>
                    <a:prstClr val="black">
                      <a:lumMod val="75000"/>
                      <a:lumOff val="25000"/>
                      <a:alpha val="10000"/>
                    </a:prstClr>
                  </a:solidFill>
                </a:ln>
                <a:uLnTx/>
                <a:uFillTx/>
                <a:cs typeface="Calibri" panose="020F0502020204030204" pitchFamily="34" charset="0"/>
              </a:rPr>
              <a:t>Kay v </a:t>
            </a:r>
            <a:r>
              <a:rPr kumimoji="0" lang="en-GB" sz="2000" b="1" i="1" u="none" strike="noStrike" kern="1200" cap="none" spc="0" normalizeH="0" baseline="0" noProof="0" dirty="0" err="1">
                <a:ln>
                  <a:solidFill>
                    <a:prstClr val="black">
                      <a:lumMod val="75000"/>
                      <a:lumOff val="25000"/>
                      <a:alpha val="10000"/>
                    </a:prstClr>
                  </a:solidFill>
                </a:ln>
                <a:uLnTx/>
                <a:uFillTx/>
                <a:cs typeface="Calibri" panose="020F0502020204030204" pitchFamily="34" charset="0"/>
              </a:rPr>
              <a:t>Buttterworth</a:t>
            </a:r>
            <a:r>
              <a:rPr lang="en-GB" sz="2000" b="1" i="1" dirty="0">
                <a:ln>
                  <a:solidFill>
                    <a:prstClr val="black">
                      <a:lumMod val="75000"/>
                      <a:lumOff val="25000"/>
                      <a:alpha val="10000"/>
                    </a:prstClr>
                  </a:solidFill>
                </a:ln>
                <a:cs typeface="Calibri" panose="020F0502020204030204" pitchFamily="34" charset="0"/>
              </a:rPr>
              <a:t> </a:t>
            </a:r>
            <a:r>
              <a:rPr lang="en-GB" sz="2000" b="1" dirty="0">
                <a:ln>
                  <a:solidFill>
                    <a:prstClr val="black">
                      <a:lumMod val="75000"/>
                      <a:lumOff val="25000"/>
                      <a:alpha val="10000"/>
                    </a:prstClr>
                  </a:solidFill>
                </a:ln>
                <a:cs typeface="Calibri" panose="020F0502020204030204" pitchFamily="34" charset="0"/>
              </a:rPr>
              <a:t>(1945) 173 LT 191</a:t>
            </a:r>
            <a:r>
              <a:rPr lang="en-GB" sz="2000" dirty="0">
                <a:ln>
                  <a:solidFill>
                    <a:prstClr val="black">
                      <a:lumMod val="75000"/>
                      <a:lumOff val="25000"/>
                      <a:alpha val="10000"/>
                    </a:prstClr>
                  </a:solidFill>
                </a:ln>
                <a:cs typeface="Calibri" panose="020F0502020204030204" pitchFamily="34" charset="0"/>
              </a:rPr>
              <a:t>: ‘it was his business to keep awake. If drowsiness overtook him while driving, he should stop and wait until he recovered himself and became fully awake. The driver must have known that drowsiness was overtaking him’.</a:t>
            </a:r>
          </a:p>
          <a:p>
            <a:pPr>
              <a:spcAft>
                <a:spcPts val="1200"/>
              </a:spcAft>
              <a:buFont typeface="Arial" panose="020B0604020202020204" pitchFamily="34" charset="0"/>
              <a:buChar char="•"/>
            </a:pPr>
            <a:r>
              <a:rPr lang="en-GB" sz="2000" b="1" i="1" dirty="0">
                <a:ln>
                  <a:solidFill>
                    <a:prstClr val="black">
                      <a:lumMod val="75000"/>
                      <a:lumOff val="25000"/>
                      <a:alpha val="10000"/>
                    </a:prstClr>
                  </a:solidFill>
                </a:ln>
                <a:cs typeface="Calibri" panose="020F0502020204030204" pitchFamily="34" charset="0"/>
              </a:rPr>
              <a:t>Quick </a:t>
            </a:r>
            <a:r>
              <a:rPr lang="en-GB" sz="2000" b="1" dirty="0">
                <a:ln>
                  <a:solidFill>
                    <a:prstClr val="black">
                      <a:lumMod val="75000"/>
                      <a:lumOff val="25000"/>
                      <a:alpha val="10000"/>
                    </a:prstClr>
                  </a:solidFill>
                </a:ln>
                <a:cs typeface="Calibri" panose="020F0502020204030204" pitchFamily="34" charset="0"/>
              </a:rPr>
              <a:t>[1973] QB 910: </a:t>
            </a:r>
            <a:r>
              <a:rPr lang="en-GB" sz="2000" dirty="0">
                <a:ln>
                  <a:solidFill>
                    <a:prstClr val="black">
                      <a:lumMod val="75000"/>
                      <a:lumOff val="25000"/>
                      <a:alpha val="10000"/>
                    </a:prstClr>
                  </a:solidFill>
                </a:ln>
                <a:cs typeface="Calibri" panose="020F0502020204030204" pitchFamily="34" charset="0"/>
              </a:rPr>
              <a:t>‘A self-induced incapacity will not excuse…nor will one which could have been reasonably foreseen as a result of either doing, or omitting to do something…’</a:t>
            </a:r>
            <a:endParaRPr kumimoji="0" lang="en-GB" sz="2000" b="1" i="1" u="none" strike="noStrike" kern="1200" cap="none" spc="0" normalizeH="0" baseline="0" noProof="0" dirty="0">
              <a:ln>
                <a:solidFill>
                  <a:prstClr val="black">
                    <a:lumMod val="75000"/>
                    <a:lumOff val="25000"/>
                    <a:alpha val="10000"/>
                  </a:prstClr>
                </a:solidFill>
              </a:ln>
              <a:uLnTx/>
              <a:uFillTx/>
              <a:cs typeface="Calibri" panose="020F0502020204030204" pitchFamily="34" charset="0"/>
            </a:endParaRPr>
          </a:p>
          <a:p>
            <a:endParaRPr lang="en-US" dirty="0"/>
          </a:p>
        </p:txBody>
      </p:sp>
    </p:spTree>
    <p:extLst>
      <p:ext uri="{BB962C8B-B14F-4D97-AF65-F5344CB8AC3E}">
        <p14:creationId xmlns:p14="http://schemas.microsoft.com/office/powerpoint/2010/main" val="1543613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2E606-ED01-2ABD-5F18-DB76292DBBB2}"/>
              </a:ext>
            </a:extLst>
          </p:cNvPr>
          <p:cNvSpPr>
            <a:spLocks noGrp="1"/>
          </p:cNvSpPr>
          <p:nvPr>
            <p:ph type="title"/>
          </p:nvPr>
        </p:nvSpPr>
        <p:spPr/>
        <p:txBody>
          <a:bodyPr/>
          <a:lstStyle/>
          <a:p>
            <a:r>
              <a:rPr lang="en-GB" dirty="0"/>
              <a:t>Understanding ‘prior fault’</a:t>
            </a:r>
          </a:p>
        </p:txBody>
      </p:sp>
      <p:sp>
        <p:nvSpPr>
          <p:cNvPr id="3" name="Content Placeholder 2">
            <a:extLst>
              <a:ext uri="{FF2B5EF4-FFF2-40B4-BE49-F238E27FC236}">
                <a16:creationId xmlns:a16="http://schemas.microsoft.com/office/drawing/2014/main" id="{933C7331-C050-23EC-A766-1C1326DEE358}"/>
              </a:ext>
            </a:extLst>
          </p:cNvPr>
          <p:cNvSpPr>
            <a:spLocks noGrp="1"/>
          </p:cNvSpPr>
          <p:nvPr>
            <p:ph idx="1"/>
          </p:nvPr>
        </p:nvSpPr>
        <p:spPr/>
        <p:txBody>
          <a:bodyPr/>
          <a:lstStyle/>
          <a:p>
            <a:pPr>
              <a:buFont typeface="Arial" panose="020B0604020202020204" pitchFamily="34" charset="0"/>
              <a:buChar char="•"/>
            </a:pPr>
            <a:r>
              <a:rPr lang="en-GB" dirty="0"/>
              <a:t>Automatism, insanity and intoxication usually require D to raise that their ability to form MR in the usual way or to act voluntarily has been impacted. i.e.:</a:t>
            </a:r>
          </a:p>
          <a:p>
            <a:pPr lvl="1">
              <a:buFont typeface="Arial" panose="020B0604020202020204" pitchFamily="34" charset="0"/>
              <a:buChar char="•"/>
            </a:pPr>
            <a:r>
              <a:rPr lang="en-GB" dirty="0"/>
              <a:t>I became unconscious which made me drive erratically</a:t>
            </a:r>
          </a:p>
          <a:p>
            <a:pPr lvl="1">
              <a:buFont typeface="Arial" panose="020B0604020202020204" pitchFamily="34" charset="0"/>
              <a:buChar char="•"/>
            </a:pPr>
            <a:r>
              <a:rPr lang="en-GB" dirty="0"/>
              <a:t>I hallucinated and did not know V was a person.</a:t>
            </a:r>
          </a:p>
          <a:p>
            <a:pPr>
              <a:buFont typeface="Arial" panose="020B0604020202020204" pitchFamily="34" charset="0"/>
              <a:buChar char="•"/>
            </a:pPr>
            <a:r>
              <a:rPr lang="en-GB" dirty="0"/>
              <a:t>Sometimes D’s state has resulted from their own prior fault such as voluntarily drinking alcohol, taking drugs, failing to follow medical advice4.</a:t>
            </a:r>
          </a:p>
          <a:p>
            <a:pPr>
              <a:buFont typeface="Arial" panose="020B0604020202020204" pitchFamily="34" charset="0"/>
              <a:buChar char="•"/>
            </a:pPr>
            <a:r>
              <a:rPr lang="en-GB" dirty="0"/>
              <a:t>Legal rules have developed to find liability irrespective of Ds denial of the crime. This is a different way of constructing liability and is referred to as ‘prior fault’.</a:t>
            </a:r>
          </a:p>
          <a:p>
            <a:pPr>
              <a:buFont typeface="Arial" panose="020B0604020202020204" pitchFamily="34" charset="0"/>
              <a:buChar char="•"/>
            </a:pPr>
            <a:r>
              <a:rPr lang="en-GB" dirty="0"/>
              <a:t>Childs differentiates between T1 and T2.</a:t>
            </a:r>
          </a:p>
        </p:txBody>
      </p:sp>
    </p:spTree>
    <p:extLst>
      <p:ext uri="{BB962C8B-B14F-4D97-AF65-F5344CB8AC3E}">
        <p14:creationId xmlns:p14="http://schemas.microsoft.com/office/powerpoint/2010/main" val="711608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2A08D-5326-4C2A-B7CE-3EBE51FF8F8F}"/>
              </a:ext>
            </a:extLst>
          </p:cNvPr>
          <p:cNvSpPr>
            <a:spLocks noGrp="1"/>
          </p:cNvSpPr>
          <p:nvPr>
            <p:ph type="title"/>
          </p:nvPr>
        </p:nvSpPr>
        <p:spPr/>
        <p:txBody>
          <a:bodyPr/>
          <a:lstStyle/>
          <a:p>
            <a:r>
              <a:rPr lang="en-GB" dirty="0"/>
              <a:t>Deciding Fault</a:t>
            </a:r>
            <a:endParaRPr lang="en-US" dirty="0"/>
          </a:p>
        </p:txBody>
      </p:sp>
      <p:sp>
        <p:nvSpPr>
          <p:cNvPr id="3" name="Content Placeholder 2">
            <a:extLst>
              <a:ext uri="{FF2B5EF4-FFF2-40B4-BE49-F238E27FC236}">
                <a16:creationId xmlns:a16="http://schemas.microsoft.com/office/drawing/2014/main" id="{B08ADEBD-15F0-4EB9-9F26-5146AA4787BE}"/>
              </a:ext>
            </a:extLst>
          </p:cNvPr>
          <p:cNvSpPr>
            <a:spLocks noGrp="1"/>
          </p:cNvSpPr>
          <p:nvPr>
            <p:ph idx="1"/>
          </p:nvPr>
        </p:nvSpPr>
        <p:spPr>
          <a:xfrm>
            <a:off x="684213" y="1700808"/>
            <a:ext cx="7772400" cy="3816350"/>
          </a:xfrm>
        </p:spPr>
        <p:txBody>
          <a:bodyPr/>
          <a:lstStyle/>
          <a:p>
            <a:pPr marL="0" indent="0" algn="just"/>
            <a:r>
              <a:rPr lang="en-GB" b="1" dirty="0"/>
              <a:t>Distinction between specific and basic intent offences</a:t>
            </a:r>
            <a:r>
              <a:rPr lang="en-GB" dirty="0"/>
              <a:t> (a disputed distinction - overlap with intoxication).</a:t>
            </a:r>
          </a:p>
          <a:p>
            <a:pPr algn="just">
              <a:buFont typeface="Arial" panose="020B0604020202020204" pitchFamily="34" charset="0"/>
              <a:buChar char="•"/>
            </a:pPr>
            <a:r>
              <a:rPr lang="en-GB" b="1" dirty="0"/>
              <a:t>Specific intent </a:t>
            </a:r>
            <a:r>
              <a:rPr lang="en-GB" dirty="0"/>
              <a:t>(predominant </a:t>
            </a:r>
            <a:r>
              <a:rPr lang="en-GB" dirty="0" err="1"/>
              <a:t>mens</a:t>
            </a:r>
            <a:r>
              <a:rPr lang="en-GB" dirty="0"/>
              <a:t> rea element is intention, knowledge, or dishonesty, e.g. theft, murder, wounding with intent) – automatism can </a:t>
            </a:r>
            <a:r>
              <a:rPr lang="en-GB" b="1" dirty="0"/>
              <a:t>always</a:t>
            </a:r>
            <a:r>
              <a:rPr lang="en-GB" dirty="0"/>
              <a:t> be a defence (</a:t>
            </a:r>
            <a:r>
              <a:rPr lang="en-GB" i="1" dirty="0"/>
              <a:t>Bailey</a:t>
            </a:r>
            <a:r>
              <a:rPr lang="en-GB" dirty="0"/>
              <a:t>) </a:t>
            </a:r>
          </a:p>
          <a:p>
            <a:pPr algn="just">
              <a:buFont typeface="Arial" panose="020B0604020202020204" pitchFamily="34" charset="0"/>
              <a:buChar char="•"/>
            </a:pPr>
            <a:r>
              <a:rPr lang="en-GB" b="1" dirty="0"/>
              <a:t>Basic intent </a:t>
            </a:r>
            <a:r>
              <a:rPr lang="en-GB" dirty="0"/>
              <a:t>(everything else, most often where recklessness is possible) – automatism </a:t>
            </a:r>
            <a:r>
              <a:rPr lang="en-GB" b="1" i="1" dirty="0"/>
              <a:t>may </a:t>
            </a:r>
            <a:r>
              <a:rPr lang="en-GB" dirty="0"/>
              <a:t>be a defence </a:t>
            </a:r>
            <a:r>
              <a:rPr lang="en-GB" b="1" u="sng" dirty="0"/>
              <a:t>except</a:t>
            </a:r>
            <a:r>
              <a:rPr lang="en-GB" b="1" dirty="0"/>
              <a:t>:</a:t>
            </a:r>
          </a:p>
          <a:p>
            <a:pPr lvl="1" algn="just">
              <a:buFont typeface="Courier New" panose="02070309020205020404" pitchFamily="49" charset="0"/>
              <a:buChar char="o"/>
            </a:pPr>
            <a:r>
              <a:rPr lang="en-GB" sz="1700" dirty="0"/>
              <a:t>Where the automatism is caused by voluntary intoxication via dangerous substances (</a:t>
            </a:r>
            <a:r>
              <a:rPr lang="en-GB" sz="1700" i="1" dirty="0"/>
              <a:t>Quick)</a:t>
            </a:r>
          </a:p>
          <a:p>
            <a:pPr lvl="1" algn="just">
              <a:buFont typeface="Courier New" panose="02070309020205020404" pitchFamily="49" charset="0"/>
              <a:buChar char="o"/>
            </a:pPr>
            <a:r>
              <a:rPr lang="en-GB" sz="1700" dirty="0"/>
              <a:t>Where caused by non-dangerous drugs, </a:t>
            </a:r>
          </a:p>
          <a:p>
            <a:pPr lvl="1" algn="just">
              <a:buFont typeface="Courier New" panose="02070309020205020404" pitchFamily="49" charset="0"/>
              <a:buChar char="o"/>
            </a:pPr>
            <a:r>
              <a:rPr lang="en-GB" sz="1700" dirty="0"/>
              <a:t>or any other conduct, and D </a:t>
            </a:r>
            <a:r>
              <a:rPr lang="en-GB" sz="1700" i="1" dirty="0"/>
              <a:t>knew </a:t>
            </a:r>
            <a:r>
              <a:rPr lang="en-GB" sz="1700" dirty="0"/>
              <a:t>the risk, and unreasonably took it (i.e. D was reckless as to the automatism) (</a:t>
            </a:r>
            <a:r>
              <a:rPr lang="en-GB" sz="1700" i="1" dirty="0"/>
              <a:t>Bailey)</a:t>
            </a:r>
            <a:endParaRPr lang="en-GB" sz="1700" dirty="0"/>
          </a:p>
        </p:txBody>
      </p:sp>
    </p:spTree>
    <p:extLst>
      <p:ext uri="{BB962C8B-B14F-4D97-AF65-F5344CB8AC3E}">
        <p14:creationId xmlns:p14="http://schemas.microsoft.com/office/powerpoint/2010/main" val="79686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21394-EC5C-E13C-D778-3BA0964E79DD}"/>
              </a:ext>
            </a:extLst>
          </p:cNvPr>
          <p:cNvSpPr>
            <a:spLocks noGrp="1"/>
          </p:cNvSpPr>
          <p:nvPr>
            <p:ph type="title"/>
          </p:nvPr>
        </p:nvSpPr>
        <p:spPr/>
        <p:txBody>
          <a:bodyPr/>
          <a:lstStyle/>
          <a:p>
            <a:r>
              <a:rPr lang="en-GB" dirty="0"/>
              <a:t>‘any other conduct’</a:t>
            </a:r>
          </a:p>
        </p:txBody>
      </p:sp>
      <p:sp>
        <p:nvSpPr>
          <p:cNvPr id="3" name="Content Placeholder 2">
            <a:extLst>
              <a:ext uri="{FF2B5EF4-FFF2-40B4-BE49-F238E27FC236}">
                <a16:creationId xmlns:a16="http://schemas.microsoft.com/office/drawing/2014/main" id="{2000535F-9EFC-FC7B-0E3E-AC3217FE82FF}"/>
              </a:ext>
            </a:extLst>
          </p:cNvPr>
          <p:cNvSpPr>
            <a:spLocks noGrp="1"/>
          </p:cNvSpPr>
          <p:nvPr>
            <p:ph idx="1"/>
          </p:nvPr>
        </p:nvSpPr>
        <p:spPr/>
        <p:txBody>
          <a:bodyPr/>
          <a:lstStyle/>
          <a:p>
            <a:pPr>
              <a:buFont typeface="Arial" panose="020B0604020202020204" pitchFamily="34" charset="0"/>
              <a:buChar char="•"/>
            </a:pPr>
            <a:r>
              <a:rPr lang="en-GB" dirty="0"/>
              <a:t>Where automatism is due to some cause other than intoxication by alcohol or proscribed drugs:</a:t>
            </a:r>
          </a:p>
          <a:p>
            <a:pPr lvl="1">
              <a:buFont typeface="Arial" panose="020B0604020202020204" pitchFamily="34" charset="0"/>
              <a:buChar char="•"/>
            </a:pPr>
            <a:r>
              <a:rPr lang="en-GB" dirty="0"/>
              <a:t>D cannot be convicted of an offence of specific intent</a:t>
            </a:r>
          </a:p>
          <a:p>
            <a:pPr lvl="1">
              <a:buFont typeface="Arial" panose="020B0604020202020204" pitchFamily="34" charset="0"/>
              <a:buChar char="•"/>
            </a:pPr>
            <a:r>
              <a:rPr lang="en-GB" dirty="0"/>
              <a:t>D may have a defence to a crime of basic intent</a:t>
            </a:r>
          </a:p>
          <a:p>
            <a:pPr lvl="1">
              <a:buFont typeface="Arial" panose="020B0604020202020204" pitchFamily="34" charset="0"/>
              <a:buChar char="•"/>
            </a:pPr>
            <a:r>
              <a:rPr lang="en-GB" dirty="0"/>
              <a:t>See Bailey [1982] 1 WLR 760</a:t>
            </a:r>
          </a:p>
          <a:p>
            <a:pPr lvl="1">
              <a:buFont typeface="Arial" panose="020B0604020202020204" pitchFamily="34" charset="0"/>
              <a:buChar char="•"/>
            </a:pPr>
            <a:r>
              <a:rPr lang="en-GB" dirty="0"/>
              <a:t>‘The question in each case will be whether the prosecution have proved the necessary element of recklessness. In cases of assault, if the accused knows that his actions or inaction are likely to make him </a:t>
            </a:r>
            <a:r>
              <a:rPr lang="en-GB" b="1" dirty="0"/>
              <a:t>aggressive, unpredictable or uncontrolled </a:t>
            </a:r>
            <a:r>
              <a:rPr lang="en-GB" dirty="0"/>
              <a:t>with the result that he may cause some injury to others and he persists in the action or takes no remedial action when he knows it is required, it will be open to the jury to find that he was reckless.’ at 765</a:t>
            </a:r>
          </a:p>
          <a:p>
            <a:pPr lvl="1">
              <a:buFont typeface="Arial" panose="020B0604020202020204" pitchFamily="34" charset="0"/>
              <a:buChar char="•"/>
            </a:pPr>
            <a:r>
              <a:rPr lang="en-GB" b="1" dirty="0"/>
              <a:t>The Q is did the D appreciate the risk of becoming aggressive, unpredictable, or uncontrollable?</a:t>
            </a:r>
          </a:p>
        </p:txBody>
      </p:sp>
    </p:spTree>
    <p:extLst>
      <p:ext uri="{BB962C8B-B14F-4D97-AF65-F5344CB8AC3E}">
        <p14:creationId xmlns:p14="http://schemas.microsoft.com/office/powerpoint/2010/main" val="2628650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6AC5-E275-D6E1-5913-4B1ED68D6CEE}"/>
              </a:ext>
            </a:extLst>
          </p:cNvPr>
          <p:cNvSpPr>
            <a:spLocks noGrp="1"/>
          </p:cNvSpPr>
          <p:nvPr>
            <p:ph type="title"/>
          </p:nvPr>
        </p:nvSpPr>
        <p:spPr/>
        <p:txBody>
          <a:bodyPr/>
          <a:lstStyle/>
          <a:p>
            <a:r>
              <a:rPr lang="en-GB" dirty="0"/>
              <a:t>Problem based questions</a:t>
            </a:r>
          </a:p>
        </p:txBody>
      </p:sp>
      <p:sp>
        <p:nvSpPr>
          <p:cNvPr id="3" name="Content Placeholder 2">
            <a:extLst>
              <a:ext uri="{FF2B5EF4-FFF2-40B4-BE49-F238E27FC236}">
                <a16:creationId xmlns:a16="http://schemas.microsoft.com/office/drawing/2014/main" id="{875E7998-68AF-B915-F9A4-BC1FD3348593}"/>
              </a:ext>
            </a:extLst>
          </p:cNvPr>
          <p:cNvSpPr>
            <a:spLocks noGrp="1"/>
          </p:cNvSpPr>
          <p:nvPr>
            <p:ph idx="1"/>
          </p:nvPr>
        </p:nvSpPr>
        <p:spPr/>
        <p:txBody>
          <a:bodyPr/>
          <a:lstStyle/>
          <a:p>
            <a:pPr algn="just">
              <a:buFont typeface="Arial" panose="020B0604020202020204" pitchFamily="34" charset="0"/>
              <a:buChar char="•"/>
            </a:pPr>
            <a:r>
              <a:rPr lang="en-GB" dirty="0"/>
              <a:t>Mary is 78 years old and lives on her own. She has a range of different medical conditions which require her to take a daily diet of prescription pills. She knows that some of these pills must be taken in a specific order and at different times of the day. Combining certain medication can cause her to become confused, agitated and aggressive. Mary accidentally drops her pill box and guesses which pill is which. She accidentally ingests the wrong combination of pills. Because of the medication Mary’s behaviour becomes erratic. She walks to her local shop and steals a coat from the local charity shop believing it to be hers. When a neighbour tries to speak with her, she hits him on his head with a walking stick causing a minor graze. Mary is subsequently charged with theft and assault by battery. </a:t>
            </a:r>
          </a:p>
          <a:p>
            <a:pPr>
              <a:buFont typeface="Arial" panose="020B0604020202020204" pitchFamily="34" charset="0"/>
              <a:buChar char="•"/>
            </a:pPr>
            <a:r>
              <a:rPr lang="en-GB" b="1" dirty="0"/>
              <a:t>Is she able to rely on the plea of automatism?</a:t>
            </a:r>
          </a:p>
        </p:txBody>
      </p:sp>
    </p:spTree>
    <p:extLst>
      <p:ext uri="{BB962C8B-B14F-4D97-AF65-F5344CB8AC3E}">
        <p14:creationId xmlns:p14="http://schemas.microsoft.com/office/powerpoint/2010/main" val="1493521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EA17BB-B544-9021-7199-2F565164D4BB}"/>
              </a:ext>
            </a:extLst>
          </p:cNvPr>
          <p:cNvSpPr>
            <a:spLocks noGrp="1"/>
          </p:cNvSpPr>
          <p:nvPr>
            <p:ph idx="4294967295"/>
          </p:nvPr>
        </p:nvSpPr>
        <p:spPr>
          <a:xfrm>
            <a:off x="755576" y="404664"/>
            <a:ext cx="7560840" cy="5400824"/>
          </a:xfrm>
        </p:spPr>
        <p:txBody>
          <a:bodyPr/>
          <a:lstStyle/>
          <a:p>
            <a:pPr algn="just">
              <a:spcBef>
                <a:spcPts val="0"/>
              </a:spcBef>
              <a:spcAft>
                <a:spcPts val="0"/>
              </a:spcAft>
              <a:buFont typeface="Arial" panose="020B0604020202020204" pitchFamily="34" charset="0"/>
              <a:buChar char="•"/>
            </a:pPr>
            <a:r>
              <a:rPr lang="en-GB" sz="1600" dirty="0"/>
              <a:t>The </a:t>
            </a:r>
            <a:r>
              <a:rPr lang="en-GB" sz="1600" b="1" dirty="0"/>
              <a:t>evidential burden </a:t>
            </a:r>
            <a:r>
              <a:rPr lang="en-GB" sz="1600" dirty="0"/>
              <a:t>is on Mary. She will have to call medical evidence to support: </a:t>
            </a:r>
          </a:p>
          <a:p>
            <a:pPr lvl="1" indent="-342900" algn="just">
              <a:spcBef>
                <a:spcPts val="0"/>
              </a:spcBef>
              <a:spcAft>
                <a:spcPts val="0"/>
              </a:spcAft>
              <a:buFont typeface="+mj-lt"/>
              <a:buAutoNum type="arabicPeriod"/>
            </a:pPr>
            <a:r>
              <a:rPr lang="en-GB" b="1" dirty="0"/>
              <a:t>She suffered a </a:t>
            </a:r>
            <a:r>
              <a:rPr lang="en-GB" b="1" u="sng" dirty="0"/>
              <a:t>complete loss of voluntary control</a:t>
            </a:r>
            <a:r>
              <a:rPr lang="en-GB" b="1" dirty="0"/>
              <a:t>; </a:t>
            </a:r>
          </a:p>
          <a:p>
            <a:pPr lvl="3" indent="-342900" algn="just">
              <a:spcBef>
                <a:spcPts val="0"/>
              </a:spcBef>
              <a:spcAft>
                <a:spcPts val="0"/>
              </a:spcAft>
            </a:pPr>
            <a:r>
              <a:rPr lang="en-GB" sz="1600" dirty="0"/>
              <a:t>Were her actions “automatic” – D exercised no conscious control over her conduct.</a:t>
            </a:r>
          </a:p>
          <a:p>
            <a:pPr lvl="3" indent="-342900" algn="just">
              <a:spcBef>
                <a:spcPts val="0"/>
              </a:spcBef>
              <a:spcAft>
                <a:spcPts val="0"/>
              </a:spcAft>
            </a:pPr>
            <a:r>
              <a:rPr lang="en-GB" sz="1600" dirty="0"/>
              <a:t>High standard – ‘total destruction of voluntary control’ Broome v Perkins [1987] </a:t>
            </a:r>
          </a:p>
          <a:p>
            <a:pPr lvl="1" indent="-342900" algn="just">
              <a:spcBef>
                <a:spcPts val="0"/>
              </a:spcBef>
              <a:spcAft>
                <a:spcPts val="0"/>
              </a:spcAft>
              <a:buFont typeface="+mj-lt"/>
              <a:buAutoNum type="arabicPeriod"/>
            </a:pPr>
            <a:r>
              <a:rPr lang="en-GB" b="1" dirty="0"/>
              <a:t>This was caused by an </a:t>
            </a:r>
            <a:r>
              <a:rPr lang="en-GB" b="1" u="sng" dirty="0"/>
              <a:t>external</a:t>
            </a:r>
            <a:r>
              <a:rPr lang="en-GB" b="1" dirty="0"/>
              <a:t> (not internal) factor;</a:t>
            </a:r>
          </a:p>
          <a:p>
            <a:pPr lvl="2" indent="-342900" algn="just">
              <a:spcBef>
                <a:spcPts val="0"/>
              </a:spcBef>
              <a:spcAft>
                <a:spcPts val="0"/>
              </a:spcAft>
            </a:pPr>
            <a:r>
              <a:rPr lang="en-GB" sz="1600" dirty="0"/>
              <a:t>Clear cause is ingestion of medication so clearly met here. Bratty [1963]</a:t>
            </a:r>
          </a:p>
          <a:p>
            <a:pPr lvl="1" indent="-342900" algn="just">
              <a:spcBef>
                <a:spcPts val="0"/>
              </a:spcBef>
              <a:spcAft>
                <a:spcPts val="0"/>
              </a:spcAft>
              <a:buFont typeface="+mj-lt"/>
              <a:buAutoNum type="arabicPeriod"/>
            </a:pPr>
            <a:r>
              <a:rPr lang="en-GB" b="1" dirty="0"/>
              <a:t>She was </a:t>
            </a:r>
            <a:r>
              <a:rPr lang="en-GB" b="1" u="sng" dirty="0"/>
              <a:t>not at fault</a:t>
            </a:r>
            <a:r>
              <a:rPr lang="en-GB" b="1" dirty="0"/>
              <a:t> in losing capacity.</a:t>
            </a:r>
          </a:p>
          <a:p>
            <a:pPr lvl="3" indent="-342900" algn="just">
              <a:spcBef>
                <a:spcPts val="0"/>
              </a:spcBef>
              <a:spcAft>
                <a:spcPts val="0"/>
              </a:spcAft>
            </a:pPr>
            <a:r>
              <a:rPr lang="en-GB" sz="1600" u="sng" dirty="0"/>
              <a:t>Theft</a:t>
            </a:r>
            <a:r>
              <a:rPr lang="en-GB" sz="1600" dirty="0"/>
              <a:t> is a </a:t>
            </a:r>
            <a:r>
              <a:rPr lang="en-GB" sz="1600" b="1" dirty="0"/>
              <a:t>specific intent </a:t>
            </a:r>
            <a:r>
              <a:rPr lang="en-GB" sz="1600" dirty="0"/>
              <a:t>crime so she can raise automatism. She may receive a complete acquittal if prosecution cannot prove beyond reasonable doubt that Mary’s actions were voluntary.</a:t>
            </a:r>
          </a:p>
          <a:p>
            <a:pPr lvl="3" indent="-342900" algn="just">
              <a:spcBef>
                <a:spcPts val="0"/>
              </a:spcBef>
              <a:spcAft>
                <a:spcPts val="0"/>
              </a:spcAft>
            </a:pPr>
            <a:r>
              <a:rPr lang="en-GB" sz="1600" u="sng" dirty="0"/>
              <a:t>Battery</a:t>
            </a:r>
            <a:r>
              <a:rPr lang="en-GB" sz="1600" dirty="0"/>
              <a:t> is a </a:t>
            </a:r>
            <a:r>
              <a:rPr lang="en-GB" sz="1600" b="1" dirty="0"/>
              <a:t>basic intent </a:t>
            </a:r>
            <a:r>
              <a:rPr lang="en-GB" sz="1600" dirty="0"/>
              <a:t>crime so may be able to raise automatism </a:t>
            </a:r>
            <a:r>
              <a:rPr lang="en-GB" sz="1600" i="1" dirty="0"/>
              <a:t>only</a:t>
            </a:r>
            <a:r>
              <a:rPr lang="en-GB" sz="1600" dirty="0"/>
              <a:t> if the court find  she is </a:t>
            </a:r>
            <a:r>
              <a:rPr lang="en-GB" sz="1600" i="1" dirty="0"/>
              <a:t>not at fault</a:t>
            </a:r>
            <a:r>
              <a:rPr lang="en-GB" sz="1600" dirty="0"/>
              <a:t>. Prosecution must prove recklessness at T1. </a:t>
            </a:r>
          </a:p>
          <a:p>
            <a:pPr lvl="3" indent="-342900" algn="just">
              <a:spcBef>
                <a:spcPts val="0"/>
              </a:spcBef>
              <a:spcAft>
                <a:spcPts val="0"/>
              </a:spcAft>
            </a:pPr>
            <a:r>
              <a:rPr lang="en-GB" sz="1600" dirty="0"/>
              <a:t>In this case there is no intoxication or drugs. </a:t>
            </a:r>
          </a:p>
          <a:p>
            <a:pPr lvl="3" indent="-342900" algn="just">
              <a:spcBef>
                <a:spcPts val="0"/>
              </a:spcBef>
              <a:spcAft>
                <a:spcPts val="0"/>
              </a:spcAft>
            </a:pPr>
            <a:r>
              <a:rPr lang="en-GB" sz="1600" dirty="0"/>
              <a:t>Did Mary know when taking the medications in the way she did, she was likely to make herself </a:t>
            </a:r>
            <a:r>
              <a:rPr lang="en-GB" sz="1600" b="1" dirty="0"/>
              <a:t>aggressive, unpredictable or uncontrolled</a:t>
            </a:r>
            <a:r>
              <a:rPr lang="en-GB" sz="1600" dirty="0"/>
              <a:t> with the result that she may cause some injury to others? If so, the court may convict. Bailey [1982]</a:t>
            </a:r>
          </a:p>
          <a:p>
            <a:pPr lvl="3" indent="-342900" algn="just">
              <a:spcAft>
                <a:spcPts val="1200"/>
              </a:spcAft>
            </a:pPr>
            <a:endParaRPr lang="en-GB" dirty="0"/>
          </a:p>
          <a:p>
            <a:endParaRPr lang="en-GB" dirty="0"/>
          </a:p>
        </p:txBody>
      </p:sp>
    </p:spTree>
    <p:extLst>
      <p:ext uri="{BB962C8B-B14F-4D97-AF65-F5344CB8AC3E}">
        <p14:creationId xmlns:p14="http://schemas.microsoft.com/office/powerpoint/2010/main" val="2748374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00D15-7356-4985-93E7-50A43058EB58}"/>
              </a:ext>
            </a:extLst>
          </p:cNvPr>
          <p:cNvSpPr>
            <a:spLocks noGrp="1"/>
          </p:cNvSpPr>
          <p:nvPr>
            <p:ph type="title"/>
          </p:nvPr>
        </p:nvSpPr>
        <p:spPr/>
        <p:txBody>
          <a:bodyPr/>
          <a:lstStyle/>
          <a:p>
            <a:r>
              <a:rPr lang="en-GB" dirty="0"/>
              <a:t>Essay questions</a:t>
            </a:r>
            <a:endParaRPr lang="en-US" dirty="0"/>
          </a:p>
        </p:txBody>
      </p:sp>
      <p:sp>
        <p:nvSpPr>
          <p:cNvPr id="3" name="Content Placeholder 2">
            <a:extLst>
              <a:ext uri="{FF2B5EF4-FFF2-40B4-BE49-F238E27FC236}">
                <a16:creationId xmlns:a16="http://schemas.microsoft.com/office/drawing/2014/main" id="{BB588E35-F1C6-4214-BF2A-9C87D2D3C1B4}"/>
              </a:ext>
            </a:extLst>
          </p:cNvPr>
          <p:cNvSpPr>
            <a:spLocks noGrp="1"/>
          </p:cNvSpPr>
          <p:nvPr>
            <p:ph idx="1"/>
          </p:nvPr>
        </p:nvSpPr>
        <p:spPr>
          <a:xfrm>
            <a:off x="684213" y="1844898"/>
            <a:ext cx="7772400" cy="3816350"/>
          </a:xfrm>
        </p:spPr>
        <p:txBody>
          <a:bodyPr/>
          <a:lstStyle/>
          <a:p>
            <a:pPr algn="just">
              <a:buFont typeface="Arial" panose="020B0604020202020204" pitchFamily="34" charset="0"/>
              <a:buChar char="•"/>
            </a:pPr>
            <a:r>
              <a:rPr lang="en-GB" sz="2100" dirty="0"/>
              <a:t>Lack of logic in some of the cases. Is the external/internal distinction justified? Compare Hennessey and Quick.</a:t>
            </a:r>
          </a:p>
          <a:p>
            <a:pPr algn="just">
              <a:buFont typeface="Arial" panose="020B0604020202020204" pitchFamily="34" charset="0"/>
              <a:buChar char="•"/>
            </a:pPr>
            <a:r>
              <a:rPr lang="en-GB" sz="2100" dirty="0"/>
              <a:t>Is it logical to label some conditions insanity only because they are internal?</a:t>
            </a:r>
          </a:p>
          <a:p>
            <a:pPr algn="just">
              <a:buFont typeface="Arial" panose="020B0604020202020204" pitchFamily="34" charset="0"/>
              <a:buChar char="•"/>
            </a:pPr>
            <a:r>
              <a:rPr lang="en-GB" sz="2100" dirty="0"/>
              <a:t>Why should “prior fault” say anything of whether automatism can succeed? </a:t>
            </a:r>
          </a:p>
          <a:p>
            <a:pPr algn="just">
              <a:buFont typeface="Arial" panose="020B0604020202020204" pitchFamily="34" charset="0"/>
              <a:buChar char="•"/>
            </a:pPr>
            <a:r>
              <a:rPr lang="en-GB" sz="2100" dirty="0"/>
              <a:t>Why does the distinction between specific/basic intent offences – taken from the rules on intoxication – make a difference </a:t>
            </a:r>
            <a:r>
              <a:rPr lang="en-GB" sz="2100" i="1" dirty="0"/>
              <a:t>here</a:t>
            </a:r>
            <a:r>
              <a:rPr lang="en-GB" sz="2100" dirty="0"/>
              <a:t>? </a:t>
            </a:r>
          </a:p>
          <a:p>
            <a:endParaRPr lang="en-US" dirty="0"/>
          </a:p>
        </p:txBody>
      </p:sp>
    </p:spTree>
    <p:extLst>
      <p:ext uri="{BB962C8B-B14F-4D97-AF65-F5344CB8AC3E}">
        <p14:creationId xmlns:p14="http://schemas.microsoft.com/office/powerpoint/2010/main" val="927423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DB8B8-DEF8-4539-A773-2BC2401557E3}"/>
              </a:ext>
            </a:extLst>
          </p:cNvPr>
          <p:cNvSpPr>
            <a:spLocks noGrp="1"/>
          </p:cNvSpPr>
          <p:nvPr>
            <p:ph type="title"/>
          </p:nvPr>
        </p:nvSpPr>
        <p:spPr/>
        <p:txBody>
          <a:bodyPr/>
          <a:lstStyle/>
          <a:p>
            <a:r>
              <a:rPr lang="en-GB" dirty="0"/>
              <a:t>Summary: Automatism</a:t>
            </a:r>
          </a:p>
        </p:txBody>
      </p:sp>
      <p:sp>
        <p:nvSpPr>
          <p:cNvPr id="3" name="Content Placeholder 2">
            <a:extLst>
              <a:ext uri="{FF2B5EF4-FFF2-40B4-BE49-F238E27FC236}">
                <a16:creationId xmlns:a16="http://schemas.microsoft.com/office/drawing/2014/main" id="{385EABDA-4BA0-4C29-884C-4F232AE074BE}"/>
              </a:ext>
            </a:extLst>
          </p:cNvPr>
          <p:cNvSpPr>
            <a:spLocks noGrp="1"/>
          </p:cNvSpPr>
          <p:nvPr>
            <p:ph idx="1"/>
          </p:nvPr>
        </p:nvSpPr>
        <p:spPr/>
        <p:txBody>
          <a:bodyPr/>
          <a:lstStyle/>
          <a:p>
            <a:pPr>
              <a:buFont typeface="Arial" panose="020B0604020202020204" pitchFamily="34" charset="0"/>
              <a:buChar char="•"/>
            </a:pPr>
            <a:r>
              <a:rPr lang="en-GB" sz="1600" dirty="0"/>
              <a:t>Refers to the state of unconsciousness or impaired consciousness in which a person acts involuntarily.</a:t>
            </a:r>
          </a:p>
          <a:p>
            <a:pPr>
              <a:buFont typeface="Arial" panose="020B0604020202020204" pitchFamily="34" charset="0"/>
              <a:buChar char="•"/>
            </a:pPr>
            <a:r>
              <a:rPr lang="en-GB" sz="1600" dirty="0"/>
              <a:t>If the prosecution cannot prove beyond reasonable doubt that D’s conduct was voluntary, he will be acquitted</a:t>
            </a:r>
          </a:p>
          <a:p>
            <a:pPr>
              <a:buFont typeface="Arial" panose="020B0604020202020204" pitchFamily="34" charset="0"/>
              <a:buChar char="•"/>
            </a:pPr>
            <a:r>
              <a:rPr lang="en-GB" sz="1600" dirty="0"/>
              <a:t>It is not sufficient that D’s mind was acting imperfectly; what is required is that D’s mind is not controlling his limbs at all.</a:t>
            </a:r>
          </a:p>
          <a:p>
            <a:pPr>
              <a:buFont typeface="Arial" panose="020B0604020202020204" pitchFamily="34" charset="0"/>
              <a:buChar char="•"/>
            </a:pPr>
            <a:r>
              <a:rPr lang="en-GB" sz="1600" dirty="0"/>
              <a:t>There is a dividing line between insane automatism (cause is internal, such as disease) and non-insane automatism (cause is external i.e. concussion from a blow to the head).</a:t>
            </a:r>
          </a:p>
          <a:p>
            <a:pPr>
              <a:buFont typeface="Arial" panose="020B0604020202020204" pitchFamily="34" charset="0"/>
              <a:buChar char="•"/>
            </a:pPr>
            <a:r>
              <a:rPr lang="en-GB" sz="1600" dirty="0"/>
              <a:t>If automatism is self-induced, it may negative MR for crimes of specific intent but not basic intent.</a:t>
            </a:r>
          </a:p>
          <a:p>
            <a:pPr>
              <a:buFont typeface="Arial" panose="020B0604020202020204" pitchFamily="34" charset="0"/>
              <a:buChar char="•"/>
            </a:pPr>
            <a:r>
              <a:rPr lang="en-GB" sz="1600" dirty="0"/>
              <a:t>Self-induced automatism may lead to acquittal for crimes of basic intent if the cause is not intoxication by alcohol or drugs that are known to be dangerous or any other conduct, and D knew the risk, and unreasonably took it.</a:t>
            </a:r>
          </a:p>
        </p:txBody>
      </p:sp>
    </p:spTree>
    <p:extLst>
      <p:ext uri="{BB962C8B-B14F-4D97-AF65-F5344CB8AC3E}">
        <p14:creationId xmlns:p14="http://schemas.microsoft.com/office/powerpoint/2010/main" val="3407608957"/>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pen Day Presentation">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5DC466676EBC46AA6D894103B834EA" ma:contentTypeVersion="4" ma:contentTypeDescription="Create a new document." ma:contentTypeScope="" ma:versionID="ba0d6e5947a0952b79e872aa26003495">
  <xsd:schema xmlns:xsd="http://www.w3.org/2001/XMLSchema" xmlns:xs="http://www.w3.org/2001/XMLSchema" xmlns:p="http://schemas.microsoft.com/office/2006/metadata/properties" xmlns:ns2="8cb6f0ce-4087-48d0-bd68-6d11fe1cb46f" targetNamespace="http://schemas.microsoft.com/office/2006/metadata/properties" ma:root="true" ma:fieldsID="301b56431b729dd40b1a5f9e2ee95914" ns2:_="">
    <xsd:import namespace="8cb6f0ce-4087-48d0-bd68-6d11fe1cb46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b6f0ce-4087-48d0-bd68-6d11fe1cb4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5A03C52-19D0-423B-A676-D0BCD9D6CB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b6f0ce-4087-48d0-bd68-6d11fe1cb4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42F5EB3-A852-4404-802E-B1768A5C578B}">
  <ds:schemaRefs>
    <ds:schemaRef ds:uri="http://schemas.microsoft.com/sharepoint/v3/contenttype/forms"/>
  </ds:schemaRefs>
</ds:datastoreItem>
</file>

<file path=customXml/itemProps3.xml><?xml version="1.0" encoding="utf-8"?>
<ds:datastoreItem xmlns:ds="http://schemas.openxmlformats.org/officeDocument/2006/customXml" ds:itemID="{EE522EDD-117D-41B9-A02E-C8ABCF65D2D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7328</TotalTime>
  <Words>2596</Words>
  <Application>Microsoft Macintosh PowerPoint</Application>
  <PresentationFormat>On-screen Show (4:3)</PresentationFormat>
  <Paragraphs>143</Paragraphs>
  <Slides>20</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Times New Roman</vt:lpstr>
      <vt:lpstr>Calibri</vt:lpstr>
      <vt:lpstr>Wingdings</vt:lpstr>
      <vt:lpstr>Times</vt:lpstr>
      <vt:lpstr>Courier New</vt:lpstr>
      <vt:lpstr>Arial</vt:lpstr>
      <vt:lpstr>Blank</vt:lpstr>
      <vt:lpstr>Open Day Presentation</vt:lpstr>
      <vt:lpstr>Criminal Law, Lecture 16: Automatism </vt:lpstr>
      <vt:lpstr>Denial of Crime</vt:lpstr>
      <vt:lpstr>Denial of a crime</vt:lpstr>
      <vt:lpstr>(Sane) Automatism: Definition</vt:lpstr>
      <vt:lpstr>(Sane) Automatism: Operation</vt:lpstr>
      <vt:lpstr>Operation cont…</vt:lpstr>
      <vt:lpstr>Automatism: Elements</vt:lpstr>
      <vt:lpstr>Complete Loss of Voluntary Control</vt:lpstr>
      <vt:lpstr>Caused by an External Factor</vt:lpstr>
      <vt:lpstr>Mental States: Internal or External?</vt:lpstr>
      <vt:lpstr>Diabetes: Internal or External?</vt:lpstr>
      <vt:lpstr>Somnambulism (sleep walking)</vt:lpstr>
      <vt:lpstr>D Not At Fault</vt:lpstr>
      <vt:lpstr>Understanding ‘prior fault’</vt:lpstr>
      <vt:lpstr>Deciding Fault</vt:lpstr>
      <vt:lpstr>‘any other conduct’</vt:lpstr>
      <vt:lpstr>Problem based questions</vt:lpstr>
      <vt:lpstr>PowerPoint Presentation</vt:lpstr>
      <vt:lpstr>Essay questions</vt:lpstr>
      <vt:lpstr>Summary: Automatism</vt:lpstr>
    </vt:vector>
  </TitlesOfParts>
  <Company>MUFC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style for title slide</dc:title>
  <dc:creator>Eric</dc:creator>
  <cp:lastModifiedBy>LANGLEY, KAT L.</cp:lastModifiedBy>
  <cp:revision>88</cp:revision>
  <dcterms:created xsi:type="dcterms:W3CDTF">2005-05-25T16:21:13Z</dcterms:created>
  <dcterms:modified xsi:type="dcterms:W3CDTF">2025-02-11T12:47:15Z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0x010100125DC466676EBC46AA6D894103B834EA</vt:lpwstr>
  </property>
</Properties>
</file>