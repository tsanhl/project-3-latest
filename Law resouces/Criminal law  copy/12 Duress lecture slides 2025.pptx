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26"/>
  </p:notesMasterIdLst>
  <p:sldIdLst>
    <p:sldId id="295" r:id="rId5"/>
    <p:sldId id="296" r:id="rId6"/>
    <p:sldId id="299" r:id="rId7"/>
    <p:sldId id="300" r:id="rId8"/>
    <p:sldId id="305" r:id="rId9"/>
    <p:sldId id="308" r:id="rId10"/>
    <p:sldId id="314" r:id="rId11"/>
    <p:sldId id="309" r:id="rId12"/>
    <p:sldId id="315" r:id="rId13"/>
    <p:sldId id="301" r:id="rId14"/>
    <p:sldId id="303" r:id="rId15"/>
    <p:sldId id="316" r:id="rId16"/>
    <p:sldId id="319" r:id="rId17"/>
    <p:sldId id="320" r:id="rId18"/>
    <p:sldId id="321" r:id="rId19"/>
    <p:sldId id="322" r:id="rId20"/>
    <p:sldId id="323" r:id="rId21"/>
    <p:sldId id="327" r:id="rId22"/>
    <p:sldId id="329" r:id="rId23"/>
    <p:sldId id="318" r:id="rId24"/>
    <p:sldId id="328" r:id="rId25"/>
  </p:sldIdLst>
  <p:sldSz cx="12192000" cy="6858000"/>
  <p:notesSz cx="6858000" cy="9144000"/>
  <p:embeddedFontLst>
    <p:embeddedFont>
      <p:font typeface="Candara" panose="020E0502030303020204" pitchFamily="34" charset="0"/>
      <p:regular r:id="rId27"/>
      <p:bold r:id="rId28"/>
      <p:italic r:id="rId29"/>
      <p:boldItalic r:id="rId30"/>
    </p:embeddedFont>
    <p:embeddedFont>
      <p:font typeface="Times"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825" autoAdjust="0"/>
    <p:restoredTop sz="94660"/>
  </p:normalViewPr>
  <p:slideViewPr>
    <p:cSldViewPr snapToGrid="0">
      <p:cViewPr varScale="1">
        <p:scale>
          <a:sx n="88" d="100"/>
          <a:sy n="88" d="100"/>
        </p:scale>
        <p:origin x="184" y="7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771DB5-86F9-4971-9BBE-AA78256F50CB}"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737B6F4-353E-45C9-B02E-3887B55689B0}">
      <dgm:prSet custT="1"/>
      <dgm:spPr>
        <a:xfrm>
          <a:off x="875296" y="206800"/>
          <a:ext cx="7138234" cy="1094469"/>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gm:spPr>
      <dgm:t>
        <a:bodyPr/>
        <a:lstStyle/>
        <a:p>
          <a:pPr>
            <a:buNone/>
          </a:pPr>
          <a:r>
            <a:rPr lang="en-GB" sz="3200" b="1" dirty="0">
              <a:effectLst/>
              <a:latin typeface="Candara" panose="020E0502030303020204" pitchFamily="34" charset="0"/>
            </a:rPr>
            <a:t>Exclusions</a:t>
          </a:r>
          <a:endParaRPr lang="en-US" sz="3200" dirty="0">
            <a:solidFill>
              <a:sysClr val="windowText" lastClr="000000">
                <a:hueOff val="0"/>
                <a:satOff val="0"/>
                <a:lumOff val="0"/>
                <a:alphaOff val="0"/>
              </a:sysClr>
            </a:solidFill>
            <a:latin typeface="Candara" panose="020E0502030303020204" pitchFamily="34" charset="0"/>
            <a:ea typeface="+mn-ea"/>
            <a:cs typeface="+mn-cs"/>
          </a:endParaRPr>
        </a:p>
      </dgm:t>
    </dgm:pt>
    <dgm:pt modelId="{8520DA97-B36D-4E5D-A801-8A59E622EFD8}" type="parTrans" cxnId="{0BC122D9-4274-40C3-8006-E9E529299522}">
      <dgm:prSet/>
      <dgm:spPr/>
      <dgm:t>
        <a:bodyPr/>
        <a:lstStyle/>
        <a:p>
          <a:endParaRPr lang="en-US"/>
        </a:p>
      </dgm:t>
    </dgm:pt>
    <dgm:pt modelId="{E3A27FC2-C397-46A7-8FB7-4BE4D9FD6EED}" type="sibTrans" cxnId="{0BC122D9-4274-40C3-8006-E9E529299522}">
      <dgm:prSet/>
      <dgm:spPr/>
      <dgm:t>
        <a:bodyPr/>
        <a:lstStyle/>
        <a:p>
          <a:endParaRPr lang="en-US"/>
        </a:p>
      </dgm:t>
    </dgm:pt>
    <dgm:pt modelId="{8FDC7BF2-D035-4F22-9899-09FD659A3CC4}">
      <dgm:prSet custT="1"/>
      <dgm:spPr>
        <a:xfrm>
          <a:off x="1385852" y="1779044"/>
          <a:ext cx="3412797" cy="1094469"/>
        </a:xfr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gm:spPr>
      <dgm:t>
        <a:bodyPr/>
        <a:lstStyle/>
        <a:p>
          <a:pPr marL="0" lvl="0" indent="0" algn="ctr" defTabSz="1289050">
            <a:lnSpc>
              <a:spcPct val="90000"/>
            </a:lnSpc>
            <a:spcBef>
              <a:spcPct val="0"/>
            </a:spcBef>
            <a:spcAft>
              <a:spcPct val="35000"/>
            </a:spcAft>
            <a:buNone/>
          </a:pPr>
          <a:r>
            <a:rPr lang="en-GB" sz="3200" b="1" kern="1200" dirty="0">
              <a:solidFill>
                <a:srgbClr val="C00000"/>
              </a:solidFill>
              <a:effectLst/>
              <a:latin typeface="Candara" panose="020E0502030303020204" pitchFamily="34" charset="0"/>
            </a:rPr>
            <a:t>X’s threat and demand</a:t>
          </a:r>
          <a:endParaRPr lang="en-US" sz="3200" kern="1200" dirty="0">
            <a:solidFill>
              <a:sysClr val="windowText" lastClr="000000">
                <a:hueOff val="0"/>
                <a:satOff val="0"/>
                <a:lumOff val="0"/>
                <a:alphaOff val="0"/>
              </a:sysClr>
            </a:solidFill>
            <a:latin typeface="Candara" panose="020E0502030303020204" pitchFamily="34" charset="0"/>
            <a:ea typeface="+mn-ea"/>
            <a:cs typeface="+mn-cs"/>
          </a:endParaRPr>
        </a:p>
      </dgm:t>
    </dgm:pt>
    <dgm:pt modelId="{BE3642AC-3DC6-46C3-BA47-94F51FD10E4E}" type="parTrans" cxnId="{1B46A2F5-59C6-4BA7-A375-343F4763E5FB}">
      <dgm:prSet/>
      <dgm:spPr>
        <a:xfrm>
          <a:off x="2900742" y="1119336"/>
          <a:ext cx="1352163" cy="477774"/>
        </a:xfrm>
        <a:custGeom>
          <a:avLst/>
          <a:gdLst/>
          <a:ahLst/>
          <a:cxnLst/>
          <a:rect l="0" t="0" r="0" b="0"/>
          <a:pathLst>
            <a:path>
              <a:moveTo>
                <a:pt x="1352163" y="0"/>
              </a:moveTo>
              <a:lnTo>
                <a:pt x="1352163" y="318104"/>
              </a:lnTo>
              <a:lnTo>
                <a:pt x="0" y="318104"/>
              </a:lnTo>
              <a:lnTo>
                <a:pt x="0" y="477774"/>
              </a:lnTo>
            </a:path>
          </a:pathLst>
        </a:custGeom>
        <a:noFill/>
        <a:ln w="15875" cap="flat" cmpd="sng" algn="ctr">
          <a:solidFill>
            <a:srgbClr val="44709D">
              <a:hueOff val="0"/>
              <a:satOff val="0"/>
              <a:lumOff val="0"/>
              <a:alphaOff val="0"/>
            </a:srgbClr>
          </a:solidFill>
          <a:prstDash val="solid"/>
        </a:ln>
        <a:effectLst/>
      </dgm:spPr>
      <dgm:t>
        <a:bodyPr/>
        <a:lstStyle/>
        <a:p>
          <a:endParaRPr lang="en-US"/>
        </a:p>
      </dgm:t>
    </dgm:pt>
    <dgm:pt modelId="{F69F82F4-8DF6-4600-82E4-3055B55F659A}" type="sibTrans" cxnId="{1B46A2F5-59C6-4BA7-A375-343F4763E5FB}">
      <dgm:prSet/>
      <dgm:spPr/>
      <dgm:t>
        <a:bodyPr/>
        <a:lstStyle/>
        <a:p>
          <a:endParaRPr lang="en-US"/>
        </a:p>
      </dgm:t>
    </dgm:pt>
    <dgm:pt modelId="{B1C96D6E-6CAF-4131-970D-A9BA6CEE8D06}">
      <dgm:prSet custT="1"/>
      <dgm:spPr>
        <a:xfrm>
          <a:off x="5833315" y="1684449"/>
          <a:ext cx="3225186" cy="1094469"/>
        </a:xfr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gm:spPr>
      <dgm:t>
        <a:bodyPr/>
        <a:lstStyle/>
        <a:p>
          <a:pPr>
            <a:buNone/>
          </a:pPr>
          <a:r>
            <a:rPr lang="en-GB" sz="2900" b="1" kern="1200" dirty="0">
              <a:solidFill>
                <a:schemeClr val="accent2"/>
              </a:solidFill>
              <a:effectLst/>
              <a:latin typeface="Candara" panose="020E0502030303020204" pitchFamily="34" charset="0"/>
            </a:rPr>
            <a:t>D’s response</a:t>
          </a:r>
          <a:r>
            <a:rPr lang="en-GB" sz="2900" kern="1200" dirty="0">
              <a:solidFill>
                <a:sysClr val="windowText" lastClr="000000">
                  <a:hueOff val="0"/>
                  <a:satOff val="0"/>
                  <a:lumOff val="0"/>
                  <a:alphaOff val="0"/>
                </a:sysClr>
              </a:solidFill>
              <a:latin typeface="Candara" panose="020E0502030303020204" pitchFamily="34" charset="0"/>
              <a:ea typeface="+mn-ea"/>
              <a:cs typeface="+mn-cs"/>
            </a:rPr>
            <a:t> </a:t>
          </a:r>
          <a:endParaRPr lang="en-US" sz="2900" kern="1200" dirty="0">
            <a:solidFill>
              <a:sysClr val="windowText" lastClr="000000">
                <a:hueOff val="0"/>
                <a:satOff val="0"/>
                <a:lumOff val="0"/>
                <a:alphaOff val="0"/>
              </a:sysClr>
            </a:solidFill>
            <a:latin typeface="Candara" panose="020E0502030303020204" pitchFamily="34" charset="0"/>
            <a:ea typeface="+mn-ea"/>
            <a:cs typeface="+mn-cs"/>
          </a:endParaRPr>
        </a:p>
      </dgm:t>
    </dgm:pt>
    <dgm:pt modelId="{F2DCE33E-71BA-4338-9646-8EE5C107B40D}" type="parTrans" cxnId="{6D723F3A-C6D4-4666-BE3C-6FCEDCC8C589}">
      <dgm:prSet/>
      <dgm:spPr>
        <a:xfrm>
          <a:off x="4252905" y="1119336"/>
          <a:ext cx="3001494" cy="383179"/>
        </a:xfrm>
        <a:noFill/>
        <a:ln w="15875" cap="flat" cmpd="sng" algn="ctr">
          <a:solidFill>
            <a:srgbClr val="44709D">
              <a:hueOff val="0"/>
              <a:satOff val="0"/>
              <a:lumOff val="0"/>
              <a:alphaOff val="0"/>
            </a:srgbClr>
          </a:solidFill>
          <a:prstDash val="solid"/>
        </a:ln>
        <a:effectLst/>
      </dgm:spPr>
      <dgm:t>
        <a:bodyPr/>
        <a:lstStyle/>
        <a:p>
          <a:endParaRPr lang="en-US"/>
        </a:p>
      </dgm:t>
    </dgm:pt>
    <dgm:pt modelId="{74130F52-77FA-4236-A80C-555284A3B3B5}" type="sibTrans" cxnId="{6D723F3A-C6D4-4666-BE3C-6FCEDCC8C589}">
      <dgm:prSet/>
      <dgm:spPr/>
      <dgm:t>
        <a:bodyPr/>
        <a:lstStyle/>
        <a:p>
          <a:endParaRPr lang="en-US"/>
        </a:p>
      </dgm:t>
    </dgm:pt>
    <dgm:pt modelId="{AE630D34-0A3F-5748-AF97-586A27B096AA}" type="pres">
      <dgm:prSet presAssocID="{21771DB5-86F9-4971-9BBE-AA78256F50CB}" presName="hierChild1" presStyleCnt="0">
        <dgm:presLayoutVars>
          <dgm:chPref val="1"/>
          <dgm:dir/>
          <dgm:animOne val="branch"/>
          <dgm:animLvl val="lvl"/>
          <dgm:resizeHandles/>
        </dgm:presLayoutVars>
      </dgm:prSet>
      <dgm:spPr/>
    </dgm:pt>
    <dgm:pt modelId="{BEE6A067-24DA-B746-A8E1-2F055269751C}" type="pres">
      <dgm:prSet presAssocID="{2737B6F4-353E-45C9-B02E-3887B55689B0}" presName="hierRoot1" presStyleCnt="0"/>
      <dgm:spPr/>
    </dgm:pt>
    <dgm:pt modelId="{F5AB4841-E558-6343-A77C-09CA621A8EF5}" type="pres">
      <dgm:prSet presAssocID="{2737B6F4-353E-45C9-B02E-3887B55689B0}" presName="composite" presStyleCnt="0"/>
      <dgm:spPr/>
    </dgm:pt>
    <dgm:pt modelId="{F7CA6306-0E5D-D543-8582-339840EE2145}" type="pres">
      <dgm:prSet presAssocID="{2737B6F4-353E-45C9-B02E-3887B55689B0}" presName="background" presStyleLbl="node0" presStyleIdx="0" presStyleCnt="3"/>
      <dgm:spPr>
        <a:xfrm>
          <a:off x="683788" y="24867"/>
          <a:ext cx="7138234" cy="1094469"/>
        </a:xfrm>
        <a:prstGeom prst="roundRect">
          <a:avLst>
            <a:gd name="adj" fmla="val 10000"/>
          </a:avLst>
        </a:prstGeom>
        <a:solidFill>
          <a:srgbClr val="83992A">
            <a:hueOff val="0"/>
            <a:satOff val="0"/>
            <a:lumOff val="0"/>
            <a:alphaOff val="0"/>
          </a:srgbClr>
        </a:solidFill>
        <a:ln w="15875" cap="flat" cmpd="sng" algn="ctr">
          <a:solidFill>
            <a:sysClr val="window" lastClr="FFFFFF">
              <a:hueOff val="0"/>
              <a:satOff val="0"/>
              <a:lumOff val="0"/>
              <a:alphaOff val="0"/>
            </a:sysClr>
          </a:solidFill>
          <a:prstDash val="solid"/>
        </a:ln>
        <a:effectLst/>
      </dgm:spPr>
    </dgm:pt>
    <dgm:pt modelId="{2E801D5E-B864-1840-B91F-44A4EE90860D}" type="pres">
      <dgm:prSet presAssocID="{2737B6F4-353E-45C9-B02E-3887B55689B0}" presName="text" presStyleLbl="fgAcc0" presStyleIdx="0" presStyleCnt="3" custScaleX="131314" custLinFactNeighborX="-26221" custLinFactNeighborY="2147">
        <dgm:presLayoutVars>
          <dgm:chPref val="3"/>
        </dgm:presLayoutVars>
      </dgm:prSet>
      <dgm:spPr/>
    </dgm:pt>
    <dgm:pt modelId="{40B01BC6-D360-CE41-BB02-FA375762F2AF}" type="pres">
      <dgm:prSet presAssocID="{2737B6F4-353E-45C9-B02E-3887B55689B0}" presName="hierChild2" presStyleCnt="0"/>
      <dgm:spPr/>
    </dgm:pt>
    <dgm:pt modelId="{B87AB2E2-3B4A-2A48-96B9-9BADC39B100D}" type="pres">
      <dgm:prSet presAssocID="{8FDC7BF2-D035-4F22-9899-09FD659A3CC4}" presName="hierRoot1" presStyleCnt="0"/>
      <dgm:spPr/>
    </dgm:pt>
    <dgm:pt modelId="{AC8BCDB6-DD21-4E4A-9928-5767E395B337}" type="pres">
      <dgm:prSet presAssocID="{8FDC7BF2-D035-4F22-9899-09FD659A3CC4}" presName="composite" presStyleCnt="0"/>
      <dgm:spPr/>
    </dgm:pt>
    <dgm:pt modelId="{03B66309-202D-BC43-B15A-6E1C081528BA}" type="pres">
      <dgm:prSet presAssocID="{8FDC7BF2-D035-4F22-9899-09FD659A3CC4}" presName="background" presStyleLbl="node0" presStyleIdx="1" presStyleCnt="3"/>
      <dgm:spPr/>
    </dgm:pt>
    <dgm:pt modelId="{767239C8-7247-9547-8DDB-9AB180EA28FD}" type="pres">
      <dgm:prSet presAssocID="{8FDC7BF2-D035-4F22-9899-09FD659A3CC4}" presName="text" presStyleLbl="fgAcc0" presStyleIdx="1" presStyleCnt="3" custScaleX="168277">
        <dgm:presLayoutVars>
          <dgm:chPref val="3"/>
        </dgm:presLayoutVars>
      </dgm:prSet>
      <dgm:spPr>
        <a:prstGeom prst="roundRect">
          <a:avLst>
            <a:gd name="adj" fmla="val 10000"/>
          </a:avLst>
        </a:prstGeom>
      </dgm:spPr>
    </dgm:pt>
    <dgm:pt modelId="{920D272C-CA2B-1B4D-827D-01341EFBCF7F}" type="pres">
      <dgm:prSet presAssocID="{8FDC7BF2-D035-4F22-9899-09FD659A3CC4}" presName="hierChild2" presStyleCnt="0"/>
      <dgm:spPr/>
    </dgm:pt>
    <dgm:pt modelId="{A61877E2-427F-D744-AB9F-1200A7DB832F}" type="pres">
      <dgm:prSet presAssocID="{B1C96D6E-6CAF-4131-970D-A9BA6CEE8D06}" presName="hierRoot1" presStyleCnt="0"/>
      <dgm:spPr/>
    </dgm:pt>
    <dgm:pt modelId="{7A2693A5-1FEA-304D-8D98-D338F8CFC839}" type="pres">
      <dgm:prSet presAssocID="{B1C96D6E-6CAF-4131-970D-A9BA6CEE8D06}" presName="composite" presStyleCnt="0"/>
      <dgm:spPr/>
    </dgm:pt>
    <dgm:pt modelId="{637891E0-0267-E64A-9E7F-54FF0EE555B4}" type="pres">
      <dgm:prSet presAssocID="{B1C96D6E-6CAF-4131-970D-A9BA6CEE8D06}" presName="background" presStyleLbl="node0" presStyleIdx="2" presStyleCnt="3"/>
      <dgm:spPr/>
    </dgm:pt>
    <dgm:pt modelId="{632CB958-E783-9B4B-ACE5-21BF14FBD72A}" type="pres">
      <dgm:prSet presAssocID="{B1C96D6E-6CAF-4131-970D-A9BA6CEE8D06}" presName="text" presStyleLbl="fgAcc0" presStyleIdx="2" presStyleCnt="3" custScaleX="120321">
        <dgm:presLayoutVars>
          <dgm:chPref val="3"/>
        </dgm:presLayoutVars>
      </dgm:prSet>
      <dgm:spPr/>
    </dgm:pt>
    <dgm:pt modelId="{12378D56-6C83-274B-880C-5EABA739ABD7}" type="pres">
      <dgm:prSet presAssocID="{B1C96D6E-6CAF-4131-970D-A9BA6CEE8D06}" presName="hierChild2" presStyleCnt="0"/>
      <dgm:spPr/>
    </dgm:pt>
  </dgm:ptLst>
  <dgm:cxnLst>
    <dgm:cxn modelId="{2954972B-C00C-D94C-8303-B74190119AE0}" type="presOf" srcId="{B1C96D6E-6CAF-4131-970D-A9BA6CEE8D06}" destId="{632CB958-E783-9B4B-ACE5-21BF14FBD72A}" srcOrd="0" destOrd="0" presId="urn:microsoft.com/office/officeart/2005/8/layout/hierarchy1"/>
    <dgm:cxn modelId="{6D723F3A-C6D4-4666-BE3C-6FCEDCC8C589}" srcId="{21771DB5-86F9-4971-9BBE-AA78256F50CB}" destId="{B1C96D6E-6CAF-4131-970D-A9BA6CEE8D06}" srcOrd="2" destOrd="0" parTransId="{F2DCE33E-71BA-4338-9646-8EE5C107B40D}" sibTransId="{74130F52-77FA-4236-A80C-555284A3B3B5}"/>
    <dgm:cxn modelId="{8BA70574-EB95-B945-9F49-90ACD5555378}" type="presOf" srcId="{21771DB5-86F9-4971-9BBE-AA78256F50CB}" destId="{AE630D34-0A3F-5748-AF97-586A27B096AA}" srcOrd="0" destOrd="0" presId="urn:microsoft.com/office/officeart/2005/8/layout/hierarchy1"/>
    <dgm:cxn modelId="{90A4BD7D-6B27-DE48-8811-23A68B69BA78}" type="presOf" srcId="{8FDC7BF2-D035-4F22-9899-09FD659A3CC4}" destId="{767239C8-7247-9547-8DDB-9AB180EA28FD}" srcOrd="0" destOrd="0" presId="urn:microsoft.com/office/officeart/2005/8/layout/hierarchy1"/>
    <dgm:cxn modelId="{7E9A9ABC-28AF-E146-8F39-495146251384}" type="presOf" srcId="{2737B6F4-353E-45C9-B02E-3887B55689B0}" destId="{2E801D5E-B864-1840-B91F-44A4EE90860D}" srcOrd="0" destOrd="0" presId="urn:microsoft.com/office/officeart/2005/8/layout/hierarchy1"/>
    <dgm:cxn modelId="{0BC122D9-4274-40C3-8006-E9E529299522}" srcId="{21771DB5-86F9-4971-9BBE-AA78256F50CB}" destId="{2737B6F4-353E-45C9-B02E-3887B55689B0}" srcOrd="0" destOrd="0" parTransId="{8520DA97-B36D-4E5D-A801-8A59E622EFD8}" sibTransId="{E3A27FC2-C397-46A7-8FB7-4BE4D9FD6EED}"/>
    <dgm:cxn modelId="{1B46A2F5-59C6-4BA7-A375-343F4763E5FB}" srcId="{21771DB5-86F9-4971-9BBE-AA78256F50CB}" destId="{8FDC7BF2-D035-4F22-9899-09FD659A3CC4}" srcOrd="1" destOrd="0" parTransId="{BE3642AC-3DC6-46C3-BA47-94F51FD10E4E}" sibTransId="{F69F82F4-8DF6-4600-82E4-3055B55F659A}"/>
    <dgm:cxn modelId="{DD6A5E0E-CD60-FD44-B0AF-9C474E192B3B}" type="presParOf" srcId="{AE630D34-0A3F-5748-AF97-586A27B096AA}" destId="{BEE6A067-24DA-B746-A8E1-2F055269751C}" srcOrd="0" destOrd="0" presId="urn:microsoft.com/office/officeart/2005/8/layout/hierarchy1"/>
    <dgm:cxn modelId="{2F2DF361-BAB5-DC4F-BBC1-5E5C8F3BB0BE}" type="presParOf" srcId="{BEE6A067-24DA-B746-A8E1-2F055269751C}" destId="{F5AB4841-E558-6343-A77C-09CA621A8EF5}" srcOrd="0" destOrd="0" presId="urn:microsoft.com/office/officeart/2005/8/layout/hierarchy1"/>
    <dgm:cxn modelId="{C94E6F1E-B1AE-6F4B-867E-F11267DAED94}" type="presParOf" srcId="{F5AB4841-E558-6343-A77C-09CA621A8EF5}" destId="{F7CA6306-0E5D-D543-8582-339840EE2145}" srcOrd="0" destOrd="0" presId="urn:microsoft.com/office/officeart/2005/8/layout/hierarchy1"/>
    <dgm:cxn modelId="{66931A1F-D73E-B047-A58E-EB766B76FD86}" type="presParOf" srcId="{F5AB4841-E558-6343-A77C-09CA621A8EF5}" destId="{2E801D5E-B864-1840-B91F-44A4EE90860D}" srcOrd="1" destOrd="0" presId="urn:microsoft.com/office/officeart/2005/8/layout/hierarchy1"/>
    <dgm:cxn modelId="{44508621-CE1D-714E-8565-6529268ABA7B}" type="presParOf" srcId="{BEE6A067-24DA-B746-A8E1-2F055269751C}" destId="{40B01BC6-D360-CE41-BB02-FA375762F2AF}" srcOrd="1" destOrd="0" presId="urn:microsoft.com/office/officeart/2005/8/layout/hierarchy1"/>
    <dgm:cxn modelId="{3F18E051-E1B8-1147-99F8-D171269CE214}" type="presParOf" srcId="{AE630D34-0A3F-5748-AF97-586A27B096AA}" destId="{B87AB2E2-3B4A-2A48-96B9-9BADC39B100D}" srcOrd="1" destOrd="0" presId="urn:microsoft.com/office/officeart/2005/8/layout/hierarchy1"/>
    <dgm:cxn modelId="{4D948C7E-5F44-7E43-BFFA-5E49F67FAAC6}" type="presParOf" srcId="{B87AB2E2-3B4A-2A48-96B9-9BADC39B100D}" destId="{AC8BCDB6-DD21-4E4A-9928-5767E395B337}" srcOrd="0" destOrd="0" presId="urn:microsoft.com/office/officeart/2005/8/layout/hierarchy1"/>
    <dgm:cxn modelId="{D963B0A2-8A73-6249-9152-2464F983C7B1}" type="presParOf" srcId="{AC8BCDB6-DD21-4E4A-9928-5767E395B337}" destId="{03B66309-202D-BC43-B15A-6E1C081528BA}" srcOrd="0" destOrd="0" presId="urn:microsoft.com/office/officeart/2005/8/layout/hierarchy1"/>
    <dgm:cxn modelId="{A3F4C8C6-064B-3A47-81A8-DFB040246F9B}" type="presParOf" srcId="{AC8BCDB6-DD21-4E4A-9928-5767E395B337}" destId="{767239C8-7247-9547-8DDB-9AB180EA28FD}" srcOrd="1" destOrd="0" presId="urn:microsoft.com/office/officeart/2005/8/layout/hierarchy1"/>
    <dgm:cxn modelId="{AD4D960E-6D74-7844-921D-90C04D923F02}" type="presParOf" srcId="{B87AB2E2-3B4A-2A48-96B9-9BADC39B100D}" destId="{920D272C-CA2B-1B4D-827D-01341EFBCF7F}" srcOrd="1" destOrd="0" presId="urn:microsoft.com/office/officeart/2005/8/layout/hierarchy1"/>
    <dgm:cxn modelId="{30B45923-1E70-9C49-856E-90C0B37D225F}" type="presParOf" srcId="{AE630D34-0A3F-5748-AF97-586A27B096AA}" destId="{A61877E2-427F-D744-AB9F-1200A7DB832F}" srcOrd="2" destOrd="0" presId="urn:microsoft.com/office/officeart/2005/8/layout/hierarchy1"/>
    <dgm:cxn modelId="{721901E4-939D-7446-B0B3-7BEE490FE0F8}" type="presParOf" srcId="{A61877E2-427F-D744-AB9F-1200A7DB832F}" destId="{7A2693A5-1FEA-304D-8D98-D338F8CFC839}" srcOrd="0" destOrd="0" presId="urn:microsoft.com/office/officeart/2005/8/layout/hierarchy1"/>
    <dgm:cxn modelId="{02F6F3DD-EC7E-3947-A16E-B8E8838CB5A9}" type="presParOf" srcId="{7A2693A5-1FEA-304D-8D98-D338F8CFC839}" destId="{637891E0-0267-E64A-9E7F-54FF0EE555B4}" srcOrd="0" destOrd="0" presId="urn:microsoft.com/office/officeart/2005/8/layout/hierarchy1"/>
    <dgm:cxn modelId="{007D473C-3FC8-654D-82D6-99217E225A49}" type="presParOf" srcId="{7A2693A5-1FEA-304D-8D98-D338F8CFC839}" destId="{632CB958-E783-9B4B-ACE5-21BF14FBD72A}" srcOrd="1" destOrd="0" presId="urn:microsoft.com/office/officeart/2005/8/layout/hierarchy1"/>
    <dgm:cxn modelId="{51C069A3-5949-5D47-8EDE-10536B41BF9E}" type="presParOf" srcId="{A61877E2-427F-D744-AB9F-1200A7DB832F}" destId="{12378D56-6C83-274B-880C-5EABA739ABD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771DB5-86F9-4971-9BBE-AA78256F50CB}"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737B6F4-353E-45C9-B02E-3887B55689B0}">
      <dgm:prSet/>
      <dgm:spPr>
        <a:xfrm>
          <a:off x="875296" y="206800"/>
          <a:ext cx="7138234" cy="1094469"/>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gm:spPr>
      <dgm:t>
        <a:bodyPr/>
        <a:lstStyle/>
        <a:p>
          <a:pPr>
            <a:buNone/>
          </a:pPr>
          <a:r>
            <a:rPr lang="en-GB" dirty="0">
              <a:solidFill>
                <a:sysClr val="windowText" lastClr="000000">
                  <a:hueOff val="0"/>
                  <a:satOff val="0"/>
                  <a:lumOff val="0"/>
                  <a:alphaOff val="0"/>
                </a:sysClr>
              </a:solidFill>
              <a:latin typeface="Candara" panose="020E0502030303020204" pitchFamily="34" charset="0"/>
              <a:ea typeface="+mn-ea"/>
              <a:cs typeface="+mn-cs"/>
            </a:rPr>
            <a:t>There are two areas where duress will be excluded </a:t>
          </a:r>
          <a:endParaRPr lang="en-US" dirty="0">
            <a:solidFill>
              <a:sysClr val="windowText" lastClr="000000">
                <a:hueOff val="0"/>
                <a:satOff val="0"/>
                <a:lumOff val="0"/>
                <a:alphaOff val="0"/>
              </a:sysClr>
            </a:solidFill>
            <a:latin typeface="Candara" panose="020E0502030303020204" pitchFamily="34" charset="0"/>
            <a:ea typeface="+mn-ea"/>
            <a:cs typeface="+mn-cs"/>
          </a:endParaRPr>
        </a:p>
      </dgm:t>
    </dgm:pt>
    <dgm:pt modelId="{8520DA97-B36D-4E5D-A801-8A59E622EFD8}" type="parTrans" cxnId="{0BC122D9-4274-40C3-8006-E9E529299522}">
      <dgm:prSet/>
      <dgm:spPr/>
      <dgm:t>
        <a:bodyPr/>
        <a:lstStyle/>
        <a:p>
          <a:endParaRPr lang="en-US"/>
        </a:p>
      </dgm:t>
    </dgm:pt>
    <dgm:pt modelId="{E3A27FC2-C397-46A7-8FB7-4BE4D9FD6EED}" type="sibTrans" cxnId="{0BC122D9-4274-40C3-8006-E9E529299522}">
      <dgm:prSet/>
      <dgm:spPr/>
      <dgm:t>
        <a:bodyPr/>
        <a:lstStyle/>
        <a:p>
          <a:endParaRPr lang="en-US"/>
        </a:p>
      </dgm:t>
    </dgm:pt>
    <dgm:pt modelId="{8FDC7BF2-D035-4F22-9899-09FD659A3CC4}">
      <dgm:prSet custT="1"/>
      <dgm:spPr>
        <a:xfrm>
          <a:off x="1385852" y="1779044"/>
          <a:ext cx="3412797" cy="1094469"/>
        </a:xfrm>
        <a:prstGeom prst="roundRect">
          <a:avLst>
            <a:gd name="adj" fmla="val 10000"/>
          </a:avLst>
        </a:prstGeo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gm:spPr>
      <dgm:t>
        <a:bodyPr/>
        <a:lstStyle/>
        <a:p>
          <a:pPr marL="0" lvl="0" indent="0" algn="ctr" defTabSz="1289050">
            <a:lnSpc>
              <a:spcPct val="90000"/>
            </a:lnSpc>
            <a:spcBef>
              <a:spcPct val="0"/>
            </a:spcBef>
            <a:spcAft>
              <a:spcPct val="35000"/>
            </a:spcAft>
            <a:buNone/>
          </a:pPr>
          <a:r>
            <a:rPr lang="en-GB" sz="2900" kern="1200" dirty="0">
              <a:solidFill>
                <a:sysClr val="windowText" lastClr="000000">
                  <a:hueOff val="0"/>
                  <a:satOff val="0"/>
                  <a:lumOff val="0"/>
                  <a:alphaOff val="0"/>
                </a:sysClr>
              </a:solidFill>
              <a:latin typeface="Candara" panose="020E0502030303020204" pitchFamily="34" charset="0"/>
              <a:ea typeface="+mn-ea"/>
              <a:cs typeface="+mn-cs"/>
            </a:rPr>
            <a:t>In relation to certain offences</a:t>
          </a:r>
          <a:endParaRPr lang="en-US" sz="2900" kern="1200" dirty="0">
            <a:solidFill>
              <a:sysClr val="windowText" lastClr="000000">
                <a:hueOff val="0"/>
                <a:satOff val="0"/>
                <a:lumOff val="0"/>
                <a:alphaOff val="0"/>
              </a:sysClr>
            </a:solidFill>
            <a:latin typeface="Candara" panose="020E0502030303020204" pitchFamily="34" charset="0"/>
            <a:ea typeface="+mn-ea"/>
            <a:cs typeface="+mn-cs"/>
          </a:endParaRPr>
        </a:p>
      </dgm:t>
    </dgm:pt>
    <dgm:pt modelId="{BE3642AC-3DC6-46C3-BA47-94F51FD10E4E}" type="parTrans" cxnId="{1B46A2F5-59C6-4BA7-A375-343F4763E5FB}">
      <dgm:prSet/>
      <dgm:spPr>
        <a:xfrm>
          <a:off x="2900742" y="1119336"/>
          <a:ext cx="1352163" cy="477774"/>
        </a:xfrm>
        <a:custGeom>
          <a:avLst/>
          <a:gdLst/>
          <a:ahLst/>
          <a:cxnLst/>
          <a:rect l="0" t="0" r="0" b="0"/>
          <a:pathLst>
            <a:path>
              <a:moveTo>
                <a:pt x="1352163" y="0"/>
              </a:moveTo>
              <a:lnTo>
                <a:pt x="1352163" y="318104"/>
              </a:lnTo>
              <a:lnTo>
                <a:pt x="0" y="318104"/>
              </a:lnTo>
              <a:lnTo>
                <a:pt x="0" y="477774"/>
              </a:lnTo>
            </a:path>
          </a:pathLst>
        </a:custGeom>
        <a:noFill/>
        <a:ln w="15875" cap="flat" cmpd="sng" algn="ctr">
          <a:solidFill>
            <a:srgbClr val="44709D">
              <a:hueOff val="0"/>
              <a:satOff val="0"/>
              <a:lumOff val="0"/>
              <a:alphaOff val="0"/>
            </a:srgbClr>
          </a:solidFill>
          <a:prstDash val="solid"/>
        </a:ln>
        <a:effectLst/>
      </dgm:spPr>
      <dgm:t>
        <a:bodyPr/>
        <a:lstStyle/>
        <a:p>
          <a:endParaRPr lang="en-US"/>
        </a:p>
      </dgm:t>
    </dgm:pt>
    <dgm:pt modelId="{F69F82F4-8DF6-4600-82E4-3055B55F659A}" type="sibTrans" cxnId="{1B46A2F5-59C6-4BA7-A375-343F4763E5FB}">
      <dgm:prSet/>
      <dgm:spPr/>
      <dgm:t>
        <a:bodyPr/>
        <a:lstStyle/>
        <a:p>
          <a:endParaRPr lang="en-US"/>
        </a:p>
      </dgm:t>
    </dgm:pt>
    <dgm:pt modelId="{B1C96D6E-6CAF-4131-970D-A9BA6CEE8D06}">
      <dgm:prSet custT="1"/>
      <dgm:spPr>
        <a:xfrm>
          <a:off x="5833315" y="1684449"/>
          <a:ext cx="3225186" cy="1094469"/>
        </a:xfrm>
        <a:prstGeom prst="roundRect">
          <a:avLst>
            <a:gd name="adj" fmla="val 10000"/>
          </a:avLst>
        </a:prstGeo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gm:spPr>
      <dgm:t>
        <a:bodyPr/>
        <a:lstStyle/>
        <a:p>
          <a:pPr>
            <a:buNone/>
          </a:pPr>
          <a:r>
            <a:rPr lang="en-GB" sz="2900" kern="1200" dirty="0">
              <a:solidFill>
                <a:sysClr val="windowText" lastClr="000000">
                  <a:hueOff val="0"/>
                  <a:satOff val="0"/>
                  <a:lumOff val="0"/>
                  <a:alphaOff val="0"/>
                </a:sysClr>
              </a:solidFill>
              <a:latin typeface="Candara" panose="020E0502030303020204" pitchFamily="34" charset="0"/>
              <a:ea typeface="+mn-ea"/>
              <a:cs typeface="+mn-cs"/>
            </a:rPr>
            <a:t>In circumstances of prior-fault. </a:t>
          </a:r>
          <a:endParaRPr lang="en-US" sz="2900" kern="1200" dirty="0">
            <a:solidFill>
              <a:sysClr val="windowText" lastClr="000000">
                <a:hueOff val="0"/>
                <a:satOff val="0"/>
                <a:lumOff val="0"/>
                <a:alphaOff val="0"/>
              </a:sysClr>
            </a:solidFill>
            <a:latin typeface="Candara" panose="020E0502030303020204" pitchFamily="34" charset="0"/>
            <a:ea typeface="+mn-ea"/>
            <a:cs typeface="+mn-cs"/>
          </a:endParaRPr>
        </a:p>
      </dgm:t>
    </dgm:pt>
    <dgm:pt modelId="{F2DCE33E-71BA-4338-9646-8EE5C107B40D}" type="parTrans" cxnId="{6D723F3A-C6D4-4666-BE3C-6FCEDCC8C589}">
      <dgm:prSet/>
      <dgm:spPr>
        <a:xfrm>
          <a:off x="4252905" y="1119336"/>
          <a:ext cx="3001494" cy="383179"/>
        </a:xfrm>
        <a:custGeom>
          <a:avLst/>
          <a:gdLst/>
          <a:ahLst/>
          <a:cxnLst/>
          <a:rect l="0" t="0" r="0" b="0"/>
          <a:pathLst>
            <a:path>
              <a:moveTo>
                <a:pt x="0" y="0"/>
              </a:moveTo>
              <a:lnTo>
                <a:pt x="0" y="223509"/>
              </a:lnTo>
              <a:lnTo>
                <a:pt x="3001494" y="223509"/>
              </a:lnTo>
              <a:lnTo>
                <a:pt x="3001494" y="383179"/>
              </a:lnTo>
            </a:path>
          </a:pathLst>
        </a:custGeom>
        <a:noFill/>
        <a:ln w="15875" cap="flat" cmpd="sng" algn="ctr">
          <a:solidFill>
            <a:srgbClr val="44709D">
              <a:hueOff val="0"/>
              <a:satOff val="0"/>
              <a:lumOff val="0"/>
              <a:alphaOff val="0"/>
            </a:srgbClr>
          </a:solidFill>
          <a:prstDash val="solid"/>
        </a:ln>
        <a:effectLst/>
      </dgm:spPr>
      <dgm:t>
        <a:bodyPr/>
        <a:lstStyle/>
        <a:p>
          <a:endParaRPr lang="en-US"/>
        </a:p>
      </dgm:t>
    </dgm:pt>
    <dgm:pt modelId="{74130F52-77FA-4236-A80C-555284A3B3B5}" type="sibTrans" cxnId="{6D723F3A-C6D4-4666-BE3C-6FCEDCC8C589}">
      <dgm:prSet/>
      <dgm:spPr/>
      <dgm:t>
        <a:bodyPr/>
        <a:lstStyle/>
        <a:p>
          <a:endParaRPr lang="en-US"/>
        </a:p>
      </dgm:t>
    </dgm:pt>
    <dgm:pt modelId="{AE630D34-0A3F-5748-AF97-586A27B096AA}" type="pres">
      <dgm:prSet presAssocID="{21771DB5-86F9-4971-9BBE-AA78256F50CB}" presName="hierChild1" presStyleCnt="0">
        <dgm:presLayoutVars>
          <dgm:chPref val="1"/>
          <dgm:dir/>
          <dgm:animOne val="branch"/>
          <dgm:animLvl val="lvl"/>
          <dgm:resizeHandles/>
        </dgm:presLayoutVars>
      </dgm:prSet>
      <dgm:spPr/>
    </dgm:pt>
    <dgm:pt modelId="{BEE6A067-24DA-B746-A8E1-2F055269751C}" type="pres">
      <dgm:prSet presAssocID="{2737B6F4-353E-45C9-B02E-3887B55689B0}" presName="hierRoot1" presStyleCnt="0"/>
      <dgm:spPr/>
    </dgm:pt>
    <dgm:pt modelId="{F5AB4841-E558-6343-A77C-09CA621A8EF5}" type="pres">
      <dgm:prSet presAssocID="{2737B6F4-353E-45C9-B02E-3887B55689B0}" presName="composite" presStyleCnt="0"/>
      <dgm:spPr/>
    </dgm:pt>
    <dgm:pt modelId="{F7CA6306-0E5D-D543-8582-339840EE2145}" type="pres">
      <dgm:prSet presAssocID="{2737B6F4-353E-45C9-B02E-3887B55689B0}" presName="background" presStyleLbl="node0" presStyleIdx="0" presStyleCnt="1"/>
      <dgm:spPr>
        <a:xfrm>
          <a:off x="683788" y="24867"/>
          <a:ext cx="7138234" cy="1094469"/>
        </a:xfrm>
        <a:prstGeom prst="roundRect">
          <a:avLst>
            <a:gd name="adj" fmla="val 10000"/>
          </a:avLst>
        </a:prstGeom>
        <a:solidFill>
          <a:srgbClr val="83992A">
            <a:hueOff val="0"/>
            <a:satOff val="0"/>
            <a:lumOff val="0"/>
            <a:alphaOff val="0"/>
          </a:srgbClr>
        </a:solidFill>
        <a:ln w="15875" cap="flat" cmpd="sng" algn="ctr">
          <a:solidFill>
            <a:sysClr val="window" lastClr="FFFFFF">
              <a:hueOff val="0"/>
              <a:satOff val="0"/>
              <a:lumOff val="0"/>
              <a:alphaOff val="0"/>
            </a:sysClr>
          </a:solidFill>
          <a:prstDash val="solid"/>
        </a:ln>
        <a:effectLst/>
      </dgm:spPr>
    </dgm:pt>
    <dgm:pt modelId="{2E801D5E-B864-1840-B91F-44A4EE90860D}" type="pres">
      <dgm:prSet presAssocID="{2737B6F4-353E-45C9-B02E-3887B55689B0}" presName="text" presStyleLbl="fgAcc0" presStyleIdx="0" presStyleCnt="1" custScaleX="478643" custLinFactNeighborX="-26221" custLinFactNeighborY="2147">
        <dgm:presLayoutVars>
          <dgm:chPref val="3"/>
        </dgm:presLayoutVars>
      </dgm:prSet>
      <dgm:spPr/>
    </dgm:pt>
    <dgm:pt modelId="{40B01BC6-D360-CE41-BB02-FA375762F2AF}" type="pres">
      <dgm:prSet presAssocID="{2737B6F4-353E-45C9-B02E-3887B55689B0}" presName="hierChild2" presStyleCnt="0"/>
      <dgm:spPr/>
    </dgm:pt>
    <dgm:pt modelId="{BC359CCB-A73D-C04D-9027-E206C212D67E}" type="pres">
      <dgm:prSet presAssocID="{BE3642AC-3DC6-46C3-BA47-94F51FD10E4E}" presName="Name10" presStyleLbl="parChTrans1D2" presStyleIdx="0" presStyleCnt="2"/>
      <dgm:spPr/>
    </dgm:pt>
    <dgm:pt modelId="{C7DD6854-4B88-BE44-BC27-984275C2F43A}" type="pres">
      <dgm:prSet presAssocID="{8FDC7BF2-D035-4F22-9899-09FD659A3CC4}" presName="hierRoot2" presStyleCnt="0"/>
      <dgm:spPr/>
    </dgm:pt>
    <dgm:pt modelId="{C98E7DB8-F1F5-4D4E-A26F-3D6CEF67BA59}" type="pres">
      <dgm:prSet presAssocID="{8FDC7BF2-D035-4F22-9899-09FD659A3CC4}" presName="composite2" presStyleCnt="0"/>
      <dgm:spPr/>
    </dgm:pt>
    <dgm:pt modelId="{D7C5038A-8724-7A43-9B50-7C9B1EB98581}" type="pres">
      <dgm:prSet presAssocID="{8FDC7BF2-D035-4F22-9899-09FD659A3CC4}" presName="background2" presStyleLbl="node2" presStyleIdx="0" presStyleCnt="2"/>
      <dgm:spPr>
        <a:xfrm>
          <a:off x="1194343" y="1597111"/>
          <a:ext cx="3412797" cy="1094469"/>
        </a:xfrm>
        <a:prstGeom prst="roundRect">
          <a:avLst>
            <a:gd name="adj" fmla="val 10000"/>
          </a:avLst>
        </a:prstGeom>
        <a:solidFill>
          <a:srgbClr val="44709D">
            <a:hueOff val="0"/>
            <a:satOff val="0"/>
            <a:lumOff val="0"/>
            <a:alphaOff val="0"/>
          </a:srgbClr>
        </a:solidFill>
        <a:ln w="15875" cap="flat" cmpd="sng" algn="ctr">
          <a:solidFill>
            <a:sysClr val="window" lastClr="FFFFFF">
              <a:hueOff val="0"/>
              <a:satOff val="0"/>
              <a:lumOff val="0"/>
              <a:alphaOff val="0"/>
            </a:sysClr>
          </a:solidFill>
          <a:prstDash val="solid"/>
        </a:ln>
        <a:effectLst/>
      </dgm:spPr>
    </dgm:pt>
    <dgm:pt modelId="{1BBADF10-5908-8445-815C-6ACD269DF0D7}" type="pres">
      <dgm:prSet presAssocID="{8FDC7BF2-D035-4F22-9899-09FD659A3CC4}" presName="text2" presStyleLbl="fgAcc2" presStyleIdx="0" presStyleCnt="2" custScaleX="217150">
        <dgm:presLayoutVars>
          <dgm:chPref val="3"/>
        </dgm:presLayoutVars>
      </dgm:prSet>
      <dgm:spPr/>
    </dgm:pt>
    <dgm:pt modelId="{7D867C2B-CEB9-394D-9EA8-C2F1B55A0A37}" type="pres">
      <dgm:prSet presAssocID="{8FDC7BF2-D035-4F22-9899-09FD659A3CC4}" presName="hierChild3" presStyleCnt="0"/>
      <dgm:spPr/>
    </dgm:pt>
    <dgm:pt modelId="{891737C3-9144-6C4D-9914-BB65BF3B3771}" type="pres">
      <dgm:prSet presAssocID="{F2DCE33E-71BA-4338-9646-8EE5C107B40D}" presName="Name10" presStyleLbl="parChTrans1D2" presStyleIdx="1" presStyleCnt="2"/>
      <dgm:spPr/>
    </dgm:pt>
    <dgm:pt modelId="{088A3E11-42CC-F34F-8E7A-E95B5FE3608D}" type="pres">
      <dgm:prSet presAssocID="{B1C96D6E-6CAF-4131-970D-A9BA6CEE8D06}" presName="hierRoot2" presStyleCnt="0"/>
      <dgm:spPr/>
    </dgm:pt>
    <dgm:pt modelId="{69FE2393-CA21-D441-ABB1-132C7A1A1347}" type="pres">
      <dgm:prSet presAssocID="{B1C96D6E-6CAF-4131-970D-A9BA6CEE8D06}" presName="composite2" presStyleCnt="0"/>
      <dgm:spPr/>
    </dgm:pt>
    <dgm:pt modelId="{660EC2CB-3354-9640-8A9F-2CD8F76D5CBE}" type="pres">
      <dgm:prSet presAssocID="{B1C96D6E-6CAF-4131-970D-A9BA6CEE8D06}" presName="background2" presStyleLbl="node2" presStyleIdx="1" presStyleCnt="2"/>
      <dgm:spPr>
        <a:xfrm>
          <a:off x="5641807" y="1502516"/>
          <a:ext cx="3225186" cy="1094469"/>
        </a:xfrm>
        <a:prstGeom prst="roundRect">
          <a:avLst>
            <a:gd name="adj" fmla="val 10000"/>
          </a:avLst>
        </a:prstGeom>
        <a:solidFill>
          <a:srgbClr val="44709D">
            <a:hueOff val="0"/>
            <a:satOff val="0"/>
            <a:lumOff val="0"/>
            <a:alphaOff val="0"/>
          </a:srgbClr>
        </a:solidFill>
        <a:ln w="15875" cap="flat" cmpd="sng" algn="ctr">
          <a:solidFill>
            <a:sysClr val="window" lastClr="FFFFFF">
              <a:hueOff val="0"/>
              <a:satOff val="0"/>
              <a:lumOff val="0"/>
              <a:alphaOff val="0"/>
            </a:sysClr>
          </a:solidFill>
          <a:prstDash val="solid"/>
        </a:ln>
        <a:effectLst/>
      </dgm:spPr>
    </dgm:pt>
    <dgm:pt modelId="{0CA9A2D5-23D7-4141-9D8A-C2AC18FCBD49}" type="pres">
      <dgm:prSet presAssocID="{B1C96D6E-6CAF-4131-970D-A9BA6CEE8D06}" presName="text2" presStyleLbl="fgAcc2" presStyleIdx="1" presStyleCnt="2" custScaleX="268689" custLinFactNeighborX="37808" custLinFactNeighborY="-8643">
        <dgm:presLayoutVars>
          <dgm:chPref val="3"/>
        </dgm:presLayoutVars>
      </dgm:prSet>
      <dgm:spPr/>
    </dgm:pt>
    <dgm:pt modelId="{2FD9E20A-C037-6049-8A47-C4F29327CD94}" type="pres">
      <dgm:prSet presAssocID="{B1C96D6E-6CAF-4131-970D-A9BA6CEE8D06}" presName="hierChild3" presStyleCnt="0"/>
      <dgm:spPr/>
    </dgm:pt>
  </dgm:ptLst>
  <dgm:cxnLst>
    <dgm:cxn modelId="{EDE81307-12DC-5542-85A6-DD375918A166}" type="presOf" srcId="{BE3642AC-3DC6-46C3-BA47-94F51FD10E4E}" destId="{BC359CCB-A73D-C04D-9027-E206C212D67E}" srcOrd="0" destOrd="0" presId="urn:microsoft.com/office/officeart/2005/8/layout/hierarchy1"/>
    <dgm:cxn modelId="{6D723F3A-C6D4-4666-BE3C-6FCEDCC8C589}" srcId="{2737B6F4-353E-45C9-B02E-3887B55689B0}" destId="{B1C96D6E-6CAF-4131-970D-A9BA6CEE8D06}" srcOrd="1" destOrd="0" parTransId="{F2DCE33E-71BA-4338-9646-8EE5C107B40D}" sibTransId="{74130F52-77FA-4236-A80C-555284A3B3B5}"/>
    <dgm:cxn modelId="{23C8725D-D81F-1443-B734-E1A574E8EA14}" type="presOf" srcId="{8FDC7BF2-D035-4F22-9899-09FD659A3CC4}" destId="{1BBADF10-5908-8445-815C-6ACD269DF0D7}" srcOrd="0" destOrd="0" presId="urn:microsoft.com/office/officeart/2005/8/layout/hierarchy1"/>
    <dgm:cxn modelId="{8BA70574-EB95-B945-9F49-90ACD5555378}" type="presOf" srcId="{21771DB5-86F9-4971-9BBE-AA78256F50CB}" destId="{AE630D34-0A3F-5748-AF97-586A27B096AA}" srcOrd="0" destOrd="0" presId="urn:microsoft.com/office/officeart/2005/8/layout/hierarchy1"/>
    <dgm:cxn modelId="{7E9A9ABC-28AF-E146-8F39-495146251384}" type="presOf" srcId="{2737B6F4-353E-45C9-B02E-3887B55689B0}" destId="{2E801D5E-B864-1840-B91F-44A4EE90860D}" srcOrd="0" destOrd="0" presId="urn:microsoft.com/office/officeart/2005/8/layout/hierarchy1"/>
    <dgm:cxn modelId="{9FEBA3BE-D0F5-3342-8F14-D4D48F034140}" type="presOf" srcId="{F2DCE33E-71BA-4338-9646-8EE5C107B40D}" destId="{891737C3-9144-6C4D-9914-BB65BF3B3771}" srcOrd="0" destOrd="0" presId="urn:microsoft.com/office/officeart/2005/8/layout/hierarchy1"/>
    <dgm:cxn modelId="{0BC122D9-4274-40C3-8006-E9E529299522}" srcId="{21771DB5-86F9-4971-9BBE-AA78256F50CB}" destId="{2737B6F4-353E-45C9-B02E-3887B55689B0}" srcOrd="0" destOrd="0" parTransId="{8520DA97-B36D-4E5D-A801-8A59E622EFD8}" sibTransId="{E3A27FC2-C397-46A7-8FB7-4BE4D9FD6EED}"/>
    <dgm:cxn modelId="{F3DA0CEF-2704-CA42-873D-BA9E7DF7EBF2}" type="presOf" srcId="{B1C96D6E-6CAF-4131-970D-A9BA6CEE8D06}" destId="{0CA9A2D5-23D7-4141-9D8A-C2AC18FCBD49}" srcOrd="0" destOrd="0" presId="urn:microsoft.com/office/officeart/2005/8/layout/hierarchy1"/>
    <dgm:cxn modelId="{1B46A2F5-59C6-4BA7-A375-343F4763E5FB}" srcId="{2737B6F4-353E-45C9-B02E-3887B55689B0}" destId="{8FDC7BF2-D035-4F22-9899-09FD659A3CC4}" srcOrd="0" destOrd="0" parTransId="{BE3642AC-3DC6-46C3-BA47-94F51FD10E4E}" sibTransId="{F69F82F4-8DF6-4600-82E4-3055B55F659A}"/>
    <dgm:cxn modelId="{DD6A5E0E-CD60-FD44-B0AF-9C474E192B3B}" type="presParOf" srcId="{AE630D34-0A3F-5748-AF97-586A27B096AA}" destId="{BEE6A067-24DA-B746-A8E1-2F055269751C}" srcOrd="0" destOrd="0" presId="urn:microsoft.com/office/officeart/2005/8/layout/hierarchy1"/>
    <dgm:cxn modelId="{2F2DF361-BAB5-DC4F-BBC1-5E5C8F3BB0BE}" type="presParOf" srcId="{BEE6A067-24DA-B746-A8E1-2F055269751C}" destId="{F5AB4841-E558-6343-A77C-09CA621A8EF5}" srcOrd="0" destOrd="0" presId="urn:microsoft.com/office/officeart/2005/8/layout/hierarchy1"/>
    <dgm:cxn modelId="{C94E6F1E-B1AE-6F4B-867E-F11267DAED94}" type="presParOf" srcId="{F5AB4841-E558-6343-A77C-09CA621A8EF5}" destId="{F7CA6306-0E5D-D543-8582-339840EE2145}" srcOrd="0" destOrd="0" presId="urn:microsoft.com/office/officeart/2005/8/layout/hierarchy1"/>
    <dgm:cxn modelId="{66931A1F-D73E-B047-A58E-EB766B76FD86}" type="presParOf" srcId="{F5AB4841-E558-6343-A77C-09CA621A8EF5}" destId="{2E801D5E-B864-1840-B91F-44A4EE90860D}" srcOrd="1" destOrd="0" presId="urn:microsoft.com/office/officeart/2005/8/layout/hierarchy1"/>
    <dgm:cxn modelId="{44508621-CE1D-714E-8565-6529268ABA7B}" type="presParOf" srcId="{BEE6A067-24DA-B746-A8E1-2F055269751C}" destId="{40B01BC6-D360-CE41-BB02-FA375762F2AF}" srcOrd="1" destOrd="0" presId="urn:microsoft.com/office/officeart/2005/8/layout/hierarchy1"/>
    <dgm:cxn modelId="{8B18DDBC-838C-B344-83C6-5748D88CDFFD}" type="presParOf" srcId="{40B01BC6-D360-CE41-BB02-FA375762F2AF}" destId="{BC359CCB-A73D-C04D-9027-E206C212D67E}" srcOrd="0" destOrd="0" presId="urn:microsoft.com/office/officeart/2005/8/layout/hierarchy1"/>
    <dgm:cxn modelId="{D3233243-1CCD-FA4C-866C-87F7C138C04F}" type="presParOf" srcId="{40B01BC6-D360-CE41-BB02-FA375762F2AF}" destId="{C7DD6854-4B88-BE44-BC27-984275C2F43A}" srcOrd="1" destOrd="0" presId="urn:microsoft.com/office/officeart/2005/8/layout/hierarchy1"/>
    <dgm:cxn modelId="{726BAB31-535E-984F-A26D-5764FC72523F}" type="presParOf" srcId="{C7DD6854-4B88-BE44-BC27-984275C2F43A}" destId="{C98E7DB8-F1F5-4D4E-A26F-3D6CEF67BA59}" srcOrd="0" destOrd="0" presId="urn:microsoft.com/office/officeart/2005/8/layout/hierarchy1"/>
    <dgm:cxn modelId="{9373AF22-F47E-7642-8A5B-53D45EC855E9}" type="presParOf" srcId="{C98E7DB8-F1F5-4D4E-A26F-3D6CEF67BA59}" destId="{D7C5038A-8724-7A43-9B50-7C9B1EB98581}" srcOrd="0" destOrd="0" presId="urn:microsoft.com/office/officeart/2005/8/layout/hierarchy1"/>
    <dgm:cxn modelId="{7CDAFFFF-AEA4-824F-AC60-938DA990FAEE}" type="presParOf" srcId="{C98E7DB8-F1F5-4D4E-A26F-3D6CEF67BA59}" destId="{1BBADF10-5908-8445-815C-6ACD269DF0D7}" srcOrd="1" destOrd="0" presId="urn:microsoft.com/office/officeart/2005/8/layout/hierarchy1"/>
    <dgm:cxn modelId="{89BF6287-BC9A-1B41-BA3E-24AF883E89E7}" type="presParOf" srcId="{C7DD6854-4B88-BE44-BC27-984275C2F43A}" destId="{7D867C2B-CEB9-394D-9EA8-C2F1B55A0A37}" srcOrd="1" destOrd="0" presId="urn:microsoft.com/office/officeart/2005/8/layout/hierarchy1"/>
    <dgm:cxn modelId="{819A961B-B35E-914F-A663-6CC8E81B6415}" type="presParOf" srcId="{40B01BC6-D360-CE41-BB02-FA375762F2AF}" destId="{891737C3-9144-6C4D-9914-BB65BF3B3771}" srcOrd="2" destOrd="0" presId="urn:microsoft.com/office/officeart/2005/8/layout/hierarchy1"/>
    <dgm:cxn modelId="{EE435F1E-B291-D845-9495-3A69EBF1288C}" type="presParOf" srcId="{40B01BC6-D360-CE41-BB02-FA375762F2AF}" destId="{088A3E11-42CC-F34F-8E7A-E95B5FE3608D}" srcOrd="3" destOrd="0" presId="urn:microsoft.com/office/officeart/2005/8/layout/hierarchy1"/>
    <dgm:cxn modelId="{BD6E0BD2-5A40-9B4C-84CA-E76FAD1BB9B4}" type="presParOf" srcId="{088A3E11-42CC-F34F-8E7A-E95B5FE3608D}" destId="{69FE2393-CA21-D441-ABB1-132C7A1A1347}" srcOrd="0" destOrd="0" presId="urn:microsoft.com/office/officeart/2005/8/layout/hierarchy1"/>
    <dgm:cxn modelId="{0FD84C58-E01E-2448-A220-5D80C417DD24}" type="presParOf" srcId="{69FE2393-CA21-D441-ABB1-132C7A1A1347}" destId="{660EC2CB-3354-9640-8A9F-2CD8F76D5CBE}" srcOrd="0" destOrd="0" presId="urn:microsoft.com/office/officeart/2005/8/layout/hierarchy1"/>
    <dgm:cxn modelId="{778F3FAF-EEF0-BD4B-A6CA-9290F9497EAE}" type="presParOf" srcId="{69FE2393-CA21-D441-ABB1-132C7A1A1347}" destId="{0CA9A2D5-23D7-4141-9D8A-C2AC18FCBD49}" srcOrd="1" destOrd="0" presId="urn:microsoft.com/office/officeart/2005/8/layout/hierarchy1"/>
    <dgm:cxn modelId="{510432AD-173E-9E47-A43E-90B41D70A8C1}" type="presParOf" srcId="{088A3E11-42CC-F34F-8E7A-E95B5FE3608D}" destId="{2FD9E20A-C037-6049-8A47-C4F29327CD9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D1D62B-7ABF-4420-93E2-CC2C73D6B5D4}"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C199B3CE-037A-483B-BA91-832A6DD9A740}">
      <dgm:prSet/>
      <dgm:spPr>
        <a:xfrm>
          <a:off x="300037" y="722602"/>
          <a:ext cx="2700336" cy="1714713"/>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gm:spPr>
      <dgm:t>
        <a:bodyPr/>
        <a:lstStyle/>
        <a:p>
          <a:pPr>
            <a:buNone/>
          </a:pPr>
          <a:r>
            <a:rPr lang="en-GB" b="1" i="0" dirty="0">
              <a:solidFill>
                <a:srgbClr val="44709D"/>
              </a:solidFill>
              <a:latin typeface="Candara" panose="020E0502030303020204" pitchFamily="34" charset="0"/>
              <a:ea typeface="+mn-ea"/>
              <a:cs typeface="+mn-cs"/>
            </a:rPr>
            <a:t>The content of the threat </a:t>
          </a:r>
          <a:endParaRPr lang="en-US" b="1" i="0" dirty="0">
            <a:solidFill>
              <a:srgbClr val="44709D"/>
            </a:solidFill>
            <a:latin typeface="Candara" panose="020E0502030303020204" pitchFamily="34" charset="0"/>
            <a:ea typeface="+mn-ea"/>
            <a:cs typeface="+mn-cs"/>
          </a:endParaRPr>
        </a:p>
      </dgm:t>
    </dgm:pt>
    <dgm:pt modelId="{F9BECE91-1D13-4E73-8634-17D866FB0ABD}" type="parTrans" cxnId="{7F68517F-58D4-4006-949A-625ADDB3F766}">
      <dgm:prSet/>
      <dgm:spPr/>
      <dgm:t>
        <a:bodyPr/>
        <a:lstStyle/>
        <a:p>
          <a:endParaRPr lang="en-US"/>
        </a:p>
      </dgm:t>
    </dgm:pt>
    <dgm:pt modelId="{BE5942F1-0E68-4E82-91EB-C82B5206AB6B}" type="sibTrans" cxnId="{7F68517F-58D4-4006-949A-625ADDB3F766}">
      <dgm:prSet/>
      <dgm:spPr/>
      <dgm:t>
        <a:bodyPr/>
        <a:lstStyle/>
        <a:p>
          <a:endParaRPr lang="en-US"/>
        </a:p>
      </dgm:t>
    </dgm:pt>
    <dgm:pt modelId="{0C49ED06-56AB-444F-B37A-71879B16E52E}">
      <dgm:prSet/>
      <dgm:spPr>
        <a:xfrm>
          <a:off x="3600448" y="722602"/>
          <a:ext cx="2700336" cy="1714713"/>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gm:spPr>
      <dgm:t>
        <a:bodyPr/>
        <a:lstStyle/>
        <a:p>
          <a:pPr>
            <a:buNone/>
          </a:pPr>
          <a:r>
            <a:rPr lang="en-GB" b="1" i="0" dirty="0">
              <a:solidFill>
                <a:srgbClr val="44709D"/>
              </a:solidFill>
              <a:latin typeface="Candara" panose="020E0502030303020204" pitchFamily="34" charset="0"/>
              <a:ea typeface="+mn-ea"/>
              <a:cs typeface="+mn-cs"/>
            </a:rPr>
            <a:t>Who made the threat and demand, and who are they directed at</a:t>
          </a:r>
          <a:endParaRPr lang="en-US" b="1" i="0" dirty="0">
            <a:solidFill>
              <a:srgbClr val="44709D"/>
            </a:solidFill>
            <a:latin typeface="Candara" panose="020E0502030303020204" pitchFamily="34" charset="0"/>
            <a:ea typeface="+mn-ea"/>
            <a:cs typeface="+mn-cs"/>
          </a:endParaRPr>
        </a:p>
      </dgm:t>
    </dgm:pt>
    <dgm:pt modelId="{1E7C2E66-7EE2-4E01-A945-EEB0001C4211}" type="parTrans" cxnId="{35E746CB-035A-4AEE-B60E-A6025D21D7E6}">
      <dgm:prSet/>
      <dgm:spPr/>
      <dgm:t>
        <a:bodyPr/>
        <a:lstStyle/>
        <a:p>
          <a:endParaRPr lang="en-US"/>
        </a:p>
      </dgm:t>
    </dgm:pt>
    <dgm:pt modelId="{68908EB0-F223-487D-B2B4-4C595FC2F746}" type="sibTrans" cxnId="{35E746CB-035A-4AEE-B60E-A6025D21D7E6}">
      <dgm:prSet/>
      <dgm:spPr/>
      <dgm:t>
        <a:bodyPr/>
        <a:lstStyle/>
        <a:p>
          <a:endParaRPr lang="en-US"/>
        </a:p>
      </dgm:t>
    </dgm:pt>
    <dgm:pt modelId="{99BAF5AC-DE70-47D8-A691-6C438F905838}">
      <dgm:prSet custT="1"/>
      <dgm:spPr>
        <a:xfrm>
          <a:off x="6900860" y="722602"/>
          <a:ext cx="2700336" cy="1714713"/>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gm:spPr>
      <dgm:t>
        <a:bodyPr/>
        <a:lstStyle/>
        <a:p>
          <a:pPr>
            <a:buNone/>
          </a:pPr>
          <a:r>
            <a:rPr lang="en-GB" sz="2400" b="1" i="1" kern="1200" dirty="0">
              <a:solidFill>
                <a:srgbClr val="44709D"/>
              </a:solidFill>
              <a:latin typeface="Candara" panose="020E0502030303020204" pitchFamily="34" charset="0"/>
              <a:ea typeface="+mn-ea"/>
              <a:cs typeface="+mn-cs"/>
            </a:rPr>
            <a:t>The content of the demand.</a:t>
          </a:r>
          <a:endParaRPr lang="en-US" sz="2400" b="1" i="1" kern="1200" dirty="0">
            <a:solidFill>
              <a:srgbClr val="44709D"/>
            </a:solidFill>
            <a:latin typeface="Candara" panose="020E0502030303020204" pitchFamily="34" charset="0"/>
            <a:ea typeface="+mn-ea"/>
            <a:cs typeface="+mn-cs"/>
          </a:endParaRPr>
        </a:p>
      </dgm:t>
    </dgm:pt>
    <dgm:pt modelId="{42F353A2-37DE-4274-8876-1B71B7981E6A}" type="parTrans" cxnId="{A9DE7314-E850-4597-B9B8-4874863B3F9F}">
      <dgm:prSet/>
      <dgm:spPr/>
      <dgm:t>
        <a:bodyPr/>
        <a:lstStyle/>
        <a:p>
          <a:endParaRPr lang="en-US"/>
        </a:p>
      </dgm:t>
    </dgm:pt>
    <dgm:pt modelId="{2C34BFAF-1990-4C2F-9EA4-B012C7F6E7F1}" type="sibTrans" cxnId="{A9DE7314-E850-4597-B9B8-4874863B3F9F}">
      <dgm:prSet/>
      <dgm:spPr/>
      <dgm:t>
        <a:bodyPr/>
        <a:lstStyle/>
        <a:p>
          <a:endParaRPr lang="en-US"/>
        </a:p>
      </dgm:t>
    </dgm:pt>
    <dgm:pt modelId="{8ECC521E-B63D-2942-BFFC-E2A2927190C9}" type="pres">
      <dgm:prSet presAssocID="{FBD1D62B-7ABF-4420-93E2-CC2C73D6B5D4}" presName="hierChild1" presStyleCnt="0">
        <dgm:presLayoutVars>
          <dgm:chPref val="1"/>
          <dgm:dir/>
          <dgm:animOne val="branch"/>
          <dgm:animLvl val="lvl"/>
          <dgm:resizeHandles/>
        </dgm:presLayoutVars>
      </dgm:prSet>
      <dgm:spPr/>
    </dgm:pt>
    <dgm:pt modelId="{89DFB1B1-8526-AD4B-A89D-326E74ED7361}" type="pres">
      <dgm:prSet presAssocID="{C199B3CE-037A-483B-BA91-832A6DD9A740}" presName="hierRoot1" presStyleCnt="0"/>
      <dgm:spPr/>
    </dgm:pt>
    <dgm:pt modelId="{9D3B7302-96EB-AD41-B00A-C64CED9AB61C}" type="pres">
      <dgm:prSet presAssocID="{C199B3CE-037A-483B-BA91-832A6DD9A740}" presName="composite" presStyleCnt="0"/>
      <dgm:spPr/>
    </dgm:pt>
    <dgm:pt modelId="{315A9DD4-FD57-CF42-8EA5-17662125E258}" type="pres">
      <dgm:prSet presAssocID="{C199B3CE-037A-483B-BA91-832A6DD9A740}" presName="background" presStyleLbl="node0" presStyleIdx="0" presStyleCnt="3">
        <dgm:style>
          <a:lnRef idx="1">
            <a:schemeClr val="accent4"/>
          </a:lnRef>
          <a:fillRef idx="2">
            <a:schemeClr val="accent4"/>
          </a:fillRef>
          <a:effectRef idx="1">
            <a:schemeClr val="accent4"/>
          </a:effectRef>
          <a:fontRef idx="minor">
            <a:schemeClr val="dk1"/>
          </a:fontRef>
        </dgm:style>
      </dgm:prSet>
      <dgm:spPr>
        <a:xfrm>
          <a:off x="0" y="437566"/>
          <a:ext cx="2700336" cy="1714713"/>
        </a:xfrm>
        <a:prstGeom prst="roundRect">
          <a:avLst>
            <a:gd name="adj" fmla="val 10000"/>
          </a:avLst>
        </a:prstGeom>
        <a:gradFill rotWithShape="1">
          <a:gsLst>
            <a:gs pos="0">
              <a:srgbClr val="A23C33">
                <a:tint val="60000"/>
                <a:lumMod val="110000"/>
              </a:srgbClr>
            </a:gs>
            <a:gs pos="100000">
              <a:srgbClr val="A23C33">
                <a:tint val="82000"/>
              </a:srgbClr>
            </a:gs>
          </a:gsLst>
          <a:lin ang="5400000" scaled="0"/>
        </a:gradFill>
        <a:ln w="9525" cap="flat" cmpd="sng" algn="ctr">
          <a:solidFill>
            <a:srgbClr val="A23C33"/>
          </a:solidFill>
          <a:prstDash val="solid"/>
        </a:ln>
        <a:effectLst/>
      </dgm:spPr>
    </dgm:pt>
    <dgm:pt modelId="{42254E96-A8B3-A34D-8767-6F7CA9D06E69}" type="pres">
      <dgm:prSet presAssocID="{C199B3CE-037A-483B-BA91-832A6DD9A740}" presName="text" presStyleLbl="fgAcc0" presStyleIdx="0" presStyleCnt="3">
        <dgm:presLayoutVars>
          <dgm:chPref val="3"/>
        </dgm:presLayoutVars>
      </dgm:prSet>
      <dgm:spPr/>
    </dgm:pt>
    <dgm:pt modelId="{8CED4B68-9A70-AF40-9C45-92EDD2264EF1}" type="pres">
      <dgm:prSet presAssocID="{C199B3CE-037A-483B-BA91-832A6DD9A740}" presName="hierChild2" presStyleCnt="0"/>
      <dgm:spPr/>
    </dgm:pt>
    <dgm:pt modelId="{563E38EA-4EE2-CB4D-8DD2-0C26B0EF55A4}" type="pres">
      <dgm:prSet presAssocID="{0C49ED06-56AB-444F-B37A-71879B16E52E}" presName="hierRoot1" presStyleCnt="0"/>
      <dgm:spPr/>
    </dgm:pt>
    <dgm:pt modelId="{B3C1B3A7-7CDC-744A-8E12-BA2630D63098}" type="pres">
      <dgm:prSet presAssocID="{0C49ED06-56AB-444F-B37A-71879B16E52E}" presName="composite" presStyleCnt="0"/>
      <dgm:spPr/>
    </dgm:pt>
    <dgm:pt modelId="{A197D64F-078C-3C42-9499-48641B65C1DD}" type="pres">
      <dgm:prSet presAssocID="{0C49ED06-56AB-444F-B37A-71879B16E52E}" presName="background" presStyleLbl="node0" presStyleIdx="1" presStyleCnt="3">
        <dgm:style>
          <a:lnRef idx="1">
            <a:schemeClr val="accent3"/>
          </a:lnRef>
          <a:fillRef idx="2">
            <a:schemeClr val="accent3"/>
          </a:fillRef>
          <a:effectRef idx="1">
            <a:schemeClr val="accent3"/>
          </a:effectRef>
          <a:fontRef idx="minor">
            <a:schemeClr val="dk1"/>
          </a:fontRef>
        </dgm:style>
      </dgm:prSet>
      <dgm:spPr>
        <a:xfrm>
          <a:off x="3300411" y="437566"/>
          <a:ext cx="2700336" cy="1714713"/>
        </a:xfrm>
        <a:prstGeom prst="roundRect">
          <a:avLst>
            <a:gd name="adj" fmla="val 10000"/>
          </a:avLst>
        </a:prstGeom>
        <a:gradFill rotWithShape="1">
          <a:gsLst>
            <a:gs pos="0">
              <a:srgbClr val="44709D">
                <a:tint val="60000"/>
                <a:lumMod val="110000"/>
              </a:srgbClr>
            </a:gs>
            <a:gs pos="100000">
              <a:srgbClr val="44709D">
                <a:tint val="82000"/>
              </a:srgbClr>
            </a:gs>
          </a:gsLst>
          <a:lin ang="5400000" scaled="0"/>
        </a:gradFill>
        <a:ln w="9525" cap="flat" cmpd="sng" algn="ctr">
          <a:solidFill>
            <a:srgbClr val="44709D"/>
          </a:solidFill>
          <a:prstDash val="solid"/>
        </a:ln>
        <a:effectLst/>
      </dgm:spPr>
    </dgm:pt>
    <dgm:pt modelId="{84206810-82CF-D242-96B2-625648ED168F}" type="pres">
      <dgm:prSet presAssocID="{0C49ED06-56AB-444F-B37A-71879B16E52E}" presName="text" presStyleLbl="fgAcc0" presStyleIdx="1" presStyleCnt="3">
        <dgm:presLayoutVars>
          <dgm:chPref val="3"/>
        </dgm:presLayoutVars>
      </dgm:prSet>
      <dgm:spPr/>
    </dgm:pt>
    <dgm:pt modelId="{319A2390-5E28-EB42-8200-242B0DFC7C4B}" type="pres">
      <dgm:prSet presAssocID="{0C49ED06-56AB-444F-B37A-71879B16E52E}" presName="hierChild2" presStyleCnt="0"/>
      <dgm:spPr/>
    </dgm:pt>
    <dgm:pt modelId="{23FDC63C-89DF-8C40-9E4F-D42FFCC44614}" type="pres">
      <dgm:prSet presAssocID="{99BAF5AC-DE70-47D8-A691-6C438F905838}" presName="hierRoot1" presStyleCnt="0"/>
      <dgm:spPr/>
    </dgm:pt>
    <dgm:pt modelId="{2C8FF28B-8AF6-424D-AA84-4EEAEAB6A1F0}" type="pres">
      <dgm:prSet presAssocID="{99BAF5AC-DE70-47D8-A691-6C438F905838}" presName="composite" presStyleCnt="0"/>
      <dgm:spPr/>
    </dgm:pt>
    <dgm:pt modelId="{E8FA4D2D-95D3-1545-BA93-2128A9988ED8}" type="pres">
      <dgm:prSet presAssocID="{99BAF5AC-DE70-47D8-A691-6C438F905838}" presName="background" presStyleLbl="node0" presStyleIdx="2" presStyleCnt="3">
        <dgm:style>
          <a:lnRef idx="1">
            <a:schemeClr val="accent1"/>
          </a:lnRef>
          <a:fillRef idx="2">
            <a:schemeClr val="accent1"/>
          </a:fillRef>
          <a:effectRef idx="1">
            <a:schemeClr val="accent1"/>
          </a:effectRef>
          <a:fontRef idx="minor">
            <a:schemeClr val="dk1"/>
          </a:fontRef>
        </dgm:style>
      </dgm:prSet>
      <dgm:spPr>
        <a:xfrm>
          <a:off x="6600822" y="437566"/>
          <a:ext cx="2700336" cy="1714713"/>
        </a:xfrm>
        <a:prstGeom prst="roundRect">
          <a:avLst>
            <a:gd name="adj" fmla="val 10000"/>
          </a:avLst>
        </a:prstGeom>
        <a:gradFill rotWithShape="1">
          <a:gsLst>
            <a:gs pos="0">
              <a:srgbClr val="83992A">
                <a:tint val="60000"/>
                <a:lumMod val="110000"/>
              </a:srgbClr>
            </a:gs>
            <a:gs pos="100000">
              <a:srgbClr val="83992A">
                <a:tint val="82000"/>
              </a:srgbClr>
            </a:gs>
          </a:gsLst>
          <a:lin ang="5400000" scaled="0"/>
        </a:gradFill>
        <a:ln w="9525" cap="flat" cmpd="sng" algn="ctr">
          <a:solidFill>
            <a:srgbClr val="83992A"/>
          </a:solidFill>
          <a:prstDash val="solid"/>
        </a:ln>
        <a:effectLst/>
      </dgm:spPr>
    </dgm:pt>
    <dgm:pt modelId="{03749345-61FD-5B41-BE9E-1B4346FF6AB3}" type="pres">
      <dgm:prSet presAssocID="{99BAF5AC-DE70-47D8-A691-6C438F905838}" presName="text" presStyleLbl="fgAcc0" presStyleIdx="2" presStyleCnt="3">
        <dgm:presLayoutVars>
          <dgm:chPref val="3"/>
        </dgm:presLayoutVars>
      </dgm:prSet>
      <dgm:spPr/>
    </dgm:pt>
    <dgm:pt modelId="{D37740FA-B143-DE4A-AF88-56231BB2F58E}" type="pres">
      <dgm:prSet presAssocID="{99BAF5AC-DE70-47D8-A691-6C438F905838}" presName="hierChild2" presStyleCnt="0"/>
      <dgm:spPr/>
    </dgm:pt>
  </dgm:ptLst>
  <dgm:cxnLst>
    <dgm:cxn modelId="{A9DE7314-E850-4597-B9B8-4874863B3F9F}" srcId="{FBD1D62B-7ABF-4420-93E2-CC2C73D6B5D4}" destId="{99BAF5AC-DE70-47D8-A691-6C438F905838}" srcOrd="2" destOrd="0" parTransId="{42F353A2-37DE-4274-8876-1B71B7981E6A}" sibTransId="{2C34BFAF-1990-4C2F-9EA4-B012C7F6E7F1}"/>
    <dgm:cxn modelId="{DB4C2E33-AB2E-344F-B1E9-2F15407C0A44}" type="presOf" srcId="{C199B3CE-037A-483B-BA91-832A6DD9A740}" destId="{42254E96-A8B3-A34D-8767-6F7CA9D06E69}" srcOrd="0" destOrd="0" presId="urn:microsoft.com/office/officeart/2005/8/layout/hierarchy1"/>
    <dgm:cxn modelId="{B04D8039-DDA9-4D42-81F0-DD6B73152C64}" type="presOf" srcId="{99BAF5AC-DE70-47D8-A691-6C438F905838}" destId="{03749345-61FD-5B41-BE9E-1B4346FF6AB3}" srcOrd="0" destOrd="0" presId="urn:microsoft.com/office/officeart/2005/8/layout/hierarchy1"/>
    <dgm:cxn modelId="{24FE4C44-679D-CF40-8939-E2F468686F93}" type="presOf" srcId="{FBD1D62B-7ABF-4420-93E2-CC2C73D6B5D4}" destId="{8ECC521E-B63D-2942-BFFC-E2A2927190C9}" srcOrd="0" destOrd="0" presId="urn:microsoft.com/office/officeart/2005/8/layout/hierarchy1"/>
    <dgm:cxn modelId="{7F68517F-58D4-4006-949A-625ADDB3F766}" srcId="{FBD1D62B-7ABF-4420-93E2-CC2C73D6B5D4}" destId="{C199B3CE-037A-483B-BA91-832A6DD9A740}" srcOrd="0" destOrd="0" parTransId="{F9BECE91-1D13-4E73-8634-17D866FB0ABD}" sibTransId="{BE5942F1-0E68-4E82-91EB-C82B5206AB6B}"/>
    <dgm:cxn modelId="{35E746CB-035A-4AEE-B60E-A6025D21D7E6}" srcId="{FBD1D62B-7ABF-4420-93E2-CC2C73D6B5D4}" destId="{0C49ED06-56AB-444F-B37A-71879B16E52E}" srcOrd="1" destOrd="0" parTransId="{1E7C2E66-7EE2-4E01-A945-EEB0001C4211}" sibTransId="{68908EB0-F223-487D-B2B4-4C595FC2F746}"/>
    <dgm:cxn modelId="{892D5ED3-211D-1E4C-90B7-B73335790197}" type="presOf" srcId="{0C49ED06-56AB-444F-B37A-71879B16E52E}" destId="{84206810-82CF-D242-96B2-625648ED168F}" srcOrd="0" destOrd="0" presId="urn:microsoft.com/office/officeart/2005/8/layout/hierarchy1"/>
    <dgm:cxn modelId="{78464B19-B107-FD42-A6BB-8A6F83E273F2}" type="presParOf" srcId="{8ECC521E-B63D-2942-BFFC-E2A2927190C9}" destId="{89DFB1B1-8526-AD4B-A89D-326E74ED7361}" srcOrd="0" destOrd="0" presId="urn:microsoft.com/office/officeart/2005/8/layout/hierarchy1"/>
    <dgm:cxn modelId="{1F816EB0-C85F-8C44-BABE-27D0F46134BE}" type="presParOf" srcId="{89DFB1B1-8526-AD4B-A89D-326E74ED7361}" destId="{9D3B7302-96EB-AD41-B00A-C64CED9AB61C}" srcOrd="0" destOrd="0" presId="urn:microsoft.com/office/officeart/2005/8/layout/hierarchy1"/>
    <dgm:cxn modelId="{38182832-61A4-C948-82C4-C28041D20EAE}" type="presParOf" srcId="{9D3B7302-96EB-AD41-B00A-C64CED9AB61C}" destId="{315A9DD4-FD57-CF42-8EA5-17662125E258}" srcOrd="0" destOrd="0" presId="urn:microsoft.com/office/officeart/2005/8/layout/hierarchy1"/>
    <dgm:cxn modelId="{E3BA5DCB-355D-2D48-AC78-02DFD8D2E98C}" type="presParOf" srcId="{9D3B7302-96EB-AD41-B00A-C64CED9AB61C}" destId="{42254E96-A8B3-A34D-8767-6F7CA9D06E69}" srcOrd="1" destOrd="0" presId="urn:microsoft.com/office/officeart/2005/8/layout/hierarchy1"/>
    <dgm:cxn modelId="{BF10BEDD-50AA-9241-BF9D-077BF4237E3C}" type="presParOf" srcId="{89DFB1B1-8526-AD4B-A89D-326E74ED7361}" destId="{8CED4B68-9A70-AF40-9C45-92EDD2264EF1}" srcOrd="1" destOrd="0" presId="urn:microsoft.com/office/officeart/2005/8/layout/hierarchy1"/>
    <dgm:cxn modelId="{D14BA789-2109-4944-AF26-8A1D9A6A71C5}" type="presParOf" srcId="{8ECC521E-B63D-2942-BFFC-E2A2927190C9}" destId="{563E38EA-4EE2-CB4D-8DD2-0C26B0EF55A4}" srcOrd="1" destOrd="0" presId="urn:microsoft.com/office/officeart/2005/8/layout/hierarchy1"/>
    <dgm:cxn modelId="{478124A1-F3F3-364F-96D0-6E59C73056D6}" type="presParOf" srcId="{563E38EA-4EE2-CB4D-8DD2-0C26B0EF55A4}" destId="{B3C1B3A7-7CDC-744A-8E12-BA2630D63098}" srcOrd="0" destOrd="0" presId="urn:microsoft.com/office/officeart/2005/8/layout/hierarchy1"/>
    <dgm:cxn modelId="{C90D4CBB-2410-E145-808A-08484DFEA770}" type="presParOf" srcId="{B3C1B3A7-7CDC-744A-8E12-BA2630D63098}" destId="{A197D64F-078C-3C42-9499-48641B65C1DD}" srcOrd="0" destOrd="0" presId="urn:microsoft.com/office/officeart/2005/8/layout/hierarchy1"/>
    <dgm:cxn modelId="{65F69F02-96A3-C147-B70B-6FE18CC6D5D1}" type="presParOf" srcId="{B3C1B3A7-7CDC-744A-8E12-BA2630D63098}" destId="{84206810-82CF-D242-96B2-625648ED168F}" srcOrd="1" destOrd="0" presId="urn:microsoft.com/office/officeart/2005/8/layout/hierarchy1"/>
    <dgm:cxn modelId="{5BC9EFE1-BEFD-214A-9D6A-46D2683DE98B}" type="presParOf" srcId="{563E38EA-4EE2-CB4D-8DD2-0C26B0EF55A4}" destId="{319A2390-5E28-EB42-8200-242B0DFC7C4B}" srcOrd="1" destOrd="0" presId="urn:microsoft.com/office/officeart/2005/8/layout/hierarchy1"/>
    <dgm:cxn modelId="{9137A9FB-32A9-9148-B59C-4BBEBE5457AF}" type="presParOf" srcId="{8ECC521E-B63D-2942-BFFC-E2A2927190C9}" destId="{23FDC63C-89DF-8C40-9E4F-D42FFCC44614}" srcOrd="2" destOrd="0" presId="urn:microsoft.com/office/officeart/2005/8/layout/hierarchy1"/>
    <dgm:cxn modelId="{C486BCE2-144F-FD44-842A-EF706943192C}" type="presParOf" srcId="{23FDC63C-89DF-8C40-9E4F-D42FFCC44614}" destId="{2C8FF28B-8AF6-424D-AA84-4EEAEAB6A1F0}" srcOrd="0" destOrd="0" presId="urn:microsoft.com/office/officeart/2005/8/layout/hierarchy1"/>
    <dgm:cxn modelId="{A09BD9E4-CC8B-434B-972D-F2F4AAB2F719}" type="presParOf" srcId="{2C8FF28B-8AF6-424D-AA84-4EEAEAB6A1F0}" destId="{E8FA4D2D-95D3-1545-BA93-2128A9988ED8}" srcOrd="0" destOrd="0" presId="urn:microsoft.com/office/officeart/2005/8/layout/hierarchy1"/>
    <dgm:cxn modelId="{9D590B2D-1008-FC42-884E-7AB2EF3918C3}" type="presParOf" srcId="{2C8FF28B-8AF6-424D-AA84-4EEAEAB6A1F0}" destId="{03749345-61FD-5B41-BE9E-1B4346FF6AB3}" srcOrd="1" destOrd="0" presId="urn:microsoft.com/office/officeart/2005/8/layout/hierarchy1"/>
    <dgm:cxn modelId="{1051E4B3-F212-1946-A806-CE18AB748BE0}" type="presParOf" srcId="{23FDC63C-89DF-8C40-9E4F-D42FFCC44614}" destId="{D37740FA-B143-DE4A-AF88-56231BB2F58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A6306-0E5D-D543-8582-339840EE2145}">
      <dsp:nvSpPr>
        <dsp:cNvPr id="0" name=""/>
        <dsp:cNvSpPr/>
      </dsp:nvSpPr>
      <dsp:spPr>
        <a:xfrm>
          <a:off x="-239141" y="514387"/>
          <a:ext cx="2826231" cy="1366691"/>
        </a:xfrm>
        <a:prstGeom prst="roundRect">
          <a:avLst>
            <a:gd name="adj" fmla="val 10000"/>
          </a:avLst>
        </a:prstGeom>
        <a:solidFill>
          <a:srgbClr val="83992A">
            <a:hueOff val="0"/>
            <a:satOff val="0"/>
            <a:lumOff val="0"/>
            <a:alphaOff val="0"/>
          </a:srgbClr>
        </a:solidFill>
        <a:ln w="15875"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2E801D5E-B864-1840-B91F-44A4EE90860D}">
      <dsp:nvSpPr>
        <dsp:cNvPr id="0" name=""/>
        <dsp:cNvSpPr/>
      </dsp:nvSpPr>
      <dsp:spPr>
        <a:xfrm>
          <a:off x="0" y="741571"/>
          <a:ext cx="2826231" cy="1366691"/>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b="1" kern="1200" dirty="0">
              <a:effectLst/>
              <a:latin typeface="Candara" panose="020E0502030303020204" pitchFamily="34" charset="0"/>
            </a:rPr>
            <a:t>Exclusions</a:t>
          </a:r>
          <a:endParaRPr lang="en-US" sz="3200" kern="1200" dirty="0">
            <a:solidFill>
              <a:sysClr val="windowText" lastClr="000000">
                <a:hueOff val="0"/>
                <a:satOff val="0"/>
                <a:lumOff val="0"/>
                <a:alphaOff val="0"/>
              </a:sysClr>
            </a:solidFill>
            <a:latin typeface="Candara" panose="020E0502030303020204" pitchFamily="34" charset="0"/>
            <a:ea typeface="+mn-ea"/>
            <a:cs typeface="+mn-cs"/>
          </a:endParaRPr>
        </a:p>
      </dsp:txBody>
      <dsp:txXfrm>
        <a:off x="40029" y="781600"/>
        <a:ext cx="2746173" cy="1286633"/>
      </dsp:txXfrm>
    </dsp:sp>
    <dsp:sp modelId="{03B66309-202D-BC43-B15A-6E1C081528BA}">
      <dsp:nvSpPr>
        <dsp:cNvPr id="0" name=""/>
        <dsp:cNvSpPr/>
      </dsp:nvSpPr>
      <dsp:spPr>
        <a:xfrm>
          <a:off x="3305510" y="485044"/>
          <a:ext cx="3621774" cy="13666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7239C8-7247-9547-8DDB-9AB180EA28FD}">
      <dsp:nvSpPr>
        <dsp:cNvPr id="0" name=""/>
        <dsp:cNvSpPr/>
      </dsp:nvSpPr>
      <dsp:spPr>
        <a:xfrm>
          <a:off x="3544651" y="712228"/>
          <a:ext cx="3621774" cy="1366691"/>
        </a:xfrm>
        <a:prstGeom prst="roundRect">
          <a:avLst>
            <a:gd name="adj" fmla="val 10000"/>
          </a:avLst>
        </a:prstGeo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289050">
            <a:lnSpc>
              <a:spcPct val="90000"/>
            </a:lnSpc>
            <a:spcBef>
              <a:spcPct val="0"/>
            </a:spcBef>
            <a:spcAft>
              <a:spcPct val="35000"/>
            </a:spcAft>
            <a:buNone/>
          </a:pPr>
          <a:r>
            <a:rPr lang="en-GB" sz="3200" b="1" kern="1200" dirty="0">
              <a:solidFill>
                <a:srgbClr val="C00000"/>
              </a:solidFill>
              <a:effectLst/>
              <a:latin typeface="Candara" panose="020E0502030303020204" pitchFamily="34" charset="0"/>
            </a:rPr>
            <a:t>X’s threat and demand</a:t>
          </a:r>
          <a:endParaRPr lang="en-US" sz="3200" kern="1200" dirty="0">
            <a:solidFill>
              <a:sysClr val="windowText" lastClr="000000">
                <a:hueOff val="0"/>
                <a:satOff val="0"/>
                <a:lumOff val="0"/>
                <a:alphaOff val="0"/>
              </a:sysClr>
            </a:solidFill>
            <a:latin typeface="Candara" panose="020E0502030303020204" pitchFamily="34" charset="0"/>
            <a:ea typeface="+mn-ea"/>
            <a:cs typeface="+mn-cs"/>
          </a:endParaRPr>
        </a:p>
      </dsp:txBody>
      <dsp:txXfrm>
        <a:off x="3584680" y="752257"/>
        <a:ext cx="3541716" cy="1286633"/>
      </dsp:txXfrm>
    </dsp:sp>
    <dsp:sp modelId="{637891E0-0267-E64A-9E7F-54FF0EE555B4}">
      <dsp:nvSpPr>
        <dsp:cNvPr id="0" name=""/>
        <dsp:cNvSpPr/>
      </dsp:nvSpPr>
      <dsp:spPr>
        <a:xfrm>
          <a:off x="7405567" y="485044"/>
          <a:ext cx="2589632" cy="13666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2CB958-E783-9B4B-ACE5-21BF14FBD72A}">
      <dsp:nvSpPr>
        <dsp:cNvPr id="0" name=""/>
        <dsp:cNvSpPr/>
      </dsp:nvSpPr>
      <dsp:spPr>
        <a:xfrm>
          <a:off x="7644708" y="712228"/>
          <a:ext cx="2589632" cy="1366691"/>
        </a:xfrm>
        <a:prstGeom prst="roundRect">
          <a:avLst>
            <a:gd name="adj" fmla="val 10000"/>
          </a:avLst>
        </a:prstGeo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b="1" kern="1200" dirty="0">
              <a:solidFill>
                <a:schemeClr val="accent2"/>
              </a:solidFill>
              <a:effectLst/>
              <a:latin typeface="Candara" panose="020E0502030303020204" pitchFamily="34" charset="0"/>
            </a:rPr>
            <a:t>D’s response</a:t>
          </a:r>
          <a:r>
            <a:rPr lang="en-GB" sz="2900" kern="1200" dirty="0">
              <a:solidFill>
                <a:sysClr val="windowText" lastClr="000000">
                  <a:hueOff val="0"/>
                  <a:satOff val="0"/>
                  <a:lumOff val="0"/>
                  <a:alphaOff val="0"/>
                </a:sysClr>
              </a:solidFill>
              <a:latin typeface="Candara" panose="020E0502030303020204" pitchFamily="34" charset="0"/>
              <a:ea typeface="+mn-ea"/>
              <a:cs typeface="+mn-cs"/>
            </a:rPr>
            <a:t> </a:t>
          </a:r>
          <a:endParaRPr lang="en-US" sz="2900" kern="1200" dirty="0">
            <a:solidFill>
              <a:sysClr val="windowText" lastClr="000000">
                <a:hueOff val="0"/>
                <a:satOff val="0"/>
                <a:lumOff val="0"/>
                <a:alphaOff val="0"/>
              </a:sysClr>
            </a:solidFill>
            <a:latin typeface="Candara" panose="020E0502030303020204" pitchFamily="34" charset="0"/>
            <a:ea typeface="+mn-ea"/>
            <a:cs typeface="+mn-cs"/>
          </a:endParaRPr>
        </a:p>
      </dsp:txBody>
      <dsp:txXfrm>
        <a:off x="7684737" y="752257"/>
        <a:ext cx="2509574" cy="12866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1737C3-9144-6C4D-9914-BB65BF3B3771}">
      <dsp:nvSpPr>
        <dsp:cNvPr id="0" name=""/>
        <dsp:cNvSpPr/>
      </dsp:nvSpPr>
      <dsp:spPr>
        <a:xfrm>
          <a:off x="5022986" y="1168256"/>
          <a:ext cx="3306434" cy="400117"/>
        </a:xfrm>
        <a:custGeom>
          <a:avLst/>
          <a:gdLst/>
          <a:ahLst/>
          <a:cxnLst/>
          <a:rect l="0" t="0" r="0" b="0"/>
          <a:pathLst>
            <a:path>
              <a:moveTo>
                <a:pt x="0" y="0"/>
              </a:moveTo>
              <a:lnTo>
                <a:pt x="0" y="223509"/>
              </a:lnTo>
              <a:lnTo>
                <a:pt x="3001494" y="223509"/>
              </a:lnTo>
              <a:lnTo>
                <a:pt x="3001494" y="383179"/>
              </a:lnTo>
            </a:path>
          </a:pathLst>
        </a:custGeom>
        <a:noFill/>
        <a:ln w="15875" cap="flat" cmpd="sng" algn="ctr">
          <a:solidFill>
            <a:srgbClr val="44709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BC359CCB-A73D-C04D-9027-E206C212D67E}">
      <dsp:nvSpPr>
        <dsp:cNvPr id="0" name=""/>
        <dsp:cNvSpPr/>
      </dsp:nvSpPr>
      <dsp:spPr>
        <a:xfrm>
          <a:off x="2877046" y="1168256"/>
          <a:ext cx="2145939" cy="498893"/>
        </a:xfrm>
        <a:custGeom>
          <a:avLst/>
          <a:gdLst/>
          <a:ahLst/>
          <a:cxnLst/>
          <a:rect l="0" t="0" r="0" b="0"/>
          <a:pathLst>
            <a:path>
              <a:moveTo>
                <a:pt x="1352163" y="0"/>
              </a:moveTo>
              <a:lnTo>
                <a:pt x="1352163" y="318104"/>
              </a:lnTo>
              <a:lnTo>
                <a:pt x="0" y="318104"/>
              </a:lnTo>
              <a:lnTo>
                <a:pt x="0" y="477774"/>
              </a:lnTo>
            </a:path>
          </a:pathLst>
        </a:custGeom>
        <a:noFill/>
        <a:ln w="15875" cap="flat" cmpd="sng" algn="ctr">
          <a:solidFill>
            <a:srgbClr val="44709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F7CA6306-0E5D-D543-8582-339840EE2145}">
      <dsp:nvSpPr>
        <dsp:cNvPr id="0" name=""/>
        <dsp:cNvSpPr/>
      </dsp:nvSpPr>
      <dsp:spPr>
        <a:xfrm>
          <a:off x="715768" y="25407"/>
          <a:ext cx="8614434" cy="1142848"/>
        </a:xfrm>
        <a:prstGeom prst="roundRect">
          <a:avLst>
            <a:gd name="adj" fmla="val 10000"/>
          </a:avLst>
        </a:prstGeom>
        <a:solidFill>
          <a:srgbClr val="83992A">
            <a:hueOff val="0"/>
            <a:satOff val="0"/>
            <a:lumOff val="0"/>
            <a:alphaOff val="0"/>
          </a:srgbClr>
        </a:solidFill>
        <a:ln w="15875"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2E801D5E-B864-1840-B91F-44A4EE90860D}">
      <dsp:nvSpPr>
        <dsp:cNvPr id="0" name=""/>
        <dsp:cNvSpPr/>
      </dsp:nvSpPr>
      <dsp:spPr>
        <a:xfrm>
          <a:off x="915742" y="215382"/>
          <a:ext cx="8614434" cy="1142848"/>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solidFill>
                <a:sysClr val="windowText" lastClr="000000">
                  <a:hueOff val="0"/>
                  <a:satOff val="0"/>
                  <a:lumOff val="0"/>
                  <a:alphaOff val="0"/>
                </a:sysClr>
              </a:solidFill>
              <a:latin typeface="Candara" panose="020E0502030303020204" pitchFamily="34" charset="0"/>
              <a:ea typeface="+mn-ea"/>
              <a:cs typeface="+mn-cs"/>
            </a:rPr>
            <a:t>There are two areas where duress will be excluded </a:t>
          </a:r>
          <a:endParaRPr lang="en-US" sz="3000" kern="1200" dirty="0">
            <a:solidFill>
              <a:sysClr val="windowText" lastClr="000000">
                <a:hueOff val="0"/>
                <a:satOff val="0"/>
                <a:lumOff val="0"/>
                <a:alphaOff val="0"/>
              </a:sysClr>
            </a:solidFill>
            <a:latin typeface="Candara" panose="020E0502030303020204" pitchFamily="34" charset="0"/>
            <a:ea typeface="+mn-ea"/>
            <a:cs typeface="+mn-cs"/>
          </a:endParaRPr>
        </a:p>
      </dsp:txBody>
      <dsp:txXfrm>
        <a:off x="949215" y="248855"/>
        <a:ext cx="8547488" cy="1075902"/>
      </dsp:txXfrm>
    </dsp:sp>
    <dsp:sp modelId="{D7C5038A-8724-7A43-9B50-7C9B1EB98581}">
      <dsp:nvSpPr>
        <dsp:cNvPr id="0" name=""/>
        <dsp:cNvSpPr/>
      </dsp:nvSpPr>
      <dsp:spPr>
        <a:xfrm>
          <a:off x="922955" y="1667150"/>
          <a:ext cx="3908183" cy="1142848"/>
        </a:xfrm>
        <a:prstGeom prst="roundRect">
          <a:avLst>
            <a:gd name="adj" fmla="val 10000"/>
          </a:avLst>
        </a:prstGeom>
        <a:solidFill>
          <a:srgbClr val="44709D">
            <a:hueOff val="0"/>
            <a:satOff val="0"/>
            <a:lumOff val="0"/>
            <a:alphaOff val="0"/>
          </a:srgbClr>
        </a:solidFill>
        <a:ln w="15875"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1BBADF10-5908-8445-815C-6ACD269DF0D7}">
      <dsp:nvSpPr>
        <dsp:cNvPr id="0" name=""/>
        <dsp:cNvSpPr/>
      </dsp:nvSpPr>
      <dsp:spPr>
        <a:xfrm>
          <a:off x="1122928" y="1857125"/>
          <a:ext cx="3908183" cy="1142848"/>
        </a:xfrm>
        <a:prstGeom prst="roundRect">
          <a:avLst>
            <a:gd name="adj" fmla="val 10000"/>
          </a:avLst>
        </a:prstGeo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solidFill>
                <a:sysClr val="windowText" lastClr="000000">
                  <a:hueOff val="0"/>
                  <a:satOff val="0"/>
                  <a:lumOff val="0"/>
                  <a:alphaOff val="0"/>
                </a:sysClr>
              </a:solidFill>
              <a:latin typeface="Candara" panose="020E0502030303020204" pitchFamily="34" charset="0"/>
              <a:ea typeface="+mn-ea"/>
              <a:cs typeface="+mn-cs"/>
            </a:rPr>
            <a:t>In relation to certain offences</a:t>
          </a:r>
          <a:endParaRPr lang="en-US" sz="2900" kern="1200" dirty="0">
            <a:solidFill>
              <a:sysClr val="windowText" lastClr="000000">
                <a:hueOff val="0"/>
                <a:satOff val="0"/>
                <a:lumOff val="0"/>
                <a:alphaOff val="0"/>
              </a:sysClr>
            </a:solidFill>
            <a:latin typeface="Candara" panose="020E0502030303020204" pitchFamily="34" charset="0"/>
            <a:ea typeface="+mn-ea"/>
            <a:cs typeface="+mn-cs"/>
          </a:endParaRPr>
        </a:p>
      </dsp:txBody>
      <dsp:txXfrm>
        <a:off x="1156401" y="1890598"/>
        <a:ext cx="3841237" cy="1075902"/>
      </dsp:txXfrm>
    </dsp:sp>
    <dsp:sp modelId="{660EC2CB-3354-9640-8A9F-2CD8F76D5CBE}">
      <dsp:nvSpPr>
        <dsp:cNvPr id="0" name=""/>
        <dsp:cNvSpPr/>
      </dsp:nvSpPr>
      <dsp:spPr>
        <a:xfrm>
          <a:off x="5911539" y="1568374"/>
          <a:ext cx="4835762" cy="1142848"/>
        </a:xfrm>
        <a:prstGeom prst="roundRect">
          <a:avLst>
            <a:gd name="adj" fmla="val 10000"/>
          </a:avLst>
        </a:prstGeom>
        <a:solidFill>
          <a:srgbClr val="44709D">
            <a:hueOff val="0"/>
            <a:satOff val="0"/>
            <a:lumOff val="0"/>
            <a:alphaOff val="0"/>
          </a:srgbClr>
        </a:solidFill>
        <a:ln w="15875"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0CA9A2D5-23D7-4141-9D8A-C2AC18FCBD49}">
      <dsp:nvSpPr>
        <dsp:cNvPr id="0" name=""/>
        <dsp:cNvSpPr/>
      </dsp:nvSpPr>
      <dsp:spPr>
        <a:xfrm>
          <a:off x="6111513" y="1758348"/>
          <a:ext cx="4835762" cy="1142848"/>
        </a:xfrm>
        <a:prstGeom prst="roundRect">
          <a:avLst>
            <a:gd name="adj" fmla="val 10000"/>
          </a:avLst>
        </a:prstGeom>
        <a:solidFill>
          <a:sysClr val="window" lastClr="FFFFFF">
            <a:alpha val="90000"/>
            <a:hueOff val="0"/>
            <a:satOff val="0"/>
            <a:lumOff val="0"/>
            <a:alphaOff val="0"/>
          </a:sysClr>
        </a:solidFill>
        <a:ln w="15875" cap="flat" cmpd="sng" algn="ctr">
          <a:solidFill>
            <a:srgbClr val="44709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solidFill>
                <a:sysClr val="windowText" lastClr="000000">
                  <a:hueOff val="0"/>
                  <a:satOff val="0"/>
                  <a:lumOff val="0"/>
                  <a:alphaOff val="0"/>
                </a:sysClr>
              </a:solidFill>
              <a:latin typeface="Candara" panose="020E0502030303020204" pitchFamily="34" charset="0"/>
              <a:ea typeface="+mn-ea"/>
              <a:cs typeface="+mn-cs"/>
            </a:rPr>
            <a:t>In circumstances of prior-fault. </a:t>
          </a:r>
          <a:endParaRPr lang="en-US" sz="2900" kern="1200" dirty="0">
            <a:solidFill>
              <a:sysClr val="windowText" lastClr="000000">
                <a:hueOff val="0"/>
                <a:satOff val="0"/>
                <a:lumOff val="0"/>
                <a:alphaOff val="0"/>
              </a:sysClr>
            </a:solidFill>
            <a:latin typeface="Candara" panose="020E0502030303020204" pitchFamily="34" charset="0"/>
            <a:ea typeface="+mn-ea"/>
            <a:cs typeface="+mn-cs"/>
          </a:endParaRPr>
        </a:p>
      </dsp:txBody>
      <dsp:txXfrm>
        <a:off x="6144986" y="1791821"/>
        <a:ext cx="4768816" cy="10759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A9DD4-FD57-CF42-8EA5-17662125E258}">
      <dsp:nvSpPr>
        <dsp:cNvPr id="0" name=""/>
        <dsp:cNvSpPr/>
      </dsp:nvSpPr>
      <dsp:spPr>
        <a:xfrm>
          <a:off x="0" y="583436"/>
          <a:ext cx="2994563" cy="1901547"/>
        </a:xfrm>
        <a:prstGeom prst="roundRect">
          <a:avLst>
            <a:gd name="adj" fmla="val 10000"/>
          </a:avLst>
        </a:prstGeom>
        <a:gradFill rotWithShape="1">
          <a:gsLst>
            <a:gs pos="0">
              <a:srgbClr val="A23C33">
                <a:tint val="60000"/>
                <a:lumMod val="110000"/>
              </a:srgbClr>
            </a:gs>
            <a:gs pos="100000">
              <a:srgbClr val="A23C33">
                <a:tint val="82000"/>
              </a:srgbClr>
            </a:gs>
          </a:gsLst>
          <a:lin ang="5400000" scaled="0"/>
        </a:gradFill>
        <a:ln w="9525" cap="flat" cmpd="sng" algn="ctr">
          <a:solidFill>
            <a:srgbClr val="A23C33"/>
          </a:solidFill>
          <a:prstDash val="solid"/>
        </a:ln>
        <a:effectLst/>
      </dsp:spPr>
      <dsp:style>
        <a:lnRef idx="1">
          <a:schemeClr val="accent4"/>
        </a:lnRef>
        <a:fillRef idx="2">
          <a:schemeClr val="accent4"/>
        </a:fillRef>
        <a:effectRef idx="1">
          <a:schemeClr val="accent4"/>
        </a:effectRef>
        <a:fontRef idx="minor">
          <a:schemeClr val="dk1"/>
        </a:fontRef>
      </dsp:style>
    </dsp:sp>
    <dsp:sp modelId="{42254E96-A8B3-A34D-8767-6F7CA9D06E69}">
      <dsp:nvSpPr>
        <dsp:cNvPr id="0" name=""/>
        <dsp:cNvSpPr/>
      </dsp:nvSpPr>
      <dsp:spPr>
        <a:xfrm>
          <a:off x="332729" y="899529"/>
          <a:ext cx="2994563" cy="1901547"/>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i="0" kern="1200" dirty="0">
              <a:solidFill>
                <a:srgbClr val="44709D"/>
              </a:solidFill>
              <a:latin typeface="Candara" panose="020E0502030303020204" pitchFamily="34" charset="0"/>
              <a:ea typeface="+mn-ea"/>
              <a:cs typeface="+mn-cs"/>
            </a:rPr>
            <a:t>The content of the threat </a:t>
          </a:r>
          <a:endParaRPr lang="en-US" sz="2500" b="1" i="0" kern="1200" dirty="0">
            <a:solidFill>
              <a:srgbClr val="44709D"/>
            </a:solidFill>
            <a:latin typeface="Candara" panose="020E0502030303020204" pitchFamily="34" charset="0"/>
            <a:ea typeface="+mn-ea"/>
            <a:cs typeface="+mn-cs"/>
          </a:endParaRPr>
        </a:p>
      </dsp:txBody>
      <dsp:txXfrm>
        <a:off x="388423" y="955223"/>
        <a:ext cx="2883175" cy="1790159"/>
      </dsp:txXfrm>
    </dsp:sp>
    <dsp:sp modelId="{A197D64F-078C-3C42-9499-48641B65C1DD}">
      <dsp:nvSpPr>
        <dsp:cNvPr id="0" name=""/>
        <dsp:cNvSpPr/>
      </dsp:nvSpPr>
      <dsp:spPr>
        <a:xfrm>
          <a:off x="3660021" y="583436"/>
          <a:ext cx="2994563" cy="1901547"/>
        </a:xfrm>
        <a:prstGeom prst="roundRect">
          <a:avLst>
            <a:gd name="adj" fmla="val 10000"/>
          </a:avLst>
        </a:prstGeom>
        <a:gradFill rotWithShape="1">
          <a:gsLst>
            <a:gs pos="0">
              <a:srgbClr val="44709D">
                <a:tint val="60000"/>
                <a:lumMod val="110000"/>
              </a:srgbClr>
            </a:gs>
            <a:gs pos="100000">
              <a:srgbClr val="44709D">
                <a:tint val="82000"/>
              </a:srgbClr>
            </a:gs>
          </a:gsLst>
          <a:lin ang="5400000" scaled="0"/>
        </a:gradFill>
        <a:ln w="9525" cap="flat" cmpd="sng" algn="ctr">
          <a:solidFill>
            <a:srgbClr val="44709D"/>
          </a:solidFill>
          <a:prstDash val="solid"/>
        </a:ln>
        <a:effectLst/>
      </dsp:spPr>
      <dsp:style>
        <a:lnRef idx="1">
          <a:schemeClr val="accent3"/>
        </a:lnRef>
        <a:fillRef idx="2">
          <a:schemeClr val="accent3"/>
        </a:fillRef>
        <a:effectRef idx="1">
          <a:schemeClr val="accent3"/>
        </a:effectRef>
        <a:fontRef idx="minor">
          <a:schemeClr val="dk1"/>
        </a:fontRef>
      </dsp:style>
    </dsp:sp>
    <dsp:sp modelId="{84206810-82CF-D242-96B2-625648ED168F}">
      <dsp:nvSpPr>
        <dsp:cNvPr id="0" name=""/>
        <dsp:cNvSpPr/>
      </dsp:nvSpPr>
      <dsp:spPr>
        <a:xfrm>
          <a:off x="3992750" y="899529"/>
          <a:ext cx="2994563" cy="1901547"/>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i="0" kern="1200" dirty="0">
              <a:solidFill>
                <a:srgbClr val="44709D"/>
              </a:solidFill>
              <a:latin typeface="Candara" panose="020E0502030303020204" pitchFamily="34" charset="0"/>
              <a:ea typeface="+mn-ea"/>
              <a:cs typeface="+mn-cs"/>
            </a:rPr>
            <a:t>Who made the threat and demand, and who are they directed at</a:t>
          </a:r>
          <a:endParaRPr lang="en-US" sz="2500" b="1" i="0" kern="1200" dirty="0">
            <a:solidFill>
              <a:srgbClr val="44709D"/>
            </a:solidFill>
            <a:latin typeface="Candara" panose="020E0502030303020204" pitchFamily="34" charset="0"/>
            <a:ea typeface="+mn-ea"/>
            <a:cs typeface="+mn-cs"/>
          </a:endParaRPr>
        </a:p>
      </dsp:txBody>
      <dsp:txXfrm>
        <a:off x="4048444" y="955223"/>
        <a:ext cx="2883175" cy="1790159"/>
      </dsp:txXfrm>
    </dsp:sp>
    <dsp:sp modelId="{E8FA4D2D-95D3-1545-BA93-2128A9988ED8}">
      <dsp:nvSpPr>
        <dsp:cNvPr id="0" name=""/>
        <dsp:cNvSpPr/>
      </dsp:nvSpPr>
      <dsp:spPr>
        <a:xfrm>
          <a:off x="7320043" y="583436"/>
          <a:ext cx="2994563" cy="1901547"/>
        </a:xfrm>
        <a:prstGeom prst="roundRect">
          <a:avLst>
            <a:gd name="adj" fmla="val 10000"/>
          </a:avLst>
        </a:prstGeom>
        <a:gradFill rotWithShape="1">
          <a:gsLst>
            <a:gs pos="0">
              <a:srgbClr val="83992A">
                <a:tint val="60000"/>
                <a:lumMod val="110000"/>
              </a:srgbClr>
            </a:gs>
            <a:gs pos="100000">
              <a:srgbClr val="83992A">
                <a:tint val="82000"/>
              </a:srgbClr>
            </a:gs>
          </a:gsLst>
          <a:lin ang="5400000" scaled="0"/>
        </a:gradFill>
        <a:ln w="9525" cap="flat" cmpd="sng" algn="ctr">
          <a:solidFill>
            <a:srgbClr val="83992A"/>
          </a:solidFill>
          <a:prstDash val="solid"/>
        </a:ln>
        <a:effectLst/>
      </dsp:spPr>
      <dsp:style>
        <a:lnRef idx="1">
          <a:schemeClr val="accent1"/>
        </a:lnRef>
        <a:fillRef idx="2">
          <a:schemeClr val="accent1"/>
        </a:fillRef>
        <a:effectRef idx="1">
          <a:schemeClr val="accent1"/>
        </a:effectRef>
        <a:fontRef idx="minor">
          <a:schemeClr val="dk1"/>
        </a:fontRef>
      </dsp:style>
    </dsp:sp>
    <dsp:sp modelId="{03749345-61FD-5B41-BE9E-1B4346FF6AB3}">
      <dsp:nvSpPr>
        <dsp:cNvPr id="0" name=""/>
        <dsp:cNvSpPr/>
      </dsp:nvSpPr>
      <dsp:spPr>
        <a:xfrm>
          <a:off x="7652772" y="899529"/>
          <a:ext cx="2994563" cy="1901547"/>
        </a:xfrm>
        <a:prstGeom prst="roundRect">
          <a:avLst>
            <a:gd name="adj" fmla="val 10000"/>
          </a:avLst>
        </a:prstGeom>
        <a:solidFill>
          <a:sysClr val="window" lastClr="FFFFFF">
            <a:alpha val="90000"/>
            <a:hueOff val="0"/>
            <a:satOff val="0"/>
            <a:lumOff val="0"/>
            <a:alphaOff val="0"/>
          </a:sysClr>
        </a:solidFill>
        <a:ln w="15875" cap="flat" cmpd="sng" algn="ctr">
          <a:solidFill>
            <a:srgbClr val="83992A">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1" i="1" kern="1200" dirty="0">
              <a:solidFill>
                <a:srgbClr val="44709D"/>
              </a:solidFill>
              <a:latin typeface="Candara" panose="020E0502030303020204" pitchFamily="34" charset="0"/>
              <a:ea typeface="+mn-ea"/>
              <a:cs typeface="+mn-cs"/>
            </a:rPr>
            <a:t>The content of the demand.</a:t>
          </a:r>
          <a:endParaRPr lang="en-US" sz="2400" b="1" i="1" kern="1200" dirty="0">
            <a:solidFill>
              <a:srgbClr val="44709D"/>
            </a:solidFill>
            <a:latin typeface="Candara" panose="020E0502030303020204" pitchFamily="34" charset="0"/>
            <a:ea typeface="+mn-ea"/>
            <a:cs typeface="+mn-cs"/>
          </a:endParaRPr>
        </a:p>
      </dsp:txBody>
      <dsp:txXfrm>
        <a:off x="7708466" y="955223"/>
        <a:ext cx="2883175" cy="17901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7A12B-E160-49DE-BC17-10CA2CFB9B75}" type="datetimeFigureOut">
              <a:rPr lang="en-GB" smtClean="0"/>
              <a:t>14/01/2025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44D08-4B90-45BA-9091-624A9D9BCB76}" type="slidenum">
              <a:rPr lang="en-GB" smtClean="0"/>
              <a:t>‹#›</a:t>
            </a:fld>
            <a:endParaRPr lang="en-GB"/>
          </a:p>
        </p:txBody>
      </p:sp>
    </p:spTree>
    <p:extLst>
      <p:ext uri="{BB962C8B-B14F-4D97-AF65-F5344CB8AC3E}">
        <p14:creationId xmlns:p14="http://schemas.microsoft.com/office/powerpoint/2010/main" val="652389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617D7D71-A193-454B-802C-EF766482DED9}" type="slidenum">
              <a:rPr lang="en-GB" smtClean="0"/>
              <a:pPr/>
              <a:t>1</a:t>
            </a:fld>
            <a:endParaRPr lang="en-GB"/>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942405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1"/>
            <a:ext cx="12192000" cy="5516563"/>
          </a:xfrm>
          <a:prstGeom prst="rect">
            <a:avLst/>
          </a:prstGeom>
          <a:solidFill>
            <a:srgbClr val="663366"/>
          </a:solidFill>
          <a:ln w="9525">
            <a:noFill/>
            <a:miter lim="800000"/>
            <a:headEnd/>
            <a:tailEnd/>
          </a:ln>
          <a:effectLst/>
        </p:spPr>
        <p:txBody>
          <a:bodyPr wrap="none" anchor="ctr"/>
          <a:lstStyle/>
          <a:p>
            <a:pPr algn="ctr">
              <a:defRPr/>
            </a:pPr>
            <a:endParaRPr lang="en-US" sz="1800">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355600" y="5843588"/>
            <a:ext cx="25908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1007533" y="476251"/>
            <a:ext cx="103632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1102784" y="2420938"/>
            <a:ext cx="10081683"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8737600" y="6245225"/>
            <a:ext cx="2844800" cy="476250"/>
          </a:xfrm>
        </p:spPr>
        <p:txBody>
          <a:bodyPr/>
          <a:lstStyle>
            <a:lvl1pPr>
              <a:defRPr/>
            </a:lvl1pPr>
          </a:lstStyle>
          <a:p>
            <a:pPr>
              <a:defRPr/>
            </a:pPr>
            <a:fld id="{8737E7BC-0AD6-4697-8AE2-1050AD12CB8F}" type="slidenum">
              <a:rPr lang="en-GB"/>
              <a:pPr>
                <a:defRPr/>
              </a:pPr>
              <a:t>‹#›</a:t>
            </a:fld>
            <a:endParaRPr lang="en-GB"/>
          </a:p>
        </p:txBody>
      </p:sp>
    </p:spTree>
    <p:extLst>
      <p:ext uri="{BB962C8B-B14F-4D97-AF65-F5344CB8AC3E}">
        <p14:creationId xmlns:p14="http://schemas.microsoft.com/office/powerpoint/2010/main" val="2840914101"/>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4912F08-1523-45E2-8BAA-A9F45CA558CC}" type="slidenum">
              <a:rPr lang="en-GB"/>
              <a:pPr>
                <a:defRPr/>
              </a:pPr>
              <a:t>‹#›</a:t>
            </a:fld>
            <a:endParaRPr lang="en-GB"/>
          </a:p>
        </p:txBody>
      </p:sp>
    </p:spTree>
    <p:extLst>
      <p:ext uri="{BB962C8B-B14F-4D97-AF65-F5344CB8AC3E}">
        <p14:creationId xmlns:p14="http://schemas.microsoft.com/office/powerpoint/2010/main" val="3813476569"/>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4D38D05-2521-46AF-B091-01B951CDC625}" type="slidenum">
              <a:rPr lang="en-GB"/>
              <a:pPr>
                <a:defRPr/>
              </a:pPr>
              <a:t>‹#›</a:t>
            </a:fld>
            <a:endParaRPr lang="en-GB"/>
          </a:p>
        </p:txBody>
      </p:sp>
    </p:spTree>
    <p:extLst>
      <p:ext uri="{BB962C8B-B14F-4D97-AF65-F5344CB8AC3E}">
        <p14:creationId xmlns:p14="http://schemas.microsoft.com/office/powerpoint/2010/main" val="3098982922"/>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2284" y="1989138"/>
            <a:ext cx="508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5484" y="1989138"/>
            <a:ext cx="508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C6FAAD-47EB-4642-A20E-D6984E4E470D}" type="slidenum">
              <a:rPr lang="en-GB"/>
              <a:pPr>
                <a:defRPr/>
              </a:pPr>
              <a:t>‹#›</a:t>
            </a:fld>
            <a:endParaRPr lang="en-GB"/>
          </a:p>
        </p:txBody>
      </p:sp>
    </p:spTree>
    <p:extLst>
      <p:ext uri="{BB962C8B-B14F-4D97-AF65-F5344CB8AC3E}">
        <p14:creationId xmlns:p14="http://schemas.microsoft.com/office/powerpoint/2010/main" val="1588957743"/>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958A245-B2A4-4D64-9F17-8921249642A6}" type="slidenum">
              <a:rPr lang="en-GB"/>
              <a:pPr>
                <a:defRPr/>
              </a:pPr>
              <a:t>‹#›</a:t>
            </a:fld>
            <a:endParaRPr lang="en-GB"/>
          </a:p>
        </p:txBody>
      </p:sp>
    </p:spTree>
    <p:extLst>
      <p:ext uri="{BB962C8B-B14F-4D97-AF65-F5344CB8AC3E}">
        <p14:creationId xmlns:p14="http://schemas.microsoft.com/office/powerpoint/2010/main" val="1043884911"/>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CD46157-7DE3-44BB-B05A-899920269FF4}" type="slidenum">
              <a:rPr lang="en-GB"/>
              <a:pPr>
                <a:defRPr/>
              </a:pPr>
              <a:t>‹#›</a:t>
            </a:fld>
            <a:endParaRPr lang="en-GB"/>
          </a:p>
        </p:txBody>
      </p:sp>
    </p:spTree>
    <p:extLst>
      <p:ext uri="{BB962C8B-B14F-4D97-AF65-F5344CB8AC3E}">
        <p14:creationId xmlns:p14="http://schemas.microsoft.com/office/powerpoint/2010/main" val="526146967"/>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F579CBE-EE5B-4C6C-91B6-8F09653FD416}" type="slidenum">
              <a:rPr lang="en-GB"/>
              <a:pPr>
                <a:defRPr/>
              </a:pPr>
              <a:t>‹#›</a:t>
            </a:fld>
            <a:endParaRPr lang="en-GB"/>
          </a:p>
        </p:txBody>
      </p:sp>
    </p:spTree>
    <p:extLst>
      <p:ext uri="{BB962C8B-B14F-4D97-AF65-F5344CB8AC3E}">
        <p14:creationId xmlns:p14="http://schemas.microsoft.com/office/powerpoint/2010/main" val="616140746"/>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16C9DAA-14DF-41CB-AECF-883B94965DEE}" type="slidenum">
              <a:rPr lang="en-GB"/>
              <a:pPr>
                <a:defRPr/>
              </a:pPr>
              <a:t>‹#›</a:t>
            </a:fld>
            <a:endParaRPr lang="en-GB"/>
          </a:p>
        </p:txBody>
      </p:sp>
    </p:spTree>
    <p:extLst>
      <p:ext uri="{BB962C8B-B14F-4D97-AF65-F5344CB8AC3E}">
        <p14:creationId xmlns:p14="http://schemas.microsoft.com/office/powerpoint/2010/main" val="1001895070"/>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5C932C4-36C2-4D67-A23F-5A8A2E0B6DF0}" type="slidenum">
              <a:rPr lang="en-GB"/>
              <a:pPr>
                <a:defRPr/>
              </a:pPr>
              <a:t>‹#›</a:t>
            </a:fld>
            <a:endParaRPr lang="en-GB"/>
          </a:p>
        </p:txBody>
      </p:sp>
    </p:spTree>
    <p:extLst>
      <p:ext uri="{BB962C8B-B14F-4D97-AF65-F5344CB8AC3E}">
        <p14:creationId xmlns:p14="http://schemas.microsoft.com/office/powerpoint/2010/main" val="3252208498"/>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47CF5CD-C373-4001-B614-6EE9712AD039}" type="slidenum">
              <a:rPr lang="en-GB"/>
              <a:pPr>
                <a:defRPr/>
              </a:pPr>
              <a:t>‹#›</a:t>
            </a:fld>
            <a:endParaRPr lang="en-GB"/>
          </a:p>
        </p:txBody>
      </p:sp>
    </p:spTree>
    <p:extLst>
      <p:ext uri="{BB962C8B-B14F-4D97-AF65-F5344CB8AC3E}">
        <p14:creationId xmlns:p14="http://schemas.microsoft.com/office/powerpoint/2010/main" val="1537184048"/>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2285" y="609600"/>
            <a:ext cx="7571316"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D037EC9-F64E-416F-A73B-52D4D68F7875}" type="slidenum">
              <a:rPr lang="en-GB"/>
              <a:pPr>
                <a:defRPr/>
              </a:pPr>
              <a:t>‹#›</a:t>
            </a:fld>
            <a:endParaRPr lang="en-GB"/>
          </a:p>
        </p:txBody>
      </p:sp>
    </p:spTree>
    <p:extLst>
      <p:ext uri="{BB962C8B-B14F-4D97-AF65-F5344CB8AC3E}">
        <p14:creationId xmlns:p14="http://schemas.microsoft.com/office/powerpoint/2010/main" val="1658449893"/>
      </p:ext>
    </p:extLst>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1" y="1"/>
            <a:ext cx="12187767" cy="6873875"/>
          </a:xfrm>
          <a:prstGeom prst="rect">
            <a:avLst/>
          </a:prstGeom>
          <a:solidFill>
            <a:srgbClr val="663366"/>
          </a:solidFill>
          <a:ln w="9525">
            <a:noFill/>
            <a:miter lim="800000"/>
            <a:headEnd/>
            <a:tailEnd/>
          </a:ln>
          <a:effectLst/>
        </p:spPr>
        <p:txBody>
          <a:bodyPr wrap="none" anchor="ctr"/>
          <a:lstStyle/>
          <a:p>
            <a:pPr algn="ctr">
              <a:defRPr/>
            </a:pPr>
            <a:r>
              <a:rPr lang="en-GB" sz="1800">
                <a:solidFill>
                  <a:srgbClr val="663366"/>
                </a:solidFill>
              </a:rPr>
              <a:t>∂</a:t>
            </a:r>
          </a:p>
        </p:txBody>
      </p:sp>
      <p:sp>
        <p:nvSpPr>
          <p:cNvPr id="1032" name="Rectangle 8"/>
          <p:cNvSpPr>
            <a:spLocks noChangeArrowheads="1"/>
          </p:cNvSpPr>
          <p:nvPr/>
        </p:nvSpPr>
        <p:spPr bwMode="auto">
          <a:xfrm>
            <a:off x="143934" y="107951"/>
            <a:ext cx="11899900" cy="6657975"/>
          </a:xfrm>
          <a:prstGeom prst="rect">
            <a:avLst/>
          </a:prstGeom>
          <a:solidFill>
            <a:schemeClr val="bg1"/>
          </a:solidFill>
          <a:ln w="9525">
            <a:noFill/>
            <a:miter lim="800000"/>
            <a:headEnd/>
            <a:tailEnd/>
          </a:ln>
          <a:effectLst/>
        </p:spPr>
        <p:txBody>
          <a:bodyPr wrap="none" anchor="ctr"/>
          <a:lstStyle/>
          <a:p>
            <a:pPr algn="ctr">
              <a:defRPr/>
            </a:pPr>
            <a:endParaRPr lang="en-US" sz="1800">
              <a:solidFill>
                <a:srgbClr val="663366"/>
              </a:solidFill>
            </a:endParaRPr>
          </a:p>
        </p:txBody>
      </p:sp>
      <p:sp>
        <p:nvSpPr>
          <p:cNvPr id="1028"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dirty="0"/>
              <a:t>Heading style</a:t>
            </a:r>
          </a:p>
        </p:txBody>
      </p:sp>
      <p:sp>
        <p:nvSpPr>
          <p:cNvPr id="1029" name="Rectangle 3"/>
          <p:cNvSpPr>
            <a:spLocks noGrp="1" noChangeArrowheads="1"/>
          </p:cNvSpPr>
          <p:nvPr>
            <p:ph type="body" idx="1"/>
          </p:nvPr>
        </p:nvSpPr>
        <p:spPr bwMode="auto">
          <a:xfrm>
            <a:off x="912284" y="1989138"/>
            <a:ext cx="10363200" cy="3816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4A284BA-A63D-4214-92FC-61D78B3D9DA5}" type="slidenum">
              <a:rPr lang="en-GB"/>
              <a:pPr>
                <a:defRPr/>
              </a:pPr>
              <a:t>‹#›</a:t>
            </a:fld>
            <a:endParaRPr lang="en-GB"/>
          </a:p>
        </p:txBody>
      </p:sp>
      <p:sp>
        <p:nvSpPr>
          <p:cNvPr id="1033" name="Rectangle 9"/>
          <p:cNvSpPr>
            <a:spLocks noChangeArrowheads="1"/>
          </p:cNvSpPr>
          <p:nvPr/>
        </p:nvSpPr>
        <p:spPr bwMode="auto">
          <a:xfrm>
            <a:off x="1054100" y="611188"/>
            <a:ext cx="10699751"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1054100" y="1798638"/>
            <a:ext cx="10699751"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355600" y="5843588"/>
            <a:ext cx="2590800" cy="862012"/>
          </a:xfrm>
          <a:prstGeom prst="rect">
            <a:avLst/>
          </a:prstGeom>
          <a:noFill/>
          <a:ln w="9525">
            <a:noFill/>
            <a:miter lim="800000"/>
            <a:headEnd/>
            <a:tailEnd/>
          </a:ln>
        </p:spPr>
      </p:pic>
    </p:spTree>
    <p:extLst>
      <p:ext uri="{BB962C8B-B14F-4D97-AF65-F5344CB8AC3E}">
        <p14:creationId xmlns:p14="http://schemas.microsoft.com/office/powerpoint/2010/main" val="13268515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ll/>
  </p:transition>
  <p:txStyles>
    <p:titleStyle>
      <a:lvl1pPr algn="l" rtl="0" eaLnBrk="1" fontAlgn="base" hangingPunct="1">
        <a:spcBef>
          <a:spcPct val="0"/>
        </a:spcBef>
        <a:spcAft>
          <a:spcPct val="0"/>
        </a:spcAft>
        <a:defRPr sz="3600">
          <a:solidFill>
            <a:srgbClr val="663366"/>
          </a:solidFill>
          <a:latin typeface="+mj-lt"/>
          <a:ea typeface="+mj-ea"/>
          <a:cs typeface="+mj-cs"/>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1" fontAlgn="base" hangingPunct="1">
        <a:spcBef>
          <a:spcPct val="20000"/>
        </a:spcBef>
        <a:spcAft>
          <a:spcPct val="0"/>
        </a:spcAft>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defRPr>
      </a:lvl2pPr>
      <a:lvl3pPr marL="1143000" indent="-228600" algn="l" rtl="0" eaLnBrk="1" fontAlgn="base" hangingPunct="1">
        <a:spcBef>
          <a:spcPct val="20000"/>
        </a:spcBef>
        <a:spcAft>
          <a:spcPct val="0"/>
        </a:spcAft>
        <a:buChar char="•"/>
        <a:defRPr sz="1400">
          <a:solidFill>
            <a:schemeClr val="tx1"/>
          </a:solidFill>
          <a:latin typeface="+mn-lt"/>
        </a:defRPr>
      </a:lvl3pPr>
      <a:lvl4pPr marL="1600200" indent="-228600" algn="l" rtl="0" eaLnBrk="1" fontAlgn="base" hangingPunct="1">
        <a:spcBef>
          <a:spcPct val="20000"/>
        </a:spcBef>
        <a:spcAft>
          <a:spcPct val="0"/>
        </a:spcAft>
        <a:buChar char="–"/>
        <a:defRPr sz="1200">
          <a:solidFill>
            <a:schemeClr val="tx1"/>
          </a:solidFill>
          <a:latin typeface="+mn-lt"/>
        </a:defRPr>
      </a:lvl4pPr>
      <a:lvl5pPr marL="2057400" indent="-228600" algn="l" rtl="0" eaLnBrk="1" fontAlgn="base" hangingPunct="1">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algn="ctr"/>
            <a:br>
              <a:rPr lang="de-DE" dirty="0"/>
            </a:br>
            <a:r>
              <a:rPr lang="de-DE" sz="4400" dirty="0">
                <a:latin typeface="Candara" panose="020E0502030303020204" pitchFamily="34" charset="0"/>
              </a:rPr>
              <a:t>CRIMINAL LAW 2221</a:t>
            </a:r>
            <a:br>
              <a:rPr lang="de-DE" dirty="0"/>
            </a:br>
            <a:endParaRPr lang="en-US" dirty="0"/>
          </a:p>
        </p:txBody>
      </p:sp>
      <p:sp>
        <p:nvSpPr>
          <p:cNvPr id="3075" name="Rectangle 5"/>
          <p:cNvSpPr>
            <a:spLocks noGrp="1" noChangeArrowheads="1"/>
          </p:cNvSpPr>
          <p:nvPr>
            <p:ph type="subTitle" idx="1"/>
          </p:nvPr>
        </p:nvSpPr>
        <p:spPr>
          <a:xfrm>
            <a:off x="1102784" y="1946277"/>
            <a:ext cx="10081683" cy="3318450"/>
          </a:xfrm>
        </p:spPr>
        <p:txBody>
          <a:bodyPr/>
          <a:lstStyle/>
          <a:p>
            <a:r>
              <a:rPr lang="en-GB" sz="4000" dirty="0">
                <a:latin typeface="Candara" panose="020E0502030303020204" pitchFamily="34" charset="0"/>
              </a:rPr>
              <a:t>General Defences: Duress as a Defence</a:t>
            </a:r>
            <a:endParaRPr lang="en-GB" dirty="0">
              <a:latin typeface="Candara" panose="020E0502030303020204" pitchFamily="34" charset="0"/>
            </a:endParaRPr>
          </a:p>
          <a:p>
            <a:endParaRPr lang="en-GB" dirty="0">
              <a:latin typeface="Candara" panose="020E0502030303020204" pitchFamily="34" charset="0"/>
            </a:endParaRPr>
          </a:p>
          <a:p>
            <a:endParaRPr lang="en-GB" dirty="0">
              <a:latin typeface="Candara" panose="020E0502030303020204" pitchFamily="34" charset="0"/>
            </a:endParaRPr>
          </a:p>
          <a:p>
            <a:pPr algn="r"/>
            <a:r>
              <a:rPr lang="en-GB" sz="2400" dirty="0">
                <a:latin typeface="Candara" panose="020E0502030303020204" pitchFamily="34" charset="0"/>
              </a:rPr>
              <a:t>Dr Kat Langley</a:t>
            </a:r>
          </a:p>
          <a:p>
            <a:pPr algn="r"/>
            <a:r>
              <a:rPr lang="en-GB" sz="2400" dirty="0">
                <a:latin typeface="Candara" panose="020E0502030303020204" pitchFamily="34" charset="0"/>
              </a:rPr>
              <a:t>Tuesday 21</a:t>
            </a:r>
            <a:r>
              <a:rPr lang="en-GB" sz="2400" baseline="30000" dirty="0">
                <a:latin typeface="Candara" panose="020E0502030303020204" pitchFamily="34" charset="0"/>
              </a:rPr>
              <a:t>st</a:t>
            </a:r>
            <a:r>
              <a:rPr lang="en-GB" sz="2400" dirty="0">
                <a:latin typeface="Candara" panose="020E0502030303020204" pitchFamily="34" charset="0"/>
              </a:rPr>
              <a:t> January 2025</a:t>
            </a:r>
          </a:p>
        </p:txBody>
      </p:sp>
    </p:spTree>
    <p:extLst>
      <p:ext uri="{BB962C8B-B14F-4D97-AF65-F5344CB8AC3E}">
        <p14:creationId xmlns:p14="http://schemas.microsoft.com/office/powerpoint/2010/main" val="3221140638"/>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481853"/>
            <a:ext cx="10363200" cy="1143000"/>
          </a:xfrm>
        </p:spPr>
        <p:txBody>
          <a:bodyPr/>
          <a:lstStyle/>
          <a:p>
            <a:pPr algn="ctr"/>
            <a:r>
              <a:rPr lang="en-US" sz="3200" b="1" dirty="0">
                <a:latin typeface="Candara" panose="020E0502030303020204" pitchFamily="34" charset="0"/>
              </a:rPr>
              <a:t>Learning Outcomes </a:t>
            </a:r>
            <a:br>
              <a:rPr lang="en-US" sz="3200" b="1" dirty="0">
                <a:latin typeface="Candara" panose="020E0502030303020204" pitchFamily="34" charset="0"/>
              </a:rPr>
            </a:br>
            <a:r>
              <a:rPr lang="en-US" sz="2800" b="1" i="1" dirty="0">
                <a:latin typeface="Candara" panose="020E0502030303020204" pitchFamily="34" charset="0"/>
              </a:rPr>
              <a:t>What will you learn today?</a:t>
            </a:r>
            <a:r>
              <a:rPr lang="en-US" sz="2800" b="1" dirty="0">
                <a:latin typeface="Candara" panose="020E0502030303020204" pitchFamily="34" charset="0"/>
              </a:rPr>
              <a:t> </a:t>
            </a:r>
            <a:endParaRPr lang="en-US" sz="3200" b="1" dirty="0">
              <a:latin typeface="Candara" panose="020E0502030303020204" pitchFamily="34" charset="0"/>
            </a:endParaRP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516977" y="1698811"/>
            <a:ext cx="11410122" cy="4318747"/>
          </a:xfrm>
        </p:spPr>
        <p:txBody>
          <a:bodyPr/>
          <a:lstStyle/>
          <a:p>
            <a:pPr marL="0" indent="0" algn="ctr"/>
            <a:r>
              <a:rPr lang="en-GB" altLang="en-US" sz="1600" b="1" dirty="0">
                <a:solidFill>
                  <a:srgbClr val="663366"/>
                </a:solidFill>
                <a:latin typeface="Candara" panose="020E0502030303020204" pitchFamily="34" charset="0"/>
                <a:ea typeface="+mj-ea"/>
                <a:cs typeface="+mj-cs"/>
              </a:rPr>
              <a:t>Duress</a:t>
            </a:r>
            <a:r>
              <a:rPr lang="en-GB" altLang="en-US" sz="1600" dirty="0">
                <a:latin typeface="Candara" panose="020E0502030303020204" pitchFamily="34" charset="0"/>
              </a:rPr>
              <a:t> </a:t>
            </a:r>
          </a:p>
          <a:p>
            <a:pPr marL="0" indent="0" algn="ctr">
              <a:lnSpc>
                <a:spcPct val="150000"/>
              </a:lnSpc>
            </a:pPr>
            <a:r>
              <a:rPr lang="en-GB" altLang="en-US" sz="1600" b="1" dirty="0">
                <a:solidFill>
                  <a:srgbClr val="663366"/>
                </a:solidFill>
                <a:latin typeface="Candara" panose="020E0502030303020204" pitchFamily="34" charset="0"/>
                <a:ea typeface="+mj-ea"/>
                <a:cs typeface="+mj-cs"/>
              </a:rPr>
              <a:t>(1) duress by threats, and (2) duress of circumstances.</a:t>
            </a:r>
          </a:p>
          <a:p>
            <a:pPr algn="just">
              <a:lnSpc>
                <a:spcPct val="150000"/>
              </a:lnSpc>
              <a:buFontTx/>
              <a:buChar char="•"/>
            </a:pPr>
            <a:r>
              <a:rPr lang="en-GB" altLang="en-US" sz="1600" dirty="0">
                <a:latin typeface="Candara" panose="020E0502030303020204" pitchFamily="34" charset="0"/>
              </a:rPr>
              <a:t>Both kinds of duress arise where the defendant is facing a threat of death or serious injury and commits a crime to avoid the threat.</a:t>
            </a:r>
          </a:p>
          <a:p>
            <a:pPr algn="just">
              <a:lnSpc>
                <a:spcPct val="150000"/>
              </a:lnSpc>
              <a:buFontTx/>
              <a:buChar char="•"/>
            </a:pPr>
            <a:r>
              <a:rPr lang="en-GB" altLang="en-US" sz="1600" b="1" dirty="0">
                <a:solidFill>
                  <a:srgbClr val="663366"/>
                </a:solidFill>
                <a:latin typeface="Candara" panose="020E0502030303020204" pitchFamily="34" charset="0"/>
                <a:ea typeface="+mj-ea"/>
                <a:cs typeface="+mj-cs"/>
              </a:rPr>
              <a:t>Duress by threats: “</a:t>
            </a:r>
            <a:r>
              <a:rPr lang="en-GB" altLang="en-US" sz="1600" dirty="0">
                <a:latin typeface="Candara" panose="020E0502030303020204" pitchFamily="34" charset="0"/>
              </a:rPr>
              <a:t>I’ll kill you unless you help me rob the bank</a:t>
            </a:r>
            <a:r>
              <a:rPr lang="en-GB" altLang="en-US" sz="1600" b="1" dirty="0">
                <a:solidFill>
                  <a:srgbClr val="663366"/>
                </a:solidFill>
                <a:latin typeface="Candara" panose="020E0502030303020204" pitchFamily="34" charset="0"/>
                <a:ea typeface="+mj-ea"/>
                <a:cs typeface="+mj-cs"/>
              </a:rPr>
              <a:t>”</a:t>
            </a:r>
            <a:r>
              <a:rPr lang="en-GB" altLang="en-US" sz="1600" dirty="0">
                <a:latin typeface="Candara" panose="020E0502030303020204" pitchFamily="34" charset="0"/>
              </a:rPr>
              <a:t> </a:t>
            </a:r>
          </a:p>
          <a:p>
            <a:pPr algn="just">
              <a:lnSpc>
                <a:spcPct val="150000"/>
              </a:lnSpc>
              <a:buFontTx/>
              <a:buChar char="•"/>
            </a:pPr>
            <a:r>
              <a:rPr lang="en-GB" altLang="en-US" sz="1600" b="1" dirty="0">
                <a:solidFill>
                  <a:srgbClr val="663366"/>
                </a:solidFill>
                <a:latin typeface="Candara" panose="020E0502030303020204" pitchFamily="34" charset="0"/>
                <a:ea typeface="+mj-ea"/>
                <a:cs typeface="+mj-cs"/>
              </a:rPr>
              <a:t>Duress of circumstances </a:t>
            </a:r>
            <a:r>
              <a:rPr lang="en-GB" altLang="en-US" sz="1600" dirty="0">
                <a:latin typeface="Candara" panose="020E0502030303020204" pitchFamily="34" charset="0"/>
              </a:rPr>
              <a:t>is similar, but there’s no one ordering the defendant to commit the crime.  It’s just that the circumstances are such that committing the crime is the only way to avoid the threat (e.g. escaping a gang by speeding).</a:t>
            </a:r>
            <a:endParaRPr lang="en-GB" altLang="en-US" sz="1600" b="1" dirty="0">
              <a:solidFill>
                <a:srgbClr val="663366"/>
              </a:solidFill>
              <a:latin typeface="Candara" panose="020E0502030303020204" pitchFamily="34" charset="0"/>
              <a:ea typeface="+mj-ea"/>
              <a:cs typeface="+mj-cs"/>
            </a:endParaRPr>
          </a:p>
          <a:p>
            <a:pPr marL="0" indent="0" algn="ctr">
              <a:lnSpc>
                <a:spcPct val="150000"/>
              </a:lnSpc>
            </a:pPr>
            <a:r>
              <a:rPr lang="en-GB" altLang="en-US" sz="1600" b="1" dirty="0">
                <a:solidFill>
                  <a:srgbClr val="663366"/>
                </a:solidFill>
                <a:latin typeface="Candara" panose="020E0502030303020204" pitchFamily="34" charset="0"/>
                <a:ea typeface="+mj-ea"/>
                <a:cs typeface="+mj-cs"/>
              </a:rPr>
              <a:t>Necessity</a:t>
            </a:r>
            <a:r>
              <a:rPr lang="en-GB" altLang="en-US" sz="1600" dirty="0">
                <a:latin typeface="Candara" panose="020E0502030303020204" pitchFamily="34" charset="0"/>
              </a:rPr>
              <a:t> </a:t>
            </a:r>
          </a:p>
          <a:p>
            <a:pPr marL="0" indent="0" algn="just">
              <a:lnSpc>
                <a:spcPct val="150000"/>
              </a:lnSpc>
            </a:pPr>
            <a:r>
              <a:rPr lang="en-GB" altLang="en-US" sz="1600" dirty="0">
                <a:latin typeface="Candara" panose="020E0502030303020204" pitchFamily="34" charset="0"/>
              </a:rPr>
              <a:t>Defendant argues they committed a crime to achieve a greater good or prevent a greater harm. They claim that their criminal act was the lesser of two evils.</a:t>
            </a:r>
          </a:p>
          <a:p>
            <a:pPr marL="0" indent="0" algn="ctr"/>
            <a:endParaRPr lang="en-GB" altLang="en-US" sz="1600" b="1" dirty="0">
              <a:solidFill>
                <a:srgbClr val="663366"/>
              </a:solidFill>
              <a:latin typeface="Candara" panose="020E0502030303020204" pitchFamily="34" charset="0"/>
              <a:ea typeface="+mj-ea"/>
              <a:cs typeface="+mj-cs"/>
            </a:endParaRPr>
          </a:p>
          <a:p>
            <a:endParaRPr lang="en-US" dirty="0"/>
          </a:p>
        </p:txBody>
      </p:sp>
    </p:spTree>
    <p:extLst>
      <p:ext uri="{BB962C8B-B14F-4D97-AF65-F5344CB8AC3E}">
        <p14:creationId xmlns:p14="http://schemas.microsoft.com/office/powerpoint/2010/main" val="2189197829"/>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r>
              <a:rPr lang="en-US" sz="3200" b="1" dirty="0">
                <a:latin typeface="Candara" panose="020E0502030303020204" pitchFamily="34" charset="0"/>
              </a:rPr>
              <a:t>What is Duress?  </a:t>
            </a: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626843"/>
            <a:ext cx="11410122" cy="4071592"/>
          </a:xfrm>
        </p:spPr>
        <p:txBody>
          <a:bodyPr/>
          <a:lstStyle/>
          <a:p>
            <a:pPr marL="0" indent="0" algn="just">
              <a:lnSpc>
                <a:spcPct val="150000"/>
              </a:lnSpc>
            </a:pPr>
            <a:r>
              <a:rPr lang="en-GB" dirty="0">
                <a:latin typeface="Candara" panose="020E0502030303020204" pitchFamily="34" charset="0"/>
              </a:rPr>
              <a:t>D has </a:t>
            </a:r>
            <a:r>
              <a:rPr lang="en-GB" b="1" i="1" dirty="0">
                <a:latin typeface="Candara" panose="020E0502030303020204" pitchFamily="34" charset="0"/>
              </a:rPr>
              <a:t>committed</a:t>
            </a:r>
            <a:r>
              <a:rPr lang="en-GB" dirty="0">
                <a:latin typeface="Candara" panose="020E0502030303020204" pitchFamily="34" charset="0"/>
              </a:rPr>
              <a:t> an offence, but they have done so because they were </a:t>
            </a:r>
            <a:r>
              <a:rPr lang="en-GB" b="1" i="1" dirty="0">
                <a:latin typeface="Candara" panose="020E0502030303020204" pitchFamily="34" charset="0"/>
              </a:rPr>
              <a:t>threatened by X with death or serious injury </a:t>
            </a:r>
            <a:r>
              <a:rPr lang="en-GB" dirty="0">
                <a:latin typeface="Candara" panose="020E0502030303020204" pitchFamily="34" charset="0"/>
              </a:rPr>
              <a:t>if they refused. </a:t>
            </a:r>
          </a:p>
          <a:p>
            <a:pPr marL="285750" indent="-285750" algn="just">
              <a:lnSpc>
                <a:spcPct val="150000"/>
              </a:lnSpc>
              <a:buFont typeface="Arial" panose="020B0604020202020204" pitchFamily="34" charset="0"/>
              <a:buChar char="•"/>
            </a:pPr>
            <a:r>
              <a:rPr lang="en-GB" dirty="0">
                <a:latin typeface="Candara" panose="020E0502030303020204" pitchFamily="34" charset="0"/>
              </a:rPr>
              <a:t> Does not negate an element of the offence: </a:t>
            </a:r>
            <a:r>
              <a:rPr lang="en-GB" b="1" dirty="0">
                <a:latin typeface="Candara" panose="020E0502030303020204" pitchFamily="34" charset="0"/>
              </a:rPr>
              <a:t>AR+MR  </a:t>
            </a:r>
          </a:p>
          <a:p>
            <a:pPr marL="285750" indent="-285750" algn="just">
              <a:lnSpc>
                <a:spcPct val="150000"/>
              </a:lnSpc>
              <a:buFont typeface="Arial" panose="020B0604020202020204" pitchFamily="34" charset="0"/>
              <a:buChar char="•"/>
            </a:pPr>
            <a:r>
              <a:rPr lang="en-GB" dirty="0">
                <a:latin typeface="Candara" panose="020E0502030303020204" pitchFamily="34" charset="0"/>
              </a:rPr>
              <a:t>An </a:t>
            </a:r>
            <a:r>
              <a:rPr lang="en-GB" b="1" dirty="0">
                <a:latin typeface="Candara" panose="020E0502030303020204" pitchFamily="34" charset="0"/>
              </a:rPr>
              <a:t>excusatory defence </a:t>
            </a:r>
            <a:r>
              <a:rPr lang="en-GB" dirty="0">
                <a:latin typeface="Candara" panose="020E0502030303020204" pitchFamily="34" charset="0"/>
              </a:rPr>
              <a:t>– defendant not held to be blameworthy enough to warrant criminal sanction.</a:t>
            </a:r>
          </a:p>
          <a:p>
            <a:pPr marL="285750" indent="-285750" algn="just">
              <a:lnSpc>
                <a:spcPct val="150000"/>
              </a:lnSpc>
              <a:buFont typeface="Arial" panose="020B0604020202020204" pitchFamily="34" charset="0"/>
              <a:buChar char="•"/>
            </a:pPr>
            <a:r>
              <a:rPr lang="en-GB" dirty="0">
                <a:latin typeface="Candara" panose="020E0502030303020204" pitchFamily="34" charset="0"/>
              </a:rPr>
              <a:t>A ‘</a:t>
            </a:r>
            <a:r>
              <a:rPr lang="en-GB" b="1" dirty="0">
                <a:latin typeface="Candara" panose="020E0502030303020204" pitchFamily="34" charset="0"/>
              </a:rPr>
              <a:t>concession to human frailty</a:t>
            </a:r>
            <a:r>
              <a:rPr lang="en-GB" dirty="0">
                <a:latin typeface="Candara" panose="020E0502030303020204" pitchFamily="34" charset="0"/>
              </a:rPr>
              <a:t>’ </a:t>
            </a:r>
            <a:r>
              <a:rPr lang="en-GB" b="1" dirty="0">
                <a:latin typeface="Candara" panose="020E0502030303020204" pitchFamily="34" charset="0"/>
              </a:rPr>
              <a:t>(Howe [1987] AC 417).</a:t>
            </a:r>
          </a:p>
          <a:p>
            <a:pPr marL="285750" indent="-285750" algn="just">
              <a:lnSpc>
                <a:spcPct val="150000"/>
              </a:lnSpc>
              <a:buFont typeface="Arial" panose="020B0604020202020204" pitchFamily="34" charset="0"/>
              <a:buChar char="•"/>
            </a:pPr>
            <a:r>
              <a:rPr lang="en-GB" dirty="0">
                <a:latin typeface="Candara" panose="020E0502030303020204" pitchFamily="34" charset="0"/>
              </a:rPr>
              <a:t>It is a </a:t>
            </a:r>
            <a:r>
              <a:rPr lang="en-GB" b="1" dirty="0">
                <a:latin typeface="Candara" panose="020E0502030303020204" pitchFamily="34" charset="0"/>
              </a:rPr>
              <a:t>complete defence.  </a:t>
            </a:r>
            <a:r>
              <a:rPr lang="en-GB" dirty="0">
                <a:latin typeface="Candara" panose="020E0502030303020204" pitchFamily="34" charset="0"/>
              </a:rPr>
              <a:t>If pleaded successfully then the defendant is acquitted.</a:t>
            </a:r>
          </a:p>
          <a:p>
            <a:pPr marL="285750" indent="-285750" algn="just">
              <a:lnSpc>
                <a:spcPct val="150000"/>
              </a:lnSpc>
              <a:buFont typeface="Arial" panose="020B0604020202020204" pitchFamily="34" charset="0"/>
              <a:buChar char="•"/>
            </a:pPr>
            <a:r>
              <a:rPr lang="en-GB" dirty="0">
                <a:latin typeface="Candara" panose="020E0502030303020204" pitchFamily="34" charset="0"/>
              </a:rPr>
              <a:t>Defence of duress is a necessary part of the criminal law.</a:t>
            </a:r>
          </a:p>
          <a:p>
            <a:pPr marL="285750" indent="-285750" algn="just">
              <a:lnSpc>
                <a:spcPct val="150000"/>
              </a:lnSpc>
              <a:buFont typeface="Arial" panose="020B0604020202020204" pitchFamily="34" charset="0"/>
              <a:buChar char="•"/>
            </a:pPr>
            <a:r>
              <a:rPr lang="en-GB" dirty="0">
                <a:latin typeface="Candara" panose="020E0502030303020204" pitchFamily="34" charset="0"/>
              </a:rPr>
              <a:t>There is also great concern about the limits of the defence</a:t>
            </a:r>
          </a:p>
          <a:p>
            <a:pPr marL="285750" indent="-285750" algn="just">
              <a:lnSpc>
                <a:spcPct val="150000"/>
              </a:lnSpc>
              <a:buFont typeface="Arial" panose="020B0604020202020204" pitchFamily="34" charset="0"/>
              <a:buChar char="•"/>
            </a:pPr>
            <a:endParaRPr lang="en-GB" dirty="0"/>
          </a:p>
          <a:p>
            <a:endParaRPr lang="en-US" dirty="0"/>
          </a:p>
        </p:txBody>
      </p:sp>
    </p:spTree>
    <p:extLst>
      <p:ext uri="{BB962C8B-B14F-4D97-AF65-F5344CB8AC3E}">
        <p14:creationId xmlns:p14="http://schemas.microsoft.com/office/powerpoint/2010/main" val="2484942921"/>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r>
              <a:rPr lang="en-US" sz="3200" b="1" dirty="0">
                <a:latin typeface="Candara" panose="020E0502030303020204" pitchFamily="34" charset="0"/>
              </a:rPr>
              <a:t>The Test for Duress </a:t>
            </a: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71061" y="1520825"/>
            <a:ext cx="11410122" cy="4071592"/>
          </a:xfrm>
        </p:spPr>
        <p:txBody>
          <a:bodyPr/>
          <a:lstStyle/>
          <a:p>
            <a:pPr marL="285750" indent="-285750" algn="just">
              <a:lnSpc>
                <a:spcPct val="150000"/>
              </a:lnSpc>
              <a:buFont typeface="Arial" panose="020B0604020202020204" pitchFamily="34" charset="0"/>
              <a:buChar char="•"/>
            </a:pPr>
            <a:r>
              <a:rPr lang="en-GB" altLang="en-US" dirty="0">
                <a:latin typeface="Candara" panose="020E0502030303020204" pitchFamily="34" charset="0"/>
              </a:rPr>
              <a:t>The test for duress involves </a:t>
            </a:r>
            <a:r>
              <a:rPr lang="en-GB" altLang="en-US" b="1" dirty="0">
                <a:latin typeface="Candara" panose="020E0502030303020204" pitchFamily="34" charset="0"/>
              </a:rPr>
              <a:t>both subjective and objective elements. </a:t>
            </a:r>
            <a:endParaRPr lang="en-GB" altLang="en-US" dirty="0">
              <a:latin typeface="Candara" panose="020E0502030303020204" pitchFamily="34" charset="0"/>
            </a:endParaRPr>
          </a:p>
          <a:p>
            <a:pPr algn="just">
              <a:lnSpc>
                <a:spcPct val="150000"/>
              </a:lnSpc>
              <a:buFontTx/>
              <a:buChar char="•"/>
            </a:pPr>
            <a:r>
              <a:rPr lang="en-GB" altLang="en-US" dirty="0">
                <a:latin typeface="Candara" panose="020E0502030303020204" pitchFamily="34" charset="0"/>
              </a:rPr>
              <a:t>Test derived from the decision of the Court of Appeal in </a:t>
            </a:r>
            <a:r>
              <a:rPr lang="en-GB" altLang="en-US" b="1" i="1" dirty="0">
                <a:latin typeface="Candara" panose="020E0502030303020204" pitchFamily="34" charset="0"/>
              </a:rPr>
              <a:t>Graham </a:t>
            </a:r>
            <a:r>
              <a:rPr lang="en-GB" altLang="en-US" b="1" dirty="0">
                <a:latin typeface="Candara" panose="020E0502030303020204" pitchFamily="34" charset="0"/>
              </a:rPr>
              <a:t>(1982) 74 Cr App R 235 </a:t>
            </a:r>
            <a:r>
              <a:rPr lang="en-GB" altLang="en-US" dirty="0">
                <a:latin typeface="Candara" panose="020E0502030303020204" pitchFamily="34" charset="0"/>
              </a:rPr>
              <a:t>and the House of Lords decision in </a:t>
            </a:r>
            <a:r>
              <a:rPr lang="en-GB" altLang="en-US" b="1" i="1" dirty="0">
                <a:latin typeface="Candara" panose="020E0502030303020204" pitchFamily="34" charset="0"/>
              </a:rPr>
              <a:t>Howe </a:t>
            </a:r>
            <a:r>
              <a:rPr lang="en-GB" altLang="en-US" b="1" dirty="0">
                <a:latin typeface="Candara" panose="020E0502030303020204" pitchFamily="34" charset="0"/>
              </a:rPr>
              <a:t>[1987] AC 417</a:t>
            </a:r>
            <a:r>
              <a:rPr lang="en-GB" altLang="en-US" dirty="0">
                <a:latin typeface="Candara" panose="020E0502030303020204" pitchFamily="34" charset="0"/>
              </a:rPr>
              <a:t> – both approved by the House of Lords in </a:t>
            </a:r>
            <a:r>
              <a:rPr lang="en-GB" altLang="en-US" b="1" i="1" dirty="0">
                <a:latin typeface="Candara" panose="020E0502030303020204" pitchFamily="34" charset="0"/>
              </a:rPr>
              <a:t>Hasan </a:t>
            </a:r>
            <a:r>
              <a:rPr lang="en-GB" altLang="en-US" b="1" dirty="0">
                <a:latin typeface="Candara" panose="020E0502030303020204" pitchFamily="34" charset="0"/>
              </a:rPr>
              <a:t>[2005] UKHL 22</a:t>
            </a:r>
            <a:r>
              <a:rPr lang="en-GB" altLang="en-US" dirty="0">
                <a:latin typeface="Candara" panose="020E0502030303020204" pitchFamily="34" charset="0"/>
              </a:rPr>
              <a:t>.</a:t>
            </a:r>
          </a:p>
          <a:p>
            <a:pPr algn="just">
              <a:lnSpc>
                <a:spcPct val="150000"/>
              </a:lnSpc>
              <a:buFontTx/>
              <a:buChar char="•"/>
            </a:pPr>
            <a:r>
              <a:rPr lang="en-GB" altLang="en-US" dirty="0">
                <a:latin typeface="Candara" panose="020E0502030303020204" pitchFamily="34" charset="0"/>
              </a:rPr>
              <a:t>Two questions to be considered by the jury –</a:t>
            </a:r>
            <a:r>
              <a:rPr lang="en-GB" altLang="en-US" b="1" dirty="0">
                <a:latin typeface="Candara" panose="020E0502030303020204" pitchFamily="34" charset="0"/>
              </a:rPr>
              <a:t>Lord Lane CJ in Graham (1982) 74 Cr App R 235: </a:t>
            </a:r>
          </a:p>
          <a:p>
            <a:pPr indent="457200" algn="just">
              <a:lnSpc>
                <a:spcPct val="115000"/>
              </a:lnSpc>
              <a:spcAft>
                <a:spcPts val="600"/>
              </a:spcAft>
            </a:pPr>
            <a:r>
              <a:rPr lang="en-GB" b="1" dirty="0">
                <a:solidFill>
                  <a:srgbClr val="663366"/>
                </a:solidFill>
                <a:latin typeface="Candara" panose="020E0502030303020204" pitchFamily="34" charset="0"/>
                <a:ea typeface="+mj-ea"/>
                <a:cs typeface="+mj-cs"/>
              </a:rPr>
              <a:t>Subjective element – </a:t>
            </a:r>
            <a:r>
              <a:rPr lang="en-GB" dirty="0">
                <a:effectLst/>
                <a:latin typeface="Candara" panose="020E0502030303020204" pitchFamily="34" charset="0"/>
                <a:ea typeface="Times New Roman" panose="02020603050405020304" pitchFamily="18" charset="0"/>
              </a:rPr>
              <a:t>(1) Was the defendant, or may he have been, impelled to act as [s/]he did because, </a:t>
            </a:r>
            <a:r>
              <a:rPr lang="en-GB" b="1" i="1" dirty="0">
                <a:effectLst/>
                <a:latin typeface="Candara" panose="020E0502030303020204" pitchFamily="34" charset="0"/>
                <a:ea typeface="Times New Roman" panose="02020603050405020304" pitchFamily="18" charset="0"/>
              </a:rPr>
              <a:t>as a result of what he </a:t>
            </a:r>
            <a:r>
              <a:rPr lang="en-GB" b="1" i="1" dirty="0">
                <a:solidFill>
                  <a:srgbClr val="0070C0"/>
                </a:solidFill>
                <a:effectLst/>
                <a:latin typeface="Candara" panose="020E0502030303020204" pitchFamily="34" charset="0"/>
                <a:ea typeface="Times New Roman" panose="02020603050405020304" pitchFamily="18" charset="0"/>
              </a:rPr>
              <a:t>reasonably </a:t>
            </a:r>
            <a:r>
              <a:rPr lang="en-GB" b="1" i="1" dirty="0">
                <a:effectLst/>
                <a:latin typeface="Candara" panose="020E0502030303020204" pitchFamily="34" charset="0"/>
                <a:ea typeface="Times New Roman" panose="02020603050405020304" pitchFamily="18" charset="0"/>
              </a:rPr>
              <a:t>believed </a:t>
            </a:r>
            <a:r>
              <a:rPr lang="en-GB" dirty="0">
                <a:effectLst/>
                <a:latin typeface="Candara" panose="020E0502030303020204" pitchFamily="34" charset="0"/>
                <a:ea typeface="Times New Roman" panose="02020603050405020304" pitchFamily="18" charset="0"/>
              </a:rPr>
              <a:t>[the person issuing the threat] had said or done, [s/]</a:t>
            </a:r>
            <a:r>
              <a:rPr lang="en-GB" b="1" i="1" dirty="0">
                <a:effectLst/>
                <a:latin typeface="Candara" panose="020E0502030303020204" pitchFamily="34" charset="0"/>
                <a:ea typeface="Times New Roman" panose="02020603050405020304" pitchFamily="18" charset="0"/>
              </a:rPr>
              <a:t>he had </a:t>
            </a:r>
            <a:r>
              <a:rPr lang="en-GB" b="1" i="1" dirty="0">
                <a:solidFill>
                  <a:srgbClr val="0070C0"/>
                </a:solidFill>
                <a:effectLst/>
                <a:latin typeface="Candara" panose="020E0502030303020204" pitchFamily="34" charset="0"/>
                <a:ea typeface="Times New Roman" panose="02020603050405020304" pitchFamily="18" charset="0"/>
              </a:rPr>
              <a:t>good cause </a:t>
            </a:r>
            <a:r>
              <a:rPr lang="en-GB" b="1" i="1" dirty="0">
                <a:effectLst/>
                <a:latin typeface="Candara" panose="020E0502030303020204" pitchFamily="34" charset="0"/>
                <a:ea typeface="Times New Roman" panose="02020603050405020304" pitchFamily="18" charset="0"/>
              </a:rPr>
              <a:t>to fear</a:t>
            </a:r>
            <a:r>
              <a:rPr lang="en-GB" dirty="0">
                <a:effectLst/>
                <a:latin typeface="Candara" panose="020E0502030303020204" pitchFamily="34" charset="0"/>
                <a:ea typeface="Times New Roman" panose="02020603050405020304" pitchFamily="18" charset="0"/>
              </a:rPr>
              <a:t> that if [s/]he did not so act [that person] would kill him[her] or ... cause him[her] serious personal injury?</a:t>
            </a:r>
          </a:p>
          <a:p>
            <a:pPr indent="457200" algn="just">
              <a:lnSpc>
                <a:spcPct val="115000"/>
              </a:lnSpc>
              <a:spcAft>
                <a:spcPts val="600"/>
              </a:spcAft>
            </a:pPr>
            <a:r>
              <a:rPr lang="en-GB" b="1" dirty="0">
                <a:solidFill>
                  <a:srgbClr val="663366"/>
                </a:solidFill>
                <a:latin typeface="Candara" panose="020E0502030303020204" pitchFamily="34" charset="0"/>
                <a:ea typeface="+mj-ea"/>
                <a:cs typeface="+mj-cs"/>
              </a:rPr>
              <a:t>Objective element – </a:t>
            </a:r>
            <a:r>
              <a:rPr lang="en-GB" dirty="0">
                <a:effectLst/>
                <a:latin typeface="Candara" panose="020E0502030303020204" pitchFamily="34" charset="0"/>
                <a:ea typeface="Times New Roman" panose="02020603050405020304" pitchFamily="18" charset="0"/>
              </a:rPr>
              <a:t>(2) If so, have the prosecution made the jury sure that </a:t>
            </a:r>
            <a:r>
              <a:rPr lang="en-GB" b="1" i="1" dirty="0">
                <a:effectLst/>
                <a:latin typeface="Candara" panose="020E0502030303020204" pitchFamily="34" charset="0"/>
                <a:ea typeface="Times New Roman" panose="02020603050405020304" pitchFamily="18" charset="0"/>
              </a:rPr>
              <a:t>a sober person of reasonable firmness, sharing the characteristics of the defendant, would not have responded to whatever [s/]he reasonably believed</a:t>
            </a:r>
            <a:r>
              <a:rPr lang="en-GB" dirty="0">
                <a:effectLst/>
                <a:latin typeface="Candara" panose="020E0502030303020204" pitchFamily="34" charset="0"/>
                <a:ea typeface="Times New Roman" panose="02020603050405020304" pitchFamily="18" charset="0"/>
              </a:rPr>
              <a:t> [the person making the threat] said or did by [doing as the defendant did]?</a:t>
            </a:r>
          </a:p>
          <a:p>
            <a:endParaRPr lang="en-US" dirty="0"/>
          </a:p>
        </p:txBody>
      </p:sp>
    </p:spTree>
    <p:extLst>
      <p:ext uri="{BB962C8B-B14F-4D97-AF65-F5344CB8AC3E}">
        <p14:creationId xmlns:p14="http://schemas.microsoft.com/office/powerpoint/2010/main" val="55108999"/>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r>
              <a:rPr lang="en-US" sz="3200" b="1" dirty="0">
                <a:latin typeface="Candara" panose="020E0502030303020204" pitchFamily="34" charset="0"/>
              </a:rPr>
              <a:t>Burden of Proof</a:t>
            </a: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626843"/>
            <a:ext cx="11410122" cy="4071592"/>
          </a:xfrm>
        </p:spPr>
        <p:txBody>
          <a:bodyPr/>
          <a:lstStyle/>
          <a:p>
            <a:pPr marL="285750" indent="-285750" algn="just">
              <a:lnSpc>
                <a:spcPct val="150000"/>
              </a:lnSpc>
              <a:buFont typeface="Arial" panose="020B0604020202020204" pitchFamily="34" charset="0"/>
              <a:buChar char="•"/>
            </a:pPr>
            <a:r>
              <a:rPr lang="en-GB" dirty="0"/>
              <a:t>Defendant bears an evidential burden in relation to duress: They must lead some evidence of duress in order to make the issue a live one.</a:t>
            </a:r>
          </a:p>
          <a:p>
            <a:pPr marL="285750" indent="-285750" algn="just">
              <a:lnSpc>
                <a:spcPct val="150000"/>
              </a:lnSpc>
              <a:buFont typeface="Arial" panose="020B0604020202020204" pitchFamily="34" charset="0"/>
              <a:buChar char="•"/>
            </a:pPr>
            <a:r>
              <a:rPr lang="en-GB" dirty="0"/>
              <a:t>The burden of proof is on the prosecution to disprove duress beyond reasonable doubt (see </a:t>
            </a:r>
            <a:r>
              <a:rPr lang="en-GB" b="1" dirty="0"/>
              <a:t>Bone [1968] 1 WLR 983).</a:t>
            </a:r>
          </a:p>
        </p:txBody>
      </p:sp>
    </p:spTree>
    <p:extLst>
      <p:ext uri="{BB962C8B-B14F-4D97-AF65-F5344CB8AC3E}">
        <p14:creationId xmlns:p14="http://schemas.microsoft.com/office/powerpoint/2010/main" val="2180688789"/>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AD9203-94CB-B445-B8F5-850D4D0FBEF2}"/>
              </a:ext>
            </a:extLst>
          </p:cNvPr>
          <p:cNvSpPr>
            <a:spLocks noGrp="1"/>
          </p:cNvSpPr>
          <p:nvPr>
            <p:ph type="title"/>
          </p:nvPr>
        </p:nvSpPr>
        <p:spPr>
          <a:xfrm>
            <a:off x="728420" y="655717"/>
            <a:ext cx="11189777" cy="893691"/>
          </a:xfrm>
        </p:spPr>
        <p:txBody>
          <a:bodyPr>
            <a:normAutofit fontScale="90000"/>
          </a:bodyPr>
          <a:lstStyle/>
          <a:p>
            <a:pPr algn="ctr">
              <a:lnSpc>
                <a:spcPct val="90000"/>
              </a:lnSpc>
            </a:pPr>
            <a:br>
              <a:rPr lang="en-US" sz="2100" dirty="0">
                <a:solidFill>
                  <a:srgbClr val="262626"/>
                </a:solidFill>
              </a:rPr>
            </a:br>
            <a:br>
              <a:rPr lang="en-US" sz="2100" u="sng" dirty="0">
                <a:solidFill>
                  <a:srgbClr val="262626"/>
                </a:solidFill>
              </a:rPr>
            </a:br>
            <a:r>
              <a:rPr lang="en-US" b="1" dirty="0">
                <a:latin typeface="Candara" panose="020E0502030303020204" pitchFamily="34" charset="0"/>
              </a:rPr>
              <a:t>The Elements of Duress by Threats</a:t>
            </a:r>
            <a:r>
              <a:rPr lang="en-GB" b="1" dirty="0">
                <a:latin typeface="Candara" panose="020E0502030303020204" pitchFamily="34" charset="0"/>
              </a:rPr>
              <a:t> </a:t>
            </a:r>
            <a:br>
              <a:rPr lang="en-GB" sz="4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br>
            <a:endParaRPr lang="en-US"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2" name="Slide Number Placeholder 1">
            <a:extLst>
              <a:ext uri="{FF2B5EF4-FFF2-40B4-BE49-F238E27FC236}">
                <a16:creationId xmlns:a16="http://schemas.microsoft.com/office/drawing/2014/main" id="{BC905EA0-3611-B243-8C56-403C3F68F454}"/>
              </a:ext>
            </a:extLst>
          </p:cNvPr>
          <p:cNvSpPr>
            <a:spLocks noGrp="1"/>
          </p:cNvSpPr>
          <p:nvPr>
            <p:ph type="sldNum" sz="quarter" idx="12"/>
          </p:nvPr>
        </p:nvSpPr>
        <p:spPr>
          <a:xfrm>
            <a:off x="10353901" y="5969000"/>
            <a:ext cx="542697" cy="279400"/>
          </a:xfrm>
        </p:spPr>
        <p:txBody>
          <a:bodyPr>
            <a:normAutofit fontScale="92500" lnSpcReduction="10000"/>
          </a:bodyPr>
          <a:lstStyle/>
          <a:p>
            <a:pPr>
              <a:spcAft>
                <a:spcPts val="600"/>
              </a:spcAft>
            </a:pPr>
            <a:fld id="{E97799C9-84D9-46D2-A11E-BCF8A720529D}" type="slidenum">
              <a:rPr lang="en-US">
                <a:solidFill>
                  <a:srgbClr val="000000"/>
                </a:solidFill>
              </a:rPr>
              <a:pPr>
                <a:spcAft>
                  <a:spcPts val="600"/>
                </a:spcAft>
              </a:pPr>
              <a:t>6</a:t>
            </a:fld>
            <a:endParaRPr lang="en-US">
              <a:solidFill>
                <a:srgbClr val="000000"/>
              </a:solidFill>
            </a:endParaRPr>
          </a:p>
        </p:txBody>
      </p:sp>
      <p:graphicFrame>
        <p:nvGraphicFramePr>
          <p:cNvPr id="9" name="Content Placeholder 3">
            <a:extLst>
              <a:ext uri="{FF2B5EF4-FFF2-40B4-BE49-F238E27FC236}">
                <a16:creationId xmlns:a16="http://schemas.microsoft.com/office/drawing/2014/main" id="{7A6024A6-CC4A-4BC8-44E8-95287FD4E1A7}"/>
              </a:ext>
            </a:extLst>
          </p:cNvPr>
          <p:cNvGraphicFramePr>
            <a:graphicFrameLocks/>
          </p:cNvGraphicFramePr>
          <p:nvPr>
            <p:extLst>
              <p:ext uri="{D42A27DB-BD31-4B8C-83A1-F6EECF244321}">
                <p14:modId xmlns:p14="http://schemas.microsoft.com/office/powerpoint/2010/main" val="27731971"/>
              </p:ext>
            </p:extLst>
          </p:nvPr>
        </p:nvGraphicFramePr>
        <p:xfrm>
          <a:off x="1068100" y="1487579"/>
          <a:ext cx="10235338" cy="25639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F07268EC-0857-2C72-9E9D-BB1F206812A2}"/>
              </a:ext>
            </a:extLst>
          </p:cNvPr>
          <p:cNvSpPr txBox="1"/>
          <p:nvPr/>
        </p:nvSpPr>
        <p:spPr>
          <a:xfrm>
            <a:off x="5092843" y="4819115"/>
            <a:ext cx="2396810" cy="1169551"/>
          </a:xfrm>
          <a:prstGeom prst="rect">
            <a:avLst/>
          </a:prstGeom>
          <a:noFill/>
        </p:spPr>
        <p:txBody>
          <a:bodyPr wrap="none" rtlCol="0">
            <a:spAutoFit/>
          </a:bodyPr>
          <a:lstStyle/>
          <a:p>
            <a:r>
              <a:rPr lang="en-GB" sz="2400" dirty="0">
                <a:latin typeface="Candara" panose="020E0502030303020204" pitchFamily="34" charset="0"/>
                <a:ea typeface="Times New Roman" panose="02020603050405020304" pitchFamily="18" charset="0"/>
                <a:cs typeface="Times New Roman" panose="02020603050405020304" pitchFamily="18" charset="0"/>
              </a:rPr>
              <a:t>T</a:t>
            </a:r>
            <a:r>
              <a:rPr lang="en-GB" sz="2400" dirty="0">
                <a:effectLst/>
                <a:latin typeface="Candara" panose="020E0502030303020204" pitchFamily="34" charset="0"/>
                <a:ea typeface="Times New Roman" panose="02020603050405020304" pitchFamily="18" charset="0"/>
                <a:cs typeface="Times New Roman" panose="02020603050405020304" pitchFamily="18" charset="0"/>
              </a:rPr>
              <a:t>he first element</a:t>
            </a:r>
          </a:p>
          <a:p>
            <a:endParaRPr lang="en-GB" sz="2800" dirty="0">
              <a:latin typeface="Candara" panose="020E0502030303020204" pitchFamily="34" charset="0"/>
              <a:ea typeface="Times New Roman" panose="02020603050405020304" pitchFamily="18" charset="0"/>
              <a:cs typeface="Times New Roman" panose="02020603050405020304" pitchFamily="18" charset="0"/>
            </a:endParaRPr>
          </a:p>
          <a:p>
            <a:r>
              <a:rPr lang="en-GB" sz="1800" dirty="0">
                <a:effectLst/>
                <a:latin typeface="Candara" panose="020E0502030303020204" pitchFamily="34" charset="0"/>
                <a:ea typeface="Times New Roman" panose="02020603050405020304" pitchFamily="18" charset="0"/>
                <a:cs typeface="Times New Roman" panose="02020603050405020304" pitchFamily="18" charset="0"/>
              </a:rPr>
              <a:t>	</a:t>
            </a:r>
            <a:endParaRPr lang="en-US" dirty="0">
              <a:latin typeface="Candara" panose="020E0502030303020204" pitchFamily="34" charset="0"/>
            </a:endParaRPr>
          </a:p>
        </p:txBody>
      </p:sp>
      <p:cxnSp>
        <p:nvCxnSpPr>
          <p:cNvPr id="12" name="Straight Arrow Connector 11">
            <a:extLst>
              <a:ext uri="{FF2B5EF4-FFF2-40B4-BE49-F238E27FC236}">
                <a16:creationId xmlns:a16="http://schemas.microsoft.com/office/drawing/2014/main" id="{115A053F-C7D4-400A-6462-C0769C4B1F32}"/>
              </a:ext>
            </a:extLst>
          </p:cNvPr>
          <p:cNvCxnSpPr>
            <a:cxnSpLocks/>
          </p:cNvCxnSpPr>
          <p:nvPr/>
        </p:nvCxnSpPr>
        <p:spPr bwMode="auto">
          <a:xfrm>
            <a:off x="6185769" y="3789697"/>
            <a:ext cx="0" cy="78067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3FE8831A-2F2C-4F5B-96D4-D0BED707A1AE}"/>
              </a:ext>
            </a:extLst>
          </p:cNvPr>
          <p:cNvCxnSpPr>
            <a:cxnSpLocks/>
          </p:cNvCxnSpPr>
          <p:nvPr/>
        </p:nvCxnSpPr>
        <p:spPr bwMode="auto">
          <a:xfrm>
            <a:off x="10048075" y="3706644"/>
            <a:ext cx="0" cy="78067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F91D4AD6-4F06-D6ED-B08E-CA6E96C312E0}"/>
              </a:ext>
            </a:extLst>
          </p:cNvPr>
          <p:cNvSpPr txBox="1"/>
          <p:nvPr/>
        </p:nvSpPr>
        <p:spPr>
          <a:xfrm>
            <a:off x="8727543" y="4779439"/>
            <a:ext cx="2811988" cy="461665"/>
          </a:xfrm>
          <a:prstGeom prst="rect">
            <a:avLst/>
          </a:prstGeom>
          <a:noFill/>
        </p:spPr>
        <p:txBody>
          <a:bodyPr wrap="none" rtlCol="0">
            <a:spAutoFit/>
          </a:bodyPr>
          <a:lstStyle/>
          <a:p>
            <a:r>
              <a:rPr lang="en-US" sz="2400" dirty="0">
                <a:latin typeface="Candara" panose="020E0502030303020204" pitchFamily="34" charset="0"/>
                <a:cs typeface="Times New Roman" panose="02020603050405020304" pitchFamily="18" charset="0"/>
              </a:rPr>
              <a:t>The second element</a:t>
            </a:r>
          </a:p>
        </p:txBody>
      </p:sp>
    </p:spTree>
    <p:extLst>
      <p:ext uri="{BB962C8B-B14F-4D97-AF65-F5344CB8AC3E}">
        <p14:creationId xmlns:p14="http://schemas.microsoft.com/office/powerpoint/2010/main" val="3223378168"/>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AD9203-94CB-B445-B8F5-850D4D0FBEF2}"/>
              </a:ext>
            </a:extLst>
          </p:cNvPr>
          <p:cNvSpPr>
            <a:spLocks noGrp="1"/>
          </p:cNvSpPr>
          <p:nvPr>
            <p:ph type="title"/>
          </p:nvPr>
        </p:nvSpPr>
        <p:spPr>
          <a:xfrm>
            <a:off x="728420" y="655717"/>
            <a:ext cx="11189777" cy="978101"/>
          </a:xfrm>
        </p:spPr>
        <p:txBody>
          <a:bodyPr>
            <a:normAutofit/>
          </a:bodyPr>
          <a:lstStyle/>
          <a:p>
            <a:pPr algn="ctr">
              <a:lnSpc>
                <a:spcPct val="90000"/>
              </a:lnSpc>
            </a:pPr>
            <a:br>
              <a:rPr lang="en-US" sz="2100" u="sng" dirty="0">
                <a:solidFill>
                  <a:srgbClr val="262626"/>
                </a:solidFill>
              </a:rPr>
            </a:br>
            <a:r>
              <a:rPr lang="en-GB" b="1" dirty="0">
                <a:latin typeface="Candara" panose="020E0502030303020204" pitchFamily="34" charset="0"/>
              </a:rPr>
              <a:t>Exclusions</a:t>
            </a:r>
            <a:endParaRPr lang="en-US"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2" name="Slide Number Placeholder 1">
            <a:extLst>
              <a:ext uri="{FF2B5EF4-FFF2-40B4-BE49-F238E27FC236}">
                <a16:creationId xmlns:a16="http://schemas.microsoft.com/office/drawing/2014/main" id="{BC905EA0-3611-B243-8C56-403C3F68F454}"/>
              </a:ext>
            </a:extLst>
          </p:cNvPr>
          <p:cNvSpPr>
            <a:spLocks noGrp="1"/>
          </p:cNvSpPr>
          <p:nvPr>
            <p:ph type="sldNum" sz="quarter" idx="12"/>
          </p:nvPr>
        </p:nvSpPr>
        <p:spPr>
          <a:xfrm>
            <a:off x="10353901" y="5969000"/>
            <a:ext cx="542697" cy="279400"/>
          </a:xfrm>
        </p:spPr>
        <p:txBody>
          <a:bodyPr>
            <a:normAutofit fontScale="92500" lnSpcReduction="10000"/>
          </a:bodyPr>
          <a:lstStyle/>
          <a:p>
            <a:pPr>
              <a:spcAft>
                <a:spcPts val="600"/>
              </a:spcAft>
            </a:pPr>
            <a:fld id="{E97799C9-84D9-46D2-A11E-BCF8A720529D}" type="slidenum">
              <a:rPr lang="en-US">
                <a:solidFill>
                  <a:srgbClr val="000000"/>
                </a:solidFill>
              </a:rPr>
              <a:pPr>
                <a:spcAft>
                  <a:spcPts val="600"/>
                </a:spcAft>
              </a:pPr>
              <a:t>7</a:t>
            </a:fld>
            <a:endParaRPr lang="en-US">
              <a:solidFill>
                <a:srgbClr val="000000"/>
              </a:solidFill>
            </a:endParaRPr>
          </a:p>
        </p:txBody>
      </p:sp>
      <p:graphicFrame>
        <p:nvGraphicFramePr>
          <p:cNvPr id="9" name="Content Placeholder 3">
            <a:extLst>
              <a:ext uri="{FF2B5EF4-FFF2-40B4-BE49-F238E27FC236}">
                <a16:creationId xmlns:a16="http://schemas.microsoft.com/office/drawing/2014/main" id="{7A6024A6-CC4A-4BC8-44E8-95287FD4E1A7}"/>
              </a:ext>
            </a:extLst>
          </p:cNvPr>
          <p:cNvGraphicFramePr>
            <a:graphicFrameLocks/>
          </p:cNvGraphicFramePr>
          <p:nvPr>
            <p:extLst>
              <p:ext uri="{D42A27DB-BD31-4B8C-83A1-F6EECF244321}">
                <p14:modId xmlns:p14="http://schemas.microsoft.com/office/powerpoint/2010/main" val="115116862"/>
              </p:ext>
            </p:extLst>
          </p:nvPr>
        </p:nvGraphicFramePr>
        <p:xfrm>
          <a:off x="435092" y="1888549"/>
          <a:ext cx="11189777" cy="3000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6189642"/>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E4B7-B970-4745-BF9F-C6AE6EF09E22}"/>
              </a:ext>
            </a:extLst>
          </p:cNvPr>
          <p:cNvSpPr>
            <a:spLocks noGrp="1"/>
          </p:cNvSpPr>
          <p:nvPr>
            <p:ph type="title"/>
          </p:nvPr>
        </p:nvSpPr>
        <p:spPr/>
        <p:txBody>
          <a:bodyPr>
            <a:noAutofit/>
          </a:bodyPr>
          <a:lstStyle/>
          <a:p>
            <a:pPr algn="ctr"/>
            <a:r>
              <a:rPr lang="en-GB" sz="3200" b="1" dirty="0">
                <a:latin typeface="Candara" panose="020E0502030303020204" pitchFamily="34" charset="0"/>
              </a:rPr>
              <a:t>Exclusions</a:t>
            </a:r>
            <a:br>
              <a:rPr lang="en-GB" sz="3200" b="1" dirty="0">
                <a:latin typeface="Candara" panose="020E0502030303020204" pitchFamily="34" charset="0"/>
              </a:rPr>
            </a:br>
            <a:r>
              <a:rPr lang="en-GB" sz="2800" b="1" i="1" dirty="0">
                <a:latin typeface="Candara" panose="020E0502030303020204" pitchFamily="34" charset="0"/>
              </a:rPr>
              <a:t>1. Offences to which D cannot raise duress</a:t>
            </a:r>
            <a:endParaRPr lang="en-US" sz="2800" b="1" i="1" dirty="0">
              <a:latin typeface="Candara" panose="020E0502030303020204" pitchFamily="34" charset="0"/>
            </a:endParaRPr>
          </a:p>
        </p:txBody>
      </p:sp>
      <p:sp>
        <p:nvSpPr>
          <p:cNvPr id="4" name="Slide Number Placeholder 3">
            <a:extLst>
              <a:ext uri="{FF2B5EF4-FFF2-40B4-BE49-F238E27FC236}">
                <a16:creationId xmlns:a16="http://schemas.microsoft.com/office/drawing/2014/main" id="{08AA8C4C-C76D-A248-999D-0C7A059DFE97}"/>
              </a:ext>
            </a:extLst>
          </p:cNvPr>
          <p:cNvSpPr>
            <a:spLocks noGrp="1"/>
          </p:cNvSpPr>
          <p:nvPr>
            <p:ph type="sldNum" sz="quarter" idx="12"/>
          </p:nvPr>
        </p:nvSpPr>
        <p:spPr/>
        <p:txBody>
          <a:bodyPr/>
          <a:lstStyle/>
          <a:p>
            <a:fld id="{5D84065D-F351-4B03-BD91-D8A6B8D4B362}" type="slidenum">
              <a:rPr lang="en-US" smtClean="0"/>
              <a:t>8</a:t>
            </a:fld>
            <a:endParaRPr lang="en-US" dirty="0"/>
          </a:p>
        </p:txBody>
      </p:sp>
      <p:sp>
        <p:nvSpPr>
          <p:cNvPr id="10" name="Content Placeholder 9">
            <a:extLst>
              <a:ext uri="{FF2B5EF4-FFF2-40B4-BE49-F238E27FC236}">
                <a16:creationId xmlns:a16="http://schemas.microsoft.com/office/drawing/2014/main" id="{17D8E18F-D251-B614-F6BB-FEFE7C6EE518}"/>
              </a:ext>
            </a:extLst>
          </p:cNvPr>
          <p:cNvSpPr>
            <a:spLocks noGrp="1"/>
          </p:cNvSpPr>
          <p:nvPr>
            <p:ph sz="half" idx="2"/>
          </p:nvPr>
        </p:nvSpPr>
        <p:spPr>
          <a:xfrm>
            <a:off x="495946" y="1911646"/>
            <a:ext cx="11174278" cy="3816350"/>
          </a:xfrm>
        </p:spPr>
        <p:txBody>
          <a:bodyPr/>
          <a:lstStyle/>
          <a:p>
            <a:pPr marL="457200" indent="-457200" algn="just">
              <a:lnSpc>
                <a:spcPct val="150000"/>
              </a:lnSpc>
              <a:buFont typeface="Arial" panose="020B0604020202020204" pitchFamily="34" charset="0"/>
              <a:buChar char="•"/>
            </a:pPr>
            <a:r>
              <a:rPr lang="en-GB" altLang="en-US" sz="1800" dirty="0">
                <a:latin typeface="Candara" panose="020E0502030303020204" pitchFamily="34" charset="0"/>
              </a:rPr>
              <a:t>Available in respect of most offences, but </a:t>
            </a:r>
            <a:r>
              <a:rPr lang="en-GB" altLang="en-US" sz="1800" b="1" u="sng" dirty="0">
                <a:latin typeface="Candara" panose="020E0502030303020204" pitchFamily="34" charset="0"/>
              </a:rPr>
              <a:t>not</a:t>
            </a:r>
            <a:r>
              <a:rPr lang="en-GB" altLang="en-US" sz="1800" dirty="0">
                <a:latin typeface="Candara" panose="020E0502030303020204" pitchFamily="34" charset="0"/>
              </a:rPr>
              <a:t> </a:t>
            </a:r>
            <a:r>
              <a:rPr lang="en-GB" altLang="en-US" sz="1800" dirty="0">
                <a:solidFill>
                  <a:srgbClr val="00B050"/>
                </a:solidFill>
                <a:latin typeface="Candara" panose="020E0502030303020204" pitchFamily="34" charset="0"/>
              </a:rPr>
              <a:t>treason,</a:t>
            </a:r>
            <a:r>
              <a:rPr lang="en-GB" altLang="en-US" sz="1800" dirty="0">
                <a:latin typeface="Candara" panose="020E0502030303020204" pitchFamily="34" charset="0"/>
              </a:rPr>
              <a:t> </a:t>
            </a:r>
            <a:r>
              <a:rPr lang="en-GB" altLang="en-US" sz="1800" dirty="0">
                <a:solidFill>
                  <a:srgbClr val="00B0F0"/>
                </a:solidFill>
                <a:latin typeface="Candara" panose="020E0502030303020204" pitchFamily="34" charset="0"/>
              </a:rPr>
              <a:t>murder</a:t>
            </a:r>
            <a:r>
              <a:rPr lang="en-GB" altLang="en-US" sz="1800" dirty="0">
                <a:latin typeface="Candara" panose="020E0502030303020204" pitchFamily="34" charset="0"/>
              </a:rPr>
              <a:t> (</a:t>
            </a:r>
            <a:r>
              <a:rPr lang="en-GB" altLang="en-US" sz="1800" b="1" i="1" dirty="0">
                <a:latin typeface="Candara" panose="020E0502030303020204" pitchFamily="34" charset="0"/>
              </a:rPr>
              <a:t>Howe </a:t>
            </a:r>
            <a:r>
              <a:rPr lang="en-GB" altLang="en-US" sz="1800" b="1" dirty="0">
                <a:latin typeface="Candara" panose="020E0502030303020204" pitchFamily="34" charset="0"/>
              </a:rPr>
              <a:t>[1987] AC 417</a:t>
            </a:r>
            <a:r>
              <a:rPr lang="en-GB" altLang="en-US" sz="1800" dirty="0">
                <a:latin typeface="Candara" panose="020E0502030303020204" pitchFamily="34" charset="0"/>
              </a:rPr>
              <a:t>), or </a:t>
            </a:r>
            <a:r>
              <a:rPr lang="en-GB" altLang="en-US" sz="1800" dirty="0">
                <a:solidFill>
                  <a:srgbClr val="7030A0"/>
                </a:solidFill>
                <a:latin typeface="Candara" panose="020E0502030303020204" pitchFamily="34" charset="0"/>
              </a:rPr>
              <a:t>attempted murder </a:t>
            </a:r>
            <a:r>
              <a:rPr lang="en-GB" altLang="en-US" sz="1800" dirty="0">
                <a:latin typeface="Candara" panose="020E0502030303020204" pitchFamily="34" charset="0"/>
              </a:rPr>
              <a:t>(</a:t>
            </a:r>
            <a:r>
              <a:rPr lang="en-GB" altLang="en-US" sz="1800" b="1" i="1" dirty="0">
                <a:latin typeface="Candara" panose="020E0502030303020204" pitchFamily="34" charset="0"/>
              </a:rPr>
              <a:t>Gotts </a:t>
            </a:r>
            <a:r>
              <a:rPr lang="en-GB" altLang="en-US" sz="1800" b="1" dirty="0">
                <a:latin typeface="Candara" panose="020E0502030303020204" pitchFamily="34" charset="0"/>
              </a:rPr>
              <a:t>[1992] 2 AC 412</a:t>
            </a:r>
            <a:r>
              <a:rPr lang="en-GB" altLang="en-US" sz="1800" dirty="0">
                <a:latin typeface="Candara" panose="020E0502030303020204" pitchFamily="34" charset="0"/>
              </a:rPr>
              <a:t>).</a:t>
            </a:r>
          </a:p>
          <a:p>
            <a:pPr marL="457200" indent="-457200" algn="just">
              <a:lnSpc>
                <a:spcPct val="150000"/>
              </a:lnSpc>
              <a:buFont typeface="Arial" panose="020B0604020202020204" pitchFamily="34" charset="0"/>
              <a:buChar char="•"/>
            </a:pPr>
            <a:r>
              <a:rPr lang="en-GB" sz="1800" dirty="0">
                <a:effectLst/>
                <a:latin typeface="Candara" panose="020E0502030303020204" pitchFamily="34" charset="0"/>
                <a:ea typeface="Times New Roman" panose="02020603050405020304" pitchFamily="18" charset="0"/>
                <a:cs typeface="Times New Roman" panose="02020603050405020304" pitchFamily="18" charset="0"/>
              </a:rPr>
              <a:t>The law allows duress to apply where D commits an offence of intentionally causing GBH.</a:t>
            </a:r>
            <a:r>
              <a:rPr lang="en-GB" sz="1200" dirty="0">
                <a:effectLst/>
                <a:latin typeface="Candara" panose="020E0502030303020204" pitchFamily="34" charset="0"/>
              </a:rPr>
              <a:t> </a:t>
            </a:r>
            <a:endParaRPr lang="en-GB" altLang="en-US" sz="1800" dirty="0">
              <a:latin typeface="Candara" panose="020E0502030303020204" pitchFamily="34" charset="0"/>
            </a:endParaRPr>
          </a:p>
          <a:p>
            <a:pPr marL="457200" indent="-457200" algn="just">
              <a:lnSpc>
                <a:spcPct val="150000"/>
              </a:lnSpc>
              <a:buFont typeface="Arial" panose="020B0604020202020204" pitchFamily="34" charset="0"/>
              <a:buChar char="•"/>
            </a:pPr>
            <a:r>
              <a:rPr lang="en-GB" altLang="en-US" sz="1800" dirty="0">
                <a:latin typeface="Candara" panose="020E0502030303020204" pitchFamily="34" charset="0"/>
              </a:rPr>
              <a:t>Duress remains a valid defence for conspiracy to murder (</a:t>
            </a:r>
            <a:r>
              <a:rPr lang="en-GB" altLang="en-US" sz="1800" b="1" dirty="0">
                <a:latin typeface="Candara" panose="020E0502030303020204" pitchFamily="34" charset="0"/>
              </a:rPr>
              <a:t>Ness</a:t>
            </a:r>
            <a:r>
              <a:rPr lang="en-GB" altLang="en-US" sz="1800" dirty="0">
                <a:latin typeface="Candara" panose="020E0502030303020204" pitchFamily="34" charset="0"/>
              </a:rPr>
              <a:t>) and presumably assisting or encouraging murder. </a:t>
            </a:r>
          </a:p>
          <a:p>
            <a:endParaRPr lang="en-US" dirty="0"/>
          </a:p>
        </p:txBody>
      </p:sp>
    </p:spTree>
    <p:extLst>
      <p:ext uri="{BB962C8B-B14F-4D97-AF65-F5344CB8AC3E}">
        <p14:creationId xmlns:p14="http://schemas.microsoft.com/office/powerpoint/2010/main" val="773926084"/>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E4B7-B970-4745-BF9F-C6AE6EF09E22}"/>
              </a:ext>
            </a:extLst>
          </p:cNvPr>
          <p:cNvSpPr>
            <a:spLocks noGrp="1"/>
          </p:cNvSpPr>
          <p:nvPr>
            <p:ph type="title"/>
          </p:nvPr>
        </p:nvSpPr>
        <p:spPr>
          <a:xfrm>
            <a:off x="914400" y="432545"/>
            <a:ext cx="10363200" cy="1143000"/>
          </a:xfrm>
        </p:spPr>
        <p:txBody>
          <a:bodyPr>
            <a:noAutofit/>
          </a:bodyPr>
          <a:lstStyle/>
          <a:p>
            <a:pPr algn="ctr"/>
            <a:r>
              <a:rPr lang="en-GB" sz="3200" b="1" dirty="0">
                <a:latin typeface="Candara" panose="020E0502030303020204" pitchFamily="34" charset="0"/>
              </a:rPr>
              <a:t>Exclusions</a:t>
            </a:r>
            <a:br>
              <a:rPr lang="en-GB" sz="3200" b="1" dirty="0">
                <a:latin typeface="Candara" panose="020E0502030303020204" pitchFamily="34" charset="0"/>
              </a:rPr>
            </a:br>
            <a:r>
              <a:rPr lang="en-GB" sz="2800" b="1" i="1" dirty="0">
                <a:latin typeface="Candara" panose="020E0502030303020204" pitchFamily="34" charset="0"/>
              </a:rPr>
              <a:t>2. Exclusion on the basis of prior-fault </a:t>
            </a:r>
            <a:endParaRPr lang="en-US" sz="2800" b="1" i="1" dirty="0">
              <a:latin typeface="Candara" panose="020E0502030303020204" pitchFamily="34" charset="0"/>
            </a:endParaRPr>
          </a:p>
        </p:txBody>
      </p:sp>
      <p:sp>
        <p:nvSpPr>
          <p:cNvPr id="4" name="Slide Number Placeholder 3">
            <a:extLst>
              <a:ext uri="{FF2B5EF4-FFF2-40B4-BE49-F238E27FC236}">
                <a16:creationId xmlns:a16="http://schemas.microsoft.com/office/drawing/2014/main" id="{08AA8C4C-C76D-A248-999D-0C7A059DFE97}"/>
              </a:ext>
            </a:extLst>
          </p:cNvPr>
          <p:cNvSpPr>
            <a:spLocks noGrp="1"/>
          </p:cNvSpPr>
          <p:nvPr>
            <p:ph type="sldNum" sz="quarter" idx="12"/>
          </p:nvPr>
        </p:nvSpPr>
        <p:spPr/>
        <p:txBody>
          <a:bodyPr/>
          <a:lstStyle/>
          <a:p>
            <a:fld id="{5D84065D-F351-4B03-BD91-D8A6B8D4B362}" type="slidenum">
              <a:rPr lang="en-US" smtClean="0"/>
              <a:t>9</a:t>
            </a:fld>
            <a:endParaRPr lang="en-US" dirty="0"/>
          </a:p>
        </p:txBody>
      </p:sp>
      <p:sp>
        <p:nvSpPr>
          <p:cNvPr id="5" name="Content Placeholder 4">
            <a:extLst>
              <a:ext uri="{FF2B5EF4-FFF2-40B4-BE49-F238E27FC236}">
                <a16:creationId xmlns:a16="http://schemas.microsoft.com/office/drawing/2014/main" id="{4FAB1A18-7B12-D452-7BF5-C722D6A362A1}"/>
              </a:ext>
            </a:extLst>
          </p:cNvPr>
          <p:cNvSpPr>
            <a:spLocks noGrp="1"/>
          </p:cNvSpPr>
          <p:nvPr>
            <p:ph sz="half" idx="2"/>
          </p:nvPr>
        </p:nvSpPr>
        <p:spPr>
          <a:xfrm>
            <a:off x="536288" y="1580026"/>
            <a:ext cx="11298264" cy="4318747"/>
          </a:xfrm>
        </p:spPr>
        <p:txBody>
          <a:bodyPr/>
          <a:lstStyle/>
          <a:p>
            <a:pPr marL="285750" indent="-285750" algn="just">
              <a:lnSpc>
                <a:spcPct val="150000"/>
              </a:lnSpc>
              <a:buFont typeface="Arial" panose="020B0604020202020204" pitchFamily="34" charset="0"/>
              <a:buChar char="•"/>
            </a:pPr>
            <a:r>
              <a:rPr lang="en-GB" sz="1800" dirty="0">
                <a:latin typeface="Candara" panose="020E0502030303020204" pitchFamily="34" charset="0"/>
              </a:rPr>
              <a:t>Rationale is to protect the defendants from liability where </a:t>
            </a:r>
            <a:r>
              <a:rPr lang="en-GB" sz="1800" b="1" dirty="0">
                <a:latin typeface="Candara" panose="020E0502030303020204" pitchFamily="34" charset="0"/>
              </a:rPr>
              <a:t>they have been placed </a:t>
            </a:r>
            <a:r>
              <a:rPr lang="en-GB" sz="1800" dirty="0">
                <a:latin typeface="Candara" panose="020E0502030303020204" pitchFamily="34" charset="0"/>
              </a:rPr>
              <a:t>in a position where their offending is either excused or justified.</a:t>
            </a:r>
          </a:p>
          <a:p>
            <a:pPr marL="0" indent="0" algn="ctr">
              <a:lnSpc>
                <a:spcPct val="150000"/>
              </a:lnSpc>
            </a:pPr>
            <a:r>
              <a:rPr lang="en-GB" sz="1800" b="1" dirty="0">
                <a:solidFill>
                  <a:srgbClr val="663366"/>
                </a:solidFill>
                <a:latin typeface="Candara" panose="020E0502030303020204" pitchFamily="34" charset="0"/>
                <a:ea typeface="+mj-ea"/>
                <a:cs typeface="+mj-cs"/>
              </a:rPr>
              <a:t>Associating with criminals</a:t>
            </a:r>
          </a:p>
          <a:p>
            <a:pPr marL="0" indent="0" algn="just">
              <a:lnSpc>
                <a:spcPct val="150000"/>
              </a:lnSpc>
            </a:pPr>
            <a:r>
              <a:rPr lang="en-GB" sz="1800" dirty="0">
                <a:latin typeface="Candara" panose="020E0502030303020204" pitchFamily="34" charset="0"/>
              </a:rPr>
              <a:t>Where the defendants, either consciously or through negligence, place themselves in a position where they require a defence, the law will be much less willing to recognise that defence.</a:t>
            </a:r>
          </a:p>
          <a:p>
            <a:pPr marL="285750" indent="-285750" algn="just">
              <a:lnSpc>
                <a:spcPct val="150000"/>
              </a:lnSpc>
              <a:buFont typeface="Arial" panose="020B0604020202020204" pitchFamily="34" charset="0"/>
              <a:buChar char="•"/>
            </a:pPr>
            <a:r>
              <a:rPr lang="en-GB" sz="1800" dirty="0">
                <a:latin typeface="Candara" panose="020E0502030303020204" pitchFamily="34" charset="0"/>
              </a:rPr>
              <a:t>Restricted approach: </a:t>
            </a:r>
            <a:r>
              <a:rPr lang="en-GB" sz="1800" b="1" dirty="0">
                <a:latin typeface="Candara" panose="020E0502030303020204" pitchFamily="34" charset="0"/>
              </a:rPr>
              <a:t>Hasan [2005] UKHL 22</a:t>
            </a:r>
            <a:r>
              <a:rPr lang="en-US" sz="1800" b="1" dirty="0">
                <a:latin typeface="Candara" panose="020E0502030303020204" pitchFamily="34" charset="0"/>
              </a:rPr>
              <a:t> – </a:t>
            </a:r>
            <a:r>
              <a:rPr lang="en-US" sz="1800" dirty="0">
                <a:latin typeface="Candara" panose="020E0502030303020204" pitchFamily="34" charset="0"/>
              </a:rPr>
              <a:t>D’s voluntary association with X  undermined any appeal to duress.</a:t>
            </a:r>
          </a:p>
          <a:p>
            <a:pPr marL="285750" indent="-285750" algn="just">
              <a:lnSpc>
                <a:spcPct val="150000"/>
              </a:lnSpc>
              <a:buFont typeface="Arial" panose="020B0604020202020204" pitchFamily="34" charset="0"/>
              <a:buChar char="•"/>
            </a:pPr>
            <a:r>
              <a:rPr lang="en-GB" sz="1800" b="1" dirty="0">
                <a:effectLst/>
                <a:latin typeface="Candara" panose="020E0502030303020204" pitchFamily="34" charset="0"/>
                <a:ea typeface="Times New Roman" panose="02020603050405020304" pitchFamily="18" charset="0"/>
                <a:cs typeface="Times New Roman" panose="02020603050405020304" pitchFamily="18" charset="0"/>
              </a:rPr>
              <a:t>Sharp [1987] 1 QB 853,</a:t>
            </a:r>
            <a:r>
              <a:rPr lang="en-GB" sz="1800" b="1" dirty="0">
                <a:latin typeface="Candara" panose="020E0502030303020204" pitchFamily="34" charset="0"/>
                <a:ea typeface="Times New Roman" panose="02020603050405020304" pitchFamily="18" charset="0"/>
                <a:cs typeface="Times New Roman" panose="02020603050405020304" pitchFamily="18" charset="0"/>
              </a:rPr>
              <a:t> </a:t>
            </a:r>
            <a:r>
              <a:rPr lang="en-GB" sz="1800" b="1" dirty="0">
                <a:effectLst/>
                <a:latin typeface="Candara" panose="020E0502030303020204" pitchFamily="34" charset="0"/>
                <a:ea typeface="Times New Roman" panose="02020603050405020304" pitchFamily="18" charset="0"/>
                <a:cs typeface="Times New Roman" panose="02020603050405020304" pitchFamily="18" charset="0"/>
              </a:rPr>
              <a:t>Fitzpatrick [1977] NI 20</a:t>
            </a:r>
            <a:r>
              <a:rPr lang="en-GB" sz="1800" b="1" dirty="0">
                <a:latin typeface="Candara" panose="020E0502030303020204" pitchFamily="34" charset="0"/>
                <a:ea typeface="Times New Roman" panose="02020603050405020304" pitchFamily="18" charset="0"/>
                <a:cs typeface="Times New Roman" panose="02020603050405020304" pitchFamily="18" charset="0"/>
              </a:rPr>
              <a:t> – </a:t>
            </a:r>
            <a:r>
              <a:rPr lang="en-GB" sz="1800" dirty="0">
                <a:latin typeface="Candara" panose="020E0502030303020204" pitchFamily="34" charset="0"/>
              </a:rPr>
              <a:t>[W]here a person has voluntarily, and with knowledge of its nature, joined a criminal organisation or gang which he knew might bring pressure on him to commit an offence and was an active member when he was put under such pressure, he cannot avail himself of the defence of duress. </a:t>
            </a:r>
          </a:p>
          <a:p>
            <a:pPr>
              <a:buFont typeface="Arial" panose="020B0604020202020204" pitchFamily="34" charset="0"/>
              <a:buChar char="•"/>
            </a:pPr>
            <a:endParaRPr lang="en-US" sz="1800" dirty="0">
              <a:latin typeface="Candara" panose="020E0502030303020204" pitchFamily="34" charset="0"/>
            </a:endParaRPr>
          </a:p>
        </p:txBody>
      </p:sp>
    </p:spTree>
    <p:extLst>
      <p:ext uri="{BB962C8B-B14F-4D97-AF65-F5344CB8AC3E}">
        <p14:creationId xmlns:p14="http://schemas.microsoft.com/office/powerpoint/2010/main" val="3393757731"/>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r>
              <a:rPr lang="en-US" sz="3200" b="1" dirty="0">
                <a:latin typeface="Candara" panose="020E0502030303020204" pitchFamily="34" charset="0"/>
              </a:rPr>
              <a:t>Element 1: X’s Threat and Demand</a:t>
            </a:r>
          </a:p>
        </p:txBody>
      </p:sp>
      <p:graphicFrame>
        <p:nvGraphicFramePr>
          <p:cNvPr id="5" name="Content Placeholder 2">
            <a:extLst>
              <a:ext uri="{FF2B5EF4-FFF2-40B4-BE49-F238E27FC236}">
                <a16:creationId xmlns:a16="http://schemas.microsoft.com/office/drawing/2014/main" id="{06F5BE09-3470-111E-CE41-DF6E490C1031}"/>
              </a:ext>
            </a:extLst>
          </p:cNvPr>
          <p:cNvGraphicFramePr>
            <a:graphicFrameLocks/>
          </p:cNvGraphicFramePr>
          <p:nvPr>
            <p:extLst>
              <p:ext uri="{D42A27DB-BD31-4B8C-83A1-F6EECF244321}">
                <p14:modId xmlns:p14="http://schemas.microsoft.com/office/powerpoint/2010/main" val="3819819971"/>
              </p:ext>
            </p:extLst>
          </p:nvPr>
        </p:nvGraphicFramePr>
        <p:xfrm>
          <a:off x="772332" y="1549833"/>
          <a:ext cx="10647336" cy="33845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3861411"/>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1: X’s Threat and Demand</a:t>
            </a:r>
            <a:br>
              <a:rPr lang="en-GB" sz="3200" b="1" dirty="0">
                <a:latin typeface="Candara" panose="020E0502030303020204" pitchFamily="34" charset="0"/>
              </a:rPr>
            </a:br>
            <a:r>
              <a:rPr lang="en-GB" sz="2800" b="1" i="1" dirty="0">
                <a:latin typeface="Candara" panose="020E0502030303020204" pitchFamily="34" charset="0"/>
              </a:rPr>
              <a:t>(a) The content of the threat </a:t>
            </a:r>
            <a:br>
              <a:rPr lang="en-US" b="1" i="0" dirty="0">
                <a:solidFill>
                  <a:srgbClr val="44709D"/>
                </a:solidFill>
                <a:latin typeface="Candara" panose="020E0502030303020204" pitchFamily="34" charset="0"/>
                <a:ea typeface="+mn-ea"/>
                <a:cs typeface="+mn-cs"/>
              </a:rPr>
            </a:br>
            <a:endParaRPr lang="en-US" b="1" dirty="0"/>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954932"/>
            <a:ext cx="11410122" cy="4071592"/>
          </a:xfrm>
        </p:spPr>
        <p:txBody>
          <a:bodyPr/>
          <a:lstStyle/>
          <a:p>
            <a:pPr marL="0" marR="0" lvl="0" indent="0" algn="just" defTabSz="457200" rtl="0" eaLnBrk="1" fontAlgn="auto" latinLnBrk="0" hangingPunct="1">
              <a:lnSpc>
                <a:spcPct val="100000"/>
              </a:lnSpc>
              <a:spcBef>
                <a:spcPct val="20000"/>
              </a:spcBef>
              <a:spcAft>
                <a:spcPts val="600"/>
              </a:spcAft>
              <a:buClr>
                <a:srgbClr val="83992A"/>
              </a:buClr>
              <a:buSzPct val="115000"/>
              <a:buFont typeface="Arial"/>
              <a:buNone/>
              <a:tabLst/>
              <a:defRPr/>
            </a:pPr>
            <a:r>
              <a:rPr kumimoji="0" lang="en-GB" b="1" i="1" u="none" strike="noStrike" kern="1200" cap="none" spc="0" normalizeH="0" baseline="0" noProof="0" dirty="0">
                <a:ln>
                  <a:noFill/>
                </a:ln>
                <a:solidFill>
                  <a:srgbClr val="44709D"/>
                </a:solidFill>
                <a:effectLst/>
                <a:uLnTx/>
                <a:uFillTx/>
                <a:latin typeface="Candara" panose="020E0502030303020204" pitchFamily="34" charset="0"/>
              </a:rPr>
              <a:t>X threatens D that unless she commits a minor theft of V’s property, she will face the much greater theft or damage of her own property. </a:t>
            </a:r>
            <a:endParaRPr kumimoji="0" lang="en-GB" b="0" i="0" u="none" strike="noStrike" kern="1200" cap="none" spc="0" normalizeH="0" baseline="0" noProof="0" dirty="0">
              <a:ln>
                <a:noFill/>
              </a:ln>
              <a:solidFill>
                <a:prstClr val="black">
                  <a:lumMod val="85000"/>
                  <a:lumOff val="15000"/>
                </a:prstClr>
              </a:solidFill>
              <a:effectLst/>
              <a:uLnTx/>
              <a:uFillTx/>
              <a:latin typeface="Candara" panose="020E0502030303020204" pitchFamily="34" charset="0"/>
            </a:endParaRPr>
          </a:p>
          <a:p>
            <a:pPr marL="285750" indent="-285750" algn="just" defTabSz="457200" fontAlgn="auto">
              <a:spcAft>
                <a:spcPts val="600"/>
              </a:spcAft>
              <a:buClr>
                <a:srgbClr val="83992A"/>
              </a:buClr>
              <a:buSzPct val="115000"/>
              <a:buFont typeface="Arial" panose="020B0604020202020204" pitchFamily="34" charset="0"/>
              <a:buChar char="•"/>
              <a:defRPr/>
            </a:pPr>
            <a:r>
              <a:rPr kumimoji="0" lang="en-GB" b="0" i="0" u="none" strike="noStrike" kern="1200" cap="none" spc="0" normalizeH="0" baseline="0" noProof="0" dirty="0">
                <a:ln>
                  <a:noFill/>
                </a:ln>
                <a:solidFill>
                  <a:prstClr val="black">
                    <a:lumMod val="85000"/>
                    <a:lumOff val="15000"/>
                  </a:prstClr>
                </a:solidFill>
                <a:effectLst/>
                <a:uLnTx/>
                <a:uFillTx/>
                <a:latin typeface="Candara" panose="020E0502030303020204" pitchFamily="34" charset="0"/>
              </a:rPr>
              <a:t>X’s threat </a:t>
            </a:r>
            <a:r>
              <a:rPr lang="en-GB" b="1" kern="1200" dirty="0">
                <a:ln w="12700" cmpd="sng">
                  <a:solidFill>
                    <a:srgbClr val="A23C33"/>
                  </a:solidFill>
                  <a:prstDash val="solid"/>
                </a:ln>
                <a:gradFill>
                  <a:gsLst>
                    <a:gs pos="0">
                      <a:srgbClr val="A23C33"/>
                    </a:gs>
                    <a:gs pos="4000">
                      <a:srgbClr val="A23C33">
                        <a:lumMod val="60000"/>
                        <a:lumOff val="40000"/>
                      </a:srgbClr>
                    </a:gs>
                    <a:gs pos="87000">
                      <a:srgbClr val="A23C33">
                        <a:lumMod val="20000"/>
                        <a:lumOff val="80000"/>
                      </a:srgbClr>
                    </a:gs>
                  </a:gsLst>
                  <a:lin ang="5400000"/>
                </a:gradFill>
                <a:latin typeface="Candara" panose="020E0502030303020204" pitchFamily="34" charset="0"/>
              </a:rPr>
              <a:t>must be of death </a:t>
            </a:r>
            <a:r>
              <a:rPr kumimoji="0" lang="en-GB" b="1" i="0" u="none" strike="noStrike" kern="1200" cap="none" spc="0" normalizeH="0" baseline="0" noProof="0" dirty="0">
                <a:ln w="12700" cmpd="sng">
                  <a:solidFill>
                    <a:srgbClr val="A23C33"/>
                  </a:solidFill>
                  <a:prstDash val="solid"/>
                </a:ln>
                <a:gradFill>
                  <a:gsLst>
                    <a:gs pos="0">
                      <a:srgbClr val="A23C33"/>
                    </a:gs>
                    <a:gs pos="4000">
                      <a:srgbClr val="A23C33">
                        <a:lumMod val="60000"/>
                        <a:lumOff val="40000"/>
                      </a:srgbClr>
                    </a:gs>
                    <a:gs pos="87000">
                      <a:srgbClr val="A23C33">
                        <a:lumMod val="20000"/>
                        <a:lumOff val="80000"/>
                      </a:srgbClr>
                    </a:gs>
                  </a:gsLst>
                  <a:lin ang="5400000"/>
                </a:gradFill>
                <a:effectLst/>
                <a:uLnTx/>
                <a:uFillTx/>
                <a:latin typeface="Candara" panose="020E0502030303020204" pitchFamily="34" charset="0"/>
              </a:rPr>
              <a:t>or serious personal injury</a:t>
            </a:r>
            <a:r>
              <a:rPr kumimoji="0" lang="en-GB" b="0" i="0" u="none" strike="noStrike" kern="1200" cap="none" spc="0" normalizeH="0" baseline="0" noProof="0" dirty="0">
                <a:ln>
                  <a:noFill/>
                </a:ln>
                <a:solidFill>
                  <a:prstClr val="black">
                    <a:lumMod val="85000"/>
                    <a:lumOff val="15000"/>
                  </a:prstClr>
                </a:solidFill>
                <a:effectLst/>
                <a:uLnTx/>
                <a:uFillTx/>
                <a:latin typeface="Candara" panose="020E0502030303020204" pitchFamily="34" charset="0"/>
              </a:rPr>
              <a:t>. </a:t>
            </a:r>
            <a:r>
              <a:rPr lang="en-GB" b="1" i="1" dirty="0">
                <a:effectLst/>
                <a:latin typeface="Candara" panose="020E0502030303020204" pitchFamily="34" charset="0"/>
                <a:ea typeface="Times New Roman" panose="02020603050405020304" pitchFamily="18" charset="0"/>
                <a:cs typeface="Times New Roman" panose="02020603050405020304" pitchFamily="18" charset="0"/>
              </a:rPr>
              <a:t>[Hudson and Taylor [1971] 2 QB 202,</a:t>
            </a:r>
            <a:r>
              <a:rPr lang="en-GB" dirty="0">
                <a:effectLst/>
                <a:latin typeface="Candara" panose="020E0502030303020204" pitchFamily="34" charset="0"/>
                <a:ea typeface="Times New Roman" panose="02020603050405020304" pitchFamily="18" charset="0"/>
                <a:cs typeface="Times New Roman" panose="02020603050405020304" pitchFamily="18" charset="0"/>
              </a:rPr>
              <a:t> see also </a:t>
            </a:r>
            <a:r>
              <a:rPr lang="en-GB" b="1" dirty="0">
                <a:effectLst/>
                <a:latin typeface="Candara" panose="020E0502030303020204" pitchFamily="34" charset="0"/>
                <a:ea typeface="Times New Roman" panose="02020603050405020304" pitchFamily="18" charset="0"/>
                <a:cs typeface="Times New Roman" panose="02020603050405020304" pitchFamily="18" charset="0"/>
              </a:rPr>
              <a:t>DPP v Lynch] </a:t>
            </a:r>
            <a:endParaRPr kumimoji="0" lang="en-GB" b="1" i="0" u="none" strike="noStrike" kern="1200" cap="none" spc="0" normalizeH="0" baseline="0" noProof="0" dirty="0">
              <a:ln>
                <a:noFill/>
              </a:ln>
              <a:solidFill>
                <a:prstClr val="black">
                  <a:lumMod val="85000"/>
                  <a:lumOff val="15000"/>
                </a:prstClr>
              </a:solidFill>
              <a:effectLst/>
              <a:uLnTx/>
              <a:uFillTx/>
              <a:latin typeface="Candara" panose="020E0502030303020204" pitchFamily="34" charset="0"/>
            </a:endParaRPr>
          </a:p>
          <a:p>
            <a:pPr marL="285750" marR="0" lvl="0" indent="-285750" algn="just" defTabSz="457200" rtl="0" eaLnBrk="1" fontAlgn="auto" latinLnBrk="0" hangingPunct="1">
              <a:lnSpc>
                <a:spcPct val="100000"/>
              </a:lnSpc>
              <a:spcBef>
                <a:spcPct val="20000"/>
              </a:spcBef>
              <a:spcAft>
                <a:spcPts val="600"/>
              </a:spcAft>
              <a:buClr>
                <a:srgbClr val="83992A"/>
              </a:buClr>
              <a:buSzPct val="115000"/>
              <a:buFont typeface="Arial" panose="020B0604020202020204" pitchFamily="34" charset="0"/>
              <a:buChar char="•"/>
              <a:tabLst/>
              <a:defRPr/>
            </a:pPr>
            <a:r>
              <a:rPr kumimoji="0" lang="en-GB" b="0" i="0" u="none" strike="noStrike" kern="1200" cap="none" spc="0" normalizeH="0" baseline="0" noProof="0" dirty="0">
                <a:ln>
                  <a:noFill/>
                </a:ln>
                <a:solidFill>
                  <a:prstClr val="black">
                    <a:lumMod val="85000"/>
                    <a:lumOff val="15000"/>
                  </a:prstClr>
                </a:solidFill>
                <a:effectLst/>
                <a:uLnTx/>
                <a:uFillTx/>
                <a:latin typeface="Candara" panose="020E0502030303020204" pitchFamily="34" charset="0"/>
              </a:rPr>
              <a:t>Any threat other than that of death or serious injury, even if it is vastly more serious than the offence X is demanding of D, will not qualify. </a:t>
            </a:r>
          </a:p>
          <a:p>
            <a:pPr marL="285750" marR="0" lvl="0" indent="-285750" algn="just" defTabSz="457200" rtl="0" eaLnBrk="1" fontAlgn="auto" latinLnBrk="0" hangingPunct="1">
              <a:lnSpc>
                <a:spcPct val="100000"/>
              </a:lnSpc>
              <a:spcBef>
                <a:spcPct val="20000"/>
              </a:spcBef>
              <a:spcAft>
                <a:spcPts val="600"/>
              </a:spcAft>
              <a:buClr>
                <a:srgbClr val="83992A"/>
              </a:buClr>
              <a:buSzPct val="115000"/>
              <a:buFont typeface="Arial" panose="020B0604020202020204" pitchFamily="34" charset="0"/>
              <a:buChar char="•"/>
              <a:tabLst/>
              <a:defRPr/>
            </a:pPr>
            <a:r>
              <a:rPr kumimoji="0" lang="en-GB" b="0" i="0" u="none" strike="noStrike" kern="1200" cap="none" spc="0" normalizeH="0" baseline="0" noProof="0" dirty="0">
                <a:ln>
                  <a:noFill/>
                </a:ln>
                <a:solidFill>
                  <a:prstClr val="black">
                    <a:lumMod val="85000"/>
                    <a:lumOff val="15000"/>
                  </a:prstClr>
                </a:solidFill>
                <a:effectLst/>
                <a:uLnTx/>
                <a:uFillTx/>
                <a:latin typeface="Candara" panose="020E0502030303020204" pitchFamily="34" charset="0"/>
              </a:rPr>
              <a:t>Duress is not a ‘balance of evils’ defence. </a:t>
            </a:r>
          </a:p>
          <a:p>
            <a:endParaRPr lang="en-US" dirty="0"/>
          </a:p>
        </p:txBody>
      </p:sp>
    </p:spTree>
    <p:extLst>
      <p:ext uri="{BB962C8B-B14F-4D97-AF65-F5344CB8AC3E}">
        <p14:creationId xmlns:p14="http://schemas.microsoft.com/office/powerpoint/2010/main" val="1008506224"/>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1: X’s Threat and Demand</a:t>
            </a:r>
            <a:br>
              <a:rPr lang="en-GB" sz="3200" b="1" dirty="0">
                <a:latin typeface="Candara" panose="020E0502030303020204" pitchFamily="34" charset="0"/>
              </a:rPr>
            </a:br>
            <a:r>
              <a:rPr lang="en-GB" sz="2800" b="1" i="1" dirty="0">
                <a:latin typeface="Candara" panose="020E0502030303020204" pitchFamily="34" charset="0"/>
              </a:rPr>
              <a:t>(a) The content of the threat </a:t>
            </a:r>
            <a:br>
              <a:rPr lang="en-US" b="1" i="0" dirty="0">
                <a:solidFill>
                  <a:srgbClr val="44709D"/>
                </a:solidFill>
                <a:latin typeface="Candara" panose="020E0502030303020204" pitchFamily="34" charset="0"/>
                <a:ea typeface="+mn-ea"/>
                <a:cs typeface="+mn-cs"/>
              </a:rPr>
            </a:br>
            <a:endParaRPr lang="en-US" b="1" dirty="0"/>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975330"/>
            <a:ext cx="11410122" cy="4071592"/>
          </a:xfrm>
        </p:spPr>
        <p:txBody>
          <a:bodyPr/>
          <a:lstStyle/>
          <a:p>
            <a:pPr algn="just">
              <a:lnSpc>
                <a:spcPct val="150000"/>
              </a:lnSpc>
              <a:buFont typeface="Arial" panose="020B0604020202020204" pitchFamily="34" charset="0"/>
              <a:buChar char="•"/>
            </a:pPr>
            <a:r>
              <a:rPr lang="en-US" b="1" kern="1200" dirty="0">
                <a:ln w="12700" cmpd="sng">
                  <a:solidFill>
                    <a:srgbClr val="A23C33"/>
                  </a:solidFill>
                  <a:prstDash val="solid"/>
                </a:ln>
                <a:gradFill>
                  <a:gsLst>
                    <a:gs pos="0">
                      <a:srgbClr val="A23C33"/>
                    </a:gs>
                    <a:gs pos="4000">
                      <a:srgbClr val="A23C33">
                        <a:lumMod val="60000"/>
                        <a:lumOff val="40000"/>
                      </a:srgbClr>
                    </a:gs>
                    <a:gs pos="87000">
                      <a:srgbClr val="A23C33">
                        <a:lumMod val="20000"/>
                        <a:lumOff val="80000"/>
                      </a:srgbClr>
                    </a:gs>
                  </a:gsLst>
                  <a:lin ang="5400000"/>
                </a:gradFill>
                <a:latin typeface="Candara" panose="020E0502030303020204" pitchFamily="34" charset="0"/>
              </a:rPr>
              <a:t>Physical injury must be anticipated; </a:t>
            </a:r>
            <a:r>
              <a:rPr lang="en-US" dirty="0">
                <a:latin typeface="Candara" panose="020E0502030303020204" pitchFamily="34" charset="0"/>
              </a:rPr>
              <a:t>a fear of serious psychological harm will not suffice (see </a:t>
            </a:r>
            <a:r>
              <a:rPr lang="en-US" b="1" dirty="0">
                <a:latin typeface="Candara" panose="020E0502030303020204" pitchFamily="34" charset="0"/>
              </a:rPr>
              <a:t>Baker and Wilkins [1997] Crim LR 497).</a:t>
            </a:r>
          </a:p>
          <a:p>
            <a:pPr algn="just">
              <a:lnSpc>
                <a:spcPct val="150000"/>
              </a:lnSpc>
              <a:buFont typeface="Arial" panose="020B0604020202020204" pitchFamily="34" charset="0"/>
              <a:buChar char="•"/>
            </a:pPr>
            <a:r>
              <a:rPr lang="en-US" dirty="0">
                <a:latin typeface="Candara" panose="020E0502030303020204" pitchFamily="34" charset="0"/>
              </a:rPr>
              <a:t>A threat to damage or destroy property is also not sufficient </a:t>
            </a:r>
            <a:r>
              <a:rPr lang="en-US" b="1" dirty="0">
                <a:latin typeface="Candara" panose="020E0502030303020204" pitchFamily="34" charset="0"/>
              </a:rPr>
              <a:t>(</a:t>
            </a:r>
            <a:r>
              <a:rPr lang="en-US" b="1" dirty="0" err="1">
                <a:latin typeface="Candara" panose="020E0502030303020204" pitchFamily="34" charset="0"/>
              </a:rPr>
              <a:t>M’Growther</a:t>
            </a:r>
            <a:r>
              <a:rPr lang="en-US" b="1" dirty="0">
                <a:latin typeface="Candara" panose="020E0502030303020204" pitchFamily="34" charset="0"/>
              </a:rPr>
              <a:t> (1746) </a:t>
            </a:r>
            <a:r>
              <a:rPr lang="en-US" b="1" dirty="0" err="1">
                <a:latin typeface="Candara" panose="020E0502030303020204" pitchFamily="34" charset="0"/>
              </a:rPr>
              <a:t>Fost</a:t>
            </a:r>
            <a:r>
              <a:rPr lang="en-US" b="1" dirty="0">
                <a:latin typeface="Candara" panose="020E0502030303020204" pitchFamily="34" charset="0"/>
              </a:rPr>
              <a:t> 13).</a:t>
            </a:r>
          </a:p>
          <a:p>
            <a:pPr algn="just">
              <a:lnSpc>
                <a:spcPct val="150000"/>
              </a:lnSpc>
              <a:buFont typeface="Arial" panose="020B0604020202020204" pitchFamily="34" charset="0"/>
              <a:buChar char="•"/>
            </a:pPr>
            <a:r>
              <a:rPr lang="en-US" dirty="0">
                <a:latin typeface="Candara" panose="020E0502030303020204" pitchFamily="34" charset="0"/>
              </a:rPr>
              <a:t>Threats to expose sexual immorality will also not suffice </a:t>
            </a:r>
            <a:r>
              <a:rPr lang="en-US" b="1" dirty="0">
                <a:latin typeface="Candara" panose="020E0502030303020204" pitchFamily="34" charset="0"/>
              </a:rPr>
              <a:t>(Singh [1973] 1 WLR 1600; Valderrama-Vega [1985] Crim LR 220).</a:t>
            </a:r>
          </a:p>
          <a:p>
            <a:pPr algn="just">
              <a:lnSpc>
                <a:spcPct val="150000"/>
              </a:lnSpc>
              <a:buFont typeface="Arial" panose="020B0604020202020204" pitchFamily="34" charset="0"/>
              <a:buChar char="•"/>
            </a:pPr>
            <a:r>
              <a:rPr lang="en-US" dirty="0">
                <a:latin typeface="Candara" panose="020E0502030303020204" pitchFamily="34" charset="0"/>
              </a:rPr>
              <a:t>While the threats of death or serious injury must be a sine qua non of D’s decision to commit the offence (i.e. D would not have committed the offence but for the threats), </a:t>
            </a:r>
            <a:r>
              <a:rPr lang="en-US" b="1" kern="1200" dirty="0">
                <a:ln w="12700" cmpd="sng">
                  <a:solidFill>
                    <a:srgbClr val="A23C33"/>
                  </a:solidFill>
                  <a:prstDash val="solid"/>
                </a:ln>
                <a:gradFill>
                  <a:gsLst>
                    <a:gs pos="0">
                      <a:srgbClr val="A23C33"/>
                    </a:gs>
                    <a:gs pos="4000">
                      <a:srgbClr val="A23C33">
                        <a:lumMod val="60000"/>
                        <a:lumOff val="40000"/>
                      </a:srgbClr>
                    </a:gs>
                    <a:gs pos="87000">
                      <a:srgbClr val="A23C33">
                        <a:lumMod val="20000"/>
                        <a:lumOff val="80000"/>
                      </a:srgbClr>
                    </a:gs>
                  </a:gsLst>
                  <a:lin ang="5400000"/>
                </a:gradFill>
                <a:latin typeface="Candara" panose="020E0502030303020204" pitchFamily="34" charset="0"/>
              </a:rPr>
              <a:t>they need not be the sole reason for so acting </a:t>
            </a:r>
            <a:r>
              <a:rPr lang="en-US" b="1" dirty="0">
                <a:latin typeface="Candara" panose="020E0502030303020204" pitchFamily="34" charset="0"/>
              </a:rPr>
              <a:t>(Valderrama-Vega [1985] Crim LR 220).</a:t>
            </a:r>
          </a:p>
        </p:txBody>
      </p:sp>
    </p:spTree>
    <p:extLst>
      <p:ext uri="{BB962C8B-B14F-4D97-AF65-F5344CB8AC3E}">
        <p14:creationId xmlns:p14="http://schemas.microsoft.com/office/powerpoint/2010/main" val="3888799416"/>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1: X’s Threat and Demand</a:t>
            </a:r>
            <a:br>
              <a:rPr lang="en-GB" sz="3200" b="1" dirty="0">
                <a:latin typeface="Candara" panose="020E0502030303020204" pitchFamily="34" charset="0"/>
              </a:rPr>
            </a:br>
            <a:r>
              <a:rPr lang="en-GB" sz="2800" b="1" i="1" dirty="0">
                <a:latin typeface="Candara" panose="020E0502030303020204" pitchFamily="34" charset="0"/>
              </a:rPr>
              <a:t>(a) The content of the threat </a:t>
            </a:r>
            <a:br>
              <a:rPr lang="en-US" b="1" i="0" dirty="0">
                <a:solidFill>
                  <a:srgbClr val="44709D"/>
                </a:solidFill>
                <a:latin typeface="Candara" panose="020E0502030303020204" pitchFamily="34" charset="0"/>
                <a:ea typeface="+mn-ea"/>
                <a:cs typeface="+mn-cs"/>
              </a:rPr>
            </a:br>
            <a:endParaRPr lang="en-US" b="1" dirty="0"/>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834136"/>
            <a:ext cx="11410122" cy="4071592"/>
          </a:xfrm>
        </p:spPr>
        <p:txBody>
          <a:bodyPr/>
          <a:lstStyle/>
          <a:p>
            <a:pPr marL="0" indent="0" algn="just" defTabSz="457200" fontAlgn="auto">
              <a:lnSpc>
                <a:spcPct val="150000"/>
              </a:lnSpc>
              <a:spcAft>
                <a:spcPts val="600"/>
              </a:spcAft>
              <a:buClr>
                <a:srgbClr val="83992A"/>
              </a:buClr>
              <a:buSzPct val="115000"/>
              <a:defRPr/>
            </a:pPr>
            <a:r>
              <a:rPr lang="en-GB" b="1" dirty="0">
                <a:solidFill>
                  <a:srgbClr val="663366"/>
                </a:solidFill>
                <a:latin typeface="+mj-lt"/>
                <a:ea typeface="+mj-ea"/>
                <a:cs typeface="+mj-cs"/>
              </a:rPr>
              <a:t>Mistaken belief in a threat: </a:t>
            </a:r>
            <a:r>
              <a:rPr lang="en-GB" b="1" i="1" kern="1200" dirty="0">
                <a:solidFill>
                  <a:srgbClr val="44709D"/>
                </a:solidFill>
                <a:latin typeface="Candara" panose="020E0502030303020204" pitchFamily="34" charset="0"/>
              </a:rPr>
              <a:t>Where X says they will ‘do D over’ unless D commits a certain crime, D may take this as a threat to their life, and therefore sufficient for duress, when in fact it is a threat to destroy D’s property only, which is insufficient for duress. </a:t>
            </a:r>
          </a:p>
          <a:p>
            <a:pPr marL="285750" indent="-285750" algn="just">
              <a:lnSpc>
                <a:spcPct val="150000"/>
              </a:lnSpc>
              <a:buFont typeface="Arial" panose="020B0604020202020204" pitchFamily="34" charset="0"/>
              <a:buChar char="•"/>
            </a:pPr>
            <a:r>
              <a:rPr lang="en-GB" dirty="0"/>
              <a:t>Where D believes that she is being threatened with death or serious injury,  but in fact she is not! </a:t>
            </a:r>
          </a:p>
          <a:p>
            <a:pPr marL="285750" indent="-285750" algn="just">
              <a:lnSpc>
                <a:spcPct val="150000"/>
              </a:lnSpc>
              <a:buFont typeface="Arial" panose="020B0604020202020204" pitchFamily="34" charset="0"/>
              <a:buChar char="•"/>
            </a:pPr>
            <a:r>
              <a:rPr lang="en-GB" dirty="0"/>
              <a:t>Duress should be capable of applying, where appropriate, beyond paradigm cases of an objective threat of death or serious injury, as otherwise there could be no duress where X threatens D with an unloaded gun. </a:t>
            </a:r>
          </a:p>
          <a:p>
            <a:pPr marL="285750" indent="-285750" algn="just">
              <a:lnSpc>
                <a:spcPct val="150000"/>
              </a:lnSpc>
              <a:buFont typeface="Arial" panose="020B0604020202020204" pitchFamily="34" charset="0"/>
              <a:buChar char="•"/>
            </a:pPr>
            <a:r>
              <a:rPr lang="en-GB" sz="1800" b="1" i="1" dirty="0">
                <a:effectLst/>
                <a:latin typeface="Candara" panose="020E0502030303020204" pitchFamily="34" charset="0"/>
                <a:ea typeface="Times New Roman" panose="02020603050405020304" pitchFamily="18" charset="0"/>
                <a:cs typeface="Times New Roman" panose="02020603050405020304" pitchFamily="18" charset="0"/>
              </a:rPr>
              <a:t>Safi [2003] EWCA Crim 1809</a:t>
            </a:r>
            <a:r>
              <a:rPr lang="en-GB" b="1" dirty="0">
                <a:effectLst/>
                <a:latin typeface="Candara" panose="020E0502030303020204" pitchFamily="34" charset="0"/>
              </a:rPr>
              <a:t> – </a:t>
            </a:r>
            <a:r>
              <a:rPr lang="en-GB" dirty="0">
                <a:effectLst/>
                <a:latin typeface="Candara" panose="020E0502030303020204" pitchFamily="34" charset="0"/>
              </a:rPr>
              <a:t>There is no need for objective evidence of a threat, as long as D </a:t>
            </a:r>
            <a:r>
              <a:rPr lang="en-GB" b="1" i="1" dirty="0">
                <a:effectLst/>
                <a:latin typeface="Candara" panose="020E0502030303020204" pitchFamily="34" charset="0"/>
              </a:rPr>
              <a:t>reasonably believed </a:t>
            </a:r>
            <a:r>
              <a:rPr lang="en-GB" dirty="0">
                <a:effectLst/>
                <a:latin typeface="Candara" panose="020E0502030303020204" pitchFamily="34" charset="0"/>
              </a:rPr>
              <a:t>it existed. </a:t>
            </a:r>
            <a:endParaRPr lang="en-GB" b="1" dirty="0">
              <a:effectLst/>
              <a:latin typeface="Candara" panose="020E0502030303020204" pitchFamily="34" charset="0"/>
            </a:endParaRPr>
          </a:p>
        </p:txBody>
      </p:sp>
    </p:spTree>
    <p:extLst>
      <p:ext uri="{BB962C8B-B14F-4D97-AF65-F5344CB8AC3E}">
        <p14:creationId xmlns:p14="http://schemas.microsoft.com/office/powerpoint/2010/main" val="1344302472"/>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609600"/>
            <a:ext cx="10363200" cy="1239372"/>
          </a:xfrm>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1: X’s Threat and Demand</a:t>
            </a:r>
            <a:br>
              <a:rPr lang="en-GB" sz="3200" b="1" dirty="0">
                <a:latin typeface="Candara" panose="020E0502030303020204" pitchFamily="34" charset="0"/>
              </a:rPr>
            </a:br>
            <a:r>
              <a:rPr lang="en-GB" sz="2800" b="1" i="1" dirty="0">
                <a:latin typeface="Candara" panose="020E0502030303020204" pitchFamily="34" charset="0"/>
              </a:rPr>
              <a:t>(b) Who made the threat and demand?</a:t>
            </a:r>
            <a:br>
              <a:rPr lang="en-US" sz="2800" b="1" i="1" dirty="0">
                <a:latin typeface="Candara" panose="020E0502030303020204" pitchFamily="34" charset="0"/>
              </a:rPr>
            </a:br>
            <a:endParaRPr lang="en-US" sz="2800" b="1" i="1" dirty="0">
              <a:latin typeface="Candara" panose="020E0502030303020204" pitchFamily="34" charset="0"/>
            </a:endParaRP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940687"/>
            <a:ext cx="11410122" cy="4071592"/>
          </a:xfrm>
        </p:spPr>
        <p:txBody>
          <a:bodyPr/>
          <a:lstStyle/>
          <a:p>
            <a:pPr marL="285750" indent="-285750" algn="just" defTabSz="457200" fontAlgn="auto">
              <a:lnSpc>
                <a:spcPct val="150000"/>
              </a:lnSpc>
              <a:spcAft>
                <a:spcPts val="600"/>
              </a:spcAft>
              <a:buClr>
                <a:srgbClr val="83992A"/>
              </a:buClr>
              <a:buSzPct val="115000"/>
              <a:buFont typeface="Arial" panose="020B0604020202020204" pitchFamily="34" charset="0"/>
              <a:buChar char="•"/>
              <a:defRPr/>
            </a:pPr>
            <a:r>
              <a:rPr lang="en-GB" dirty="0">
                <a:effectLst/>
                <a:latin typeface="Candara" panose="020E0502030303020204" pitchFamily="34" charset="0"/>
              </a:rPr>
              <a:t>Threats or demands </a:t>
            </a:r>
            <a:r>
              <a:rPr lang="en-GB" b="1" kern="1200" dirty="0">
                <a:ln w="12700" cmpd="sng">
                  <a:solidFill>
                    <a:srgbClr val="A23C33"/>
                  </a:solidFill>
                  <a:prstDash val="solid"/>
                </a:ln>
                <a:gradFill>
                  <a:gsLst>
                    <a:gs pos="0">
                      <a:srgbClr val="A23C33"/>
                    </a:gs>
                    <a:gs pos="4000">
                      <a:srgbClr val="A23C33">
                        <a:lumMod val="60000"/>
                        <a:lumOff val="40000"/>
                      </a:srgbClr>
                    </a:gs>
                    <a:gs pos="87000">
                      <a:srgbClr val="A23C33">
                        <a:lumMod val="20000"/>
                        <a:lumOff val="80000"/>
                      </a:srgbClr>
                    </a:gs>
                  </a:gsLst>
                  <a:lin ang="5400000"/>
                </a:gradFill>
                <a:latin typeface="Candara" panose="020E0502030303020204" pitchFamily="34" charset="0"/>
              </a:rPr>
              <a:t>may be directed at D via a third party, </a:t>
            </a:r>
            <a:r>
              <a:rPr lang="en-GB" dirty="0">
                <a:effectLst/>
                <a:latin typeface="Candara" panose="020E0502030303020204" pitchFamily="34" charset="0"/>
              </a:rPr>
              <a:t>so need not come directly from X. </a:t>
            </a:r>
          </a:p>
          <a:p>
            <a:pPr marL="285750" indent="-285750" algn="just" defTabSz="457200" fontAlgn="auto">
              <a:lnSpc>
                <a:spcPct val="150000"/>
              </a:lnSpc>
              <a:spcAft>
                <a:spcPts val="600"/>
              </a:spcAft>
              <a:buClr>
                <a:srgbClr val="83992A"/>
              </a:buClr>
              <a:buSzPct val="115000"/>
              <a:buFont typeface="Arial" panose="020B0604020202020204" pitchFamily="34" charset="0"/>
              <a:buChar char="•"/>
              <a:defRPr/>
            </a:pPr>
            <a:r>
              <a:rPr lang="en-GB" dirty="0">
                <a:effectLst/>
                <a:latin typeface="Candara" panose="020E0502030303020204" pitchFamily="34" charset="0"/>
              </a:rPr>
              <a:t>However, </a:t>
            </a:r>
            <a:r>
              <a:rPr lang="en-GB" b="1" kern="1200" dirty="0">
                <a:ln w="12700" cmpd="sng">
                  <a:solidFill>
                    <a:srgbClr val="A23C33"/>
                  </a:solidFill>
                  <a:prstDash val="solid"/>
                </a:ln>
                <a:gradFill>
                  <a:gsLst>
                    <a:gs pos="0">
                      <a:srgbClr val="A23C33"/>
                    </a:gs>
                    <a:gs pos="4000">
                      <a:srgbClr val="A23C33">
                        <a:lumMod val="60000"/>
                        <a:lumOff val="40000"/>
                      </a:srgbClr>
                    </a:gs>
                    <a:gs pos="87000">
                      <a:srgbClr val="A23C33">
                        <a:lumMod val="20000"/>
                        <a:lumOff val="80000"/>
                      </a:srgbClr>
                    </a:gs>
                  </a:gsLst>
                  <a:lin ang="5400000"/>
                </a:gradFill>
                <a:latin typeface="Candara" panose="020E0502030303020204" pitchFamily="34" charset="0"/>
              </a:rPr>
              <a:t>the threats or demands must still come from another party; they cannot originate from D herself.</a:t>
            </a:r>
          </a:p>
          <a:p>
            <a:pPr marL="285750" indent="-285750" algn="just" defTabSz="457200" fontAlgn="auto">
              <a:lnSpc>
                <a:spcPct val="150000"/>
              </a:lnSpc>
              <a:spcAft>
                <a:spcPts val="600"/>
              </a:spcAft>
              <a:buClr>
                <a:srgbClr val="83992A"/>
              </a:buClr>
              <a:buSzPct val="115000"/>
              <a:buFont typeface="Arial" panose="020B0604020202020204" pitchFamily="34" charset="0"/>
              <a:buChar char="•"/>
              <a:defRPr/>
            </a:pPr>
            <a:r>
              <a:rPr lang="en-GB" b="1" dirty="0">
                <a:effectLst/>
                <a:latin typeface="Candara" panose="020E0502030303020204" pitchFamily="34" charset="0"/>
              </a:rPr>
              <a:t>Rodger and Rose [1998] 1 Cr App R 143 –</a:t>
            </a:r>
            <a:r>
              <a:rPr lang="en-GB" dirty="0">
                <a:effectLst/>
                <a:latin typeface="Candara" panose="020E0502030303020204" pitchFamily="34" charset="0"/>
              </a:rPr>
              <a:t> Duress was not open to D because the threat </a:t>
            </a:r>
            <a:r>
              <a:rPr lang="en-GB" b="1" i="1" dirty="0">
                <a:effectLst/>
                <a:latin typeface="Candara" panose="020E0502030303020204" pitchFamily="34" charset="0"/>
              </a:rPr>
              <a:t>was not external from himself. </a:t>
            </a:r>
          </a:p>
          <a:p>
            <a:pPr marL="285750" indent="-285750" algn="just" defTabSz="457200" fontAlgn="auto">
              <a:lnSpc>
                <a:spcPct val="150000"/>
              </a:lnSpc>
              <a:spcAft>
                <a:spcPts val="600"/>
              </a:spcAft>
              <a:buClr>
                <a:srgbClr val="83992A"/>
              </a:buClr>
              <a:buSzPct val="115000"/>
              <a:buFont typeface="Arial" panose="020B0604020202020204" pitchFamily="34" charset="0"/>
              <a:buChar char="•"/>
              <a:defRPr/>
            </a:pPr>
            <a:r>
              <a:rPr lang="en-GB" dirty="0"/>
              <a:t>The Court of Appeal stated that to allow a defence of duress in these circumstances </a:t>
            </a:r>
            <a:r>
              <a:rPr lang="en-GB" b="1" i="1" dirty="0"/>
              <a:t>‘could amount to a licence to commit crime dependent on the personal characteristics and vulnerability of the offender</a:t>
            </a:r>
            <a:r>
              <a:rPr lang="en-GB" dirty="0"/>
              <a:t>’. </a:t>
            </a:r>
          </a:p>
          <a:p>
            <a:pPr marL="285750" indent="-285750" algn="just" defTabSz="457200" fontAlgn="auto">
              <a:lnSpc>
                <a:spcPct val="150000"/>
              </a:lnSpc>
              <a:spcAft>
                <a:spcPts val="600"/>
              </a:spcAft>
              <a:buClr>
                <a:srgbClr val="83992A"/>
              </a:buClr>
              <a:buSzPct val="115000"/>
              <a:buFont typeface="Arial" panose="020B0604020202020204" pitchFamily="34" charset="0"/>
              <a:buChar char="•"/>
              <a:defRPr/>
            </a:pPr>
            <a:r>
              <a:rPr lang="en-GB" dirty="0"/>
              <a:t>Duress as a concession to “human frailty” as opposed to “individual frailty”. </a:t>
            </a:r>
          </a:p>
          <a:p>
            <a:pPr marL="285750" indent="-285750" algn="just" defTabSz="457200" fontAlgn="auto">
              <a:lnSpc>
                <a:spcPct val="150000"/>
              </a:lnSpc>
              <a:spcAft>
                <a:spcPts val="600"/>
              </a:spcAft>
              <a:buClr>
                <a:srgbClr val="83992A"/>
              </a:buClr>
              <a:buSzPct val="115000"/>
              <a:buFont typeface="Arial" panose="020B0604020202020204" pitchFamily="34" charset="0"/>
              <a:buChar char="•"/>
              <a:defRPr/>
            </a:pPr>
            <a:endParaRPr lang="en-GB" dirty="0">
              <a:effectLst/>
              <a:latin typeface="Candara" panose="020E0502030303020204" pitchFamily="34" charset="0"/>
            </a:endParaRPr>
          </a:p>
          <a:p>
            <a:pPr marL="0" indent="0" algn="just" defTabSz="457200" fontAlgn="auto">
              <a:lnSpc>
                <a:spcPct val="150000"/>
              </a:lnSpc>
              <a:spcAft>
                <a:spcPts val="600"/>
              </a:spcAft>
              <a:buClr>
                <a:srgbClr val="83992A"/>
              </a:buClr>
              <a:buSzPct val="115000"/>
              <a:defRPr/>
            </a:pPr>
            <a:endParaRPr lang="en-GB" b="1" dirty="0">
              <a:effectLst/>
              <a:latin typeface="Candara" panose="020E0502030303020204" pitchFamily="34" charset="0"/>
            </a:endParaRPr>
          </a:p>
        </p:txBody>
      </p:sp>
    </p:spTree>
    <p:extLst>
      <p:ext uri="{BB962C8B-B14F-4D97-AF65-F5344CB8AC3E}">
        <p14:creationId xmlns:p14="http://schemas.microsoft.com/office/powerpoint/2010/main" val="1629263630"/>
      </p:ext>
    </p:ext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609599"/>
            <a:ext cx="10363200" cy="1699647"/>
          </a:xfrm>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1: X’s Threat and Demand</a:t>
            </a:r>
            <a:br>
              <a:rPr lang="en-GB" sz="3200" b="1" dirty="0">
                <a:latin typeface="Candara" panose="020E0502030303020204" pitchFamily="34" charset="0"/>
              </a:rPr>
            </a:br>
            <a:r>
              <a:rPr lang="en-GB" sz="2800" b="1" i="1" dirty="0">
                <a:latin typeface="Candara" panose="020E0502030303020204" pitchFamily="34" charset="0"/>
              </a:rPr>
              <a:t>(b) Who are they directed at? </a:t>
            </a:r>
            <a:br>
              <a:rPr lang="en-US" b="1" i="0" dirty="0">
                <a:solidFill>
                  <a:srgbClr val="44709D"/>
                </a:solidFill>
                <a:latin typeface="Candara" panose="020E0502030303020204" pitchFamily="34" charset="0"/>
                <a:ea typeface="+mn-ea"/>
                <a:cs typeface="+mn-cs"/>
              </a:rPr>
            </a:br>
            <a:endParaRPr lang="en-US" b="1" dirty="0"/>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2096127"/>
            <a:ext cx="11410122" cy="4071592"/>
          </a:xfrm>
        </p:spPr>
        <p:txBody>
          <a:bodyPr/>
          <a:lstStyle/>
          <a:p>
            <a:pPr marL="285750" indent="-285750" algn="just">
              <a:lnSpc>
                <a:spcPct val="150000"/>
              </a:lnSpc>
              <a:buFont typeface="Arial" panose="020B0604020202020204" pitchFamily="34" charset="0"/>
              <a:buChar char="•"/>
            </a:pPr>
            <a:r>
              <a:rPr lang="en-GB" altLang="en-US" b="1" dirty="0">
                <a:latin typeface="Candara" panose="020E0502030303020204" pitchFamily="34" charset="0"/>
              </a:rPr>
              <a:t>To whom must the threat be directed? </a:t>
            </a:r>
            <a:r>
              <a:rPr lang="en-GB" altLang="en-US" dirty="0">
                <a:latin typeface="Candara" panose="020E0502030303020204" pitchFamily="34" charset="0"/>
              </a:rPr>
              <a:t>Not confined to threats to the defendant, but also extended to threats of death or serious violence towards a person for whose safety the defendant would reasonably regard himself as responsible (</a:t>
            </a:r>
            <a:r>
              <a:rPr lang="en-GB" altLang="en-US" b="1" i="1" dirty="0">
                <a:latin typeface="Candara" panose="020E0502030303020204" pitchFamily="34" charset="0"/>
              </a:rPr>
              <a:t>Wright </a:t>
            </a:r>
            <a:r>
              <a:rPr lang="en-GB" altLang="en-US" b="1" dirty="0">
                <a:latin typeface="Candara" panose="020E0502030303020204" pitchFamily="34" charset="0"/>
              </a:rPr>
              <a:t>[2000] Crim LR 510</a:t>
            </a:r>
            <a:r>
              <a:rPr lang="en-GB" altLang="en-US" dirty="0">
                <a:latin typeface="Candara" panose="020E0502030303020204" pitchFamily="34" charset="0"/>
              </a:rPr>
              <a:t>).</a:t>
            </a:r>
            <a:endParaRPr lang="en-GB" dirty="0">
              <a:latin typeface="Candara" panose="020E0502030303020204" pitchFamily="34" charset="0"/>
            </a:endParaRPr>
          </a:p>
          <a:p>
            <a:pPr marL="285750" indent="-285750" algn="just">
              <a:lnSpc>
                <a:spcPct val="150000"/>
              </a:lnSpc>
              <a:buFont typeface="Arial" panose="020B0604020202020204" pitchFamily="34" charset="0"/>
              <a:buChar char="•"/>
            </a:pPr>
            <a:r>
              <a:rPr lang="en-GB" altLang="en-US" dirty="0">
                <a:latin typeface="Candara" panose="020E0502030303020204" pitchFamily="34" charset="0"/>
              </a:rPr>
              <a:t>The threat must be </a:t>
            </a:r>
            <a:r>
              <a:rPr lang="en-GB" altLang="en-US" b="1" dirty="0">
                <a:latin typeface="Candara" panose="020E0502030303020204" pitchFamily="34" charset="0"/>
              </a:rPr>
              <a:t>directed against the defendant or their immediate family </a:t>
            </a:r>
            <a:r>
              <a:rPr lang="en-GB" altLang="en-US" dirty="0">
                <a:latin typeface="Candara" panose="020E0502030303020204" pitchFamily="34" charset="0"/>
              </a:rPr>
              <a:t>or someone close to them.</a:t>
            </a:r>
            <a:endParaRPr lang="en-GB" b="1" i="1" dirty="0">
              <a:solidFill>
                <a:schemeClr val="accent2"/>
              </a:solidFill>
              <a:latin typeface="Candara" panose="020E0502030303020204" pitchFamily="34" charset="0"/>
            </a:endParaRPr>
          </a:p>
        </p:txBody>
      </p:sp>
    </p:spTree>
    <p:extLst>
      <p:ext uri="{BB962C8B-B14F-4D97-AF65-F5344CB8AC3E}">
        <p14:creationId xmlns:p14="http://schemas.microsoft.com/office/powerpoint/2010/main" val="4127014734"/>
      </p:ext>
    </p:extLst>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609599"/>
            <a:ext cx="10363200" cy="1699647"/>
          </a:xfrm>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1: X’s Threat and Demand</a:t>
            </a:r>
            <a:br>
              <a:rPr lang="en-GB" sz="3200" b="1" dirty="0">
                <a:latin typeface="Candara" panose="020E0502030303020204" pitchFamily="34" charset="0"/>
              </a:rPr>
            </a:br>
            <a:r>
              <a:rPr lang="en-GB" sz="3200" b="1" dirty="0">
                <a:latin typeface="Candara" panose="020E0502030303020204" pitchFamily="34" charset="0"/>
              </a:rPr>
              <a:t> </a:t>
            </a:r>
            <a:r>
              <a:rPr lang="en-GB" sz="2800" b="1" i="1" dirty="0">
                <a:latin typeface="Candara" panose="020E0502030303020204" pitchFamily="34" charset="0"/>
              </a:rPr>
              <a:t>c) The content of the demand </a:t>
            </a:r>
            <a:br>
              <a:rPr lang="en-US" b="1" i="0" dirty="0">
                <a:solidFill>
                  <a:srgbClr val="44709D"/>
                </a:solidFill>
                <a:latin typeface="Candara" panose="020E0502030303020204" pitchFamily="34" charset="0"/>
                <a:ea typeface="+mn-ea"/>
                <a:cs typeface="+mn-cs"/>
              </a:rPr>
            </a:br>
            <a:endParaRPr lang="en-US" b="1" dirty="0"/>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514925" y="2231753"/>
            <a:ext cx="11410122" cy="3387083"/>
          </a:xfrm>
        </p:spPr>
        <p:txBody>
          <a:bodyPr/>
          <a:lstStyle/>
          <a:p>
            <a:pPr algn="ctr"/>
            <a:r>
              <a:rPr lang="en-GB" b="1" i="1" kern="1200" dirty="0">
                <a:solidFill>
                  <a:srgbClr val="44709D"/>
                </a:solidFill>
                <a:latin typeface="Candara" panose="020E0502030303020204" pitchFamily="34" charset="0"/>
              </a:rPr>
              <a:t>X hits and threatens D: have the money by tomorrow or I will kill your family. </a:t>
            </a:r>
          </a:p>
          <a:p>
            <a:pPr algn="ctr"/>
            <a:r>
              <a:rPr lang="en-GB" b="1" i="1" kern="1200" dirty="0">
                <a:solidFill>
                  <a:srgbClr val="44709D"/>
                </a:solidFill>
                <a:latin typeface="Candara" panose="020E0502030303020204" pitchFamily="34" charset="0"/>
              </a:rPr>
              <a:t>X hits and threatens D: Rob the bank and have the money by tomorrow or I will kill your family.</a:t>
            </a:r>
            <a:endParaRPr lang="en-GB" b="1" i="1" dirty="0">
              <a:latin typeface="Candara" panose="020E0502030303020204" pitchFamily="34" charset="0"/>
              <a:ea typeface="Times New Roman" panose="02020603050405020304" pitchFamily="18" charset="0"/>
            </a:endParaRPr>
          </a:p>
          <a:p>
            <a:pPr marL="285750" indent="-285750" algn="just">
              <a:lnSpc>
                <a:spcPct val="115000"/>
              </a:lnSpc>
              <a:spcAft>
                <a:spcPts val="600"/>
              </a:spcAft>
              <a:buFont typeface="Arial" panose="020B0604020202020204" pitchFamily="34" charset="0"/>
              <a:buChar char="•"/>
            </a:pPr>
            <a:r>
              <a:rPr lang="en-GB" sz="1800" b="1" dirty="0">
                <a:effectLst/>
                <a:latin typeface="Candara" panose="020E0502030303020204" pitchFamily="34" charset="0"/>
                <a:ea typeface="Times New Roman" panose="02020603050405020304" pitchFamily="18" charset="0"/>
              </a:rPr>
              <a:t>Cole [1994] Crim LR 582 </a:t>
            </a:r>
            <a:r>
              <a:rPr lang="en-GB" sz="1800" dirty="0">
                <a:effectLst/>
                <a:latin typeface="Candara" panose="020E0502030303020204" pitchFamily="34" charset="0"/>
                <a:ea typeface="Times New Roman" panose="02020603050405020304" pitchFamily="18" charset="0"/>
              </a:rPr>
              <a:t>– D’s offence was not specified by the lenders; and (b) there was a lack of imminence between the.  threat and D’s offence.</a:t>
            </a:r>
          </a:p>
          <a:p>
            <a:pPr marL="285750" indent="-285750" algn="just">
              <a:lnSpc>
                <a:spcPct val="115000"/>
              </a:lnSpc>
              <a:spcAft>
                <a:spcPts val="600"/>
              </a:spcAft>
              <a:buFont typeface="Arial" panose="020B0604020202020204" pitchFamily="34" charset="0"/>
              <a:buChar char="•"/>
            </a:pPr>
            <a:r>
              <a:rPr lang="en-GB" b="1" dirty="0">
                <a:latin typeface="Candara" panose="020E0502030303020204" pitchFamily="34" charset="0"/>
              </a:rPr>
              <a:t>Ali [1995] Crim LR 303 – </a:t>
            </a:r>
            <a:r>
              <a:rPr lang="en-GB" dirty="0">
                <a:latin typeface="Candara" panose="020E0502030303020204" pitchFamily="34" charset="0"/>
              </a:rPr>
              <a:t>The level of specificity as to the crime to be committed was sufficient for duress. </a:t>
            </a:r>
          </a:p>
          <a:p>
            <a:pPr marL="285750" indent="-285750" algn="just">
              <a:lnSpc>
                <a:spcPct val="115000"/>
              </a:lnSpc>
              <a:spcAft>
                <a:spcPts val="600"/>
              </a:spcAft>
              <a:buFont typeface="Arial" panose="020B0604020202020204" pitchFamily="34" charset="0"/>
              <a:buChar char="•"/>
            </a:pPr>
            <a:r>
              <a:rPr lang="en-GB" dirty="0">
                <a:latin typeface="Candara" panose="020E0502030303020204" pitchFamily="34" charset="0"/>
              </a:rPr>
              <a:t>Following Cole and Ali it is clear that duress by threats requires X to have provided </a:t>
            </a:r>
            <a:r>
              <a:rPr lang="en-GB" b="1" dirty="0">
                <a:latin typeface="Candara" panose="020E0502030303020204" pitchFamily="34" charset="0"/>
              </a:rPr>
              <a:t>some indication of the type of crime that D must commit</a:t>
            </a:r>
            <a:r>
              <a:rPr lang="en-GB" dirty="0">
                <a:latin typeface="Candara" panose="020E0502030303020204" pitchFamily="34" charset="0"/>
              </a:rPr>
              <a:t>, </a:t>
            </a:r>
            <a:r>
              <a:rPr lang="en-GB" b="1" dirty="0">
                <a:solidFill>
                  <a:srgbClr val="0070C0"/>
                </a:solidFill>
                <a:latin typeface="Candara" panose="020E0502030303020204" pitchFamily="34" charset="0"/>
              </a:rPr>
              <a:t>but precise details of that crime (</a:t>
            </a:r>
            <a:r>
              <a:rPr lang="en-GB" b="1" dirty="0" err="1">
                <a:solidFill>
                  <a:srgbClr val="0070C0"/>
                </a:solidFill>
                <a:latin typeface="Candara" panose="020E0502030303020204" pitchFamily="34" charset="0"/>
              </a:rPr>
              <a:t>eg</a:t>
            </a:r>
            <a:r>
              <a:rPr lang="en-GB" b="1" dirty="0">
                <a:solidFill>
                  <a:srgbClr val="0070C0"/>
                </a:solidFill>
                <a:latin typeface="Candara" panose="020E0502030303020204" pitchFamily="34" charset="0"/>
              </a:rPr>
              <a:t> time, place, etc) are not required.</a:t>
            </a:r>
          </a:p>
        </p:txBody>
      </p:sp>
    </p:spTree>
    <p:extLst>
      <p:ext uri="{BB962C8B-B14F-4D97-AF65-F5344CB8AC3E}">
        <p14:creationId xmlns:p14="http://schemas.microsoft.com/office/powerpoint/2010/main" val="3399278607"/>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730302"/>
            <a:ext cx="10363200" cy="1017723"/>
          </a:xfrm>
        </p:spPr>
        <p:txBody>
          <a:bodyPr/>
          <a:lstStyle/>
          <a:p>
            <a:pPr algn="ctr"/>
            <a:br>
              <a:rPr lang="en-GB" b="1" i="0" dirty="0">
                <a:solidFill>
                  <a:srgbClr val="44709D"/>
                </a:solidFill>
                <a:latin typeface="Candara" panose="020E0502030303020204" pitchFamily="34" charset="0"/>
                <a:ea typeface="+mn-ea"/>
                <a:cs typeface="+mn-cs"/>
              </a:rPr>
            </a:br>
            <a:r>
              <a:rPr lang="en-US" sz="3200" b="1" dirty="0">
                <a:latin typeface="Candara" panose="020E0502030303020204" pitchFamily="34" charset="0"/>
              </a:rPr>
              <a:t>Element 2: D’s Response</a:t>
            </a:r>
            <a:r>
              <a:rPr lang="en-GB" sz="3200" b="1" dirty="0">
                <a:latin typeface="Candara" panose="020E0502030303020204" pitchFamily="34" charset="0"/>
              </a:rPr>
              <a:t> </a:t>
            </a:r>
            <a:br>
              <a:rPr lang="en-US" b="1" i="0" dirty="0">
                <a:solidFill>
                  <a:srgbClr val="44709D"/>
                </a:solidFill>
                <a:latin typeface="Candara" panose="020E0502030303020204" pitchFamily="34" charset="0"/>
                <a:ea typeface="+mn-ea"/>
                <a:cs typeface="+mn-cs"/>
              </a:rPr>
            </a:br>
            <a:endParaRPr lang="en-US" b="1" dirty="0"/>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543871" y="1606830"/>
            <a:ext cx="11410122" cy="4289704"/>
          </a:xfrm>
        </p:spPr>
        <p:txBody>
          <a:bodyPr/>
          <a:lstStyle/>
          <a:p>
            <a:pPr marL="285750" indent="-285750" algn="just">
              <a:lnSpc>
                <a:spcPct val="150000"/>
              </a:lnSpc>
              <a:buFont typeface="Arial" panose="020B0604020202020204" pitchFamily="34" charset="0"/>
              <a:buChar char="•"/>
            </a:pPr>
            <a:r>
              <a:rPr lang="en-GB" b="1" i="1" dirty="0">
                <a:latin typeface="Candara" panose="020E0502030303020204" pitchFamily="34" charset="0"/>
              </a:rPr>
              <a:t>The necessary causal link between X’s threat/demand and D’s offence; </a:t>
            </a:r>
          </a:p>
          <a:p>
            <a:pPr marL="0" indent="0" algn="just">
              <a:lnSpc>
                <a:spcPct val="150000"/>
              </a:lnSpc>
              <a:buNone/>
            </a:pPr>
            <a:r>
              <a:rPr lang="en-GB" dirty="0">
                <a:latin typeface="Candara" panose="020E0502030303020204" pitchFamily="34" charset="0"/>
              </a:rPr>
              <a:t>Duress only provides a defence where D’s offence was compelled by X’s threats and demands.</a:t>
            </a:r>
          </a:p>
          <a:p>
            <a:pPr marL="285750" indent="-285750" algn="just">
              <a:lnSpc>
                <a:spcPct val="150000"/>
              </a:lnSpc>
              <a:buFont typeface="Arial" panose="020B0604020202020204" pitchFamily="34" charset="0"/>
              <a:buChar char="•"/>
            </a:pPr>
            <a:r>
              <a:rPr lang="en-GB" b="1" dirty="0">
                <a:latin typeface="Candara" panose="020E0502030303020204" pitchFamily="34" charset="0"/>
              </a:rPr>
              <a:t>The imminence of threat, and whether D could have avoided committing the offence; and </a:t>
            </a:r>
          </a:p>
          <a:p>
            <a:pPr marL="0" indent="0" algn="just">
              <a:lnSpc>
                <a:spcPct val="150000"/>
              </a:lnSpc>
            </a:pPr>
            <a:r>
              <a:rPr lang="en-GB" dirty="0">
                <a:latin typeface="Candara" panose="020E0502030303020204" pitchFamily="34" charset="0"/>
              </a:rPr>
              <a:t>D must have committed the offence because she had no other reasonable option to escape before the threat would be carried out. </a:t>
            </a:r>
            <a:r>
              <a:rPr lang="en-GB" altLang="en-US" b="1" dirty="0"/>
              <a:t>The threat must be of immediate harm: </a:t>
            </a:r>
            <a:r>
              <a:rPr lang="en-GB" altLang="en-US" dirty="0"/>
              <a:t>See </a:t>
            </a:r>
            <a:r>
              <a:rPr lang="en-GB" altLang="en-US" i="1" dirty="0"/>
              <a:t>Hasan </a:t>
            </a:r>
            <a:r>
              <a:rPr lang="en-GB" altLang="en-US" dirty="0"/>
              <a:t>at [28].</a:t>
            </a:r>
            <a:endParaRPr lang="en-GB" b="1" dirty="0">
              <a:latin typeface="Candara" panose="020E0502030303020204" pitchFamily="34" charset="0"/>
            </a:endParaRPr>
          </a:p>
          <a:p>
            <a:pPr marL="285750" indent="-285750" algn="just">
              <a:lnSpc>
                <a:spcPct val="150000"/>
              </a:lnSpc>
              <a:buFont typeface="Arial" panose="020B0604020202020204" pitchFamily="34" charset="0"/>
              <a:buChar char="•"/>
            </a:pPr>
            <a:r>
              <a:rPr lang="en-GB" b="1" dirty="0">
                <a:latin typeface="Candara" panose="020E0502030303020204" pitchFamily="34" charset="0"/>
              </a:rPr>
              <a:t>Whether a reasonable person would have acted as D did.</a:t>
            </a:r>
          </a:p>
          <a:p>
            <a:pPr marL="0" indent="0" algn="just">
              <a:lnSpc>
                <a:spcPct val="150000"/>
              </a:lnSpc>
              <a:buNone/>
            </a:pPr>
            <a:r>
              <a:rPr lang="en-GB" dirty="0">
                <a:latin typeface="Candara" panose="020E0502030303020204" pitchFamily="34" charset="0"/>
              </a:rPr>
              <a:t>D should display a reasonable fortitude in resisting the threat and demand from X.</a:t>
            </a:r>
          </a:p>
          <a:p>
            <a:pPr marL="0" indent="0" algn="just">
              <a:lnSpc>
                <a:spcPct val="150000"/>
              </a:lnSpc>
            </a:pPr>
            <a:r>
              <a:rPr lang="en-GB" sz="1800" b="1" i="1" dirty="0">
                <a:effectLst/>
                <a:latin typeface="Candara" panose="020E0502030303020204" pitchFamily="34" charset="0"/>
              </a:rPr>
              <a:t>Bowen [1996] 2 Cr App R 157– </a:t>
            </a:r>
            <a:r>
              <a:rPr lang="en-GB" sz="1800" dirty="0">
                <a:effectLst/>
                <a:latin typeface="Candara" panose="020E0502030303020204" pitchFamily="34" charset="0"/>
              </a:rPr>
              <a:t>Characteristics that affect D’s ability to resist a threat and demand beyond age and sex may be relevant, but this does not include D’s IQ. </a:t>
            </a:r>
            <a:endParaRPr lang="en-GB" dirty="0">
              <a:latin typeface="Candara" panose="020E0502030303020204" pitchFamily="34" charset="0"/>
            </a:endParaRPr>
          </a:p>
          <a:p>
            <a:pPr marL="0" indent="0" algn="just">
              <a:lnSpc>
                <a:spcPct val="150000"/>
              </a:lnSpc>
              <a:buNone/>
            </a:pPr>
            <a:endParaRPr lang="en-GB" dirty="0">
              <a:latin typeface="Candara" panose="020E0502030303020204" pitchFamily="34" charset="0"/>
            </a:endParaRPr>
          </a:p>
          <a:p>
            <a:pPr algn="ctr"/>
            <a:endParaRPr lang="en-GB" b="1" dirty="0">
              <a:solidFill>
                <a:srgbClr val="0070C0"/>
              </a:solidFill>
              <a:latin typeface="Candara" panose="020E0502030303020204" pitchFamily="34" charset="0"/>
            </a:endParaRPr>
          </a:p>
        </p:txBody>
      </p:sp>
    </p:spTree>
    <p:extLst>
      <p:ext uri="{BB962C8B-B14F-4D97-AF65-F5344CB8AC3E}">
        <p14:creationId xmlns:p14="http://schemas.microsoft.com/office/powerpoint/2010/main" val="3163464766"/>
      </p:ext>
    </p:extLst>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C9E-BBEF-77A1-61B9-353A768FA5F9}"/>
              </a:ext>
            </a:extLst>
          </p:cNvPr>
          <p:cNvSpPr>
            <a:spLocks noGrp="1"/>
          </p:cNvSpPr>
          <p:nvPr>
            <p:ph type="title"/>
          </p:nvPr>
        </p:nvSpPr>
        <p:spPr>
          <a:xfrm>
            <a:off x="914400" y="609600"/>
            <a:ext cx="10363200" cy="868385"/>
          </a:xfrm>
        </p:spPr>
        <p:txBody>
          <a:bodyPr/>
          <a:lstStyle/>
          <a:p>
            <a:pPr algn="ctr"/>
            <a:r>
              <a:rPr lang="en-US" sz="3200" b="1" dirty="0">
                <a:latin typeface="Candara" panose="020E0502030303020204" pitchFamily="34" charset="0"/>
              </a:rPr>
              <a:t>Duress by Circumstances </a:t>
            </a:r>
          </a:p>
        </p:txBody>
      </p:sp>
      <p:sp>
        <p:nvSpPr>
          <p:cNvPr id="5" name="TextBox 4">
            <a:extLst>
              <a:ext uri="{FF2B5EF4-FFF2-40B4-BE49-F238E27FC236}">
                <a16:creationId xmlns:a16="http://schemas.microsoft.com/office/drawing/2014/main" id="{2C2D067C-B10A-9D4C-88E1-6BAD3C2523D9}"/>
              </a:ext>
            </a:extLst>
          </p:cNvPr>
          <p:cNvSpPr txBox="1"/>
          <p:nvPr/>
        </p:nvSpPr>
        <p:spPr>
          <a:xfrm>
            <a:off x="823041" y="1477985"/>
            <a:ext cx="10363200" cy="24468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ndara" panose="020E0502030303020204" pitchFamily="34" charset="0"/>
              </a:rPr>
              <a:t>Legal defense expanding duress by threats.</a:t>
            </a:r>
          </a:p>
          <a:p>
            <a:pPr marL="285750" indent="-285750">
              <a:lnSpc>
                <a:spcPct val="150000"/>
              </a:lnSpc>
              <a:buFont typeface="Arial" panose="020B0604020202020204" pitchFamily="34" charset="0"/>
              <a:buChar char="•"/>
            </a:pPr>
            <a:r>
              <a:rPr lang="en-US" dirty="0">
                <a:latin typeface="Candara" panose="020E0502030303020204" pitchFamily="34" charset="0"/>
              </a:rPr>
              <a:t>No need for a threat from a person or a specific crime demand.</a:t>
            </a:r>
          </a:p>
          <a:p>
            <a:pPr marL="285750" indent="-285750">
              <a:lnSpc>
                <a:spcPct val="150000"/>
              </a:lnSpc>
              <a:buFont typeface="Arial" panose="020B0604020202020204" pitchFamily="34" charset="0"/>
              <a:buChar char="•"/>
            </a:pPr>
            <a:r>
              <a:rPr lang="en-US" dirty="0">
                <a:latin typeface="Candara" panose="020E0502030303020204" pitchFamily="34" charset="0"/>
              </a:rPr>
              <a:t>Requirement: Threat involving the risk of death or serious injury.</a:t>
            </a:r>
          </a:p>
          <a:p>
            <a:pPr marL="285750" indent="-285750">
              <a:lnSpc>
                <a:spcPct val="150000"/>
              </a:lnSpc>
              <a:buFont typeface="Arial" panose="020B0604020202020204" pitchFamily="34" charset="0"/>
              <a:buChar char="•"/>
            </a:pPr>
            <a:r>
              <a:rPr lang="en-US" dirty="0">
                <a:latin typeface="Candara" panose="020E0502030303020204" pitchFamily="34" charset="0"/>
              </a:rPr>
              <a:t>Threat cannot come from the defendant.</a:t>
            </a:r>
          </a:p>
          <a:p>
            <a:pPr marL="285750" indent="-285750">
              <a:lnSpc>
                <a:spcPct val="150000"/>
              </a:lnSpc>
              <a:buFont typeface="Arial" panose="020B0604020202020204" pitchFamily="34" charset="0"/>
              <a:buChar char="•"/>
            </a:pPr>
            <a:r>
              <a:rPr lang="en-US" dirty="0">
                <a:latin typeface="Candara" panose="020E0502030303020204" pitchFamily="34" charset="0"/>
              </a:rPr>
              <a:t>Established in the case of </a:t>
            </a:r>
            <a:r>
              <a:rPr lang="en-US" b="1" dirty="0">
                <a:latin typeface="Candara" panose="020E0502030303020204" pitchFamily="34" charset="0"/>
              </a:rPr>
              <a:t>Willer (1986) 83 Cr App R 225.</a:t>
            </a:r>
          </a:p>
          <a:p>
            <a:endParaRPr lang="en-US" dirty="0"/>
          </a:p>
        </p:txBody>
      </p:sp>
    </p:spTree>
    <p:extLst>
      <p:ext uri="{BB962C8B-B14F-4D97-AF65-F5344CB8AC3E}">
        <p14:creationId xmlns:p14="http://schemas.microsoft.com/office/powerpoint/2010/main" val="2038401532"/>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BC99B-3620-06CF-5392-6DD4D814BF98}"/>
              </a:ext>
            </a:extLst>
          </p:cNvPr>
          <p:cNvSpPr>
            <a:spLocks noGrp="1"/>
          </p:cNvSpPr>
          <p:nvPr>
            <p:ph type="title"/>
          </p:nvPr>
        </p:nvSpPr>
        <p:spPr/>
        <p:txBody>
          <a:bodyPr/>
          <a:lstStyle/>
          <a:p>
            <a:pPr algn="ctr"/>
            <a:r>
              <a:rPr lang="en-US" b="1" dirty="0">
                <a:latin typeface="Candara" panose="020E0502030303020204" pitchFamily="34" charset="0"/>
              </a:rPr>
              <a:t>Necessity </a:t>
            </a:r>
          </a:p>
        </p:txBody>
      </p:sp>
      <p:sp>
        <p:nvSpPr>
          <p:cNvPr id="3" name="Content Placeholder 2">
            <a:extLst>
              <a:ext uri="{FF2B5EF4-FFF2-40B4-BE49-F238E27FC236}">
                <a16:creationId xmlns:a16="http://schemas.microsoft.com/office/drawing/2014/main" id="{143EF0E9-0C65-8D59-F5AC-4C4A1007439D}"/>
              </a:ext>
            </a:extLst>
          </p:cNvPr>
          <p:cNvSpPr>
            <a:spLocks noGrp="1"/>
          </p:cNvSpPr>
          <p:nvPr>
            <p:ph idx="1"/>
          </p:nvPr>
        </p:nvSpPr>
        <p:spPr>
          <a:xfrm>
            <a:off x="329453" y="1520824"/>
            <a:ext cx="11300893" cy="4253251"/>
          </a:xfrm>
        </p:spPr>
        <p:txBody>
          <a:bodyPr/>
          <a:lstStyle/>
          <a:p>
            <a:pPr marL="331788" lvl="1" algn="just">
              <a:buFont typeface="Arial" panose="020B0604020202020204" pitchFamily="34" charset="0"/>
              <a:buChar char="•"/>
            </a:pPr>
            <a:r>
              <a:rPr lang="en-GB" sz="1800" i="0" u="none" strike="noStrike" dirty="0">
                <a:effectLst/>
                <a:latin typeface="Candara" panose="020E0502030303020204" pitchFamily="34" charset="0"/>
              </a:rPr>
              <a:t>Defendant claims the offense is less serious than the harm prevented.</a:t>
            </a:r>
          </a:p>
          <a:p>
            <a:pPr marL="331788" lvl="1" algn="just">
              <a:buFont typeface="Arial" panose="020B0604020202020204" pitchFamily="34" charset="0"/>
              <a:buChar char="•"/>
            </a:pPr>
            <a:r>
              <a:rPr lang="en-GB" sz="1800" i="0" u="none" strike="noStrike" dirty="0">
                <a:effectLst/>
                <a:latin typeface="Candara" panose="020E0502030303020204" pitchFamily="34" charset="0"/>
              </a:rPr>
              <a:t>Morally justifiable choice to minimize harm.</a:t>
            </a:r>
          </a:p>
          <a:p>
            <a:pPr marL="331788" lvl="1" algn="just">
              <a:buFont typeface="Arial" panose="020B0604020202020204" pitchFamily="34" charset="0"/>
              <a:buChar char="•"/>
            </a:pPr>
            <a:r>
              <a:rPr lang="en-GB" altLang="en-US" sz="1800" dirty="0">
                <a:latin typeface="Candara" panose="020E0502030303020204" pitchFamily="34" charset="0"/>
              </a:rPr>
              <a:t>Necessity does not require a threat of death or physical injury; it merely requires a choice between two evils.  Necessity is similar in nature to duress of circumstances because the threat emanates from circumstances, rather than a particular person.</a:t>
            </a:r>
          </a:p>
          <a:p>
            <a:pPr marL="331788" lvl="1" algn="just">
              <a:buFont typeface="Arial" panose="020B0604020202020204" pitchFamily="34" charset="0"/>
              <a:buChar char="•"/>
            </a:pPr>
            <a:r>
              <a:rPr lang="en-GB" sz="1800" i="0" u="none" strike="noStrike" dirty="0">
                <a:effectLst/>
                <a:latin typeface="Candara" panose="020E0502030303020204" pitchFamily="34" charset="0"/>
              </a:rPr>
              <a:t>Finding the Right Balance:</a:t>
            </a:r>
          </a:p>
          <a:p>
            <a:pPr lvl="1" algn="just"/>
            <a:r>
              <a:rPr lang="en-GB" sz="1800" i="0" u="none" strike="noStrike" dirty="0">
                <a:effectLst/>
                <a:latin typeface="Candara" panose="020E0502030303020204" pitchFamily="34" charset="0"/>
              </a:rPr>
              <a:t>Challenge in defining the defence.</a:t>
            </a:r>
          </a:p>
          <a:p>
            <a:pPr lvl="1" algn="just"/>
            <a:r>
              <a:rPr lang="en-GB" sz="1800" i="0" u="none" strike="noStrike" dirty="0">
                <a:effectLst/>
                <a:latin typeface="Candara" panose="020E0502030303020204" pitchFamily="34" charset="0"/>
              </a:rPr>
              <a:t>Detailed vs. open-ended “balance of evils” rule.</a:t>
            </a:r>
          </a:p>
          <a:p>
            <a:pPr lvl="1" algn="just"/>
            <a:r>
              <a:rPr lang="en-GB" sz="1800" i="0" u="none" strike="noStrike" dirty="0">
                <a:effectLst/>
                <a:latin typeface="Candara" panose="020E0502030303020204" pitchFamily="34" charset="0"/>
              </a:rPr>
              <a:t>Courts take a practical approach.</a:t>
            </a:r>
            <a:endParaRPr lang="en-GB" altLang="en-US" sz="1800" dirty="0">
              <a:latin typeface="Candara" panose="020E0502030303020204" pitchFamily="34" charset="0"/>
            </a:endParaRPr>
          </a:p>
          <a:p>
            <a:pPr marL="285750" indent="-285750" algn="just">
              <a:buFont typeface="Arial" panose="020B0604020202020204" pitchFamily="34" charset="0"/>
              <a:buChar char="•"/>
            </a:pPr>
            <a:r>
              <a:rPr lang="en-GB" dirty="0">
                <a:latin typeface="Candara" panose="020E0502030303020204" pitchFamily="34" charset="0"/>
                <a:ea typeface="Times New Roman" panose="02020603050405020304" pitchFamily="18" charset="0"/>
                <a:cs typeface="Times New Roman" panose="02020603050405020304" pitchFamily="18" charset="0"/>
              </a:rPr>
              <a:t>N</a:t>
            </a:r>
            <a:r>
              <a:rPr lang="en-GB" dirty="0">
                <a:effectLst/>
                <a:latin typeface="Candara" panose="020E0502030303020204" pitchFamily="34" charset="0"/>
                <a:ea typeface="Times New Roman" panose="02020603050405020304" pitchFamily="18" charset="0"/>
                <a:cs typeface="Times New Roman" panose="02020603050405020304" pitchFamily="18" charset="0"/>
              </a:rPr>
              <a:t>ecessity as a defence to murder: </a:t>
            </a:r>
            <a:r>
              <a:rPr lang="en-GB" altLang="en-US" b="1" i="1" dirty="0">
                <a:latin typeface="Candara" panose="020E0502030303020204" pitchFamily="34" charset="0"/>
              </a:rPr>
              <a:t>Dudley and Stephens (1884) 14 QBD 273.</a:t>
            </a:r>
          </a:p>
          <a:p>
            <a:pPr marL="285750" indent="-285750" algn="just">
              <a:buFont typeface="Arial" panose="020B0604020202020204" pitchFamily="34" charset="0"/>
              <a:buChar char="•"/>
            </a:pPr>
            <a:r>
              <a:rPr lang="en-GB" altLang="en-US" dirty="0">
                <a:latin typeface="Candara" panose="020E0502030303020204" pitchFamily="34" charset="0"/>
              </a:rPr>
              <a:t>More recently, necessity has been relied on in medical cases: </a:t>
            </a:r>
            <a:r>
              <a:rPr lang="en-GB" altLang="en-US" b="1" dirty="0">
                <a:latin typeface="Candara" panose="020E0502030303020204" pitchFamily="34" charset="0"/>
              </a:rPr>
              <a:t>Re A (Children) (Conjoined Twins: Surgical Separation) [2001] Fam 147</a:t>
            </a:r>
            <a:r>
              <a:rPr lang="en-GB" altLang="en-US" dirty="0">
                <a:latin typeface="Candara" panose="020E0502030303020204" pitchFamily="34" charset="0"/>
              </a:rPr>
              <a:t>. See also:</a:t>
            </a:r>
            <a:r>
              <a:rPr lang="en-GB" altLang="en-US" b="1" i="1" dirty="0">
                <a:latin typeface="Candara" panose="020E0502030303020204" pitchFamily="34" charset="0"/>
              </a:rPr>
              <a:t> F v West Berkshire Area Health Authority [1989] 2 All ER 545 </a:t>
            </a:r>
            <a:endParaRPr lang="en-GB" altLang="en-US" i="1" dirty="0">
              <a:latin typeface="Candara" panose="020E0502030303020204" pitchFamily="34" charset="0"/>
            </a:endParaRPr>
          </a:p>
          <a:p>
            <a:pPr algn="l">
              <a:buFont typeface="Arial" panose="020B0604020202020204" pitchFamily="34" charset="0"/>
              <a:buChar char="•"/>
            </a:pPr>
            <a:endParaRPr lang="en-GB" b="0" i="0" u="none" strike="noStrike" dirty="0">
              <a:solidFill>
                <a:srgbClr val="374151"/>
              </a:solidFill>
              <a:effectLst/>
              <a:latin typeface="Söhne"/>
            </a:endParaRPr>
          </a:p>
          <a:p>
            <a:endParaRPr lang="en-US" dirty="0"/>
          </a:p>
        </p:txBody>
      </p:sp>
    </p:spTree>
    <p:extLst>
      <p:ext uri="{BB962C8B-B14F-4D97-AF65-F5344CB8AC3E}">
        <p14:creationId xmlns:p14="http://schemas.microsoft.com/office/powerpoint/2010/main" val="1321406865"/>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268637"/>
            <a:ext cx="10363200" cy="1143000"/>
          </a:xfrm>
        </p:spPr>
        <p:txBody>
          <a:bodyPr/>
          <a:lstStyle/>
          <a:p>
            <a:pPr algn="ctr"/>
            <a:br>
              <a:rPr lang="en-GB" b="1" i="0" dirty="0">
                <a:solidFill>
                  <a:srgbClr val="44709D"/>
                </a:solidFill>
                <a:latin typeface="Candara" panose="020E0502030303020204" pitchFamily="34" charset="0"/>
                <a:ea typeface="+mn-ea"/>
                <a:cs typeface="+mn-cs"/>
              </a:rPr>
            </a:br>
            <a:r>
              <a:rPr lang="en-GB" sz="3200" b="1" dirty="0">
                <a:latin typeface="Candara" panose="020E0502030303020204" pitchFamily="34" charset="0"/>
              </a:rPr>
              <a:t>Concluding Points</a:t>
            </a:r>
            <a:endParaRPr lang="en-US" sz="3200" b="1" dirty="0">
              <a:latin typeface="Candara" panose="020E0502030303020204" pitchFamily="34" charset="0"/>
            </a:endParaRP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535742"/>
            <a:ext cx="11410122" cy="4071592"/>
          </a:xfrm>
        </p:spPr>
        <p:txBody>
          <a:bodyPr/>
          <a:lstStyle/>
          <a:p>
            <a:pPr algn="ctr"/>
            <a:r>
              <a:rPr lang="en-US" b="1" dirty="0">
                <a:solidFill>
                  <a:srgbClr val="663366"/>
                </a:solidFill>
                <a:latin typeface="Candara" panose="020E0502030303020204" pitchFamily="34" charset="0"/>
                <a:ea typeface="+mj-ea"/>
                <a:cs typeface="+mj-cs"/>
              </a:rPr>
              <a:t>Burden of Proof</a:t>
            </a:r>
          </a:p>
          <a:p>
            <a:pPr marL="285750" indent="-285750" algn="just">
              <a:buFont typeface="Arial" panose="020B0604020202020204" pitchFamily="34" charset="0"/>
              <a:buChar char="•"/>
            </a:pPr>
            <a:r>
              <a:rPr lang="en-US" dirty="0">
                <a:latin typeface="Candara" panose="020E0502030303020204" pitchFamily="34" charset="0"/>
              </a:rPr>
              <a:t>Prosecution must disprove duress once raised by the defendant.</a:t>
            </a:r>
          </a:p>
          <a:p>
            <a:pPr marL="285750" indent="-285750" algn="just">
              <a:buFont typeface="Arial" panose="020B0604020202020204" pitchFamily="34" charset="0"/>
              <a:buChar char="•"/>
            </a:pPr>
            <a:r>
              <a:rPr lang="en-US" dirty="0">
                <a:latin typeface="Candara" panose="020E0502030303020204" pitchFamily="34" charset="0"/>
              </a:rPr>
              <a:t>Assessment framework based on legal precedents (Graham 1982, Howe 1987).</a:t>
            </a:r>
          </a:p>
          <a:p>
            <a:pPr marL="285750" indent="-285750" algn="just">
              <a:buFont typeface="Arial" panose="020B0604020202020204" pitchFamily="34" charset="0"/>
              <a:buChar char="•"/>
            </a:pPr>
            <a:r>
              <a:rPr lang="en-US" dirty="0">
                <a:latin typeface="Candara" panose="020E0502030303020204" pitchFamily="34" charset="0"/>
              </a:rPr>
              <a:t>Courts have become more restrictive over time (Hasan 2005).</a:t>
            </a:r>
          </a:p>
          <a:p>
            <a:pPr algn="ctr"/>
            <a:r>
              <a:rPr lang="en-US" b="1" dirty="0">
                <a:solidFill>
                  <a:srgbClr val="663366"/>
                </a:solidFill>
                <a:latin typeface="Candara" panose="020E0502030303020204" pitchFamily="34" charset="0"/>
                <a:ea typeface="+mj-ea"/>
                <a:cs typeface="+mj-cs"/>
              </a:rPr>
              <a:t>Excluded offences</a:t>
            </a:r>
          </a:p>
          <a:p>
            <a:pPr marL="285750" indent="-285750" algn="just">
              <a:buFont typeface="Arial" panose="020B0604020202020204" pitchFamily="34" charset="0"/>
              <a:buChar char="•"/>
            </a:pPr>
            <a:r>
              <a:rPr lang="en-US" dirty="0">
                <a:latin typeface="Candara" panose="020E0502030303020204" pitchFamily="34" charset="0"/>
              </a:rPr>
              <a:t>Duress can serve as a complete </a:t>
            </a:r>
            <a:r>
              <a:rPr lang="en-US" dirty="0" err="1">
                <a:latin typeface="Candara" panose="020E0502030303020204" pitchFamily="34" charset="0"/>
              </a:rPr>
              <a:t>defence</a:t>
            </a:r>
            <a:r>
              <a:rPr lang="en-US" dirty="0">
                <a:latin typeface="Candara" panose="020E0502030303020204" pitchFamily="34" charset="0"/>
              </a:rPr>
              <a:t> for certain crimes, excluding only the most serious offenses such as treason, murder, and attempted murder. </a:t>
            </a:r>
          </a:p>
          <a:p>
            <a:pPr algn="ctr"/>
            <a:r>
              <a:rPr lang="en-US" b="1" dirty="0">
                <a:solidFill>
                  <a:srgbClr val="663366"/>
                </a:solidFill>
                <a:latin typeface="Candara" panose="020E0502030303020204" pitchFamily="34" charset="0"/>
                <a:ea typeface="+mj-ea"/>
                <a:cs typeface="+mj-cs"/>
              </a:rPr>
              <a:t>Association with Coercive Individuals</a:t>
            </a:r>
          </a:p>
          <a:p>
            <a:pPr algn="just">
              <a:buFont typeface="Arial" panose="020B0604020202020204" pitchFamily="34" charset="0"/>
              <a:buChar char="•"/>
            </a:pPr>
            <a:r>
              <a:rPr lang="en-US" dirty="0">
                <a:latin typeface="Candara" panose="020E0502030303020204" pitchFamily="34" charset="0"/>
              </a:rPr>
              <a:t>Defense fails if defendant associates with those likely to coerce through violence.</a:t>
            </a:r>
          </a:p>
          <a:p>
            <a:pPr algn="just">
              <a:buFont typeface="Arial" panose="020B0604020202020204" pitchFamily="34" charset="0"/>
              <a:buChar char="•"/>
            </a:pPr>
            <a:r>
              <a:rPr lang="en-US" dirty="0">
                <a:latin typeface="Candara" panose="020E0502030303020204" pitchFamily="34" charset="0"/>
              </a:rPr>
              <a:t>Key cases: R v Fitzpatrick 1977, R v Sharp 1987, R v Shepherd 1987.</a:t>
            </a:r>
          </a:p>
          <a:p>
            <a:pPr algn="just">
              <a:buFont typeface="Arial" panose="020B0604020202020204" pitchFamily="34" charset="0"/>
              <a:buChar char="•"/>
            </a:pPr>
            <a:r>
              <a:rPr lang="en-US" dirty="0">
                <a:latin typeface="Candara" panose="020E0502030303020204" pitchFamily="34" charset="0"/>
              </a:rPr>
              <a:t>Defendant’s knowledge of potential compulsion matters (Hasan </a:t>
            </a:r>
            <a:r>
              <a:rPr lang="en-US" dirty="0"/>
              <a:t>case).</a:t>
            </a:r>
          </a:p>
        </p:txBody>
      </p:sp>
    </p:spTree>
    <p:extLst>
      <p:ext uri="{BB962C8B-B14F-4D97-AF65-F5344CB8AC3E}">
        <p14:creationId xmlns:p14="http://schemas.microsoft.com/office/powerpoint/2010/main" val="910796075"/>
      </p:ext>
    </p:extLst>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4F36-69F4-8C92-199C-92F75D41C5DC}"/>
              </a:ext>
            </a:extLst>
          </p:cNvPr>
          <p:cNvSpPr>
            <a:spLocks noGrp="1"/>
          </p:cNvSpPr>
          <p:nvPr>
            <p:ph type="title"/>
          </p:nvPr>
        </p:nvSpPr>
        <p:spPr>
          <a:xfrm>
            <a:off x="914400" y="268637"/>
            <a:ext cx="10363200" cy="1143000"/>
          </a:xfrm>
        </p:spPr>
        <p:txBody>
          <a:bodyPr/>
          <a:lstStyle/>
          <a:p>
            <a:pPr algn="ctr"/>
            <a:br>
              <a:rPr lang="en-GB" b="1" i="0" dirty="0">
                <a:solidFill>
                  <a:srgbClr val="44709D"/>
                </a:solidFill>
                <a:latin typeface="Candara" panose="020E0502030303020204" pitchFamily="34" charset="0"/>
                <a:ea typeface="+mn-ea"/>
                <a:cs typeface="+mn-cs"/>
              </a:rPr>
            </a:br>
            <a:r>
              <a:rPr lang="en-GB" sz="3200" b="1" dirty="0">
                <a:latin typeface="Candara" panose="020E0502030303020204" pitchFamily="34" charset="0"/>
              </a:rPr>
              <a:t>Problem Scenario Tips</a:t>
            </a:r>
            <a:endParaRPr lang="en-US" sz="3200" b="1" dirty="0">
              <a:latin typeface="Candara" panose="020E0502030303020204" pitchFamily="34" charset="0"/>
            </a:endParaRPr>
          </a:p>
        </p:txBody>
      </p:sp>
      <p:sp>
        <p:nvSpPr>
          <p:cNvPr id="3" name="Content Placeholder 2">
            <a:extLst>
              <a:ext uri="{FF2B5EF4-FFF2-40B4-BE49-F238E27FC236}">
                <a16:creationId xmlns:a16="http://schemas.microsoft.com/office/drawing/2014/main" id="{A555CEC0-414A-F046-7954-57F6BBE2558B}"/>
              </a:ext>
            </a:extLst>
          </p:cNvPr>
          <p:cNvSpPr>
            <a:spLocks noGrp="1"/>
          </p:cNvSpPr>
          <p:nvPr>
            <p:ph idx="1"/>
          </p:nvPr>
        </p:nvSpPr>
        <p:spPr>
          <a:xfrm>
            <a:off x="390939" y="1411636"/>
            <a:ext cx="11410122" cy="4358227"/>
          </a:xfrm>
        </p:spPr>
        <p:txBody>
          <a:bodyPr/>
          <a:lstStyle/>
          <a:p>
            <a:pPr algn="ctr">
              <a:spcBef>
                <a:spcPts val="0"/>
              </a:spcBef>
              <a:spcAft>
                <a:spcPts val="0"/>
              </a:spcAft>
            </a:pPr>
            <a:r>
              <a:rPr lang="en-GB" b="1" dirty="0">
                <a:solidFill>
                  <a:srgbClr val="663366"/>
                </a:solidFill>
                <a:latin typeface="Candara" panose="020E0502030303020204" pitchFamily="34" charset="0"/>
                <a:ea typeface="+mj-ea"/>
                <a:cs typeface="+mj-cs"/>
              </a:rPr>
              <a:t>The threat and demand</a:t>
            </a:r>
            <a:endParaRPr lang="en-US" b="1" dirty="0">
              <a:solidFill>
                <a:srgbClr val="663366"/>
              </a:solidFill>
              <a:latin typeface="Candara" panose="020E0502030303020204" pitchFamily="34" charset="0"/>
              <a:ea typeface="+mj-ea"/>
              <a:cs typeface="+mj-cs"/>
            </a:endParaRPr>
          </a:p>
          <a:p>
            <a:pPr marL="285750" indent="-285750" algn="just">
              <a:spcBef>
                <a:spcPts val="0"/>
              </a:spcBef>
              <a:spcAft>
                <a:spcPts val="0"/>
              </a:spcAft>
              <a:buFont typeface="Arial" panose="020B0604020202020204" pitchFamily="34" charset="0"/>
              <a:buChar char="•"/>
            </a:pPr>
            <a:r>
              <a:rPr lang="en-US" dirty="0">
                <a:latin typeface="Candara" panose="020E0502030303020204" pitchFamily="34" charset="0"/>
              </a:rPr>
              <a:t>Defendant compelled by reasonable fear of death or injury. Threats must involve death or serious injury to defendant or their family.</a:t>
            </a:r>
          </a:p>
          <a:p>
            <a:pPr marL="285750" indent="-285750" algn="just">
              <a:spcBef>
                <a:spcPts val="0"/>
              </a:spcBef>
              <a:spcAft>
                <a:spcPts val="0"/>
              </a:spcAft>
              <a:buFont typeface="Arial" panose="020B0604020202020204" pitchFamily="34" charset="0"/>
              <a:buChar char="•"/>
            </a:pPr>
            <a:r>
              <a:rPr lang="en-US" dirty="0">
                <a:latin typeface="Candara" panose="020E0502030303020204" pitchFamily="34" charset="0"/>
              </a:rPr>
              <a:t>Threat must be a sine qua non of D’s decision to commit the offence but they need not be the sole reason for so acting. </a:t>
            </a:r>
          </a:p>
          <a:p>
            <a:pPr marL="285750" indent="-285750" algn="just">
              <a:spcBef>
                <a:spcPts val="0"/>
              </a:spcBef>
              <a:spcAft>
                <a:spcPts val="0"/>
              </a:spcAft>
              <a:buFont typeface="Arial" panose="020B0604020202020204" pitchFamily="34" charset="0"/>
              <a:buChar char="•"/>
            </a:pPr>
            <a:r>
              <a:rPr lang="en-US" dirty="0">
                <a:latin typeface="Candara" panose="020E0502030303020204" pitchFamily="34" charset="0"/>
              </a:rPr>
              <a:t>Even a mistaken belief in a threat can be considered.</a:t>
            </a:r>
          </a:p>
          <a:p>
            <a:pPr marL="285750" indent="-285750" algn="just">
              <a:spcBef>
                <a:spcPts val="0"/>
              </a:spcBef>
              <a:spcAft>
                <a:spcPts val="0"/>
              </a:spcAft>
              <a:buFont typeface="Arial" panose="020B0604020202020204" pitchFamily="34" charset="0"/>
              <a:buChar char="•"/>
            </a:pPr>
            <a:r>
              <a:rPr lang="en-US" dirty="0">
                <a:latin typeface="Candara" panose="020E0502030303020204" pitchFamily="34" charset="0"/>
              </a:rPr>
              <a:t>Threatener must specify the crime. Defendant can’t choose how to fulfill the threat.</a:t>
            </a:r>
          </a:p>
          <a:p>
            <a:pPr marL="285750" indent="-285750" algn="just">
              <a:spcBef>
                <a:spcPts val="0"/>
              </a:spcBef>
              <a:spcAft>
                <a:spcPts val="0"/>
              </a:spcAft>
              <a:buFont typeface="Arial" panose="020B0604020202020204" pitchFamily="34" charset="0"/>
              <a:buChar char="•"/>
            </a:pPr>
            <a:r>
              <a:rPr lang="en-US" dirty="0">
                <a:latin typeface="Candara" panose="020E0502030303020204" pitchFamily="34" charset="0"/>
              </a:rPr>
              <a:t>Defendant can’t rely on voluntarily exposing themselves to threats.</a:t>
            </a:r>
            <a:r>
              <a:rPr lang="en-GB" sz="1800" b="1" dirty="0">
                <a:effectLst/>
                <a:latin typeface="Candara" panose="020E0502030303020204" pitchFamily="34" charset="0"/>
                <a:ea typeface="Calibri" panose="020F0502020204030204" pitchFamily="34" charset="0"/>
                <a:cs typeface="Arial" panose="020B0604020202020204" pitchFamily="34" charset="0"/>
              </a:rPr>
              <a:t> the threats or demands must still come from another party; they cannot originate from D herself.</a:t>
            </a:r>
            <a:r>
              <a:rPr lang="en-GB" sz="1800" dirty="0">
                <a:effectLst/>
                <a:latin typeface="Candara" panose="020E0502030303020204" pitchFamily="34" charset="0"/>
                <a:ea typeface="Calibri" panose="020F0502020204030204" pitchFamily="34" charset="0"/>
                <a:cs typeface="Arial" panose="020B0604020202020204" pitchFamily="34" charset="0"/>
              </a:rPr>
              <a:t> </a:t>
            </a:r>
          </a:p>
          <a:p>
            <a:pPr marL="0" indent="0" algn="just">
              <a:spcBef>
                <a:spcPts val="0"/>
              </a:spcBef>
              <a:spcAft>
                <a:spcPts val="0"/>
              </a:spcAft>
            </a:pPr>
            <a:endParaRPr lang="en-US" dirty="0">
              <a:latin typeface="Candara" panose="020E0502030303020204" pitchFamily="34" charset="0"/>
            </a:endParaRPr>
          </a:p>
          <a:p>
            <a:pPr algn="ctr">
              <a:spcBef>
                <a:spcPts val="0"/>
              </a:spcBef>
              <a:spcAft>
                <a:spcPts val="0"/>
              </a:spcAft>
            </a:pPr>
            <a:r>
              <a:rPr lang="en-GB" b="1" dirty="0">
                <a:solidFill>
                  <a:srgbClr val="663366"/>
                </a:solidFill>
                <a:latin typeface="Candara" panose="020E0502030303020204" pitchFamily="34" charset="0"/>
                <a:ea typeface="+mj-ea"/>
                <a:cs typeface="+mj-cs"/>
              </a:rPr>
              <a:t>D’s Response </a:t>
            </a:r>
          </a:p>
          <a:p>
            <a:pPr algn="just">
              <a:spcBef>
                <a:spcPts val="0"/>
              </a:spcBef>
              <a:spcAft>
                <a:spcPts val="0"/>
              </a:spcAft>
              <a:buFont typeface="Arial" panose="020B0604020202020204" pitchFamily="34" charset="0"/>
              <a:buChar char="•"/>
            </a:pPr>
            <a:r>
              <a:rPr lang="en-US" dirty="0">
                <a:latin typeface="Candara" panose="020E0502030303020204" pitchFamily="34" charset="0"/>
              </a:rPr>
              <a:t>A connection between threat and crime required.</a:t>
            </a:r>
          </a:p>
          <a:p>
            <a:pPr algn="just">
              <a:spcBef>
                <a:spcPts val="0"/>
              </a:spcBef>
              <a:spcAft>
                <a:spcPts val="0"/>
              </a:spcAft>
              <a:buFont typeface="Arial" panose="020B0604020202020204" pitchFamily="34" charset="0"/>
              <a:buChar char="•"/>
            </a:pPr>
            <a:r>
              <a:rPr lang="en-US" dirty="0">
                <a:latin typeface="Candara" panose="020E0502030303020204" pitchFamily="34" charset="0"/>
              </a:rPr>
              <a:t>The threat must be immediate. </a:t>
            </a:r>
          </a:p>
          <a:p>
            <a:pPr algn="just">
              <a:spcBef>
                <a:spcPts val="0"/>
              </a:spcBef>
              <a:spcAft>
                <a:spcPts val="0"/>
              </a:spcAft>
              <a:buFont typeface="Arial" panose="020B0604020202020204" pitchFamily="34" charset="0"/>
              <a:buChar char="•"/>
            </a:pPr>
            <a:r>
              <a:rPr lang="en-US" dirty="0">
                <a:latin typeface="Candara" panose="020E0502030303020204" pitchFamily="34" charset="0"/>
              </a:rPr>
              <a:t>Evaluation of how a reasonable person with similar characteristics would react to the defendant’s belief in duress.</a:t>
            </a:r>
          </a:p>
          <a:p>
            <a:endParaRPr lang="en-US" dirty="0"/>
          </a:p>
        </p:txBody>
      </p:sp>
    </p:spTree>
    <p:extLst>
      <p:ext uri="{BB962C8B-B14F-4D97-AF65-F5344CB8AC3E}">
        <p14:creationId xmlns:p14="http://schemas.microsoft.com/office/powerpoint/2010/main" val="1126068740"/>
      </p:ext>
    </p:extLst>
  </p:cSld>
  <p:clrMapOvr>
    <a:masterClrMapping/>
  </p:clrMapOvr>
  <p:transition spd="slow">
    <p:pull/>
  </p:transition>
</p:sld>
</file>

<file path=ppt/theme/theme1.xml><?xml version="1.0" encoding="utf-8"?>
<a:theme xmlns:a="http://schemas.openxmlformats.org/drawingml/2006/main" name="Lecture 1">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93DCBBE-7F9A-4375-8BDC-919AC82ED925}">
  <ds:schemaRefs>
    <ds:schemaRef ds:uri="http://schemas.microsoft.com/sharepoint/v3/contenttype/forms"/>
  </ds:schemaRefs>
</ds:datastoreItem>
</file>

<file path=customXml/itemProps2.xml><?xml version="1.0" encoding="utf-8"?>
<ds:datastoreItem xmlns:ds="http://schemas.openxmlformats.org/officeDocument/2006/customXml" ds:itemID="{21809062-97CE-4E2D-A7C7-612468A52E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AF5529-4387-4E04-A016-1E097EA35B56}">
  <ds:schemaRefs>
    <ds:schemaRef ds:uri="http://purl.org/dc/elements/1.1/"/>
    <ds:schemaRef ds:uri="http://www.w3.org/XML/1998/namespace"/>
    <ds:schemaRef ds:uri="http://schemas.microsoft.com/office/2006/documentManagement/types"/>
    <ds:schemaRef ds:uri="8cb6f0ce-4087-48d0-bd68-6d11fe1cb46f"/>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3172</TotalTime>
  <Words>2328</Words>
  <Application>Microsoft Macintosh PowerPoint</Application>
  <PresentationFormat>Widescreen</PresentationFormat>
  <Paragraphs>139</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Söhne</vt:lpstr>
      <vt:lpstr>Calibri</vt:lpstr>
      <vt:lpstr>Candara</vt:lpstr>
      <vt:lpstr>Times</vt:lpstr>
      <vt:lpstr>Lecture 1</vt:lpstr>
      <vt:lpstr> CRIMINAL LAW 2221 </vt:lpstr>
      <vt:lpstr>Learning Outcomes  What will you learn today? </vt:lpstr>
      <vt:lpstr>What is Duress?  </vt:lpstr>
      <vt:lpstr>The Test for Duress </vt:lpstr>
      <vt:lpstr>Burden of Proof</vt:lpstr>
      <vt:lpstr>  The Elements of Duress by Threats  </vt:lpstr>
      <vt:lpstr> Exclusions</vt:lpstr>
      <vt:lpstr>Exclusions 1. Offences to which D cannot raise duress</vt:lpstr>
      <vt:lpstr>Exclusions 2. Exclusion on the basis of prior-fault </vt:lpstr>
      <vt:lpstr>Element 1: X’s Threat and Demand</vt:lpstr>
      <vt:lpstr> Element 1: X’s Threat and Demand (a) The content of the threat  </vt:lpstr>
      <vt:lpstr> Element 1: X’s Threat and Demand (a) The content of the threat  </vt:lpstr>
      <vt:lpstr> Element 1: X’s Threat and Demand (a) The content of the threat  </vt:lpstr>
      <vt:lpstr> Element 1: X’s Threat and Demand (b) Who made the threat and demand? </vt:lpstr>
      <vt:lpstr> Element 1: X’s Threat and Demand (b) Who are they directed at?  </vt:lpstr>
      <vt:lpstr> Element 1: X’s Threat and Demand  c) The content of the demand  </vt:lpstr>
      <vt:lpstr> Element 2: D’s Response  </vt:lpstr>
      <vt:lpstr>Duress by Circumstances </vt:lpstr>
      <vt:lpstr>Necessity </vt:lpstr>
      <vt:lpstr> Concluding Points</vt:lpstr>
      <vt:lpstr> Problem Scenario Tips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Criminal Law LAW2221</dc:title>
  <dc:creator>BLACKBOURN, JESSIE</dc:creator>
  <cp:lastModifiedBy>Stephen Langley</cp:lastModifiedBy>
  <cp:revision>81</cp:revision>
  <dcterms:created xsi:type="dcterms:W3CDTF">2020-09-09T09:07:09Z</dcterms:created>
  <dcterms:modified xsi:type="dcterms:W3CDTF">2025-01-15T10:40:34Z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