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58"/>
  </p:notesMasterIdLst>
  <p:handoutMasterIdLst>
    <p:handoutMasterId r:id="rId59"/>
  </p:handoutMasterIdLst>
  <p:sldIdLst>
    <p:sldId id="285" r:id="rId5"/>
    <p:sldId id="338" r:id="rId6"/>
    <p:sldId id="279" r:id="rId7"/>
    <p:sldId id="287" r:id="rId8"/>
    <p:sldId id="295" r:id="rId9"/>
    <p:sldId id="296" r:id="rId10"/>
    <p:sldId id="314" r:id="rId11"/>
    <p:sldId id="286" r:id="rId12"/>
    <p:sldId id="315" r:id="rId13"/>
    <p:sldId id="304" r:id="rId14"/>
    <p:sldId id="303" r:id="rId15"/>
    <p:sldId id="316" r:id="rId16"/>
    <p:sldId id="317" r:id="rId17"/>
    <p:sldId id="311" r:id="rId18"/>
    <p:sldId id="312" r:id="rId19"/>
    <p:sldId id="320" r:id="rId20"/>
    <p:sldId id="323" r:id="rId21"/>
    <p:sldId id="321" r:id="rId22"/>
    <p:sldId id="324" r:id="rId23"/>
    <p:sldId id="292" r:id="rId24"/>
    <p:sldId id="293" r:id="rId25"/>
    <p:sldId id="294" r:id="rId26"/>
    <p:sldId id="318" r:id="rId27"/>
    <p:sldId id="319" r:id="rId28"/>
    <p:sldId id="297" r:id="rId29"/>
    <p:sldId id="289" r:id="rId30"/>
    <p:sldId id="288" r:id="rId31"/>
    <p:sldId id="291" r:id="rId32"/>
    <p:sldId id="298" r:id="rId33"/>
    <p:sldId id="290" r:id="rId34"/>
    <p:sldId id="325" r:id="rId35"/>
    <p:sldId id="326" r:id="rId36"/>
    <p:sldId id="327" r:id="rId37"/>
    <p:sldId id="328" r:id="rId38"/>
    <p:sldId id="329" r:id="rId39"/>
    <p:sldId id="330" r:id="rId40"/>
    <p:sldId id="331" r:id="rId41"/>
    <p:sldId id="332" r:id="rId42"/>
    <p:sldId id="333" r:id="rId43"/>
    <p:sldId id="300" r:id="rId44"/>
    <p:sldId id="301" r:id="rId45"/>
    <p:sldId id="334" r:id="rId46"/>
    <p:sldId id="302" r:id="rId47"/>
    <p:sldId id="335" r:id="rId48"/>
    <p:sldId id="336" r:id="rId49"/>
    <p:sldId id="337" r:id="rId50"/>
    <p:sldId id="305" r:id="rId51"/>
    <p:sldId id="299" r:id="rId52"/>
    <p:sldId id="306" r:id="rId53"/>
    <p:sldId id="307" r:id="rId54"/>
    <p:sldId id="308" r:id="rId55"/>
    <p:sldId id="309" r:id="rId56"/>
    <p:sldId id="310" r:id="rId57"/>
  </p:sldIdLst>
  <p:sldSz cx="9144000" cy="6858000" type="screen4x3"/>
  <p:notesSz cx="6858000" cy="9144000"/>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D7E3"/>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902"/>
    <p:restoredTop sz="96056" autoAdjust="0"/>
  </p:normalViewPr>
  <p:slideViewPr>
    <p:cSldViewPr>
      <p:cViewPr varScale="1">
        <p:scale>
          <a:sx n="118" d="100"/>
          <a:sy n="118" d="100"/>
        </p:scale>
        <p:origin x="1008" y="2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4" d="100"/>
          <a:sy n="64" d="100"/>
        </p:scale>
        <p:origin x="-2862"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C7D0385-F596-42C9-8BF1-76E61BE05E6F}" type="datetimeFigureOut">
              <a:rPr lang="en-GB" smtClean="0"/>
              <a:t>13/01/2025</a:t>
            </a:fld>
            <a:endParaRPr lang="en-GB"/>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22CBF9F-1C1E-490C-BC4D-4C3FBDBC1AE0}" type="slidenum">
              <a:rPr lang="en-GB" smtClean="0"/>
              <a:t>‹#›</a:t>
            </a:fld>
            <a:endParaRPr lang="en-GB"/>
          </a:p>
        </p:txBody>
      </p:sp>
    </p:spTree>
    <p:extLst>
      <p:ext uri="{BB962C8B-B14F-4D97-AF65-F5344CB8AC3E}">
        <p14:creationId xmlns:p14="http://schemas.microsoft.com/office/powerpoint/2010/main" val="29049555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61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458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AF1A0DEF-8C78-439D-A7BB-06D1B273CEAA}" type="slidenum">
              <a:rPr lang="en-GB"/>
              <a:pPr>
                <a:defRPr/>
              </a:pPr>
              <a:t>‹#›</a:t>
            </a:fld>
            <a:endParaRPr lang="en-GB"/>
          </a:p>
        </p:txBody>
      </p:sp>
    </p:spTree>
    <p:extLst>
      <p:ext uri="{BB962C8B-B14F-4D97-AF65-F5344CB8AC3E}">
        <p14:creationId xmlns:p14="http://schemas.microsoft.com/office/powerpoint/2010/main" val="31725415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defTabSz="890327">
              <a:defRPr sz="2600">
                <a:solidFill>
                  <a:srgbClr val="004D75"/>
                </a:solidFill>
                <a:latin typeface="Verdana" pitchFamily="34" charset="0"/>
                <a:cs typeface="Arial" charset="0"/>
              </a:defRPr>
            </a:lvl1pPr>
            <a:lvl2pPr marL="699116" indent="-268891" defTabSz="890327">
              <a:defRPr sz="2600">
                <a:solidFill>
                  <a:srgbClr val="004D75"/>
                </a:solidFill>
                <a:latin typeface="Verdana" pitchFamily="34" charset="0"/>
                <a:cs typeface="Arial" charset="0"/>
              </a:defRPr>
            </a:lvl2pPr>
            <a:lvl3pPr marL="1075563" indent="-215113" defTabSz="890327">
              <a:defRPr sz="2600">
                <a:solidFill>
                  <a:srgbClr val="004D75"/>
                </a:solidFill>
                <a:latin typeface="Verdana" pitchFamily="34" charset="0"/>
                <a:cs typeface="Arial" charset="0"/>
              </a:defRPr>
            </a:lvl3pPr>
            <a:lvl4pPr marL="1505788" indent="-215113" defTabSz="890327">
              <a:defRPr sz="2600">
                <a:solidFill>
                  <a:srgbClr val="004D75"/>
                </a:solidFill>
                <a:latin typeface="Verdana" pitchFamily="34" charset="0"/>
                <a:cs typeface="Arial" charset="0"/>
              </a:defRPr>
            </a:lvl4pPr>
            <a:lvl5pPr marL="1936013" indent="-215113" defTabSz="890327">
              <a:defRPr sz="2600">
                <a:solidFill>
                  <a:srgbClr val="004D75"/>
                </a:solidFill>
                <a:latin typeface="Verdana" pitchFamily="34" charset="0"/>
                <a:cs typeface="Arial" charset="0"/>
              </a:defRPr>
            </a:lvl5pPr>
            <a:lvl6pPr marL="2366239" indent="-215113" defTabSz="890327" eaLnBrk="0" fontAlgn="base" hangingPunct="0">
              <a:spcBef>
                <a:spcPct val="0"/>
              </a:spcBef>
              <a:spcAft>
                <a:spcPct val="0"/>
              </a:spcAft>
              <a:defRPr sz="2600">
                <a:solidFill>
                  <a:srgbClr val="004D75"/>
                </a:solidFill>
                <a:latin typeface="Verdana" pitchFamily="34" charset="0"/>
                <a:cs typeface="Arial" charset="0"/>
              </a:defRPr>
            </a:lvl6pPr>
            <a:lvl7pPr marL="2796464" indent="-215113" defTabSz="890327" eaLnBrk="0" fontAlgn="base" hangingPunct="0">
              <a:spcBef>
                <a:spcPct val="0"/>
              </a:spcBef>
              <a:spcAft>
                <a:spcPct val="0"/>
              </a:spcAft>
              <a:defRPr sz="2600">
                <a:solidFill>
                  <a:srgbClr val="004D75"/>
                </a:solidFill>
                <a:latin typeface="Verdana" pitchFamily="34" charset="0"/>
                <a:cs typeface="Arial" charset="0"/>
              </a:defRPr>
            </a:lvl7pPr>
            <a:lvl8pPr marL="3226689" indent="-215113" defTabSz="890327" eaLnBrk="0" fontAlgn="base" hangingPunct="0">
              <a:spcBef>
                <a:spcPct val="0"/>
              </a:spcBef>
              <a:spcAft>
                <a:spcPct val="0"/>
              </a:spcAft>
              <a:defRPr sz="2600">
                <a:solidFill>
                  <a:srgbClr val="004D75"/>
                </a:solidFill>
                <a:latin typeface="Verdana" pitchFamily="34" charset="0"/>
                <a:cs typeface="Arial" charset="0"/>
              </a:defRPr>
            </a:lvl8pPr>
            <a:lvl9pPr marL="3656914" indent="-215113" defTabSz="890327" eaLnBrk="0" fontAlgn="base" hangingPunct="0">
              <a:spcBef>
                <a:spcPct val="0"/>
              </a:spcBef>
              <a:spcAft>
                <a:spcPct val="0"/>
              </a:spcAft>
              <a:defRPr sz="2600">
                <a:solidFill>
                  <a:srgbClr val="004D75"/>
                </a:solidFill>
                <a:latin typeface="Verdana" pitchFamily="34" charset="0"/>
                <a:cs typeface="Arial" charset="0"/>
              </a:defRPr>
            </a:lvl9pPr>
          </a:lstStyle>
          <a:p>
            <a:fld id="{A39AFC6A-131F-4D87-84A6-7FFA5EA6F2EF}" type="slidenum">
              <a:rPr lang="en-US" sz="1100">
                <a:solidFill>
                  <a:schemeClr val="tx1"/>
                </a:solidFill>
                <a:latin typeface="Times New Roman" pitchFamily="18" charset="0"/>
              </a:rPr>
              <a:pPr/>
              <a:t>1</a:t>
            </a:fld>
            <a:endParaRPr lang="en-US" sz="1100">
              <a:solidFill>
                <a:schemeClr val="tx1"/>
              </a:solidFill>
              <a:latin typeface="Times New Roman" pitchFamily="18"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p:spPr>
        <p:txBody>
          <a:bodyPr/>
          <a:lstStyle/>
          <a:p>
            <a:endParaRPr lang="en-GB" dirty="0"/>
          </a:p>
        </p:txBody>
      </p:sp>
    </p:spTree>
    <p:extLst>
      <p:ext uri="{BB962C8B-B14F-4D97-AF65-F5344CB8AC3E}">
        <p14:creationId xmlns:p14="http://schemas.microsoft.com/office/powerpoint/2010/main" val="2323590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7</a:t>
            </a:fld>
            <a:endParaRPr lang="en-GB"/>
          </a:p>
        </p:txBody>
      </p:sp>
    </p:spTree>
    <p:extLst>
      <p:ext uri="{BB962C8B-B14F-4D97-AF65-F5344CB8AC3E}">
        <p14:creationId xmlns:p14="http://schemas.microsoft.com/office/powerpoint/2010/main" val="1247909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10</a:t>
            </a:fld>
            <a:endParaRPr lang="en-GB"/>
          </a:p>
        </p:txBody>
      </p:sp>
    </p:spTree>
    <p:extLst>
      <p:ext uri="{BB962C8B-B14F-4D97-AF65-F5344CB8AC3E}">
        <p14:creationId xmlns:p14="http://schemas.microsoft.com/office/powerpoint/2010/main" val="13930813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12</a:t>
            </a:fld>
            <a:endParaRPr lang="en-GB"/>
          </a:p>
        </p:txBody>
      </p:sp>
    </p:spTree>
    <p:extLst>
      <p:ext uri="{BB962C8B-B14F-4D97-AF65-F5344CB8AC3E}">
        <p14:creationId xmlns:p14="http://schemas.microsoft.com/office/powerpoint/2010/main" val="1328770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20</a:t>
            </a:fld>
            <a:endParaRPr lang="en-GB"/>
          </a:p>
        </p:txBody>
      </p:sp>
    </p:spTree>
    <p:extLst>
      <p:ext uri="{BB962C8B-B14F-4D97-AF65-F5344CB8AC3E}">
        <p14:creationId xmlns:p14="http://schemas.microsoft.com/office/powerpoint/2010/main" val="1055525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21</a:t>
            </a:fld>
            <a:endParaRPr lang="en-GB"/>
          </a:p>
        </p:txBody>
      </p:sp>
    </p:spTree>
    <p:extLst>
      <p:ext uri="{BB962C8B-B14F-4D97-AF65-F5344CB8AC3E}">
        <p14:creationId xmlns:p14="http://schemas.microsoft.com/office/powerpoint/2010/main" val="889992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22</a:t>
            </a:fld>
            <a:endParaRPr lang="en-GB"/>
          </a:p>
        </p:txBody>
      </p:sp>
    </p:spTree>
    <p:extLst>
      <p:ext uri="{BB962C8B-B14F-4D97-AF65-F5344CB8AC3E}">
        <p14:creationId xmlns:p14="http://schemas.microsoft.com/office/powerpoint/2010/main" val="1416778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26</a:t>
            </a:fld>
            <a:endParaRPr lang="en-GB"/>
          </a:p>
        </p:txBody>
      </p:sp>
    </p:spTree>
    <p:extLst>
      <p:ext uri="{BB962C8B-B14F-4D97-AF65-F5344CB8AC3E}">
        <p14:creationId xmlns:p14="http://schemas.microsoft.com/office/powerpoint/2010/main" val="19109417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30</a:t>
            </a:fld>
            <a:endParaRPr lang="en-GB"/>
          </a:p>
        </p:txBody>
      </p:sp>
    </p:spTree>
    <p:extLst>
      <p:ext uri="{BB962C8B-B14F-4D97-AF65-F5344CB8AC3E}">
        <p14:creationId xmlns:p14="http://schemas.microsoft.com/office/powerpoint/2010/main" val="24951991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31</a:t>
            </a:fld>
            <a:endParaRPr lang="en-GB"/>
          </a:p>
        </p:txBody>
      </p:sp>
    </p:spTree>
    <p:extLst>
      <p:ext uri="{BB962C8B-B14F-4D97-AF65-F5344CB8AC3E}">
        <p14:creationId xmlns:p14="http://schemas.microsoft.com/office/powerpoint/2010/main" val="2909897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41</a:t>
            </a:fld>
            <a:endParaRPr lang="en-GB"/>
          </a:p>
        </p:txBody>
      </p:sp>
    </p:spTree>
    <p:extLst>
      <p:ext uri="{BB962C8B-B14F-4D97-AF65-F5344CB8AC3E}">
        <p14:creationId xmlns:p14="http://schemas.microsoft.com/office/powerpoint/2010/main" val="3324381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49</a:t>
            </a:fld>
            <a:endParaRPr lang="en-GB"/>
          </a:p>
        </p:txBody>
      </p:sp>
    </p:spTree>
    <p:extLst>
      <p:ext uri="{BB962C8B-B14F-4D97-AF65-F5344CB8AC3E}">
        <p14:creationId xmlns:p14="http://schemas.microsoft.com/office/powerpoint/2010/main" val="400784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AF1A0DEF-8C78-439D-A7BB-06D1B273CEAA}" type="slidenum">
              <a:rPr lang="en-GB" smtClean="0"/>
              <a:pPr>
                <a:defRPr/>
              </a:pPr>
              <a:t>51</a:t>
            </a:fld>
            <a:endParaRPr lang="en-GB"/>
          </a:p>
        </p:txBody>
      </p:sp>
    </p:spTree>
    <p:extLst>
      <p:ext uri="{BB962C8B-B14F-4D97-AF65-F5344CB8AC3E}">
        <p14:creationId xmlns:p14="http://schemas.microsoft.com/office/powerpoint/2010/main" val="23143773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213271"/>
            <a:ext cx="9144000" cy="5516563"/>
          </a:xfrm>
          <a:prstGeom prst="rect">
            <a:avLst/>
          </a:prstGeom>
          <a:solidFill>
            <a:srgbClr val="663366"/>
          </a:solidFill>
          <a:ln w="9525">
            <a:noFill/>
            <a:miter lim="800000"/>
            <a:headEnd/>
            <a:tailEnd/>
          </a:ln>
          <a:effectLst/>
        </p:spPr>
        <p:txBody>
          <a:bodyPr wrap="none" anchor="ctr"/>
          <a:lstStyle/>
          <a:p>
            <a:pPr algn="ctr">
              <a:defRPr/>
            </a:pPr>
            <a:endParaRPr lang="en-US">
              <a:solidFill>
                <a:srgbClr val="663366"/>
              </a:solidFill>
            </a:endParaRPr>
          </a:p>
        </p:txBody>
      </p:sp>
      <p:pic>
        <p:nvPicPr>
          <p:cNvPr id="5" name="Picture 8"/>
          <p:cNvPicPr>
            <a:picLocks noChangeAspect="1" noChangeArrowheads="1"/>
          </p:cNvPicPr>
          <p:nvPr userDrawn="1"/>
        </p:nvPicPr>
        <p:blipFill>
          <a:blip r:embed="rId2" cstate="print"/>
          <a:srcRect/>
          <a:stretch>
            <a:fillRect/>
          </a:stretch>
        </p:blipFill>
        <p:spPr bwMode="auto">
          <a:xfrm>
            <a:off x="266700" y="5843588"/>
            <a:ext cx="1943100" cy="862012"/>
          </a:xfrm>
          <a:prstGeom prst="rect">
            <a:avLst/>
          </a:prstGeom>
          <a:noFill/>
          <a:ln w="9525">
            <a:noFill/>
            <a:miter lim="800000"/>
            <a:headEnd/>
            <a:tailEnd/>
          </a:ln>
        </p:spPr>
      </p:pic>
      <p:sp>
        <p:nvSpPr>
          <p:cNvPr id="8203" name="Rectangle 11"/>
          <p:cNvSpPr>
            <a:spLocks noGrp="1" noChangeArrowheads="1"/>
          </p:cNvSpPr>
          <p:nvPr>
            <p:ph type="ctrTitle" sz="quarter"/>
          </p:nvPr>
        </p:nvSpPr>
        <p:spPr>
          <a:xfrm>
            <a:off x="755650" y="476250"/>
            <a:ext cx="7772400" cy="1800622"/>
          </a:xfrm>
        </p:spPr>
        <p:txBody>
          <a:bodyPr/>
          <a:lstStyle>
            <a:lvl1pPr algn="l">
              <a:defRPr sz="4400">
                <a:solidFill>
                  <a:schemeClr val="bg1"/>
                </a:solidFill>
              </a:defRPr>
            </a:lvl1pPr>
          </a:lstStyle>
          <a:p>
            <a:r>
              <a:rPr lang="en-GB" noProof="0" dirty="0"/>
              <a:t>Click to edit Master title style</a:t>
            </a:r>
          </a:p>
        </p:txBody>
      </p:sp>
      <p:sp>
        <p:nvSpPr>
          <p:cNvPr id="8204" name="Rectangle 12"/>
          <p:cNvSpPr>
            <a:spLocks noGrp="1" noChangeArrowheads="1"/>
          </p:cNvSpPr>
          <p:nvPr>
            <p:ph type="subTitle" sz="quarter" idx="1"/>
          </p:nvPr>
        </p:nvSpPr>
        <p:spPr>
          <a:xfrm>
            <a:off x="755650" y="2801926"/>
            <a:ext cx="7772400" cy="2431231"/>
          </a:xfrm>
        </p:spPr>
        <p:txBody>
          <a:bodyPr/>
          <a:lstStyle>
            <a:lvl1pPr marL="0" indent="0" algn="r">
              <a:defRPr sz="2400" b="0">
                <a:solidFill>
                  <a:schemeClr val="bg1"/>
                </a:solidFill>
              </a:defRPr>
            </a:lvl1pPr>
          </a:lstStyle>
          <a:p>
            <a:r>
              <a:rPr lang="en-GB" noProof="0" dirty="0"/>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8737E7BC-0AD6-4697-8AE2-1050AD12CB8F}" type="slidenum">
              <a:rPr lang="en-GB"/>
              <a:pPr>
                <a:defRPr/>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Content Placeholder 2"/>
          <p:cNvSpPr>
            <a:spLocks noGrp="1"/>
          </p:cNvSpPr>
          <p:nvPr>
            <p:ph idx="1"/>
          </p:nvPr>
        </p:nvSpPr>
        <p:spPr/>
        <p:txBody>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4912F08-1523-45E2-8BAA-A9F45CA558CC}" type="slidenum">
              <a:rPr lang="en-GB"/>
              <a:pPr>
                <a:defRPr/>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0" cap="all"/>
            </a:lvl1pPr>
          </a:lstStyle>
          <a:p>
            <a:r>
              <a:rPr lang="en-GB" noProof="0"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8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noProof="0" dirty="0"/>
              <a:t>Click to edit Master text styles</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B4D38D05-2521-46AF-B091-01B951CDC625}" type="slidenum">
              <a:rPr lang="en-GB"/>
              <a:pPr>
                <a:defRPr/>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Content Placeholder 2"/>
          <p:cNvSpPr>
            <a:spLocks noGrp="1"/>
          </p:cNvSpPr>
          <p:nvPr>
            <p:ph sz="half" idx="1"/>
          </p:nvPr>
        </p:nvSpPr>
        <p:spPr>
          <a:xfrm>
            <a:off x="684213" y="1556792"/>
            <a:ext cx="3810000" cy="42486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Content Placeholder 3"/>
          <p:cNvSpPr>
            <a:spLocks noGrp="1"/>
          </p:cNvSpPr>
          <p:nvPr>
            <p:ph sz="half" idx="2"/>
          </p:nvPr>
        </p:nvSpPr>
        <p:spPr>
          <a:xfrm>
            <a:off x="4646613" y="1556792"/>
            <a:ext cx="3810000" cy="42486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CCC6FAAD-47EB-4642-A20E-D6984E4E470D}" type="slidenum">
              <a:rPr lang="en-GB"/>
              <a:pPr>
                <a:defRPr/>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noProof="0"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Master text styles</a:t>
            </a:r>
          </a:p>
        </p:txBody>
      </p:sp>
      <p:sp>
        <p:nvSpPr>
          <p:cNvPr id="4" name="Content Placeholder 3"/>
          <p:cNvSpPr>
            <a:spLocks noGrp="1"/>
          </p:cNvSpPr>
          <p:nvPr>
            <p:ph sz="half" idx="2"/>
          </p:nvPr>
        </p:nvSpPr>
        <p:spPr>
          <a:xfrm>
            <a:off x="457200" y="2174875"/>
            <a:ext cx="4040188" cy="363038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Master text styles</a:t>
            </a:r>
          </a:p>
        </p:txBody>
      </p:sp>
      <p:sp>
        <p:nvSpPr>
          <p:cNvPr id="6" name="Content Placeholder 5"/>
          <p:cNvSpPr>
            <a:spLocks noGrp="1"/>
          </p:cNvSpPr>
          <p:nvPr>
            <p:ph sz="quarter" idx="4"/>
          </p:nvPr>
        </p:nvSpPr>
        <p:spPr>
          <a:xfrm>
            <a:off x="4645025" y="2174875"/>
            <a:ext cx="4041775" cy="363038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0958A245-B2A4-4D64-9F17-8921249642A6}" type="slidenum">
              <a:rPr lang="en-GB"/>
              <a:pPr>
                <a:defRPr/>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8CD46157-7DE3-44BB-B05A-899920269FF4}" type="slidenum">
              <a:rPr lang="en-GB"/>
              <a:pPr>
                <a:defRPr/>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0F579CBE-EE5B-4C6C-91B6-8F09653FD416}" type="slidenum">
              <a:rPr lang="en-GB"/>
              <a:pPr>
                <a:defRPr/>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noProof="0"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Text Placeholder 3"/>
          <p:cNvSpPr>
            <a:spLocks noGrp="1"/>
          </p:cNvSpPr>
          <p:nvPr>
            <p:ph type="body" sz="half" idx="2"/>
          </p:nvPr>
        </p:nvSpPr>
        <p:spPr>
          <a:xfrm>
            <a:off x="457200" y="1435101"/>
            <a:ext cx="3008313" cy="437016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noProof="0" dirty="0"/>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116C9DAA-14DF-41CB-AECF-883B94965DEE}" type="slidenum">
              <a:rPr lang="en-GB"/>
              <a:pPr>
                <a:defRPr/>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noProof="0"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noProof="0" dirty="0"/>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5C932C4-36C2-4D67-A23F-5A8A2E0B6DF0}" type="slidenum">
              <a:rPr lang="en-GB"/>
              <a:pPr>
                <a:defRPr/>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Click to edit Master title style</a:t>
            </a:r>
          </a:p>
        </p:txBody>
      </p:sp>
      <p:sp>
        <p:nvSpPr>
          <p:cNvPr id="3" name="Vertical Text Placeholder 2"/>
          <p:cNvSpPr>
            <a:spLocks noGrp="1"/>
          </p:cNvSpPr>
          <p:nvPr>
            <p:ph type="body" orient="vert" idx="1"/>
          </p:nvPr>
        </p:nvSpPr>
        <p:spPr/>
        <p:txBody>
          <a:bodyPr vert="eaVert"/>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47CF5CD-C373-4001-B614-6EE9712AD039}" type="slidenum">
              <a:rPr lang="en-GB"/>
              <a:pPr>
                <a:defRPr/>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GB" noProof="0" dirty="0"/>
              <a:t>Click to edit Master title style</a:t>
            </a:r>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D037EC9-F64E-416F-A73B-52D4D68F7875}" type="slidenum">
              <a:rPr lang="en-GB"/>
              <a:pPr>
                <a:defRPr/>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0" y="0"/>
            <a:ext cx="9140825" cy="6873875"/>
          </a:xfrm>
          <a:prstGeom prst="rect">
            <a:avLst/>
          </a:prstGeom>
          <a:solidFill>
            <a:srgbClr val="663366"/>
          </a:solidFill>
          <a:ln w="9525">
            <a:noFill/>
            <a:miter lim="800000"/>
            <a:headEnd/>
            <a:tailEnd/>
          </a:ln>
          <a:effectLst/>
        </p:spPr>
        <p:txBody>
          <a:bodyPr wrap="none" anchor="ctr"/>
          <a:lstStyle/>
          <a:p>
            <a:pPr algn="ctr">
              <a:defRPr/>
            </a:pPr>
            <a:r>
              <a:rPr lang="en-GB">
                <a:solidFill>
                  <a:srgbClr val="663366"/>
                </a:solidFill>
              </a:rPr>
              <a:t>∂</a:t>
            </a:r>
          </a:p>
        </p:txBody>
      </p:sp>
      <p:sp>
        <p:nvSpPr>
          <p:cNvPr id="1032" name="Rectangle 8"/>
          <p:cNvSpPr>
            <a:spLocks noChangeArrowheads="1"/>
          </p:cNvSpPr>
          <p:nvPr/>
        </p:nvSpPr>
        <p:spPr bwMode="auto">
          <a:xfrm>
            <a:off x="109537" y="100012"/>
            <a:ext cx="8924925" cy="6657975"/>
          </a:xfrm>
          <a:prstGeom prst="rect">
            <a:avLst/>
          </a:prstGeom>
          <a:solidFill>
            <a:schemeClr val="bg1"/>
          </a:solidFill>
          <a:ln w="9525">
            <a:noFill/>
            <a:miter lim="800000"/>
            <a:headEnd/>
            <a:tailEnd/>
          </a:ln>
          <a:effectLst/>
        </p:spPr>
        <p:txBody>
          <a:bodyPr wrap="none" anchor="ctr"/>
          <a:lstStyle/>
          <a:p>
            <a:pPr algn="ctr">
              <a:defRPr/>
            </a:pPr>
            <a:endParaRPr lang="en-US">
              <a:solidFill>
                <a:srgbClr val="663366"/>
              </a:solidFill>
            </a:endParaRPr>
          </a:p>
        </p:txBody>
      </p:sp>
      <p:sp>
        <p:nvSpPr>
          <p:cNvPr id="1028" name="Rectangle 2"/>
          <p:cNvSpPr>
            <a:spLocks noGrp="1" noChangeArrowheads="1"/>
          </p:cNvSpPr>
          <p:nvPr>
            <p:ph type="title"/>
          </p:nvPr>
        </p:nvSpPr>
        <p:spPr bwMode="auto">
          <a:xfrm>
            <a:off x="685800" y="609600"/>
            <a:ext cx="7772400" cy="74612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noProof="0" dirty="0"/>
              <a:t>Heading style</a:t>
            </a:r>
          </a:p>
        </p:txBody>
      </p:sp>
      <p:sp>
        <p:nvSpPr>
          <p:cNvPr id="1029" name="Rectangle 3"/>
          <p:cNvSpPr>
            <a:spLocks noGrp="1" noChangeArrowheads="1"/>
          </p:cNvSpPr>
          <p:nvPr>
            <p:ph type="body" idx="1"/>
          </p:nvPr>
        </p:nvSpPr>
        <p:spPr bwMode="auto">
          <a:xfrm>
            <a:off x="684212" y="1587501"/>
            <a:ext cx="8131175" cy="45450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panose="020B0604020202020204" pitchFamily="34" charset="0"/>
                <a:cs typeface="Arial" panose="020B0604020202020204" pitchFamily="34" charset="0"/>
              </a:defRPr>
            </a:lvl1pPr>
          </a:lstStyle>
          <a:p>
            <a:pPr>
              <a:defRPr/>
            </a:pPr>
            <a:endParaRPr lang="en-GB" dirty="0">
              <a:latin typeface="Arial" panose="020B0604020202020204" pitchFamily="34" charset="0"/>
              <a:cs typeface="Arial" panose="020B0604020202020204" pitchFamily="34" charset="0"/>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cs typeface="Arial" panose="020B0604020202020204" pitchFamily="34" charset="0"/>
              </a:defRPr>
            </a:lvl1pPr>
          </a:lstStyle>
          <a:p>
            <a:pPr>
              <a:defRPr/>
            </a:pPr>
            <a:fld id="{44A284BA-A63D-4214-92FC-61D78B3D9DA5}" type="slidenum">
              <a:rPr lang="en-GB" smtClean="0"/>
              <a:pPr>
                <a:defRPr/>
              </a:pPr>
              <a:t>‹#›</a:t>
            </a:fld>
            <a:endParaRPr lang="en-GB" dirty="0">
              <a:latin typeface="Arial" panose="020B0604020202020204" pitchFamily="34" charset="0"/>
              <a:cs typeface="Arial" panose="020B0604020202020204" pitchFamily="34" charset="0"/>
            </a:endParaRPr>
          </a:p>
        </p:txBody>
      </p:sp>
      <p:sp>
        <p:nvSpPr>
          <p:cNvPr id="1033" name="Rectangle 9"/>
          <p:cNvSpPr>
            <a:spLocks noChangeArrowheads="1"/>
          </p:cNvSpPr>
          <p:nvPr/>
        </p:nvSpPr>
        <p:spPr bwMode="auto">
          <a:xfrm>
            <a:off x="790575" y="611188"/>
            <a:ext cx="8024813" cy="1143000"/>
          </a:xfrm>
          <a:prstGeom prst="rect">
            <a:avLst/>
          </a:prstGeom>
          <a:noFill/>
          <a:ln w="9525">
            <a:noFill/>
            <a:miter lim="800000"/>
            <a:headEnd/>
            <a:tailEnd/>
          </a:ln>
        </p:spPr>
        <p:txBody>
          <a:bodyPr/>
          <a:lstStyle/>
          <a:p>
            <a:pPr eaLnBrk="1" hangingPunct="1">
              <a:defRPr/>
            </a:pPr>
            <a:endParaRPr lang="en-US" sz="4400">
              <a:solidFill>
                <a:schemeClr val="bg1"/>
              </a:solidFill>
            </a:endParaRPr>
          </a:p>
        </p:txBody>
      </p:sp>
      <p:sp>
        <p:nvSpPr>
          <p:cNvPr id="1034" name="Rectangle 10"/>
          <p:cNvSpPr>
            <a:spLocks noChangeArrowheads="1"/>
          </p:cNvSpPr>
          <p:nvPr/>
        </p:nvSpPr>
        <p:spPr bwMode="auto">
          <a:xfrm>
            <a:off x="790575" y="1798638"/>
            <a:ext cx="8024813" cy="3813175"/>
          </a:xfrm>
          <a:prstGeom prst="rect">
            <a:avLst/>
          </a:prstGeom>
          <a:noFill/>
          <a:ln w="9525">
            <a:noFill/>
            <a:miter lim="800000"/>
            <a:headEnd/>
            <a:tailEnd/>
          </a:ln>
        </p:spPr>
        <p:txBody>
          <a:bodyPr/>
          <a:lstStyle/>
          <a:p>
            <a:pPr eaLnBrk="1" hangingPunct="1">
              <a:spcBef>
                <a:spcPct val="20000"/>
              </a:spcBef>
              <a:defRPr/>
            </a:pPr>
            <a:endParaRPr lang="en-US" sz="1800" b="1">
              <a:solidFill>
                <a:schemeClr val="bg1"/>
              </a:solidFill>
              <a:latin typeface="Arial" charset="0"/>
            </a:endParaRPr>
          </a:p>
        </p:txBody>
      </p:sp>
      <p:pic>
        <p:nvPicPr>
          <p:cNvPr id="1035" name="Picture 11"/>
          <p:cNvPicPr>
            <a:picLocks noChangeAspect="1" noChangeArrowheads="1"/>
          </p:cNvPicPr>
          <p:nvPr/>
        </p:nvPicPr>
        <p:blipFill>
          <a:blip r:embed="rId13" cstate="print"/>
          <a:srcRect/>
          <a:stretch>
            <a:fillRect/>
          </a:stretch>
        </p:blipFill>
        <p:spPr bwMode="auto">
          <a:xfrm>
            <a:off x="266700" y="5843588"/>
            <a:ext cx="1943100" cy="86201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3"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l" rtl="0" eaLnBrk="1" fontAlgn="base" hangingPunct="1">
        <a:spcBef>
          <a:spcPct val="0"/>
        </a:spcBef>
        <a:spcAft>
          <a:spcPct val="0"/>
        </a:spcAft>
        <a:defRPr sz="4000">
          <a:solidFill>
            <a:srgbClr val="663366"/>
          </a:solidFill>
          <a:latin typeface="Arial" panose="020B0604020202020204" pitchFamily="34" charset="0"/>
          <a:ea typeface="+mj-ea"/>
          <a:cs typeface="Arial" panose="020B0604020202020204" pitchFamily="34" charset="0"/>
        </a:defRPr>
      </a:lvl1pPr>
      <a:lvl2pPr algn="l" rtl="0" eaLnBrk="1" fontAlgn="base" hangingPunct="1">
        <a:spcBef>
          <a:spcPct val="0"/>
        </a:spcBef>
        <a:spcAft>
          <a:spcPct val="0"/>
        </a:spcAft>
        <a:defRPr sz="4400">
          <a:solidFill>
            <a:srgbClr val="663366"/>
          </a:solidFill>
          <a:latin typeface="Times" pitchFamily="18" charset="0"/>
        </a:defRPr>
      </a:lvl2pPr>
      <a:lvl3pPr algn="l" rtl="0" eaLnBrk="1" fontAlgn="base" hangingPunct="1">
        <a:spcBef>
          <a:spcPct val="0"/>
        </a:spcBef>
        <a:spcAft>
          <a:spcPct val="0"/>
        </a:spcAft>
        <a:defRPr sz="4400">
          <a:solidFill>
            <a:srgbClr val="663366"/>
          </a:solidFill>
          <a:latin typeface="Times" pitchFamily="18" charset="0"/>
        </a:defRPr>
      </a:lvl3pPr>
      <a:lvl4pPr algn="l" rtl="0" eaLnBrk="1" fontAlgn="base" hangingPunct="1">
        <a:spcBef>
          <a:spcPct val="0"/>
        </a:spcBef>
        <a:spcAft>
          <a:spcPct val="0"/>
        </a:spcAft>
        <a:defRPr sz="4400">
          <a:solidFill>
            <a:srgbClr val="663366"/>
          </a:solidFill>
          <a:latin typeface="Times" pitchFamily="18" charset="0"/>
        </a:defRPr>
      </a:lvl4pPr>
      <a:lvl5pPr algn="l" rtl="0" eaLnBrk="1" fontAlgn="base" hangingPunct="1">
        <a:spcBef>
          <a:spcPct val="0"/>
        </a:spcBef>
        <a:spcAft>
          <a:spcPct val="0"/>
        </a:spcAft>
        <a:defRPr sz="4400">
          <a:solidFill>
            <a:srgbClr val="663366"/>
          </a:solidFill>
          <a:latin typeface="Times" pitchFamily="18" charset="0"/>
        </a:defRPr>
      </a:lvl5pPr>
      <a:lvl6pPr marL="457200" algn="l" rtl="0" eaLnBrk="1" fontAlgn="base" hangingPunct="1">
        <a:spcBef>
          <a:spcPct val="0"/>
        </a:spcBef>
        <a:spcAft>
          <a:spcPct val="0"/>
        </a:spcAft>
        <a:defRPr sz="4400">
          <a:solidFill>
            <a:srgbClr val="663366"/>
          </a:solidFill>
          <a:latin typeface="Times" pitchFamily="18" charset="0"/>
        </a:defRPr>
      </a:lvl6pPr>
      <a:lvl7pPr marL="914400" algn="l" rtl="0" eaLnBrk="1" fontAlgn="base" hangingPunct="1">
        <a:spcBef>
          <a:spcPct val="0"/>
        </a:spcBef>
        <a:spcAft>
          <a:spcPct val="0"/>
        </a:spcAft>
        <a:defRPr sz="4400">
          <a:solidFill>
            <a:srgbClr val="663366"/>
          </a:solidFill>
          <a:latin typeface="Times" pitchFamily="18" charset="0"/>
        </a:defRPr>
      </a:lvl7pPr>
      <a:lvl8pPr marL="1371600" algn="l" rtl="0" eaLnBrk="1" fontAlgn="base" hangingPunct="1">
        <a:spcBef>
          <a:spcPct val="0"/>
        </a:spcBef>
        <a:spcAft>
          <a:spcPct val="0"/>
        </a:spcAft>
        <a:defRPr sz="4400">
          <a:solidFill>
            <a:srgbClr val="663366"/>
          </a:solidFill>
          <a:latin typeface="Times" pitchFamily="18" charset="0"/>
        </a:defRPr>
      </a:lvl8pPr>
      <a:lvl9pPr marL="1828800" algn="l" rtl="0" eaLnBrk="1" fontAlgn="base" hangingPunct="1">
        <a:spcBef>
          <a:spcPct val="0"/>
        </a:spcBef>
        <a:spcAft>
          <a:spcPct val="0"/>
        </a:spcAft>
        <a:defRPr sz="4400">
          <a:solidFill>
            <a:srgbClr val="663366"/>
          </a:solidFill>
          <a:latin typeface="Times" pitchFamily="18" charset="0"/>
        </a:defRPr>
      </a:lvl9pPr>
    </p:titleStyle>
    <p:bodyStyle>
      <a:lvl1pPr marL="284400" indent="-284400" algn="l" rtl="0" eaLnBrk="1" fontAlgn="base" hangingPunct="1">
        <a:spcBef>
          <a:spcPct val="20000"/>
        </a:spcBef>
        <a:spcAft>
          <a:spcPct val="0"/>
        </a:spcAft>
        <a:buFont typeface="Arial" panose="020B0604020202020204" pitchFamily="34" charset="0"/>
        <a:buChar char="•"/>
        <a:defRPr sz="2800">
          <a:solidFill>
            <a:schemeClr val="tx1"/>
          </a:solidFill>
          <a:latin typeface="Arial" panose="020B0604020202020204" pitchFamily="34" charset="0"/>
          <a:ea typeface="+mn-ea"/>
          <a:cs typeface="Arial" panose="020B0604020202020204" pitchFamily="34" charset="0"/>
        </a:defRPr>
      </a:lvl1pPr>
      <a:lvl2pPr marL="742950" indent="-285750" algn="l" rtl="0" eaLnBrk="1" fontAlgn="base" hangingPunct="1">
        <a:spcBef>
          <a:spcPct val="20000"/>
        </a:spcBef>
        <a:spcAft>
          <a:spcPct val="0"/>
        </a:spcAft>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lgn="l" rtl="0" eaLnBrk="1" fontAlgn="base" hangingPunct="1">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3pPr>
      <a:lvl4pPr marL="1600200" indent="-228600" algn="l" rtl="0" eaLnBrk="1" fontAlgn="base" hangingPunct="1">
        <a:spcBef>
          <a:spcPct val="20000"/>
        </a:spcBef>
        <a:spcAft>
          <a:spcPct val="0"/>
        </a:spcAft>
        <a:buFont typeface="Arial" panose="020B0604020202020204" pitchFamily="34" charset="0"/>
        <a:buChar char="•"/>
        <a:defRPr sz="1800">
          <a:solidFill>
            <a:schemeClr val="tx1"/>
          </a:solidFill>
          <a:latin typeface="Arial" panose="020B0604020202020204" pitchFamily="34" charset="0"/>
          <a:cs typeface="Arial" panose="020B0604020202020204" pitchFamily="34" charset="0"/>
        </a:defRPr>
      </a:lvl4pPr>
      <a:lvl5pPr marL="2057400" indent="-228600" algn="l" rtl="0" eaLnBrk="1" fontAlgn="base" hangingPunct="1">
        <a:spcBef>
          <a:spcPct val="20000"/>
        </a:spcBef>
        <a:spcAft>
          <a:spcPct val="0"/>
        </a:spcAft>
        <a:buFont typeface="Arial" panose="020B0604020202020204" pitchFamily="34" charset="0"/>
        <a:buChar char="•"/>
        <a:defRPr sz="1800">
          <a:solidFill>
            <a:schemeClr val="tx1"/>
          </a:solidFill>
          <a:latin typeface="Arial" panose="020B0604020202020204" pitchFamily="34" charset="0"/>
          <a:cs typeface="Arial" panose="020B0604020202020204" pitchFamily="34" charset="0"/>
        </a:defRPr>
      </a:lvl5pPr>
      <a:lvl6pPr marL="2514600" indent="-228600" algn="l" rtl="0" eaLnBrk="1" fontAlgn="base" hangingPunct="1">
        <a:spcBef>
          <a:spcPct val="20000"/>
        </a:spcBef>
        <a:spcAft>
          <a:spcPct val="0"/>
        </a:spcAft>
        <a:buChar char="»"/>
        <a:defRPr sz="1200">
          <a:solidFill>
            <a:schemeClr val="tx1"/>
          </a:solidFill>
          <a:latin typeface="+mn-lt"/>
        </a:defRPr>
      </a:lvl6pPr>
      <a:lvl7pPr marL="2971800" indent="-228600" algn="l" rtl="0" eaLnBrk="1" fontAlgn="base" hangingPunct="1">
        <a:spcBef>
          <a:spcPct val="20000"/>
        </a:spcBef>
        <a:spcAft>
          <a:spcPct val="0"/>
        </a:spcAft>
        <a:buChar char="»"/>
        <a:defRPr sz="1200">
          <a:solidFill>
            <a:schemeClr val="tx1"/>
          </a:solidFill>
          <a:latin typeface="+mn-lt"/>
        </a:defRPr>
      </a:lvl7pPr>
      <a:lvl8pPr marL="3429000" indent="-228600" algn="l" rtl="0" eaLnBrk="1" fontAlgn="base" hangingPunct="1">
        <a:spcBef>
          <a:spcPct val="20000"/>
        </a:spcBef>
        <a:spcAft>
          <a:spcPct val="0"/>
        </a:spcAft>
        <a:buChar char="»"/>
        <a:defRPr sz="1200">
          <a:solidFill>
            <a:schemeClr val="tx1"/>
          </a:solidFill>
          <a:latin typeface="+mn-lt"/>
        </a:defRPr>
      </a:lvl8pPr>
      <a:lvl9pPr marL="3886200" indent="-228600" algn="l" rtl="0" eaLnBrk="1" fontAlgn="base" hangingPunct="1">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durham.ac.uk/colleges-and-student-experience/student-support-and-wellbeing/student-conduct/sexual-misconduct-violence/" TargetMode="External"/><Relationship Id="rId2" Type="http://schemas.openxmlformats.org/officeDocument/2006/relationships/hyperlink" Target="https://www.durham.ac.uk/colleges-and-student-experience/student-support-and-wellbeing/#d.en.467905" TargetMode="External"/><Relationship Id="rId1" Type="http://schemas.openxmlformats.org/officeDocument/2006/relationships/slideLayout" Target="../slideLayouts/slideLayout4.xml"/><Relationship Id="rId5" Type="http://schemas.openxmlformats.org/officeDocument/2006/relationships/hyperlink" Target="mailto:law.studentsupport@durham.ac.uk" TargetMode="External"/><Relationship Id="rId4" Type="http://schemas.openxmlformats.org/officeDocument/2006/relationships/hyperlink" Target="https://www.durham.ac.uk/colleges-and-student-experience/student-support-and-wellbeing/counselling/"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sz="quarter"/>
          </p:nvPr>
        </p:nvSpPr>
        <p:spPr>
          <a:xfrm>
            <a:off x="755650" y="476250"/>
            <a:ext cx="7772400" cy="3744838"/>
          </a:xfrm>
        </p:spPr>
        <p:txBody>
          <a:bodyPr/>
          <a:lstStyle/>
          <a:p>
            <a:r>
              <a:rPr lang="en-GB" dirty="0"/>
              <a:t>Sexual Offences I: Week 13</a:t>
            </a:r>
          </a:p>
        </p:txBody>
      </p:sp>
      <p:sp>
        <p:nvSpPr>
          <p:cNvPr id="3075" name="Rectangle 3"/>
          <p:cNvSpPr>
            <a:spLocks noGrp="1" noChangeArrowheads="1"/>
          </p:cNvSpPr>
          <p:nvPr>
            <p:ph type="subTitle" sz="quarter" idx="1"/>
          </p:nvPr>
        </p:nvSpPr>
        <p:spPr>
          <a:xfrm>
            <a:off x="395536" y="3501008"/>
            <a:ext cx="8132514" cy="1732149"/>
          </a:xfrm>
        </p:spPr>
        <p:txBody>
          <a:bodyPr/>
          <a:lstStyle/>
          <a:p>
            <a:pPr>
              <a:buNone/>
            </a:pPr>
            <a:r>
              <a:rPr lang="en-GB" dirty="0"/>
              <a:t>Dr Karamvir Chadha</a:t>
            </a:r>
          </a:p>
          <a:p>
            <a:pPr>
              <a:buNone/>
            </a:pPr>
            <a:r>
              <a:rPr lang="en-GB" dirty="0" err="1"/>
              <a:t>karamvir.chadha@durham.ac.uk</a:t>
            </a:r>
            <a:endParaRPr lang="en-GB" dirty="0"/>
          </a:p>
          <a:p>
            <a:pPr>
              <a:buNone/>
            </a:pPr>
            <a:r>
              <a:rPr lang="en-GB" dirty="0"/>
              <a:t>Academic Support &amp; Feedback Hours: Wed 9-11 PCL123</a:t>
            </a:r>
          </a:p>
        </p:txBody>
      </p:sp>
    </p:spTree>
    <p:extLst>
      <p:ext uri="{BB962C8B-B14F-4D97-AF65-F5344CB8AC3E}">
        <p14:creationId xmlns:p14="http://schemas.microsoft.com/office/powerpoint/2010/main" val="894051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E5B2A-866C-1CF8-0F12-29BA34FCA359}"/>
              </a:ext>
            </a:extLst>
          </p:cNvPr>
          <p:cNvSpPr>
            <a:spLocks noGrp="1"/>
          </p:cNvSpPr>
          <p:nvPr>
            <p:ph type="title"/>
          </p:nvPr>
        </p:nvSpPr>
        <p:spPr/>
        <p:txBody>
          <a:bodyPr/>
          <a:lstStyle/>
          <a:p>
            <a:r>
              <a:rPr lang="en-US" dirty="0"/>
              <a:t>Content Warning</a:t>
            </a:r>
          </a:p>
        </p:txBody>
      </p:sp>
      <p:sp>
        <p:nvSpPr>
          <p:cNvPr id="3" name="Content Placeholder 2">
            <a:extLst>
              <a:ext uri="{FF2B5EF4-FFF2-40B4-BE49-F238E27FC236}">
                <a16:creationId xmlns:a16="http://schemas.microsoft.com/office/drawing/2014/main" id="{02192A99-AD04-8B40-14E9-F9F34E06AF38}"/>
              </a:ext>
            </a:extLst>
          </p:cNvPr>
          <p:cNvSpPr>
            <a:spLocks noGrp="1"/>
          </p:cNvSpPr>
          <p:nvPr>
            <p:ph idx="1"/>
          </p:nvPr>
        </p:nvSpPr>
        <p:spPr/>
        <p:txBody>
          <a:bodyPr/>
          <a:lstStyle/>
          <a:p>
            <a:r>
              <a:rPr lang="en-US" dirty="0"/>
              <a:t>This lecture and the next one address the law of sexual offences.</a:t>
            </a:r>
          </a:p>
          <a:p>
            <a:r>
              <a:rPr lang="en-US" dirty="0"/>
              <a:t>The cases involve facts that some students may find triggering or distressing.</a:t>
            </a:r>
          </a:p>
          <a:p>
            <a:r>
              <a:rPr lang="en-US" dirty="0"/>
              <a:t>If you need to leave, you may do so without explanation. You will not be asked any questions.</a:t>
            </a:r>
          </a:p>
          <a:p>
            <a:endParaRPr lang="en-US" dirty="0"/>
          </a:p>
        </p:txBody>
      </p:sp>
    </p:spTree>
    <p:extLst>
      <p:ext uri="{BB962C8B-B14F-4D97-AF65-F5344CB8AC3E}">
        <p14:creationId xmlns:p14="http://schemas.microsoft.com/office/powerpoint/2010/main" val="611104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66E32-51FB-7047-BE92-D1EED9CB3D50}"/>
              </a:ext>
            </a:extLst>
          </p:cNvPr>
          <p:cNvSpPr>
            <a:spLocks noGrp="1"/>
          </p:cNvSpPr>
          <p:nvPr>
            <p:ph type="title"/>
          </p:nvPr>
        </p:nvSpPr>
        <p:spPr/>
        <p:txBody>
          <a:bodyPr/>
          <a:lstStyle/>
          <a:p>
            <a:r>
              <a:rPr lang="en-GB" dirty="0"/>
              <a:t>By the end of this lecture you should be able to:</a:t>
            </a:r>
          </a:p>
        </p:txBody>
      </p:sp>
      <p:sp>
        <p:nvSpPr>
          <p:cNvPr id="3" name="Content Placeholder 2">
            <a:extLst>
              <a:ext uri="{FF2B5EF4-FFF2-40B4-BE49-F238E27FC236}">
                <a16:creationId xmlns:a16="http://schemas.microsoft.com/office/drawing/2014/main" id="{FC72E507-6AD6-AA48-B458-81D30A048E09}"/>
              </a:ext>
            </a:extLst>
          </p:cNvPr>
          <p:cNvSpPr>
            <a:spLocks noGrp="1"/>
          </p:cNvSpPr>
          <p:nvPr>
            <p:ph idx="1"/>
          </p:nvPr>
        </p:nvSpPr>
        <p:spPr>
          <a:xfrm>
            <a:off x="684212" y="1700808"/>
            <a:ext cx="8131175" cy="4431704"/>
          </a:xfrm>
        </p:spPr>
        <p:txBody>
          <a:bodyPr anchor="ctr"/>
          <a:lstStyle/>
          <a:p>
            <a:r>
              <a:rPr lang="en-GB" dirty="0"/>
              <a:t>explain basic statistical information about the nature of rape and the criminal justice response;</a:t>
            </a:r>
          </a:p>
          <a:p>
            <a:r>
              <a:rPr lang="en-GB" dirty="0"/>
              <a:t>explain the legal principles of consent as defined under sections 74, 75 and 76 of the SOA 2003.</a:t>
            </a:r>
          </a:p>
          <a:p>
            <a:endParaRPr lang="en-GB" dirty="0"/>
          </a:p>
          <a:p>
            <a:endParaRPr lang="en-GB" dirty="0"/>
          </a:p>
        </p:txBody>
      </p:sp>
    </p:spTree>
    <p:extLst>
      <p:ext uri="{BB962C8B-B14F-4D97-AF65-F5344CB8AC3E}">
        <p14:creationId xmlns:p14="http://schemas.microsoft.com/office/powerpoint/2010/main" val="391920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EABD8-C82C-494A-8A2C-FC1D5DD721D9}"/>
              </a:ext>
            </a:extLst>
          </p:cNvPr>
          <p:cNvSpPr>
            <a:spLocks noGrp="1"/>
          </p:cNvSpPr>
          <p:nvPr>
            <p:ph type="title"/>
          </p:nvPr>
        </p:nvSpPr>
        <p:spPr/>
        <p:txBody>
          <a:bodyPr/>
          <a:lstStyle/>
          <a:p>
            <a:r>
              <a:rPr lang="en-GB" dirty="0"/>
              <a:t>This is not just a topic at </a:t>
            </a:r>
            <a:r>
              <a:rPr lang="en-GB" dirty="0" err="1"/>
              <a:t>uni</a:t>
            </a:r>
            <a:r>
              <a:rPr lang="en-GB" dirty="0"/>
              <a:t>…</a:t>
            </a:r>
          </a:p>
        </p:txBody>
      </p:sp>
      <p:pic>
        <p:nvPicPr>
          <p:cNvPr id="5" name="Content Placeholder 4">
            <a:extLst>
              <a:ext uri="{FF2B5EF4-FFF2-40B4-BE49-F238E27FC236}">
                <a16:creationId xmlns:a16="http://schemas.microsoft.com/office/drawing/2014/main" id="{EB78608A-2769-D64D-A817-D9967AB3F7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8587" y="1484784"/>
            <a:ext cx="6446826" cy="4545013"/>
          </a:xfrm>
        </p:spPr>
      </p:pic>
    </p:spTree>
    <p:extLst>
      <p:ext uri="{BB962C8B-B14F-4D97-AF65-F5344CB8AC3E}">
        <p14:creationId xmlns:p14="http://schemas.microsoft.com/office/powerpoint/2010/main" val="201238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81D3D-BF6F-0A49-9A50-618ABB7925A4}"/>
              </a:ext>
            </a:extLst>
          </p:cNvPr>
          <p:cNvSpPr>
            <a:spLocks noGrp="1"/>
          </p:cNvSpPr>
          <p:nvPr>
            <p:ph type="title"/>
          </p:nvPr>
        </p:nvSpPr>
        <p:spPr/>
        <p:txBody>
          <a:bodyPr/>
          <a:lstStyle/>
          <a:p>
            <a:r>
              <a:rPr lang="en-GB" dirty="0"/>
              <a:t>Surviving sexual violence</a:t>
            </a:r>
          </a:p>
        </p:txBody>
      </p:sp>
      <p:sp>
        <p:nvSpPr>
          <p:cNvPr id="3" name="Content Placeholder 2">
            <a:extLst>
              <a:ext uri="{FF2B5EF4-FFF2-40B4-BE49-F238E27FC236}">
                <a16:creationId xmlns:a16="http://schemas.microsoft.com/office/drawing/2014/main" id="{A4135901-2759-C042-AE8A-41CB2B0A904D}"/>
              </a:ext>
            </a:extLst>
          </p:cNvPr>
          <p:cNvSpPr>
            <a:spLocks noGrp="1"/>
          </p:cNvSpPr>
          <p:nvPr>
            <p:ph idx="1"/>
          </p:nvPr>
        </p:nvSpPr>
        <p:spPr/>
        <p:txBody>
          <a:bodyPr/>
          <a:lstStyle/>
          <a:p>
            <a:r>
              <a:rPr lang="en-GB" dirty="0"/>
              <a:t>I believe you.</a:t>
            </a:r>
          </a:p>
          <a:p>
            <a:r>
              <a:rPr lang="en-GB" dirty="0"/>
              <a:t>It’s not your fault.</a:t>
            </a:r>
          </a:p>
          <a:p>
            <a:r>
              <a:rPr lang="en-GB" dirty="0"/>
              <a:t>You are not alone.</a:t>
            </a:r>
          </a:p>
          <a:p>
            <a:r>
              <a:rPr lang="en-GB" dirty="0"/>
              <a:t>I’m sorry this happened.</a:t>
            </a:r>
          </a:p>
          <a:p>
            <a:endParaRPr lang="en-GB" dirty="0"/>
          </a:p>
          <a:p>
            <a:r>
              <a:rPr lang="en-GB" dirty="0"/>
              <a:t>Failings of the criminal law, CJS and society are no reflection on you and your experience.</a:t>
            </a:r>
          </a:p>
        </p:txBody>
      </p:sp>
    </p:spTree>
    <p:extLst>
      <p:ext uri="{BB962C8B-B14F-4D97-AF65-F5344CB8AC3E}">
        <p14:creationId xmlns:p14="http://schemas.microsoft.com/office/powerpoint/2010/main" val="2408202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136A9-14D0-4A45-AA27-4EA3E7435BDB}"/>
              </a:ext>
            </a:extLst>
          </p:cNvPr>
          <p:cNvSpPr>
            <a:spLocks noGrp="1"/>
          </p:cNvSpPr>
          <p:nvPr>
            <p:ph type="title"/>
          </p:nvPr>
        </p:nvSpPr>
        <p:spPr>
          <a:xfrm>
            <a:off x="685800" y="609600"/>
            <a:ext cx="7772400" cy="746126"/>
          </a:xfrm>
        </p:spPr>
        <p:txBody>
          <a:bodyPr/>
          <a:lstStyle/>
          <a:p>
            <a:r>
              <a:rPr lang="en-GB" dirty="0"/>
              <a:t>Support</a:t>
            </a:r>
          </a:p>
        </p:txBody>
      </p:sp>
      <p:sp>
        <p:nvSpPr>
          <p:cNvPr id="6" name="Content Placeholder 5">
            <a:extLst>
              <a:ext uri="{FF2B5EF4-FFF2-40B4-BE49-F238E27FC236}">
                <a16:creationId xmlns:a16="http://schemas.microsoft.com/office/drawing/2014/main" id="{939075C7-250D-9746-A0BB-E48758B36DFB}"/>
              </a:ext>
            </a:extLst>
          </p:cNvPr>
          <p:cNvSpPr>
            <a:spLocks noGrp="1"/>
          </p:cNvSpPr>
          <p:nvPr>
            <p:ph sz="half" idx="1"/>
          </p:nvPr>
        </p:nvSpPr>
        <p:spPr>
          <a:xfrm>
            <a:off x="684213" y="1556792"/>
            <a:ext cx="3810000" cy="4248696"/>
          </a:xfrm>
        </p:spPr>
        <p:txBody>
          <a:bodyPr>
            <a:normAutofit/>
          </a:bodyPr>
          <a:lstStyle/>
          <a:p>
            <a:r>
              <a:rPr lang="en-GB" dirty="0"/>
              <a:t>Self-care</a:t>
            </a:r>
          </a:p>
          <a:p>
            <a:pPr lvl="0"/>
            <a:r>
              <a:rPr lang="en-GB" dirty="0"/>
              <a:t>Support at Durham:</a:t>
            </a:r>
          </a:p>
          <a:p>
            <a:pPr marL="801450" lvl="1" indent="-342900">
              <a:lnSpc>
                <a:spcPct val="110000"/>
              </a:lnSpc>
              <a:buFont typeface="Symbol" pitchFamily="2" charset="2"/>
              <a:buChar char=""/>
            </a:pPr>
            <a:r>
              <a:rPr lang="en-GB" sz="2000" u="sng" dirty="0">
                <a:solidFill>
                  <a:srgbClr val="0563C1"/>
                </a:solidFill>
                <a:effectLst/>
                <a:latin typeface="Arial" panose="020B0604020202020204" pitchFamily="34" charset="0"/>
                <a:ea typeface="Times New Roman" panose="02020603050405020304" pitchFamily="18" charset="0"/>
                <a:cs typeface="Times New Roman" panose="02020603050405020304" pitchFamily="18" charset="0"/>
                <a:hlinkClick r:id="rId2"/>
              </a:rPr>
              <a:t>Student support area</a:t>
            </a:r>
            <a:endParaRPr lang="en-GB" sz="2000" dirty="0">
              <a:effectLst/>
              <a:latin typeface="Arial" panose="020B0604020202020204" pitchFamily="34" charset="0"/>
              <a:ea typeface="Calibri" panose="020F0502020204030204" pitchFamily="34" charset="0"/>
              <a:cs typeface="Times New Roman" panose="02020603050405020304" pitchFamily="18" charset="0"/>
            </a:endParaRPr>
          </a:p>
          <a:p>
            <a:pPr marL="801450" lvl="1" indent="-342900">
              <a:lnSpc>
                <a:spcPct val="110000"/>
              </a:lnSpc>
              <a:buFont typeface="Symbol" pitchFamily="2" charset="2"/>
              <a:buChar char=""/>
            </a:pPr>
            <a:r>
              <a:rPr lang="en-GB" sz="2000" u="sng" dirty="0">
                <a:solidFill>
                  <a:srgbClr val="0563C1"/>
                </a:solidFill>
                <a:effectLst/>
                <a:latin typeface="Arial" panose="020B0604020202020204" pitchFamily="34" charset="0"/>
                <a:ea typeface="Times New Roman" panose="02020603050405020304" pitchFamily="18" charset="0"/>
                <a:cs typeface="Times New Roman" panose="02020603050405020304" pitchFamily="18" charset="0"/>
                <a:hlinkClick r:id="rId3"/>
              </a:rPr>
              <a:t>Sexual misconduct and violence</a:t>
            </a:r>
            <a:r>
              <a:rPr lang="en-GB" sz="2000" dirty="0">
                <a:effectLst/>
                <a:latin typeface="Arial" panose="020B0604020202020204" pitchFamily="34" charset="0"/>
                <a:ea typeface="Times New Roman" panose="02020603050405020304" pitchFamily="18" charset="0"/>
                <a:cs typeface="Times New Roman" panose="02020603050405020304" pitchFamily="18" charset="0"/>
              </a:rPr>
              <a:t> </a:t>
            </a:r>
            <a:endParaRPr lang="en-GB" sz="2000" dirty="0">
              <a:effectLst/>
              <a:latin typeface="Arial" panose="020B0604020202020204" pitchFamily="34" charset="0"/>
              <a:ea typeface="Calibri" panose="020F0502020204030204" pitchFamily="34" charset="0"/>
              <a:cs typeface="Times New Roman" panose="02020603050405020304" pitchFamily="18" charset="0"/>
            </a:endParaRPr>
          </a:p>
          <a:p>
            <a:pPr marL="801450" lvl="1" indent="-342900">
              <a:lnSpc>
                <a:spcPct val="110000"/>
              </a:lnSpc>
              <a:buFont typeface="Symbol" pitchFamily="2" charset="2"/>
              <a:buChar char=""/>
            </a:pPr>
            <a:r>
              <a:rPr lang="en-GB" sz="2000" u="sng" dirty="0">
                <a:solidFill>
                  <a:srgbClr val="0563C1"/>
                </a:solidFill>
                <a:effectLst/>
                <a:latin typeface="Arial" panose="020B0604020202020204" pitchFamily="34" charset="0"/>
                <a:ea typeface="Times New Roman" panose="02020603050405020304" pitchFamily="18" charset="0"/>
                <a:cs typeface="Times New Roman" panose="02020603050405020304" pitchFamily="18" charset="0"/>
                <a:hlinkClick r:id="rId4"/>
              </a:rPr>
              <a:t>Counselling and mental health service</a:t>
            </a:r>
            <a:endParaRPr lang="en-GB" sz="2000" dirty="0">
              <a:effectLst/>
              <a:latin typeface="Arial" panose="020B0604020202020204" pitchFamily="34" charset="0"/>
              <a:ea typeface="Calibri" panose="020F0502020204030204" pitchFamily="34" charset="0"/>
              <a:cs typeface="Times New Roman" panose="02020603050405020304" pitchFamily="18" charset="0"/>
            </a:endParaRPr>
          </a:p>
          <a:p>
            <a:pPr marL="801450" lvl="1" indent="-342900">
              <a:lnSpc>
                <a:spcPct val="110000"/>
              </a:lnSpc>
              <a:buFont typeface="Symbol" pitchFamily="2" charset="2"/>
              <a:buChar char=""/>
            </a:pPr>
            <a:r>
              <a:rPr lang="en-GB" sz="2000" u="sng" dirty="0">
                <a:solidFill>
                  <a:srgbClr val="0563C1"/>
                </a:solidFill>
                <a:effectLst/>
                <a:latin typeface="Arial" panose="020B0604020202020204" pitchFamily="34" charset="0"/>
                <a:ea typeface="Times New Roman" panose="02020603050405020304" pitchFamily="18" charset="0"/>
                <a:cs typeface="Times New Roman" panose="02020603050405020304" pitchFamily="18" charset="0"/>
                <a:hlinkClick r:id="rId5"/>
              </a:rPr>
              <a:t>Law School Student Support Officer</a:t>
            </a:r>
            <a:r>
              <a:rPr lang="en-GB" sz="2000" dirty="0">
                <a:effectLst/>
                <a:latin typeface="Arial" panose="020B0604020202020204" pitchFamily="34" charset="0"/>
                <a:ea typeface="Times New Roman" panose="02020603050405020304" pitchFamily="18" charset="0"/>
                <a:cs typeface="Times New Roman" panose="02020603050405020304" pitchFamily="18" charset="0"/>
              </a:rPr>
              <a:t> (Sean)</a:t>
            </a:r>
            <a:endParaRPr lang="en-GB" sz="2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0242D82E-E81E-3843-A83D-AF01E11A9808}"/>
              </a:ext>
            </a:extLst>
          </p:cNvPr>
          <p:cNvSpPr>
            <a:spLocks noGrp="1"/>
          </p:cNvSpPr>
          <p:nvPr>
            <p:ph sz="half" idx="2"/>
          </p:nvPr>
        </p:nvSpPr>
        <p:spPr>
          <a:xfrm>
            <a:off x="4633842" y="1556792"/>
            <a:ext cx="3810000" cy="3903390"/>
          </a:xfrm>
        </p:spPr>
        <p:txBody>
          <a:bodyPr>
            <a:normAutofit/>
          </a:bodyPr>
          <a:lstStyle/>
          <a:p>
            <a:r>
              <a:rPr lang="en-GB" dirty="0"/>
              <a:t>See the lecture handout for independent organisations and sources of support.</a:t>
            </a:r>
          </a:p>
        </p:txBody>
      </p:sp>
      <p:sp>
        <p:nvSpPr>
          <p:cNvPr id="14" name="Rectangle 13">
            <a:extLst>
              <a:ext uri="{FF2B5EF4-FFF2-40B4-BE49-F238E27FC236}">
                <a16:creationId xmlns:a16="http://schemas.microsoft.com/office/drawing/2014/main" id="{ABD044BF-030B-E34E-8972-31D06DDC1FB5}"/>
              </a:ext>
            </a:extLst>
          </p:cNvPr>
          <p:cNvSpPr/>
          <p:nvPr/>
        </p:nvSpPr>
        <p:spPr>
          <a:xfrm>
            <a:off x="2339752" y="5661248"/>
            <a:ext cx="6668321" cy="1015663"/>
          </a:xfrm>
          <a:prstGeom prst="rect">
            <a:avLst/>
          </a:prstGeom>
        </p:spPr>
        <p:txBody>
          <a:bodyPr wrap="square">
            <a:spAutoFit/>
          </a:bodyPr>
          <a:lstStyle/>
          <a:p>
            <a:pPr algn="ctr"/>
            <a:r>
              <a:rPr lang="en-GB" sz="2000" b="1" dirty="0">
                <a:latin typeface="Arial" panose="020B0604020202020204" pitchFamily="34" charset="0"/>
                <a:ea typeface="Times New Roman" panose="02020603050405020304" pitchFamily="18" charset="0"/>
                <a:cs typeface="Arial" panose="020B0604020202020204" pitchFamily="34" charset="0"/>
              </a:rPr>
              <a:t>**If you are living within an abusive environment then please remember to use a “private” browser or clear your history**</a:t>
            </a:r>
            <a:r>
              <a:rPr lang="en-GB" sz="2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552632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C9633-9F42-8E40-A008-6E57DBB1B7D6}"/>
              </a:ext>
            </a:extLst>
          </p:cNvPr>
          <p:cNvSpPr>
            <a:spLocks noGrp="1"/>
          </p:cNvSpPr>
          <p:nvPr>
            <p:ph type="title"/>
          </p:nvPr>
        </p:nvSpPr>
        <p:spPr/>
        <p:txBody>
          <a:bodyPr/>
          <a:lstStyle/>
          <a:p>
            <a:r>
              <a:rPr lang="en-GB" dirty="0"/>
              <a:t>The law is not a measure of ‘good’ sex</a:t>
            </a:r>
          </a:p>
        </p:txBody>
      </p:sp>
      <p:sp>
        <p:nvSpPr>
          <p:cNvPr id="3" name="Content Placeholder 2">
            <a:extLst>
              <a:ext uri="{FF2B5EF4-FFF2-40B4-BE49-F238E27FC236}">
                <a16:creationId xmlns:a16="http://schemas.microsoft.com/office/drawing/2014/main" id="{1B5BBB93-9DDB-A44B-986A-50FD469BB6D6}"/>
              </a:ext>
            </a:extLst>
          </p:cNvPr>
          <p:cNvSpPr>
            <a:spLocks noGrp="1"/>
          </p:cNvSpPr>
          <p:nvPr>
            <p:ph idx="1"/>
          </p:nvPr>
        </p:nvSpPr>
        <p:spPr>
          <a:xfrm>
            <a:off x="684212" y="1587501"/>
            <a:ext cx="7704211" cy="4545011"/>
          </a:xfrm>
        </p:spPr>
        <p:txBody>
          <a:bodyPr/>
          <a:lstStyle/>
          <a:p>
            <a:pPr marL="0" indent="0">
              <a:buNone/>
            </a:pPr>
            <a:endParaRPr lang="en-GB" dirty="0"/>
          </a:p>
          <a:p>
            <a:pPr marL="0" indent="0">
              <a:buNone/>
            </a:pPr>
            <a:endParaRPr lang="en-GB" sz="2000" dirty="0"/>
          </a:p>
          <a:p>
            <a:pPr marL="0" indent="0">
              <a:buNone/>
            </a:pPr>
            <a:endParaRPr lang="en-GB" sz="2000" dirty="0"/>
          </a:p>
          <a:p>
            <a:pPr marL="0" indent="0">
              <a:buNone/>
            </a:pPr>
            <a:endParaRPr lang="en-GB" sz="2000" dirty="0"/>
          </a:p>
          <a:p>
            <a:pPr marL="0" indent="0">
              <a:buNone/>
            </a:pPr>
            <a:endParaRPr lang="en-GB" sz="2000" dirty="0"/>
          </a:p>
          <a:p>
            <a:pPr marL="0" indent="0">
              <a:buNone/>
            </a:pPr>
            <a:endParaRPr lang="en-GB" sz="2000" dirty="0"/>
          </a:p>
          <a:p>
            <a:pPr marL="0" indent="0">
              <a:buNone/>
            </a:pPr>
            <a:endParaRPr lang="en-GB" sz="2000" dirty="0"/>
          </a:p>
          <a:p>
            <a:pPr marL="0" indent="0" algn="r">
              <a:buNone/>
            </a:pPr>
            <a:r>
              <a:rPr lang="en-GB" dirty="0"/>
              <a:t>Wanted</a:t>
            </a:r>
          </a:p>
          <a:p>
            <a:pPr marL="0" indent="0" algn="r">
              <a:buNone/>
            </a:pPr>
            <a:r>
              <a:rPr lang="en-GB" dirty="0"/>
              <a:t>Mutually respectful </a:t>
            </a:r>
          </a:p>
          <a:p>
            <a:pPr marL="0" indent="0" algn="r">
              <a:buNone/>
            </a:pPr>
            <a:r>
              <a:rPr lang="en-GB" dirty="0"/>
              <a:t>Enthusiastic consent</a:t>
            </a:r>
          </a:p>
        </p:txBody>
      </p:sp>
      <p:graphicFrame>
        <p:nvGraphicFramePr>
          <p:cNvPr id="5" name="Table 4">
            <a:extLst>
              <a:ext uri="{FF2B5EF4-FFF2-40B4-BE49-F238E27FC236}">
                <a16:creationId xmlns:a16="http://schemas.microsoft.com/office/drawing/2014/main" id="{1B2E1500-145C-244B-9A2C-FF840FEE4DB5}"/>
              </a:ext>
            </a:extLst>
          </p:cNvPr>
          <p:cNvGraphicFramePr>
            <a:graphicFrameLocks noGrp="1"/>
          </p:cNvGraphicFramePr>
          <p:nvPr>
            <p:extLst>
              <p:ext uri="{D42A27DB-BD31-4B8C-83A1-F6EECF244321}">
                <p14:modId xmlns:p14="http://schemas.microsoft.com/office/powerpoint/2010/main" val="2268314481"/>
              </p:ext>
            </p:extLst>
          </p:nvPr>
        </p:nvGraphicFramePr>
        <p:xfrm>
          <a:off x="611560" y="2348880"/>
          <a:ext cx="7776863" cy="1772285"/>
        </p:xfrm>
        <a:graphic>
          <a:graphicData uri="http://schemas.openxmlformats.org/drawingml/2006/table">
            <a:tbl>
              <a:tblPr firstRow="1" firstCol="1" bandRow="1">
                <a:tableStyleId>{5C22544A-7EE6-4342-B048-85BDC9FD1C3A}</a:tableStyleId>
              </a:tblPr>
              <a:tblGrid>
                <a:gridCol w="240735">
                  <a:extLst>
                    <a:ext uri="{9D8B030D-6E8A-4147-A177-3AD203B41FA5}">
                      <a16:colId xmlns:a16="http://schemas.microsoft.com/office/drawing/2014/main" val="309525586"/>
                    </a:ext>
                  </a:extLst>
                </a:gridCol>
                <a:gridCol w="1954354">
                  <a:extLst>
                    <a:ext uri="{9D8B030D-6E8A-4147-A177-3AD203B41FA5}">
                      <a16:colId xmlns:a16="http://schemas.microsoft.com/office/drawing/2014/main" val="3159501651"/>
                    </a:ext>
                  </a:extLst>
                </a:gridCol>
                <a:gridCol w="2446178">
                  <a:extLst>
                    <a:ext uri="{9D8B030D-6E8A-4147-A177-3AD203B41FA5}">
                      <a16:colId xmlns:a16="http://schemas.microsoft.com/office/drawing/2014/main" val="25269116"/>
                    </a:ext>
                  </a:extLst>
                </a:gridCol>
                <a:gridCol w="3135596">
                  <a:extLst>
                    <a:ext uri="{9D8B030D-6E8A-4147-A177-3AD203B41FA5}">
                      <a16:colId xmlns:a16="http://schemas.microsoft.com/office/drawing/2014/main" val="2249302029"/>
                    </a:ext>
                  </a:extLst>
                </a:gridCol>
              </a:tblGrid>
              <a:tr h="0">
                <a:tc>
                  <a:txBody>
                    <a:bodyPr/>
                    <a:lstStyle/>
                    <a:p>
                      <a:pPr algn="ctr">
                        <a:lnSpc>
                          <a:spcPct val="150000"/>
                        </a:lnSpc>
                      </a:pPr>
                      <a:r>
                        <a:rPr lang="en-GB" sz="2000" dirty="0">
                          <a:effectLst/>
                          <a:latin typeface="Arial" panose="020B0604020202020204" pitchFamily="34" charset="0"/>
                          <a:cs typeface="Arial" panose="020B0604020202020204" pitchFamily="34" charset="0"/>
                        </a:rPr>
                        <a:t> </a:t>
                      </a:r>
                    </a:p>
                    <a:p>
                      <a:pPr algn="ctr">
                        <a:lnSpc>
                          <a:spcPct val="150000"/>
                        </a:lnSpc>
                      </a:pPr>
                      <a:r>
                        <a:rPr lang="en-GB" sz="2000" dirty="0">
                          <a:effectLst/>
                          <a:latin typeface="Arial" panose="020B0604020202020204" pitchFamily="34" charset="0"/>
                          <a:cs typeface="Arial" panose="020B0604020202020204" pitchFamily="34" charset="0"/>
                        </a:rPr>
                        <a:t> </a:t>
                      </a:r>
                    </a:p>
                    <a:p>
                      <a:pPr algn="ctr">
                        <a:lnSpc>
                          <a:spcPct val="150000"/>
                        </a:lnSpc>
                      </a:pPr>
                      <a:r>
                        <a:rPr lang="en-GB" sz="2000" dirty="0">
                          <a:effectLst/>
                          <a:latin typeface="Arial" panose="020B0604020202020204" pitchFamily="34" charset="0"/>
                          <a:cs typeface="Arial" panose="020B0604020202020204" pitchFamily="34" charset="0"/>
                        </a:rPr>
                        <a:t> </a:t>
                      </a:r>
                    </a:p>
                    <a:p>
                      <a:pPr algn="ctr">
                        <a:lnSpc>
                          <a:spcPct val="150000"/>
                        </a:lnSpc>
                      </a:pPr>
                      <a:r>
                        <a:rPr lang="en-GB" sz="2000" dirty="0">
                          <a:effectLst/>
                          <a:latin typeface="Arial" panose="020B0604020202020204" pitchFamily="34" charset="0"/>
                          <a:cs typeface="Arial" panose="020B0604020202020204" pitchFamily="34" charset="0"/>
                        </a:rPr>
                        <a:t> </a:t>
                      </a:r>
                      <a:endParaRPr lang="en-GB"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rgbClr val="002060"/>
                    </a:solidFill>
                  </a:tcPr>
                </a:tc>
                <a:tc>
                  <a:txBody>
                    <a:bodyPr/>
                    <a:lstStyle/>
                    <a:p>
                      <a:pPr algn="ctr">
                        <a:lnSpc>
                          <a:spcPct val="150000"/>
                        </a:lnSpc>
                      </a:pPr>
                      <a:r>
                        <a:rPr lang="en-GB" sz="2000" dirty="0">
                          <a:effectLst/>
                          <a:latin typeface="Arial" panose="020B0604020202020204" pitchFamily="34" charset="0"/>
                          <a:cs typeface="Arial" panose="020B0604020202020204" pitchFamily="34" charset="0"/>
                        </a:rPr>
                        <a:t>Illegal but no conviction</a:t>
                      </a:r>
                      <a:endParaRPr lang="en-GB"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rgbClr val="0070C0"/>
                    </a:solidFill>
                  </a:tcPr>
                </a:tc>
                <a:tc>
                  <a:txBody>
                    <a:bodyPr/>
                    <a:lstStyle/>
                    <a:p>
                      <a:pPr algn="ctr">
                        <a:lnSpc>
                          <a:spcPct val="150000"/>
                        </a:lnSpc>
                      </a:pPr>
                      <a:r>
                        <a:rPr lang="en-GB" sz="2000" dirty="0">
                          <a:effectLst/>
                          <a:latin typeface="Arial" panose="020B0604020202020204" pitchFamily="34" charset="0"/>
                          <a:cs typeface="Arial" panose="020B0604020202020204" pitchFamily="34" charset="0"/>
                        </a:rPr>
                        <a:t>Not illegal but ‘bad’</a:t>
                      </a:r>
                      <a:endParaRPr lang="en-GB"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rgbClr val="00B0F0"/>
                    </a:solidFill>
                  </a:tcPr>
                </a:tc>
                <a:tc>
                  <a:txBody>
                    <a:bodyPr/>
                    <a:lstStyle/>
                    <a:p>
                      <a:pPr algn="ctr">
                        <a:lnSpc>
                          <a:spcPct val="150000"/>
                        </a:lnSpc>
                      </a:pPr>
                      <a:r>
                        <a:rPr lang="en-GB" sz="2000" dirty="0">
                          <a:effectLst/>
                          <a:latin typeface="Arial" panose="020B0604020202020204" pitchFamily="34" charset="0"/>
                          <a:cs typeface="Arial" panose="020B0604020202020204" pitchFamily="34" charset="0"/>
                        </a:rPr>
                        <a:t>‘Good’ sex</a:t>
                      </a:r>
                      <a:endParaRPr lang="en-GB"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rgbClr val="3DD7E3"/>
                    </a:solidFill>
                  </a:tcPr>
                </a:tc>
                <a:extLst>
                  <a:ext uri="{0D108BD9-81ED-4DB2-BD59-A6C34878D82A}">
                    <a16:rowId xmlns:a16="http://schemas.microsoft.com/office/drawing/2014/main" val="1436738164"/>
                  </a:ext>
                </a:extLst>
              </a:tr>
            </a:tbl>
          </a:graphicData>
        </a:graphic>
      </p:graphicFrame>
      <p:sp>
        <p:nvSpPr>
          <p:cNvPr id="6" name="Rectangle 5">
            <a:extLst>
              <a:ext uri="{FF2B5EF4-FFF2-40B4-BE49-F238E27FC236}">
                <a16:creationId xmlns:a16="http://schemas.microsoft.com/office/drawing/2014/main" id="{15C43752-11D0-7B4C-B5FF-0F751D300F17}"/>
              </a:ext>
            </a:extLst>
          </p:cNvPr>
          <p:cNvSpPr/>
          <p:nvPr/>
        </p:nvSpPr>
        <p:spPr>
          <a:xfrm>
            <a:off x="179512" y="1761234"/>
            <a:ext cx="3379451" cy="400110"/>
          </a:xfrm>
          <a:prstGeom prst="rect">
            <a:avLst/>
          </a:prstGeom>
        </p:spPr>
        <p:txBody>
          <a:bodyPr wrap="none">
            <a:spAutoFit/>
          </a:bodyPr>
          <a:lstStyle/>
          <a:p>
            <a:pPr lvl="0" eaLnBrk="1" hangingPunct="1">
              <a:spcBef>
                <a:spcPct val="20000"/>
              </a:spcBef>
            </a:pPr>
            <a:r>
              <a:rPr lang="en-GB" sz="2000" kern="0" dirty="0">
                <a:solidFill>
                  <a:srgbClr val="000000"/>
                </a:solidFill>
                <a:latin typeface="Arial" panose="020B0604020202020204" pitchFamily="34" charset="0"/>
                <a:cs typeface="Arial" panose="020B0604020202020204" pitchFamily="34" charset="0"/>
              </a:rPr>
              <a:t>Illegal resulting in conviction</a:t>
            </a:r>
          </a:p>
        </p:txBody>
      </p:sp>
      <p:cxnSp>
        <p:nvCxnSpPr>
          <p:cNvPr id="8" name="Straight Arrow Connector 7">
            <a:extLst>
              <a:ext uri="{FF2B5EF4-FFF2-40B4-BE49-F238E27FC236}">
                <a16:creationId xmlns:a16="http://schemas.microsoft.com/office/drawing/2014/main" id="{A15E7DE0-462C-8848-9321-F70975BD774E}"/>
              </a:ext>
            </a:extLst>
          </p:cNvPr>
          <p:cNvCxnSpPr>
            <a:cxnSpLocks/>
          </p:cNvCxnSpPr>
          <p:nvPr/>
        </p:nvCxnSpPr>
        <p:spPr bwMode="auto">
          <a:xfrm flipH="1">
            <a:off x="755576" y="2139225"/>
            <a:ext cx="144016" cy="16541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884522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EA803-1B73-FA41-9A1D-A1AB09CC26AD}"/>
              </a:ext>
            </a:extLst>
          </p:cNvPr>
          <p:cNvSpPr>
            <a:spLocks noGrp="1"/>
          </p:cNvSpPr>
          <p:nvPr>
            <p:ph type="title"/>
          </p:nvPr>
        </p:nvSpPr>
        <p:spPr/>
        <p:txBody>
          <a:bodyPr/>
          <a:lstStyle/>
          <a:p>
            <a:r>
              <a:rPr lang="en-GB" dirty="0"/>
              <a:t>Language</a:t>
            </a:r>
          </a:p>
        </p:txBody>
      </p:sp>
      <p:sp>
        <p:nvSpPr>
          <p:cNvPr id="3" name="Content Placeholder 2">
            <a:extLst>
              <a:ext uri="{FF2B5EF4-FFF2-40B4-BE49-F238E27FC236}">
                <a16:creationId xmlns:a16="http://schemas.microsoft.com/office/drawing/2014/main" id="{CB2F53D2-07A2-8F4E-96B0-7F878F90B486}"/>
              </a:ext>
            </a:extLst>
          </p:cNvPr>
          <p:cNvSpPr>
            <a:spLocks noGrp="1"/>
          </p:cNvSpPr>
          <p:nvPr>
            <p:ph idx="1"/>
          </p:nvPr>
        </p:nvSpPr>
        <p:spPr/>
        <p:txBody>
          <a:bodyPr/>
          <a:lstStyle/>
          <a:p>
            <a:endParaRPr lang="en-GB" dirty="0"/>
          </a:p>
          <a:p>
            <a:r>
              <a:rPr lang="en-GB" dirty="0"/>
              <a:t>Person A – D | defendant</a:t>
            </a:r>
          </a:p>
          <a:p>
            <a:r>
              <a:rPr lang="en-GB" dirty="0"/>
              <a:t>Person B – V | victim | </a:t>
            </a:r>
            <a:r>
              <a:rPr lang="en-GB" b="1" dirty="0"/>
              <a:t>complainant</a:t>
            </a:r>
            <a:r>
              <a:rPr lang="en-GB" dirty="0"/>
              <a:t> </a:t>
            </a:r>
          </a:p>
          <a:p>
            <a:pPr marL="0" indent="0">
              <a:buNone/>
            </a:pPr>
            <a:endParaRPr lang="en-GB" dirty="0"/>
          </a:p>
          <a:p>
            <a:r>
              <a:rPr lang="en-GB" dirty="0"/>
              <a:t>Victim/survivor</a:t>
            </a:r>
          </a:p>
          <a:p>
            <a:r>
              <a:rPr lang="en-GB" dirty="0"/>
              <a:t>Perpetrator</a:t>
            </a:r>
          </a:p>
          <a:p>
            <a:endParaRPr lang="en-GB" dirty="0"/>
          </a:p>
          <a:p>
            <a:r>
              <a:rPr lang="en-GB" dirty="0"/>
              <a:t>Pronouns </a:t>
            </a:r>
          </a:p>
        </p:txBody>
      </p:sp>
    </p:spTree>
    <p:extLst>
      <p:ext uri="{BB962C8B-B14F-4D97-AF65-F5344CB8AC3E}">
        <p14:creationId xmlns:p14="http://schemas.microsoft.com/office/powerpoint/2010/main" val="2717360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DC50D5-F5FA-0E4B-9CBD-666FCAAB37F8}"/>
              </a:ext>
            </a:extLst>
          </p:cNvPr>
          <p:cNvSpPr>
            <a:spLocks noGrp="1"/>
          </p:cNvSpPr>
          <p:nvPr>
            <p:ph type="title"/>
          </p:nvPr>
        </p:nvSpPr>
        <p:spPr>
          <a:xfrm>
            <a:off x="685800" y="663292"/>
            <a:ext cx="7772400" cy="3024336"/>
          </a:xfrm>
        </p:spPr>
        <p:txBody>
          <a:bodyPr/>
          <a:lstStyle/>
          <a:p>
            <a:r>
              <a:rPr lang="en-GB" dirty="0"/>
              <a:t>Structure of lectures</a:t>
            </a:r>
          </a:p>
        </p:txBody>
      </p:sp>
      <p:sp>
        <p:nvSpPr>
          <p:cNvPr id="3" name="Text Placeholder 2">
            <a:extLst>
              <a:ext uri="{FF2B5EF4-FFF2-40B4-BE49-F238E27FC236}">
                <a16:creationId xmlns:a16="http://schemas.microsoft.com/office/drawing/2014/main" id="{5CD585B3-1215-F138-3677-FFD0C9C0F198}"/>
              </a:ext>
            </a:extLst>
          </p:cNvPr>
          <p:cNvSpPr>
            <a:spLocks noGrp="1"/>
          </p:cNvSpPr>
          <p:nvPr>
            <p:ph type="body" idx="1"/>
          </p:nvPr>
        </p:nvSpPr>
        <p:spPr>
          <a:xfrm>
            <a:off x="715346" y="3573016"/>
            <a:ext cx="7772400" cy="1500187"/>
          </a:xfrm>
        </p:spPr>
        <p:txBody>
          <a:bodyPr/>
          <a:lstStyle/>
          <a:p>
            <a:pPr marL="457200" indent="-457200">
              <a:buFontTx/>
              <a:buChar char="-"/>
            </a:pPr>
            <a:r>
              <a:rPr lang="en-US" dirty="0"/>
              <a:t>Statistics</a:t>
            </a:r>
          </a:p>
          <a:p>
            <a:pPr marL="457200" indent="-457200">
              <a:buFontTx/>
              <a:buChar char="-"/>
            </a:pPr>
            <a:r>
              <a:rPr lang="en-US" dirty="0"/>
              <a:t>Consent</a:t>
            </a:r>
          </a:p>
          <a:p>
            <a:pPr marL="1371600" lvl="2" indent="-457200">
              <a:buFontTx/>
              <a:buChar char="-"/>
            </a:pPr>
            <a:r>
              <a:rPr lang="en-US" dirty="0"/>
              <a:t>s 76 irrebuttable presumptions</a:t>
            </a:r>
          </a:p>
          <a:p>
            <a:pPr marL="1371600" lvl="2" indent="-457200">
              <a:buFontTx/>
              <a:buChar char="-"/>
            </a:pPr>
            <a:r>
              <a:rPr lang="en-US" dirty="0"/>
              <a:t>s 75 rebuttable presumptions</a:t>
            </a:r>
          </a:p>
          <a:p>
            <a:pPr marL="1371600" lvl="2" indent="-457200">
              <a:buFontTx/>
              <a:buChar char="-"/>
            </a:pPr>
            <a:r>
              <a:rPr lang="en-US" dirty="0"/>
              <a:t>s 74 consent</a:t>
            </a:r>
          </a:p>
          <a:p>
            <a:pPr marL="1828800" lvl="3" indent="-457200">
              <a:buFontTx/>
              <a:buChar char="-"/>
            </a:pPr>
            <a:r>
              <a:rPr lang="en-US" dirty="0"/>
              <a:t>Freedom, Choice, Capacity</a:t>
            </a:r>
          </a:p>
          <a:p>
            <a:pPr marL="457200" indent="-457200">
              <a:buFontTx/>
              <a:buChar char="-"/>
            </a:pPr>
            <a:endParaRPr lang="en-US" dirty="0"/>
          </a:p>
          <a:p>
            <a:pPr marL="457200" indent="-457200">
              <a:buFontTx/>
              <a:buChar char="-"/>
            </a:pPr>
            <a:r>
              <a:rPr lang="en-US" dirty="0"/>
              <a:t>Next lecture: ss 1-4 SOA</a:t>
            </a:r>
          </a:p>
        </p:txBody>
      </p:sp>
    </p:spTree>
    <p:extLst>
      <p:ext uri="{BB962C8B-B14F-4D97-AF65-F5344CB8AC3E}">
        <p14:creationId xmlns:p14="http://schemas.microsoft.com/office/powerpoint/2010/main" val="2751043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238C5-03C3-F94D-BBB6-F951FEE40EAA}"/>
              </a:ext>
            </a:extLst>
          </p:cNvPr>
          <p:cNvSpPr>
            <a:spLocks noGrp="1"/>
          </p:cNvSpPr>
          <p:nvPr>
            <p:ph type="title"/>
          </p:nvPr>
        </p:nvSpPr>
        <p:spPr/>
        <p:txBody>
          <a:bodyPr/>
          <a:lstStyle/>
          <a:p>
            <a:r>
              <a:rPr lang="en-GB" dirty="0"/>
              <a:t>Sexual violence in context</a:t>
            </a:r>
          </a:p>
        </p:txBody>
      </p:sp>
      <p:sp>
        <p:nvSpPr>
          <p:cNvPr id="3" name="Text Placeholder 2">
            <a:extLst>
              <a:ext uri="{FF2B5EF4-FFF2-40B4-BE49-F238E27FC236}">
                <a16:creationId xmlns:a16="http://schemas.microsoft.com/office/drawing/2014/main" id="{9983A81F-FD9B-464F-BC0B-B6260D164389}"/>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02634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617AC-3D06-8244-A03D-73C06B72F6C6}"/>
              </a:ext>
            </a:extLst>
          </p:cNvPr>
          <p:cNvSpPr>
            <a:spLocks noGrp="1"/>
          </p:cNvSpPr>
          <p:nvPr>
            <p:ph type="title"/>
          </p:nvPr>
        </p:nvSpPr>
        <p:spPr/>
        <p:txBody>
          <a:bodyPr/>
          <a:lstStyle/>
          <a:p>
            <a:r>
              <a:rPr lang="en-GB" dirty="0"/>
              <a:t>What we know</a:t>
            </a:r>
          </a:p>
        </p:txBody>
      </p:sp>
      <p:sp>
        <p:nvSpPr>
          <p:cNvPr id="3" name="Content Placeholder 2">
            <a:extLst>
              <a:ext uri="{FF2B5EF4-FFF2-40B4-BE49-F238E27FC236}">
                <a16:creationId xmlns:a16="http://schemas.microsoft.com/office/drawing/2014/main" id="{D8ADFF97-2622-2C41-A6E9-FAFBFBBCAF9A}"/>
              </a:ext>
            </a:extLst>
          </p:cNvPr>
          <p:cNvSpPr>
            <a:spLocks noGrp="1"/>
          </p:cNvSpPr>
          <p:nvPr>
            <p:ph idx="1"/>
          </p:nvPr>
        </p:nvSpPr>
        <p:spPr/>
        <p:txBody>
          <a:bodyPr>
            <a:normAutofit fontScale="92500"/>
          </a:bodyPr>
          <a:lstStyle/>
          <a:p>
            <a:r>
              <a:rPr lang="en-GB" sz="2200" dirty="0"/>
              <a:t>1 in 4 women have been raped or sexually assaulted as an adult (6.54 million women in total).</a:t>
            </a:r>
          </a:p>
          <a:p>
            <a:r>
              <a:rPr lang="en-GB" sz="2200" dirty="0"/>
              <a:t>1 in 18 men have been raped or sexually assaulted as an adult (1.34 million men in total).</a:t>
            </a:r>
          </a:p>
          <a:p>
            <a:r>
              <a:rPr lang="en-GB" sz="2200" dirty="0"/>
              <a:t>1 in 6 children have been sexually abused.</a:t>
            </a:r>
          </a:p>
          <a:p>
            <a:r>
              <a:rPr lang="en-GB" sz="2200" dirty="0"/>
              <a:t>1 in 2 adult survivors of rape have experienced it more than once.</a:t>
            </a:r>
          </a:p>
          <a:p>
            <a:pPr marL="0" indent="0">
              <a:buNone/>
            </a:pPr>
            <a:endParaRPr lang="en-GB" sz="2200" dirty="0"/>
          </a:p>
          <a:p>
            <a:pPr marL="0" indent="0">
              <a:buNone/>
            </a:pPr>
            <a:r>
              <a:rPr lang="en-GB" sz="2200" u="sng" dirty="0"/>
              <a:t>Nature of sexual offences</a:t>
            </a:r>
          </a:p>
          <a:p>
            <a:r>
              <a:rPr lang="en-GB" sz="2200" dirty="0"/>
              <a:t>1 in 2 rapes against women are carried out by their partner or ex-partner.</a:t>
            </a:r>
          </a:p>
          <a:p>
            <a:r>
              <a:rPr lang="en-GB" sz="2200" dirty="0"/>
              <a:t>91% of people prosecuted for sexual offences are men aged 18+.</a:t>
            </a:r>
          </a:p>
          <a:p>
            <a:r>
              <a:rPr lang="en-GB" sz="2200" dirty="0"/>
              <a:t>6 in 7 rapes against women are carried out by someone they know.</a:t>
            </a:r>
          </a:p>
          <a:p>
            <a:endParaRPr lang="en-GB" sz="2200" dirty="0"/>
          </a:p>
          <a:p>
            <a:endParaRPr lang="en-GB" sz="2200" dirty="0"/>
          </a:p>
        </p:txBody>
      </p:sp>
    </p:spTree>
    <p:extLst>
      <p:ext uri="{BB962C8B-B14F-4D97-AF65-F5344CB8AC3E}">
        <p14:creationId xmlns:p14="http://schemas.microsoft.com/office/powerpoint/2010/main" val="2348345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C0979-4E44-3F2E-A5C7-A2FBC5283F2B}"/>
              </a:ext>
            </a:extLst>
          </p:cNvPr>
          <p:cNvSpPr>
            <a:spLocks noGrp="1"/>
          </p:cNvSpPr>
          <p:nvPr>
            <p:ph type="title"/>
          </p:nvPr>
        </p:nvSpPr>
        <p:spPr/>
        <p:txBody>
          <a:bodyPr/>
          <a:lstStyle/>
          <a:p>
            <a:r>
              <a:rPr lang="en-US" dirty="0"/>
              <a:t>Sexual offences and the CJS</a:t>
            </a:r>
          </a:p>
        </p:txBody>
      </p:sp>
      <p:sp>
        <p:nvSpPr>
          <p:cNvPr id="3" name="Content Placeholder 2">
            <a:extLst>
              <a:ext uri="{FF2B5EF4-FFF2-40B4-BE49-F238E27FC236}">
                <a16:creationId xmlns:a16="http://schemas.microsoft.com/office/drawing/2014/main" id="{D41B8AB2-BC8F-B00C-D582-2677D373134B}"/>
              </a:ext>
            </a:extLst>
          </p:cNvPr>
          <p:cNvSpPr>
            <a:spLocks noGrp="1"/>
          </p:cNvSpPr>
          <p:nvPr>
            <p:ph idx="1"/>
          </p:nvPr>
        </p:nvSpPr>
        <p:spPr>
          <a:xfrm>
            <a:off x="684212" y="1587501"/>
            <a:ext cx="8131175" cy="4721819"/>
          </a:xfrm>
        </p:spPr>
        <p:txBody>
          <a:bodyPr>
            <a:normAutofit fontScale="92500" lnSpcReduction="20000"/>
          </a:bodyPr>
          <a:lstStyle/>
          <a:p>
            <a:r>
              <a:rPr lang="en-US" dirty="0"/>
              <a:t>68,109 rapes were recorded by police between July 2022 and June 2023.</a:t>
            </a:r>
          </a:p>
          <a:p>
            <a:r>
              <a:rPr lang="en-US" dirty="0"/>
              <a:t>By the end of that 12-month period, charges had been brought in just 2.2% (1,498) of cases.</a:t>
            </a:r>
          </a:p>
          <a:p>
            <a:pPr lvl="1"/>
            <a:r>
              <a:rPr lang="en-US" dirty="0"/>
              <a:t>Consequently, only 2 in every 100 rapes reported to the police resulted in someone being charged.</a:t>
            </a:r>
          </a:p>
          <a:p>
            <a:r>
              <a:rPr lang="en-US" dirty="0"/>
              <a:t>5 in 6 women and 4 in 5 men who are raped don’t report their attack to the police</a:t>
            </a:r>
          </a:p>
          <a:p>
            <a:pPr lvl="1"/>
            <a:r>
              <a:rPr lang="en-US" dirty="0"/>
              <a:t>40% said ‘embarrassment’</a:t>
            </a:r>
          </a:p>
          <a:p>
            <a:pPr lvl="1"/>
            <a:r>
              <a:rPr lang="en-US" dirty="0"/>
              <a:t>38% said they didn’t think the police could help</a:t>
            </a:r>
          </a:p>
          <a:p>
            <a:pPr lvl="1"/>
            <a:r>
              <a:rPr lang="en-US" dirty="0"/>
              <a:t>34% said they thought it would be humiliating</a:t>
            </a:r>
          </a:p>
          <a:p>
            <a:r>
              <a:rPr lang="en-US" dirty="0"/>
              <a:t>Only 1% of all rapes reported to the police end in a conviction.</a:t>
            </a:r>
          </a:p>
          <a:p>
            <a:endParaRPr lang="en-US" dirty="0"/>
          </a:p>
        </p:txBody>
      </p:sp>
    </p:spTree>
    <p:extLst>
      <p:ext uri="{BB962C8B-B14F-4D97-AF65-F5344CB8AC3E}">
        <p14:creationId xmlns:p14="http://schemas.microsoft.com/office/powerpoint/2010/main" val="2887979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person's face&#10;&#10;Description automatically generated">
            <a:extLst>
              <a:ext uri="{FF2B5EF4-FFF2-40B4-BE49-F238E27FC236}">
                <a16:creationId xmlns:a16="http://schemas.microsoft.com/office/drawing/2014/main" id="{1FAF4816-1FD8-AAE6-C04F-A6B19112FA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720" y="146757"/>
            <a:ext cx="6603330" cy="6564486"/>
          </a:xfrm>
          <a:prstGeom prst="rect">
            <a:avLst/>
          </a:prstGeom>
        </p:spPr>
      </p:pic>
    </p:spTree>
    <p:extLst>
      <p:ext uri="{BB962C8B-B14F-4D97-AF65-F5344CB8AC3E}">
        <p14:creationId xmlns:p14="http://schemas.microsoft.com/office/powerpoint/2010/main" val="1481545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EFF610-8583-0A4A-A120-9DC31397D34F}"/>
              </a:ext>
            </a:extLst>
          </p:cNvPr>
          <p:cNvPicPr>
            <a:picLocks noChangeAspect="1"/>
          </p:cNvPicPr>
          <p:nvPr/>
        </p:nvPicPr>
        <p:blipFill rotWithShape="1">
          <a:blip r:embed="rId2">
            <a:extLst>
              <a:ext uri="{28A0092B-C50C-407E-A947-70E740481C1C}">
                <a14:useLocalDpi xmlns:a14="http://schemas.microsoft.com/office/drawing/2010/main" val="0"/>
              </a:ext>
            </a:extLst>
          </a:blip>
          <a:srcRect l="30313" t="9568" r="30313" b="17655"/>
          <a:stretch/>
        </p:blipFill>
        <p:spPr>
          <a:xfrm>
            <a:off x="2087724" y="188640"/>
            <a:ext cx="4968552" cy="6260377"/>
          </a:xfrm>
          <a:prstGeom prst="rect">
            <a:avLst/>
          </a:prstGeom>
        </p:spPr>
      </p:pic>
    </p:spTree>
    <p:extLst>
      <p:ext uri="{BB962C8B-B14F-4D97-AF65-F5344CB8AC3E}">
        <p14:creationId xmlns:p14="http://schemas.microsoft.com/office/powerpoint/2010/main" val="1338649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42036-5DA3-C742-B6BA-3E4A0042849B}"/>
              </a:ext>
            </a:extLst>
          </p:cNvPr>
          <p:cNvSpPr>
            <a:spLocks noGrp="1"/>
          </p:cNvSpPr>
          <p:nvPr>
            <p:ph type="title"/>
          </p:nvPr>
        </p:nvSpPr>
        <p:spPr/>
        <p:txBody>
          <a:bodyPr/>
          <a:lstStyle/>
          <a:p>
            <a:r>
              <a:rPr lang="en-GB" dirty="0"/>
              <a:t>Rape myths in the courtroom</a:t>
            </a:r>
          </a:p>
        </p:txBody>
      </p:sp>
      <p:sp>
        <p:nvSpPr>
          <p:cNvPr id="3" name="Content Placeholder 2">
            <a:extLst>
              <a:ext uri="{FF2B5EF4-FFF2-40B4-BE49-F238E27FC236}">
                <a16:creationId xmlns:a16="http://schemas.microsoft.com/office/drawing/2014/main" id="{C8D95E14-C113-034F-93D5-95B5D20CD55F}"/>
              </a:ext>
            </a:extLst>
          </p:cNvPr>
          <p:cNvSpPr>
            <a:spLocks noGrp="1"/>
          </p:cNvSpPr>
          <p:nvPr>
            <p:ph idx="1"/>
          </p:nvPr>
        </p:nvSpPr>
        <p:spPr/>
        <p:txBody>
          <a:bodyPr>
            <a:normAutofit fontScale="85000" lnSpcReduction="20000"/>
          </a:bodyPr>
          <a:lstStyle/>
          <a:p>
            <a:r>
              <a:rPr lang="en-GB" dirty="0"/>
              <a:t>Temkin and </a:t>
            </a:r>
            <a:r>
              <a:rPr lang="en-GB" dirty="0" err="1"/>
              <a:t>Krahe</a:t>
            </a:r>
            <a:r>
              <a:rPr lang="en-GB" dirty="0"/>
              <a:t> (2008) empirical research into public and professional attitudes towards sexual assault:</a:t>
            </a:r>
          </a:p>
          <a:p>
            <a:pPr lvl="1"/>
            <a:r>
              <a:rPr lang="en-GB" dirty="0"/>
              <a:t>less blame tended to be attributed to the defendant and more blame to the complainant the closer the relationship between the two;</a:t>
            </a:r>
          </a:p>
          <a:p>
            <a:pPr lvl="1"/>
            <a:r>
              <a:rPr lang="en-GB" dirty="0"/>
              <a:t>men attributed less blame to the D and more to the complainant;</a:t>
            </a:r>
          </a:p>
          <a:p>
            <a:pPr lvl="1"/>
            <a:r>
              <a:rPr lang="en-GB" dirty="0"/>
              <a:t>information about relationship between the two influenced men and women’s blaming;</a:t>
            </a:r>
          </a:p>
          <a:p>
            <a:pPr lvl="1"/>
            <a:r>
              <a:rPr lang="en-GB" dirty="0"/>
              <a:t>one reason men had a greater tendency to blame the victim was that they had a greater belief in female precipitation—i.e. that women bring on a rape by their dress or behaviour;</a:t>
            </a:r>
          </a:p>
          <a:p>
            <a:pPr lvl="1"/>
            <a:r>
              <a:rPr lang="en-GB" dirty="0"/>
              <a:t>“female precipitation beliefs” can override other elements of evidence, e.g. in these scenarios, the use of force, active resistance and expressions of non-consent.</a:t>
            </a:r>
          </a:p>
          <a:p>
            <a:endParaRPr lang="en-GB" dirty="0"/>
          </a:p>
        </p:txBody>
      </p:sp>
    </p:spTree>
    <p:extLst>
      <p:ext uri="{BB962C8B-B14F-4D97-AF65-F5344CB8AC3E}">
        <p14:creationId xmlns:p14="http://schemas.microsoft.com/office/powerpoint/2010/main" val="2076828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458580-A819-B3C7-3838-45ECEB050B18}"/>
              </a:ext>
            </a:extLst>
          </p:cNvPr>
          <p:cNvSpPr>
            <a:spLocks noGrp="1"/>
          </p:cNvSpPr>
          <p:nvPr>
            <p:ph type="title"/>
          </p:nvPr>
        </p:nvSpPr>
        <p:spPr/>
        <p:txBody>
          <a:bodyPr/>
          <a:lstStyle/>
          <a:p>
            <a:r>
              <a:rPr lang="en-US" dirty="0"/>
              <a:t>Consent and sexual offences Act 2003 ss1-4</a:t>
            </a:r>
          </a:p>
        </p:txBody>
      </p:sp>
      <p:sp>
        <p:nvSpPr>
          <p:cNvPr id="5" name="Text Placeholder 4">
            <a:extLst>
              <a:ext uri="{FF2B5EF4-FFF2-40B4-BE49-F238E27FC236}">
                <a16:creationId xmlns:a16="http://schemas.microsoft.com/office/drawing/2014/main" id="{24DBC220-73C7-040B-2651-062E68D52BF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94589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5B36F-C795-654B-A94F-96D99008D9FC}"/>
              </a:ext>
            </a:extLst>
          </p:cNvPr>
          <p:cNvSpPr>
            <a:spLocks noGrp="1"/>
          </p:cNvSpPr>
          <p:nvPr>
            <p:ph type="title"/>
          </p:nvPr>
        </p:nvSpPr>
        <p:spPr/>
        <p:txBody>
          <a:bodyPr/>
          <a:lstStyle/>
          <a:p>
            <a:r>
              <a:rPr lang="en-GB" dirty="0"/>
              <a:t>Consent</a:t>
            </a:r>
          </a:p>
        </p:txBody>
      </p:sp>
      <p:sp>
        <p:nvSpPr>
          <p:cNvPr id="3" name="Content Placeholder 2">
            <a:extLst>
              <a:ext uri="{FF2B5EF4-FFF2-40B4-BE49-F238E27FC236}">
                <a16:creationId xmlns:a16="http://schemas.microsoft.com/office/drawing/2014/main" id="{C13FAE24-8859-0846-8189-32C9241FE1C5}"/>
              </a:ext>
            </a:extLst>
          </p:cNvPr>
          <p:cNvSpPr>
            <a:spLocks noGrp="1"/>
          </p:cNvSpPr>
          <p:nvPr>
            <p:ph idx="1"/>
          </p:nvPr>
        </p:nvSpPr>
        <p:spPr/>
        <p:txBody>
          <a:bodyPr>
            <a:normAutofit fontScale="92500" lnSpcReduction="10000"/>
          </a:bodyPr>
          <a:lstStyle/>
          <a:p>
            <a:r>
              <a:rPr lang="en-GB" dirty="0"/>
              <a:t>At the core of most serious sexual offences under the Sexual Offences Act 2003 (hereafter SOA). </a:t>
            </a:r>
          </a:p>
          <a:p>
            <a:pPr lvl="1"/>
            <a:r>
              <a:rPr lang="en-GB" dirty="0"/>
              <a:t>Break from the past.</a:t>
            </a:r>
          </a:p>
          <a:p>
            <a:pPr lvl="1"/>
            <a:r>
              <a:rPr lang="en-GB" dirty="0"/>
              <a:t>Consent not restricted to use of force or threats, nor if against her will. </a:t>
            </a:r>
          </a:p>
          <a:p>
            <a:r>
              <a:rPr lang="en-GB" b="1" dirty="0"/>
              <a:t>But</a:t>
            </a:r>
            <a:r>
              <a:rPr lang="en-GB" dirty="0"/>
              <a:t>, the law has struggled to define consent in positive terms. </a:t>
            </a:r>
          </a:p>
          <a:p>
            <a:pPr lvl="1"/>
            <a:r>
              <a:rPr lang="en-GB" dirty="0"/>
              <a:t>The jury are left with a significant level of discretion. </a:t>
            </a:r>
          </a:p>
          <a:p>
            <a:pPr lvl="1"/>
            <a:r>
              <a:rPr lang="en-GB" dirty="0"/>
              <a:t>Points of law, not a full definition.</a:t>
            </a:r>
          </a:p>
          <a:p>
            <a:r>
              <a:rPr lang="en-GB" dirty="0"/>
              <a:t>In SOA absence of consent is part of </a:t>
            </a:r>
            <a:r>
              <a:rPr lang="en-GB" b="1" dirty="0"/>
              <a:t>actus reus</a:t>
            </a:r>
            <a:r>
              <a:rPr lang="en-GB" dirty="0"/>
              <a:t>, not </a:t>
            </a:r>
            <a:r>
              <a:rPr lang="en-GB" dirty="0" err="1"/>
              <a:t>mens</a:t>
            </a:r>
            <a:r>
              <a:rPr lang="en-GB" dirty="0"/>
              <a:t> rea!</a:t>
            </a:r>
          </a:p>
          <a:p>
            <a:endParaRPr lang="en-GB" dirty="0"/>
          </a:p>
        </p:txBody>
      </p:sp>
    </p:spTree>
    <p:extLst>
      <p:ext uri="{BB962C8B-B14F-4D97-AF65-F5344CB8AC3E}">
        <p14:creationId xmlns:p14="http://schemas.microsoft.com/office/powerpoint/2010/main" val="2531701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3A5E58A-D69A-D63D-AFF8-9E38C28B76B7}"/>
              </a:ext>
            </a:extLst>
          </p:cNvPr>
          <p:cNvSpPr>
            <a:spLocks noGrp="1"/>
          </p:cNvSpPr>
          <p:nvPr>
            <p:ph type="title"/>
          </p:nvPr>
        </p:nvSpPr>
        <p:spPr/>
        <p:txBody>
          <a:bodyPr/>
          <a:lstStyle/>
          <a:p>
            <a:r>
              <a:rPr lang="en-US" dirty="0"/>
              <a:t>Elements of rape</a:t>
            </a:r>
          </a:p>
        </p:txBody>
      </p:sp>
      <p:sp>
        <p:nvSpPr>
          <p:cNvPr id="7" name="Content Placeholder 6">
            <a:extLst>
              <a:ext uri="{FF2B5EF4-FFF2-40B4-BE49-F238E27FC236}">
                <a16:creationId xmlns:a16="http://schemas.microsoft.com/office/drawing/2014/main" id="{2032508E-7B58-79C5-20DD-24D66FBEF57A}"/>
              </a:ext>
            </a:extLst>
          </p:cNvPr>
          <p:cNvSpPr>
            <a:spLocks noGrp="1"/>
          </p:cNvSpPr>
          <p:nvPr>
            <p:ph sz="half" idx="1"/>
          </p:nvPr>
        </p:nvSpPr>
        <p:spPr/>
        <p:txBody>
          <a:bodyPr/>
          <a:lstStyle/>
          <a:p>
            <a:pPr marL="0" indent="0" algn="ctr">
              <a:buNone/>
            </a:pPr>
            <a:r>
              <a:rPr lang="en-US" b="1" u="sng" dirty="0"/>
              <a:t>AR</a:t>
            </a:r>
          </a:p>
          <a:p>
            <a:r>
              <a:rPr lang="en-US" dirty="0"/>
              <a:t>Penetration with a penis</a:t>
            </a:r>
          </a:p>
          <a:p>
            <a:r>
              <a:rPr lang="en-US" dirty="0"/>
              <a:t>Of the vagina, anus or mouth</a:t>
            </a:r>
          </a:p>
          <a:p>
            <a:r>
              <a:rPr lang="en-US" dirty="0"/>
              <a:t>Without consent</a:t>
            </a:r>
          </a:p>
        </p:txBody>
      </p:sp>
      <p:sp>
        <p:nvSpPr>
          <p:cNvPr id="8" name="Content Placeholder 7">
            <a:extLst>
              <a:ext uri="{FF2B5EF4-FFF2-40B4-BE49-F238E27FC236}">
                <a16:creationId xmlns:a16="http://schemas.microsoft.com/office/drawing/2014/main" id="{19EDB535-6791-3B53-2A65-CDD2641A63C0}"/>
              </a:ext>
            </a:extLst>
          </p:cNvPr>
          <p:cNvSpPr>
            <a:spLocks noGrp="1"/>
          </p:cNvSpPr>
          <p:nvPr>
            <p:ph sz="half" idx="2"/>
          </p:nvPr>
        </p:nvSpPr>
        <p:spPr/>
        <p:txBody>
          <a:bodyPr/>
          <a:lstStyle/>
          <a:p>
            <a:pPr marL="0" indent="0" algn="ctr">
              <a:buNone/>
            </a:pPr>
            <a:r>
              <a:rPr lang="en-US" b="1" u="sng" dirty="0"/>
              <a:t>MR</a:t>
            </a:r>
          </a:p>
          <a:p>
            <a:r>
              <a:rPr lang="en-US" dirty="0"/>
              <a:t>Penetration is intentional</a:t>
            </a:r>
          </a:p>
          <a:p>
            <a:r>
              <a:rPr lang="en-US" dirty="0"/>
              <a:t>A does not reasonably believe that B consented</a:t>
            </a:r>
          </a:p>
        </p:txBody>
      </p:sp>
    </p:spTree>
    <p:extLst>
      <p:ext uri="{BB962C8B-B14F-4D97-AF65-F5344CB8AC3E}">
        <p14:creationId xmlns:p14="http://schemas.microsoft.com/office/powerpoint/2010/main" val="1333753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7">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3532E-57A8-BA42-A63E-284318D14310}"/>
              </a:ext>
            </a:extLst>
          </p:cNvPr>
          <p:cNvSpPr>
            <a:spLocks noGrp="1"/>
          </p:cNvSpPr>
          <p:nvPr>
            <p:ph type="title"/>
          </p:nvPr>
        </p:nvSpPr>
        <p:spPr/>
        <p:txBody>
          <a:bodyPr/>
          <a:lstStyle/>
          <a:p>
            <a:r>
              <a:rPr lang="en-GB" dirty="0"/>
              <a:t>Determining consent</a:t>
            </a:r>
          </a:p>
        </p:txBody>
      </p:sp>
      <p:sp>
        <p:nvSpPr>
          <p:cNvPr id="3" name="Content Placeholder 2">
            <a:extLst>
              <a:ext uri="{FF2B5EF4-FFF2-40B4-BE49-F238E27FC236}">
                <a16:creationId xmlns:a16="http://schemas.microsoft.com/office/drawing/2014/main" id="{E09671E7-C2E5-7D4E-A51E-F99FDCD42653}"/>
              </a:ext>
            </a:extLst>
          </p:cNvPr>
          <p:cNvSpPr>
            <a:spLocks noGrp="1"/>
          </p:cNvSpPr>
          <p:nvPr>
            <p:ph idx="1"/>
          </p:nvPr>
        </p:nvSpPr>
        <p:spPr/>
        <p:txBody>
          <a:bodyPr>
            <a:normAutofit fontScale="92500" lnSpcReduction="10000"/>
          </a:bodyPr>
          <a:lstStyle/>
          <a:p>
            <a:r>
              <a:rPr lang="en-GB" dirty="0"/>
              <a:t>Three routes to determining consent under SOA:</a:t>
            </a:r>
          </a:p>
          <a:p>
            <a:pPr lvl="1"/>
            <a:r>
              <a:rPr lang="en-GB" dirty="0"/>
              <a:t>general definition of consent (s74);</a:t>
            </a:r>
          </a:p>
          <a:p>
            <a:pPr lvl="1"/>
            <a:r>
              <a:rPr lang="en-GB" dirty="0"/>
              <a:t>evidential/rebuttable presumptions re no consent (or reasonable belief) (s75);</a:t>
            </a:r>
          </a:p>
          <a:p>
            <a:pPr lvl="1"/>
            <a:r>
              <a:rPr lang="en-GB" dirty="0"/>
              <a:t>conclusive presumptions re no consent (or reasonable belief) (s76).</a:t>
            </a:r>
          </a:p>
          <a:p>
            <a:endParaRPr lang="en-GB" dirty="0"/>
          </a:p>
          <a:p>
            <a:r>
              <a:rPr lang="en-GB" dirty="0"/>
              <a:t>Legal consent often falls short of popular definition.</a:t>
            </a:r>
          </a:p>
          <a:p>
            <a:pPr lvl="1"/>
            <a:r>
              <a:rPr lang="en-GB" dirty="0"/>
              <a:t>Remember you are striving for enthusiastic consent and wanting!</a:t>
            </a:r>
          </a:p>
          <a:p>
            <a:r>
              <a:rPr lang="en-GB" dirty="0"/>
              <a:t>Self-possession? Akin to slavery? (</a:t>
            </a:r>
            <a:r>
              <a:rPr lang="en-GB" dirty="0" err="1"/>
              <a:t>Rubenfeld</a:t>
            </a:r>
            <a:r>
              <a:rPr lang="en-GB" dirty="0"/>
              <a:t>, 2013)</a:t>
            </a:r>
          </a:p>
        </p:txBody>
      </p:sp>
    </p:spTree>
    <p:extLst>
      <p:ext uri="{BB962C8B-B14F-4D97-AF65-F5344CB8AC3E}">
        <p14:creationId xmlns:p14="http://schemas.microsoft.com/office/powerpoint/2010/main" val="1083624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F62BD9-0D71-D646-8170-F20774639FF8}"/>
              </a:ext>
            </a:extLst>
          </p:cNvPr>
          <p:cNvSpPr>
            <a:spLocks noGrp="1"/>
          </p:cNvSpPr>
          <p:nvPr>
            <p:ph type="title"/>
          </p:nvPr>
        </p:nvSpPr>
        <p:spPr/>
        <p:txBody>
          <a:bodyPr/>
          <a:lstStyle/>
          <a:p>
            <a:r>
              <a:rPr lang="en-GB" dirty="0"/>
              <a:t>Section 76</a:t>
            </a:r>
          </a:p>
        </p:txBody>
      </p:sp>
      <p:sp>
        <p:nvSpPr>
          <p:cNvPr id="5" name="Text Placeholder 4">
            <a:extLst>
              <a:ext uri="{FF2B5EF4-FFF2-40B4-BE49-F238E27FC236}">
                <a16:creationId xmlns:a16="http://schemas.microsoft.com/office/drawing/2014/main" id="{46757ED4-680C-C745-AEE7-4296810D7F0E}"/>
              </a:ext>
            </a:extLst>
          </p:cNvPr>
          <p:cNvSpPr>
            <a:spLocks noGrp="1"/>
          </p:cNvSpPr>
          <p:nvPr>
            <p:ph type="body" idx="1"/>
          </p:nvPr>
        </p:nvSpPr>
        <p:spPr>
          <a:xfrm>
            <a:off x="722313" y="4509120"/>
            <a:ext cx="7772400" cy="1500187"/>
          </a:xfrm>
        </p:spPr>
        <p:txBody>
          <a:bodyPr/>
          <a:lstStyle/>
          <a:p>
            <a:pPr algn="r"/>
            <a:r>
              <a:rPr lang="en-GB" dirty="0"/>
              <a:t>Conclusive presumptions rebutting consent and belief in consent</a:t>
            </a:r>
          </a:p>
        </p:txBody>
      </p:sp>
    </p:spTree>
    <p:extLst>
      <p:ext uri="{BB962C8B-B14F-4D97-AF65-F5344CB8AC3E}">
        <p14:creationId xmlns:p14="http://schemas.microsoft.com/office/powerpoint/2010/main" val="1828915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79AE1F-7DFF-5644-9EBE-5070F7900641}"/>
              </a:ext>
            </a:extLst>
          </p:cNvPr>
          <p:cNvSpPr>
            <a:spLocks noGrp="1"/>
          </p:cNvSpPr>
          <p:nvPr>
            <p:ph type="title"/>
          </p:nvPr>
        </p:nvSpPr>
        <p:spPr/>
        <p:txBody>
          <a:bodyPr/>
          <a:lstStyle/>
          <a:p>
            <a:r>
              <a:rPr lang="en-GB" dirty="0"/>
              <a:t>Conclusive presumption</a:t>
            </a:r>
          </a:p>
        </p:txBody>
      </p:sp>
      <p:sp>
        <p:nvSpPr>
          <p:cNvPr id="5" name="Content Placeholder 4">
            <a:extLst>
              <a:ext uri="{FF2B5EF4-FFF2-40B4-BE49-F238E27FC236}">
                <a16:creationId xmlns:a16="http://schemas.microsoft.com/office/drawing/2014/main" id="{591C3E38-78F3-2E40-B862-4E539D7360FC}"/>
              </a:ext>
            </a:extLst>
          </p:cNvPr>
          <p:cNvSpPr>
            <a:spLocks noGrp="1"/>
          </p:cNvSpPr>
          <p:nvPr>
            <p:ph idx="1"/>
          </p:nvPr>
        </p:nvSpPr>
        <p:spPr/>
        <p:txBody>
          <a:bodyPr/>
          <a:lstStyle/>
          <a:p>
            <a:r>
              <a:rPr lang="en-GB" dirty="0"/>
              <a:t>Prosecution need to prove 2 elements:</a:t>
            </a:r>
          </a:p>
          <a:p>
            <a:pPr lvl="1"/>
            <a:r>
              <a:rPr lang="en-GB" dirty="0"/>
              <a:t>the relevant act (ss1-4 of SOA);</a:t>
            </a:r>
          </a:p>
          <a:p>
            <a:pPr lvl="1"/>
            <a:r>
              <a:rPr lang="en-GB" dirty="0"/>
              <a:t>any one of the circumstances in s76(2)</a:t>
            </a:r>
          </a:p>
          <a:p>
            <a:r>
              <a:rPr lang="en-GB" dirty="0"/>
              <a:t>then it is </a:t>
            </a:r>
            <a:r>
              <a:rPr lang="en-GB" i="1" dirty="0"/>
              <a:t>conclusively proven</a:t>
            </a:r>
            <a:r>
              <a:rPr lang="en-GB" dirty="0"/>
              <a:t>:</a:t>
            </a:r>
          </a:p>
          <a:p>
            <a:pPr marL="914400" lvl="1" indent="-457200">
              <a:buFont typeface="+mj-lt"/>
              <a:buAutoNum type="alphaLcParenR"/>
            </a:pPr>
            <a:r>
              <a:rPr lang="en-GB" dirty="0"/>
              <a:t>that the complainant did not consent to the relevant act, and</a:t>
            </a:r>
          </a:p>
          <a:p>
            <a:pPr marL="914400" lvl="1" indent="-457200">
              <a:buFont typeface="+mj-lt"/>
              <a:buAutoNum type="alphaLcParenR"/>
            </a:pPr>
            <a:r>
              <a:rPr lang="en-GB" dirty="0"/>
              <a:t>that the defendant did not believe that the complainant consented to the relevant act.</a:t>
            </a:r>
          </a:p>
          <a:p>
            <a:r>
              <a:rPr lang="en-GB" dirty="0"/>
              <a:t>This is about deceit. </a:t>
            </a:r>
          </a:p>
          <a:p>
            <a:r>
              <a:rPr lang="en-GB" dirty="0"/>
              <a:t>It is not a matter of evidence.</a:t>
            </a:r>
          </a:p>
        </p:txBody>
      </p:sp>
    </p:spTree>
    <p:extLst>
      <p:ext uri="{BB962C8B-B14F-4D97-AF65-F5344CB8AC3E}">
        <p14:creationId xmlns:p14="http://schemas.microsoft.com/office/powerpoint/2010/main" val="796016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029B-D283-D949-B014-4CEACC42DE2C}"/>
              </a:ext>
            </a:extLst>
          </p:cNvPr>
          <p:cNvSpPr>
            <a:spLocks noGrp="1"/>
          </p:cNvSpPr>
          <p:nvPr>
            <p:ph type="title"/>
          </p:nvPr>
        </p:nvSpPr>
        <p:spPr/>
        <p:txBody>
          <a:bodyPr/>
          <a:lstStyle/>
          <a:p>
            <a:r>
              <a:rPr lang="en-GB" dirty="0"/>
              <a:t>Section 76(2)(a)</a:t>
            </a:r>
          </a:p>
        </p:txBody>
      </p:sp>
      <p:sp>
        <p:nvSpPr>
          <p:cNvPr id="3" name="Content Placeholder 2">
            <a:extLst>
              <a:ext uri="{FF2B5EF4-FFF2-40B4-BE49-F238E27FC236}">
                <a16:creationId xmlns:a16="http://schemas.microsoft.com/office/drawing/2014/main" id="{94892CB4-FFE2-1D4B-ACE0-60F5577DE4E2}"/>
              </a:ext>
            </a:extLst>
          </p:cNvPr>
          <p:cNvSpPr>
            <a:spLocks noGrp="1"/>
          </p:cNvSpPr>
          <p:nvPr>
            <p:ph idx="1"/>
          </p:nvPr>
        </p:nvSpPr>
        <p:spPr/>
        <p:txBody>
          <a:bodyPr>
            <a:normAutofit/>
          </a:bodyPr>
          <a:lstStyle/>
          <a:p>
            <a:pPr marL="0" indent="0">
              <a:buNone/>
            </a:pPr>
            <a:r>
              <a:rPr lang="en-GB" dirty="0"/>
              <a:t>The defendant intentionally deceived the complainant as to the </a:t>
            </a:r>
            <a:r>
              <a:rPr lang="en-GB" b="1" dirty="0"/>
              <a:t>nature or purpose </a:t>
            </a:r>
            <a:r>
              <a:rPr lang="en-GB" dirty="0"/>
              <a:t>of the relevant act.</a:t>
            </a:r>
          </a:p>
          <a:p>
            <a:r>
              <a:rPr lang="en-GB" i="1" dirty="0"/>
              <a:t>Intentional</a:t>
            </a:r>
            <a:r>
              <a:rPr lang="en-GB" dirty="0"/>
              <a:t> deception required, not in cases where:</a:t>
            </a:r>
          </a:p>
          <a:p>
            <a:pPr lvl="1"/>
            <a:r>
              <a:rPr lang="en-GB" dirty="0"/>
              <a:t>A has not intended to deceive B.</a:t>
            </a:r>
          </a:p>
          <a:p>
            <a:pPr lvl="1"/>
            <a:r>
              <a:rPr lang="en-GB" dirty="0"/>
              <a:t>Where B has unilaterally formed a false understanding as to the nature or purpose of A.</a:t>
            </a:r>
          </a:p>
          <a:p>
            <a:pPr lvl="2"/>
            <a:r>
              <a:rPr lang="en-GB" dirty="0"/>
              <a:t>Even if A is aware of B’s mistake.</a:t>
            </a:r>
          </a:p>
          <a:p>
            <a:endParaRPr lang="en-GB" dirty="0"/>
          </a:p>
        </p:txBody>
      </p:sp>
    </p:spTree>
    <p:extLst>
      <p:ext uri="{BB962C8B-B14F-4D97-AF65-F5344CB8AC3E}">
        <p14:creationId xmlns:p14="http://schemas.microsoft.com/office/powerpoint/2010/main" val="2213746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26F7F-EE8A-DB40-B7CC-F1F142BF09D2}"/>
              </a:ext>
            </a:extLst>
          </p:cNvPr>
          <p:cNvSpPr>
            <a:spLocks noGrp="1"/>
          </p:cNvSpPr>
          <p:nvPr>
            <p:ph type="title"/>
          </p:nvPr>
        </p:nvSpPr>
        <p:spPr/>
        <p:txBody>
          <a:bodyPr/>
          <a:lstStyle/>
          <a:p>
            <a:r>
              <a:rPr lang="en-GB" dirty="0"/>
              <a:t>Limited reach</a:t>
            </a:r>
          </a:p>
        </p:txBody>
      </p:sp>
      <p:sp>
        <p:nvSpPr>
          <p:cNvPr id="3" name="Content Placeholder 2">
            <a:extLst>
              <a:ext uri="{FF2B5EF4-FFF2-40B4-BE49-F238E27FC236}">
                <a16:creationId xmlns:a16="http://schemas.microsoft.com/office/drawing/2014/main" id="{E2A09C04-CC92-2348-BC23-1EEB9D5A287D}"/>
              </a:ext>
            </a:extLst>
          </p:cNvPr>
          <p:cNvSpPr>
            <a:spLocks noGrp="1"/>
          </p:cNvSpPr>
          <p:nvPr>
            <p:ph idx="1"/>
          </p:nvPr>
        </p:nvSpPr>
        <p:spPr/>
        <p:txBody>
          <a:bodyPr>
            <a:normAutofit fontScale="85000" lnSpcReduction="20000"/>
          </a:bodyPr>
          <a:lstStyle/>
          <a:p>
            <a:r>
              <a:rPr lang="en-GB" dirty="0"/>
              <a:t>Cases under pre-SOA laws relate to B not understanding the mechanics of sex:</a:t>
            </a:r>
          </a:p>
          <a:p>
            <a:pPr lvl="1"/>
            <a:r>
              <a:rPr lang="en-GB" i="1" dirty="0"/>
              <a:t>Flattery </a:t>
            </a:r>
            <a:r>
              <a:rPr lang="en-GB" dirty="0"/>
              <a:t>(1877) 2 QBD 410: believed it was surgery, not intercourse.</a:t>
            </a:r>
          </a:p>
          <a:p>
            <a:pPr lvl="1"/>
            <a:r>
              <a:rPr lang="en-GB" i="1" dirty="0"/>
              <a:t>Williams</a:t>
            </a:r>
            <a:r>
              <a:rPr lang="en-GB" dirty="0"/>
              <a:t> [1923] 1 KB 340: believed the act was to open an air passage to improve her singing, not that he was having sex with her. </a:t>
            </a:r>
          </a:p>
          <a:p>
            <a:r>
              <a:rPr lang="en-GB" dirty="0"/>
              <a:t>Under SOA, where B has been defrauded as to the purpose of the act that A performs, s76 creates a conclusive presumption that B is not consenting.</a:t>
            </a:r>
          </a:p>
          <a:p>
            <a:r>
              <a:rPr lang="en-GB" i="1" dirty="0" err="1"/>
              <a:t>Jheeta</a:t>
            </a:r>
            <a:r>
              <a:rPr lang="en-GB" i="1" dirty="0"/>
              <a:t> </a:t>
            </a:r>
            <a:r>
              <a:rPr lang="en-GB" dirty="0"/>
              <a:t>[2007] EWCA Crim 1699:</a:t>
            </a:r>
          </a:p>
          <a:p>
            <a:pPr lvl="1"/>
            <a:r>
              <a:rPr lang="en-GB" dirty="0"/>
              <a:t>A told B she must have intercourse with him to avoid being fined by the police and to avoid him committing suicide.</a:t>
            </a:r>
          </a:p>
          <a:p>
            <a:pPr lvl="1"/>
            <a:r>
              <a:rPr lang="en-GB" dirty="0"/>
              <a:t>B was not considered to have been deceived as to the nature of the mechanics of intercourse, nor the purpose.</a:t>
            </a:r>
          </a:p>
          <a:p>
            <a:endParaRPr lang="en-GB" dirty="0"/>
          </a:p>
        </p:txBody>
      </p:sp>
    </p:spTree>
    <p:extLst>
      <p:ext uri="{BB962C8B-B14F-4D97-AF65-F5344CB8AC3E}">
        <p14:creationId xmlns:p14="http://schemas.microsoft.com/office/powerpoint/2010/main" val="4095165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47FFE-9C3C-E049-BECB-AFCA0A5C88DF}"/>
              </a:ext>
            </a:extLst>
          </p:cNvPr>
          <p:cNvSpPr>
            <a:spLocks noGrp="1"/>
          </p:cNvSpPr>
          <p:nvPr>
            <p:ph type="title"/>
          </p:nvPr>
        </p:nvSpPr>
        <p:spPr/>
        <p:txBody>
          <a:bodyPr/>
          <a:lstStyle/>
          <a:p>
            <a:r>
              <a:rPr lang="en-GB" dirty="0"/>
              <a:t>Section </a:t>
            </a:r>
            <a:r>
              <a:rPr lang="en-GB"/>
              <a:t>76(2)(b)</a:t>
            </a:r>
            <a:endParaRPr lang="en-GB" dirty="0"/>
          </a:p>
        </p:txBody>
      </p:sp>
      <p:sp>
        <p:nvSpPr>
          <p:cNvPr id="3" name="Content Placeholder 2">
            <a:extLst>
              <a:ext uri="{FF2B5EF4-FFF2-40B4-BE49-F238E27FC236}">
                <a16:creationId xmlns:a16="http://schemas.microsoft.com/office/drawing/2014/main" id="{1D57D225-E2BA-F14B-A295-4AEDBE3E7959}"/>
              </a:ext>
            </a:extLst>
          </p:cNvPr>
          <p:cNvSpPr>
            <a:spLocks noGrp="1"/>
          </p:cNvSpPr>
          <p:nvPr>
            <p:ph idx="1"/>
          </p:nvPr>
        </p:nvSpPr>
        <p:spPr/>
        <p:txBody>
          <a:bodyPr>
            <a:normAutofit fontScale="92500" lnSpcReduction="20000"/>
          </a:bodyPr>
          <a:lstStyle/>
          <a:p>
            <a:pPr marL="0" indent="0">
              <a:buNone/>
            </a:pPr>
            <a:r>
              <a:rPr lang="en-GB" dirty="0"/>
              <a:t>The defendant intentionally induced the complainant to consent to the relevant act by </a:t>
            </a:r>
            <a:r>
              <a:rPr lang="en-GB" b="1" dirty="0"/>
              <a:t>impersonating a person known personally</a:t>
            </a:r>
            <a:r>
              <a:rPr lang="en-GB" dirty="0"/>
              <a:t> to the complainant.</a:t>
            </a:r>
          </a:p>
          <a:p>
            <a:r>
              <a:rPr lang="en-GB" dirty="0"/>
              <a:t>Not simply A lying about identity, must be that by an impersonation B was induced to consent. </a:t>
            </a:r>
          </a:p>
          <a:p>
            <a:pPr lvl="1"/>
            <a:r>
              <a:rPr lang="en-GB" dirty="0"/>
              <a:t>Prosecution must prove casual link.</a:t>
            </a:r>
          </a:p>
          <a:p>
            <a:pPr lvl="1"/>
            <a:r>
              <a:rPr lang="en-GB" dirty="0"/>
              <a:t>See </a:t>
            </a:r>
            <a:r>
              <a:rPr lang="en-GB" i="1" dirty="0" err="1"/>
              <a:t>Elbekkay</a:t>
            </a:r>
            <a:r>
              <a:rPr lang="en-GB" dirty="0"/>
              <a:t> [1995] Crim LR 163.</a:t>
            </a:r>
          </a:p>
          <a:p>
            <a:r>
              <a:rPr lang="en-GB" dirty="0"/>
              <a:t>Must be an impersonation of a person known personally to B.</a:t>
            </a:r>
          </a:p>
          <a:p>
            <a:r>
              <a:rPr lang="en-GB" dirty="0"/>
              <a:t>Deception of A’s attributes not covered, i.e. if A deceives B into believing his is a medical professional,</a:t>
            </a:r>
          </a:p>
          <a:p>
            <a:pPr lvl="1"/>
            <a:r>
              <a:rPr lang="en-GB" dirty="0"/>
              <a:t>see </a:t>
            </a:r>
            <a:r>
              <a:rPr lang="en-GB" i="1" dirty="0"/>
              <a:t>Richardson</a:t>
            </a:r>
            <a:r>
              <a:rPr lang="en-GB" dirty="0"/>
              <a:t> [1998] 2 Cr App R 200, a NFOAP case.</a:t>
            </a:r>
          </a:p>
        </p:txBody>
      </p:sp>
    </p:spTree>
    <p:extLst>
      <p:ext uri="{BB962C8B-B14F-4D97-AF65-F5344CB8AC3E}">
        <p14:creationId xmlns:p14="http://schemas.microsoft.com/office/powerpoint/2010/main" val="14420678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58D68-2E00-BF47-AE4B-073CC519983D}"/>
              </a:ext>
            </a:extLst>
          </p:cNvPr>
          <p:cNvSpPr>
            <a:spLocks noGrp="1"/>
          </p:cNvSpPr>
          <p:nvPr>
            <p:ph type="title"/>
          </p:nvPr>
        </p:nvSpPr>
        <p:spPr/>
        <p:txBody>
          <a:bodyPr/>
          <a:lstStyle/>
          <a:p>
            <a:r>
              <a:rPr lang="en-GB" dirty="0"/>
              <a:t>Distinction between s74 and s76</a:t>
            </a:r>
          </a:p>
        </p:txBody>
      </p:sp>
      <p:sp>
        <p:nvSpPr>
          <p:cNvPr id="3" name="Content Placeholder 2">
            <a:extLst>
              <a:ext uri="{FF2B5EF4-FFF2-40B4-BE49-F238E27FC236}">
                <a16:creationId xmlns:a16="http://schemas.microsoft.com/office/drawing/2014/main" id="{668C6026-6583-3143-A22A-08B35B60317F}"/>
              </a:ext>
            </a:extLst>
          </p:cNvPr>
          <p:cNvSpPr>
            <a:spLocks noGrp="1"/>
          </p:cNvSpPr>
          <p:nvPr>
            <p:ph idx="1"/>
          </p:nvPr>
        </p:nvSpPr>
        <p:spPr/>
        <p:txBody>
          <a:bodyPr>
            <a:normAutofit/>
          </a:bodyPr>
          <a:lstStyle/>
          <a:p>
            <a:r>
              <a:rPr lang="en-GB" i="1" dirty="0"/>
              <a:t>Assange v Swedish Prosecution Authority</a:t>
            </a:r>
            <a:r>
              <a:rPr lang="en-GB" dirty="0"/>
              <a:t> [2011] EWHC 2849 (Admin) settled the matter as to whether deception could fall within s74 as well as s76, or if s76 was considered to be exhaustive.</a:t>
            </a:r>
          </a:p>
          <a:p>
            <a:r>
              <a:rPr lang="en-GB" dirty="0"/>
              <a:t>In recent cases we have seen a reluctance by the courts to rely on section 76 in cases of deception, likely due to the nature of the conclusive presumption that mandates guilt.</a:t>
            </a:r>
          </a:p>
        </p:txBody>
      </p:sp>
    </p:spTree>
    <p:extLst>
      <p:ext uri="{BB962C8B-B14F-4D97-AF65-F5344CB8AC3E}">
        <p14:creationId xmlns:p14="http://schemas.microsoft.com/office/powerpoint/2010/main" val="3713776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F62BD9-0D71-D646-8170-F20774639FF8}"/>
              </a:ext>
            </a:extLst>
          </p:cNvPr>
          <p:cNvSpPr>
            <a:spLocks noGrp="1"/>
          </p:cNvSpPr>
          <p:nvPr>
            <p:ph type="title"/>
          </p:nvPr>
        </p:nvSpPr>
        <p:spPr/>
        <p:txBody>
          <a:bodyPr/>
          <a:lstStyle/>
          <a:p>
            <a:r>
              <a:rPr lang="en-GB" dirty="0"/>
              <a:t>Section 75</a:t>
            </a:r>
          </a:p>
        </p:txBody>
      </p:sp>
      <p:sp>
        <p:nvSpPr>
          <p:cNvPr id="5" name="Text Placeholder 4">
            <a:extLst>
              <a:ext uri="{FF2B5EF4-FFF2-40B4-BE49-F238E27FC236}">
                <a16:creationId xmlns:a16="http://schemas.microsoft.com/office/drawing/2014/main" id="{46757ED4-680C-C745-AEE7-4296810D7F0E}"/>
              </a:ext>
            </a:extLst>
          </p:cNvPr>
          <p:cNvSpPr>
            <a:spLocks noGrp="1"/>
          </p:cNvSpPr>
          <p:nvPr>
            <p:ph type="body" idx="1"/>
          </p:nvPr>
        </p:nvSpPr>
        <p:spPr>
          <a:xfrm>
            <a:off x="722313" y="4077072"/>
            <a:ext cx="7772400" cy="1500187"/>
          </a:xfrm>
        </p:spPr>
        <p:txBody>
          <a:bodyPr/>
          <a:lstStyle/>
          <a:p>
            <a:pPr algn="r"/>
            <a:r>
              <a:rPr lang="en-GB" dirty="0"/>
              <a:t>Evidential/rebuttable presumption of consent</a:t>
            </a:r>
          </a:p>
        </p:txBody>
      </p:sp>
    </p:spTree>
    <p:extLst>
      <p:ext uri="{BB962C8B-B14F-4D97-AF65-F5344CB8AC3E}">
        <p14:creationId xmlns:p14="http://schemas.microsoft.com/office/powerpoint/2010/main" val="24893912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83EA6-453D-6A4C-B315-44608C66413F}"/>
              </a:ext>
            </a:extLst>
          </p:cNvPr>
          <p:cNvSpPr>
            <a:spLocks noGrp="1"/>
          </p:cNvSpPr>
          <p:nvPr>
            <p:ph type="title"/>
          </p:nvPr>
        </p:nvSpPr>
        <p:spPr>
          <a:xfrm>
            <a:off x="685800" y="620688"/>
            <a:ext cx="7772400" cy="746126"/>
          </a:xfrm>
        </p:spPr>
        <p:txBody>
          <a:bodyPr/>
          <a:lstStyle/>
          <a:p>
            <a:r>
              <a:rPr lang="en-GB" dirty="0"/>
              <a:t>Section 75(1)</a:t>
            </a:r>
          </a:p>
        </p:txBody>
      </p:sp>
      <p:sp>
        <p:nvSpPr>
          <p:cNvPr id="3" name="Content Placeholder 2">
            <a:extLst>
              <a:ext uri="{FF2B5EF4-FFF2-40B4-BE49-F238E27FC236}">
                <a16:creationId xmlns:a16="http://schemas.microsoft.com/office/drawing/2014/main" id="{826BCD3F-6FCD-C145-B707-451420DC3F83}"/>
              </a:ext>
            </a:extLst>
          </p:cNvPr>
          <p:cNvSpPr>
            <a:spLocks noGrp="1"/>
          </p:cNvSpPr>
          <p:nvPr>
            <p:ph idx="1"/>
          </p:nvPr>
        </p:nvSpPr>
        <p:spPr/>
        <p:txBody>
          <a:bodyPr>
            <a:normAutofit/>
          </a:bodyPr>
          <a:lstStyle/>
          <a:p>
            <a:r>
              <a:rPr lang="en-GB" dirty="0"/>
              <a:t>Prosecution need to prove 3 elements:</a:t>
            </a:r>
          </a:p>
          <a:p>
            <a:pPr lvl="1"/>
            <a:r>
              <a:rPr lang="en-GB" dirty="0"/>
              <a:t>the relevant act (ss1-4 of SOA);</a:t>
            </a:r>
          </a:p>
          <a:p>
            <a:pPr lvl="1"/>
            <a:r>
              <a:rPr lang="en-GB" dirty="0"/>
              <a:t>circumstances giving rise to the presumption (outlined in s75(2));</a:t>
            </a:r>
          </a:p>
          <a:p>
            <a:pPr lvl="1"/>
            <a:r>
              <a:rPr lang="en-GB" dirty="0"/>
              <a:t>A’s knowledge of the circumstances. </a:t>
            </a:r>
          </a:p>
          <a:p>
            <a:r>
              <a:rPr lang="en-GB" dirty="0"/>
              <a:t>then A is obliged to raise sufficient evidence to rebut the issue. </a:t>
            </a:r>
          </a:p>
        </p:txBody>
      </p:sp>
    </p:spTree>
    <p:extLst>
      <p:ext uri="{BB962C8B-B14F-4D97-AF65-F5344CB8AC3E}">
        <p14:creationId xmlns:p14="http://schemas.microsoft.com/office/powerpoint/2010/main" val="2313223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5D917-F3B3-294A-88ED-17DE126A9C64}"/>
              </a:ext>
            </a:extLst>
          </p:cNvPr>
          <p:cNvSpPr>
            <a:spLocks noGrp="1"/>
          </p:cNvSpPr>
          <p:nvPr>
            <p:ph type="title"/>
          </p:nvPr>
        </p:nvSpPr>
        <p:spPr/>
        <p:txBody>
          <a:bodyPr/>
          <a:lstStyle/>
          <a:p>
            <a:r>
              <a:rPr lang="en-GB" dirty="0"/>
              <a:t>Circumstances</a:t>
            </a:r>
          </a:p>
        </p:txBody>
      </p:sp>
      <p:sp>
        <p:nvSpPr>
          <p:cNvPr id="3" name="Content Placeholder 2">
            <a:extLst>
              <a:ext uri="{FF2B5EF4-FFF2-40B4-BE49-F238E27FC236}">
                <a16:creationId xmlns:a16="http://schemas.microsoft.com/office/drawing/2014/main" id="{6A46629A-39AC-454B-A3A6-EA49E69D3013}"/>
              </a:ext>
            </a:extLst>
          </p:cNvPr>
          <p:cNvSpPr>
            <a:spLocks noGrp="1"/>
          </p:cNvSpPr>
          <p:nvPr>
            <p:ph idx="1"/>
          </p:nvPr>
        </p:nvSpPr>
        <p:spPr/>
        <p:txBody>
          <a:bodyPr>
            <a:normAutofit fontScale="77500" lnSpcReduction="20000"/>
          </a:bodyPr>
          <a:lstStyle/>
          <a:p>
            <a:pPr marL="514350" indent="-514350">
              <a:buFont typeface="+mj-lt"/>
              <a:buAutoNum type="alphaLcParenR"/>
              <a:defRPr/>
            </a:pPr>
            <a:r>
              <a:rPr lang="en-GB" dirty="0"/>
              <a:t>any person was </a:t>
            </a:r>
            <a:r>
              <a:rPr lang="en-GB" b="1" dirty="0"/>
              <a:t>using violence against the complainant or causing the complainant to fear that immediate violence would be used against him</a:t>
            </a:r>
            <a:r>
              <a:rPr lang="en-GB" dirty="0"/>
              <a:t>;</a:t>
            </a:r>
          </a:p>
          <a:p>
            <a:pPr marL="514350" indent="-514350">
              <a:buFont typeface="+mj-lt"/>
              <a:buAutoNum type="alphaLcParenR"/>
              <a:defRPr/>
            </a:pPr>
            <a:r>
              <a:rPr lang="en-GB" dirty="0"/>
              <a:t>any person was causing the complainant to fear that </a:t>
            </a:r>
            <a:r>
              <a:rPr lang="en-GB" b="1" dirty="0"/>
              <a:t>violence was being used</a:t>
            </a:r>
            <a:r>
              <a:rPr lang="en-GB" dirty="0"/>
              <a:t>, or that immediate violence would be used, </a:t>
            </a:r>
            <a:r>
              <a:rPr lang="en-GB" b="1" dirty="0"/>
              <a:t>against another person</a:t>
            </a:r>
            <a:r>
              <a:rPr lang="en-GB" dirty="0"/>
              <a:t>;</a:t>
            </a:r>
          </a:p>
          <a:p>
            <a:pPr marL="514350" indent="-514350">
              <a:buFont typeface="+mj-lt"/>
              <a:buAutoNum type="alphaLcParenR"/>
              <a:defRPr/>
            </a:pPr>
            <a:r>
              <a:rPr lang="en-GB" dirty="0"/>
              <a:t>the complainant was, and the defendant was not, </a:t>
            </a:r>
            <a:r>
              <a:rPr lang="en-GB" b="1" dirty="0"/>
              <a:t>unlawfully detained</a:t>
            </a:r>
            <a:r>
              <a:rPr lang="en-GB" dirty="0"/>
              <a:t>;</a:t>
            </a:r>
          </a:p>
          <a:p>
            <a:pPr marL="514350" indent="-514350">
              <a:buFont typeface="+mj-lt"/>
              <a:buAutoNum type="alphaLcParenR"/>
              <a:defRPr/>
            </a:pPr>
            <a:r>
              <a:rPr lang="en-GB" dirty="0"/>
              <a:t>the complainant was </a:t>
            </a:r>
            <a:r>
              <a:rPr lang="en-GB" b="1" dirty="0"/>
              <a:t>asleep or otherwise unconscious</a:t>
            </a:r>
            <a:r>
              <a:rPr lang="en-GB" dirty="0"/>
              <a:t>;</a:t>
            </a:r>
          </a:p>
          <a:p>
            <a:pPr marL="514350" indent="-514350">
              <a:buFont typeface="+mj-lt"/>
              <a:buAutoNum type="alphaLcParenR"/>
              <a:defRPr/>
            </a:pPr>
            <a:r>
              <a:rPr lang="en-GB" dirty="0"/>
              <a:t>because of the </a:t>
            </a:r>
            <a:r>
              <a:rPr lang="en-GB" b="1" dirty="0"/>
              <a:t>complainant's physical disability</a:t>
            </a:r>
            <a:r>
              <a:rPr lang="en-GB" dirty="0"/>
              <a:t>, (s)he would not have been able to communicate consent to the defendant</a:t>
            </a:r>
          </a:p>
          <a:p>
            <a:pPr marL="514350" indent="-514350">
              <a:buFont typeface="+mj-lt"/>
              <a:buAutoNum type="alphaLcParenR"/>
              <a:defRPr/>
            </a:pPr>
            <a:r>
              <a:rPr lang="en-GB" dirty="0"/>
              <a:t>any person had </a:t>
            </a:r>
            <a:r>
              <a:rPr lang="en-GB" b="1" dirty="0"/>
              <a:t>administered to or caused to be taken by the complainant</a:t>
            </a:r>
            <a:r>
              <a:rPr lang="en-GB" dirty="0"/>
              <a:t> a substance which </a:t>
            </a:r>
            <a:r>
              <a:rPr lang="en-GB" b="1" dirty="0"/>
              <a:t>stupefied or overpowered</a:t>
            </a:r>
            <a:r>
              <a:rPr lang="en-GB" dirty="0"/>
              <a:t> the complainant.</a:t>
            </a:r>
          </a:p>
        </p:txBody>
      </p:sp>
    </p:spTree>
    <p:extLst>
      <p:ext uri="{BB962C8B-B14F-4D97-AF65-F5344CB8AC3E}">
        <p14:creationId xmlns:p14="http://schemas.microsoft.com/office/powerpoint/2010/main" val="2369100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18A3C-2695-2248-950D-F40550B6E895}"/>
              </a:ext>
            </a:extLst>
          </p:cNvPr>
          <p:cNvSpPr>
            <a:spLocks noGrp="1"/>
          </p:cNvSpPr>
          <p:nvPr>
            <p:ph type="title"/>
          </p:nvPr>
        </p:nvSpPr>
        <p:spPr/>
        <p:txBody>
          <a:bodyPr/>
          <a:lstStyle/>
          <a:p>
            <a:r>
              <a:rPr lang="en-GB" dirty="0"/>
              <a:t>Evidence to rebut</a:t>
            </a:r>
          </a:p>
        </p:txBody>
      </p:sp>
      <p:sp>
        <p:nvSpPr>
          <p:cNvPr id="3" name="Content Placeholder 2">
            <a:extLst>
              <a:ext uri="{FF2B5EF4-FFF2-40B4-BE49-F238E27FC236}">
                <a16:creationId xmlns:a16="http://schemas.microsoft.com/office/drawing/2014/main" id="{E253AD83-7BB3-174A-A566-F288CD245C82}"/>
              </a:ext>
            </a:extLst>
          </p:cNvPr>
          <p:cNvSpPr>
            <a:spLocks noGrp="1"/>
          </p:cNvSpPr>
          <p:nvPr>
            <p:ph idx="1"/>
          </p:nvPr>
        </p:nvSpPr>
        <p:spPr/>
        <p:txBody>
          <a:bodyPr/>
          <a:lstStyle/>
          <a:p>
            <a:r>
              <a:rPr lang="en-GB" dirty="0"/>
              <a:t>If he cannot then,</a:t>
            </a:r>
          </a:p>
          <a:p>
            <a:pPr lvl="1"/>
            <a:r>
              <a:rPr lang="en-GB" dirty="0"/>
              <a:t>the complainant is to be taken not to have consented to the relevant act </a:t>
            </a:r>
          </a:p>
          <a:p>
            <a:pPr lvl="1"/>
            <a:r>
              <a:rPr lang="en-GB" dirty="0"/>
              <a:t>the defendant is to be taken not to have reasonably believed that the complainant consented</a:t>
            </a:r>
          </a:p>
          <a:p>
            <a:pPr marL="0" indent="0">
              <a:buNone/>
            </a:pPr>
            <a:r>
              <a:rPr lang="en-GB" dirty="0"/>
              <a:t>	i.e. no defence, jury bound to find him guilty.</a:t>
            </a:r>
          </a:p>
          <a:p>
            <a:r>
              <a:rPr lang="en-GB" dirty="0"/>
              <a:t>Note A can raise evidence on to rebut either or both.</a:t>
            </a:r>
          </a:p>
          <a:p>
            <a:endParaRPr lang="en-GB" dirty="0"/>
          </a:p>
        </p:txBody>
      </p:sp>
    </p:spTree>
    <p:extLst>
      <p:ext uri="{BB962C8B-B14F-4D97-AF65-F5344CB8AC3E}">
        <p14:creationId xmlns:p14="http://schemas.microsoft.com/office/powerpoint/2010/main" val="8755223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EB5F6-E7F4-2C4E-AF2B-14E51FD66FF3}"/>
              </a:ext>
            </a:extLst>
          </p:cNvPr>
          <p:cNvSpPr>
            <a:spLocks noGrp="1"/>
          </p:cNvSpPr>
          <p:nvPr>
            <p:ph type="title"/>
          </p:nvPr>
        </p:nvSpPr>
        <p:spPr/>
        <p:txBody>
          <a:bodyPr/>
          <a:lstStyle/>
          <a:p>
            <a:r>
              <a:rPr lang="en-GB" dirty="0"/>
              <a:t>Evidential burden for rebuttal</a:t>
            </a:r>
          </a:p>
        </p:txBody>
      </p:sp>
      <p:sp>
        <p:nvSpPr>
          <p:cNvPr id="3" name="Content Placeholder 2">
            <a:extLst>
              <a:ext uri="{FF2B5EF4-FFF2-40B4-BE49-F238E27FC236}">
                <a16:creationId xmlns:a16="http://schemas.microsoft.com/office/drawing/2014/main" id="{E46854A2-319E-9A49-AF11-C91B96520131}"/>
              </a:ext>
            </a:extLst>
          </p:cNvPr>
          <p:cNvSpPr>
            <a:spLocks noGrp="1"/>
          </p:cNvSpPr>
          <p:nvPr>
            <p:ph idx="1"/>
          </p:nvPr>
        </p:nvSpPr>
        <p:spPr/>
        <p:txBody>
          <a:bodyPr>
            <a:normAutofit fontScale="85000" lnSpcReduction="20000"/>
          </a:bodyPr>
          <a:lstStyle/>
          <a:p>
            <a:r>
              <a:rPr lang="en-GB" dirty="0"/>
              <a:t>A has to satisfy the judge, from the evidence, that there is a real issue about consent worth putting to the jury.</a:t>
            </a:r>
          </a:p>
          <a:p>
            <a:r>
              <a:rPr lang="en-GB" dirty="0"/>
              <a:t>If evidence is presented then it is for the jury to determine if they accept it.</a:t>
            </a:r>
          </a:p>
          <a:p>
            <a:r>
              <a:rPr lang="en-GB" dirty="0"/>
              <a:t>Jury should only hear about s75 if judge decides no evidence capable of rebutting s75.</a:t>
            </a:r>
          </a:p>
          <a:p>
            <a:r>
              <a:rPr lang="en-GB" dirty="0"/>
              <a:t>Evidence must be more than merely speculative or fanciful</a:t>
            </a:r>
          </a:p>
          <a:p>
            <a:pPr lvl="2"/>
            <a:r>
              <a:rPr lang="en-GB" i="1" dirty="0" err="1"/>
              <a:t>Cicarelli</a:t>
            </a:r>
            <a:r>
              <a:rPr lang="en-GB" dirty="0"/>
              <a:t> [2011] EWCS Crim 2665.</a:t>
            </a:r>
          </a:p>
          <a:p>
            <a:r>
              <a:rPr lang="en-GB" dirty="0"/>
              <a:t>Will only be ‘relatively rare cases where the judge decides that there is not sufficient evidence on one or both of the issues, [and so] a section 75 direction must be given on that issue’</a:t>
            </a:r>
          </a:p>
          <a:p>
            <a:pPr lvl="2"/>
            <a:r>
              <a:rPr lang="en-GB" i="1" dirty="0"/>
              <a:t>White</a:t>
            </a:r>
            <a:r>
              <a:rPr lang="en-GB" dirty="0"/>
              <a:t> [2010] EWCAS Crim 1929, at 10.</a:t>
            </a:r>
            <a:endParaRPr lang="en-GB" i="1" dirty="0"/>
          </a:p>
        </p:txBody>
      </p:sp>
    </p:spTree>
    <p:extLst>
      <p:ext uri="{BB962C8B-B14F-4D97-AF65-F5344CB8AC3E}">
        <p14:creationId xmlns:p14="http://schemas.microsoft.com/office/powerpoint/2010/main" val="1423560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F62BD9-0D71-D646-8170-F20774639FF8}"/>
              </a:ext>
            </a:extLst>
          </p:cNvPr>
          <p:cNvSpPr>
            <a:spLocks noGrp="1"/>
          </p:cNvSpPr>
          <p:nvPr>
            <p:ph type="title"/>
          </p:nvPr>
        </p:nvSpPr>
        <p:spPr/>
        <p:txBody>
          <a:bodyPr/>
          <a:lstStyle/>
          <a:p>
            <a:r>
              <a:rPr lang="en-GB" dirty="0"/>
              <a:t>Section 74</a:t>
            </a:r>
          </a:p>
        </p:txBody>
      </p:sp>
      <p:sp>
        <p:nvSpPr>
          <p:cNvPr id="5" name="Text Placeholder 4">
            <a:extLst>
              <a:ext uri="{FF2B5EF4-FFF2-40B4-BE49-F238E27FC236}">
                <a16:creationId xmlns:a16="http://schemas.microsoft.com/office/drawing/2014/main" id="{46757ED4-680C-C745-AEE7-4296810D7F0E}"/>
              </a:ext>
            </a:extLst>
          </p:cNvPr>
          <p:cNvSpPr>
            <a:spLocks noGrp="1"/>
          </p:cNvSpPr>
          <p:nvPr>
            <p:ph type="body" idx="1"/>
          </p:nvPr>
        </p:nvSpPr>
        <p:spPr>
          <a:xfrm>
            <a:off x="722313" y="4077072"/>
            <a:ext cx="7772400" cy="1500187"/>
          </a:xfrm>
        </p:spPr>
        <p:txBody>
          <a:bodyPr/>
          <a:lstStyle/>
          <a:p>
            <a:pPr algn="r"/>
            <a:r>
              <a:rPr lang="en-GB" dirty="0"/>
              <a:t>General definition of consent</a:t>
            </a:r>
          </a:p>
        </p:txBody>
      </p:sp>
    </p:spTree>
    <p:extLst>
      <p:ext uri="{BB962C8B-B14F-4D97-AF65-F5344CB8AC3E}">
        <p14:creationId xmlns:p14="http://schemas.microsoft.com/office/powerpoint/2010/main" val="19260282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74BFB6-6A6E-CC41-9210-A5ACB07D2736}"/>
              </a:ext>
            </a:extLst>
          </p:cNvPr>
          <p:cNvSpPr>
            <a:spLocks noGrp="1"/>
          </p:cNvSpPr>
          <p:nvPr>
            <p:ph type="title"/>
          </p:nvPr>
        </p:nvSpPr>
        <p:spPr/>
        <p:txBody>
          <a:bodyPr/>
          <a:lstStyle/>
          <a:p>
            <a:r>
              <a:rPr lang="en-GB" dirty="0"/>
              <a:t>Definition under section 74</a:t>
            </a:r>
          </a:p>
        </p:txBody>
      </p:sp>
      <p:sp>
        <p:nvSpPr>
          <p:cNvPr id="5" name="Content Placeholder 4">
            <a:extLst>
              <a:ext uri="{FF2B5EF4-FFF2-40B4-BE49-F238E27FC236}">
                <a16:creationId xmlns:a16="http://schemas.microsoft.com/office/drawing/2014/main" id="{53D6E01D-3D00-804D-9F6A-6EA6B7023A5B}"/>
              </a:ext>
            </a:extLst>
          </p:cNvPr>
          <p:cNvSpPr>
            <a:spLocks noGrp="1"/>
          </p:cNvSpPr>
          <p:nvPr>
            <p:ph idx="1"/>
          </p:nvPr>
        </p:nvSpPr>
        <p:spPr/>
        <p:txBody>
          <a:bodyPr/>
          <a:lstStyle/>
          <a:p>
            <a:pPr marL="0" indent="0">
              <a:buNone/>
            </a:pPr>
            <a:r>
              <a:rPr lang="en-GB" dirty="0"/>
              <a:t>For the purposes of this Part, a person consents if he agrees by choice, and has the freedom and capacity to make that choice.</a:t>
            </a:r>
          </a:p>
          <a:p>
            <a:pPr marL="0" indent="0">
              <a:buNone/>
            </a:pPr>
            <a:endParaRPr lang="en-GB" dirty="0"/>
          </a:p>
          <a:p>
            <a:r>
              <a:rPr lang="en-GB" dirty="0"/>
              <a:t>Something given – positive act.</a:t>
            </a:r>
          </a:p>
          <a:p>
            <a:endParaRPr lang="en-GB" dirty="0"/>
          </a:p>
          <a:p>
            <a:r>
              <a:rPr lang="en-GB" dirty="0"/>
              <a:t>Freedom</a:t>
            </a:r>
          </a:p>
          <a:p>
            <a:r>
              <a:rPr lang="en-GB" dirty="0"/>
              <a:t>Choice</a:t>
            </a:r>
          </a:p>
          <a:p>
            <a:r>
              <a:rPr lang="en-GB" dirty="0"/>
              <a:t>Capacity</a:t>
            </a:r>
          </a:p>
        </p:txBody>
      </p:sp>
    </p:spTree>
    <p:extLst>
      <p:ext uri="{BB962C8B-B14F-4D97-AF65-F5344CB8AC3E}">
        <p14:creationId xmlns:p14="http://schemas.microsoft.com/office/powerpoint/2010/main" val="24193302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F91E13-D94F-B14E-8FF8-3F6000AD5AC7}"/>
              </a:ext>
            </a:extLst>
          </p:cNvPr>
          <p:cNvSpPr>
            <a:spLocks noGrp="1"/>
          </p:cNvSpPr>
          <p:nvPr>
            <p:ph type="title"/>
          </p:nvPr>
        </p:nvSpPr>
        <p:spPr/>
        <p:txBody>
          <a:bodyPr/>
          <a:lstStyle/>
          <a:p>
            <a:r>
              <a:rPr lang="en-GB" dirty="0"/>
              <a:t>Freedom</a:t>
            </a:r>
          </a:p>
        </p:txBody>
      </p:sp>
      <p:sp>
        <p:nvSpPr>
          <p:cNvPr id="5" name="Text Placeholder 4">
            <a:extLst>
              <a:ext uri="{FF2B5EF4-FFF2-40B4-BE49-F238E27FC236}">
                <a16:creationId xmlns:a16="http://schemas.microsoft.com/office/drawing/2014/main" id="{D5354104-89E5-7041-A168-8440297DDC9E}"/>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1126355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9A6EF-1D5C-A54B-A621-296263D5B307}"/>
              </a:ext>
            </a:extLst>
          </p:cNvPr>
          <p:cNvSpPr>
            <a:spLocks noGrp="1"/>
          </p:cNvSpPr>
          <p:nvPr>
            <p:ph type="title"/>
          </p:nvPr>
        </p:nvSpPr>
        <p:spPr>
          <a:xfrm>
            <a:off x="685799" y="609600"/>
            <a:ext cx="8278689" cy="746126"/>
          </a:xfrm>
        </p:spPr>
        <p:txBody>
          <a:bodyPr/>
          <a:lstStyle/>
          <a:p>
            <a:r>
              <a:rPr lang="en-GB" dirty="0"/>
              <a:t>‘Free agreement’</a:t>
            </a:r>
          </a:p>
        </p:txBody>
      </p:sp>
      <p:sp>
        <p:nvSpPr>
          <p:cNvPr id="3" name="Content Placeholder 2">
            <a:extLst>
              <a:ext uri="{FF2B5EF4-FFF2-40B4-BE49-F238E27FC236}">
                <a16:creationId xmlns:a16="http://schemas.microsoft.com/office/drawing/2014/main" id="{D65E4AA6-D493-6F4D-8D65-C7BEDF56640E}"/>
              </a:ext>
            </a:extLst>
          </p:cNvPr>
          <p:cNvSpPr>
            <a:spLocks noGrp="1"/>
          </p:cNvSpPr>
          <p:nvPr>
            <p:ph idx="1"/>
          </p:nvPr>
        </p:nvSpPr>
        <p:spPr>
          <a:xfrm>
            <a:off x="685799" y="1355726"/>
            <a:ext cx="8131175" cy="4518790"/>
          </a:xfrm>
        </p:spPr>
        <p:txBody>
          <a:bodyPr>
            <a:normAutofit fontScale="85000" lnSpcReduction="20000"/>
          </a:bodyPr>
          <a:lstStyle/>
          <a:p>
            <a:pPr lvl="0"/>
            <a:r>
              <a:rPr lang="en-GB" dirty="0"/>
              <a:t>Absence of protest, resistance, or injury not needed to signify there is no consent.</a:t>
            </a:r>
          </a:p>
          <a:p>
            <a:pPr lvl="0"/>
            <a:r>
              <a:rPr lang="en-GB" dirty="0"/>
              <a:t>Timing—the consent is present at the time of the sexual act(s), i.e. consenting earlier is not sufficient. </a:t>
            </a:r>
          </a:p>
          <a:p>
            <a:pPr lvl="0"/>
            <a:r>
              <a:rPr lang="en-GB" dirty="0"/>
              <a:t>Assumes freedom from something, and so the jury have to address the existence and weight of the ‘other’ pressure from which B might have been acting freely. </a:t>
            </a:r>
          </a:p>
          <a:p>
            <a:pPr lvl="1"/>
            <a:r>
              <a:rPr lang="en-GB" dirty="0"/>
              <a:t>Greater ‘pressure’ experienced by B means less ‘freedom’ to choose. </a:t>
            </a:r>
          </a:p>
          <a:p>
            <a:pPr lvl="0"/>
            <a:r>
              <a:rPr lang="en-GB" dirty="0"/>
              <a:t>Level of freedom required to validate consent is not clear, i.e. economic pressures. </a:t>
            </a:r>
          </a:p>
          <a:p>
            <a:pPr lvl="0"/>
            <a:r>
              <a:rPr lang="en-GB" dirty="0"/>
              <a:t>Levels of pressure that negate freedom will depend on a range of factors, so judged on the basis of case-by-case.</a:t>
            </a:r>
          </a:p>
          <a:p>
            <a:pPr lvl="0"/>
            <a:endParaRPr lang="en-GB" dirty="0"/>
          </a:p>
          <a:p>
            <a:endParaRPr lang="en-GB" dirty="0"/>
          </a:p>
        </p:txBody>
      </p:sp>
    </p:spTree>
    <p:extLst>
      <p:ext uri="{BB962C8B-B14F-4D97-AF65-F5344CB8AC3E}">
        <p14:creationId xmlns:p14="http://schemas.microsoft.com/office/powerpoint/2010/main" val="583891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7A5DF-0464-BD42-BCFD-034F1E85AFF4}"/>
              </a:ext>
            </a:extLst>
          </p:cNvPr>
          <p:cNvSpPr>
            <a:spLocks noGrp="1"/>
          </p:cNvSpPr>
          <p:nvPr>
            <p:ph type="title"/>
          </p:nvPr>
        </p:nvSpPr>
        <p:spPr/>
        <p:txBody>
          <a:bodyPr/>
          <a:lstStyle/>
          <a:p>
            <a:r>
              <a:rPr lang="en-GB" i="1" dirty="0"/>
              <a:t>C</a:t>
            </a:r>
            <a:r>
              <a:rPr lang="en-GB" dirty="0"/>
              <a:t> [2012] EWCA Crim 2034</a:t>
            </a:r>
          </a:p>
        </p:txBody>
      </p:sp>
      <p:sp>
        <p:nvSpPr>
          <p:cNvPr id="3" name="Content Placeholder 2">
            <a:extLst>
              <a:ext uri="{FF2B5EF4-FFF2-40B4-BE49-F238E27FC236}">
                <a16:creationId xmlns:a16="http://schemas.microsoft.com/office/drawing/2014/main" id="{944FB88D-137A-4C44-9D7E-63070582B948}"/>
              </a:ext>
            </a:extLst>
          </p:cNvPr>
          <p:cNvSpPr>
            <a:spLocks noGrp="1"/>
          </p:cNvSpPr>
          <p:nvPr>
            <p:ph idx="1"/>
          </p:nvPr>
        </p:nvSpPr>
        <p:spPr>
          <a:xfrm>
            <a:off x="684212" y="1412776"/>
            <a:ext cx="8131175" cy="4865835"/>
          </a:xfrm>
        </p:spPr>
        <p:txBody>
          <a:bodyPr>
            <a:normAutofit fontScale="85000" lnSpcReduction="20000"/>
          </a:bodyPr>
          <a:lstStyle/>
          <a:p>
            <a:pPr lvl="0"/>
            <a:r>
              <a:rPr lang="en-GB" dirty="0"/>
              <a:t>D sexually abused V from age of 5 until she was 25 years old. </a:t>
            </a:r>
          </a:p>
          <a:p>
            <a:pPr lvl="0"/>
            <a:r>
              <a:rPr lang="en-GB" dirty="0"/>
              <a:t>Convicted of offences relating to child sexual abuse (for incidents when under 16), and sexual offences based on consent (for incidents when over 16).</a:t>
            </a:r>
          </a:p>
          <a:p>
            <a:pPr lvl="0"/>
            <a:r>
              <a:rPr lang="en-GB" dirty="0"/>
              <a:t>D appealed conviction arguing that after she had turned 16 years, V had consented to sexual activity, thus was not an offence under SOA.</a:t>
            </a:r>
          </a:p>
          <a:p>
            <a:pPr marL="858600" lvl="2" indent="0">
              <a:buNone/>
            </a:pPr>
            <a:r>
              <a:rPr lang="en-GB" dirty="0"/>
              <a:t>‘… the reality of this case cannot be understood without reference to the long years of the complainant's childhood during which, as the jury found, she was the victim of repeated sexual abuse by the appellant. </a:t>
            </a:r>
          </a:p>
          <a:p>
            <a:pPr marL="858600" lvl="2" indent="0">
              <a:buNone/>
            </a:pPr>
            <a:r>
              <a:rPr lang="en-GB" dirty="0"/>
              <a:t>…</a:t>
            </a:r>
          </a:p>
          <a:p>
            <a:pPr marL="858600" lvl="2" indent="0">
              <a:buNone/>
            </a:pPr>
            <a:r>
              <a:rPr lang="en-GB" dirty="0"/>
              <a:t>Dealing with it generally, her evidence was that she felt trapped and afraid of the appellant even after she left home. Throughout her childhood and after she grew up, his attitude to her was domineering, aggressive and controlling’.</a:t>
            </a:r>
          </a:p>
          <a:p>
            <a:r>
              <a:rPr lang="en-GB" dirty="0"/>
              <a:t>See also </a:t>
            </a:r>
            <a:r>
              <a:rPr lang="en-GB" i="1" dirty="0"/>
              <a:t>Kirk</a:t>
            </a:r>
            <a:r>
              <a:rPr lang="en-GB" dirty="0"/>
              <a:t> [2008] EWCA Crim 434.</a:t>
            </a:r>
          </a:p>
        </p:txBody>
      </p:sp>
    </p:spTree>
    <p:extLst>
      <p:ext uri="{BB962C8B-B14F-4D97-AF65-F5344CB8AC3E}">
        <p14:creationId xmlns:p14="http://schemas.microsoft.com/office/powerpoint/2010/main" val="40004147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8D030-CD66-214D-A348-8AFB0A9A14C4}"/>
              </a:ext>
            </a:extLst>
          </p:cNvPr>
          <p:cNvSpPr>
            <a:spLocks noGrp="1"/>
          </p:cNvSpPr>
          <p:nvPr>
            <p:ph type="title"/>
          </p:nvPr>
        </p:nvSpPr>
        <p:spPr/>
        <p:txBody>
          <a:bodyPr/>
          <a:lstStyle/>
          <a:p>
            <a:r>
              <a:rPr lang="en-GB" dirty="0"/>
              <a:t>Consent versus submission</a:t>
            </a:r>
          </a:p>
        </p:txBody>
      </p:sp>
      <p:sp>
        <p:nvSpPr>
          <p:cNvPr id="3" name="Content Placeholder 2">
            <a:extLst>
              <a:ext uri="{FF2B5EF4-FFF2-40B4-BE49-F238E27FC236}">
                <a16:creationId xmlns:a16="http://schemas.microsoft.com/office/drawing/2014/main" id="{44B00ABB-AE3E-0C42-BCD0-FACE39A1FA18}"/>
              </a:ext>
            </a:extLst>
          </p:cNvPr>
          <p:cNvSpPr>
            <a:spLocks noGrp="1"/>
          </p:cNvSpPr>
          <p:nvPr>
            <p:ph idx="1"/>
          </p:nvPr>
        </p:nvSpPr>
        <p:spPr>
          <a:xfrm>
            <a:off x="684212" y="1587501"/>
            <a:ext cx="8131175" cy="4660899"/>
          </a:xfrm>
        </p:spPr>
        <p:txBody>
          <a:bodyPr>
            <a:normAutofit fontScale="85000" lnSpcReduction="10000"/>
          </a:bodyPr>
          <a:lstStyle/>
          <a:p>
            <a:r>
              <a:rPr lang="en-GB" dirty="0"/>
              <a:t>The courts have drawn a distinction between submission and consent, although the line between them can be difficult to determine.</a:t>
            </a:r>
          </a:p>
          <a:p>
            <a:r>
              <a:rPr lang="en-GB" i="1" dirty="0" err="1"/>
              <a:t>Olugboja</a:t>
            </a:r>
            <a:r>
              <a:rPr lang="en-GB" dirty="0"/>
              <a:t> [1982] QB 320:</a:t>
            </a:r>
          </a:p>
          <a:p>
            <a:pPr marL="858600" lvl="2" indent="0">
              <a:buNone/>
            </a:pPr>
            <a:r>
              <a:rPr lang="en-GB" dirty="0"/>
              <a:t>‘… every consent involves a submission, but it by no means follows that a mere submission involves consent’.</a:t>
            </a:r>
          </a:p>
          <a:p>
            <a:r>
              <a:rPr lang="en-GB" i="1" dirty="0"/>
              <a:t>Doyle</a:t>
            </a:r>
            <a:r>
              <a:rPr lang="en-GB" dirty="0"/>
              <a:t> [2010] EWCA Crim 119:</a:t>
            </a:r>
          </a:p>
          <a:p>
            <a:pPr lvl="1"/>
            <a:r>
              <a:rPr lang="en-GB" dirty="0"/>
              <a:t>Context of intimate partner violence and abuse.</a:t>
            </a:r>
          </a:p>
          <a:p>
            <a:pPr marL="858600" lvl="2" indent="0">
              <a:buNone/>
            </a:pPr>
            <a:r>
              <a:rPr lang="en-GB" dirty="0"/>
              <a:t>‘…but once he had succeeded in penetrating her she ceased to resist because she thought it would only get worse if she did. As she put it, “I then let him get on with it”. The appellant ejaculated, stood up, and threw the complainant's clothes at her. He asked if she had enjoyed it, when she said “no”, according to the complainant's evidence, he slapped her’.</a:t>
            </a:r>
          </a:p>
          <a:p>
            <a:pPr lvl="1"/>
            <a:r>
              <a:rPr lang="en-GB" dirty="0"/>
              <a:t>The appeal was on the basis that the judge’s direction to the jury about consent was inadequate.</a:t>
            </a:r>
          </a:p>
          <a:p>
            <a:endParaRPr lang="en-GB" dirty="0"/>
          </a:p>
          <a:p>
            <a:pPr marL="0" indent="0">
              <a:buNone/>
            </a:pPr>
            <a:endParaRPr lang="en-GB" dirty="0"/>
          </a:p>
          <a:p>
            <a:endParaRPr lang="en-GB" dirty="0"/>
          </a:p>
        </p:txBody>
      </p:sp>
    </p:spTree>
    <p:extLst>
      <p:ext uri="{BB962C8B-B14F-4D97-AF65-F5344CB8AC3E}">
        <p14:creationId xmlns:p14="http://schemas.microsoft.com/office/powerpoint/2010/main" val="4092846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A7AD0-43C4-524E-ACE4-2C7A0CA6E174}"/>
              </a:ext>
            </a:extLst>
          </p:cNvPr>
          <p:cNvSpPr>
            <a:spLocks noGrp="1"/>
          </p:cNvSpPr>
          <p:nvPr>
            <p:ph type="title"/>
          </p:nvPr>
        </p:nvSpPr>
        <p:spPr/>
        <p:txBody>
          <a:bodyPr/>
          <a:lstStyle/>
          <a:p>
            <a:r>
              <a:rPr lang="en-GB" dirty="0"/>
              <a:t>Consent versus submission</a:t>
            </a:r>
          </a:p>
        </p:txBody>
      </p:sp>
      <p:sp>
        <p:nvSpPr>
          <p:cNvPr id="3" name="Content Placeholder 2">
            <a:extLst>
              <a:ext uri="{FF2B5EF4-FFF2-40B4-BE49-F238E27FC236}">
                <a16:creationId xmlns:a16="http://schemas.microsoft.com/office/drawing/2014/main" id="{76EAFDC0-1BB7-1641-AFB0-0F0432B2F4ED}"/>
              </a:ext>
            </a:extLst>
          </p:cNvPr>
          <p:cNvSpPr>
            <a:spLocks noGrp="1"/>
          </p:cNvSpPr>
          <p:nvPr>
            <p:ph idx="1"/>
          </p:nvPr>
        </p:nvSpPr>
        <p:spPr/>
        <p:txBody>
          <a:bodyPr>
            <a:normAutofit fontScale="92500"/>
          </a:bodyPr>
          <a:lstStyle/>
          <a:p>
            <a:r>
              <a:rPr lang="en-GB" dirty="0"/>
              <a:t>See also </a:t>
            </a:r>
            <a:r>
              <a:rPr lang="en-GB" i="1" dirty="0"/>
              <a:t>Ali</a:t>
            </a:r>
            <a:r>
              <a:rPr lang="en-GB" dirty="0"/>
              <a:t> [2015] EWCA Crim 1279 on grooming:</a:t>
            </a:r>
          </a:p>
          <a:p>
            <a:pPr lvl="1"/>
            <a:r>
              <a:rPr lang="en-GB" dirty="0"/>
              <a:t>Although grooming did not necessarily vitiate consent, it did starkly raise the possibility that a vulnerable or immature individual might have been placed in a position in which he or she was led merely to acquiesce rather than give proper or real consent.</a:t>
            </a:r>
          </a:p>
          <a:p>
            <a:pPr lvl="1"/>
            <a:r>
              <a:rPr lang="en-GB" dirty="0"/>
              <a:t>Grooming had a tendency to limit or subvert the alleged victim’s capacity to make free decisions and it created the risk that he or she simply submitted because of the environment of dependency created by those responsible for treating the victim in that way. </a:t>
            </a:r>
          </a:p>
        </p:txBody>
      </p:sp>
    </p:spTree>
    <p:extLst>
      <p:ext uri="{BB962C8B-B14F-4D97-AF65-F5344CB8AC3E}">
        <p14:creationId xmlns:p14="http://schemas.microsoft.com/office/powerpoint/2010/main" val="12946401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C3B34-8567-CA46-8398-839E90C20F3E}"/>
              </a:ext>
            </a:extLst>
          </p:cNvPr>
          <p:cNvSpPr>
            <a:spLocks noGrp="1"/>
          </p:cNvSpPr>
          <p:nvPr>
            <p:ph type="title"/>
          </p:nvPr>
        </p:nvSpPr>
        <p:spPr/>
        <p:txBody>
          <a:bodyPr/>
          <a:lstStyle/>
          <a:p>
            <a:r>
              <a:rPr lang="en-GB" dirty="0"/>
              <a:t>Submission with consent</a:t>
            </a:r>
          </a:p>
        </p:txBody>
      </p:sp>
      <p:sp>
        <p:nvSpPr>
          <p:cNvPr id="3" name="Content Placeholder 2">
            <a:extLst>
              <a:ext uri="{FF2B5EF4-FFF2-40B4-BE49-F238E27FC236}">
                <a16:creationId xmlns:a16="http://schemas.microsoft.com/office/drawing/2014/main" id="{5398A722-F69A-7D46-9139-C67834D648A3}"/>
              </a:ext>
            </a:extLst>
          </p:cNvPr>
          <p:cNvSpPr>
            <a:spLocks noGrp="1"/>
          </p:cNvSpPr>
          <p:nvPr>
            <p:ph idx="1"/>
          </p:nvPr>
        </p:nvSpPr>
        <p:spPr>
          <a:xfrm>
            <a:off x="684212" y="1587501"/>
            <a:ext cx="8131175" cy="4667826"/>
          </a:xfrm>
        </p:spPr>
        <p:txBody>
          <a:bodyPr>
            <a:normAutofit fontScale="85000" lnSpcReduction="20000"/>
          </a:bodyPr>
          <a:lstStyle/>
          <a:p>
            <a:r>
              <a:rPr lang="en-GB" dirty="0"/>
              <a:t>Submission does not necessarily mean lack of consent (in law),</a:t>
            </a:r>
          </a:p>
          <a:p>
            <a:pPr lvl="1"/>
            <a:r>
              <a:rPr lang="en-GB" dirty="0"/>
              <a:t>A person does not really want to have sex (so is reluctant) but nevertheless consents.</a:t>
            </a:r>
          </a:p>
          <a:p>
            <a:pPr lvl="1"/>
            <a:r>
              <a:rPr lang="en-GB" dirty="0"/>
              <a:t>Reluctant consent is still consent. This is clearly a difficult distinction to draw, hence why guidance from a judge is needed, as per </a:t>
            </a:r>
            <a:r>
              <a:rPr lang="en-GB" i="1" dirty="0"/>
              <a:t>Doyle</a:t>
            </a:r>
            <a:r>
              <a:rPr lang="en-GB" dirty="0"/>
              <a:t>:</a:t>
            </a:r>
          </a:p>
          <a:p>
            <a:pPr marL="858600" lvl="2" indent="0">
              <a:buNone/>
            </a:pPr>
            <a:r>
              <a:rPr lang="en-GB" dirty="0"/>
              <a:t>‘… there are circumstances in which the jury may well require assistance as to the distinction to be drawn between reluctant but free exercise of choice on the one hand, especially in the context of a long term and loving relationship, and unwilling submission to demand in fear of more adverse consequences from refusal on the other’. </a:t>
            </a:r>
          </a:p>
          <a:p>
            <a:r>
              <a:rPr lang="en-GB" dirty="0"/>
              <a:t>In opposition to claim in </a:t>
            </a:r>
            <a:r>
              <a:rPr lang="en-GB" i="1" dirty="0" err="1"/>
              <a:t>Olugboja</a:t>
            </a:r>
            <a:r>
              <a:rPr lang="en-GB" dirty="0"/>
              <a:t>, to consent does not always mean to submit,</a:t>
            </a:r>
          </a:p>
          <a:p>
            <a:pPr lvl="1"/>
            <a:r>
              <a:rPr lang="en-GB" dirty="0"/>
              <a:t>Active enthusiasm!</a:t>
            </a:r>
          </a:p>
          <a:p>
            <a:pPr lvl="1"/>
            <a:r>
              <a:rPr lang="en-GB" dirty="0"/>
              <a:t>Notion that women always submit to sex men want to have is sexist!</a:t>
            </a:r>
          </a:p>
          <a:p>
            <a:pPr marL="0" indent="0">
              <a:buNone/>
            </a:pPr>
            <a:endParaRPr lang="en-GB" dirty="0"/>
          </a:p>
        </p:txBody>
      </p:sp>
    </p:spTree>
    <p:extLst>
      <p:ext uri="{BB962C8B-B14F-4D97-AF65-F5344CB8AC3E}">
        <p14:creationId xmlns:p14="http://schemas.microsoft.com/office/powerpoint/2010/main" val="18120917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3937AA-62F9-D14B-8C83-6F04E86ADB05}"/>
              </a:ext>
            </a:extLst>
          </p:cNvPr>
          <p:cNvSpPr>
            <a:spLocks noGrp="1"/>
          </p:cNvSpPr>
          <p:nvPr>
            <p:ph type="title"/>
          </p:nvPr>
        </p:nvSpPr>
        <p:spPr/>
        <p:txBody>
          <a:bodyPr/>
          <a:lstStyle/>
          <a:p>
            <a:r>
              <a:rPr lang="en-GB" dirty="0"/>
              <a:t>Choice</a:t>
            </a:r>
          </a:p>
        </p:txBody>
      </p:sp>
      <p:sp>
        <p:nvSpPr>
          <p:cNvPr id="5" name="Text Placeholder 4">
            <a:extLst>
              <a:ext uri="{FF2B5EF4-FFF2-40B4-BE49-F238E27FC236}">
                <a16:creationId xmlns:a16="http://schemas.microsoft.com/office/drawing/2014/main" id="{81EFF630-C3A2-1F4B-B7E5-E34978ADB7DB}"/>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0155262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6FFAA5-B55E-F045-95CE-F448275EED54}"/>
              </a:ext>
            </a:extLst>
          </p:cNvPr>
          <p:cNvSpPr>
            <a:spLocks noGrp="1"/>
          </p:cNvSpPr>
          <p:nvPr>
            <p:ph type="title"/>
          </p:nvPr>
        </p:nvSpPr>
        <p:spPr/>
        <p:txBody>
          <a:bodyPr/>
          <a:lstStyle/>
          <a:p>
            <a:r>
              <a:rPr lang="en-GB" dirty="0"/>
              <a:t>B having options to choose from</a:t>
            </a:r>
          </a:p>
        </p:txBody>
      </p:sp>
      <p:sp>
        <p:nvSpPr>
          <p:cNvPr id="5" name="Content Placeholder 4">
            <a:extLst>
              <a:ext uri="{FF2B5EF4-FFF2-40B4-BE49-F238E27FC236}">
                <a16:creationId xmlns:a16="http://schemas.microsoft.com/office/drawing/2014/main" id="{54044C8C-712E-444E-8B33-5B3F1C643CD2}"/>
              </a:ext>
            </a:extLst>
          </p:cNvPr>
          <p:cNvSpPr>
            <a:spLocks noGrp="1"/>
          </p:cNvSpPr>
          <p:nvPr>
            <p:ph idx="1"/>
          </p:nvPr>
        </p:nvSpPr>
        <p:spPr/>
        <p:txBody>
          <a:bodyPr>
            <a:normAutofit/>
          </a:bodyPr>
          <a:lstStyle/>
          <a:p>
            <a:r>
              <a:rPr lang="en-GB" dirty="0"/>
              <a:t>Outlined in </a:t>
            </a:r>
            <a:r>
              <a:rPr lang="en-GB" i="1" dirty="0"/>
              <a:t>Assange v Swedish Prosecution Authority</a:t>
            </a:r>
            <a:r>
              <a:rPr lang="en-GB" dirty="0"/>
              <a:t> [2011] EWHC 2849 (Admin) that “choice” is crucial to the issue of “consent”:</a:t>
            </a:r>
          </a:p>
          <a:p>
            <a:pPr lvl="1"/>
            <a:r>
              <a:rPr lang="en-GB" dirty="0"/>
              <a:t>Assange knew that AA would only consent to sexual intercourse if he used a condom throughout, but he had concluded sexual intercourse with her without a condom.</a:t>
            </a:r>
          </a:p>
        </p:txBody>
      </p:sp>
    </p:spTree>
    <p:extLst>
      <p:ext uri="{BB962C8B-B14F-4D97-AF65-F5344CB8AC3E}">
        <p14:creationId xmlns:p14="http://schemas.microsoft.com/office/powerpoint/2010/main" val="41297882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2667F-9C11-F049-88AA-2D44176FDBA0}"/>
              </a:ext>
            </a:extLst>
          </p:cNvPr>
          <p:cNvSpPr>
            <a:spLocks noGrp="1"/>
          </p:cNvSpPr>
          <p:nvPr>
            <p:ph type="title"/>
          </p:nvPr>
        </p:nvSpPr>
        <p:spPr/>
        <p:txBody>
          <a:bodyPr/>
          <a:lstStyle/>
          <a:p>
            <a:r>
              <a:rPr lang="en-GB" i="1" dirty="0"/>
              <a:t>R (on the application of F) v DPP</a:t>
            </a:r>
            <a:endParaRPr lang="en-GB" dirty="0"/>
          </a:p>
        </p:txBody>
      </p:sp>
      <p:sp>
        <p:nvSpPr>
          <p:cNvPr id="3" name="Content Placeholder 2">
            <a:extLst>
              <a:ext uri="{FF2B5EF4-FFF2-40B4-BE49-F238E27FC236}">
                <a16:creationId xmlns:a16="http://schemas.microsoft.com/office/drawing/2014/main" id="{5D5D4C87-449C-CF49-9666-E0A37FB41132}"/>
              </a:ext>
            </a:extLst>
          </p:cNvPr>
          <p:cNvSpPr>
            <a:spLocks noGrp="1"/>
          </p:cNvSpPr>
          <p:nvPr>
            <p:ph idx="1"/>
          </p:nvPr>
        </p:nvSpPr>
        <p:spPr/>
        <p:txBody>
          <a:bodyPr>
            <a:normAutofit fontScale="70000" lnSpcReduction="20000"/>
          </a:bodyPr>
          <a:lstStyle/>
          <a:p>
            <a:pPr marL="0" indent="0">
              <a:buNone/>
            </a:pPr>
            <a:r>
              <a:rPr lang="en-GB" dirty="0"/>
              <a:t>[2013] EWHC 945 (Admin): Judicial review: </a:t>
            </a:r>
          </a:p>
          <a:p>
            <a:pPr lvl="0"/>
            <a:r>
              <a:rPr lang="en-GB" dirty="0"/>
              <a:t>B did not want to become pregnant, and consented to her husband having sexual intercourse with her on that basis that he would withdraw his penis before ejaculating.</a:t>
            </a:r>
          </a:p>
          <a:p>
            <a:pPr lvl="0"/>
            <a:r>
              <a:rPr lang="en-GB" dirty="0"/>
              <a:t>During intercourse, shortly after penetration he told her that he would be ejaculating within her vagina “because you are my wife and I'll do it if I want”. He ejaculated before she could object or do anything about it, and she became pregnant as a result.</a:t>
            </a:r>
          </a:p>
          <a:p>
            <a:pPr lvl="0"/>
            <a:r>
              <a:rPr lang="en-GB" dirty="0"/>
              <a:t>Context of intimate partner violence and abuse, and sexual domination. </a:t>
            </a:r>
          </a:p>
          <a:p>
            <a:pPr lvl="0"/>
            <a:r>
              <a:rPr lang="en-GB" i="1" dirty="0"/>
              <a:t>Held</a:t>
            </a:r>
            <a:r>
              <a:rPr lang="en-GB" dirty="0"/>
              <a:t>, allowing the claim:</a:t>
            </a:r>
          </a:p>
          <a:p>
            <a:pPr marL="858600" lvl="2" indent="0">
              <a:buNone/>
            </a:pPr>
            <a:r>
              <a:rPr lang="en-GB" dirty="0"/>
              <a:t>‘…she agreed by choice, when she had the freedom and capacity to make the choice … “choice” is crucial to the issue of “consent”, and indeed we underline that the statutory definition of consent provided in section 74</a:t>
            </a:r>
          </a:p>
          <a:p>
            <a:pPr marL="858600" lvl="2" indent="0">
              <a:buNone/>
            </a:pPr>
            <a:r>
              <a:rPr lang="en-GB" dirty="0"/>
              <a:t>…</a:t>
            </a:r>
          </a:p>
          <a:p>
            <a:pPr marL="858600" lvl="2" indent="0">
              <a:buNone/>
            </a:pPr>
            <a:r>
              <a:rPr lang="en-GB" dirty="0"/>
              <a:t>he decided that he would not withdraw at all, just because he deemed the claimant subservient to his control, she was deprived of choice relating to the crucial feature on which her original consent to sexual intercourse was based. Accordingly her consent was negated’. </a:t>
            </a:r>
          </a:p>
          <a:p>
            <a:endParaRPr lang="en-GB" dirty="0"/>
          </a:p>
        </p:txBody>
      </p:sp>
    </p:spTree>
    <p:extLst>
      <p:ext uri="{BB962C8B-B14F-4D97-AF65-F5344CB8AC3E}">
        <p14:creationId xmlns:p14="http://schemas.microsoft.com/office/powerpoint/2010/main" val="17938982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6CE27-0D4B-2B48-9505-95BB27262FB8}"/>
              </a:ext>
            </a:extLst>
          </p:cNvPr>
          <p:cNvSpPr>
            <a:spLocks noGrp="1"/>
          </p:cNvSpPr>
          <p:nvPr>
            <p:ph type="title"/>
          </p:nvPr>
        </p:nvSpPr>
        <p:spPr>
          <a:xfrm>
            <a:off x="685799" y="609600"/>
            <a:ext cx="8129587" cy="746126"/>
          </a:xfrm>
        </p:spPr>
        <p:txBody>
          <a:bodyPr/>
          <a:lstStyle/>
          <a:p>
            <a:r>
              <a:rPr lang="en-GB" dirty="0"/>
              <a:t>How much information does B need for her to choose to consent?</a:t>
            </a:r>
          </a:p>
        </p:txBody>
      </p:sp>
      <p:pic>
        <p:nvPicPr>
          <p:cNvPr id="5" name="Content Placeholder 4">
            <a:extLst>
              <a:ext uri="{FF2B5EF4-FFF2-40B4-BE49-F238E27FC236}">
                <a16:creationId xmlns:a16="http://schemas.microsoft.com/office/drawing/2014/main" id="{33FEB01D-ED7F-9B4A-835B-FAE7C84F2DD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360" t="16775" r="30047" b="20052"/>
          <a:stretch/>
        </p:blipFill>
        <p:spPr>
          <a:xfrm>
            <a:off x="1187624" y="1628800"/>
            <a:ext cx="6567886" cy="4456780"/>
          </a:xfrm>
        </p:spPr>
      </p:pic>
    </p:spTree>
    <p:extLst>
      <p:ext uri="{BB962C8B-B14F-4D97-AF65-F5344CB8AC3E}">
        <p14:creationId xmlns:p14="http://schemas.microsoft.com/office/powerpoint/2010/main" val="37953888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7397C-455D-AB41-984A-1870F3DCF12E}"/>
              </a:ext>
            </a:extLst>
          </p:cNvPr>
          <p:cNvSpPr>
            <a:spLocks noGrp="1"/>
          </p:cNvSpPr>
          <p:nvPr>
            <p:ph type="title"/>
          </p:nvPr>
        </p:nvSpPr>
        <p:spPr/>
        <p:txBody>
          <a:bodyPr/>
          <a:lstStyle/>
          <a:p>
            <a:r>
              <a:rPr lang="en-GB" dirty="0"/>
              <a:t>Failure to disclose versus active deception </a:t>
            </a:r>
          </a:p>
        </p:txBody>
      </p:sp>
      <p:sp>
        <p:nvSpPr>
          <p:cNvPr id="3" name="Content Placeholder 2">
            <a:extLst>
              <a:ext uri="{FF2B5EF4-FFF2-40B4-BE49-F238E27FC236}">
                <a16:creationId xmlns:a16="http://schemas.microsoft.com/office/drawing/2014/main" id="{946DD60A-A4DF-5346-B4CF-B75F1A540D22}"/>
              </a:ext>
            </a:extLst>
          </p:cNvPr>
          <p:cNvSpPr>
            <a:spLocks noGrp="1"/>
          </p:cNvSpPr>
          <p:nvPr>
            <p:ph idx="1"/>
          </p:nvPr>
        </p:nvSpPr>
        <p:spPr>
          <a:xfrm>
            <a:off x="684212" y="1772816"/>
            <a:ext cx="8131175" cy="4359696"/>
          </a:xfrm>
        </p:spPr>
        <p:txBody>
          <a:bodyPr>
            <a:normAutofit/>
          </a:bodyPr>
          <a:lstStyle/>
          <a:p>
            <a:r>
              <a:rPr lang="en-GB" dirty="0"/>
              <a:t>Prior to </a:t>
            </a:r>
            <a:r>
              <a:rPr lang="en-GB" i="1" dirty="0" err="1"/>
              <a:t>Lawrance</a:t>
            </a:r>
            <a:r>
              <a:rPr lang="en-GB" dirty="0"/>
              <a:t> the courts distinguished between A’s failure to disclose (</a:t>
            </a:r>
            <a:r>
              <a:rPr lang="en-GB" i="1" dirty="0"/>
              <a:t>McNally</a:t>
            </a:r>
            <a:r>
              <a:rPr lang="en-GB" dirty="0"/>
              <a:t>), which does not fall under s74, and active deception </a:t>
            </a:r>
            <a:r>
              <a:rPr lang="en-GB" i="1" dirty="0"/>
              <a:t>(B</a:t>
            </a:r>
            <a:r>
              <a:rPr lang="en-GB" dirty="0"/>
              <a:t>)</a:t>
            </a:r>
            <a:r>
              <a:rPr lang="en-GB" i="1" dirty="0"/>
              <a:t>,</a:t>
            </a:r>
            <a:r>
              <a:rPr lang="en-GB" dirty="0"/>
              <a:t> which does.</a:t>
            </a:r>
          </a:p>
          <a:p>
            <a:endParaRPr lang="en-GB" dirty="0"/>
          </a:p>
          <a:p>
            <a:endParaRPr lang="en-GB" dirty="0"/>
          </a:p>
        </p:txBody>
      </p:sp>
    </p:spTree>
    <p:extLst>
      <p:ext uri="{BB962C8B-B14F-4D97-AF65-F5344CB8AC3E}">
        <p14:creationId xmlns:p14="http://schemas.microsoft.com/office/powerpoint/2010/main" val="1926272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9B621-A802-0C4D-A811-8AC68E488DBD}"/>
              </a:ext>
            </a:extLst>
          </p:cNvPr>
          <p:cNvSpPr>
            <a:spLocks noGrp="1"/>
          </p:cNvSpPr>
          <p:nvPr>
            <p:ph type="title"/>
          </p:nvPr>
        </p:nvSpPr>
        <p:spPr/>
        <p:txBody>
          <a:bodyPr/>
          <a:lstStyle/>
          <a:p>
            <a:r>
              <a:rPr lang="en-GB" dirty="0"/>
              <a:t>Failure to disclose</a:t>
            </a:r>
          </a:p>
        </p:txBody>
      </p:sp>
      <p:sp>
        <p:nvSpPr>
          <p:cNvPr id="3" name="Content Placeholder 2">
            <a:extLst>
              <a:ext uri="{FF2B5EF4-FFF2-40B4-BE49-F238E27FC236}">
                <a16:creationId xmlns:a16="http://schemas.microsoft.com/office/drawing/2014/main" id="{C57ACD47-C51D-E940-BC7E-13A704745442}"/>
              </a:ext>
            </a:extLst>
          </p:cNvPr>
          <p:cNvSpPr>
            <a:spLocks noGrp="1"/>
          </p:cNvSpPr>
          <p:nvPr>
            <p:ph idx="1"/>
          </p:nvPr>
        </p:nvSpPr>
        <p:spPr>
          <a:xfrm>
            <a:off x="684212" y="1587501"/>
            <a:ext cx="8131175" cy="4865835"/>
          </a:xfrm>
        </p:spPr>
        <p:txBody>
          <a:bodyPr>
            <a:normAutofit fontScale="92500" lnSpcReduction="20000"/>
          </a:bodyPr>
          <a:lstStyle/>
          <a:p>
            <a:pPr marL="0" indent="0">
              <a:buNone/>
            </a:pPr>
            <a:r>
              <a:rPr lang="en-GB" i="1" dirty="0"/>
              <a:t>B</a:t>
            </a:r>
            <a:r>
              <a:rPr lang="en-GB" dirty="0"/>
              <a:t> [2006] EWCA Crim 2945:</a:t>
            </a:r>
          </a:p>
          <a:p>
            <a:pPr lvl="1"/>
            <a:r>
              <a:rPr lang="en-GB" dirty="0"/>
              <a:t>A was HIV positive, did not inform B of his of his HIV status, B did not ask.</a:t>
            </a:r>
          </a:p>
          <a:p>
            <a:pPr lvl="1"/>
            <a:r>
              <a:rPr lang="en-GB" dirty="0"/>
              <a:t>Trial judge directed the jury:</a:t>
            </a:r>
          </a:p>
          <a:p>
            <a:pPr marL="1371600" lvl="3" indent="0">
              <a:buNone/>
            </a:pPr>
            <a:r>
              <a:rPr lang="en-GB" dirty="0"/>
              <a:t>‘… when you are considering whether [the complainant] consented to intercourse you will need to consider whether she had the freedom and capacity to make the choice as to whether to have intercourse with this man if she did not know he was HIV-positive …’</a:t>
            </a:r>
          </a:p>
          <a:p>
            <a:pPr lvl="1"/>
            <a:r>
              <a:rPr lang="en-GB" dirty="0"/>
              <a:t>A was convicted, later appealing his conviction, arguing his HIV status should have been irrelevant to the question of sexual consent (note this is about sexual consent and not consent under OAOP 1861, as covered in NFOAP lecture).</a:t>
            </a:r>
          </a:p>
          <a:p>
            <a:pPr marL="1315800" lvl="3" indent="0">
              <a:buNone/>
            </a:pPr>
            <a:r>
              <a:rPr lang="en-GB" dirty="0"/>
              <a:t>‘All we need to say is that, as a matter of law, the fact that the defendant may not have disclosed his HIV status is not a matter which could in any way be relevant to the issue of consent under section 74 of the 2003 Act in relation to the sexual activity in this case’.</a:t>
            </a:r>
          </a:p>
          <a:p>
            <a:pPr marL="0" indent="0">
              <a:buNone/>
            </a:pPr>
            <a:endParaRPr lang="en-GB" dirty="0"/>
          </a:p>
        </p:txBody>
      </p:sp>
    </p:spTree>
    <p:extLst>
      <p:ext uri="{BB962C8B-B14F-4D97-AF65-F5344CB8AC3E}">
        <p14:creationId xmlns:p14="http://schemas.microsoft.com/office/powerpoint/2010/main" val="15245017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EFF64-0178-2C44-84CA-7AB1FAAC5B2B}"/>
              </a:ext>
            </a:extLst>
          </p:cNvPr>
          <p:cNvSpPr>
            <a:spLocks noGrp="1"/>
          </p:cNvSpPr>
          <p:nvPr>
            <p:ph type="title"/>
          </p:nvPr>
        </p:nvSpPr>
        <p:spPr/>
        <p:txBody>
          <a:bodyPr/>
          <a:lstStyle/>
          <a:p>
            <a:r>
              <a:rPr lang="en-GB" dirty="0"/>
              <a:t>Active deception</a:t>
            </a:r>
          </a:p>
        </p:txBody>
      </p:sp>
      <p:sp>
        <p:nvSpPr>
          <p:cNvPr id="3" name="Content Placeholder 2">
            <a:extLst>
              <a:ext uri="{FF2B5EF4-FFF2-40B4-BE49-F238E27FC236}">
                <a16:creationId xmlns:a16="http://schemas.microsoft.com/office/drawing/2014/main" id="{3B7B1526-6A85-2447-83DD-E28ADA9B655F}"/>
              </a:ext>
            </a:extLst>
          </p:cNvPr>
          <p:cNvSpPr>
            <a:spLocks noGrp="1"/>
          </p:cNvSpPr>
          <p:nvPr>
            <p:ph idx="1"/>
          </p:nvPr>
        </p:nvSpPr>
        <p:spPr/>
        <p:txBody>
          <a:bodyPr>
            <a:normAutofit fontScale="85000" lnSpcReduction="20000"/>
          </a:bodyPr>
          <a:lstStyle/>
          <a:p>
            <a:pPr marL="0" indent="0">
              <a:buNone/>
            </a:pPr>
            <a:r>
              <a:rPr lang="en-GB" i="1" dirty="0"/>
              <a:t>McNally</a:t>
            </a:r>
            <a:r>
              <a:rPr lang="en-GB" dirty="0"/>
              <a:t> [2013] EWCA Crim 1051:</a:t>
            </a:r>
          </a:p>
          <a:p>
            <a:pPr lvl="1"/>
            <a:r>
              <a:rPr lang="en-GB" dirty="0"/>
              <a:t>A (female but purporting to be a boy called S), conducted an internet relationship with a girl, M. S met M, while presenting herself as a boy, and sexual conduct occurred, including penetration of M's vagina. </a:t>
            </a:r>
          </a:p>
          <a:p>
            <a:pPr lvl="1"/>
            <a:r>
              <a:rPr lang="en-GB" dirty="0"/>
              <a:t>On the fourth and final visit S revealed that she was a girl. </a:t>
            </a:r>
          </a:p>
          <a:p>
            <a:pPr lvl="1"/>
            <a:r>
              <a:rPr lang="en-GB" dirty="0"/>
              <a:t>In a full account given to the police M said that she considered herself heterosexual and had consented to the sexual acts because she believed she was engaging in them with a boy called S. </a:t>
            </a:r>
          </a:p>
          <a:p>
            <a:pPr lvl="1"/>
            <a:r>
              <a:rPr lang="en-GB" dirty="0"/>
              <a:t>S pleaded guilty to six counts of assault by sexual penetration contrary to section 2 of SOA. </a:t>
            </a:r>
          </a:p>
          <a:p>
            <a:pPr lvl="1"/>
            <a:r>
              <a:rPr lang="en-GB" dirty="0"/>
              <a:t>She appealed against conviction on the ground, inter alia, that the elements of the offence were not made out because a deception as to gender could not vitiate consent. </a:t>
            </a:r>
          </a:p>
          <a:p>
            <a:pPr lvl="1"/>
            <a:r>
              <a:rPr lang="en-GB" dirty="0"/>
              <a:t>Held, dismissing the appeal against conviction:</a:t>
            </a:r>
          </a:p>
          <a:p>
            <a:endParaRPr lang="en-GB" dirty="0"/>
          </a:p>
        </p:txBody>
      </p:sp>
    </p:spTree>
    <p:extLst>
      <p:ext uri="{BB962C8B-B14F-4D97-AF65-F5344CB8AC3E}">
        <p14:creationId xmlns:p14="http://schemas.microsoft.com/office/powerpoint/2010/main" val="3481889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A4B83-170A-B9BA-C603-ADE2859E555C}"/>
              </a:ext>
            </a:extLst>
          </p:cNvPr>
          <p:cNvSpPr>
            <a:spLocks noGrp="1"/>
          </p:cNvSpPr>
          <p:nvPr>
            <p:ph type="title"/>
          </p:nvPr>
        </p:nvSpPr>
        <p:spPr/>
        <p:txBody>
          <a:bodyPr/>
          <a:lstStyle/>
          <a:p>
            <a:r>
              <a:rPr lang="en-US" dirty="0"/>
              <a:t>The law after </a:t>
            </a:r>
            <a:r>
              <a:rPr lang="en-GB" i="1" dirty="0" err="1"/>
              <a:t>Lawrance</a:t>
            </a:r>
            <a:endParaRPr lang="en-US" dirty="0"/>
          </a:p>
        </p:txBody>
      </p:sp>
      <p:sp>
        <p:nvSpPr>
          <p:cNvPr id="3" name="Content Placeholder 2">
            <a:extLst>
              <a:ext uri="{FF2B5EF4-FFF2-40B4-BE49-F238E27FC236}">
                <a16:creationId xmlns:a16="http://schemas.microsoft.com/office/drawing/2014/main" id="{EE8F8E40-879D-DF03-F291-4419DE458CBC}"/>
              </a:ext>
            </a:extLst>
          </p:cNvPr>
          <p:cNvSpPr>
            <a:spLocks noGrp="1"/>
          </p:cNvSpPr>
          <p:nvPr>
            <p:ph idx="1"/>
          </p:nvPr>
        </p:nvSpPr>
        <p:spPr/>
        <p:txBody>
          <a:bodyPr/>
          <a:lstStyle/>
          <a:p>
            <a:r>
              <a:rPr lang="en-GB" i="1" dirty="0" err="1"/>
              <a:t>Lawrance</a:t>
            </a:r>
            <a:r>
              <a:rPr lang="en-GB" dirty="0"/>
              <a:t> [2020] EWCA Crim 971:</a:t>
            </a:r>
          </a:p>
          <a:p>
            <a:pPr lvl="1"/>
            <a:r>
              <a:rPr lang="en-GB" dirty="0"/>
              <a:t>A told B that he had had a vasectomy and so she could not get pregnant. On this basis B agreed to have sex with A without a condom.</a:t>
            </a:r>
          </a:p>
          <a:p>
            <a:pPr lvl="1"/>
            <a:r>
              <a:rPr lang="en-GB" dirty="0"/>
              <a:t>After they had had sex, A left a note that he had lied and he was fertile.</a:t>
            </a:r>
          </a:p>
          <a:p>
            <a:pPr lvl="1"/>
            <a:r>
              <a:rPr lang="en-GB" dirty="0"/>
              <a:t>A later found out she was pregnant. </a:t>
            </a:r>
          </a:p>
          <a:p>
            <a:pPr marL="457200" lvl="1" indent="0">
              <a:buNone/>
            </a:pPr>
            <a:endParaRPr lang="en-GB" dirty="0"/>
          </a:p>
          <a:p>
            <a:pPr marL="458550" lvl="1" indent="0">
              <a:buNone/>
            </a:pPr>
            <a:r>
              <a:rPr lang="en-GB" sz="2000" dirty="0">
                <a:effectLst/>
                <a:latin typeface="Arial" panose="020B0604020202020204" pitchFamily="34" charset="0"/>
                <a:ea typeface="Calibri" panose="020F0502020204030204" pitchFamily="34" charset="0"/>
                <a:cs typeface="Times New Roman" panose="02020603050405020304" pitchFamily="18" charset="0"/>
              </a:rPr>
              <a:t>… it makes no difference to the issue of consent whether, as in this case, there was an express deception or, as in the case of </a:t>
            </a:r>
            <a:r>
              <a:rPr lang="en-GB" sz="2000" i="1" dirty="0">
                <a:effectLst/>
                <a:latin typeface="Arial" panose="020B0604020202020204" pitchFamily="34" charset="0"/>
                <a:ea typeface="Calibri" panose="020F0502020204030204" pitchFamily="34" charset="0"/>
                <a:cs typeface="Times New Roman" panose="02020603050405020304" pitchFamily="18" charset="0"/>
              </a:rPr>
              <a:t>B</a:t>
            </a:r>
            <a:r>
              <a:rPr lang="en-GB" sz="2000" dirty="0">
                <a:effectLst/>
                <a:latin typeface="Arial" panose="020B0604020202020204" pitchFamily="34" charset="0"/>
                <a:ea typeface="Calibri" panose="020F0502020204030204" pitchFamily="34" charset="0"/>
                <a:cs typeface="Times New Roman" panose="02020603050405020304" pitchFamily="18" charset="0"/>
              </a:rPr>
              <a:t>, a failure to disclose. [41].</a:t>
            </a:r>
          </a:p>
          <a:p>
            <a:endParaRPr lang="en-US" dirty="0"/>
          </a:p>
        </p:txBody>
      </p:sp>
    </p:spTree>
    <p:extLst>
      <p:ext uri="{BB962C8B-B14F-4D97-AF65-F5344CB8AC3E}">
        <p14:creationId xmlns:p14="http://schemas.microsoft.com/office/powerpoint/2010/main" val="9593435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71548-4B6B-BB43-9B70-55F1FEF63359}"/>
              </a:ext>
            </a:extLst>
          </p:cNvPr>
          <p:cNvSpPr>
            <a:spLocks noGrp="1"/>
          </p:cNvSpPr>
          <p:nvPr>
            <p:ph type="title"/>
          </p:nvPr>
        </p:nvSpPr>
        <p:spPr/>
        <p:txBody>
          <a:bodyPr/>
          <a:lstStyle/>
          <a:p>
            <a:r>
              <a:rPr lang="en-GB" dirty="0"/>
              <a:t>Wider circumstances of the act and deception</a:t>
            </a:r>
          </a:p>
        </p:txBody>
      </p:sp>
      <p:sp>
        <p:nvSpPr>
          <p:cNvPr id="3" name="Content Placeholder 2">
            <a:extLst>
              <a:ext uri="{FF2B5EF4-FFF2-40B4-BE49-F238E27FC236}">
                <a16:creationId xmlns:a16="http://schemas.microsoft.com/office/drawing/2014/main" id="{A87974E1-FFA0-9D47-9A71-AFB75B07FF75}"/>
              </a:ext>
            </a:extLst>
          </p:cNvPr>
          <p:cNvSpPr>
            <a:spLocks noGrp="1"/>
          </p:cNvSpPr>
          <p:nvPr>
            <p:ph idx="1"/>
          </p:nvPr>
        </p:nvSpPr>
        <p:spPr>
          <a:xfrm>
            <a:off x="684212" y="1772816"/>
            <a:ext cx="8131175" cy="4359696"/>
          </a:xfrm>
        </p:spPr>
        <p:txBody>
          <a:bodyPr>
            <a:normAutofit fontScale="77500" lnSpcReduction="20000"/>
          </a:bodyPr>
          <a:lstStyle/>
          <a:p>
            <a:r>
              <a:rPr lang="en-GB" dirty="0"/>
              <a:t>In </a:t>
            </a:r>
            <a:r>
              <a:rPr lang="en-GB" i="1" dirty="0"/>
              <a:t>McNally</a:t>
            </a:r>
            <a:r>
              <a:rPr lang="en-GB" dirty="0"/>
              <a:t>, noted A’s deception about wider circumstances related to the sexual activity cannot vitiate A’s consent, e.g. age, marital status, wealth. </a:t>
            </a:r>
          </a:p>
          <a:p>
            <a:pPr lvl="1"/>
            <a:r>
              <a:rPr lang="en-GB" i="1" dirty="0"/>
              <a:t>R (on the application of Monica)</a:t>
            </a:r>
            <a:r>
              <a:rPr lang="en-GB" dirty="0"/>
              <a:t> [2018] EWHC 3508 (Admin):</a:t>
            </a:r>
          </a:p>
          <a:p>
            <a:pPr lvl="2"/>
            <a:r>
              <a:rPr lang="en-GB" dirty="0"/>
              <a:t>Undercover police officer.</a:t>
            </a:r>
          </a:p>
          <a:p>
            <a:pPr lvl="2"/>
            <a:r>
              <a:rPr lang="en-GB" dirty="0"/>
              <a:t>Does not relate to the sexual intercourse itself rather but rather the broad circumstances surrounding it.</a:t>
            </a:r>
          </a:p>
          <a:p>
            <a:pPr lvl="2"/>
            <a:r>
              <a:rPr lang="en-GB" dirty="0"/>
              <a:t>Does not vitiate consent.</a:t>
            </a:r>
          </a:p>
          <a:p>
            <a:r>
              <a:rPr lang="en-GB" dirty="0"/>
              <a:t>See also </a:t>
            </a:r>
            <a:r>
              <a:rPr lang="en-GB" i="1" dirty="0" err="1"/>
              <a:t>Lawrance</a:t>
            </a:r>
            <a:r>
              <a:rPr lang="en-GB" dirty="0"/>
              <a:t> [2020] 2 Cr App R 29:</a:t>
            </a:r>
          </a:p>
          <a:p>
            <a:pPr lvl="1"/>
            <a:r>
              <a:rPr lang="en-GB" dirty="0"/>
              <a:t>A lied about fertility (did not vitiate).</a:t>
            </a:r>
          </a:p>
          <a:p>
            <a:r>
              <a:rPr lang="en-GB" dirty="0"/>
              <a:t>But following did as relate to sexual intercourse itself:</a:t>
            </a:r>
          </a:p>
          <a:p>
            <a:pPr lvl="1"/>
            <a:r>
              <a:rPr lang="en-GB" i="1" dirty="0"/>
              <a:t>Assange v Swedish Prosecution Authority –</a:t>
            </a:r>
            <a:r>
              <a:rPr lang="en-GB" dirty="0"/>
              <a:t> condom use.</a:t>
            </a:r>
          </a:p>
          <a:p>
            <a:pPr lvl="1"/>
            <a:r>
              <a:rPr lang="en-GB" i="1" dirty="0"/>
              <a:t>R (on the application of F) v DPP</a:t>
            </a:r>
            <a:r>
              <a:rPr lang="en-GB" dirty="0"/>
              <a:t> – agreement to withdraw pre-ejaculation.</a:t>
            </a:r>
          </a:p>
          <a:p>
            <a:pPr lvl="1"/>
            <a:r>
              <a:rPr lang="en-GB" i="1" dirty="0"/>
              <a:t>McNally</a:t>
            </a:r>
            <a:r>
              <a:rPr lang="en-GB" dirty="0"/>
              <a:t> – sex of sexual partner.</a:t>
            </a:r>
          </a:p>
        </p:txBody>
      </p:sp>
    </p:spTree>
    <p:extLst>
      <p:ext uri="{BB962C8B-B14F-4D97-AF65-F5344CB8AC3E}">
        <p14:creationId xmlns:p14="http://schemas.microsoft.com/office/powerpoint/2010/main" val="29401196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E1A01-D29C-D845-ABE3-4C87734658D9}"/>
              </a:ext>
            </a:extLst>
          </p:cNvPr>
          <p:cNvSpPr>
            <a:spLocks noGrp="1"/>
          </p:cNvSpPr>
          <p:nvPr>
            <p:ph type="title"/>
          </p:nvPr>
        </p:nvSpPr>
        <p:spPr/>
        <p:txBody>
          <a:bodyPr/>
          <a:lstStyle/>
          <a:p>
            <a:r>
              <a:rPr lang="en-GB" dirty="0"/>
              <a:t>Capacity </a:t>
            </a:r>
          </a:p>
        </p:txBody>
      </p:sp>
      <p:sp>
        <p:nvSpPr>
          <p:cNvPr id="3" name="Text Placeholder 2">
            <a:extLst>
              <a:ext uri="{FF2B5EF4-FFF2-40B4-BE49-F238E27FC236}">
                <a16:creationId xmlns:a16="http://schemas.microsoft.com/office/drawing/2014/main" id="{2454E441-B43A-1846-A625-5F3AFCB993D3}"/>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4563477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5B5B30-9C47-C648-AB98-8421933FCA6C}"/>
              </a:ext>
            </a:extLst>
          </p:cNvPr>
          <p:cNvSpPr>
            <a:spLocks noGrp="1"/>
          </p:cNvSpPr>
          <p:nvPr>
            <p:ph type="title"/>
          </p:nvPr>
        </p:nvSpPr>
        <p:spPr/>
        <p:txBody>
          <a:bodyPr/>
          <a:lstStyle/>
          <a:p>
            <a:r>
              <a:rPr lang="en-GB" dirty="0"/>
              <a:t>Having capacity to choose</a:t>
            </a:r>
          </a:p>
        </p:txBody>
      </p:sp>
      <p:sp>
        <p:nvSpPr>
          <p:cNvPr id="5" name="Content Placeholder 4">
            <a:extLst>
              <a:ext uri="{FF2B5EF4-FFF2-40B4-BE49-F238E27FC236}">
                <a16:creationId xmlns:a16="http://schemas.microsoft.com/office/drawing/2014/main" id="{1C95A493-5F32-1540-8868-675B7F4C20B1}"/>
              </a:ext>
            </a:extLst>
          </p:cNvPr>
          <p:cNvSpPr>
            <a:spLocks noGrp="1"/>
          </p:cNvSpPr>
          <p:nvPr>
            <p:ph idx="1"/>
          </p:nvPr>
        </p:nvSpPr>
        <p:spPr/>
        <p:txBody>
          <a:bodyPr>
            <a:normAutofit/>
          </a:bodyPr>
          <a:lstStyle/>
          <a:p>
            <a:r>
              <a:rPr lang="en-GB" dirty="0"/>
              <a:t>At the time of the sexual activity (not before).</a:t>
            </a:r>
          </a:p>
          <a:p>
            <a:pPr lvl="1"/>
            <a:r>
              <a:rPr lang="en-GB" dirty="0"/>
              <a:t>Based not on B’s status, but about capacity to make the decision to engage in sexual act with this person</a:t>
            </a:r>
          </a:p>
          <a:p>
            <a:pPr lvl="1"/>
            <a:r>
              <a:rPr lang="en-GB" i="1" dirty="0"/>
              <a:t>C (Cooper) </a:t>
            </a:r>
            <a:r>
              <a:rPr lang="en-GB" dirty="0"/>
              <a:t>[2009] UKHL 42:</a:t>
            </a:r>
          </a:p>
          <a:p>
            <a:pPr marL="858600" lvl="2" indent="0">
              <a:buNone/>
            </a:pPr>
            <a:r>
              <a:rPr lang="en-GB" dirty="0"/>
              <a:t>‘the case law on capacity has for some time recognised that, to be able to make a decision, the person concerned must not only be able to understand the information relevant to making it but also be able to “weigh [that information] in the balance to arrive at [a] choice”...’.</a:t>
            </a:r>
          </a:p>
          <a:p>
            <a:pPr lvl="1"/>
            <a:endParaRPr lang="en-GB" dirty="0"/>
          </a:p>
        </p:txBody>
      </p:sp>
    </p:spTree>
    <p:extLst>
      <p:ext uri="{BB962C8B-B14F-4D97-AF65-F5344CB8AC3E}">
        <p14:creationId xmlns:p14="http://schemas.microsoft.com/office/powerpoint/2010/main" val="41908912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5EE98-BBE6-7044-9589-E22F5E16A12B}"/>
              </a:ext>
            </a:extLst>
          </p:cNvPr>
          <p:cNvSpPr>
            <a:spLocks noGrp="1"/>
          </p:cNvSpPr>
          <p:nvPr>
            <p:ph type="title"/>
          </p:nvPr>
        </p:nvSpPr>
        <p:spPr/>
        <p:txBody>
          <a:bodyPr/>
          <a:lstStyle/>
          <a:p>
            <a:r>
              <a:rPr lang="en-GB" dirty="0"/>
              <a:t>Intoxication</a:t>
            </a:r>
          </a:p>
        </p:txBody>
      </p:sp>
      <p:sp>
        <p:nvSpPr>
          <p:cNvPr id="3" name="Content Placeholder 2">
            <a:extLst>
              <a:ext uri="{FF2B5EF4-FFF2-40B4-BE49-F238E27FC236}">
                <a16:creationId xmlns:a16="http://schemas.microsoft.com/office/drawing/2014/main" id="{271111FC-8B67-C543-BF93-57FA5AE54F17}"/>
              </a:ext>
            </a:extLst>
          </p:cNvPr>
          <p:cNvSpPr>
            <a:spLocks noGrp="1"/>
          </p:cNvSpPr>
          <p:nvPr>
            <p:ph idx="1"/>
          </p:nvPr>
        </p:nvSpPr>
        <p:spPr/>
        <p:txBody>
          <a:bodyPr>
            <a:normAutofit fontScale="92500"/>
          </a:bodyPr>
          <a:lstStyle/>
          <a:p>
            <a:r>
              <a:rPr lang="en-GB" dirty="0"/>
              <a:t>Questions of rape following voluntary intoxication hinge on whether:</a:t>
            </a:r>
          </a:p>
          <a:p>
            <a:pPr lvl="1"/>
            <a:r>
              <a:rPr lang="en-GB" dirty="0"/>
              <a:t>B remains capable of choosing whether or not to have intercourse, and in her drunken state agreed to do so—this would not vitiate consent.</a:t>
            </a:r>
          </a:p>
          <a:p>
            <a:pPr lvl="1"/>
            <a:r>
              <a:rPr lang="en-GB" dirty="0"/>
              <a:t>B temporarily loses capacity to chose whether or not to have intercourse on that occasion then she was not consenting—subject to A’s </a:t>
            </a:r>
            <a:r>
              <a:rPr lang="en-GB" dirty="0" err="1"/>
              <a:t>mens</a:t>
            </a:r>
            <a:r>
              <a:rPr lang="en-GB" dirty="0"/>
              <a:t> rea, if intercourse takes place then this would be rape. </a:t>
            </a:r>
          </a:p>
          <a:p>
            <a:r>
              <a:rPr lang="en-GB" dirty="0"/>
              <a:t>This is not about lower inhibitions, regret, or inability to remember, it is about capacity to consent.</a:t>
            </a:r>
          </a:p>
        </p:txBody>
      </p:sp>
    </p:spTree>
    <p:extLst>
      <p:ext uri="{BB962C8B-B14F-4D97-AF65-F5344CB8AC3E}">
        <p14:creationId xmlns:p14="http://schemas.microsoft.com/office/powerpoint/2010/main" val="39657507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14971-2DC8-CF4A-BA96-EB560EB5E327}"/>
              </a:ext>
            </a:extLst>
          </p:cNvPr>
          <p:cNvSpPr>
            <a:spLocks noGrp="1"/>
          </p:cNvSpPr>
          <p:nvPr>
            <p:ph type="title"/>
          </p:nvPr>
        </p:nvSpPr>
        <p:spPr/>
        <p:txBody>
          <a:bodyPr/>
          <a:lstStyle/>
          <a:p>
            <a:r>
              <a:rPr lang="en-GB" i="1" dirty="0"/>
              <a:t>Bree</a:t>
            </a:r>
            <a:r>
              <a:rPr lang="en-GB" dirty="0"/>
              <a:t> [2007] EWCA Crim 804</a:t>
            </a:r>
          </a:p>
        </p:txBody>
      </p:sp>
      <p:sp>
        <p:nvSpPr>
          <p:cNvPr id="3" name="Content Placeholder 2">
            <a:extLst>
              <a:ext uri="{FF2B5EF4-FFF2-40B4-BE49-F238E27FC236}">
                <a16:creationId xmlns:a16="http://schemas.microsoft.com/office/drawing/2014/main" id="{6824869D-07B3-2349-BBE8-2AF8E7F558B9}"/>
              </a:ext>
            </a:extLst>
          </p:cNvPr>
          <p:cNvSpPr>
            <a:spLocks noGrp="1"/>
          </p:cNvSpPr>
          <p:nvPr>
            <p:ph idx="1"/>
          </p:nvPr>
        </p:nvSpPr>
        <p:spPr/>
        <p:txBody>
          <a:bodyPr>
            <a:normAutofit fontScale="77500" lnSpcReduction="20000"/>
          </a:bodyPr>
          <a:lstStyle/>
          <a:p>
            <a:pPr lvl="0"/>
            <a:r>
              <a:rPr lang="en-GB" dirty="0"/>
              <a:t>Prosecution claim B was effectively unconscious and incapable of consenting following voluntary intoxication, and so A had raped her.</a:t>
            </a:r>
          </a:p>
          <a:p>
            <a:pPr lvl="0"/>
            <a:r>
              <a:rPr lang="en-GB" dirty="0"/>
              <a:t>A was convicted, but appealed on the basis of lack of direction on intoxicated consent by the judge to the jury.</a:t>
            </a:r>
          </a:p>
          <a:p>
            <a:pPr lvl="0"/>
            <a:r>
              <a:rPr lang="en-GB" i="1" dirty="0"/>
              <a:t>Held</a:t>
            </a:r>
            <a:r>
              <a:rPr lang="en-GB" dirty="0"/>
              <a:t>, conviction unsafe and so quashed:</a:t>
            </a:r>
          </a:p>
          <a:p>
            <a:pPr marL="858600" lvl="2" indent="0">
              <a:buNone/>
            </a:pPr>
            <a:r>
              <a:rPr lang="en-GB" dirty="0"/>
              <a:t>‘We should perhaps underline that, as a matter of practical reality, capacity to consent may evaporate well before a complainant becomes unconscious. Whether this is so or not, however, is fact-specific, or more accurately, depends on the actual state of mind of the individuals involved on the particular occasion.</a:t>
            </a:r>
          </a:p>
          <a:p>
            <a:pPr marL="858600" lvl="2" indent="0">
              <a:buNone/>
            </a:pPr>
            <a:r>
              <a:rPr lang="en-GB" dirty="0"/>
              <a:t>…</a:t>
            </a:r>
          </a:p>
          <a:p>
            <a:pPr marL="858600" lvl="2" indent="0">
              <a:buNone/>
            </a:pPr>
            <a:r>
              <a:rPr lang="en-GB" dirty="0"/>
              <a:t>The problems do not arise from the legal principles. They lie with infinite circumstances of human behaviour, usually taking place in private without independent evidence, and the consequent difficulties of proving this very serious offence’.</a:t>
            </a:r>
          </a:p>
          <a:p>
            <a:r>
              <a:rPr lang="en-GB" i="1" dirty="0" err="1"/>
              <a:t>Kamki</a:t>
            </a:r>
            <a:r>
              <a:rPr lang="en-GB" dirty="0"/>
              <a:t> [2013] EWCA Crim 2335 outlined issues judges need to take into account when drafting guidance for juries.</a:t>
            </a:r>
          </a:p>
        </p:txBody>
      </p:sp>
    </p:spTree>
    <p:extLst>
      <p:ext uri="{BB962C8B-B14F-4D97-AF65-F5344CB8AC3E}">
        <p14:creationId xmlns:p14="http://schemas.microsoft.com/office/powerpoint/2010/main" val="31151635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84690-E419-E24B-8FA4-0D7DDA99DF42}"/>
              </a:ext>
            </a:extLst>
          </p:cNvPr>
          <p:cNvSpPr>
            <a:spLocks noGrp="1"/>
          </p:cNvSpPr>
          <p:nvPr>
            <p:ph type="title"/>
          </p:nvPr>
        </p:nvSpPr>
        <p:spPr>
          <a:xfrm>
            <a:off x="685800" y="609600"/>
            <a:ext cx="8062664" cy="746126"/>
          </a:xfrm>
        </p:spPr>
        <p:txBody>
          <a:bodyPr/>
          <a:lstStyle/>
          <a:p>
            <a:r>
              <a:rPr lang="en-GB" dirty="0"/>
              <a:t>Intoxication &amp; absence of consent</a:t>
            </a:r>
          </a:p>
        </p:txBody>
      </p:sp>
      <p:sp>
        <p:nvSpPr>
          <p:cNvPr id="3" name="Content Placeholder 2">
            <a:extLst>
              <a:ext uri="{FF2B5EF4-FFF2-40B4-BE49-F238E27FC236}">
                <a16:creationId xmlns:a16="http://schemas.microsoft.com/office/drawing/2014/main" id="{D0604D23-22F2-8447-B4EA-EA0F74032EF0}"/>
              </a:ext>
            </a:extLst>
          </p:cNvPr>
          <p:cNvSpPr>
            <a:spLocks noGrp="1"/>
          </p:cNvSpPr>
          <p:nvPr>
            <p:ph idx="1"/>
          </p:nvPr>
        </p:nvSpPr>
        <p:spPr/>
        <p:txBody>
          <a:bodyPr/>
          <a:lstStyle/>
          <a:p>
            <a:r>
              <a:rPr lang="en-GB" i="1" dirty="0"/>
              <a:t>H</a:t>
            </a:r>
            <a:r>
              <a:rPr lang="en-GB" dirty="0"/>
              <a:t> [2007] EWCA Crim 2056, the Court of Appeal, confirmed that there is no need for the prosecution to demonstrate the absence of consent, nor that this was communicated to the defendant for the </a:t>
            </a:r>
            <a:r>
              <a:rPr lang="en-GB" i="1" dirty="0"/>
              <a:t>actus reus</a:t>
            </a:r>
            <a:r>
              <a:rPr lang="en-GB" dirty="0"/>
              <a:t> of rape to exist.</a:t>
            </a:r>
          </a:p>
          <a:p>
            <a:pPr lvl="1"/>
            <a:r>
              <a:rPr lang="en-GB" dirty="0"/>
              <a:t>If B cannot remember what happened, for example. </a:t>
            </a:r>
          </a:p>
        </p:txBody>
      </p:sp>
    </p:spTree>
    <p:extLst>
      <p:ext uri="{BB962C8B-B14F-4D97-AF65-F5344CB8AC3E}">
        <p14:creationId xmlns:p14="http://schemas.microsoft.com/office/powerpoint/2010/main" val="34067520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A80B8-F5F7-7246-9597-2F44A62C4AAD}"/>
              </a:ext>
            </a:extLst>
          </p:cNvPr>
          <p:cNvSpPr>
            <a:spLocks noGrp="1"/>
          </p:cNvSpPr>
          <p:nvPr>
            <p:ph type="title"/>
          </p:nvPr>
        </p:nvSpPr>
        <p:spPr/>
        <p:txBody>
          <a:bodyPr/>
          <a:lstStyle/>
          <a:p>
            <a:r>
              <a:rPr lang="en-GB" dirty="0"/>
              <a:t>Drunken sex</a:t>
            </a:r>
          </a:p>
        </p:txBody>
      </p:sp>
      <p:sp>
        <p:nvSpPr>
          <p:cNvPr id="3" name="Content Placeholder 2">
            <a:extLst>
              <a:ext uri="{FF2B5EF4-FFF2-40B4-BE49-F238E27FC236}">
                <a16:creationId xmlns:a16="http://schemas.microsoft.com/office/drawing/2014/main" id="{82E05B03-BE5A-B548-97EF-AE8A88BD5E99}"/>
              </a:ext>
            </a:extLst>
          </p:cNvPr>
          <p:cNvSpPr>
            <a:spLocks noGrp="1"/>
          </p:cNvSpPr>
          <p:nvPr>
            <p:ph idx="1"/>
          </p:nvPr>
        </p:nvSpPr>
        <p:spPr/>
        <p:txBody>
          <a:bodyPr/>
          <a:lstStyle/>
          <a:p>
            <a:pPr marL="0" indent="0">
              <a:buNone/>
            </a:pPr>
            <a:r>
              <a:rPr lang="en-GB" dirty="0"/>
              <a:t>Please remember that the law is providing a basic minimum standard for conduct that falls under the remit of the criminal law; rather than what you should strive for in your sexual lives. </a:t>
            </a:r>
            <a:r>
              <a:rPr lang="en-GB" b="1" dirty="0"/>
              <a:t>If you are in any concerns that the person you are with is too drunk to consent to, or to want to have sex then please do not have sex with them, even if you have had sex before.</a:t>
            </a:r>
            <a:endParaRPr lang="en-GB" dirty="0"/>
          </a:p>
          <a:p>
            <a:pPr marL="0" indent="0">
              <a:buNone/>
            </a:pPr>
            <a:endParaRPr lang="en-GB" dirty="0"/>
          </a:p>
        </p:txBody>
      </p:sp>
    </p:spTree>
    <p:extLst>
      <p:ext uri="{BB962C8B-B14F-4D97-AF65-F5344CB8AC3E}">
        <p14:creationId xmlns:p14="http://schemas.microsoft.com/office/powerpoint/2010/main" val="53442940"/>
      </p:ext>
    </p:extLst>
  </p:cSld>
  <p:clrMapOvr>
    <a:masterClrMapping/>
  </p:clrMapOvr>
</p:sld>
</file>

<file path=ppt/theme/theme1.xml><?xml version="1.0" encoding="utf-8"?>
<a:theme xmlns:a="http://schemas.openxmlformats.org/drawingml/2006/main" name="Lecture 1">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25DC466676EBC46AA6D894103B834EA" ma:contentTypeVersion="4" ma:contentTypeDescription="Create a new document." ma:contentTypeScope="" ma:versionID="ba0d6e5947a0952b79e872aa26003495">
  <xsd:schema xmlns:xsd="http://www.w3.org/2001/XMLSchema" xmlns:xs="http://www.w3.org/2001/XMLSchema" xmlns:p="http://schemas.microsoft.com/office/2006/metadata/properties" xmlns:ns2="8cb6f0ce-4087-48d0-bd68-6d11fe1cb46f" targetNamespace="http://schemas.microsoft.com/office/2006/metadata/properties" ma:root="true" ma:fieldsID="301b56431b729dd40b1a5f9e2ee95914" ns2:_="">
    <xsd:import namespace="8cb6f0ce-4087-48d0-bd68-6d11fe1cb46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b6f0ce-4087-48d0-bd68-6d11fe1cb4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11ECC0E-67DF-426F-B042-494B1B82AFC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6CE6F3EC-96F5-4DFB-AD69-EAA3A27DF7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b6f0ce-4087-48d0-bd68-6d11fe1cb4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25FCBDC-FD0C-49E0-B84F-74CA5847A1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Lecture 1</Template>
  <TotalTime>5001</TotalTime>
  <Words>3971</Words>
  <Application>Microsoft Macintosh PowerPoint</Application>
  <PresentationFormat>On-screen Show (4:3)</PresentationFormat>
  <Paragraphs>317</Paragraphs>
  <Slides>53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Symbol</vt:lpstr>
      <vt:lpstr>Times</vt:lpstr>
      <vt:lpstr>Times New Roman</vt:lpstr>
      <vt:lpstr>Lecture 1</vt:lpstr>
      <vt:lpstr>Sexual Offences I: Week 13</vt:lpstr>
      <vt:lpstr>Content Warning</vt:lpstr>
      <vt:lpstr>By the end of this lecture you should be able to:</vt:lpstr>
      <vt:lpstr>This is not just a topic at uni…</vt:lpstr>
      <vt:lpstr>Surviving sexual violence</vt:lpstr>
      <vt:lpstr>Support</vt:lpstr>
      <vt:lpstr>The law is not a measure of ‘good’ sex</vt:lpstr>
      <vt:lpstr>Language</vt:lpstr>
      <vt:lpstr>Structure of lectures</vt:lpstr>
      <vt:lpstr>Sexual violence in context</vt:lpstr>
      <vt:lpstr>What we know</vt:lpstr>
      <vt:lpstr>Sexual offences and the CJS</vt:lpstr>
      <vt:lpstr>PowerPoint Presentation</vt:lpstr>
      <vt:lpstr>PowerPoint Presentation</vt:lpstr>
      <vt:lpstr>Rape myths in the courtroom</vt:lpstr>
      <vt:lpstr>Consent and sexual offences Act 2003 ss1-4</vt:lpstr>
      <vt:lpstr>Consent</vt:lpstr>
      <vt:lpstr>Elements of rape</vt:lpstr>
      <vt:lpstr>Determining consent</vt:lpstr>
      <vt:lpstr>Section 76</vt:lpstr>
      <vt:lpstr>Conclusive presumption</vt:lpstr>
      <vt:lpstr>Section 76(2)(a)</vt:lpstr>
      <vt:lpstr>Limited reach</vt:lpstr>
      <vt:lpstr>Section 76(2)(b)</vt:lpstr>
      <vt:lpstr>Distinction between s74 and s76</vt:lpstr>
      <vt:lpstr>Section 75</vt:lpstr>
      <vt:lpstr>Section 75(1)</vt:lpstr>
      <vt:lpstr>Circumstances</vt:lpstr>
      <vt:lpstr>Evidence to rebut</vt:lpstr>
      <vt:lpstr>Evidential burden for rebuttal</vt:lpstr>
      <vt:lpstr>Section 74</vt:lpstr>
      <vt:lpstr>Definition under section 74</vt:lpstr>
      <vt:lpstr>Freedom</vt:lpstr>
      <vt:lpstr>‘Free agreement’</vt:lpstr>
      <vt:lpstr>C [2012] EWCA Crim 2034</vt:lpstr>
      <vt:lpstr>Consent versus submission</vt:lpstr>
      <vt:lpstr>Consent versus submission</vt:lpstr>
      <vt:lpstr>Submission with consent</vt:lpstr>
      <vt:lpstr>Choice</vt:lpstr>
      <vt:lpstr>B having options to choose from</vt:lpstr>
      <vt:lpstr>R (on the application of F) v DPP</vt:lpstr>
      <vt:lpstr>How much information does B need for her to choose to consent?</vt:lpstr>
      <vt:lpstr>Failure to disclose versus active deception </vt:lpstr>
      <vt:lpstr>Failure to disclose</vt:lpstr>
      <vt:lpstr>Active deception</vt:lpstr>
      <vt:lpstr>The law after Lawrance</vt:lpstr>
      <vt:lpstr>Wider circumstances of the act and deception</vt:lpstr>
      <vt:lpstr>Capacity </vt:lpstr>
      <vt:lpstr>Having capacity to choose</vt:lpstr>
      <vt:lpstr>Intoxication</vt:lpstr>
      <vt:lpstr>Bree [2007] EWCA Crim 804</vt:lpstr>
      <vt:lpstr>Intoxication &amp; absence of consent</vt:lpstr>
      <vt:lpstr>Drunken sex</vt:lpstr>
    </vt:vector>
  </TitlesOfParts>
  <Company>Durham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Fatal  Offences Against the Person</dc:title>
  <dc:creator>Jonathan Doak</dc:creator>
  <cp:lastModifiedBy>Reviewer</cp:lastModifiedBy>
  <cp:revision>103</cp:revision>
  <dcterms:created xsi:type="dcterms:W3CDTF">2012-10-25T14:10:47Z</dcterms:created>
  <dcterms:modified xsi:type="dcterms:W3CDTF">2025-01-14T19:58:01Z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0x010100125DC466676EBC46AA6D894103B834EA</vt:lpwstr>
  </property>
</Properties>
</file>