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48" r:id="rId4"/>
    <p:sldMasterId id="2147483792" r:id="rId5"/>
  </p:sldMasterIdLst>
  <p:notesMasterIdLst>
    <p:notesMasterId r:id="rId22"/>
  </p:notesMasterIdLst>
  <p:handoutMasterIdLst>
    <p:handoutMasterId r:id="rId23"/>
  </p:handoutMasterIdLst>
  <p:sldIdLst>
    <p:sldId id="297" r:id="rId6"/>
    <p:sldId id="311" r:id="rId7"/>
    <p:sldId id="312" r:id="rId8"/>
    <p:sldId id="313" r:id="rId9"/>
    <p:sldId id="315" r:id="rId10"/>
    <p:sldId id="329" r:id="rId11"/>
    <p:sldId id="317" r:id="rId12"/>
    <p:sldId id="319" r:id="rId13"/>
    <p:sldId id="318" r:id="rId14"/>
    <p:sldId id="320" r:id="rId15"/>
    <p:sldId id="321" r:id="rId16"/>
    <p:sldId id="322" r:id="rId17"/>
    <p:sldId id="323" r:id="rId18"/>
    <p:sldId id="326" r:id="rId19"/>
    <p:sldId id="328" r:id="rId20"/>
    <p:sldId id="324" r:id="rId21"/>
  </p:sldIdLst>
  <p:sldSz cx="9144000" cy="6858000" type="screen4x3"/>
  <p:notesSz cx="6797675" cy="9928225"/>
  <p:embeddedFontLst>
    <p:embeddedFont>
      <p:font typeface="Times" panose="02020703060505090304" pitchFamily="18" charset="0"/>
      <p:regular r:id="rId24"/>
      <p:bold r:id="rId25"/>
      <p:italic r:id="rId26"/>
      <p:boldItalic r:id="rId27"/>
    </p:embeddedFont>
  </p:embeddedFontLst>
  <p:defaultTex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80"/>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76"/>
    <p:restoredTop sz="93478" autoAdjust="0"/>
  </p:normalViewPr>
  <p:slideViewPr>
    <p:cSldViewPr>
      <p:cViewPr varScale="1">
        <p:scale>
          <a:sx n="92" d="100"/>
          <a:sy n="92" d="100"/>
        </p:scale>
        <p:origin x="688"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1.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1CC5F04B-F853-4AA9-BD37-21BFBF7B2029}" type="datetimeFigureOut">
              <a:rPr lang="en-GB" smtClean="0"/>
              <a:t>19/02/2025</a:t>
            </a:fld>
            <a:endParaRPr lang="en-GB"/>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7D3AA990-0D7A-4F8D-B741-63C40D8C68E3}" type="slidenum">
              <a:rPr lang="en-GB" smtClean="0"/>
              <a:t>‹#›</a:t>
            </a:fld>
            <a:endParaRPr lang="en-GB"/>
          </a:p>
        </p:txBody>
      </p:sp>
    </p:spTree>
    <p:extLst>
      <p:ext uri="{BB962C8B-B14F-4D97-AF65-F5344CB8AC3E}">
        <p14:creationId xmlns:p14="http://schemas.microsoft.com/office/powerpoint/2010/main" val="3241482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5124"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79768" y="4715907"/>
            <a:ext cx="5438140"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C77DB36-FD0D-48C1-A012-6A01241BC482}"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66C73BC-36B0-42E2-AC94-D34EE9196ECF}" type="slidenum">
              <a:rPr lang="en-GB" altLang="en-US" sz="1200" smtClean="0">
                <a:solidFill>
                  <a:srgbClr val="000000"/>
                </a:solidFill>
              </a:rPr>
              <a:pPr/>
              <a:t>1</a:t>
            </a:fld>
            <a:endParaRPr lang="en-GB" altLang="en-US" sz="1200">
              <a:solidFill>
                <a:srgbClr val="000000"/>
              </a:solidFill>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2</a:t>
            </a:fld>
            <a:endParaRPr lang="en-GB" altLang="en-US"/>
          </a:p>
        </p:txBody>
      </p:sp>
    </p:spTree>
    <p:extLst>
      <p:ext uri="{BB962C8B-B14F-4D97-AF65-F5344CB8AC3E}">
        <p14:creationId xmlns:p14="http://schemas.microsoft.com/office/powerpoint/2010/main" val="1639916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3</a:t>
            </a:fld>
            <a:endParaRPr lang="en-GB" altLang="en-US"/>
          </a:p>
        </p:txBody>
      </p:sp>
    </p:spTree>
    <p:extLst>
      <p:ext uri="{BB962C8B-B14F-4D97-AF65-F5344CB8AC3E}">
        <p14:creationId xmlns:p14="http://schemas.microsoft.com/office/powerpoint/2010/main" val="2940269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4</a:t>
            </a:fld>
            <a:endParaRPr lang="en-GB" altLang="en-US"/>
          </a:p>
        </p:txBody>
      </p:sp>
    </p:spTree>
    <p:extLst>
      <p:ext uri="{BB962C8B-B14F-4D97-AF65-F5344CB8AC3E}">
        <p14:creationId xmlns:p14="http://schemas.microsoft.com/office/powerpoint/2010/main" val="3457800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5</a:t>
            </a:fld>
            <a:endParaRPr lang="en-GB" altLang="en-US"/>
          </a:p>
        </p:txBody>
      </p:sp>
    </p:spTree>
    <p:extLst>
      <p:ext uri="{BB962C8B-B14F-4D97-AF65-F5344CB8AC3E}">
        <p14:creationId xmlns:p14="http://schemas.microsoft.com/office/powerpoint/2010/main" val="394718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6</a:t>
            </a:fld>
            <a:endParaRPr lang="en-GB" altLang="en-US"/>
          </a:p>
        </p:txBody>
      </p:sp>
    </p:spTree>
    <p:extLst>
      <p:ext uri="{BB962C8B-B14F-4D97-AF65-F5344CB8AC3E}">
        <p14:creationId xmlns:p14="http://schemas.microsoft.com/office/powerpoint/2010/main" val="4211051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7</a:t>
            </a:fld>
            <a:endParaRPr lang="en-GB" altLang="en-US"/>
          </a:p>
        </p:txBody>
      </p:sp>
    </p:spTree>
    <p:extLst>
      <p:ext uri="{BB962C8B-B14F-4D97-AF65-F5344CB8AC3E}">
        <p14:creationId xmlns:p14="http://schemas.microsoft.com/office/powerpoint/2010/main" val="1357250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8</a:t>
            </a:fld>
            <a:endParaRPr lang="en-GB" altLang="en-US"/>
          </a:p>
        </p:txBody>
      </p:sp>
    </p:spTree>
    <p:extLst>
      <p:ext uri="{BB962C8B-B14F-4D97-AF65-F5344CB8AC3E}">
        <p14:creationId xmlns:p14="http://schemas.microsoft.com/office/powerpoint/2010/main" val="3787071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9</a:t>
            </a:fld>
            <a:endParaRPr lang="en-GB" altLang="en-US"/>
          </a:p>
        </p:txBody>
      </p:sp>
    </p:spTree>
    <p:extLst>
      <p:ext uri="{BB962C8B-B14F-4D97-AF65-F5344CB8AC3E}">
        <p14:creationId xmlns:p14="http://schemas.microsoft.com/office/powerpoint/2010/main" val="710645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10</a:t>
            </a:fld>
            <a:endParaRPr lang="en-GB" altLang="en-US"/>
          </a:p>
        </p:txBody>
      </p:sp>
    </p:spTree>
    <p:extLst>
      <p:ext uri="{BB962C8B-B14F-4D97-AF65-F5344CB8AC3E}">
        <p14:creationId xmlns:p14="http://schemas.microsoft.com/office/powerpoint/2010/main" val="515868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11</a:t>
            </a:fld>
            <a:endParaRPr lang="en-GB" altLang="en-US"/>
          </a:p>
        </p:txBody>
      </p:sp>
    </p:spTree>
    <p:extLst>
      <p:ext uri="{BB962C8B-B14F-4D97-AF65-F5344CB8AC3E}">
        <p14:creationId xmlns:p14="http://schemas.microsoft.com/office/powerpoint/2010/main" val="706571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12</a:t>
            </a:fld>
            <a:endParaRPr lang="en-GB" altLang="en-US"/>
          </a:p>
        </p:txBody>
      </p:sp>
    </p:spTree>
    <p:extLst>
      <p:ext uri="{BB962C8B-B14F-4D97-AF65-F5344CB8AC3E}">
        <p14:creationId xmlns:p14="http://schemas.microsoft.com/office/powerpoint/2010/main" val="4170691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13</a:t>
            </a:fld>
            <a:endParaRPr lang="en-GB" altLang="en-US"/>
          </a:p>
        </p:txBody>
      </p:sp>
    </p:spTree>
    <p:extLst>
      <p:ext uri="{BB962C8B-B14F-4D97-AF65-F5344CB8AC3E}">
        <p14:creationId xmlns:p14="http://schemas.microsoft.com/office/powerpoint/2010/main" val="32416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14</a:t>
            </a:fld>
            <a:endParaRPr lang="en-GB" altLang="en-US"/>
          </a:p>
        </p:txBody>
      </p:sp>
    </p:spTree>
    <p:extLst>
      <p:ext uri="{BB962C8B-B14F-4D97-AF65-F5344CB8AC3E}">
        <p14:creationId xmlns:p14="http://schemas.microsoft.com/office/powerpoint/2010/main" val="40767469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15</a:t>
            </a:fld>
            <a:endParaRPr lang="en-GB" altLang="en-US"/>
          </a:p>
        </p:txBody>
      </p:sp>
    </p:spTree>
    <p:extLst>
      <p:ext uri="{BB962C8B-B14F-4D97-AF65-F5344CB8AC3E}">
        <p14:creationId xmlns:p14="http://schemas.microsoft.com/office/powerpoint/2010/main" val="4258635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16</a:t>
            </a:fld>
            <a:endParaRPr lang="en-GB" altLang="en-US"/>
          </a:p>
        </p:txBody>
      </p:sp>
    </p:spTree>
    <p:extLst>
      <p:ext uri="{BB962C8B-B14F-4D97-AF65-F5344CB8AC3E}">
        <p14:creationId xmlns:p14="http://schemas.microsoft.com/office/powerpoint/2010/main" val="30520216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374865E9-C975-46B8-BCC7-F2D761D0BAFA}" type="slidenum">
              <a:rPr lang="en-GB" altLang="en-US"/>
              <a:pPr>
                <a:defRPr/>
              </a:pPr>
              <a:t>‹#›</a:t>
            </a:fld>
            <a:endParaRPr lang="en-GB" altLang="en-US"/>
          </a:p>
        </p:txBody>
      </p:sp>
    </p:spTree>
    <p:extLst>
      <p:ext uri="{BB962C8B-B14F-4D97-AF65-F5344CB8AC3E}">
        <p14:creationId xmlns:p14="http://schemas.microsoft.com/office/powerpoint/2010/main" val="95089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C373052-BFBF-46FC-93B6-1CF00E3EE40D}" type="slidenum">
              <a:rPr lang="en-GB" altLang="en-US"/>
              <a:pPr>
                <a:defRPr/>
              </a:pPr>
              <a:t>‹#›</a:t>
            </a:fld>
            <a:endParaRPr lang="en-GB" altLang="en-US"/>
          </a:p>
        </p:txBody>
      </p:sp>
    </p:spTree>
    <p:extLst>
      <p:ext uri="{BB962C8B-B14F-4D97-AF65-F5344CB8AC3E}">
        <p14:creationId xmlns:p14="http://schemas.microsoft.com/office/powerpoint/2010/main" val="2474509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891A14E7-0E1F-4BAB-8E37-497D900DC396}" type="slidenum">
              <a:rPr lang="en-GB" altLang="en-US"/>
              <a:pPr>
                <a:defRPr/>
              </a:pPr>
              <a:t>‹#›</a:t>
            </a:fld>
            <a:endParaRPr lang="en-GB" altLang="en-US"/>
          </a:p>
        </p:txBody>
      </p:sp>
    </p:spTree>
    <p:extLst>
      <p:ext uri="{BB962C8B-B14F-4D97-AF65-F5344CB8AC3E}">
        <p14:creationId xmlns:p14="http://schemas.microsoft.com/office/powerpoint/2010/main" val="2931950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6D2E12F-85BD-4F5C-A357-240497D2C7A0}" type="slidenum">
              <a:rPr lang="en-GB" altLang="en-US"/>
              <a:pPr>
                <a:defRPr/>
              </a:pPr>
              <a:t>‹#›</a:t>
            </a:fld>
            <a:endParaRPr lang="en-GB" altLang="en-US"/>
          </a:p>
        </p:txBody>
      </p:sp>
    </p:spTree>
    <p:extLst>
      <p:ext uri="{BB962C8B-B14F-4D97-AF65-F5344CB8AC3E}">
        <p14:creationId xmlns:p14="http://schemas.microsoft.com/office/powerpoint/2010/main" val="1315124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A5370C4E-86BA-4D72-86E3-675490C30C16}" type="slidenum">
              <a:rPr lang="en-GB" altLang="en-US"/>
              <a:pPr>
                <a:defRPr/>
              </a:pPr>
              <a:t>‹#›</a:t>
            </a:fld>
            <a:endParaRPr lang="en-GB" altLang="en-US"/>
          </a:p>
        </p:txBody>
      </p:sp>
    </p:spTree>
    <p:extLst>
      <p:ext uri="{BB962C8B-B14F-4D97-AF65-F5344CB8AC3E}">
        <p14:creationId xmlns:p14="http://schemas.microsoft.com/office/powerpoint/2010/main" val="1780231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11ED3913-B0E8-4C31-93FA-6AF5B9A4C8FD}" type="slidenum">
              <a:rPr lang="en-GB" altLang="en-US"/>
              <a:pPr>
                <a:defRPr/>
              </a:pPr>
              <a:t>‹#›</a:t>
            </a:fld>
            <a:endParaRPr lang="en-GB" altLang="en-US"/>
          </a:p>
        </p:txBody>
      </p:sp>
    </p:spTree>
    <p:extLst>
      <p:ext uri="{BB962C8B-B14F-4D97-AF65-F5344CB8AC3E}">
        <p14:creationId xmlns:p14="http://schemas.microsoft.com/office/powerpoint/2010/main" val="3421879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DEC0345-3EE4-4F0D-8AEF-84A9B492946B}" type="slidenum">
              <a:rPr lang="en-GB" altLang="en-US"/>
              <a:pPr>
                <a:defRPr/>
              </a:pPr>
              <a:t>‹#›</a:t>
            </a:fld>
            <a:endParaRPr lang="en-GB" altLang="en-US"/>
          </a:p>
        </p:txBody>
      </p:sp>
    </p:spTree>
    <p:extLst>
      <p:ext uri="{BB962C8B-B14F-4D97-AF65-F5344CB8AC3E}">
        <p14:creationId xmlns:p14="http://schemas.microsoft.com/office/powerpoint/2010/main" val="1994164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0F79929-02DF-4E06-AA76-063D5B88FD07}" type="slidenum">
              <a:rPr lang="en-GB" altLang="en-US"/>
              <a:pPr>
                <a:defRPr/>
              </a:pPr>
              <a:t>‹#›</a:t>
            </a:fld>
            <a:endParaRPr lang="en-GB" altLang="en-US"/>
          </a:p>
        </p:txBody>
      </p:sp>
    </p:spTree>
    <p:extLst>
      <p:ext uri="{BB962C8B-B14F-4D97-AF65-F5344CB8AC3E}">
        <p14:creationId xmlns:p14="http://schemas.microsoft.com/office/powerpoint/2010/main" val="1723490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9B0DD1E-FA50-4EA3-82A1-A11F7B5BF8AF}" type="slidenum">
              <a:rPr lang="en-GB" altLang="en-US"/>
              <a:pPr>
                <a:defRPr/>
              </a:pPr>
              <a:t>‹#›</a:t>
            </a:fld>
            <a:endParaRPr lang="en-GB" altLang="en-US"/>
          </a:p>
        </p:txBody>
      </p:sp>
    </p:spTree>
    <p:extLst>
      <p:ext uri="{BB962C8B-B14F-4D97-AF65-F5344CB8AC3E}">
        <p14:creationId xmlns:p14="http://schemas.microsoft.com/office/powerpoint/2010/main" val="130461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27E8A823-E353-442E-AF5C-DDC5B9E70F5A}" type="slidenum">
              <a:rPr lang="en-GB" altLang="en-US"/>
              <a:pPr>
                <a:defRPr/>
              </a:pPr>
              <a:t>‹#›</a:t>
            </a:fld>
            <a:endParaRPr lang="en-GB" altLang="en-US"/>
          </a:p>
        </p:txBody>
      </p:sp>
    </p:spTree>
    <p:extLst>
      <p:ext uri="{BB962C8B-B14F-4D97-AF65-F5344CB8AC3E}">
        <p14:creationId xmlns:p14="http://schemas.microsoft.com/office/powerpoint/2010/main" val="3456357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C1FE3B0-2A27-40DB-9C91-0277A0C7B2D2}" type="slidenum">
              <a:rPr lang="en-GB" altLang="en-US"/>
              <a:pPr>
                <a:defRPr/>
              </a:pPr>
              <a:t>‹#›</a:t>
            </a:fld>
            <a:endParaRPr lang="en-GB" altLang="en-US"/>
          </a:p>
        </p:txBody>
      </p:sp>
    </p:spTree>
    <p:extLst>
      <p:ext uri="{BB962C8B-B14F-4D97-AF65-F5344CB8AC3E}">
        <p14:creationId xmlns:p14="http://schemas.microsoft.com/office/powerpoint/2010/main" val="18902200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US"/>
              <a:t>Click to edit Master title style</a:t>
            </a:r>
            <a:endParaRPr lang="en-GB"/>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US"/>
              <a:t>Click to edit Master subtitle style</a:t>
            </a:r>
            <a:endParaRPr lang="en-GB"/>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1F277032-A232-4923-8C51-35BF8EC116C5}" type="slidenum">
              <a:rPr lang="en-GB"/>
              <a:pPr>
                <a:defRPr/>
              </a:pPr>
              <a:t>‹#›</a:t>
            </a:fld>
            <a:endParaRPr lang="en-GB"/>
          </a:p>
        </p:txBody>
      </p:sp>
    </p:spTree>
    <p:extLst>
      <p:ext uri="{BB962C8B-B14F-4D97-AF65-F5344CB8AC3E}">
        <p14:creationId xmlns:p14="http://schemas.microsoft.com/office/powerpoint/2010/main" val="2557050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E39A9F4C-739E-44F8-A701-3D711D3B0885}" type="slidenum">
              <a:rPr lang="en-GB"/>
              <a:pPr>
                <a:defRPr/>
              </a:pPr>
              <a:t>‹#›</a:t>
            </a:fld>
            <a:endParaRPr lang="en-GB"/>
          </a:p>
        </p:txBody>
      </p:sp>
    </p:spTree>
    <p:extLst>
      <p:ext uri="{BB962C8B-B14F-4D97-AF65-F5344CB8AC3E}">
        <p14:creationId xmlns:p14="http://schemas.microsoft.com/office/powerpoint/2010/main" val="784265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B74149D-989A-4095-B30F-D0B281C51AA8}" type="slidenum">
              <a:rPr lang="en-GB"/>
              <a:pPr>
                <a:defRPr/>
              </a:pPr>
              <a:t>‹#›</a:t>
            </a:fld>
            <a:endParaRPr lang="en-GB"/>
          </a:p>
        </p:txBody>
      </p:sp>
    </p:spTree>
    <p:extLst>
      <p:ext uri="{BB962C8B-B14F-4D97-AF65-F5344CB8AC3E}">
        <p14:creationId xmlns:p14="http://schemas.microsoft.com/office/powerpoint/2010/main" val="15546397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F421F05-1AEA-4AE8-A525-3E05A517C042}" type="slidenum">
              <a:rPr lang="en-GB"/>
              <a:pPr>
                <a:defRPr/>
              </a:pPr>
              <a:t>‹#›</a:t>
            </a:fld>
            <a:endParaRPr lang="en-GB"/>
          </a:p>
        </p:txBody>
      </p:sp>
    </p:spTree>
    <p:extLst>
      <p:ext uri="{BB962C8B-B14F-4D97-AF65-F5344CB8AC3E}">
        <p14:creationId xmlns:p14="http://schemas.microsoft.com/office/powerpoint/2010/main" val="30201855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E8176785-3529-4663-A2A2-EE8462A17BFF}" type="slidenum">
              <a:rPr lang="en-GB"/>
              <a:pPr>
                <a:defRPr/>
              </a:pPr>
              <a:t>‹#›</a:t>
            </a:fld>
            <a:endParaRPr lang="en-GB"/>
          </a:p>
        </p:txBody>
      </p:sp>
    </p:spTree>
    <p:extLst>
      <p:ext uri="{BB962C8B-B14F-4D97-AF65-F5344CB8AC3E}">
        <p14:creationId xmlns:p14="http://schemas.microsoft.com/office/powerpoint/2010/main" val="14413279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13F340D7-2078-49F3-BAB4-DE1EBD1F5B67}" type="slidenum">
              <a:rPr lang="en-GB"/>
              <a:pPr>
                <a:defRPr/>
              </a:pPr>
              <a:t>‹#›</a:t>
            </a:fld>
            <a:endParaRPr lang="en-GB"/>
          </a:p>
        </p:txBody>
      </p:sp>
    </p:spTree>
    <p:extLst>
      <p:ext uri="{BB962C8B-B14F-4D97-AF65-F5344CB8AC3E}">
        <p14:creationId xmlns:p14="http://schemas.microsoft.com/office/powerpoint/2010/main" val="3073133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07522E52-8A30-42A4-BFA1-6144F0A09E35}" type="slidenum">
              <a:rPr lang="en-GB"/>
              <a:pPr>
                <a:defRPr/>
              </a:pPr>
              <a:t>‹#›</a:t>
            </a:fld>
            <a:endParaRPr lang="en-GB"/>
          </a:p>
        </p:txBody>
      </p:sp>
    </p:spTree>
    <p:extLst>
      <p:ext uri="{BB962C8B-B14F-4D97-AF65-F5344CB8AC3E}">
        <p14:creationId xmlns:p14="http://schemas.microsoft.com/office/powerpoint/2010/main" val="2941650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D45042F6-58B5-42DB-A37F-A92E809DBB39}" type="slidenum">
              <a:rPr lang="en-GB"/>
              <a:pPr>
                <a:defRPr/>
              </a:pPr>
              <a:t>‹#›</a:t>
            </a:fld>
            <a:endParaRPr lang="en-GB"/>
          </a:p>
        </p:txBody>
      </p:sp>
    </p:spTree>
    <p:extLst>
      <p:ext uri="{BB962C8B-B14F-4D97-AF65-F5344CB8AC3E}">
        <p14:creationId xmlns:p14="http://schemas.microsoft.com/office/powerpoint/2010/main" val="20718045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6FCFBE5-146D-48F3-85E2-5DB5F2ACF84E}" type="slidenum">
              <a:rPr lang="en-GB"/>
              <a:pPr>
                <a:defRPr/>
              </a:pPr>
              <a:t>‹#›</a:t>
            </a:fld>
            <a:endParaRPr lang="en-GB"/>
          </a:p>
        </p:txBody>
      </p:sp>
    </p:spTree>
    <p:extLst>
      <p:ext uri="{BB962C8B-B14F-4D97-AF65-F5344CB8AC3E}">
        <p14:creationId xmlns:p14="http://schemas.microsoft.com/office/powerpoint/2010/main" val="37088718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1771DCC-43F0-4DC9-B590-A36DA7F9250F}" type="slidenum">
              <a:rPr lang="en-GB"/>
              <a:pPr>
                <a:defRPr/>
              </a:pPr>
              <a:t>‹#›</a:t>
            </a:fld>
            <a:endParaRPr lang="en-GB"/>
          </a:p>
        </p:txBody>
      </p:sp>
    </p:spTree>
    <p:extLst>
      <p:ext uri="{BB962C8B-B14F-4D97-AF65-F5344CB8AC3E}">
        <p14:creationId xmlns:p14="http://schemas.microsoft.com/office/powerpoint/2010/main" val="3378199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7ADFF925-CDDF-40F5-B427-F091DBDA45AE}" type="slidenum">
              <a:rPr lang="en-GB"/>
              <a:pPr>
                <a:defRPr/>
              </a:pPr>
              <a:t>‹#›</a:t>
            </a:fld>
            <a:endParaRPr lang="en-GB"/>
          </a:p>
        </p:txBody>
      </p:sp>
    </p:spTree>
    <p:extLst>
      <p:ext uri="{BB962C8B-B14F-4D97-AF65-F5344CB8AC3E}">
        <p14:creationId xmlns:p14="http://schemas.microsoft.com/office/powerpoint/2010/main" val="4157746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r>
              <a:rPr lang="en-GB" altLang="en-US">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491A1708-3092-4697-8453-7594478CD250}" type="slidenum">
              <a:rPr lang="en-GB" altLang="en-US"/>
              <a:pPr>
                <a:defRPr/>
              </a:pPr>
              <a:t>‹#›</a:t>
            </a:fld>
            <a:endParaRPr lang="en-GB" altLang="en-US"/>
          </a:p>
        </p:txBody>
      </p:sp>
      <p:sp>
        <p:nvSpPr>
          <p:cNvPr id="1033" name="Rectangle 9"/>
          <p:cNvSpPr>
            <a:spLocks noChangeArrowheads="1"/>
          </p:cNvSpPr>
          <p:nvPr userDrawn="1"/>
        </p:nvSpPr>
        <p:spPr bwMode="auto">
          <a:xfrm>
            <a:off x="790575" y="611188"/>
            <a:ext cx="8024813" cy="1143000"/>
          </a:xfrm>
          <a:prstGeom prst="rect">
            <a:avLst/>
          </a:prstGeom>
          <a:noFill/>
          <a:ln>
            <a:noFill/>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790575" y="1798638"/>
            <a:ext cx="8024813" cy="3813175"/>
          </a:xfrm>
          <a:prstGeom prst="rect">
            <a:avLst/>
          </a:prstGeom>
          <a:noFill/>
          <a:ln>
            <a:noFill/>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20000"/>
              </a:spcBef>
              <a:defRPr/>
            </a:pPr>
            <a:endParaRPr lang="en-US" altLang="en-US" sz="1800" b="1">
              <a:solidFill>
                <a:schemeClr val="bg1"/>
              </a:solidFill>
              <a:latin typeface="Arial" panose="020B0604020202020204" pitchFamily="34" charset="0"/>
            </a:endParaRPr>
          </a:p>
        </p:txBody>
      </p:sp>
      <p:pic>
        <p:nvPicPr>
          <p:cNvPr id="1035" name="Picture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50"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7"/>
          <p:cNvSpPr>
            <a:spLocks noChangeArrowheads="1"/>
          </p:cNvSpPr>
          <p:nvPr/>
        </p:nvSpPr>
        <p:spPr bwMode="auto">
          <a:xfrm>
            <a:off x="0" y="0"/>
            <a:ext cx="9140825" cy="6873875"/>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r>
              <a:rPr lang="en-GB" altLang="en-US">
                <a:solidFill>
                  <a:srgbClr val="663366"/>
                </a:solidFill>
              </a:rPr>
              <a:t>∂</a:t>
            </a:r>
          </a:p>
        </p:txBody>
      </p:sp>
      <p:sp>
        <p:nvSpPr>
          <p:cNvPr id="2051" name="Rectangle 8"/>
          <p:cNvSpPr>
            <a:spLocks noChangeArrowheads="1"/>
          </p:cNvSpPr>
          <p:nvPr/>
        </p:nvSpPr>
        <p:spPr bwMode="auto">
          <a:xfrm>
            <a:off x="107950" y="107950"/>
            <a:ext cx="8924925" cy="665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sp>
        <p:nvSpPr>
          <p:cNvPr id="2052"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2053"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0F32BBF1-A42C-44B4-8BF3-28F0784A9867}" type="slidenum">
              <a:rPr lang="en-GB"/>
              <a:pPr>
                <a:defRPr/>
              </a:pPr>
              <a:t>‹#›</a:t>
            </a:fld>
            <a:endParaRPr lang="en-GB"/>
          </a:p>
        </p:txBody>
      </p:sp>
      <p:sp>
        <p:nvSpPr>
          <p:cNvPr id="2057" name="Rectangle 9"/>
          <p:cNvSpPr>
            <a:spLocks noChangeArrowheads="1"/>
          </p:cNvSpPr>
          <p:nvPr/>
        </p:nvSpPr>
        <p:spPr bwMode="auto">
          <a:xfrm>
            <a:off x="790575" y="611188"/>
            <a:ext cx="80248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defRPr/>
            </a:pPr>
            <a:endParaRPr lang="en-US" altLang="en-US" sz="4400">
              <a:solidFill>
                <a:schemeClr val="bg1"/>
              </a:solidFill>
            </a:endParaRPr>
          </a:p>
        </p:txBody>
      </p:sp>
      <p:sp>
        <p:nvSpPr>
          <p:cNvPr id="2058" name="Rectangle 10"/>
          <p:cNvSpPr>
            <a:spLocks noChangeArrowheads="1"/>
          </p:cNvSpPr>
          <p:nvPr/>
        </p:nvSpPr>
        <p:spPr bwMode="auto">
          <a:xfrm>
            <a:off x="790575" y="1798638"/>
            <a:ext cx="8024813"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20000"/>
              </a:spcBef>
              <a:defRPr/>
            </a:pPr>
            <a:endParaRPr lang="en-US" altLang="en-US" sz="1800" b="1">
              <a:solidFill>
                <a:schemeClr val="bg1"/>
              </a:solidFill>
              <a:latin typeface="Arial" panose="020B0604020202020204" pitchFamily="34" charset="0"/>
            </a:endParaRPr>
          </a:p>
        </p:txBody>
      </p:sp>
      <p:pic>
        <p:nvPicPr>
          <p:cNvPr id="2059" name="Picture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51"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eaLnBrk="1" fontAlgn="base" hangingPunct="1">
        <a:spcBef>
          <a:spcPct val="0"/>
        </a:spcBef>
        <a:spcAft>
          <a:spcPct val="0"/>
        </a:spcAft>
        <a:defRPr sz="4400">
          <a:solidFill>
            <a:srgbClr val="663366"/>
          </a:solidFill>
          <a:latin typeface="Times" pitchFamily="18" charset="0"/>
        </a:defRPr>
      </a:lvl6pPr>
      <a:lvl7pPr marL="914400" algn="l" rtl="0" eaLnBrk="1" fontAlgn="base" hangingPunct="1">
        <a:spcBef>
          <a:spcPct val="0"/>
        </a:spcBef>
        <a:spcAft>
          <a:spcPct val="0"/>
        </a:spcAft>
        <a:defRPr sz="4400">
          <a:solidFill>
            <a:srgbClr val="663366"/>
          </a:solidFill>
          <a:latin typeface="Times" pitchFamily="18" charset="0"/>
        </a:defRPr>
      </a:lvl7pPr>
      <a:lvl8pPr marL="1371600" algn="l" rtl="0" eaLnBrk="1" fontAlgn="base" hangingPunct="1">
        <a:spcBef>
          <a:spcPct val="0"/>
        </a:spcBef>
        <a:spcAft>
          <a:spcPct val="0"/>
        </a:spcAft>
        <a:defRPr sz="4400">
          <a:solidFill>
            <a:srgbClr val="663366"/>
          </a:solidFill>
          <a:latin typeface="Times" pitchFamily="18" charset="0"/>
        </a:defRPr>
      </a:lvl8pPr>
      <a:lvl9pPr marL="1828800" algn="l" rtl="0" eaLnBrk="1" fontAlgn="base" hangingPunct="1">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ctrTitle"/>
          </p:nvPr>
        </p:nvSpPr>
        <p:spPr>
          <a:xfrm>
            <a:off x="688032" y="2060848"/>
            <a:ext cx="7772400" cy="1470025"/>
          </a:xfrm>
        </p:spPr>
        <p:txBody>
          <a:bodyPr/>
          <a:lstStyle/>
          <a:p>
            <a:pPr algn="r" eaLnBrk="1" hangingPunct="1"/>
            <a:r>
              <a:rPr lang="de-DE" altLang="en-US" dirty="0">
                <a:latin typeface="Arial" panose="020B0604020202020204" pitchFamily="34" charset="0"/>
                <a:cs typeface="Arial" panose="020B0604020202020204" pitchFamily="34" charset="0"/>
              </a:rPr>
              <a:t>Criminal Law, Lecture 18:</a:t>
            </a:r>
            <a:br>
              <a:rPr lang="de-DE" altLang="en-US" dirty="0">
                <a:latin typeface="Arial" panose="020B0604020202020204" pitchFamily="34" charset="0"/>
                <a:cs typeface="Arial" panose="020B0604020202020204" pitchFamily="34" charset="0"/>
              </a:rPr>
            </a:br>
            <a:r>
              <a:rPr lang="de-DE" altLang="en-US" dirty="0">
                <a:latin typeface="Arial" panose="020B0604020202020204" pitchFamily="34" charset="0"/>
                <a:cs typeface="Arial" panose="020B0604020202020204" pitchFamily="34" charset="0"/>
              </a:rPr>
              <a:t>Intoxication</a:t>
            </a:r>
            <a:br>
              <a:rPr lang="de-DE" altLang="en-US" dirty="0">
                <a:latin typeface="Calibri" panose="020F0502020204030204" pitchFamily="34" charset="0"/>
                <a:cs typeface="Calibri" panose="020F0502020204030204" pitchFamily="34" charset="0"/>
              </a:rPr>
            </a:br>
            <a:endParaRPr lang="en-US" altLang="en-US" dirty="0">
              <a:latin typeface="Calibri" panose="020F0502020204030204" pitchFamily="34" charset="0"/>
              <a:cs typeface="Calibri" panose="020F0502020204030204" pitchFamily="34" charset="0"/>
            </a:endParaRPr>
          </a:p>
        </p:txBody>
      </p:sp>
      <p:sp>
        <p:nvSpPr>
          <p:cNvPr id="7171" name="Rectangle 5"/>
          <p:cNvSpPr>
            <a:spLocks noGrp="1" noChangeArrowheads="1"/>
          </p:cNvSpPr>
          <p:nvPr>
            <p:ph type="subTitle" idx="1"/>
          </p:nvPr>
        </p:nvSpPr>
        <p:spPr>
          <a:xfrm>
            <a:off x="764180" y="3502025"/>
            <a:ext cx="7993063" cy="2879725"/>
          </a:xfrm>
        </p:spPr>
        <p:txBody>
          <a:bodyPr/>
          <a:lstStyle/>
          <a:p>
            <a:pPr algn="r" eaLnBrk="1" hangingPunct="1"/>
            <a:endParaRPr lang="en-GB" altLang="en-US" sz="2400" b="0" dirty="0">
              <a:latin typeface="Calibri" panose="020F0502020204030204" pitchFamily="34" charset="0"/>
              <a:cs typeface="Calibri" panose="020F0502020204030204" pitchFamily="34" charset="0"/>
            </a:endParaRPr>
          </a:p>
          <a:p>
            <a:pPr algn="r" eaLnBrk="1" hangingPunct="1"/>
            <a:r>
              <a:rPr lang="en-GB" altLang="en-US" sz="2400" b="0" dirty="0" err="1">
                <a:latin typeface="Arial" panose="020B0604020202020204" pitchFamily="34" charset="0"/>
                <a:cs typeface="Arial" panose="020B0604020202020204" pitchFamily="34" charset="0"/>
              </a:rPr>
              <a:t>Dr.</a:t>
            </a:r>
            <a:r>
              <a:rPr lang="en-GB" altLang="en-US" sz="2400" b="0" dirty="0">
                <a:latin typeface="Arial" panose="020B0604020202020204" pitchFamily="34" charset="0"/>
                <a:cs typeface="Arial" panose="020B0604020202020204" pitchFamily="34" charset="0"/>
              </a:rPr>
              <a:t> Kat Langley</a:t>
            </a:r>
          </a:p>
          <a:p>
            <a:pPr algn="r" eaLnBrk="1" hangingPunct="1"/>
            <a:r>
              <a:rPr lang="en-GB" altLang="en-US" sz="2400" b="0" dirty="0" err="1">
                <a:latin typeface="Arial" panose="020B0604020202020204" pitchFamily="34" charset="0"/>
                <a:cs typeface="Arial" panose="020B0604020202020204" pitchFamily="34" charset="0"/>
              </a:rPr>
              <a:t>Katherine.l.langley@durham.ac.uk</a:t>
            </a:r>
            <a:endParaRPr lang="en-GB" altLang="en-US" sz="2400" b="0" dirty="0">
              <a:latin typeface="Arial" panose="020B0604020202020204" pitchFamily="34" charset="0"/>
              <a:cs typeface="Arial" panose="020B0604020202020204" pitchFamily="34" charset="0"/>
            </a:endParaRPr>
          </a:p>
        </p:txBody>
      </p:sp>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52B19-99AF-45FD-B8F4-4F8376CB0643}"/>
              </a:ext>
            </a:extLst>
          </p:cNvPr>
          <p:cNvSpPr>
            <a:spLocks noGrp="1"/>
          </p:cNvSpPr>
          <p:nvPr>
            <p:ph type="title"/>
          </p:nvPr>
        </p:nvSpPr>
        <p:spPr/>
        <p:txBody>
          <a:bodyPr/>
          <a:lstStyle/>
          <a:p>
            <a:r>
              <a:rPr lang="en-GB" dirty="0"/>
              <a:t>Intoxication</a:t>
            </a:r>
            <a:endParaRPr lang="en-US" dirty="0"/>
          </a:p>
        </p:txBody>
      </p:sp>
      <p:sp>
        <p:nvSpPr>
          <p:cNvPr id="3" name="Content Placeholder 2">
            <a:extLst>
              <a:ext uri="{FF2B5EF4-FFF2-40B4-BE49-F238E27FC236}">
                <a16:creationId xmlns:a16="http://schemas.microsoft.com/office/drawing/2014/main" id="{9A1EA7B4-BE93-4840-8E28-6A67EFC90F1A}"/>
              </a:ext>
            </a:extLst>
          </p:cNvPr>
          <p:cNvSpPr>
            <a:spLocks noGrp="1"/>
          </p:cNvSpPr>
          <p:nvPr>
            <p:ph idx="1"/>
          </p:nvPr>
        </p:nvSpPr>
        <p:spPr/>
        <p:txBody>
          <a:bodyPr/>
          <a:lstStyle/>
          <a:p>
            <a:r>
              <a:rPr lang="en-GB" b="1" dirty="0"/>
              <a:t>ONS (2021) – Alcohol Related Offences:</a:t>
            </a:r>
          </a:p>
          <a:p>
            <a:pPr>
              <a:buFont typeface="Arial" panose="020B0604020202020204" pitchFamily="34" charset="0"/>
              <a:buChar char="•"/>
            </a:pPr>
            <a:r>
              <a:rPr lang="en-US" dirty="0"/>
              <a:t>Alcohol involved in more than a third of domestic violence cases. </a:t>
            </a:r>
          </a:p>
          <a:p>
            <a:pPr>
              <a:buFont typeface="Arial" panose="020B0604020202020204" pitchFamily="34" charset="0"/>
              <a:buChar char="•"/>
            </a:pPr>
            <a:r>
              <a:rPr lang="en-US" dirty="0"/>
              <a:t>Victims perceived the offender(s) to be under the influence of alcohol in 53% of violent incidents measured by in.704,000 ‘alcohol-related’ violent incidents. While the volume of incidents has fallen, the proportion of violent incidents that were ‘alcohol-related’ has remained relatively steady over the last ten years. </a:t>
            </a:r>
          </a:p>
          <a:p>
            <a:pPr>
              <a:buFont typeface="Arial" panose="020B0604020202020204" pitchFamily="34" charset="0"/>
              <a:buChar char="•"/>
            </a:pPr>
            <a:r>
              <a:rPr lang="en-US" dirty="0"/>
              <a:t>Alcohol was a prevalent factor in violent incidents between strangers, 64% of which were perceived to be alcohol-related.</a:t>
            </a:r>
          </a:p>
          <a:p>
            <a:pPr>
              <a:buFont typeface="Arial" panose="020B0604020202020204" pitchFamily="34" charset="0"/>
              <a:buChar char="•"/>
            </a:pPr>
            <a:r>
              <a:rPr lang="en-US" dirty="0"/>
              <a:t>Where injuries were sustained these were typically more severe in incidents of alcohol-related violence compared with other violent incidents. </a:t>
            </a:r>
            <a:endParaRPr lang="en-GB" dirty="0"/>
          </a:p>
          <a:p>
            <a:endParaRPr lang="en-US" dirty="0"/>
          </a:p>
        </p:txBody>
      </p:sp>
    </p:spTree>
    <p:extLst>
      <p:ext uri="{BB962C8B-B14F-4D97-AF65-F5344CB8AC3E}">
        <p14:creationId xmlns:p14="http://schemas.microsoft.com/office/powerpoint/2010/main" val="1750151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19FBD-0158-4403-B2F0-728B41ED52F9}"/>
              </a:ext>
            </a:extLst>
          </p:cNvPr>
          <p:cNvSpPr>
            <a:spLocks noGrp="1"/>
          </p:cNvSpPr>
          <p:nvPr>
            <p:ph type="title"/>
          </p:nvPr>
        </p:nvSpPr>
        <p:spPr/>
        <p:txBody>
          <a:bodyPr/>
          <a:lstStyle/>
          <a:p>
            <a:r>
              <a:rPr lang="en-GB" dirty="0"/>
              <a:t>Intoxication: Operation</a:t>
            </a:r>
            <a:endParaRPr lang="en-US" dirty="0"/>
          </a:p>
        </p:txBody>
      </p:sp>
      <p:sp>
        <p:nvSpPr>
          <p:cNvPr id="3" name="Content Placeholder 2">
            <a:extLst>
              <a:ext uri="{FF2B5EF4-FFF2-40B4-BE49-F238E27FC236}">
                <a16:creationId xmlns:a16="http://schemas.microsoft.com/office/drawing/2014/main" id="{6AEF2550-C083-4F12-8C18-A9F1DAE608AF}"/>
              </a:ext>
            </a:extLst>
          </p:cNvPr>
          <p:cNvSpPr>
            <a:spLocks noGrp="1"/>
          </p:cNvSpPr>
          <p:nvPr>
            <p:ph idx="1"/>
          </p:nvPr>
        </p:nvSpPr>
        <p:spPr/>
        <p:txBody>
          <a:bodyPr/>
          <a:lstStyle/>
          <a:p>
            <a:pPr algn="just">
              <a:buFont typeface="Arial" panose="020B0604020202020204" pitchFamily="34" charset="0"/>
              <a:buChar char="•"/>
            </a:pPr>
            <a:r>
              <a:rPr lang="en-GB" sz="2200" b="1" dirty="0"/>
              <a:t>Intoxication does not “excuse” or “justify” an offence </a:t>
            </a:r>
          </a:p>
          <a:p>
            <a:pPr lvl="1" algn="just">
              <a:buFont typeface="Courier New" panose="02070309020205020404" pitchFamily="49" charset="0"/>
              <a:buChar char="o"/>
            </a:pPr>
            <a:r>
              <a:rPr lang="en-GB" sz="2000" dirty="0"/>
              <a:t>It has never been a defence for D to admit the offence but claim that they would never have done it had they been sober (</a:t>
            </a:r>
            <a:r>
              <a:rPr lang="en-GB" sz="2000" b="1" i="1" dirty="0"/>
              <a:t>DPP v Beard </a:t>
            </a:r>
            <a:r>
              <a:rPr lang="en-GB" sz="2000" b="1" dirty="0"/>
              <a:t>[1920] AC 479</a:t>
            </a:r>
            <a:r>
              <a:rPr lang="en-GB" sz="2000" dirty="0"/>
              <a:t>)</a:t>
            </a:r>
          </a:p>
          <a:p>
            <a:pPr algn="just">
              <a:buFont typeface="Arial" panose="020B0604020202020204" pitchFamily="34" charset="0"/>
              <a:buChar char="•"/>
            </a:pPr>
            <a:r>
              <a:rPr lang="en-GB" sz="2200" b="1" dirty="0"/>
              <a:t>Intoxication is evidence about </a:t>
            </a:r>
            <a:r>
              <a:rPr lang="en-GB" sz="2200" b="1" dirty="0" err="1"/>
              <a:t>mens</a:t>
            </a:r>
            <a:r>
              <a:rPr lang="en-GB" sz="2200" b="1" dirty="0"/>
              <a:t> rea – at most</a:t>
            </a:r>
            <a:endParaRPr lang="en-GB" sz="2200" dirty="0"/>
          </a:p>
          <a:p>
            <a:pPr lvl="1" algn="just">
              <a:buFont typeface="Courier New" panose="02070309020205020404" pitchFamily="49" charset="0"/>
              <a:buChar char="o"/>
            </a:pPr>
            <a:r>
              <a:rPr lang="en-GB" sz="2000" dirty="0"/>
              <a:t>May be the reason D lacks </a:t>
            </a:r>
            <a:r>
              <a:rPr lang="en-GB" sz="2000" dirty="0" err="1"/>
              <a:t>mens</a:t>
            </a:r>
            <a:r>
              <a:rPr lang="en-GB" sz="2000" dirty="0"/>
              <a:t> rea – so drunk they cannot think; so drunk they are unaware of facts; so drunk they don’t realise obvious risks</a:t>
            </a:r>
          </a:p>
          <a:p>
            <a:pPr lvl="1" algn="just">
              <a:buFont typeface="Courier New" panose="02070309020205020404" pitchFamily="49" charset="0"/>
              <a:buChar char="o"/>
            </a:pPr>
            <a:r>
              <a:rPr lang="en-GB" sz="2200" dirty="0"/>
              <a:t>Might help </a:t>
            </a:r>
            <a:r>
              <a:rPr lang="en-GB" sz="2200" i="1" dirty="0"/>
              <a:t>explain</a:t>
            </a:r>
            <a:r>
              <a:rPr lang="en-GB" sz="2200" dirty="0"/>
              <a:t> what would otherwise appear to be highly improbable claims about </a:t>
            </a:r>
            <a:r>
              <a:rPr lang="en-GB" sz="2200" dirty="0" err="1"/>
              <a:t>mens</a:t>
            </a:r>
            <a:r>
              <a:rPr lang="en-GB" sz="2200" dirty="0"/>
              <a:t> rea.</a:t>
            </a:r>
          </a:p>
        </p:txBody>
      </p:sp>
    </p:spTree>
    <p:extLst>
      <p:ext uri="{BB962C8B-B14F-4D97-AF65-F5344CB8AC3E}">
        <p14:creationId xmlns:p14="http://schemas.microsoft.com/office/powerpoint/2010/main" val="385217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E46B0-5712-4F6E-9722-5F11AD2DFFA9}"/>
              </a:ext>
            </a:extLst>
          </p:cNvPr>
          <p:cNvSpPr>
            <a:spLocks noGrp="1"/>
          </p:cNvSpPr>
          <p:nvPr>
            <p:ph type="title"/>
          </p:nvPr>
        </p:nvSpPr>
        <p:spPr/>
        <p:txBody>
          <a:bodyPr/>
          <a:lstStyle/>
          <a:p>
            <a:r>
              <a:rPr lang="en-GB" dirty="0"/>
              <a:t>A Drunken MR is Still MR</a:t>
            </a:r>
            <a:endParaRPr lang="en-US" dirty="0"/>
          </a:p>
        </p:txBody>
      </p:sp>
      <p:sp>
        <p:nvSpPr>
          <p:cNvPr id="3" name="Content Placeholder 2">
            <a:extLst>
              <a:ext uri="{FF2B5EF4-FFF2-40B4-BE49-F238E27FC236}">
                <a16:creationId xmlns:a16="http://schemas.microsoft.com/office/drawing/2014/main" id="{D748DC3E-B0B5-4A80-9557-ED4A178040B8}"/>
              </a:ext>
            </a:extLst>
          </p:cNvPr>
          <p:cNvSpPr>
            <a:spLocks noGrp="1"/>
          </p:cNvSpPr>
          <p:nvPr>
            <p:ph idx="1"/>
          </p:nvPr>
        </p:nvSpPr>
        <p:spPr/>
        <p:txBody>
          <a:bodyPr/>
          <a:lstStyle/>
          <a:p>
            <a:pPr>
              <a:buFont typeface="Arial" panose="020B0604020202020204" pitchFamily="34" charset="0"/>
              <a:buChar char="•"/>
            </a:pPr>
            <a:r>
              <a:rPr lang="en-GB" b="1" dirty="0"/>
              <a:t>If D has </a:t>
            </a:r>
            <a:r>
              <a:rPr lang="en-GB" b="1" dirty="0" err="1"/>
              <a:t>mens</a:t>
            </a:r>
            <a:r>
              <a:rPr lang="en-GB" b="1" dirty="0"/>
              <a:t> rea for the offence committed, they will be guilty. Intoxication does not affect that.</a:t>
            </a:r>
          </a:p>
          <a:p>
            <a:pPr lvl="1">
              <a:buFont typeface="Arial" panose="020B0604020202020204" pitchFamily="34" charset="0"/>
              <a:buChar char="•"/>
            </a:pPr>
            <a:r>
              <a:rPr lang="en-GB" dirty="0"/>
              <a:t>A drunken/drugged intent = intent.</a:t>
            </a:r>
          </a:p>
          <a:p>
            <a:pPr lvl="1">
              <a:buFont typeface="Arial" panose="020B0604020202020204" pitchFamily="34" charset="0"/>
              <a:buChar char="•"/>
            </a:pPr>
            <a:r>
              <a:rPr lang="en-GB" dirty="0"/>
              <a:t>Drunken/drugged awareness of risk = recklessness. </a:t>
            </a:r>
          </a:p>
          <a:p>
            <a:pPr>
              <a:buFont typeface="Arial" panose="020B0604020202020204" pitchFamily="34" charset="0"/>
              <a:buChar char="•"/>
            </a:pPr>
            <a:r>
              <a:rPr lang="en-GB" b="1" dirty="0">
                <a:ln>
                  <a:solidFill>
                    <a:prstClr val="black">
                      <a:lumMod val="75000"/>
                      <a:lumOff val="25000"/>
                      <a:alpha val="10000"/>
                    </a:prstClr>
                  </a:solidFill>
                </a:ln>
              </a:rPr>
              <a:t>Even if D would not have committed the offence if sober, this </a:t>
            </a:r>
            <a:r>
              <a:rPr lang="en-GB" b="1" i="1" dirty="0">
                <a:ln>
                  <a:solidFill>
                    <a:prstClr val="black">
                      <a:lumMod val="75000"/>
                      <a:lumOff val="25000"/>
                      <a:alpha val="10000"/>
                    </a:prstClr>
                  </a:solidFill>
                </a:ln>
              </a:rPr>
              <a:t>never </a:t>
            </a:r>
            <a:r>
              <a:rPr lang="en-GB" b="1" dirty="0">
                <a:ln>
                  <a:solidFill>
                    <a:prstClr val="black">
                      <a:lumMod val="75000"/>
                      <a:lumOff val="25000"/>
                      <a:alpha val="10000"/>
                    </a:prstClr>
                  </a:solidFill>
                </a:ln>
              </a:rPr>
              <a:t>matters if they had MR </a:t>
            </a:r>
            <a:r>
              <a:rPr lang="en-GB" dirty="0">
                <a:ln>
                  <a:solidFill>
                    <a:prstClr val="black">
                      <a:lumMod val="75000"/>
                      <a:lumOff val="25000"/>
                      <a:alpha val="10000"/>
                    </a:prstClr>
                  </a:solidFill>
                </a:ln>
              </a:rPr>
              <a:t>(</a:t>
            </a:r>
            <a:r>
              <a:rPr lang="en-GB" i="1" dirty="0">
                <a:ln>
                  <a:solidFill>
                    <a:prstClr val="black">
                      <a:lumMod val="75000"/>
                      <a:lumOff val="25000"/>
                      <a:alpha val="10000"/>
                    </a:prstClr>
                  </a:solidFill>
                </a:ln>
              </a:rPr>
              <a:t>Sheehan and More </a:t>
            </a:r>
            <a:r>
              <a:rPr lang="en-GB" dirty="0">
                <a:ln>
                  <a:solidFill>
                    <a:prstClr val="black">
                      <a:lumMod val="75000"/>
                      <a:lumOff val="25000"/>
                      <a:alpha val="10000"/>
                    </a:prstClr>
                  </a:solidFill>
                </a:ln>
              </a:rPr>
              <a:t>[1975] 1 WLR 739)</a:t>
            </a:r>
          </a:p>
          <a:p>
            <a:pPr>
              <a:buFont typeface="Arial" panose="020B0604020202020204" pitchFamily="34" charset="0"/>
              <a:buChar char="•"/>
            </a:pPr>
            <a:r>
              <a:rPr lang="en-GB" b="1" dirty="0">
                <a:ln>
                  <a:solidFill>
                    <a:prstClr val="black">
                      <a:lumMod val="75000"/>
                      <a:lumOff val="25000"/>
                      <a:alpha val="10000"/>
                    </a:prstClr>
                  </a:solidFill>
                </a:ln>
              </a:rPr>
              <a:t>See </a:t>
            </a:r>
            <a:r>
              <a:rPr lang="en-GB" b="1" i="1" dirty="0">
                <a:ln>
                  <a:solidFill>
                    <a:prstClr val="black">
                      <a:lumMod val="75000"/>
                      <a:lumOff val="25000"/>
                      <a:alpha val="10000"/>
                    </a:prstClr>
                  </a:solidFill>
                </a:ln>
              </a:rPr>
              <a:t>Kingston </a:t>
            </a:r>
            <a:r>
              <a:rPr lang="en-GB" b="1" dirty="0">
                <a:ln>
                  <a:solidFill>
                    <a:prstClr val="black">
                      <a:lumMod val="75000"/>
                      <a:lumOff val="25000"/>
                      <a:alpha val="10000"/>
                    </a:prstClr>
                  </a:solidFill>
                </a:ln>
              </a:rPr>
              <a:t>[1994] 3 All ER 353</a:t>
            </a:r>
          </a:p>
          <a:p>
            <a:pPr lvl="1">
              <a:buFont typeface="Arial" panose="020B0604020202020204" pitchFamily="34" charset="0"/>
              <a:buChar char="•"/>
            </a:pPr>
            <a:r>
              <a:rPr lang="en-GB" dirty="0">
                <a:ln>
                  <a:solidFill>
                    <a:prstClr val="black">
                      <a:lumMod val="75000"/>
                      <a:lumOff val="25000"/>
                      <a:alpha val="10000"/>
                    </a:prstClr>
                  </a:solidFill>
                </a:ln>
              </a:rPr>
              <a:t>D was </a:t>
            </a:r>
            <a:r>
              <a:rPr lang="en-GB" i="1" dirty="0">
                <a:ln>
                  <a:solidFill>
                    <a:prstClr val="black">
                      <a:lumMod val="75000"/>
                      <a:lumOff val="25000"/>
                      <a:alpha val="10000"/>
                    </a:prstClr>
                  </a:solidFill>
                </a:ln>
              </a:rPr>
              <a:t>involuntarily </a:t>
            </a:r>
            <a:r>
              <a:rPr lang="en-GB" dirty="0">
                <a:ln>
                  <a:solidFill>
                    <a:prstClr val="black">
                      <a:lumMod val="75000"/>
                      <a:lumOff val="25000"/>
                      <a:alpha val="10000"/>
                    </a:prstClr>
                  </a:solidFill>
                </a:ln>
              </a:rPr>
              <a:t>intoxicated. His drink had been spiked by E. E intended D to give in to his urges.</a:t>
            </a:r>
          </a:p>
          <a:p>
            <a:pPr lvl="1">
              <a:buFont typeface="Arial" panose="020B0604020202020204" pitchFamily="34" charset="0"/>
              <a:buChar char="•"/>
            </a:pPr>
            <a:r>
              <a:rPr kumimoji="0" lang="en-GB" u="none" strike="noStrike" kern="1200" cap="none" spc="0" normalizeH="0" baseline="0" noProof="0" dirty="0">
                <a:ln>
                  <a:solidFill>
                    <a:prstClr val="black">
                      <a:lumMod val="75000"/>
                      <a:lumOff val="25000"/>
                      <a:alpha val="10000"/>
                    </a:prstClr>
                  </a:solidFill>
                </a:ln>
                <a:uLnTx/>
                <a:uFillTx/>
                <a:ea typeface="+mn-ea"/>
                <a:cs typeface="+mn-cs"/>
              </a:rPr>
              <a:t>D  sexually assaulted a 15 year old boy. </a:t>
            </a:r>
          </a:p>
          <a:p>
            <a:pPr lvl="1">
              <a:buFont typeface="Arial" panose="020B0604020202020204" pitchFamily="34" charset="0"/>
              <a:buChar char="•"/>
            </a:pPr>
            <a:r>
              <a:rPr kumimoji="0" lang="en-GB" u="none" strike="noStrike" kern="1200" cap="none" spc="0" normalizeH="0" baseline="0" noProof="0" dirty="0">
                <a:ln>
                  <a:solidFill>
                    <a:prstClr val="black">
                      <a:lumMod val="75000"/>
                      <a:lumOff val="25000"/>
                      <a:alpha val="10000"/>
                    </a:prstClr>
                  </a:solidFill>
                </a:ln>
                <a:uLnTx/>
                <a:uFillTx/>
                <a:ea typeface="+mn-ea"/>
                <a:cs typeface="+mn-cs"/>
              </a:rPr>
              <a:t>That D would have controlled himself, and would never have acted on his desires if sober, made no difference, even though </a:t>
            </a:r>
            <a:r>
              <a:rPr lang="en-GB" dirty="0">
                <a:ln>
                  <a:solidFill>
                    <a:prstClr val="black">
                      <a:lumMod val="75000"/>
                      <a:lumOff val="25000"/>
                      <a:alpha val="10000"/>
                    </a:prstClr>
                  </a:solidFill>
                </a:ln>
              </a:rPr>
              <a:t>he was maliciously manipulated through spiking. D had the </a:t>
            </a:r>
            <a:r>
              <a:rPr lang="en-GB" dirty="0" err="1">
                <a:ln>
                  <a:solidFill>
                    <a:prstClr val="black">
                      <a:lumMod val="75000"/>
                      <a:lumOff val="25000"/>
                      <a:alpha val="10000"/>
                    </a:prstClr>
                  </a:solidFill>
                </a:ln>
              </a:rPr>
              <a:t>mens</a:t>
            </a:r>
            <a:r>
              <a:rPr lang="en-GB" dirty="0">
                <a:ln>
                  <a:solidFill>
                    <a:prstClr val="black">
                      <a:lumMod val="75000"/>
                      <a:lumOff val="25000"/>
                      <a:alpha val="10000"/>
                    </a:prstClr>
                  </a:solidFill>
                </a:ln>
              </a:rPr>
              <a:t> rea. </a:t>
            </a:r>
            <a:endParaRPr kumimoji="0" lang="en-GB" u="none" strike="noStrike" kern="1200" cap="none" spc="0" normalizeH="0" baseline="0" noProof="0" dirty="0">
              <a:ln>
                <a:solidFill>
                  <a:prstClr val="black">
                    <a:lumMod val="75000"/>
                    <a:lumOff val="25000"/>
                    <a:alpha val="10000"/>
                  </a:prstClr>
                </a:solidFill>
              </a:ln>
              <a:uLnTx/>
              <a:uFillTx/>
              <a:ea typeface="+mn-ea"/>
              <a:cs typeface="+mn-cs"/>
            </a:endParaRPr>
          </a:p>
          <a:p>
            <a:endParaRPr lang="en-US" dirty="0"/>
          </a:p>
        </p:txBody>
      </p:sp>
    </p:spTree>
    <p:extLst>
      <p:ext uri="{BB962C8B-B14F-4D97-AF65-F5344CB8AC3E}">
        <p14:creationId xmlns:p14="http://schemas.microsoft.com/office/powerpoint/2010/main" val="252677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A4F03-DEAF-437B-BD4F-F186D668A171}"/>
              </a:ext>
            </a:extLst>
          </p:cNvPr>
          <p:cNvSpPr>
            <a:spLocks noGrp="1"/>
          </p:cNvSpPr>
          <p:nvPr>
            <p:ph type="title"/>
          </p:nvPr>
        </p:nvSpPr>
        <p:spPr/>
        <p:txBody>
          <a:bodyPr/>
          <a:lstStyle/>
          <a:p>
            <a:r>
              <a:rPr lang="en-GB" dirty="0"/>
              <a:t>Involuntary Intoxication</a:t>
            </a:r>
            <a:endParaRPr lang="en-US" dirty="0"/>
          </a:p>
        </p:txBody>
      </p:sp>
      <p:sp>
        <p:nvSpPr>
          <p:cNvPr id="3" name="Content Placeholder 2">
            <a:extLst>
              <a:ext uri="{FF2B5EF4-FFF2-40B4-BE49-F238E27FC236}">
                <a16:creationId xmlns:a16="http://schemas.microsoft.com/office/drawing/2014/main" id="{B2650ECE-6D77-4B36-B15F-248AAAD8778D}"/>
              </a:ext>
            </a:extLst>
          </p:cNvPr>
          <p:cNvSpPr>
            <a:spLocks noGrp="1"/>
          </p:cNvSpPr>
          <p:nvPr>
            <p:ph idx="1"/>
          </p:nvPr>
        </p:nvSpPr>
        <p:spPr>
          <a:xfrm>
            <a:off x="467544" y="1723992"/>
            <a:ext cx="7772400" cy="4297296"/>
          </a:xfrm>
        </p:spPr>
        <p:txBody>
          <a:bodyPr/>
          <a:lstStyle/>
          <a:p>
            <a:pPr algn="just">
              <a:buFont typeface="Arial" panose="020B0604020202020204" pitchFamily="34" charset="0"/>
              <a:buChar char="•"/>
            </a:pPr>
            <a:r>
              <a:rPr lang="en-GB" sz="2000" dirty="0"/>
              <a:t>Involuntary intoxication may defeat criminal liability for any crime.</a:t>
            </a:r>
          </a:p>
          <a:p>
            <a:pPr algn="just">
              <a:buFont typeface="Arial" panose="020B0604020202020204" pitchFamily="34" charset="0"/>
              <a:buChar char="•"/>
            </a:pPr>
            <a:r>
              <a:rPr lang="en-GB" sz="2000" dirty="0"/>
              <a:t>But only if it prevents D from forming the necessary </a:t>
            </a:r>
            <a:r>
              <a:rPr lang="en-GB" sz="2000" dirty="0" err="1"/>
              <a:t>mens</a:t>
            </a:r>
            <a:r>
              <a:rPr lang="en-GB" sz="2000" dirty="0"/>
              <a:t> rea (Kingston (1994) 99 Cr. App R 286)</a:t>
            </a:r>
          </a:p>
          <a:p>
            <a:pPr algn="just">
              <a:buFont typeface="Arial" panose="020B0604020202020204" pitchFamily="34" charset="0"/>
              <a:buChar char="•"/>
            </a:pPr>
            <a:r>
              <a:rPr lang="en-GB" sz="2000" dirty="0"/>
              <a:t>Involuntary intoxication is not relevant if D formed the relevant MR – factor for sentencing (Kingston (1994) 99 Cr App R 286)</a:t>
            </a:r>
          </a:p>
          <a:p>
            <a:pPr algn="just">
              <a:buFont typeface="Arial" panose="020B0604020202020204" pitchFamily="34" charset="0"/>
              <a:buChar char="•"/>
            </a:pPr>
            <a:r>
              <a:rPr lang="en-GB" sz="2000" dirty="0"/>
              <a:t>Involuntary intoxication may arise in three ways:</a:t>
            </a:r>
            <a:r>
              <a:rPr lang="en-GB" sz="2000" b="1" dirty="0"/>
              <a:t> 1) </a:t>
            </a:r>
            <a:r>
              <a:rPr lang="en-GB" sz="2000" dirty="0"/>
              <a:t>D drugged by others;</a:t>
            </a:r>
            <a:r>
              <a:rPr lang="en-GB" sz="2000" b="1" dirty="0"/>
              <a:t> 2) </a:t>
            </a:r>
            <a:r>
              <a:rPr lang="en-GB" sz="2000" dirty="0"/>
              <a:t>medically prescribed;</a:t>
            </a:r>
            <a:r>
              <a:rPr lang="en-GB" sz="2000" b="1" dirty="0"/>
              <a:t> 3) </a:t>
            </a:r>
            <a:r>
              <a:rPr lang="en-GB" sz="2000" dirty="0"/>
              <a:t>D takes a non-dangerous drug.</a:t>
            </a:r>
          </a:p>
          <a:p>
            <a:pPr algn="just">
              <a:buFont typeface="Arial" panose="020B0604020202020204" pitchFamily="34" charset="0"/>
              <a:buChar char="•"/>
            </a:pPr>
            <a:r>
              <a:rPr lang="en-GB" sz="2000" dirty="0"/>
              <a:t>Classic example: D’s drink is “spiked”</a:t>
            </a:r>
          </a:p>
          <a:p>
            <a:pPr algn="just">
              <a:buFont typeface="Arial" panose="020B0604020202020204" pitchFamily="34" charset="0"/>
              <a:buChar char="•"/>
            </a:pPr>
            <a:r>
              <a:rPr lang="en-GB" sz="2000" dirty="0"/>
              <a:t>Misunderstanding of the exact nature or its strength is irrelevant (Allen [198] Crim LR 698) </a:t>
            </a:r>
          </a:p>
        </p:txBody>
      </p:sp>
    </p:spTree>
    <p:extLst>
      <p:ext uri="{BB962C8B-B14F-4D97-AF65-F5344CB8AC3E}">
        <p14:creationId xmlns:p14="http://schemas.microsoft.com/office/powerpoint/2010/main" val="3369203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C590-C9EF-2562-3376-1B8741165A2E}"/>
              </a:ext>
            </a:extLst>
          </p:cNvPr>
          <p:cNvSpPr>
            <a:spLocks noGrp="1"/>
          </p:cNvSpPr>
          <p:nvPr>
            <p:ph type="title"/>
          </p:nvPr>
        </p:nvSpPr>
        <p:spPr/>
        <p:txBody>
          <a:bodyPr/>
          <a:lstStyle/>
          <a:p>
            <a:r>
              <a:rPr lang="en-GB" dirty="0"/>
              <a:t>3. D taken a non-dangerous drug</a:t>
            </a:r>
          </a:p>
        </p:txBody>
      </p:sp>
      <p:sp>
        <p:nvSpPr>
          <p:cNvPr id="3" name="Content Placeholder 2">
            <a:extLst>
              <a:ext uri="{FF2B5EF4-FFF2-40B4-BE49-F238E27FC236}">
                <a16:creationId xmlns:a16="http://schemas.microsoft.com/office/drawing/2014/main" id="{2C186AD7-A238-8D1D-41FB-5CC2D7FB7895}"/>
              </a:ext>
            </a:extLst>
          </p:cNvPr>
          <p:cNvSpPr>
            <a:spLocks noGrp="1"/>
          </p:cNvSpPr>
          <p:nvPr>
            <p:ph idx="1"/>
          </p:nvPr>
        </p:nvSpPr>
        <p:spPr/>
        <p:txBody>
          <a:bodyPr/>
          <a:lstStyle/>
          <a:p>
            <a:pPr>
              <a:buFont typeface="Arial" panose="020B0604020202020204" pitchFamily="34" charset="0"/>
              <a:buChar char="•"/>
            </a:pPr>
            <a:r>
              <a:rPr lang="en-GB" sz="2000" dirty="0"/>
              <a:t>It will be involuntary intoxication if the D has taken a non-dangerous drug provided he was not</a:t>
            </a:r>
            <a:r>
              <a:rPr lang="en-GB" sz="2000" b="1" dirty="0"/>
              <a:t> reckless </a:t>
            </a:r>
            <a:r>
              <a:rPr lang="en-GB" sz="2000" dirty="0"/>
              <a:t>in taking the drug.</a:t>
            </a:r>
          </a:p>
          <a:p>
            <a:pPr>
              <a:buFont typeface="Arial" panose="020B0604020202020204" pitchFamily="34" charset="0"/>
              <a:buChar char="•"/>
            </a:pPr>
            <a:r>
              <a:rPr lang="en-GB" sz="2000" dirty="0"/>
              <a:t>See </a:t>
            </a:r>
            <a:r>
              <a:rPr lang="en-GB" sz="2000" b="1" dirty="0"/>
              <a:t>Hardie [1985] 1 WLR 64 </a:t>
            </a:r>
            <a:r>
              <a:rPr lang="en-GB" sz="2000" dirty="0"/>
              <a:t>– took Valium tablets given by another and told they would do no harm. Majewski didn’t apply,</a:t>
            </a:r>
          </a:p>
          <a:p>
            <a:pPr>
              <a:buFont typeface="Arial" panose="020B0604020202020204" pitchFamily="34" charset="0"/>
              <a:buChar char="•"/>
            </a:pPr>
            <a:r>
              <a:rPr lang="en-GB" sz="2000" dirty="0"/>
              <a:t>Jury to be directed that </a:t>
            </a:r>
            <a:r>
              <a:rPr lang="en-GB" sz="2000" i="1" dirty="0"/>
              <a:t>‘if they came to the conclusion that, as a result of the Valium, the appellant was, at the time, unable to appreciate the risks to property and persons from his actions they should then consider whether the taking of the Valium was itself reckless</a:t>
            </a:r>
            <a:r>
              <a:rPr lang="en-GB" sz="2000" dirty="0"/>
              <a:t>.’</a:t>
            </a:r>
          </a:p>
          <a:p>
            <a:pPr>
              <a:buFont typeface="Arial" panose="020B0604020202020204" pitchFamily="34" charset="0"/>
              <a:buChar char="•"/>
            </a:pPr>
            <a:r>
              <a:rPr lang="en-GB" sz="2000" dirty="0"/>
              <a:t>The test of recklessness requires</a:t>
            </a:r>
            <a:r>
              <a:rPr lang="en-GB" sz="2000" i="1" dirty="0"/>
              <a:t> subjective </a:t>
            </a:r>
            <a:r>
              <a:rPr lang="en-GB" sz="2000" dirty="0"/>
              <a:t>awareness of the risks.</a:t>
            </a:r>
          </a:p>
        </p:txBody>
      </p:sp>
    </p:spTree>
    <p:extLst>
      <p:ext uri="{BB962C8B-B14F-4D97-AF65-F5344CB8AC3E}">
        <p14:creationId xmlns:p14="http://schemas.microsoft.com/office/powerpoint/2010/main" val="2771491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9F4CA-4A25-4C74-94DC-E22B6C9394E9}"/>
              </a:ext>
            </a:extLst>
          </p:cNvPr>
          <p:cNvSpPr>
            <a:spLocks noGrp="1"/>
          </p:cNvSpPr>
          <p:nvPr>
            <p:ph type="title"/>
          </p:nvPr>
        </p:nvSpPr>
        <p:spPr/>
        <p:txBody>
          <a:bodyPr/>
          <a:lstStyle/>
          <a:p>
            <a:r>
              <a:rPr lang="en-GB" dirty="0"/>
              <a:t>Voluntary Intoxication</a:t>
            </a:r>
            <a:endParaRPr lang="en-US" dirty="0"/>
          </a:p>
        </p:txBody>
      </p:sp>
      <p:sp>
        <p:nvSpPr>
          <p:cNvPr id="3" name="Content Placeholder 2">
            <a:extLst>
              <a:ext uri="{FF2B5EF4-FFF2-40B4-BE49-F238E27FC236}">
                <a16:creationId xmlns:a16="http://schemas.microsoft.com/office/drawing/2014/main" id="{AD86F26C-C1CD-4ADE-ACB2-B82640805509}"/>
              </a:ext>
            </a:extLst>
          </p:cNvPr>
          <p:cNvSpPr>
            <a:spLocks noGrp="1"/>
          </p:cNvSpPr>
          <p:nvPr>
            <p:ph idx="1"/>
          </p:nvPr>
        </p:nvSpPr>
        <p:spPr/>
        <p:txBody>
          <a:bodyPr/>
          <a:lstStyle/>
          <a:p>
            <a:pPr marL="0" indent="0"/>
            <a:r>
              <a:rPr lang="en-GB" sz="2200" dirty="0"/>
              <a:t>Relevance of </a:t>
            </a:r>
            <a:r>
              <a:rPr lang="en-GB" sz="2200" b="1" dirty="0"/>
              <a:t>voluntary intoxication </a:t>
            </a:r>
            <a:r>
              <a:rPr lang="en-GB" sz="2200" dirty="0"/>
              <a:t>as a denial of </a:t>
            </a:r>
            <a:r>
              <a:rPr lang="en-GB" sz="2200" dirty="0" err="1"/>
              <a:t>mens</a:t>
            </a:r>
            <a:r>
              <a:rPr lang="en-GB" sz="2200" dirty="0"/>
              <a:t> rea depends on the type of crime involved:</a:t>
            </a:r>
          </a:p>
          <a:p>
            <a:pPr marL="0" indent="0"/>
            <a:endParaRPr lang="en-GB" sz="2200" b="1" dirty="0"/>
          </a:p>
          <a:p>
            <a:pPr marL="0" indent="0"/>
            <a:r>
              <a:rPr lang="en-GB" sz="2200" b="1" dirty="0"/>
              <a:t>SPECIFIC INTENT crimes: </a:t>
            </a:r>
            <a:r>
              <a:rPr lang="en-GB" sz="2200" i="1" dirty="0"/>
              <a:t>may </a:t>
            </a:r>
            <a:r>
              <a:rPr lang="en-GB" sz="2200" dirty="0"/>
              <a:t>serve to establish a lack of </a:t>
            </a:r>
            <a:r>
              <a:rPr lang="en-GB" sz="2200" dirty="0" err="1"/>
              <a:t>mens</a:t>
            </a:r>
            <a:r>
              <a:rPr lang="en-GB" sz="2200" dirty="0"/>
              <a:t> rea.</a:t>
            </a:r>
          </a:p>
          <a:p>
            <a:pPr marL="0" indent="0"/>
            <a:endParaRPr lang="en-GB" sz="2200" b="1" dirty="0"/>
          </a:p>
          <a:p>
            <a:pPr marL="0" indent="0"/>
            <a:r>
              <a:rPr lang="en-GB" sz="2200" b="1" dirty="0"/>
              <a:t>BASIC INTENT crimes: </a:t>
            </a:r>
            <a:r>
              <a:rPr lang="en-GB" sz="2200" dirty="0"/>
              <a:t>can </a:t>
            </a:r>
            <a:r>
              <a:rPr lang="en-GB" sz="2200" i="1" dirty="0"/>
              <a:t>never </a:t>
            </a:r>
            <a:r>
              <a:rPr lang="en-GB" sz="2200" dirty="0"/>
              <a:t>serve as to negative </a:t>
            </a:r>
            <a:r>
              <a:rPr lang="en-GB" sz="2200" dirty="0" err="1"/>
              <a:t>mens</a:t>
            </a:r>
            <a:r>
              <a:rPr lang="en-GB" sz="2200" dirty="0"/>
              <a:t> rea (where “dangerous” or reckless drug taking is involved).</a:t>
            </a:r>
          </a:p>
          <a:p>
            <a:endParaRPr lang="en-US" dirty="0"/>
          </a:p>
        </p:txBody>
      </p:sp>
    </p:spTree>
    <p:extLst>
      <p:ext uri="{BB962C8B-B14F-4D97-AF65-F5344CB8AC3E}">
        <p14:creationId xmlns:p14="http://schemas.microsoft.com/office/powerpoint/2010/main" val="3306730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2C814-F03F-419B-A5CE-F0123A7D8A62}"/>
              </a:ext>
            </a:extLst>
          </p:cNvPr>
          <p:cNvSpPr>
            <a:spLocks noGrp="1"/>
          </p:cNvSpPr>
          <p:nvPr>
            <p:ph type="title"/>
          </p:nvPr>
        </p:nvSpPr>
        <p:spPr/>
        <p:txBody>
          <a:bodyPr/>
          <a:lstStyle/>
          <a:p>
            <a:r>
              <a:rPr lang="en-GB" dirty="0"/>
              <a:t>The </a:t>
            </a:r>
            <a:r>
              <a:rPr lang="en-GB" i="1" dirty="0"/>
              <a:t>Majewski </a:t>
            </a:r>
            <a:r>
              <a:rPr lang="en-GB" dirty="0"/>
              <a:t>Rules</a:t>
            </a:r>
            <a:endParaRPr lang="en-US" dirty="0"/>
          </a:p>
        </p:txBody>
      </p:sp>
      <p:sp>
        <p:nvSpPr>
          <p:cNvPr id="3" name="Content Placeholder 2">
            <a:extLst>
              <a:ext uri="{FF2B5EF4-FFF2-40B4-BE49-F238E27FC236}">
                <a16:creationId xmlns:a16="http://schemas.microsoft.com/office/drawing/2014/main" id="{DA84FB56-729F-4707-95BF-1171B3CA3D8A}"/>
              </a:ext>
            </a:extLst>
          </p:cNvPr>
          <p:cNvSpPr>
            <a:spLocks noGrp="1"/>
          </p:cNvSpPr>
          <p:nvPr>
            <p:ph idx="1"/>
          </p:nvPr>
        </p:nvSpPr>
        <p:spPr/>
        <p:txBody>
          <a:bodyPr/>
          <a:lstStyle/>
          <a:p>
            <a:pPr marL="36899" indent="0">
              <a:buNone/>
            </a:pPr>
            <a:r>
              <a:rPr lang="en-GB" sz="2000" b="1" i="1" dirty="0"/>
              <a:t>DPP v Majewski </a:t>
            </a:r>
            <a:r>
              <a:rPr lang="en-GB" sz="2000" b="1" dirty="0"/>
              <a:t>[1977] AC 443 (HL) </a:t>
            </a:r>
            <a:r>
              <a:rPr lang="en-GB" sz="2000" dirty="0"/>
              <a:t>(assault charge while intoxicated) </a:t>
            </a:r>
          </a:p>
          <a:p>
            <a:endParaRPr lang="en-GB" sz="2000" b="1" dirty="0"/>
          </a:p>
          <a:p>
            <a:pPr marL="36899" indent="0" algn="just">
              <a:buNone/>
            </a:pPr>
            <a:r>
              <a:rPr lang="en-GB" sz="2000" dirty="0">
                <a:effectLst/>
                <a:ea typeface="Times New Roman" panose="02020603050405020304" pitchFamily="18" charset="0"/>
              </a:rPr>
              <a:t>The crime D was charged with (ABH, assaulting police officer) was one </a:t>
            </a:r>
            <a:r>
              <a:rPr lang="en-GB" sz="2000" i="1" dirty="0">
                <a:effectLst/>
                <a:ea typeface="Times New Roman" panose="02020603050405020304" pitchFamily="18" charset="0"/>
              </a:rPr>
              <a:t>of basic intent </a:t>
            </a:r>
            <a:r>
              <a:rPr lang="en-GB" sz="2000" dirty="0">
                <a:effectLst/>
                <a:ea typeface="Times New Roman" panose="02020603050405020304" pitchFamily="18" charset="0"/>
              </a:rPr>
              <a:t>and:</a:t>
            </a:r>
          </a:p>
          <a:p>
            <a:pPr marL="36899" indent="0" algn="just">
              <a:buNone/>
            </a:pPr>
            <a:endParaRPr lang="en-GB" sz="2000" dirty="0">
              <a:effectLst/>
              <a:ea typeface="Times New Roman" panose="02020603050405020304" pitchFamily="18" charset="0"/>
            </a:endParaRPr>
          </a:p>
          <a:p>
            <a:pPr marL="457200" indent="0" algn="just"/>
            <a:r>
              <a:rPr lang="en-GB" sz="2000" dirty="0">
                <a:effectLst/>
                <a:ea typeface="Times New Roman" panose="02020603050405020304" pitchFamily="18" charset="0"/>
              </a:rPr>
              <a:t>‘Judges...before and since Beard’s case... have taken the view that self-induced intoxication, however gross and even if it has produced a condition akin to automatism, cannot excuse crimes of basic intent’. </a:t>
            </a:r>
          </a:p>
          <a:p>
            <a:endParaRPr lang="en-US" dirty="0"/>
          </a:p>
        </p:txBody>
      </p:sp>
    </p:spTree>
    <p:extLst>
      <p:ext uri="{BB962C8B-B14F-4D97-AF65-F5344CB8AC3E}">
        <p14:creationId xmlns:p14="http://schemas.microsoft.com/office/powerpoint/2010/main" val="2050387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A80FE-CCB5-4A1A-B529-245BA3DC3969}"/>
              </a:ext>
            </a:extLst>
          </p:cNvPr>
          <p:cNvSpPr>
            <a:spLocks noGrp="1"/>
          </p:cNvSpPr>
          <p:nvPr>
            <p:ph type="title"/>
          </p:nvPr>
        </p:nvSpPr>
        <p:spPr/>
        <p:txBody>
          <a:bodyPr/>
          <a:lstStyle/>
          <a:p>
            <a:r>
              <a:rPr lang="en-GB" dirty="0"/>
              <a:t>‘Specific’ vs ‘Basic’ Distinction</a:t>
            </a:r>
            <a:endParaRPr lang="en-US" dirty="0"/>
          </a:p>
        </p:txBody>
      </p:sp>
      <p:sp>
        <p:nvSpPr>
          <p:cNvPr id="3" name="Content Placeholder 2">
            <a:extLst>
              <a:ext uri="{FF2B5EF4-FFF2-40B4-BE49-F238E27FC236}">
                <a16:creationId xmlns:a16="http://schemas.microsoft.com/office/drawing/2014/main" id="{F5DA2AD0-2E27-446C-A683-4D85BCEEC89B}"/>
              </a:ext>
            </a:extLst>
          </p:cNvPr>
          <p:cNvSpPr>
            <a:spLocks noGrp="1"/>
          </p:cNvSpPr>
          <p:nvPr>
            <p:ph idx="1"/>
          </p:nvPr>
        </p:nvSpPr>
        <p:spPr/>
        <p:txBody>
          <a:bodyPr/>
          <a:lstStyle/>
          <a:p>
            <a:pPr marL="36899" indent="0" algn="just">
              <a:buNone/>
            </a:pPr>
            <a:r>
              <a:rPr lang="en-GB" sz="1800" b="1" dirty="0">
                <a:effectLst/>
                <a:ea typeface="Times New Roman" panose="02020603050405020304" pitchFamily="18" charset="0"/>
              </a:rPr>
              <a:t>Law Commission, </a:t>
            </a:r>
            <a:r>
              <a:rPr lang="en-GB" sz="1800" b="1" i="1" dirty="0">
                <a:effectLst/>
                <a:ea typeface="Times New Roman" panose="02020603050405020304" pitchFamily="18" charset="0"/>
              </a:rPr>
              <a:t>1995 report on intoxication</a:t>
            </a:r>
            <a:r>
              <a:rPr lang="en-GB" sz="1800" b="1" dirty="0">
                <a:effectLst/>
                <a:ea typeface="Times New Roman" panose="02020603050405020304" pitchFamily="18" charset="0"/>
              </a:rPr>
              <a:t> (para 3.17):</a:t>
            </a:r>
            <a:endParaRPr lang="en-GB" sz="1800" dirty="0">
              <a:effectLst/>
              <a:ea typeface="Times New Roman" panose="02020603050405020304" pitchFamily="18" charset="0"/>
            </a:endParaRPr>
          </a:p>
          <a:p>
            <a:pPr marL="457200" indent="0" algn="just"/>
            <a:r>
              <a:rPr lang="en-GB" sz="1800" dirty="0">
                <a:effectLst/>
                <a:ea typeface="Times New Roman" panose="02020603050405020304" pitchFamily="18" charset="0"/>
              </a:rPr>
              <a:t>‘There are a </a:t>
            </a:r>
            <a:r>
              <a:rPr lang="en-GB" sz="1800" b="1" dirty="0">
                <a:effectLst/>
                <a:ea typeface="Times New Roman" panose="02020603050405020304" pitchFamily="18" charset="0"/>
              </a:rPr>
              <a:t>number of alternative theories </a:t>
            </a:r>
            <a:r>
              <a:rPr lang="en-GB" sz="1800" dirty="0">
                <a:effectLst/>
                <a:ea typeface="Times New Roman" panose="02020603050405020304" pitchFamily="18" charset="0"/>
              </a:rPr>
              <a:t>as to the meanings of these two terms, and the criteria for categorising offences in this way; and there is a great deal of </a:t>
            </a:r>
            <a:r>
              <a:rPr lang="en-GB" sz="1800" b="1" dirty="0">
                <a:effectLst/>
                <a:ea typeface="Times New Roman" panose="02020603050405020304" pitchFamily="18" charset="0"/>
              </a:rPr>
              <a:t>uncertainty</a:t>
            </a:r>
            <a:r>
              <a:rPr lang="en-GB" sz="1800" dirty="0">
                <a:effectLst/>
                <a:ea typeface="Times New Roman" panose="02020603050405020304" pitchFamily="18" charset="0"/>
              </a:rPr>
              <a:t> as a result. We do not regard this as satisfactory’.</a:t>
            </a:r>
          </a:p>
          <a:p>
            <a:pPr marL="36899" indent="0" algn="just">
              <a:buNone/>
            </a:pPr>
            <a:endParaRPr lang="en-GB" sz="1800" dirty="0">
              <a:effectLst/>
              <a:ea typeface="Times New Roman" panose="02020603050405020304" pitchFamily="18" charset="0"/>
            </a:endParaRPr>
          </a:p>
          <a:p>
            <a:pPr marL="36899" indent="0">
              <a:buNone/>
            </a:pPr>
            <a:r>
              <a:rPr lang="en-GB" sz="1800" b="1" i="1" dirty="0">
                <a:effectLst/>
                <a:ea typeface="Times New Roman" panose="02020603050405020304" pitchFamily="18" charset="0"/>
              </a:rPr>
              <a:t>Heard</a:t>
            </a:r>
            <a:r>
              <a:rPr lang="en-GB" sz="1800" b="1" dirty="0">
                <a:effectLst/>
                <a:ea typeface="Times New Roman" panose="02020603050405020304" pitchFamily="18" charset="0"/>
              </a:rPr>
              <a:t> [2007] EWCA Crim 125 [32]:</a:t>
            </a:r>
            <a:br>
              <a:rPr lang="en-GB" sz="1800" b="1" dirty="0">
                <a:effectLst/>
                <a:ea typeface="Times New Roman" panose="02020603050405020304" pitchFamily="18" charset="0"/>
              </a:rPr>
            </a:br>
            <a:endParaRPr lang="en-GB" sz="200" dirty="0">
              <a:effectLst/>
              <a:ea typeface="Times New Roman" panose="02020603050405020304" pitchFamily="18" charset="0"/>
            </a:endParaRPr>
          </a:p>
          <a:p>
            <a:pPr marL="457200" indent="0" algn="just"/>
            <a:r>
              <a:rPr lang="en-GB" sz="1800" dirty="0">
                <a:effectLst/>
                <a:ea typeface="Times New Roman" panose="02020603050405020304" pitchFamily="18" charset="0"/>
              </a:rPr>
              <a:t>‘[There is] </a:t>
            </a:r>
            <a:r>
              <a:rPr lang="en-GB" sz="1800" b="1" dirty="0">
                <a:effectLst/>
                <a:ea typeface="Times New Roman" panose="02020603050405020304" pitchFamily="18" charset="0"/>
              </a:rPr>
              <a:t>no universally logical test </a:t>
            </a:r>
            <a:r>
              <a:rPr lang="en-GB" sz="1800" dirty="0">
                <a:effectLst/>
                <a:ea typeface="Times New Roman" panose="02020603050405020304" pitchFamily="18" charset="0"/>
              </a:rPr>
              <a:t>for distinguishing between crimes in which voluntary intoxication can be advanced as a defence and those in which it cannot; there is a large element of policy; categorisation is achieved on an offence by offence basis.’</a:t>
            </a:r>
          </a:p>
          <a:p>
            <a:endParaRPr lang="en-US" dirty="0"/>
          </a:p>
        </p:txBody>
      </p:sp>
    </p:spTree>
    <p:extLst>
      <p:ext uri="{BB962C8B-B14F-4D97-AF65-F5344CB8AC3E}">
        <p14:creationId xmlns:p14="http://schemas.microsoft.com/office/powerpoint/2010/main" val="139677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8692-2434-49B3-AAAB-29850CC18ECE}"/>
              </a:ext>
            </a:extLst>
          </p:cNvPr>
          <p:cNvSpPr>
            <a:spLocks noGrp="1"/>
          </p:cNvSpPr>
          <p:nvPr>
            <p:ph type="title"/>
          </p:nvPr>
        </p:nvSpPr>
        <p:spPr/>
        <p:txBody>
          <a:bodyPr/>
          <a:lstStyle/>
          <a:p>
            <a:r>
              <a:rPr lang="en-GB" dirty="0"/>
              <a:t>Basic Intent as </a:t>
            </a:r>
            <a:r>
              <a:rPr lang="en-GB" i="1" dirty="0"/>
              <a:t>Recklessness</a:t>
            </a:r>
            <a:endParaRPr lang="en-US" dirty="0"/>
          </a:p>
        </p:txBody>
      </p:sp>
      <p:sp>
        <p:nvSpPr>
          <p:cNvPr id="3" name="Content Placeholder 2">
            <a:extLst>
              <a:ext uri="{FF2B5EF4-FFF2-40B4-BE49-F238E27FC236}">
                <a16:creationId xmlns:a16="http://schemas.microsoft.com/office/drawing/2014/main" id="{5FDBBD9E-E5C6-42A6-8DFA-18AE7BDDBCB1}"/>
              </a:ext>
            </a:extLst>
          </p:cNvPr>
          <p:cNvSpPr>
            <a:spLocks noGrp="1"/>
          </p:cNvSpPr>
          <p:nvPr>
            <p:ph idx="1"/>
          </p:nvPr>
        </p:nvSpPr>
        <p:spPr/>
        <p:txBody>
          <a:bodyPr/>
          <a:lstStyle/>
          <a:p>
            <a:pPr>
              <a:spcAft>
                <a:spcPts val="1200"/>
              </a:spcAft>
              <a:buFont typeface="Arial" panose="020B0604020202020204" pitchFamily="34" charset="0"/>
              <a:buChar char="•"/>
            </a:pPr>
            <a:r>
              <a:rPr lang="en-GB" dirty="0"/>
              <a:t>Offences where</a:t>
            </a:r>
            <a:r>
              <a:rPr lang="en-GB" i="1" dirty="0"/>
              <a:t> recklessness </a:t>
            </a:r>
            <a:r>
              <a:rPr lang="en-GB" dirty="0"/>
              <a:t>is sufficient </a:t>
            </a:r>
            <a:r>
              <a:rPr lang="en-GB" dirty="0" err="1"/>
              <a:t>mens</a:t>
            </a:r>
            <a:r>
              <a:rPr lang="en-GB" dirty="0"/>
              <a:t> rea: e.g. battery, ABH, </a:t>
            </a:r>
            <a:r>
              <a:rPr lang="en-GB" u="sng" dirty="0"/>
              <a:t>s.20 </a:t>
            </a:r>
            <a:r>
              <a:rPr lang="en-GB" dirty="0"/>
              <a:t>wounding/GBH (and many more) are treat as basic intent and self induced intoxication is no defence. </a:t>
            </a:r>
          </a:p>
          <a:p>
            <a:pPr>
              <a:spcAft>
                <a:spcPts val="1200"/>
              </a:spcAft>
              <a:buFont typeface="Arial" panose="020B0604020202020204" pitchFamily="34" charset="0"/>
              <a:buChar char="•"/>
            </a:pPr>
            <a:r>
              <a:rPr lang="en-GB" b="1" dirty="0"/>
              <a:t>Majewski</a:t>
            </a:r>
            <a:r>
              <a:rPr lang="en-GB" dirty="0"/>
              <a:t>: ‘His cause of conduct in reducing himself by drugs and drink to that condition in my view </a:t>
            </a:r>
            <a:r>
              <a:rPr lang="en-GB" u="sng" dirty="0"/>
              <a:t>supplies the evidence of </a:t>
            </a:r>
            <a:r>
              <a:rPr lang="en-GB" u="sng" dirty="0" err="1"/>
              <a:t>mens</a:t>
            </a:r>
            <a:r>
              <a:rPr lang="en-GB" u="sng" dirty="0"/>
              <a:t> rea</a:t>
            </a:r>
            <a:r>
              <a:rPr lang="en-GB" dirty="0"/>
              <a:t>, of guilty mind certainly sufficient for crimes of basic intent. It is a reckless course of conduct and recklessness is enough to constitute the necessary MR in assault cases’.</a:t>
            </a:r>
          </a:p>
          <a:p>
            <a:pPr>
              <a:spcAft>
                <a:spcPts val="1200"/>
              </a:spcAft>
              <a:buFont typeface="Arial" panose="020B0604020202020204" pitchFamily="34" charset="0"/>
              <a:buChar char="•"/>
            </a:pPr>
            <a:r>
              <a:rPr lang="en-GB" dirty="0"/>
              <a:t>Obiter support: </a:t>
            </a:r>
            <a:r>
              <a:rPr lang="en-US" dirty="0"/>
              <a:t>‘The speech of Lord Elwyn-Jones in R v Majewski…is authority that self-induced intoxication is no </a:t>
            </a:r>
            <a:r>
              <a:rPr lang="en-US" dirty="0" err="1"/>
              <a:t>defence</a:t>
            </a:r>
            <a:r>
              <a:rPr lang="en-US" dirty="0"/>
              <a:t> to a crime in which </a:t>
            </a:r>
            <a:r>
              <a:rPr lang="en-US" b="1" dirty="0"/>
              <a:t>recklessness</a:t>
            </a:r>
            <a:r>
              <a:rPr lang="en-US" dirty="0"/>
              <a:t> is enough to constitute the necessary </a:t>
            </a:r>
            <a:r>
              <a:rPr lang="en-US" dirty="0" err="1"/>
              <a:t>mens</a:t>
            </a:r>
            <a:r>
              <a:rPr lang="en-US" dirty="0"/>
              <a:t> rea’ (Lord Diplock, in </a:t>
            </a:r>
            <a:r>
              <a:rPr lang="en-US" i="1" dirty="0"/>
              <a:t>Caldwell</a:t>
            </a:r>
            <a:r>
              <a:rPr lang="en-US" dirty="0"/>
              <a:t> [1982] AC 341, 355).</a:t>
            </a:r>
          </a:p>
          <a:p>
            <a:endParaRPr lang="en-US" dirty="0"/>
          </a:p>
        </p:txBody>
      </p:sp>
    </p:spTree>
    <p:extLst>
      <p:ext uri="{BB962C8B-B14F-4D97-AF65-F5344CB8AC3E}">
        <p14:creationId xmlns:p14="http://schemas.microsoft.com/office/powerpoint/2010/main" val="1157120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EEE08-9F18-401B-A119-0676758E959D}"/>
              </a:ext>
            </a:extLst>
          </p:cNvPr>
          <p:cNvSpPr>
            <a:spLocks noGrp="1"/>
          </p:cNvSpPr>
          <p:nvPr>
            <p:ph type="title"/>
          </p:nvPr>
        </p:nvSpPr>
        <p:spPr/>
        <p:txBody>
          <a:bodyPr/>
          <a:lstStyle/>
          <a:p>
            <a:r>
              <a:rPr lang="en-GB" dirty="0"/>
              <a:t>Specific Intent as </a:t>
            </a:r>
            <a:r>
              <a:rPr lang="en-GB" i="1" dirty="0"/>
              <a:t>Ulterior Intent</a:t>
            </a:r>
            <a:endParaRPr lang="en-US" i="1" dirty="0"/>
          </a:p>
        </p:txBody>
      </p:sp>
      <p:sp>
        <p:nvSpPr>
          <p:cNvPr id="3" name="Content Placeholder 2">
            <a:extLst>
              <a:ext uri="{FF2B5EF4-FFF2-40B4-BE49-F238E27FC236}">
                <a16:creationId xmlns:a16="http://schemas.microsoft.com/office/drawing/2014/main" id="{FC18FEC8-67BC-4993-B514-A753B875CF7B}"/>
              </a:ext>
            </a:extLst>
          </p:cNvPr>
          <p:cNvSpPr>
            <a:spLocks noGrp="1"/>
          </p:cNvSpPr>
          <p:nvPr>
            <p:ph idx="1"/>
          </p:nvPr>
        </p:nvSpPr>
        <p:spPr>
          <a:xfrm>
            <a:off x="684213" y="1772816"/>
            <a:ext cx="7772400" cy="3816350"/>
          </a:xfrm>
        </p:spPr>
        <p:txBody>
          <a:bodyPr/>
          <a:lstStyle/>
          <a:p>
            <a:pPr marL="0" indent="0"/>
            <a:r>
              <a:rPr lang="en-GB" dirty="0"/>
              <a:t>Obiter comments from </a:t>
            </a:r>
            <a:r>
              <a:rPr lang="en-GB" i="1" dirty="0"/>
              <a:t>Heard </a:t>
            </a:r>
            <a:r>
              <a:rPr lang="en-GB" dirty="0"/>
              <a:t>[2007] EWCA Crim 125: </a:t>
            </a:r>
          </a:p>
          <a:p>
            <a:pPr>
              <a:buFont typeface="Arial" panose="020B0604020202020204" pitchFamily="34" charset="0"/>
              <a:buChar char="•"/>
            </a:pPr>
            <a:r>
              <a:rPr lang="en-GB" dirty="0">
                <a:ea typeface="Times New Roman" panose="02020603050405020304" pitchFamily="18" charset="0"/>
              </a:rPr>
              <a:t>‘crimes of </a:t>
            </a:r>
            <a:r>
              <a:rPr lang="en-GB" b="1" dirty="0">
                <a:ea typeface="Times New Roman" panose="02020603050405020304" pitchFamily="18" charset="0"/>
              </a:rPr>
              <a:t>specific intent </a:t>
            </a:r>
            <a:r>
              <a:rPr lang="en-GB" dirty="0">
                <a:ea typeface="Times New Roman" panose="02020603050405020304" pitchFamily="18" charset="0"/>
              </a:rPr>
              <a:t>are those where the offence requires proof of purpose or consequence, which are not confined to, but amongst which are included, those where the </a:t>
            </a:r>
            <a:r>
              <a:rPr lang="en-GB" b="1" dirty="0">
                <a:ea typeface="Times New Roman" panose="02020603050405020304" pitchFamily="18" charset="0"/>
              </a:rPr>
              <a:t>purpose</a:t>
            </a:r>
            <a:r>
              <a:rPr lang="en-GB" dirty="0">
                <a:ea typeface="Times New Roman" panose="02020603050405020304" pitchFamily="18" charset="0"/>
              </a:rPr>
              <a:t> goes beyond the actus reus (sometimes referred to as cases of “</a:t>
            </a:r>
            <a:r>
              <a:rPr lang="en-GB" b="1" dirty="0">
                <a:ea typeface="Times New Roman" panose="02020603050405020304" pitchFamily="18" charset="0"/>
              </a:rPr>
              <a:t>ulterior intent</a:t>
            </a:r>
            <a:r>
              <a:rPr lang="en-GB" dirty="0">
                <a:ea typeface="Times New Roman" panose="02020603050405020304" pitchFamily="18" charset="0"/>
              </a:rPr>
              <a:t>”)’ ([31], Hughes LJ))</a:t>
            </a:r>
          </a:p>
          <a:p>
            <a:pPr>
              <a:buFont typeface="Arial" panose="020B0604020202020204" pitchFamily="34" charset="0"/>
              <a:buChar char="•"/>
            </a:pPr>
            <a:r>
              <a:rPr lang="en-GB" dirty="0">
                <a:ea typeface="Times New Roman" panose="02020603050405020304" pitchFamily="18" charset="0"/>
              </a:rPr>
              <a:t>The fact that the events could not be committed recklessly did not conclude the question whether this was an offence of specific intent. </a:t>
            </a:r>
          </a:p>
          <a:p>
            <a:pPr>
              <a:buFont typeface="Arial" panose="020B0604020202020204" pitchFamily="34" charset="0"/>
              <a:buChar char="•"/>
            </a:pPr>
            <a:r>
              <a:rPr lang="en-GB" dirty="0">
                <a:ea typeface="Times New Roman" panose="02020603050405020304" pitchFamily="18" charset="0"/>
              </a:rPr>
              <a:t>Crimes of specific intent are those where the offence requires proof of purpose or consequence which </a:t>
            </a:r>
            <a:r>
              <a:rPr lang="en-GB" b="1" dirty="0">
                <a:ea typeface="Times New Roman" panose="02020603050405020304" pitchFamily="18" charset="0"/>
              </a:rPr>
              <a:t>includes claims of ulterior intent</a:t>
            </a:r>
            <a:r>
              <a:rPr lang="en-GB" dirty="0">
                <a:ea typeface="Times New Roman" panose="02020603050405020304" pitchFamily="18" charset="0"/>
              </a:rPr>
              <a:t>. </a:t>
            </a:r>
          </a:p>
          <a:p>
            <a:pPr>
              <a:buFont typeface="Arial" panose="020B0604020202020204" pitchFamily="34" charset="0"/>
              <a:buChar char="•"/>
            </a:pPr>
            <a:r>
              <a:rPr lang="en-GB" dirty="0">
                <a:ea typeface="Times New Roman" panose="02020603050405020304" pitchFamily="18" charset="0"/>
              </a:rPr>
              <a:t>Sexual assault required no more than proof of a basic intent with the result that voluntary intoxication could not be relied upon to negate that intent. </a:t>
            </a:r>
          </a:p>
          <a:p>
            <a:pPr>
              <a:buFont typeface="Courier New" panose="02070309020205020404" pitchFamily="49" charset="0"/>
              <a:buChar char="o"/>
            </a:pPr>
            <a:r>
              <a:rPr kumimoji="0" lang="en-GB" b="0" i="0" u="none" strike="noStrike" kern="1200" cap="none" spc="0" normalizeH="0" baseline="0" noProof="0" dirty="0">
                <a:ln>
                  <a:solidFill>
                    <a:prstClr val="black">
                      <a:lumMod val="75000"/>
                      <a:lumOff val="25000"/>
                      <a:alpha val="10000"/>
                    </a:prstClr>
                  </a:solidFill>
                </a:ln>
                <a:uLnTx/>
                <a:uFillTx/>
                <a:ea typeface="+mn-ea"/>
                <a:cs typeface="+mn-cs"/>
              </a:rPr>
              <a:t>Court thought this was the best way of understanding </a:t>
            </a:r>
            <a:r>
              <a:rPr kumimoji="0" lang="en-GB" b="0" i="1" u="none" strike="noStrike" kern="1200" cap="none" spc="0" normalizeH="0" baseline="0" noProof="0" dirty="0">
                <a:ln>
                  <a:solidFill>
                    <a:prstClr val="black">
                      <a:lumMod val="75000"/>
                      <a:lumOff val="25000"/>
                      <a:alpha val="10000"/>
                    </a:prstClr>
                  </a:solidFill>
                </a:ln>
                <a:uLnTx/>
                <a:uFillTx/>
              </a:rPr>
              <a:t>Majewski.</a:t>
            </a:r>
            <a:endParaRPr lang="en-GB" noProof="0" dirty="0">
              <a:ln>
                <a:solidFill>
                  <a:prstClr val="black">
                    <a:lumMod val="75000"/>
                    <a:lumOff val="25000"/>
                    <a:alpha val="10000"/>
                  </a:prstClr>
                </a:solidFill>
              </a:ln>
            </a:endParaRPr>
          </a:p>
          <a:p>
            <a:endParaRPr lang="en-US" dirty="0"/>
          </a:p>
        </p:txBody>
      </p:sp>
    </p:spTree>
    <p:extLst>
      <p:ext uri="{BB962C8B-B14F-4D97-AF65-F5344CB8AC3E}">
        <p14:creationId xmlns:p14="http://schemas.microsoft.com/office/powerpoint/2010/main" val="1033608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DF3DF-64E3-458E-9D5F-6FD3405ED1AC}"/>
              </a:ext>
            </a:extLst>
          </p:cNvPr>
          <p:cNvSpPr>
            <a:spLocks noGrp="1"/>
          </p:cNvSpPr>
          <p:nvPr>
            <p:ph type="title"/>
          </p:nvPr>
        </p:nvSpPr>
        <p:spPr/>
        <p:txBody>
          <a:bodyPr/>
          <a:lstStyle/>
          <a:p>
            <a:r>
              <a:rPr lang="en-GB" dirty="0"/>
              <a:t>The Nature of the Distinction</a:t>
            </a:r>
            <a:endParaRPr lang="en-US" dirty="0"/>
          </a:p>
        </p:txBody>
      </p:sp>
      <p:sp>
        <p:nvSpPr>
          <p:cNvPr id="3" name="Content Placeholder 2">
            <a:extLst>
              <a:ext uri="{FF2B5EF4-FFF2-40B4-BE49-F238E27FC236}">
                <a16:creationId xmlns:a16="http://schemas.microsoft.com/office/drawing/2014/main" id="{3953727C-03CE-4F00-B4D3-8DD8CFD9C1FA}"/>
              </a:ext>
            </a:extLst>
          </p:cNvPr>
          <p:cNvSpPr>
            <a:spLocks noGrp="1"/>
          </p:cNvSpPr>
          <p:nvPr>
            <p:ph idx="1"/>
          </p:nvPr>
        </p:nvSpPr>
        <p:spPr/>
        <p:txBody>
          <a:bodyPr/>
          <a:lstStyle/>
          <a:p>
            <a:pPr marL="0" indent="0"/>
            <a:r>
              <a:rPr lang="en-GB" dirty="0"/>
              <a:t>Various theories: </a:t>
            </a:r>
          </a:p>
          <a:p>
            <a:pPr>
              <a:buFont typeface="+mj-lt"/>
              <a:buAutoNum type="arabicPeriod"/>
            </a:pPr>
            <a:r>
              <a:rPr lang="en-GB" dirty="0"/>
              <a:t>A rule of law – for crimes of basic intent, D’s fault in becoming voluntarily intoxicated supplies the MR for the offence. E</a:t>
            </a:r>
            <a:r>
              <a:rPr lang="en-GB" dirty="0">
                <a:solidFill>
                  <a:schemeClr val="bg1">
                    <a:lumMod val="50000"/>
                  </a:schemeClr>
                </a:solidFill>
              </a:rPr>
              <a:t>ffectively, the prosecution only has to prove a modified form of recklessness for the intoxication, not for the offence itself. </a:t>
            </a:r>
          </a:p>
          <a:p>
            <a:pPr>
              <a:buFont typeface="+mj-lt"/>
              <a:buAutoNum type="arabicPeriod"/>
            </a:pPr>
            <a:r>
              <a:rPr lang="en-GB" dirty="0"/>
              <a:t>A rule of evidence – evidence of voluntary intoxication is excluded, making the question whether D would have had MR had they been sober. </a:t>
            </a:r>
          </a:p>
          <a:p>
            <a:pPr>
              <a:buFont typeface="+mj-lt"/>
              <a:buAutoNum type="arabicPeriod"/>
            </a:pPr>
            <a:r>
              <a:rPr lang="en-GB" dirty="0"/>
              <a:t>A policy decision – allows D to escape liability where self-induced intoxication would lead to bad consequences. </a:t>
            </a:r>
          </a:p>
          <a:p>
            <a:pPr>
              <a:buFont typeface="+mj-lt"/>
              <a:buAutoNum type="arabicPeriod"/>
            </a:pPr>
            <a:r>
              <a:rPr lang="en-GB" dirty="0"/>
              <a:t>A question of morality – moral equivalence between committing a basic intent offence when sober and becoming voluntarily intoxicated. </a:t>
            </a:r>
          </a:p>
          <a:p>
            <a:pPr>
              <a:buFont typeface="+mj-lt"/>
              <a:buAutoNum type="arabicPeriod"/>
            </a:pPr>
            <a:endParaRPr lang="en-US" dirty="0"/>
          </a:p>
        </p:txBody>
      </p:sp>
    </p:spTree>
    <p:extLst>
      <p:ext uri="{BB962C8B-B14F-4D97-AF65-F5344CB8AC3E}">
        <p14:creationId xmlns:p14="http://schemas.microsoft.com/office/powerpoint/2010/main" val="3374543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E0EB6-0302-4B0C-A46C-26042A40EF4A}"/>
              </a:ext>
            </a:extLst>
          </p:cNvPr>
          <p:cNvSpPr>
            <a:spLocks noGrp="1"/>
          </p:cNvSpPr>
          <p:nvPr>
            <p:ph type="title"/>
          </p:nvPr>
        </p:nvSpPr>
        <p:spPr/>
        <p:txBody>
          <a:bodyPr/>
          <a:lstStyle/>
          <a:p>
            <a:r>
              <a:rPr lang="en-GB" dirty="0"/>
              <a:t>A Pragmatic Approach </a:t>
            </a:r>
            <a:endParaRPr lang="en-US" dirty="0"/>
          </a:p>
        </p:txBody>
      </p:sp>
      <p:sp>
        <p:nvSpPr>
          <p:cNvPr id="3" name="Content Placeholder 2">
            <a:extLst>
              <a:ext uri="{FF2B5EF4-FFF2-40B4-BE49-F238E27FC236}">
                <a16:creationId xmlns:a16="http://schemas.microsoft.com/office/drawing/2014/main" id="{AC096CC3-7EC2-4BE7-B8D2-7C33DE1E1F9F}"/>
              </a:ext>
            </a:extLst>
          </p:cNvPr>
          <p:cNvSpPr>
            <a:spLocks noGrp="1"/>
          </p:cNvSpPr>
          <p:nvPr>
            <p:ph idx="1"/>
          </p:nvPr>
        </p:nvSpPr>
        <p:spPr/>
        <p:txBody>
          <a:bodyPr/>
          <a:lstStyle/>
          <a:p>
            <a:pPr>
              <a:buFont typeface="Arial" panose="020B0604020202020204" pitchFamily="34" charset="0"/>
              <a:buChar char="•"/>
            </a:pPr>
            <a:r>
              <a:rPr lang="en-GB" dirty="0"/>
              <a:t>A pragmatic approach to the distinction between basic and specific offences is to </a:t>
            </a:r>
            <a:r>
              <a:rPr lang="en-GB" b="1" dirty="0"/>
              <a:t>look at what the courts have held</a:t>
            </a:r>
            <a:r>
              <a:rPr lang="en-GB" dirty="0"/>
              <a:t> </a:t>
            </a:r>
            <a:r>
              <a:rPr lang="en-GB" b="1" dirty="0"/>
              <a:t>for each specific offence</a:t>
            </a:r>
            <a:r>
              <a:rPr lang="en-GB" dirty="0"/>
              <a:t>.</a:t>
            </a:r>
          </a:p>
          <a:p>
            <a:pPr lvl="1">
              <a:buFont typeface="Courier New" panose="02070309020205020404" pitchFamily="49" charset="0"/>
              <a:buChar char="o"/>
            </a:pPr>
            <a:r>
              <a:rPr lang="en-GB" sz="1800" dirty="0">
                <a:effectLst/>
                <a:ea typeface="Times New Roman" panose="02020603050405020304" pitchFamily="18" charset="0"/>
              </a:rPr>
              <a:t>‘The safest approach seems to be that “crime requiring specific intent” means a crime where evidence of voluntary intoxication negativing </a:t>
            </a:r>
            <a:r>
              <a:rPr lang="en-GB" sz="1800" dirty="0" err="1">
                <a:effectLst/>
                <a:ea typeface="Times New Roman" panose="02020603050405020304" pitchFamily="18" charset="0"/>
              </a:rPr>
              <a:t>mens</a:t>
            </a:r>
            <a:r>
              <a:rPr lang="en-GB" sz="1800" dirty="0">
                <a:effectLst/>
                <a:ea typeface="Times New Roman" panose="02020603050405020304" pitchFamily="18" charset="0"/>
              </a:rPr>
              <a:t> rea is a “defence”’ (</a:t>
            </a:r>
            <a:r>
              <a:rPr lang="en-GB" sz="1800" i="1" dirty="0">
                <a:effectLst/>
                <a:ea typeface="Times New Roman" panose="02020603050405020304" pitchFamily="18" charset="0"/>
              </a:rPr>
              <a:t>Smith, Hogan, and Ormerod, </a:t>
            </a:r>
            <a:r>
              <a:rPr lang="en-GB" sz="1800" dirty="0">
                <a:effectLst/>
                <a:ea typeface="Times New Roman" panose="02020603050405020304" pitchFamily="18" charset="0"/>
              </a:rPr>
              <a:t>321).</a:t>
            </a:r>
          </a:p>
          <a:p>
            <a:pPr>
              <a:buFont typeface="Arial" panose="020B0604020202020204" pitchFamily="34" charset="0"/>
              <a:buChar char="•"/>
            </a:pPr>
            <a:r>
              <a:rPr lang="en-GB" b="1" dirty="0">
                <a:effectLst/>
                <a:ea typeface="Times New Roman" panose="02020603050405020304" pitchFamily="18" charset="0"/>
              </a:rPr>
              <a:t>Law Commission (1995):</a:t>
            </a:r>
          </a:p>
          <a:p>
            <a:pPr lvl="1">
              <a:buFont typeface="Courier New" panose="02070309020205020404" pitchFamily="49" charset="0"/>
              <a:buChar char="o"/>
            </a:pPr>
            <a:r>
              <a:rPr lang="en-GB" sz="1800" dirty="0">
                <a:effectLst/>
                <a:ea typeface="Times New Roman" panose="02020603050405020304" pitchFamily="18" charset="0"/>
              </a:rPr>
              <a:t>‘This lack of accepted and established criteria must inevitably lead to uncertainty, wasted court time and the unnecessary incurring of legal costs when a new offence is introduced, since, until the matter is decided by the courts, it will not be possible to ascertain into which category it falls.’ (3.27)</a:t>
            </a:r>
          </a:p>
          <a:p>
            <a:pPr>
              <a:buFont typeface="Arial" panose="020B0604020202020204" pitchFamily="34" charset="0"/>
              <a:buChar char="•"/>
            </a:pPr>
            <a:endParaRPr lang="en-US" b="1" dirty="0"/>
          </a:p>
        </p:txBody>
      </p:sp>
    </p:spTree>
    <p:extLst>
      <p:ext uri="{BB962C8B-B14F-4D97-AF65-F5344CB8AC3E}">
        <p14:creationId xmlns:p14="http://schemas.microsoft.com/office/powerpoint/2010/main" val="150190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A28D8-8056-496A-8303-0EFC7DFA9FEC}"/>
              </a:ext>
            </a:extLst>
          </p:cNvPr>
          <p:cNvSpPr>
            <a:spLocks noGrp="1"/>
          </p:cNvSpPr>
          <p:nvPr>
            <p:ph type="title"/>
          </p:nvPr>
        </p:nvSpPr>
        <p:spPr/>
        <p:txBody>
          <a:bodyPr/>
          <a:lstStyle/>
          <a:p>
            <a:r>
              <a:rPr lang="en-GB" dirty="0"/>
              <a:t>Summary: Intoxication</a:t>
            </a:r>
          </a:p>
        </p:txBody>
      </p:sp>
      <p:sp>
        <p:nvSpPr>
          <p:cNvPr id="3" name="Content Placeholder 2">
            <a:extLst>
              <a:ext uri="{FF2B5EF4-FFF2-40B4-BE49-F238E27FC236}">
                <a16:creationId xmlns:a16="http://schemas.microsoft.com/office/drawing/2014/main" id="{69749E01-206A-4F3D-9D3C-7DAAD7B0794B}"/>
              </a:ext>
            </a:extLst>
          </p:cNvPr>
          <p:cNvSpPr>
            <a:spLocks noGrp="1"/>
          </p:cNvSpPr>
          <p:nvPr>
            <p:ph idx="1"/>
          </p:nvPr>
        </p:nvSpPr>
        <p:spPr/>
        <p:txBody>
          <a:bodyPr/>
          <a:lstStyle/>
          <a:p>
            <a:pPr>
              <a:lnSpc>
                <a:spcPct val="150000"/>
              </a:lnSpc>
              <a:buFont typeface="+mj-lt"/>
              <a:buAutoNum type="arabicPeriod"/>
            </a:pPr>
            <a:r>
              <a:rPr lang="en-GB" sz="2000" dirty="0"/>
              <a:t>A drunken intent is still intent. </a:t>
            </a:r>
          </a:p>
          <a:p>
            <a:pPr>
              <a:lnSpc>
                <a:spcPct val="150000"/>
              </a:lnSpc>
              <a:buFont typeface="+mj-lt"/>
              <a:buAutoNum type="arabicPeriod"/>
            </a:pPr>
            <a:r>
              <a:rPr lang="en-GB" sz="2000" dirty="0"/>
              <a:t>For offences of </a:t>
            </a:r>
            <a:r>
              <a:rPr lang="en-GB" sz="2000" b="1" dirty="0"/>
              <a:t>specific intent</a:t>
            </a:r>
            <a:r>
              <a:rPr lang="en-GB" sz="2000" dirty="0"/>
              <a:t>, intoxication is relevant to the question of whether the D had </a:t>
            </a:r>
            <a:r>
              <a:rPr lang="en-GB" sz="2000" dirty="0" err="1"/>
              <a:t>mens</a:t>
            </a:r>
            <a:r>
              <a:rPr lang="en-GB" sz="2000" dirty="0"/>
              <a:t> rea – DPP v Majewski</a:t>
            </a:r>
          </a:p>
          <a:p>
            <a:pPr>
              <a:lnSpc>
                <a:spcPct val="150000"/>
              </a:lnSpc>
              <a:buFont typeface="+mj-lt"/>
              <a:buAutoNum type="arabicPeriod"/>
            </a:pPr>
            <a:r>
              <a:rPr lang="en-GB" sz="2000" dirty="0"/>
              <a:t>For offences of </a:t>
            </a:r>
            <a:r>
              <a:rPr lang="en-GB" sz="2000" b="1" dirty="0"/>
              <a:t>basic intent</a:t>
            </a:r>
            <a:r>
              <a:rPr lang="en-GB" sz="2000" dirty="0"/>
              <a:t>, self induced intoxication is no defence. </a:t>
            </a:r>
          </a:p>
          <a:p>
            <a:pPr>
              <a:lnSpc>
                <a:spcPct val="150000"/>
              </a:lnSpc>
              <a:buFont typeface="+mj-lt"/>
              <a:buAutoNum type="arabicPeriod"/>
            </a:pPr>
            <a:r>
              <a:rPr lang="en-GB" sz="2000" b="1" dirty="0"/>
              <a:t>Involuntary intoxication </a:t>
            </a:r>
            <a:r>
              <a:rPr lang="en-GB" sz="2000" dirty="0"/>
              <a:t>may defeat criminal liability for any crime. But only if it prevents D from forming the necessary </a:t>
            </a:r>
            <a:r>
              <a:rPr lang="en-GB" sz="2000" dirty="0" err="1"/>
              <a:t>mens</a:t>
            </a:r>
            <a:r>
              <a:rPr lang="en-GB" sz="2000" dirty="0"/>
              <a:t> rea. </a:t>
            </a:r>
          </a:p>
        </p:txBody>
      </p:sp>
    </p:spTree>
    <p:extLst>
      <p:ext uri="{BB962C8B-B14F-4D97-AF65-F5344CB8AC3E}">
        <p14:creationId xmlns:p14="http://schemas.microsoft.com/office/powerpoint/2010/main" val="2685627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A3702-B00A-4C0A-9354-B8BAF7326C56}"/>
              </a:ext>
            </a:extLst>
          </p:cNvPr>
          <p:cNvSpPr>
            <a:spLocks noGrp="1"/>
          </p:cNvSpPr>
          <p:nvPr>
            <p:ph type="title"/>
          </p:nvPr>
        </p:nvSpPr>
        <p:spPr/>
        <p:txBody>
          <a:bodyPr/>
          <a:lstStyle/>
          <a:p>
            <a:r>
              <a:rPr lang="en-GB" dirty="0"/>
              <a:t>Problem based questions</a:t>
            </a:r>
            <a:endParaRPr lang="en-US" dirty="0"/>
          </a:p>
        </p:txBody>
      </p:sp>
      <p:sp>
        <p:nvSpPr>
          <p:cNvPr id="3" name="Content Placeholder 2">
            <a:extLst>
              <a:ext uri="{FF2B5EF4-FFF2-40B4-BE49-F238E27FC236}">
                <a16:creationId xmlns:a16="http://schemas.microsoft.com/office/drawing/2014/main" id="{69341D0D-C729-40AB-8A8B-0BF9A1718202}"/>
              </a:ext>
            </a:extLst>
          </p:cNvPr>
          <p:cNvSpPr>
            <a:spLocks noGrp="1"/>
          </p:cNvSpPr>
          <p:nvPr>
            <p:ph idx="1"/>
          </p:nvPr>
        </p:nvSpPr>
        <p:spPr>
          <a:xfrm>
            <a:off x="684213" y="2060922"/>
            <a:ext cx="7772400" cy="3816350"/>
          </a:xfrm>
        </p:spPr>
        <p:txBody>
          <a:bodyPr/>
          <a:lstStyle/>
          <a:p>
            <a:pPr marL="36899" indent="0">
              <a:buNone/>
            </a:pPr>
            <a:r>
              <a:rPr lang="en-GB" sz="2000" b="1" dirty="0"/>
              <a:t>Key Questions:</a:t>
            </a:r>
          </a:p>
          <a:p>
            <a:pPr marL="494099" indent="-457200">
              <a:buFont typeface="+mj-lt"/>
              <a:buAutoNum type="arabicPeriod"/>
            </a:pPr>
            <a:r>
              <a:rPr lang="en-GB" sz="2000" dirty="0"/>
              <a:t>Is D’s intoxication </a:t>
            </a:r>
            <a:r>
              <a:rPr lang="en-GB" sz="2000" b="1" dirty="0"/>
              <a:t>voluntary or involuntary</a:t>
            </a:r>
            <a:r>
              <a:rPr lang="en-GB" sz="2000" dirty="0"/>
              <a:t>? (Including whether the substance involved is dangerous or otherwise known to be a risk)</a:t>
            </a:r>
          </a:p>
          <a:p>
            <a:pPr marL="494099" indent="-457200">
              <a:buFont typeface="+mj-lt"/>
              <a:buAutoNum type="arabicPeriod"/>
            </a:pPr>
            <a:r>
              <a:rPr lang="en-GB" sz="2000" dirty="0">
                <a:ln>
                  <a:solidFill>
                    <a:prstClr val="black">
                      <a:lumMod val="75000"/>
                      <a:lumOff val="25000"/>
                      <a:alpha val="10000"/>
                    </a:prstClr>
                  </a:solidFill>
                </a:ln>
              </a:rPr>
              <a:t>If</a:t>
            </a:r>
            <a:r>
              <a:rPr lang="en-GB" sz="2000" b="1" dirty="0">
                <a:ln>
                  <a:solidFill>
                    <a:prstClr val="black">
                      <a:lumMod val="75000"/>
                      <a:lumOff val="25000"/>
                      <a:alpha val="10000"/>
                    </a:prstClr>
                  </a:solidFill>
                </a:ln>
              </a:rPr>
              <a:t> voluntary</a:t>
            </a:r>
            <a:r>
              <a:rPr lang="en-GB" sz="2000" dirty="0">
                <a:ln>
                  <a:solidFill>
                    <a:prstClr val="black">
                      <a:lumMod val="75000"/>
                      <a:lumOff val="25000"/>
                      <a:alpha val="10000"/>
                    </a:prstClr>
                  </a:solidFill>
                </a:ln>
              </a:rPr>
              <a:t>: is the crime involved one of </a:t>
            </a:r>
            <a:r>
              <a:rPr lang="en-GB" sz="2000" b="1" dirty="0">
                <a:ln>
                  <a:solidFill>
                    <a:prstClr val="black">
                      <a:lumMod val="75000"/>
                      <a:lumOff val="25000"/>
                      <a:alpha val="10000"/>
                    </a:prstClr>
                  </a:solidFill>
                </a:ln>
              </a:rPr>
              <a:t>specific or basic intent</a:t>
            </a:r>
            <a:r>
              <a:rPr lang="en-GB" sz="2000" dirty="0">
                <a:ln>
                  <a:solidFill>
                    <a:prstClr val="black">
                      <a:lumMod val="75000"/>
                      <a:lumOff val="25000"/>
                      <a:alpha val="10000"/>
                    </a:prstClr>
                  </a:solidFill>
                </a:ln>
              </a:rPr>
              <a:t>? </a:t>
            </a:r>
            <a:r>
              <a:rPr lang="en-GB" sz="2000" dirty="0"/>
              <a:t>(If basic intent, is the substance involved dangerous or otherwise known to be a risk?)</a:t>
            </a:r>
          </a:p>
          <a:p>
            <a:pPr marL="36899" indent="0" algn="ctr"/>
            <a:r>
              <a:rPr lang="en-GB" sz="2000" b="1" dirty="0"/>
              <a:t>Basic Rule: Voluntary intoxication (or dangerous/risky intoxication) is never a defence to basic intent crimes. </a:t>
            </a:r>
          </a:p>
          <a:p>
            <a:pPr marL="36899" indent="0"/>
            <a:r>
              <a:rPr lang="en-GB" sz="2000" dirty="0"/>
              <a:t>       DPP v Majewski [1977] AC 443</a:t>
            </a:r>
          </a:p>
          <a:p>
            <a:pPr marL="36899" indent="0"/>
            <a:r>
              <a:rPr lang="en-GB" sz="2000" dirty="0"/>
              <a:t>       Heard [2007] EWCA 125</a:t>
            </a:r>
          </a:p>
          <a:p>
            <a:pPr marL="36899" indent="0"/>
            <a:endParaRPr lang="en-GB" sz="2000" dirty="0"/>
          </a:p>
          <a:p>
            <a:endParaRPr lang="en-US" dirty="0"/>
          </a:p>
        </p:txBody>
      </p:sp>
    </p:spTree>
    <p:extLst>
      <p:ext uri="{BB962C8B-B14F-4D97-AF65-F5344CB8AC3E}">
        <p14:creationId xmlns:p14="http://schemas.microsoft.com/office/powerpoint/2010/main" val="4106950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A328-EBDF-4F10-AADC-9975DD140F0E}"/>
              </a:ext>
            </a:extLst>
          </p:cNvPr>
          <p:cNvSpPr>
            <a:spLocks noGrp="1"/>
          </p:cNvSpPr>
          <p:nvPr>
            <p:ph type="title"/>
          </p:nvPr>
        </p:nvSpPr>
        <p:spPr/>
        <p:txBody>
          <a:bodyPr/>
          <a:lstStyle/>
          <a:p>
            <a:r>
              <a:rPr lang="en-GB" dirty="0"/>
              <a:t>Essay based questions</a:t>
            </a:r>
            <a:endParaRPr lang="en-US" dirty="0"/>
          </a:p>
        </p:txBody>
      </p:sp>
      <p:sp>
        <p:nvSpPr>
          <p:cNvPr id="3" name="Content Placeholder 2">
            <a:extLst>
              <a:ext uri="{FF2B5EF4-FFF2-40B4-BE49-F238E27FC236}">
                <a16:creationId xmlns:a16="http://schemas.microsoft.com/office/drawing/2014/main" id="{65D6529E-0F29-409E-862F-558C051F4BAD}"/>
              </a:ext>
            </a:extLst>
          </p:cNvPr>
          <p:cNvSpPr>
            <a:spLocks noGrp="1"/>
          </p:cNvSpPr>
          <p:nvPr>
            <p:ph idx="1"/>
          </p:nvPr>
        </p:nvSpPr>
        <p:spPr/>
        <p:txBody>
          <a:bodyPr/>
          <a:lstStyle/>
          <a:p>
            <a:pPr algn="just">
              <a:spcAft>
                <a:spcPts val="1200"/>
              </a:spcAft>
              <a:buFont typeface="Arial" panose="020B0604020202020204" pitchFamily="34" charset="0"/>
              <a:buChar char="•"/>
            </a:pPr>
            <a:r>
              <a:rPr lang="en-GB" sz="1800" dirty="0">
                <a:effectLst/>
                <a:ea typeface="Times New Roman" panose="02020603050405020304" pitchFamily="18" charset="0"/>
              </a:rPr>
              <a:t>Issues to think about</a:t>
            </a:r>
          </a:p>
          <a:p>
            <a:pPr algn="just">
              <a:spcAft>
                <a:spcPts val="1200"/>
              </a:spcAft>
              <a:buFont typeface="Arial" panose="020B0604020202020204" pitchFamily="34" charset="0"/>
              <a:buChar char="•"/>
            </a:pPr>
            <a:r>
              <a:rPr lang="en-GB" sz="1800" dirty="0">
                <a:effectLst/>
                <a:ea typeface="Times New Roman" panose="02020603050405020304" pitchFamily="18" charset="0"/>
              </a:rPr>
              <a:t>Do you think the “basic” vs “specific” intent definition </a:t>
            </a:r>
            <a:r>
              <a:rPr lang="en-GB" sz="1800" i="1" dirty="0">
                <a:effectLst/>
                <a:ea typeface="Times New Roman" panose="02020603050405020304" pitchFamily="18" charset="0"/>
              </a:rPr>
              <a:t>does</a:t>
            </a:r>
            <a:r>
              <a:rPr lang="en-GB" sz="1800" dirty="0">
                <a:effectLst/>
                <a:ea typeface="Times New Roman" panose="02020603050405020304" pitchFamily="18" charset="0"/>
              </a:rPr>
              <a:t> make logical sense? Can you identify when a court will hold an offence to be one to which voluntary intoxication might negative </a:t>
            </a:r>
            <a:r>
              <a:rPr lang="en-GB" sz="1800" dirty="0" err="1">
                <a:effectLst/>
                <a:ea typeface="Times New Roman" panose="02020603050405020304" pitchFamily="18" charset="0"/>
              </a:rPr>
              <a:t>mens</a:t>
            </a:r>
            <a:r>
              <a:rPr lang="en-GB" sz="1800" dirty="0">
                <a:effectLst/>
                <a:ea typeface="Times New Roman" panose="02020603050405020304" pitchFamily="18" charset="0"/>
              </a:rPr>
              <a:t> rea? What principle, if any, </a:t>
            </a:r>
            <a:r>
              <a:rPr lang="en-GB" sz="1800" i="1" dirty="0">
                <a:effectLst/>
                <a:ea typeface="Times New Roman" panose="02020603050405020304" pitchFamily="18" charset="0"/>
              </a:rPr>
              <a:t>should</a:t>
            </a:r>
            <a:r>
              <a:rPr lang="en-GB" sz="1800" dirty="0">
                <a:effectLst/>
                <a:ea typeface="Times New Roman" panose="02020603050405020304" pitchFamily="18" charset="0"/>
              </a:rPr>
              <a:t> this be based on?</a:t>
            </a:r>
          </a:p>
          <a:p>
            <a:pPr algn="just">
              <a:spcAft>
                <a:spcPts val="1200"/>
              </a:spcAft>
              <a:buFont typeface="Arial" panose="020B0604020202020204" pitchFamily="34" charset="0"/>
              <a:buChar char="•"/>
            </a:pPr>
            <a:r>
              <a:rPr lang="en-GB" sz="1800" dirty="0">
                <a:effectLst/>
                <a:ea typeface="Times New Roman" panose="02020603050405020304" pitchFamily="18" charset="0"/>
              </a:rPr>
              <a:t>Do you agree with the Law Commission that we should abandon the specific/basic intent distinction altogether and specify what kinds of fault allows intoxication to be relevant (e.g. knowledge, dishonesty etc)? What criteria should we use to decide that?</a:t>
            </a:r>
          </a:p>
          <a:p>
            <a:pPr algn="just">
              <a:spcAft>
                <a:spcPts val="1200"/>
              </a:spcAft>
              <a:buFont typeface="Arial" panose="020B0604020202020204" pitchFamily="34" charset="0"/>
              <a:buChar char="•"/>
            </a:pPr>
            <a:r>
              <a:rPr lang="en-GB" sz="1800" dirty="0">
                <a:effectLst/>
                <a:ea typeface="Times New Roman" panose="02020603050405020304" pitchFamily="18" charset="0"/>
              </a:rPr>
              <a:t>Should we abolish the rules on intoxication altogether and just defer the issue to </a:t>
            </a:r>
            <a:r>
              <a:rPr lang="en-GB" sz="1800" dirty="0" err="1">
                <a:effectLst/>
                <a:ea typeface="Times New Roman" panose="02020603050405020304" pitchFamily="18" charset="0"/>
              </a:rPr>
              <a:t>mens</a:t>
            </a:r>
            <a:r>
              <a:rPr lang="en-GB" sz="1800" dirty="0">
                <a:effectLst/>
                <a:ea typeface="Times New Roman" panose="02020603050405020304" pitchFamily="18" charset="0"/>
              </a:rPr>
              <a:t> rea in the normal way?</a:t>
            </a:r>
          </a:p>
          <a:p>
            <a:endParaRPr lang="en-US" dirty="0"/>
          </a:p>
        </p:txBody>
      </p:sp>
    </p:spTree>
    <p:extLst>
      <p:ext uri="{BB962C8B-B14F-4D97-AF65-F5344CB8AC3E}">
        <p14:creationId xmlns:p14="http://schemas.microsoft.com/office/powerpoint/2010/main" val="3022983103"/>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pen Day Presentation">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5DC466676EBC46AA6D894103B834EA" ma:contentTypeVersion="4" ma:contentTypeDescription="Create a new document." ma:contentTypeScope="" ma:versionID="ba0d6e5947a0952b79e872aa26003495">
  <xsd:schema xmlns:xsd="http://www.w3.org/2001/XMLSchema" xmlns:xs="http://www.w3.org/2001/XMLSchema" xmlns:p="http://schemas.microsoft.com/office/2006/metadata/properties" xmlns:ns2="8cb6f0ce-4087-48d0-bd68-6d11fe1cb46f" targetNamespace="http://schemas.microsoft.com/office/2006/metadata/properties" ma:root="true" ma:fieldsID="301b56431b729dd40b1a5f9e2ee95914" ns2:_="">
    <xsd:import namespace="8cb6f0ce-4087-48d0-bd68-6d11fe1cb46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6f0ce-4087-48d0-bd68-6d11fe1cb4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E71948C-4FF1-4FC6-8F9D-ADE8AB5F4B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6f0ce-4087-48d0-bd68-6d11fe1cb4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6E29244-41FB-440D-A24C-A0C8FACECC26}">
  <ds:schemaRefs>
    <ds:schemaRef ds:uri="http://schemas.microsoft.com/sharepoint/v3/contenttype/forms"/>
  </ds:schemaRefs>
</ds:datastoreItem>
</file>

<file path=customXml/itemProps3.xml><?xml version="1.0" encoding="utf-8"?>
<ds:datastoreItem xmlns:ds="http://schemas.openxmlformats.org/officeDocument/2006/customXml" ds:itemID="{D5BA9BBD-7CDF-431E-9D82-3739FC9A726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10379</TotalTime>
  <Words>1773</Words>
  <Application>Microsoft Macintosh PowerPoint</Application>
  <PresentationFormat>On-screen Show (4:3)</PresentationFormat>
  <Paragraphs>110</Paragraphs>
  <Slides>16</Slides>
  <Notes>16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Times</vt:lpstr>
      <vt:lpstr>Courier New</vt:lpstr>
      <vt:lpstr>Arial</vt:lpstr>
      <vt:lpstr>Times New Roman</vt:lpstr>
      <vt:lpstr>Calibri</vt:lpstr>
      <vt:lpstr>Blank</vt:lpstr>
      <vt:lpstr>Open Day Presentation</vt:lpstr>
      <vt:lpstr>Criminal Law, Lecture 18: Intoxication </vt:lpstr>
      <vt:lpstr>Intoxication</vt:lpstr>
      <vt:lpstr>Intoxication: Operation</vt:lpstr>
      <vt:lpstr>A Drunken MR is Still MR</vt:lpstr>
      <vt:lpstr>Involuntary Intoxication</vt:lpstr>
      <vt:lpstr>3. D taken a non-dangerous drug</vt:lpstr>
      <vt:lpstr>Voluntary Intoxication</vt:lpstr>
      <vt:lpstr>The Majewski Rules</vt:lpstr>
      <vt:lpstr>‘Specific’ vs ‘Basic’ Distinction</vt:lpstr>
      <vt:lpstr>Basic Intent as Recklessness</vt:lpstr>
      <vt:lpstr>Specific Intent as Ulterior Intent</vt:lpstr>
      <vt:lpstr>The Nature of the Distinction</vt:lpstr>
      <vt:lpstr>A Pragmatic Approach </vt:lpstr>
      <vt:lpstr>Summary: Intoxication</vt:lpstr>
      <vt:lpstr>Problem based questions</vt:lpstr>
      <vt:lpstr>Essay based questions</vt:lpstr>
    </vt:vector>
  </TitlesOfParts>
  <Company>MUFC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style for title slide</dc:title>
  <dc:creator>Eric</dc:creator>
  <cp:lastModifiedBy>LANGLEY, KAT L.</cp:lastModifiedBy>
  <cp:revision>93</cp:revision>
  <dcterms:created xsi:type="dcterms:W3CDTF">2005-05-25T16:21:13Z</dcterms:created>
  <dcterms:modified xsi:type="dcterms:W3CDTF">2025-02-20T09:39:34Z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0x010100125DC466676EBC46AA6D894103B834EA</vt:lpwstr>
  </property>
</Properties>
</file>