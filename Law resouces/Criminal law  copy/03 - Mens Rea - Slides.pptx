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84" r:id="rId2"/>
  </p:sldMasterIdLst>
  <p:notesMasterIdLst>
    <p:notesMasterId r:id="rId29"/>
  </p:notesMasterIdLst>
  <p:handoutMasterIdLst>
    <p:handoutMasterId r:id="rId30"/>
  </p:handoutMasterIdLst>
  <p:sldIdLst>
    <p:sldId id="285" r:id="rId3"/>
    <p:sldId id="279" r:id="rId4"/>
    <p:sldId id="329" r:id="rId5"/>
    <p:sldId id="306" r:id="rId6"/>
    <p:sldId id="301" r:id="rId7"/>
    <p:sldId id="337" r:id="rId8"/>
    <p:sldId id="309" r:id="rId9"/>
    <p:sldId id="310" r:id="rId10"/>
    <p:sldId id="312" r:id="rId11"/>
    <p:sldId id="314" r:id="rId12"/>
    <p:sldId id="315" r:id="rId13"/>
    <p:sldId id="316" r:id="rId14"/>
    <p:sldId id="317" r:id="rId15"/>
    <p:sldId id="319" r:id="rId16"/>
    <p:sldId id="320" r:id="rId17"/>
    <p:sldId id="349" r:id="rId18"/>
    <p:sldId id="346" r:id="rId19"/>
    <p:sldId id="350" r:id="rId20"/>
    <p:sldId id="354" r:id="rId21"/>
    <p:sldId id="355" r:id="rId22"/>
    <p:sldId id="328" r:id="rId23"/>
    <p:sldId id="348" r:id="rId24"/>
    <p:sldId id="351" r:id="rId25"/>
    <p:sldId id="352" r:id="rId26"/>
    <p:sldId id="353" r:id="rId27"/>
    <p:sldId id="347" r:id="rId28"/>
  </p:sldIdLst>
  <p:sldSz cx="9144000" cy="6858000" type="screen4x3"/>
  <p:notesSz cx="6797675" cy="9928225"/>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980E67-CC41-455F-AD1D-2B17029DAFE3}" v="63" dt="2022-09-28T12:15:09.5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50"/>
    <p:restoredTop sz="91370" autoAdjust="0"/>
  </p:normalViewPr>
  <p:slideViewPr>
    <p:cSldViewPr>
      <p:cViewPr varScale="1">
        <p:scale>
          <a:sx n="116" d="100"/>
          <a:sy n="116" d="100"/>
        </p:scale>
        <p:origin x="203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4" d="100"/>
          <a:sy n="64" d="100"/>
        </p:scale>
        <p:origin x="-2862" y="-108"/>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35" Type="http://schemas.microsoft.com/office/2015/10/relationships/revisionInfo" Target="revisionInfo.xml"/><Relationship Id="rId8" Type="http://schemas.openxmlformats.org/officeDocument/2006/relationships/slide" Target="slides/slide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9B3C2D-3937-42CB-8ED5-60F3796A3FB6}" type="doc">
      <dgm:prSet loTypeId="urn:microsoft.com/office/officeart/2005/8/layout/pyramid1" loCatId="pyramid" qsTypeId="urn:microsoft.com/office/officeart/2005/8/quickstyle/simple1" qsCatId="simple" csTypeId="urn:microsoft.com/office/officeart/2005/8/colors/accent1_2" csCatId="accent1" phldr="1"/>
      <dgm:spPr/>
    </dgm:pt>
    <dgm:pt modelId="{C4B32A43-17B2-445D-B971-765ECBA10C42}">
      <dgm:prSet phldrT="[Text]"/>
      <dgm:spPr/>
      <dgm:t>
        <a:bodyPr anchor="b"/>
        <a:lstStyle/>
        <a:p>
          <a:r>
            <a:rPr lang="en-GB" dirty="0"/>
            <a:t>Intention</a:t>
          </a:r>
        </a:p>
      </dgm:t>
    </dgm:pt>
    <dgm:pt modelId="{DE8B53C6-2E82-42F9-A9CB-904C7EBD02B0}" type="parTrans" cxnId="{14AA6698-C7F9-42FC-AEC5-7A2358BE7715}">
      <dgm:prSet/>
      <dgm:spPr/>
      <dgm:t>
        <a:bodyPr/>
        <a:lstStyle/>
        <a:p>
          <a:endParaRPr lang="en-GB"/>
        </a:p>
      </dgm:t>
    </dgm:pt>
    <dgm:pt modelId="{1FE796BF-23C8-420B-B2D1-19FF16C7B04D}" type="sibTrans" cxnId="{14AA6698-C7F9-42FC-AEC5-7A2358BE7715}">
      <dgm:prSet/>
      <dgm:spPr/>
      <dgm:t>
        <a:bodyPr/>
        <a:lstStyle/>
        <a:p>
          <a:endParaRPr lang="en-GB"/>
        </a:p>
      </dgm:t>
    </dgm:pt>
    <dgm:pt modelId="{7499A475-E9E0-4351-880C-ABABF5BEAE72}">
      <dgm:prSet phldrT="[Text]"/>
      <dgm:spPr/>
      <dgm:t>
        <a:bodyPr anchor="b"/>
        <a:lstStyle/>
        <a:p>
          <a:r>
            <a:rPr lang="en-GB" dirty="0"/>
            <a:t>Recklessness</a:t>
          </a:r>
        </a:p>
      </dgm:t>
    </dgm:pt>
    <dgm:pt modelId="{5BB94B49-01A5-4A23-8D26-133AE7789A68}" type="parTrans" cxnId="{85489577-837A-4BCE-A91D-7190E8469087}">
      <dgm:prSet/>
      <dgm:spPr/>
      <dgm:t>
        <a:bodyPr/>
        <a:lstStyle/>
        <a:p>
          <a:endParaRPr lang="en-GB"/>
        </a:p>
      </dgm:t>
    </dgm:pt>
    <dgm:pt modelId="{770B0563-B72F-4EED-AB5D-A942A305896E}" type="sibTrans" cxnId="{85489577-837A-4BCE-A91D-7190E8469087}">
      <dgm:prSet/>
      <dgm:spPr/>
      <dgm:t>
        <a:bodyPr/>
        <a:lstStyle/>
        <a:p>
          <a:endParaRPr lang="en-GB"/>
        </a:p>
      </dgm:t>
    </dgm:pt>
    <dgm:pt modelId="{D30AF9AC-A56F-4299-9301-7ABF63FDDF83}">
      <dgm:prSet phldrT="[Text]"/>
      <dgm:spPr/>
      <dgm:t>
        <a:bodyPr anchor="b"/>
        <a:lstStyle/>
        <a:p>
          <a:r>
            <a:rPr lang="en-GB" dirty="0"/>
            <a:t>Negligence</a:t>
          </a:r>
        </a:p>
      </dgm:t>
    </dgm:pt>
    <dgm:pt modelId="{E9419A07-F062-4306-B111-5EF18CBD6751}" type="parTrans" cxnId="{233B161B-64F2-4976-8924-B3858A7B94DE}">
      <dgm:prSet/>
      <dgm:spPr/>
      <dgm:t>
        <a:bodyPr/>
        <a:lstStyle/>
        <a:p>
          <a:endParaRPr lang="en-GB"/>
        </a:p>
      </dgm:t>
    </dgm:pt>
    <dgm:pt modelId="{54CEF8B7-3AC7-43E1-BD40-3BFCF5FA4043}" type="sibTrans" cxnId="{233B161B-64F2-4976-8924-B3858A7B94DE}">
      <dgm:prSet/>
      <dgm:spPr/>
      <dgm:t>
        <a:bodyPr/>
        <a:lstStyle/>
        <a:p>
          <a:endParaRPr lang="en-GB"/>
        </a:p>
      </dgm:t>
    </dgm:pt>
    <dgm:pt modelId="{8789E06F-0B6F-477D-BF88-8608C384D8F2}">
      <dgm:prSet phldrT="[Text]"/>
      <dgm:spPr/>
      <dgm:t>
        <a:bodyPr anchor="b"/>
        <a:lstStyle/>
        <a:p>
          <a:r>
            <a:rPr lang="en-GB" dirty="0"/>
            <a:t>Knowledge</a:t>
          </a:r>
        </a:p>
      </dgm:t>
    </dgm:pt>
    <dgm:pt modelId="{622679B2-B256-4406-A647-7228C4D28D25}" type="parTrans" cxnId="{F67346FE-B562-4E34-8445-101067B072EC}">
      <dgm:prSet/>
      <dgm:spPr/>
      <dgm:t>
        <a:bodyPr/>
        <a:lstStyle/>
        <a:p>
          <a:endParaRPr lang="en-GB"/>
        </a:p>
      </dgm:t>
    </dgm:pt>
    <dgm:pt modelId="{B02E3147-C8EC-441B-9E5B-525B5E0BC1CF}" type="sibTrans" cxnId="{F67346FE-B562-4E34-8445-101067B072EC}">
      <dgm:prSet/>
      <dgm:spPr/>
      <dgm:t>
        <a:bodyPr/>
        <a:lstStyle/>
        <a:p>
          <a:endParaRPr lang="en-GB"/>
        </a:p>
      </dgm:t>
    </dgm:pt>
    <dgm:pt modelId="{A91D0447-DDF9-4ACA-8447-414FCEE90569}">
      <dgm:prSet phldrT="[Text]"/>
      <dgm:spPr/>
      <dgm:t>
        <a:bodyPr anchor="b"/>
        <a:lstStyle/>
        <a:p>
          <a:r>
            <a:rPr lang="en-GB" dirty="0"/>
            <a:t>Belief</a:t>
          </a:r>
        </a:p>
      </dgm:t>
    </dgm:pt>
    <dgm:pt modelId="{5ADBD71A-B7C7-4ACC-9921-AF65DCDAC208}" type="parTrans" cxnId="{0F0171F6-9F05-4ACF-8500-EEECA46675F2}">
      <dgm:prSet/>
      <dgm:spPr/>
      <dgm:t>
        <a:bodyPr/>
        <a:lstStyle/>
        <a:p>
          <a:endParaRPr lang="en-GB"/>
        </a:p>
      </dgm:t>
    </dgm:pt>
    <dgm:pt modelId="{0725CC6D-44D6-4ED2-AD09-8EFB7D4C8714}" type="sibTrans" cxnId="{0F0171F6-9F05-4ACF-8500-EEECA46675F2}">
      <dgm:prSet/>
      <dgm:spPr/>
      <dgm:t>
        <a:bodyPr/>
        <a:lstStyle/>
        <a:p>
          <a:endParaRPr lang="en-GB"/>
        </a:p>
      </dgm:t>
    </dgm:pt>
    <dgm:pt modelId="{A6FCFC9C-6F09-47A6-B9BE-78020EA64860}" type="pres">
      <dgm:prSet presAssocID="{D09B3C2D-3937-42CB-8ED5-60F3796A3FB6}" presName="Name0" presStyleCnt="0">
        <dgm:presLayoutVars>
          <dgm:dir/>
          <dgm:animLvl val="lvl"/>
          <dgm:resizeHandles val="exact"/>
        </dgm:presLayoutVars>
      </dgm:prSet>
      <dgm:spPr/>
    </dgm:pt>
    <dgm:pt modelId="{2D74F54D-370C-4EDB-A8AC-464F187F1A17}" type="pres">
      <dgm:prSet presAssocID="{C4B32A43-17B2-445D-B971-765ECBA10C42}" presName="Name8" presStyleCnt="0"/>
      <dgm:spPr/>
    </dgm:pt>
    <dgm:pt modelId="{ADA7B440-900C-4690-9387-31B47FAF02B0}" type="pres">
      <dgm:prSet presAssocID="{C4B32A43-17B2-445D-B971-765ECBA10C42}" presName="level" presStyleLbl="node1" presStyleIdx="0" presStyleCnt="5">
        <dgm:presLayoutVars>
          <dgm:chMax val="1"/>
          <dgm:bulletEnabled val="1"/>
        </dgm:presLayoutVars>
      </dgm:prSet>
      <dgm:spPr/>
    </dgm:pt>
    <dgm:pt modelId="{4E943D84-4F38-44C5-B189-6BCACCDACC92}" type="pres">
      <dgm:prSet presAssocID="{C4B32A43-17B2-445D-B971-765ECBA10C42}" presName="levelTx" presStyleLbl="revTx" presStyleIdx="0" presStyleCnt="0">
        <dgm:presLayoutVars>
          <dgm:chMax val="1"/>
          <dgm:bulletEnabled val="1"/>
        </dgm:presLayoutVars>
      </dgm:prSet>
      <dgm:spPr/>
    </dgm:pt>
    <dgm:pt modelId="{2858D877-2A0E-43B4-AC9C-F2EF93A0DD55}" type="pres">
      <dgm:prSet presAssocID="{8789E06F-0B6F-477D-BF88-8608C384D8F2}" presName="Name8" presStyleCnt="0"/>
      <dgm:spPr/>
    </dgm:pt>
    <dgm:pt modelId="{78FA5988-A776-4486-BA38-833C4C5A685C}" type="pres">
      <dgm:prSet presAssocID="{8789E06F-0B6F-477D-BF88-8608C384D8F2}" presName="level" presStyleLbl="node1" presStyleIdx="1" presStyleCnt="5">
        <dgm:presLayoutVars>
          <dgm:chMax val="1"/>
          <dgm:bulletEnabled val="1"/>
        </dgm:presLayoutVars>
      </dgm:prSet>
      <dgm:spPr/>
    </dgm:pt>
    <dgm:pt modelId="{CE5C0915-470E-448A-BC0C-C99DC8283FBD}" type="pres">
      <dgm:prSet presAssocID="{8789E06F-0B6F-477D-BF88-8608C384D8F2}" presName="levelTx" presStyleLbl="revTx" presStyleIdx="0" presStyleCnt="0">
        <dgm:presLayoutVars>
          <dgm:chMax val="1"/>
          <dgm:bulletEnabled val="1"/>
        </dgm:presLayoutVars>
      </dgm:prSet>
      <dgm:spPr/>
    </dgm:pt>
    <dgm:pt modelId="{AB58ADDD-2478-45B1-9889-A2E2AA62F8CE}" type="pres">
      <dgm:prSet presAssocID="{A91D0447-DDF9-4ACA-8447-414FCEE90569}" presName="Name8" presStyleCnt="0"/>
      <dgm:spPr/>
    </dgm:pt>
    <dgm:pt modelId="{D93B1DF7-7989-42ED-A1EB-C04F18AF3615}" type="pres">
      <dgm:prSet presAssocID="{A91D0447-DDF9-4ACA-8447-414FCEE90569}" presName="level" presStyleLbl="node1" presStyleIdx="2" presStyleCnt="5">
        <dgm:presLayoutVars>
          <dgm:chMax val="1"/>
          <dgm:bulletEnabled val="1"/>
        </dgm:presLayoutVars>
      </dgm:prSet>
      <dgm:spPr/>
    </dgm:pt>
    <dgm:pt modelId="{5B2118BE-CFF1-407D-856A-9E2F3DA50E72}" type="pres">
      <dgm:prSet presAssocID="{A91D0447-DDF9-4ACA-8447-414FCEE90569}" presName="levelTx" presStyleLbl="revTx" presStyleIdx="0" presStyleCnt="0">
        <dgm:presLayoutVars>
          <dgm:chMax val="1"/>
          <dgm:bulletEnabled val="1"/>
        </dgm:presLayoutVars>
      </dgm:prSet>
      <dgm:spPr/>
    </dgm:pt>
    <dgm:pt modelId="{CC6B9874-004D-4E58-879C-0135AB5905CC}" type="pres">
      <dgm:prSet presAssocID="{7499A475-E9E0-4351-880C-ABABF5BEAE72}" presName="Name8" presStyleCnt="0"/>
      <dgm:spPr/>
    </dgm:pt>
    <dgm:pt modelId="{7B57D81F-91A5-4128-8256-6B44A1170999}" type="pres">
      <dgm:prSet presAssocID="{7499A475-E9E0-4351-880C-ABABF5BEAE72}" presName="level" presStyleLbl="node1" presStyleIdx="3" presStyleCnt="5">
        <dgm:presLayoutVars>
          <dgm:chMax val="1"/>
          <dgm:bulletEnabled val="1"/>
        </dgm:presLayoutVars>
      </dgm:prSet>
      <dgm:spPr/>
    </dgm:pt>
    <dgm:pt modelId="{2F245D61-787C-456E-BE21-818CC320FFD3}" type="pres">
      <dgm:prSet presAssocID="{7499A475-E9E0-4351-880C-ABABF5BEAE72}" presName="levelTx" presStyleLbl="revTx" presStyleIdx="0" presStyleCnt="0">
        <dgm:presLayoutVars>
          <dgm:chMax val="1"/>
          <dgm:bulletEnabled val="1"/>
        </dgm:presLayoutVars>
      </dgm:prSet>
      <dgm:spPr/>
    </dgm:pt>
    <dgm:pt modelId="{08A16997-05F2-474D-82C4-08514A7CBAD4}" type="pres">
      <dgm:prSet presAssocID="{D30AF9AC-A56F-4299-9301-7ABF63FDDF83}" presName="Name8" presStyleCnt="0"/>
      <dgm:spPr/>
    </dgm:pt>
    <dgm:pt modelId="{AD8FC93A-833E-4E0B-8C5A-06B1F460DD71}" type="pres">
      <dgm:prSet presAssocID="{D30AF9AC-A56F-4299-9301-7ABF63FDDF83}" presName="level" presStyleLbl="node1" presStyleIdx="4" presStyleCnt="5">
        <dgm:presLayoutVars>
          <dgm:chMax val="1"/>
          <dgm:bulletEnabled val="1"/>
        </dgm:presLayoutVars>
      </dgm:prSet>
      <dgm:spPr/>
    </dgm:pt>
    <dgm:pt modelId="{BA1C75FB-5988-4F48-8B16-0DAE5D5810C2}" type="pres">
      <dgm:prSet presAssocID="{D30AF9AC-A56F-4299-9301-7ABF63FDDF83}" presName="levelTx" presStyleLbl="revTx" presStyleIdx="0" presStyleCnt="0">
        <dgm:presLayoutVars>
          <dgm:chMax val="1"/>
          <dgm:bulletEnabled val="1"/>
        </dgm:presLayoutVars>
      </dgm:prSet>
      <dgm:spPr/>
    </dgm:pt>
  </dgm:ptLst>
  <dgm:cxnLst>
    <dgm:cxn modelId="{233B161B-64F2-4976-8924-B3858A7B94DE}" srcId="{D09B3C2D-3937-42CB-8ED5-60F3796A3FB6}" destId="{D30AF9AC-A56F-4299-9301-7ABF63FDDF83}" srcOrd="4" destOrd="0" parTransId="{E9419A07-F062-4306-B111-5EF18CBD6751}" sibTransId="{54CEF8B7-3AC7-43E1-BD40-3BFCF5FA4043}"/>
    <dgm:cxn modelId="{50EA812A-95B9-4A10-AD96-1D925C366E48}" type="presOf" srcId="{C4B32A43-17B2-445D-B971-765ECBA10C42}" destId="{ADA7B440-900C-4690-9387-31B47FAF02B0}" srcOrd="0" destOrd="0" presId="urn:microsoft.com/office/officeart/2005/8/layout/pyramid1"/>
    <dgm:cxn modelId="{9ED31D37-6723-4D43-8B2C-7A8D56960742}" type="presOf" srcId="{D30AF9AC-A56F-4299-9301-7ABF63FDDF83}" destId="{AD8FC93A-833E-4E0B-8C5A-06B1F460DD71}" srcOrd="0" destOrd="0" presId="urn:microsoft.com/office/officeart/2005/8/layout/pyramid1"/>
    <dgm:cxn modelId="{36766D3E-8501-474C-84F1-B43488D19C91}" type="presOf" srcId="{D30AF9AC-A56F-4299-9301-7ABF63FDDF83}" destId="{BA1C75FB-5988-4F48-8B16-0DAE5D5810C2}" srcOrd="1" destOrd="0" presId="urn:microsoft.com/office/officeart/2005/8/layout/pyramid1"/>
    <dgm:cxn modelId="{8C26AB43-711F-4B60-BE8E-A480C7D06D39}" type="presOf" srcId="{C4B32A43-17B2-445D-B971-765ECBA10C42}" destId="{4E943D84-4F38-44C5-B189-6BCACCDACC92}" srcOrd="1" destOrd="0" presId="urn:microsoft.com/office/officeart/2005/8/layout/pyramid1"/>
    <dgm:cxn modelId="{90442245-DF0A-49D3-BF0B-2D7F3D798A68}" type="presOf" srcId="{A91D0447-DDF9-4ACA-8447-414FCEE90569}" destId="{5B2118BE-CFF1-407D-856A-9E2F3DA50E72}" srcOrd="1" destOrd="0" presId="urn:microsoft.com/office/officeart/2005/8/layout/pyramid1"/>
    <dgm:cxn modelId="{85489577-837A-4BCE-A91D-7190E8469087}" srcId="{D09B3C2D-3937-42CB-8ED5-60F3796A3FB6}" destId="{7499A475-E9E0-4351-880C-ABABF5BEAE72}" srcOrd="3" destOrd="0" parTransId="{5BB94B49-01A5-4A23-8D26-133AE7789A68}" sibTransId="{770B0563-B72F-4EED-AB5D-A942A305896E}"/>
    <dgm:cxn modelId="{14AA6698-C7F9-42FC-AEC5-7A2358BE7715}" srcId="{D09B3C2D-3937-42CB-8ED5-60F3796A3FB6}" destId="{C4B32A43-17B2-445D-B971-765ECBA10C42}" srcOrd="0" destOrd="0" parTransId="{DE8B53C6-2E82-42F9-A9CB-904C7EBD02B0}" sibTransId="{1FE796BF-23C8-420B-B2D1-19FF16C7B04D}"/>
    <dgm:cxn modelId="{88CEE7BD-5115-46AD-B77A-604645134429}" type="presOf" srcId="{A91D0447-DDF9-4ACA-8447-414FCEE90569}" destId="{D93B1DF7-7989-42ED-A1EB-C04F18AF3615}" srcOrd="0" destOrd="0" presId="urn:microsoft.com/office/officeart/2005/8/layout/pyramid1"/>
    <dgm:cxn modelId="{671E1CD1-90E3-43AC-B056-A0BC01AC62ED}" type="presOf" srcId="{8789E06F-0B6F-477D-BF88-8608C384D8F2}" destId="{78FA5988-A776-4486-BA38-833C4C5A685C}" srcOrd="0" destOrd="0" presId="urn:microsoft.com/office/officeart/2005/8/layout/pyramid1"/>
    <dgm:cxn modelId="{6FA054D3-7005-472A-ACF1-0C498DD60409}" type="presOf" srcId="{8789E06F-0B6F-477D-BF88-8608C384D8F2}" destId="{CE5C0915-470E-448A-BC0C-C99DC8283FBD}" srcOrd="1" destOrd="0" presId="urn:microsoft.com/office/officeart/2005/8/layout/pyramid1"/>
    <dgm:cxn modelId="{57B01DD8-B6A1-46E9-AE8A-65B7ED1B8ED2}" type="presOf" srcId="{7499A475-E9E0-4351-880C-ABABF5BEAE72}" destId="{7B57D81F-91A5-4128-8256-6B44A1170999}" srcOrd="0" destOrd="0" presId="urn:microsoft.com/office/officeart/2005/8/layout/pyramid1"/>
    <dgm:cxn modelId="{6591FCE4-E472-4C89-9A44-AFE528FE7A25}" type="presOf" srcId="{D09B3C2D-3937-42CB-8ED5-60F3796A3FB6}" destId="{A6FCFC9C-6F09-47A6-B9BE-78020EA64860}" srcOrd="0" destOrd="0" presId="urn:microsoft.com/office/officeart/2005/8/layout/pyramid1"/>
    <dgm:cxn modelId="{0F0171F6-9F05-4ACF-8500-EEECA46675F2}" srcId="{D09B3C2D-3937-42CB-8ED5-60F3796A3FB6}" destId="{A91D0447-DDF9-4ACA-8447-414FCEE90569}" srcOrd="2" destOrd="0" parTransId="{5ADBD71A-B7C7-4ACC-9921-AF65DCDAC208}" sibTransId="{0725CC6D-44D6-4ED2-AD09-8EFB7D4C8714}"/>
    <dgm:cxn modelId="{2C8621F7-E036-41A0-8114-461E632B7358}" type="presOf" srcId="{7499A475-E9E0-4351-880C-ABABF5BEAE72}" destId="{2F245D61-787C-456E-BE21-818CC320FFD3}" srcOrd="1" destOrd="0" presId="urn:microsoft.com/office/officeart/2005/8/layout/pyramid1"/>
    <dgm:cxn modelId="{F67346FE-B562-4E34-8445-101067B072EC}" srcId="{D09B3C2D-3937-42CB-8ED5-60F3796A3FB6}" destId="{8789E06F-0B6F-477D-BF88-8608C384D8F2}" srcOrd="1" destOrd="0" parTransId="{622679B2-B256-4406-A647-7228C4D28D25}" sibTransId="{B02E3147-C8EC-441B-9E5B-525B5E0BC1CF}"/>
    <dgm:cxn modelId="{87A88EBF-B460-404A-827C-4B6F058A71B6}" type="presParOf" srcId="{A6FCFC9C-6F09-47A6-B9BE-78020EA64860}" destId="{2D74F54D-370C-4EDB-A8AC-464F187F1A17}" srcOrd="0" destOrd="0" presId="urn:microsoft.com/office/officeart/2005/8/layout/pyramid1"/>
    <dgm:cxn modelId="{352CB569-D303-48CB-8139-89D4809E1F00}" type="presParOf" srcId="{2D74F54D-370C-4EDB-A8AC-464F187F1A17}" destId="{ADA7B440-900C-4690-9387-31B47FAF02B0}" srcOrd="0" destOrd="0" presId="urn:microsoft.com/office/officeart/2005/8/layout/pyramid1"/>
    <dgm:cxn modelId="{B0850882-F543-4DF9-8A37-973D725DCEA8}" type="presParOf" srcId="{2D74F54D-370C-4EDB-A8AC-464F187F1A17}" destId="{4E943D84-4F38-44C5-B189-6BCACCDACC92}" srcOrd="1" destOrd="0" presId="urn:microsoft.com/office/officeart/2005/8/layout/pyramid1"/>
    <dgm:cxn modelId="{C45CE4AB-1484-47C6-B71C-45CCD35B4C48}" type="presParOf" srcId="{A6FCFC9C-6F09-47A6-B9BE-78020EA64860}" destId="{2858D877-2A0E-43B4-AC9C-F2EF93A0DD55}" srcOrd="1" destOrd="0" presId="urn:microsoft.com/office/officeart/2005/8/layout/pyramid1"/>
    <dgm:cxn modelId="{DF3C924B-7FD2-47E5-91D5-F7684B25CF3C}" type="presParOf" srcId="{2858D877-2A0E-43B4-AC9C-F2EF93A0DD55}" destId="{78FA5988-A776-4486-BA38-833C4C5A685C}" srcOrd="0" destOrd="0" presId="urn:microsoft.com/office/officeart/2005/8/layout/pyramid1"/>
    <dgm:cxn modelId="{BA9C5B2B-9C1E-4A04-9CD4-2740211BC4DB}" type="presParOf" srcId="{2858D877-2A0E-43B4-AC9C-F2EF93A0DD55}" destId="{CE5C0915-470E-448A-BC0C-C99DC8283FBD}" srcOrd="1" destOrd="0" presId="urn:microsoft.com/office/officeart/2005/8/layout/pyramid1"/>
    <dgm:cxn modelId="{08C5210A-728A-4F1C-808B-4CE8F679E578}" type="presParOf" srcId="{A6FCFC9C-6F09-47A6-B9BE-78020EA64860}" destId="{AB58ADDD-2478-45B1-9889-A2E2AA62F8CE}" srcOrd="2" destOrd="0" presId="urn:microsoft.com/office/officeart/2005/8/layout/pyramid1"/>
    <dgm:cxn modelId="{60F99FFF-C392-4216-8D76-5DE8E1BA1ACD}" type="presParOf" srcId="{AB58ADDD-2478-45B1-9889-A2E2AA62F8CE}" destId="{D93B1DF7-7989-42ED-A1EB-C04F18AF3615}" srcOrd="0" destOrd="0" presId="urn:microsoft.com/office/officeart/2005/8/layout/pyramid1"/>
    <dgm:cxn modelId="{3E93F8C5-D758-4EBF-93EB-2D8ED1F978D4}" type="presParOf" srcId="{AB58ADDD-2478-45B1-9889-A2E2AA62F8CE}" destId="{5B2118BE-CFF1-407D-856A-9E2F3DA50E72}" srcOrd="1" destOrd="0" presId="urn:microsoft.com/office/officeart/2005/8/layout/pyramid1"/>
    <dgm:cxn modelId="{A67FEC45-7E94-4C45-A9BE-5E127CB017E8}" type="presParOf" srcId="{A6FCFC9C-6F09-47A6-B9BE-78020EA64860}" destId="{CC6B9874-004D-4E58-879C-0135AB5905CC}" srcOrd="3" destOrd="0" presId="urn:microsoft.com/office/officeart/2005/8/layout/pyramid1"/>
    <dgm:cxn modelId="{7C8C3632-73D7-4CCE-8AEC-B3032E888102}" type="presParOf" srcId="{CC6B9874-004D-4E58-879C-0135AB5905CC}" destId="{7B57D81F-91A5-4128-8256-6B44A1170999}" srcOrd="0" destOrd="0" presId="urn:microsoft.com/office/officeart/2005/8/layout/pyramid1"/>
    <dgm:cxn modelId="{6D38E656-C3FD-4D9B-B393-D26600315879}" type="presParOf" srcId="{CC6B9874-004D-4E58-879C-0135AB5905CC}" destId="{2F245D61-787C-456E-BE21-818CC320FFD3}" srcOrd="1" destOrd="0" presId="urn:microsoft.com/office/officeart/2005/8/layout/pyramid1"/>
    <dgm:cxn modelId="{223AE3FF-E02C-4350-A189-C150CC4DCA0D}" type="presParOf" srcId="{A6FCFC9C-6F09-47A6-B9BE-78020EA64860}" destId="{08A16997-05F2-474D-82C4-08514A7CBAD4}" srcOrd="4" destOrd="0" presId="urn:microsoft.com/office/officeart/2005/8/layout/pyramid1"/>
    <dgm:cxn modelId="{9BBF142F-9C80-4288-B1B8-959007B81A09}" type="presParOf" srcId="{08A16997-05F2-474D-82C4-08514A7CBAD4}" destId="{AD8FC93A-833E-4E0B-8C5A-06B1F460DD71}" srcOrd="0" destOrd="0" presId="urn:microsoft.com/office/officeart/2005/8/layout/pyramid1"/>
    <dgm:cxn modelId="{546D5C71-B8A0-42F7-B26C-B374788970C5}" type="presParOf" srcId="{08A16997-05F2-474D-82C4-08514A7CBAD4}" destId="{BA1C75FB-5988-4F48-8B16-0DAE5D5810C2}"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A7B440-900C-4690-9387-31B47FAF02B0}">
      <dsp:nvSpPr>
        <dsp:cNvPr id="0" name=""/>
        <dsp:cNvSpPr/>
      </dsp:nvSpPr>
      <dsp:spPr>
        <a:xfrm>
          <a:off x="3108960" y="0"/>
          <a:ext cx="1554480" cy="763269"/>
        </a:xfrm>
        <a:prstGeom prst="trapezoid">
          <a:avLst>
            <a:gd name="adj" fmla="val 10183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b" anchorCtr="0">
          <a:noAutofit/>
        </a:bodyPr>
        <a:lstStyle/>
        <a:p>
          <a:pPr marL="0" lvl="0" indent="0" algn="ctr" defTabSz="1333500">
            <a:lnSpc>
              <a:spcPct val="90000"/>
            </a:lnSpc>
            <a:spcBef>
              <a:spcPct val="0"/>
            </a:spcBef>
            <a:spcAft>
              <a:spcPct val="35000"/>
            </a:spcAft>
            <a:buNone/>
          </a:pPr>
          <a:r>
            <a:rPr lang="en-GB" sz="3000" kern="1200" dirty="0"/>
            <a:t>Intention</a:t>
          </a:r>
        </a:p>
      </dsp:txBody>
      <dsp:txXfrm>
        <a:off x="3108960" y="0"/>
        <a:ext cx="1554480" cy="763269"/>
      </dsp:txXfrm>
    </dsp:sp>
    <dsp:sp modelId="{78FA5988-A776-4486-BA38-833C4C5A685C}">
      <dsp:nvSpPr>
        <dsp:cNvPr id="0" name=""/>
        <dsp:cNvSpPr/>
      </dsp:nvSpPr>
      <dsp:spPr>
        <a:xfrm>
          <a:off x="2331720" y="763269"/>
          <a:ext cx="3108960" cy="763269"/>
        </a:xfrm>
        <a:prstGeom prst="trapezoid">
          <a:avLst>
            <a:gd name="adj" fmla="val 10183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b" anchorCtr="0">
          <a:noAutofit/>
        </a:bodyPr>
        <a:lstStyle/>
        <a:p>
          <a:pPr marL="0" lvl="0" indent="0" algn="ctr" defTabSz="1333500">
            <a:lnSpc>
              <a:spcPct val="90000"/>
            </a:lnSpc>
            <a:spcBef>
              <a:spcPct val="0"/>
            </a:spcBef>
            <a:spcAft>
              <a:spcPct val="35000"/>
            </a:spcAft>
            <a:buNone/>
          </a:pPr>
          <a:r>
            <a:rPr lang="en-GB" sz="3000" kern="1200" dirty="0"/>
            <a:t>Knowledge</a:t>
          </a:r>
        </a:p>
      </dsp:txBody>
      <dsp:txXfrm>
        <a:off x="2875788" y="763269"/>
        <a:ext cx="2020824" cy="763269"/>
      </dsp:txXfrm>
    </dsp:sp>
    <dsp:sp modelId="{D93B1DF7-7989-42ED-A1EB-C04F18AF3615}">
      <dsp:nvSpPr>
        <dsp:cNvPr id="0" name=""/>
        <dsp:cNvSpPr/>
      </dsp:nvSpPr>
      <dsp:spPr>
        <a:xfrm>
          <a:off x="1554480" y="1526539"/>
          <a:ext cx="4663440" cy="763269"/>
        </a:xfrm>
        <a:prstGeom prst="trapezoid">
          <a:avLst>
            <a:gd name="adj" fmla="val 10183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b" anchorCtr="0">
          <a:noAutofit/>
        </a:bodyPr>
        <a:lstStyle/>
        <a:p>
          <a:pPr marL="0" lvl="0" indent="0" algn="ctr" defTabSz="1333500">
            <a:lnSpc>
              <a:spcPct val="90000"/>
            </a:lnSpc>
            <a:spcBef>
              <a:spcPct val="0"/>
            </a:spcBef>
            <a:spcAft>
              <a:spcPct val="35000"/>
            </a:spcAft>
            <a:buNone/>
          </a:pPr>
          <a:r>
            <a:rPr lang="en-GB" sz="3000" kern="1200" dirty="0"/>
            <a:t>Belief</a:t>
          </a:r>
        </a:p>
      </dsp:txBody>
      <dsp:txXfrm>
        <a:off x="2370582" y="1526539"/>
        <a:ext cx="3031236" cy="763269"/>
      </dsp:txXfrm>
    </dsp:sp>
    <dsp:sp modelId="{7B57D81F-91A5-4128-8256-6B44A1170999}">
      <dsp:nvSpPr>
        <dsp:cNvPr id="0" name=""/>
        <dsp:cNvSpPr/>
      </dsp:nvSpPr>
      <dsp:spPr>
        <a:xfrm>
          <a:off x="777240" y="2289809"/>
          <a:ext cx="6217920" cy="763269"/>
        </a:xfrm>
        <a:prstGeom prst="trapezoid">
          <a:avLst>
            <a:gd name="adj" fmla="val 10183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b" anchorCtr="0">
          <a:noAutofit/>
        </a:bodyPr>
        <a:lstStyle/>
        <a:p>
          <a:pPr marL="0" lvl="0" indent="0" algn="ctr" defTabSz="1333500">
            <a:lnSpc>
              <a:spcPct val="90000"/>
            </a:lnSpc>
            <a:spcBef>
              <a:spcPct val="0"/>
            </a:spcBef>
            <a:spcAft>
              <a:spcPct val="35000"/>
            </a:spcAft>
            <a:buNone/>
          </a:pPr>
          <a:r>
            <a:rPr lang="en-GB" sz="3000" kern="1200" dirty="0"/>
            <a:t>Recklessness</a:t>
          </a:r>
        </a:p>
      </dsp:txBody>
      <dsp:txXfrm>
        <a:off x="1865375" y="2289809"/>
        <a:ext cx="4041648" cy="763269"/>
      </dsp:txXfrm>
    </dsp:sp>
    <dsp:sp modelId="{AD8FC93A-833E-4E0B-8C5A-06B1F460DD71}">
      <dsp:nvSpPr>
        <dsp:cNvPr id="0" name=""/>
        <dsp:cNvSpPr/>
      </dsp:nvSpPr>
      <dsp:spPr>
        <a:xfrm>
          <a:off x="0" y="3053079"/>
          <a:ext cx="7772400" cy="763269"/>
        </a:xfrm>
        <a:prstGeom prst="trapezoid">
          <a:avLst>
            <a:gd name="adj" fmla="val 10183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b" anchorCtr="0">
          <a:noAutofit/>
        </a:bodyPr>
        <a:lstStyle/>
        <a:p>
          <a:pPr marL="0" lvl="0" indent="0" algn="ctr" defTabSz="1333500">
            <a:lnSpc>
              <a:spcPct val="90000"/>
            </a:lnSpc>
            <a:spcBef>
              <a:spcPct val="0"/>
            </a:spcBef>
            <a:spcAft>
              <a:spcPct val="35000"/>
            </a:spcAft>
            <a:buNone/>
          </a:pPr>
          <a:r>
            <a:rPr lang="en-GB" sz="3000" kern="1200" dirty="0"/>
            <a:t>Negligence</a:t>
          </a:r>
        </a:p>
      </dsp:txBody>
      <dsp:txXfrm>
        <a:off x="1360169" y="3053079"/>
        <a:ext cx="5052060" cy="763269"/>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fld id="{DC7D0385-F596-42C9-8BF1-76E61BE05E6F}" type="datetimeFigureOut">
              <a:rPr lang="en-GB" smtClean="0"/>
              <a:t>30/09/2024</a:t>
            </a:fld>
            <a:endParaRPr lang="en-GB"/>
          </a:p>
        </p:txBody>
      </p:sp>
      <p:sp>
        <p:nvSpPr>
          <p:cNvPr id="4" name="Footer Placeholder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3" y="9430091"/>
            <a:ext cx="2945659" cy="496411"/>
          </a:xfrm>
          <a:prstGeom prst="rect">
            <a:avLst/>
          </a:prstGeom>
        </p:spPr>
        <p:txBody>
          <a:bodyPr vert="horz" lIns="91440" tIns="45720" rIns="91440" bIns="45720" rtlCol="0" anchor="b"/>
          <a:lstStyle>
            <a:lvl1pPr algn="r">
              <a:defRPr sz="1200"/>
            </a:lvl1pPr>
          </a:lstStyle>
          <a:p>
            <a:fld id="{A22CBF9F-1C1E-490C-BC4D-4C3FBDBC1AE0}" type="slidenum">
              <a:rPr lang="en-GB" smtClean="0"/>
              <a:t>‹#›</a:t>
            </a:fld>
            <a:endParaRPr lang="en-GB"/>
          </a:p>
        </p:txBody>
      </p:sp>
    </p:spTree>
    <p:extLst>
      <p:ext uri="{BB962C8B-B14F-4D97-AF65-F5344CB8AC3E}">
        <p14:creationId xmlns:p14="http://schemas.microsoft.com/office/powerpoint/2010/main" val="29049555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4579" name="Rectangle 3"/>
          <p:cNvSpPr>
            <a:spLocks noGrp="1" noChangeArrowheads="1"/>
          </p:cNvSpPr>
          <p:nvPr>
            <p:ph type="dt" idx="1"/>
          </p:nvPr>
        </p:nvSpPr>
        <p:spPr bwMode="auto">
          <a:xfrm>
            <a:off x="3850443"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6148"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p:spPr>
      </p:sp>
      <p:sp>
        <p:nvSpPr>
          <p:cNvPr id="24581" name="Rectangle 5"/>
          <p:cNvSpPr>
            <a:spLocks noGrp="1" noChangeArrowheads="1"/>
          </p:cNvSpPr>
          <p:nvPr>
            <p:ph type="body" sz="quarter" idx="3"/>
          </p:nvPr>
        </p:nvSpPr>
        <p:spPr bwMode="auto">
          <a:xfrm>
            <a:off x="679768" y="4715907"/>
            <a:ext cx="5438140" cy="446770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0"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4583" name="Rectangle 7"/>
          <p:cNvSpPr>
            <a:spLocks noGrp="1" noChangeArrowheads="1"/>
          </p:cNvSpPr>
          <p:nvPr>
            <p:ph type="sldNum" sz="quarter" idx="5"/>
          </p:nvPr>
        </p:nvSpPr>
        <p:spPr bwMode="auto">
          <a:xfrm>
            <a:off x="3850443"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AF1A0DEF-8C78-439D-A7BB-06D1B273CEAA}" type="slidenum">
              <a:rPr lang="en-GB"/>
              <a:pPr>
                <a:defRPr/>
              </a:pPr>
              <a:t>‹#›</a:t>
            </a:fld>
            <a:endParaRPr lang="en-GB"/>
          </a:p>
        </p:txBody>
      </p:sp>
    </p:spTree>
    <p:extLst>
      <p:ext uri="{BB962C8B-B14F-4D97-AF65-F5344CB8AC3E}">
        <p14:creationId xmlns:p14="http://schemas.microsoft.com/office/powerpoint/2010/main" val="31725415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defTabSz="890327">
              <a:defRPr sz="2600">
                <a:solidFill>
                  <a:srgbClr val="004D75"/>
                </a:solidFill>
                <a:latin typeface="Verdana" pitchFamily="34" charset="0"/>
                <a:cs typeface="Arial" charset="0"/>
              </a:defRPr>
            </a:lvl1pPr>
            <a:lvl2pPr marL="699116" indent="-268891" defTabSz="890327">
              <a:defRPr sz="2600">
                <a:solidFill>
                  <a:srgbClr val="004D75"/>
                </a:solidFill>
                <a:latin typeface="Verdana" pitchFamily="34" charset="0"/>
                <a:cs typeface="Arial" charset="0"/>
              </a:defRPr>
            </a:lvl2pPr>
            <a:lvl3pPr marL="1075563" indent="-215113" defTabSz="890327">
              <a:defRPr sz="2600">
                <a:solidFill>
                  <a:srgbClr val="004D75"/>
                </a:solidFill>
                <a:latin typeface="Verdana" pitchFamily="34" charset="0"/>
                <a:cs typeface="Arial" charset="0"/>
              </a:defRPr>
            </a:lvl3pPr>
            <a:lvl4pPr marL="1505788" indent="-215113" defTabSz="890327">
              <a:defRPr sz="2600">
                <a:solidFill>
                  <a:srgbClr val="004D75"/>
                </a:solidFill>
                <a:latin typeface="Verdana" pitchFamily="34" charset="0"/>
                <a:cs typeface="Arial" charset="0"/>
              </a:defRPr>
            </a:lvl4pPr>
            <a:lvl5pPr marL="1936013" indent="-215113" defTabSz="890327">
              <a:defRPr sz="2600">
                <a:solidFill>
                  <a:srgbClr val="004D75"/>
                </a:solidFill>
                <a:latin typeface="Verdana" pitchFamily="34" charset="0"/>
                <a:cs typeface="Arial" charset="0"/>
              </a:defRPr>
            </a:lvl5pPr>
            <a:lvl6pPr marL="2366239" indent="-215113" defTabSz="890327" eaLnBrk="0" fontAlgn="base" hangingPunct="0">
              <a:spcBef>
                <a:spcPct val="0"/>
              </a:spcBef>
              <a:spcAft>
                <a:spcPct val="0"/>
              </a:spcAft>
              <a:defRPr sz="2600">
                <a:solidFill>
                  <a:srgbClr val="004D75"/>
                </a:solidFill>
                <a:latin typeface="Verdana" pitchFamily="34" charset="0"/>
                <a:cs typeface="Arial" charset="0"/>
              </a:defRPr>
            </a:lvl6pPr>
            <a:lvl7pPr marL="2796464" indent="-215113" defTabSz="890327" eaLnBrk="0" fontAlgn="base" hangingPunct="0">
              <a:spcBef>
                <a:spcPct val="0"/>
              </a:spcBef>
              <a:spcAft>
                <a:spcPct val="0"/>
              </a:spcAft>
              <a:defRPr sz="2600">
                <a:solidFill>
                  <a:srgbClr val="004D75"/>
                </a:solidFill>
                <a:latin typeface="Verdana" pitchFamily="34" charset="0"/>
                <a:cs typeface="Arial" charset="0"/>
              </a:defRPr>
            </a:lvl7pPr>
            <a:lvl8pPr marL="3226689" indent="-215113" defTabSz="890327" eaLnBrk="0" fontAlgn="base" hangingPunct="0">
              <a:spcBef>
                <a:spcPct val="0"/>
              </a:spcBef>
              <a:spcAft>
                <a:spcPct val="0"/>
              </a:spcAft>
              <a:defRPr sz="2600">
                <a:solidFill>
                  <a:srgbClr val="004D75"/>
                </a:solidFill>
                <a:latin typeface="Verdana" pitchFamily="34" charset="0"/>
                <a:cs typeface="Arial" charset="0"/>
              </a:defRPr>
            </a:lvl8pPr>
            <a:lvl9pPr marL="3656914" indent="-215113" defTabSz="890327" eaLnBrk="0" fontAlgn="base" hangingPunct="0">
              <a:spcBef>
                <a:spcPct val="0"/>
              </a:spcBef>
              <a:spcAft>
                <a:spcPct val="0"/>
              </a:spcAft>
              <a:defRPr sz="2600">
                <a:solidFill>
                  <a:srgbClr val="004D75"/>
                </a:solidFill>
                <a:latin typeface="Verdana" pitchFamily="34" charset="0"/>
                <a:cs typeface="Arial" charset="0"/>
              </a:defRPr>
            </a:lvl9pPr>
          </a:lstStyle>
          <a:p>
            <a:fld id="{A39AFC6A-131F-4D87-84A6-7FFA5EA6F2EF}" type="slidenum">
              <a:rPr lang="en-US" sz="1100">
                <a:solidFill>
                  <a:schemeClr val="tx1"/>
                </a:solidFill>
                <a:latin typeface="Times New Roman" pitchFamily="18" charset="0"/>
              </a:rPr>
              <a:pPr/>
              <a:t>1</a:t>
            </a:fld>
            <a:endParaRPr lang="en-US" sz="1100">
              <a:solidFill>
                <a:schemeClr val="tx1"/>
              </a:solidFill>
              <a:latin typeface="Times New Roman" pitchFamily="18"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p:spPr>
        <p:txBody>
          <a:bodyPr/>
          <a:lstStyle/>
          <a:p>
            <a:endParaRPr lang="en-GB" dirty="0"/>
          </a:p>
        </p:txBody>
      </p:sp>
    </p:spTree>
    <p:extLst>
      <p:ext uri="{BB962C8B-B14F-4D97-AF65-F5344CB8AC3E}">
        <p14:creationId xmlns:p14="http://schemas.microsoft.com/office/powerpoint/2010/main" val="2323590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2</a:t>
            </a:fld>
            <a:endParaRPr lang="en-GB"/>
          </a:p>
        </p:txBody>
      </p:sp>
    </p:spTree>
    <p:extLst>
      <p:ext uri="{BB962C8B-B14F-4D97-AF65-F5344CB8AC3E}">
        <p14:creationId xmlns:p14="http://schemas.microsoft.com/office/powerpoint/2010/main" val="520230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3</a:t>
            </a:fld>
            <a:endParaRPr lang="en-GB"/>
          </a:p>
        </p:txBody>
      </p:sp>
    </p:spTree>
    <p:extLst>
      <p:ext uri="{BB962C8B-B14F-4D97-AF65-F5344CB8AC3E}">
        <p14:creationId xmlns:p14="http://schemas.microsoft.com/office/powerpoint/2010/main" val="2129859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89269FD6-1334-4BCF-A176-A06A97CDDFD3}" type="slidenum">
              <a:rPr lang="en-GB" smtClean="0"/>
              <a:pPr>
                <a:defRPr/>
              </a:pPr>
              <a:t>5</a:t>
            </a:fld>
            <a:endParaRPr lang="en-GB"/>
          </a:p>
        </p:txBody>
      </p:sp>
    </p:spTree>
    <p:extLst>
      <p:ext uri="{BB962C8B-B14F-4D97-AF65-F5344CB8AC3E}">
        <p14:creationId xmlns:p14="http://schemas.microsoft.com/office/powerpoint/2010/main" val="903801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89269FD6-1334-4BCF-A176-A06A97CDDFD3}" type="slidenum">
              <a:rPr lang="en-GB" smtClean="0"/>
              <a:pPr>
                <a:defRPr/>
              </a:pPr>
              <a:t>6</a:t>
            </a:fld>
            <a:endParaRPr lang="en-GB"/>
          </a:p>
        </p:txBody>
      </p:sp>
    </p:spTree>
    <p:extLst>
      <p:ext uri="{BB962C8B-B14F-4D97-AF65-F5344CB8AC3E}">
        <p14:creationId xmlns:p14="http://schemas.microsoft.com/office/powerpoint/2010/main" val="1707333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20</a:t>
            </a:fld>
            <a:endParaRPr lang="en-GB"/>
          </a:p>
        </p:txBody>
      </p:sp>
    </p:spTree>
    <p:extLst>
      <p:ext uri="{BB962C8B-B14F-4D97-AF65-F5344CB8AC3E}">
        <p14:creationId xmlns:p14="http://schemas.microsoft.com/office/powerpoint/2010/main" val="31130410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213271"/>
            <a:ext cx="9144000" cy="5516563"/>
          </a:xfrm>
          <a:prstGeom prst="rect">
            <a:avLst/>
          </a:prstGeom>
          <a:solidFill>
            <a:srgbClr val="663366"/>
          </a:solidFill>
          <a:ln w="9525">
            <a:noFill/>
            <a:miter lim="800000"/>
            <a:headEnd/>
            <a:tailEnd/>
          </a:ln>
          <a:effectLst/>
        </p:spPr>
        <p:txBody>
          <a:bodyPr wrap="none" anchor="ctr"/>
          <a:lstStyle/>
          <a:p>
            <a:pPr algn="ctr">
              <a:defRPr/>
            </a:pPr>
            <a:endParaRPr lang="en-US">
              <a:solidFill>
                <a:srgbClr val="663366"/>
              </a:solidFill>
            </a:endParaRPr>
          </a:p>
        </p:txBody>
      </p:sp>
      <p:pic>
        <p:nvPicPr>
          <p:cNvPr id="5" name="Picture 8"/>
          <p:cNvPicPr>
            <a:picLocks noChangeAspect="1" noChangeArrowheads="1"/>
          </p:cNvPicPr>
          <p:nvPr userDrawn="1"/>
        </p:nvPicPr>
        <p:blipFill>
          <a:blip r:embed="rId2" cstate="print"/>
          <a:srcRect/>
          <a:stretch>
            <a:fillRect/>
          </a:stretch>
        </p:blipFill>
        <p:spPr bwMode="auto">
          <a:xfrm>
            <a:off x="266700" y="5843588"/>
            <a:ext cx="1943100" cy="862012"/>
          </a:xfrm>
          <a:prstGeom prst="rect">
            <a:avLst/>
          </a:prstGeom>
          <a:noFill/>
          <a:ln w="9525">
            <a:noFill/>
            <a:miter lim="800000"/>
            <a:headEnd/>
            <a:tailEnd/>
          </a:ln>
        </p:spPr>
      </p:pic>
      <p:sp>
        <p:nvSpPr>
          <p:cNvPr id="8203" name="Rectangle 11"/>
          <p:cNvSpPr>
            <a:spLocks noGrp="1" noChangeArrowheads="1"/>
          </p:cNvSpPr>
          <p:nvPr>
            <p:ph type="ctrTitle" sz="quarter"/>
          </p:nvPr>
        </p:nvSpPr>
        <p:spPr>
          <a:xfrm>
            <a:off x="755650" y="476250"/>
            <a:ext cx="7772400" cy="1800622"/>
          </a:xfrm>
        </p:spPr>
        <p:txBody>
          <a:bodyPr/>
          <a:lstStyle>
            <a:lvl1pPr algn="l">
              <a:defRPr sz="4400">
                <a:solidFill>
                  <a:schemeClr val="bg1"/>
                </a:solidFill>
              </a:defRPr>
            </a:lvl1pPr>
          </a:lstStyle>
          <a:p>
            <a:r>
              <a:rPr lang="en-GB" noProof="0" dirty="0"/>
              <a:t>Click to edit Master title style</a:t>
            </a:r>
          </a:p>
        </p:txBody>
      </p:sp>
      <p:sp>
        <p:nvSpPr>
          <p:cNvPr id="8204" name="Rectangle 12"/>
          <p:cNvSpPr>
            <a:spLocks noGrp="1" noChangeArrowheads="1"/>
          </p:cNvSpPr>
          <p:nvPr>
            <p:ph type="subTitle" sz="quarter" idx="1"/>
          </p:nvPr>
        </p:nvSpPr>
        <p:spPr>
          <a:xfrm>
            <a:off x="755650" y="2801926"/>
            <a:ext cx="7772400" cy="2431231"/>
          </a:xfrm>
        </p:spPr>
        <p:txBody>
          <a:bodyPr/>
          <a:lstStyle>
            <a:lvl1pPr marL="0" indent="0" algn="r">
              <a:defRPr sz="2400" b="0">
                <a:solidFill>
                  <a:schemeClr val="bg1"/>
                </a:solidFill>
              </a:defRPr>
            </a:lvl1pPr>
          </a:lstStyle>
          <a:p>
            <a:r>
              <a:rPr lang="en-GB" noProof="0" dirty="0"/>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8737E7BC-0AD6-4697-8AE2-1050AD12CB8F}" type="slidenum">
              <a:rPr lang="en-GB"/>
              <a:pPr>
                <a:defRPr/>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Content Placeholder 2"/>
          <p:cNvSpPr>
            <a:spLocks noGrp="1"/>
          </p:cNvSpPr>
          <p:nvPr>
            <p:ph idx="1"/>
          </p:nvPr>
        </p:nvSpPr>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4912F08-1523-45E2-8BAA-A9F45CA558CC}" type="slidenum">
              <a:rPr lang="en-GB"/>
              <a:pPr>
                <a:defRPr/>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0" cap="all"/>
            </a:lvl1pPr>
          </a:lstStyle>
          <a:p>
            <a:r>
              <a:rPr lang="en-GB" noProof="0"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8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noProof="0" dirty="0"/>
              <a:t>Click to edit Master text styles</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B4D38D05-2521-46AF-B091-01B951CDC625}" type="slidenum">
              <a:rPr lang="en-GB"/>
              <a:pPr>
                <a:defRPr/>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Content Placeholder 2"/>
          <p:cNvSpPr>
            <a:spLocks noGrp="1"/>
          </p:cNvSpPr>
          <p:nvPr>
            <p:ph sz="half" idx="1"/>
          </p:nvPr>
        </p:nvSpPr>
        <p:spPr>
          <a:xfrm>
            <a:off x="684213" y="1556792"/>
            <a:ext cx="3810000" cy="42486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Content Placeholder 3"/>
          <p:cNvSpPr>
            <a:spLocks noGrp="1"/>
          </p:cNvSpPr>
          <p:nvPr>
            <p:ph sz="half" idx="2"/>
          </p:nvPr>
        </p:nvSpPr>
        <p:spPr>
          <a:xfrm>
            <a:off x="4646613" y="1556792"/>
            <a:ext cx="3810000" cy="42486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CCC6FAAD-47EB-4642-A20E-D6984E4E470D}" type="slidenum">
              <a:rPr lang="en-GB"/>
              <a:pPr>
                <a:defRPr/>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GB" noProof="0"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Master text styles</a:t>
            </a:r>
          </a:p>
        </p:txBody>
      </p:sp>
      <p:sp>
        <p:nvSpPr>
          <p:cNvPr id="4" name="Content Placeholder 3"/>
          <p:cNvSpPr>
            <a:spLocks noGrp="1"/>
          </p:cNvSpPr>
          <p:nvPr>
            <p:ph sz="half" idx="2"/>
          </p:nvPr>
        </p:nvSpPr>
        <p:spPr>
          <a:xfrm>
            <a:off x="457200" y="2174875"/>
            <a:ext cx="4040188" cy="363038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Master text styles</a:t>
            </a:r>
          </a:p>
        </p:txBody>
      </p:sp>
      <p:sp>
        <p:nvSpPr>
          <p:cNvPr id="6" name="Content Placeholder 5"/>
          <p:cNvSpPr>
            <a:spLocks noGrp="1"/>
          </p:cNvSpPr>
          <p:nvPr>
            <p:ph sz="quarter" idx="4"/>
          </p:nvPr>
        </p:nvSpPr>
        <p:spPr>
          <a:xfrm>
            <a:off x="4645025" y="2174875"/>
            <a:ext cx="4041775" cy="363038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0958A245-B2A4-4D64-9F17-8921249642A6}" type="slidenum">
              <a:rPr lang="en-GB"/>
              <a:pPr>
                <a:defRPr/>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8CD46157-7DE3-44BB-B05A-899920269FF4}" type="slidenum">
              <a:rPr lang="en-GB"/>
              <a:pPr>
                <a:defRPr/>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0F579CBE-EE5B-4C6C-91B6-8F09653FD416}" type="slidenum">
              <a:rPr lang="en-GB"/>
              <a:pPr>
                <a:defRPr/>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noProof="0"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Text Placeholder 3"/>
          <p:cNvSpPr>
            <a:spLocks noGrp="1"/>
          </p:cNvSpPr>
          <p:nvPr>
            <p:ph type="body" sz="half" idx="2"/>
          </p:nvPr>
        </p:nvSpPr>
        <p:spPr>
          <a:xfrm>
            <a:off x="457200" y="1435101"/>
            <a:ext cx="3008313" cy="437016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noProof="0" dirty="0"/>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116C9DAA-14DF-41CB-AECF-883B94965DEE}" type="slidenum">
              <a:rPr lang="en-GB"/>
              <a:pPr>
                <a:defRPr/>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noProof="0"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noProof="0" dirty="0"/>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95C932C4-36C2-4D67-A23F-5A8A2E0B6DF0}" type="slidenum">
              <a:rPr lang="en-GB"/>
              <a:pPr>
                <a:defRPr/>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Vertical Text Placeholder 2"/>
          <p:cNvSpPr>
            <a:spLocks noGrp="1"/>
          </p:cNvSpPr>
          <p:nvPr>
            <p:ph type="body" orient="vert" idx="1"/>
          </p:nvPr>
        </p:nvSpPr>
        <p:spPr/>
        <p:txBody>
          <a:bodyPr vert="eaVert"/>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47CF5CD-C373-4001-B614-6EE9712AD039}" type="slidenum">
              <a:rPr lang="en-GB"/>
              <a:pPr>
                <a:defRPr/>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GB" noProof="0" dirty="0"/>
              <a:t>Click to edit Master title style</a:t>
            </a:r>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D037EC9-F64E-416F-A73B-52D4D68F7875}" type="slidenum">
              <a:rPr lang="en-GB"/>
              <a:pPr>
                <a:defRPr/>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w="9525">
            <a:noFill/>
            <a:miter lim="800000"/>
            <a:headEnd/>
            <a:tailEnd/>
          </a:ln>
          <a:effectLst/>
        </p:spPr>
        <p:txBody>
          <a:bodyPr wrap="none" anchor="ctr"/>
          <a:lstStyle/>
          <a:p>
            <a:pPr algn="ctr">
              <a:defRPr/>
            </a:pPr>
            <a:endParaRPr lang="en-US">
              <a:solidFill>
                <a:srgbClr val="663366"/>
              </a:solidFill>
            </a:endParaRPr>
          </a:p>
        </p:txBody>
      </p:sp>
      <p:pic>
        <p:nvPicPr>
          <p:cNvPr id="5" name="Picture 8"/>
          <p:cNvPicPr>
            <a:picLocks noChangeAspect="1" noChangeArrowheads="1"/>
          </p:cNvPicPr>
          <p:nvPr userDrawn="1"/>
        </p:nvPicPr>
        <p:blipFill>
          <a:blip r:embed="rId2" cstate="print"/>
          <a:srcRect/>
          <a:stretch>
            <a:fillRect/>
          </a:stretch>
        </p:blipFill>
        <p:spPr bwMode="auto">
          <a:xfrm>
            <a:off x="266700" y="5843588"/>
            <a:ext cx="1943100" cy="862012"/>
          </a:xfrm>
          <a:prstGeom prst="rect">
            <a:avLst/>
          </a:prstGeom>
          <a:noFill/>
          <a:ln w="9525">
            <a:noFill/>
            <a:miter lim="800000"/>
            <a:headEnd/>
            <a:tailEnd/>
          </a:ln>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US"/>
              <a:t>Click to edit Master title style</a:t>
            </a:r>
            <a:endParaRPr lang="en-GB"/>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US"/>
              <a:t>Click to edit Master subtitle style</a:t>
            </a:r>
            <a:endParaRPr lang="en-GB"/>
          </a:p>
        </p:txBody>
      </p:sp>
      <p:sp>
        <p:nvSpPr>
          <p:cNvPr id="6" name="Rectangle 6"/>
          <p:cNvSpPr>
            <a:spLocks noGrp="1" noChangeArrowheads="1"/>
          </p:cNvSpPr>
          <p:nvPr>
            <p:ph type="sldNum" sz="quarter" idx="10"/>
          </p:nvPr>
        </p:nvSpPr>
        <p:spPr>
          <a:xfrm>
            <a:off x="6553200" y="6245225"/>
            <a:ext cx="2133600" cy="476250"/>
          </a:xfrm>
        </p:spPr>
        <p:txBody>
          <a:bodyPr/>
          <a:lstStyle>
            <a:lvl1pPr>
              <a:defRPr smtClean="0"/>
            </a:lvl1pPr>
          </a:lstStyle>
          <a:p>
            <a:pPr>
              <a:defRPr/>
            </a:pPr>
            <a:fld id="{5808733C-49C7-40FB-A4F1-DD2E25C27074}" type="slidenum">
              <a:rPr lang="en-GB"/>
              <a:pPr>
                <a:defRPr/>
              </a:pPr>
              <a:t>‹#›</a:t>
            </a:fld>
            <a:endParaRPr lang="en-GB"/>
          </a:p>
        </p:txBody>
      </p:sp>
    </p:spTree>
    <p:extLst>
      <p:ext uri="{BB962C8B-B14F-4D97-AF65-F5344CB8AC3E}">
        <p14:creationId xmlns:p14="http://schemas.microsoft.com/office/powerpoint/2010/main" val="24529848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38C6626-3379-4AB9-B005-0D7AA955F5C7}" type="slidenum">
              <a:rPr lang="en-GB"/>
              <a:pPr>
                <a:defRPr/>
              </a:pPr>
              <a:t>‹#›</a:t>
            </a:fld>
            <a:endParaRPr lang="en-GB"/>
          </a:p>
        </p:txBody>
      </p:sp>
    </p:spTree>
    <p:extLst>
      <p:ext uri="{BB962C8B-B14F-4D97-AF65-F5344CB8AC3E}">
        <p14:creationId xmlns:p14="http://schemas.microsoft.com/office/powerpoint/2010/main" val="2709270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BE94BBC-7D95-4FCA-8748-CE1039ADF582}" type="slidenum">
              <a:rPr lang="en-GB"/>
              <a:pPr>
                <a:defRPr/>
              </a:pPr>
              <a:t>‹#›</a:t>
            </a:fld>
            <a:endParaRPr lang="en-GB"/>
          </a:p>
        </p:txBody>
      </p:sp>
    </p:spTree>
    <p:extLst>
      <p:ext uri="{BB962C8B-B14F-4D97-AF65-F5344CB8AC3E}">
        <p14:creationId xmlns:p14="http://schemas.microsoft.com/office/powerpoint/2010/main" val="3307814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18C0070E-1CC4-4E04-9097-9479805291ED}" type="slidenum">
              <a:rPr lang="en-GB"/>
              <a:pPr>
                <a:defRPr/>
              </a:pPr>
              <a:t>‹#›</a:t>
            </a:fld>
            <a:endParaRPr lang="en-GB"/>
          </a:p>
        </p:txBody>
      </p:sp>
    </p:spTree>
    <p:extLst>
      <p:ext uri="{BB962C8B-B14F-4D97-AF65-F5344CB8AC3E}">
        <p14:creationId xmlns:p14="http://schemas.microsoft.com/office/powerpoint/2010/main" val="10477261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BB42338B-ECF1-42EF-AA34-BC42D419FA25}" type="slidenum">
              <a:rPr lang="en-GB"/>
              <a:pPr>
                <a:defRPr/>
              </a:pPr>
              <a:t>‹#›</a:t>
            </a:fld>
            <a:endParaRPr lang="en-GB"/>
          </a:p>
        </p:txBody>
      </p:sp>
    </p:spTree>
    <p:extLst>
      <p:ext uri="{BB962C8B-B14F-4D97-AF65-F5344CB8AC3E}">
        <p14:creationId xmlns:p14="http://schemas.microsoft.com/office/powerpoint/2010/main" val="1098079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AFD1CC83-BF7E-41F3-A021-534C0B15D29D}" type="slidenum">
              <a:rPr lang="en-GB"/>
              <a:pPr>
                <a:defRPr/>
              </a:pPr>
              <a:t>‹#›</a:t>
            </a:fld>
            <a:endParaRPr lang="en-GB"/>
          </a:p>
        </p:txBody>
      </p:sp>
    </p:spTree>
    <p:extLst>
      <p:ext uri="{BB962C8B-B14F-4D97-AF65-F5344CB8AC3E}">
        <p14:creationId xmlns:p14="http://schemas.microsoft.com/office/powerpoint/2010/main" val="30185107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121D383-A17F-44FC-A169-307D1F974877}" type="slidenum">
              <a:rPr lang="en-GB"/>
              <a:pPr>
                <a:defRPr/>
              </a:pPr>
              <a:t>‹#›</a:t>
            </a:fld>
            <a:endParaRPr lang="en-GB"/>
          </a:p>
        </p:txBody>
      </p:sp>
    </p:spTree>
    <p:extLst>
      <p:ext uri="{BB962C8B-B14F-4D97-AF65-F5344CB8AC3E}">
        <p14:creationId xmlns:p14="http://schemas.microsoft.com/office/powerpoint/2010/main" val="12142280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5DE0AF8A-6CB0-40D2-B1FA-F3FB40C7D5C7}" type="slidenum">
              <a:rPr lang="en-GB"/>
              <a:pPr>
                <a:defRPr/>
              </a:pPr>
              <a:t>‹#›</a:t>
            </a:fld>
            <a:endParaRPr lang="en-GB"/>
          </a:p>
        </p:txBody>
      </p:sp>
    </p:spTree>
    <p:extLst>
      <p:ext uri="{BB962C8B-B14F-4D97-AF65-F5344CB8AC3E}">
        <p14:creationId xmlns:p14="http://schemas.microsoft.com/office/powerpoint/2010/main" val="37633389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4971D76B-0C30-465F-BCAE-0BE050D3324E}" type="slidenum">
              <a:rPr lang="en-GB"/>
              <a:pPr>
                <a:defRPr/>
              </a:pPr>
              <a:t>‹#›</a:t>
            </a:fld>
            <a:endParaRPr lang="en-GB"/>
          </a:p>
        </p:txBody>
      </p:sp>
    </p:spTree>
    <p:extLst>
      <p:ext uri="{BB962C8B-B14F-4D97-AF65-F5344CB8AC3E}">
        <p14:creationId xmlns:p14="http://schemas.microsoft.com/office/powerpoint/2010/main" val="37206749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9F196CAF-8346-4AF0-9750-FF9CAD143E7B}" type="slidenum">
              <a:rPr lang="en-GB"/>
              <a:pPr>
                <a:defRPr/>
              </a:pPr>
              <a:t>‹#›</a:t>
            </a:fld>
            <a:endParaRPr lang="en-GB"/>
          </a:p>
        </p:txBody>
      </p:sp>
    </p:spTree>
    <p:extLst>
      <p:ext uri="{BB962C8B-B14F-4D97-AF65-F5344CB8AC3E}">
        <p14:creationId xmlns:p14="http://schemas.microsoft.com/office/powerpoint/2010/main" val="30857518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24DC4723-EA81-4A3C-8A93-8D56707D54A5}" type="slidenum">
              <a:rPr lang="en-GB"/>
              <a:pPr>
                <a:defRPr/>
              </a:pPr>
              <a:t>‹#›</a:t>
            </a:fld>
            <a:endParaRPr lang="en-GB"/>
          </a:p>
        </p:txBody>
      </p:sp>
    </p:spTree>
    <p:extLst>
      <p:ext uri="{BB962C8B-B14F-4D97-AF65-F5344CB8AC3E}">
        <p14:creationId xmlns:p14="http://schemas.microsoft.com/office/powerpoint/2010/main" val="3618474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p:nvSpPr>
        <p:spPr bwMode="auto">
          <a:xfrm>
            <a:off x="0" y="0"/>
            <a:ext cx="9140825" cy="6873875"/>
          </a:xfrm>
          <a:prstGeom prst="rect">
            <a:avLst/>
          </a:prstGeom>
          <a:solidFill>
            <a:srgbClr val="663366"/>
          </a:solidFill>
          <a:ln w="9525">
            <a:noFill/>
            <a:miter lim="800000"/>
            <a:headEnd/>
            <a:tailEnd/>
          </a:ln>
          <a:effectLst/>
        </p:spPr>
        <p:txBody>
          <a:bodyPr wrap="none" anchor="ctr"/>
          <a:lstStyle/>
          <a:p>
            <a:pPr algn="ctr">
              <a:defRPr/>
            </a:pPr>
            <a:r>
              <a:rPr lang="en-GB">
                <a:solidFill>
                  <a:srgbClr val="663366"/>
                </a:solidFill>
              </a:rPr>
              <a:t>∂</a:t>
            </a:r>
          </a:p>
        </p:txBody>
      </p:sp>
      <p:sp>
        <p:nvSpPr>
          <p:cNvPr id="1032" name="Rectangle 8"/>
          <p:cNvSpPr>
            <a:spLocks noChangeArrowheads="1"/>
          </p:cNvSpPr>
          <p:nvPr/>
        </p:nvSpPr>
        <p:spPr bwMode="auto">
          <a:xfrm>
            <a:off x="109537" y="100012"/>
            <a:ext cx="8924925" cy="6657975"/>
          </a:xfrm>
          <a:prstGeom prst="rect">
            <a:avLst/>
          </a:prstGeom>
          <a:solidFill>
            <a:schemeClr val="bg1"/>
          </a:solidFill>
          <a:ln w="9525">
            <a:noFill/>
            <a:miter lim="800000"/>
            <a:headEnd/>
            <a:tailEnd/>
          </a:ln>
          <a:effectLst/>
        </p:spPr>
        <p:txBody>
          <a:bodyPr wrap="none" anchor="ctr"/>
          <a:lstStyle/>
          <a:p>
            <a:pPr algn="ctr">
              <a:defRPr/>
            </a:pPr>
            <a:endParaRPr lang="en-US">
              <a:solidFill>
                <a:srgbClr val="663366"/>
              </a:solidFill>
            </a:endParaRPr>
          </a:p>
        </p:txBody>
      </p:sp>
      <p:sp>
        <p:nvSpPr>
          <p:cNvPr id="1028" name="Rectangle 2"/>
          <p:cNvSpPr>
            <a:spLocks noGrp="1" noChangeArrowheads="1"/>
          </p:cNvSpPr>
          <p:nvPr>
            <p:ph type="title"/>
          </p:nvPr>
        </p:nvSpPr>
        <p:spPr bwMode="auto">
          <a:xfrm>
            <a:off x="685800" y="609600"/>
            <a:ext cx="7772400" cy="74612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noProof="0" dirty="0"/>
              <a:t>Heading style</a:t>
            </a:r>
          </a:p>
        </p:txBody>
      </p:sp>
      <p:sp>
        <p:nvSpPr>
          <p:cNvPr id="1029" name="Rectangle 3"/>
          <p:cNvSpPr>
            <a:spLocks noGrp="1" noChangeArrowheads="1"/>
          </p:cNvSpPr>
          <p:nvPr>
            <p:ph type="body" idx="1"/>
          </p:nvPr>
        </p:nvSpPr>
        <p:spPr bwMode="auto">
          <a:xfrm>
            <a:off x="684212" y="1587501"/>
            <a:ext cx="8131175" cy="45450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panose="020B0604020202020204" pitchFamily="34" charset="0"/>
                <a:cs typeface="Arial" panose="020B0604020202020204" pitchFamily="34" charset="0"/>
              </a:defRPr>
            </a:lvl1pPr>
          </a:lstStyle>
          <a:p>
            <a:pPr>
              <a:defRPr/>
            </a:pPr>
            <a:endParaRPr lang="en-GB" dirty="0">
              <a:latin typeface="Arial" panose="020B0604020202020204" pitchFamily="34" charset="0"/>
              <a:cs typeface="Arial" panose="020B0604020202020204" pitchFamily="34" charset="0"/>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cs typeface="Arial" panose="020B0604020202020204" pitchFamily="34" charset="0"/>
              </a:defRPr>
            </a:lvl1pPr>
          </a:lstStyle>
          <a:p>
            <a:pPr>
              <a:defRPr/>
            </a:pPr>
            <a:fld id="{44A284BA-A63D-4214-92FC-61D78B3D9DA5}" type="slidenum">
              <a:rPr lang="en-GB" smtClean="0"/>
              <a:pPr>
                <a:defRPr/>
              </a:pPr>
              <a:t>‹#›</a:t>
            </a:fld>
            <a:endParaRPr lang="en-GB" dirty="0">
              <a:latin typeface="Arial" panose="020B0604020202020204" pitchFamily="34" charset="0"/>
              <a:cs typeface="Arial" panose="020B0604020202020204" pitchFamily="34" charset="0"/>
            </a:endParaRPr>
          </a:p>
        </p:txBody>
      </p:sp>
      <p:sp>
        <p:nvSpPr>
          <p:cNvPr id="1033" name="Rectangle 9"/>
          <p:cNvSpPr>
            <a:spLocks noChangeArrowheads="1"/>
          </p:cNvSpPr>
          <p:nvPr/>
        </p:nvSpPr>
        <p:spPr bwMode="auto">
          <a:xfrm>
            <a:off x="790575" y="611188"/>
            <a:ext cx="8024813" cy="1143000"/>
          </a:xfrm>
          <a:prstGeom prst="rect">
            <a:avLst/>
          </a:prstGeom>
          <a:noFill/>
          <a:ln w="9525">
            <a:noFill/>
            <a:miter lim="800000"/>
            <a:headEnd/>
            <a:tailEnd/>
          </a:ln>
        </p:spPr>
        <p:txBody>
          <a:bodyPr/>
          <a:lstStyle/>
          <a:p>
            <a:pPr eaLnBrk="1" hangingPunct="1">
              <a:defRPr/>
            </a:pPr>
            <a:endParaRPr lang="en-US" sz="4400">
              <a:solidFill>
                <a:schemeClr val="bg1"/>
              </a:solidFill>
            </a:endParaRPr>
          </a:p>
        </p:txBody>
      </p:sp>
      <p:sp>
        <p:nvSpPr>
          <p:cNvPr id="1034" name="Rectangle 10"/>
          <p:cNvSpPr>
            <a:spLocks noChangeArrowheads="1"/>
          </p:cNvSpPr>
          <p:nvPr/>
        </p:nvSpPr>
        <p:spPr bwMode="auto">
          <a:xfrm>
            <a:off x="790575" y="1798638"/>
            <a:ext cx="8024813" cy="3813175"/>
          </a:xfrm>
          <a:prstGeom prst="rect">
            <a:avLst/>
          </a:prstGeom>
          <a:noFill/>
          <a:ln w="9525">
            <a:noFill/>
            <a:miter lim="800000"/>
            <a:headEnd/>
            <a:tailEnd/>
          </a:ln>
        </p:spPr>
        <p:txBody>
          <a:bodyPr/>
          <a:lstStyle/>
          <a:p>
            <a:pPr eaLnBrk="1" hangingPunct="1">
              <a:spcBef>
                <a:spcPct val="20000"/>
              </a:spcBef>
              <a:defRPr/>
            </a:pPr>
            <a:endParaRPr lang="en-US" sz="1800" b="1">
              <a:solidFill>
                <a:schemeClr val="bg1"/>
              </a:solidFill>
              <a:latin typeface="Arial" charset="0"/>
            </a:endParaRPr>
          </a:p>
        </p:txBody>
      </p:sp>
      <p:pic>
        <p:nvPicPr>
          <p:cNvPr id="1035" name="Picture 11"/>
          <p:cNvPicPr>
            <a:picLocks noChangeAspect="1" noChangeArrowheads="1"/>
          </p:cNvPicPr>
          <p:nvPr/>
        </p:nvPicPr>
        <p:blipFill>
          <a:blip r:embed="rId13" cstate="print"/>
          <a:srcRect/>
          <a:stretch>
            <a:fillRect/>
          </a:stretch>
        </p:blipFill>
        <p:spPr bwMode="auto">
          <a:xfrm>
            <a:off x="266700" y="5843588"/>
            <a:ext cx="1943100" cy="86201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3"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l" rtl="0" eaLnBrk="1" fontAlgn="base" hangingPunct="1">
        <a:spcBef>
          <a:spcPct val="0"/>
        </a:spcBef>
        <a:spcAft>
          <a:spcPct val="0"/>
        </a:spcAft>
        <a:defRPr sz="4000">
          <a:solidFill>
            <a:srgbClr val="663366"/>
          </a:solidFill>
          <a:latin typeface="Arial" panose="020B0604020202020204" pitchFamily="34" charset="0"/>
          <a:ea typeface="+mj-ea"/>
          <a:cs typeface="Arial" panose="020B0604020202020204" pitchFamily="34" charset="0"/>
        </a:defRPr>
      </a:lvl1pPr>
      <a:lvl2pPr algn="l" rtl="0" eaLnBrk="1" fontAlgn="base" hangingPunct="1">
        <a:spcBef>
          <a:spcPct val="0"/>
        </a:spcBef>
        <a:spcAft>
          <a:spcPct val="0"/>
        </a:spcAft>
        <a:defRPr sz="4400">
          <a:solidFill>
            <a:srgbClr val="663366"/>
          </a:solidFill>
          <a:latin typeface="Times" pitchFamily="18" charset="0"/>
        </a:defRPr>
      </a:lvl2pPr>
      <a:lvl3pPr algn="l" rtl="0" eaLnBrk="1" fontAlgn="base" hangingPunct="1">
        <a:spcBef>
          <a:spcPct val="0"/>
        </a:spcBef>
        <a:spcAft>
          <a:spcPct val="0"/>
        </a:spcAft>
        <a:defRPr sz="4400">
          <a:solidFill>
            <a:srgbClr val="663366"/>
          </a:solidFill>
          <a:latin typeface="Times" pitchFamily="18" charset="0"/>
        </a:defRPr>
      </a:lvl3pPr>
      <a:lvl4pPr algn="l" rtl="0" eaLnBrk="1" fontAlgn="base" hangingPunct="1">
        <a:spcBef>
          <a:spcPct val="0"/>
        </a:spcBef>
        <a:spcAft>
          <a:spcPct val="0"/>
        </a:spcAft>
        <a:defRPr sz="4400">
          <a:solidFill>
            <a:srgbClr val="663366"/>
          </a:solidFill>
          <a:latin typeface="Times" pitchFamily="18" charset="0"/>
        </a:defRPr>
      </a:lvl4pPr>
      <a:lvl5pPr algn="l" rtl="0" eaLnBrk="1" fontAlgn="base" hangingPunct="1">
        <a:spcBef>
          <a:spcPct val="0"/>
        </a:spcBef>
        <a:spcAft>
          <a:spcPct val="0"/>
        </a:spcAft>
        <a:defRPr sz="4400">
          <a:solidFill>
            <a:srgbClr val="663366"/>
          </a:solidFill>
          <a:latin typeface="Times" pitchFamily="18" charset="0"/>
        </a:defRPr>
      </a:lvl5pPr>
      <a:lvl6pPr marL="457200" algn="l" rtl="0" eaLnBrk="1" fontAlgn="base" hangingPunct="1">
        <a:spcBef>
          <a:spcPct val="0"/>
        </a:spcBef>
        <a:spcAft>
          <a:spcPct val="0"/>
        </a:spcAft>
        <a:defRPr sz="4400">
          <a:solidFill>
            <a:srgbClr val="663366"/>
          </a:solidFill>
          <a:latin typeface="Times" pitchFamily="18" charset="0"/>
        </a:defRPr>
      </a:lvl6pPr>
      <a:lvl7pPr marL="914400" algn="l" rtl="0" eaLnBrk="1" fontAlgn="base" hangingPunct="1">
        <a:spcBef>
          <a:spcPct val="0"/>
        </a:spcBef>
        <a:spcAft>
          <a:spcPct val="0"/>
        </a:spcAft>
        <a:defRPr sz="4400">
          <a:solidFill>
            <a:srgbClr val="663366"/>
          </a:solidFill>
          <a:latin typeface="Times" pitchFamily="18" charset="0"/>
        </a:defRPr>
      </a:lvl7pPr>
      <a:lvl8pPr marL="1371600" algn="l" rtl="0" eaLnBrk="1" fontAlgn="base" hangingPunct="1">
        <a:spcBef>
          <a:spcPct val="0"/>
        </a:spcBef>
        <a:spcAft>
          <a:spcPct val="0"/>
        </a:spcAft>
        <a:defRPr sz="4400">
          <a:solidFill>
            <a:srgbClr val="663366"/>
          </a:solidFill>
          <a:latin typeface="Times" pitchFamily="18" charset="0"/>
        </a:defRPr>
      </a:lvl8pPr>
      <a:lvl9pPr marL="1828800" algn="l" rtl="0" eaLnBrk="1" fontAlgn="base" hangingPunct="1">
        <a:spcBef>
          <a:spcPct val="0"/>
        </a:spcBef>
        <a:spcAft>
          <a:spcPct val="0"/>
        </a:spcAft>
        <a:defRPr sz="4400">
          <a:solidFill>
            <a:srgbClr val="663366"/>
          </a:solidFill>
          <a:latin typeface="Times" pitchFamily="18" charset="0"/>
        </a:defRPr>
      </a:lvl9pPr>
    </p:titleStyle>
    <p:bodyStyle>
      <a:lvl1pPr marL="284400" indent="-284400" algn="l" rtl="0" eaLnBrk="1" fontAlgn="base" hangingPunct="1">
        <a:spcBef>
          <a:spcPct val="20000"/>
        </a:spcBef>
        <a:spcAft>
          <a:spcPct val="0"/>
        </a:spcAft>
        <a:buFont typeface="Arial" panose="020B0604020202020204" pitchFamily="34" charset="0"/>
        <a:buChar char="•"/>
        <a:defRPr sz="28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gn="l" rtl="0" eaLnBrk="1" fontAlgn="base" hangingPunct="1">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3pPr>
      <a:lvl4pPr marL="1600200" indent="-228600" algn="l" rtl="0" eaLnBrk="1" fontAlgn="base" hangingPunct="1">
        <a:spcBef>
          <a:spcPct val="20000"/>
        </a:spcBef>
        <a:spcAft>
          <a:spcPct val="0"/>
        </a:spcAft>
        <a:buFont typeface="Arial" panose="020B0604020202020204" pitchFamily="34" charset="0"/>
        <a:buChar char="•"/>
        <a:defRPr sz="1800">
          <a:solidFill>
            <a:schemeClr val="tx1"/>
          </a:solidFill>
          <a:latin typeface="Arial" panose="020B0604020202020204" pitchFamily="34" charset="0"/>
          <a:cs typeface="Arial" panose="020B0604020202020204" pitchFamily="34" charset="0"/>
        </a:defRPr>
      </a:lvl4pPr>
      <a:lvl5pPr marL="2057400" indent="-228600" algn="l" rtl="0" eaLnBrk="1" fontAlgn="base" hangingPunct="1">
        <a:spcBef>
          <a:spcPct val="20000"/>
        </a:spcBef>
        <a:spcAft>
          <a:spcPct val="0"/>
        </a:spcAft>
        <a:buFont typeface="Arial" panose="020B0604020202020204" pitchFamily="34" charset="0"/>
        <a:buChar char="•"/>
        <a:defRPr sz="1800">
          <a:solidFill>
            <a:schemeClr val="tx1"/>
          </a:solidFill>
          <a:latin typeface="Arial" panose="020B0604020202020204" pitchFamily="34" charset="0"/>
          <a:cs typeface="Arial" panose="020B0604020202020204" pitchFamily="34" charset="0"/>
        </a:defRPr>
      </a:lvl5pPr>
      <a:lvl6pPr marL="2514600" indent="-228600" algn="l" rtl="0" eaLnBrk="1" fontAlgn="base" hangingPunct="1">
        <a:spcBef>
          <a:spcPct val="20000"/>
        </a:spcBef>
        <a:spcAft>
          <a:spcPct val="0"/>
        </a:spcAft>
        <a:buChar char="»"/>
        <a:defRPr sz="1200">
          <a:solidFill>
            <a:schemeClr val="tx1"/>
          </a:solidFill>
          <a:latin typeface="+mn-lt"/>
        </a:defRPr>
      </a:lvl6pPr>
      <a:lvl7pPr marL="2971800" indent="-228600" algn="l" rtl="0" eaLnBrk="1" fontAlgn="base" hangingPunct="1">
        <a:spcBef>
          <a:spcPct val="20000"/>
        </a:spcBef>
        <a:spcAft>
          <a:spcPct val="0"/>
        </a:spcAft>
        <a:buChar char="»"/>
        <a:defRPr sz="1200">
          <a:solidFill>
            <a:schemeClr val="tx1"/>
          </a:solidFill>
          <a:latin typeface="+mn-lt"/>
        </a:defRPr>
      </a:lvl7pPr>
      <a:lvl8pPr marL="3429000" indent="-228600" algn="l" rtl="0" eaLnBrk="1" fontAlgn="base" hangingPunct="1">
        <a:spcBef>
          <a:spcPct val="20000"/>
        </a:spcBef>
        <a:spcAft>
          <a:spcPct val="0"/>
        </a:spcAft>
        <a:buChar char="»"/>
        <a:defRPr sz="1200">
          <a:solidFill>
            <a:schemeClr val="tx1"/>
          </a:solidFill>
          <a:latin typeface="+mn-lt"/>
        </a:defRPr>
      </a:lvl8pPr>
      <a:lvl9pPr marL="3886200" indent="-228600" algn="l" rtl="0" eaLnBrk="1" fontAlgn="base" hangingPunct="1">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p:nvSpPr>
        <p:spPr bwMode="auto">
          <a:xfrm>
            <a:off x="0" y="0"/>
            <a:ext cx="9140825" cy="6873875"/>
          </a:xfrm>
          <a:prstGeom prst="rect">
            <a:avLst/>
          </a:prstGeom>
          <a:solidFill>
            <a:srgbClr val="663366"/>
          </a:solidFill>
          <a:ln w="9525">
            <a:noFill/>
            <a:miter lim="800000"/>
            <a:headEnd/>
            <a:tailEnd/>
          </a:ln>
          <a:effectLst/>
        </p:spPr>
        <p:txBody>
          <a:bodyPr wrap="none" anchor="ctr"/>
          <a:lstStyle/>
          <a:p>
            <a:pPr algn="ctr">
              <a:defRPr/>
            </a:pPr>
            <a:r>
              <a:rPr lang="en-GB">
                <a:solidFill>
                  <a:srgbClr val="663366"/>
                </a:solidFill>
              </a:rPr>
              <a:t>∂</a:t>
            </a:r>
          </a:p>
        </p:txBody>
      </p:sp>
      <p:sp>
        <p:nvSpPr>
          <p:cNvPr id="1032" name="Rectangle 8"/>
          <p:cNvSpPr>
            <a:spLocks noChangeArrowheads="1"/>
          </p:cNvSpPr>
          <p:nvPr/>
        </p:nvSpPr>
        <p:spPr bwMode="auto">
          <a:xfrm>
            <a:off x="107950" y="107950"/>
            <a:ext cx="8924925" cy="6657975"/>
          </a:xfrm>
          <a:prstGeom prst="rect">
            <a:avLst/>
          </a:prstGeom>
          <a:solidFill>
            <a:schemeClr val="bg1"/>
          </a:solidFill>
          <a:ln w="9525">
            <a:noFill/>
            <a:miter lim="800000"/>
            <a:headEnd/>
            <a:tailEnd/>
          </a:ln>
          <a:effectLst/>
        </p:spPr>
        <p:txBody>
          <a:bodyPr wrap="none" anchor="ctr"/>
          <a:lstStyle/>
          <a:p>
            <a:pPr algn="ctr">
              <a:defRPr/>
            </a:pPr>
            <a:endParaRPr lang="en-US">
              <a:solidFill>
                <a:srgbClr val="663366"/>
              </a:solidFill>
            </a:endParaRPr>
          </a:p>
        </p:txBody>
      </p:sp>
      <p:sp>
        <p:nvSpPr>
          <p:cNvPr id="1028"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Heading style</a:t>
            </a:r>
          </a:p>
        </p:txBody>
      </p:sp>
      <p:sp>
        <p:nvSpPr>
          <p:cNvPr id="1029" name="Rectangle 3"/>
          <p:cNvSpPr>
            <a:spLocks noGrp="1" noChangeArrowheads="1"/>
          </p:cNvSpPr>
          <p:nvPr>
            <p:ph type="body" idx="1"/>
          </p:nvPr>
        </p:nvSpPr>
        <p:spPr bwMode="auto">
          <a:xfrm>
            <a:off x="684213" y="1989138"/>
            <a:ext cx="7772400" cy="38163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vl1pPr>
          </a:lstStyle>
          <a:p>
            <a:pPr>
              <a:defRPr/>
            </a:pPr>
            <a:fld id="{A89C703E-5C29-4D80-B46C-539E45548EDA}" type="slidenum">
              <a:rPr lang="en-GB"/>
              <a:pPr>
                <a:defRPr/>
              </a:pPr>
              <a:t>‹#›</a:t>
            </a:fld>
            <a:endParaRPr lang="en-GB"/>
          </a:p>
        </p:txBody>
      </p:sp>
      <p:sp>
        <p:nvSpPr>
          <p:cNvPr id="1033" name="Rectangle 9"/>
          <p:cNvSpPr>
            <a:spLocks noChangeArrowheads="1"/>
          </p:cNvSpPr>
          <p:nvPr/>
        </p:nvSpPr>
        <p:spPr bwMode="auto">
          <a:xfrm>
            <a:off x="790575" y="611188"/>
            <a:ext cx="8024813" cy="1143000"/>
          </a:xfrm>
          <a:prstGeom prst="rect">
            <a:avLst/>
          </a:prstGeom>
          <a:noFill/>
          <a:ln w="9525">
            <a:noFill/>
            <a:miter lim="800000"/>
            <a:headEnd/>
            <a:tailEnd/>
          </a:ln>
        </p:spPr>
        <p:txBody>
          <a:bodyPr/>
          <a:lstStyle/>
          <a:p>
            <a:pPr eaLnBrk="1" hangingPunct="1">
              <a:defRPr/>
            </a:pPr>
            <a:endParaRPr lang="en-US" sz="4400">
              <a:solidFill>
                <a:schemeClr val="bg1"/>
              </a:solidFill>
            </a:endParaRPr>
          </a:p>
        </p:txBody>
      </p:sp>
      <p:sp>
        <p:nvSpPr>
          <p:cNvPr id="1034" name="Rectangle 10"/>
          <p:cNvSpPr>
            <a:spLocks noChangeArrowheads="1"/>
          </p:cNvSpPr>
          <p:nvPr/>
        </p:nvSpPr>
        <p:spPr bwMode="auto">
          <a:xfrm>
            <a:off x="790575" y="1798638"/>
            <a:ext cx="8024813" cy="3813175"/>
          </a:xfrm>
          <a:prstGeom prst="rect">
            <a:avLst/>
          </a:prstGeom>
          <a:noFill/>
          <a:ln w="9525">
            <a:noFill/>
            <a:miter lim="800000"/>
            <a:headEnd/>
            <a:tailEnd/>
          </a:ln>
        </p:spPr>
        <p:txBody>
          <a:bodyPr/>
          <a:lstStyle/>
          <a:p>
            <a:pPr eaLnBrk="1" hangingPunct="1">
              <a:spcBef>
                <a:spcPct val="20000"/>
              </a:spcBef>
              <a:defRPr/>
            </a:pPr>
            <a:endParaRPr lang="en-US" sz="1800" b="1">
              <a:solidFill>
                <a:schemeClr val="bg1"/>
              </a:solidFill>
              <a:latin typeface="Arial" charset="0"/>
            </a:endParaRPr>
          </a:p>
        </p:txBody>
      </p:sp>
      <p:pic>
        <p:nvPicPr>
          <p:cNvPr id="1035" name="Picture 11"/>
          <p:cNvPicPr>
            <a:picLocks noChangeAspect="1" noChangeArrowheads="1"/>
          </p:cNvPicPr>
          <p:nvPr/>
        </p:nvPicPr>
        <p:blipFill>
          <a:blip r:embed="rId13" cstate="print"/>
          <a:srcRect/>
          <a:stretch>
            <a:fillRect/>
          </a:stretch>
        </p:blipFill>
        <p:spPr bwMode="auto">
          <a:xfrm>
            <a:off x="266700" y="5843588"/>
            <a:ext cx="1943100" cy="862012"/>
          </a:xfrm>
          <a:prstGeom prst="rect">
            <a:avLst/>
          </a:prstGeom>
          <a:noFill/>
          <a:ln w="9525">
            <a:noFill/>
            <a:miter lim="800000"/>
            <a:headEnd/>
            <a:tailEnd/>
          </a:ln>
        </p:spPr>
      </p:pic>
    </p:spTree>
    <p:extLst>
      <p:ext uri="{BB962C8B-B14F-4D97-AF65-F5344CB8AC3E}">
        <p14:creationId xmlns:p14="http://schemas.microsoft.com/office/powerpoint/2010/main" val="278030490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fontAlgn="base" hangingPunct="1">
        <a:spcBef>
          <a:spcPct val="0"/>
        </a:spcBef>
        <a:spcAft>
          <a:spcPct val="0"/>
        </a:spcAft>
        <a:defRPr sz="4400">
          <a:solidFill>
            <a:srgbClr val="663366"/>
          </a:solidFill>
          <a:latin typeface="+mj-lt"/>
          <a:ea typeface="+mj-ea"/>
          <a:cs typeface="+mj-cs"/>
        </a:defRPr>
      </a:lvl1pPr>
      <a:lvl2pPr algn="l" rtl="0" eaLnBrk="1" fontAlgn="base" hangingPunct="1">
        <a:spcBef>
          <a:spcPct val="0"/>
        </a:spcBef>
        <a:spcAft>
          <a:spcPct val="0"/>
        </a:spcAft>
        <a:defRPr sz="4400">
          <a:solidFill>
            <a:srgbClr val="663366"/>
          </a:solidFill>
          <a:latin typeface="Times" pitchFamily="18" charset="0"/>
        </a:defRPr>
      </a:lvl2pPr>
      <a:lvl3pPr algn="l" rtl="0" eaLnBrk="1" fontAlgn="base" hangingPunct="1">
        <a:spcBef>
          <a:spcPct val="0"/>
        </a:spcBef>
        <a:spcAft>
          <a:spcPct val="0"/>
        </a:spcAft>
        <a:defRPr sz="4400">
          <a:solidFill>
            <a:srgbClr val="663366"/>
          </a:solidFill>
          <a:latin typeface="Times" pitchFamily="18" charset="0"/>
        </a:defRPr>
      </a:lvl3pPr>
      <a:lvl4pPr algn="l" rtl="0" eaLnBrk="1" fontAlgn="base" hangingPunct="1">
        <a:spcBef>
          <a:spcPct val="0"/>
        </a:spcBef>
        <a:spcAft>
          <a:spcPct val="0"/>
        </a:spcAft>
        <a:defRPr sz="4400">
          <a:solidFill>
            <a:srgbClr val="663366"/>
          </a:solidFill>
          <a:latin typeface="Times" pitchFamily="18" charset="0"/>
        </a:defRPr>
      </a:lvl4pPr>
      <a:lvl5pPr algn="l" rtl="0" eaLnBrk="1" fontAlgn="base" hangingPunct="1">
        <a:spcBef>
          <a:spcPct val="0"/>
        </a:spcBef>
        <a:spcAft>
          <a:spcPct val="0"/>
        </a:spcAft>
        <a:defRPr sz="4400">
          <a:solidFill>
            <a:srgbClr val="663366"/>
          </a:solidFill>
          <a:latin typeface="Times" pitchFamily="18" charset="0"/>
        </a:defRPr>
      </a:lvl5pPr>
      <a:lvl6pPr marL="457200" algn="l" rtl="0" eaLnBrk="1" fontAlgn="base" hangingPunct="1">
        <a:spcBef>
          <a:spcPct val="0"/>
        </a:spcBef>
        <a:spcAft>
          <a:spcPct val="0"/>
        </a:spcAft>
        <a:defRPr sz="4400">
          <a:solidFill>
            <a:srgbClr val="663366"/>
          </a:solidFill>
          <a:latin typeface="Times" pitchFamily="18" charset="0"/>
        </a:defRPr>
      </a:lvl6pPr>
      <a:lvl7pPr marL="914400" algn="l" rtl="0" eaLnBrk="1" fontAlgn="base" hangingPunct="1">
        <a:spcBef>
          <a:spcPct val="0"/>
        </a:spcBef>
        <a:spcAft>
          <a:spcPct val="0"/>
        </a:spcAft>
        <a:defRPr sz="4400">
          <a:solidFill>
            <a:srgbClr val="663366"/>
          </a:solidFill>
          <a:latin typeface="Times" pitchFamily="18" charset="0"/>
        </a:defRPr>
      </a:lvl7pPr>
      <a:lvl8pPr marL="1371600" algn="l" rtl="0" eaLnBrk="1" fontAlgn="base" hangingPunct="1">
        <a:spcBef>
          <a:spcPct val="0"/>
        </a:spcBef>
        <a:spcAft>
          <a:spcPct val="0"/>
        </a:spcAft>
        <a:defRPr sz="4400">
          <a:solidFill>
            <a:srgbClr val="663366"/>
          </a:solidFill>
          <a:latin typeface="Times" pitchFamily="18" charset="0"/>
        </a:defRPr>
      </a:lvl8pPr>
      <a:lvl9pPr marL="1828800" algn="l" rtl="0" eaLnBrk="1" fontAlgn="base" hangingPunct="1">
        <a:spcBef>
          <a:spcPct val="0"/>
        </a:spcBef>
        <a:spcAft>
          <a:spcPct val="0"/>
        </a:spcAft>
        <a:defRPr sz="4400">
          <a:solidFill>
            <a:srgbClr val="663366"/>
          </a:solidFill>
          <a:latin typeface="Times" pitchFamily="18" charset="0"/>
        </a:defRPr>
      </a:lvl9pPr>
    </p:titleStyle>
    <p:bodyStyle>
      <a:lvl1pPr marL="342900" indent="-342900" algn="l" rtl="0" eaLnBrk="1" fontAlgn="base" hangingPunct="1">
        <a:spcBef>
          <a:spcPct val="20000"/>
        </a:spcBef>
        <a:spcAft>
          <a:spcPct val="0"/>
        </a:spcAft>
        <a:defRPr>
          <a:solidFill>
            <a:schemeClr val="tx1"/>
          </a:solidFill>
          <a:latin typeface="+mn-lt"/>
          <a:ea typeface="+mn-ea"/>
          <a:cs typeface="+mn-cs"/>
        </a:defRPr>
      </a:lvl1pPr>
      <a:lvl2pPr marL="742950" indent="-285750" algn="l" rtl="0" eaLnBrk="1" fontAlgn="base" hangingPunct="1">
        <a:spcBef>
          <a:spcPct val="20000"/>
        </a:spcBef>
        <a:spcAft>
          <a:spcPct val="0"/>
        </a:spcAft>
        <a:buChar char="–"/>
        <a:defRPr sz="1600">
          <a:solidFill>
            <a:schemeClr val="tx1"/>
          </a:solidFill>
          <a:latin typeface="+mn-lt"/>
        </a:defRPr>
      </a:lvl2pPr>
      <a:lvl3pPr marL="1143000" indent="-228600" algn="l" rtl="0" eaLnBrk="1" fontAlgn="base" hangingPunct="1">
        <a:spcBef>
          <a:spcPct val="20000"/>
        </a:spcBef>
        <a:spcAft>
          <a:spcPct val="0"/>
        </a:spcAft>
        <a:buChar char="•"/>
        <a:defRPr sz="1400">
          <a:solidFill>
            <a:schemeClr val="tx1"/>
          </a:solidFill>
          <a:latin typeface="+mn-lt"/>
        </a:defRPr>
      </a:lvl3pPr>
      <a:lvl4pPr marL="1600200" indent="-228600" algn="l" rtl="0" eaLnBrk="1" fontAlgn="base" hangingPunct="1">
        <a:spcBef>
          <a:spcPct val="20000"/>
        </a:spcBef>
        <a:spcAft>
          <a:spcPct val="0"/>
        </a:spcAft>
        <a:buChar char="–"/>
        <a:defRPr sz="1200">
          <a:solidFill>
            <a:schemeClr val="tx1"/>
          </a:solidFill>
          <a:latin typeface="+mn-lt"/>
        </a:defRPr>
      </a:lvl4pPr>
      <a:lvl5pPr marL="2057400" indent="-228600" algn="l" rtl="0" eaLnBrk="1" fontAlgn="base" hangingPunct="1">
        <a:spcBef>
          <a:spcPct val="20000"/>
        </a:spcBef>
        <a:spcAft>
          <a:spcPct val="0"/>
        </a:spcAft>
        <a:buChar char="»"/>
        <a:defRPr sz="1200">
          <a:solidFill>
            <a:schemeClr val="tx1"/>
          </a:solidFill>
          <a:latin typeface="+mn-lt"/>
        </a:defRPr>
      </a:lvl5pPr>
      <a:lvl6pPr marL="2514600" indent="-228600" algn="l" rtl="0" eaLnBrk="1" fontAlgn="base" hangingPunct="1">
        <a:spcBef>
          <a:spcPct val="20000"/>
        </a:spcBef>
        <a:spcAft>
          <a:spcPct val="0"/>
        </a:spcAft>
        <a:buChar char="»"/>
        <a:defRPr sz="1200">
          <a:solidFill>
            <a:schemeClr val="tx1"/>
          </a:solidFill>
          <a:latin typeface="+mn-lt"/>
        </a:defRPr>
      </a:lvl6pPr>
      <a:lvl7pPr marL="2971800" indent="-228600" algn="l" rtl="0" eaLnBrk="1" fontAlgn="base" hangingPunct="1">
        <a:spcBef>
          <a:spcPct val="20000"/>
        </a:spcBef>
        <a:spcAft>
          <a:spcPct val="0"/>
        </a:spcAft>
        <a:buChar char="»"/>
        <a:defRPr sz="1200">
          <a:solidFill>
            <a:schemeClr val="tx1"/>
          </a:solidFill>
          <a:latin typeface="+mn-lt"/>
        </a:defRPr>
      </a:lvl7pPr>
      <a:lvl8pPr marL="3429000" indent="-228600" algn="l" rtl="0" eaLnBrk="1" fontAlgn="base" hangingPunct="1">
        <a:spcBef>
          <a:spcPct val="20000"/>
        </a:spcBef>
        <a:spcAft>
          <a:spcPct val="0"/>
        </a:spcAft>
        <a:buChar char="»"/>
        <a:defRPr sz="1200">
          <a:solidFill>
            <a:schemeClr val="tx1"/>
          </a:solidFill>
          <a:latin typeface="+mn-lt"/>
        </a:defRPr>
      </a:lvl8pPr>
      <a:lvl9pPr marL="3886200" indent="-228600" algn="l" rtl="0" eaLnBrk="1" fontAlgn="base" hangingPunct="1">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1.xml"/><Relationship Id="rId11" Type="http://schemas.openxmlformats.org/officeDocument/2006/relationships/image" Target="../media/image5.svg"/><Relationship Id="rId5" Type="http://schemas.openxmlformats.org/officeDocument/2006/relationships/diagramQuickStyle" Target="../diagrams/quickStyle1.xml"/><Relationship Id="rId10" Type="http://schemas.openxmlformats.org/officeDocument/2006/relationships/image" Target="../media/image4.png"/><Relationship Id="rId4" Type="http://schemas.openxmlformats.org/officeDocument/2006/relationships/diagramLayout" Target="../diagrams/layout1.xml"/><Relationship Id="rId9" Type="http://schemas.openxmlformats.org/officeDocument/2006/relationships/image" Target="../media/image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sz="quarter"/>
          </p:nvPr>
        </p:nvSpPr>
        <p:spPr>
          <a:xfrm>
            <a:off x="755650" y="476250"/>
            <a:ext cx="7772400" cy="3744838"/>
          </a:xfrm>
        </p:spPr>
        <p:txBody>
          <a:bodyPr/>
          <a:lstStyle/>
          <a:p>
            <a:pPr algn="ctr"/>
            <a:r>
              <a:rPr lang="en-GB" dirty="0"/>
              <a:t>Lecture 3: Mens Rea</a:t>
            </a:r>
          </a:p>
        </p:txBody>
      </p:sp>
      <p:sp>
        <p:nvSpPr>
          <p:cNvPr id="3075" name="Rectangle 3"/>
          <p:cNvSpPr>
            <a:spLocks noGrp="1" noChangeArrowheads="1"/>
          </p:cNvSpPr>
          <p:nvPr>
            <p:ph type="subTitle" sz="quarter" idx="1"/>
          </p:nvPr>
        </p:nvSpPr>
        <p:spPr>
          <a:xfrm>
            <a:off x="755650" y="4221088"/>
            <a:ext cx="7772400" cy="1012069"/>
          </a:xfrm>
        </p:spPr>
        <p:txBody>
          <a:bodyPr/>
          <a:lstStyle/>
          <a:p>
            <a:pPr>
              <a:buNone/>
            </a:pPr>
            <a:r>
              <a:rPr lang="en-GB" dirty="0"/>
              <a:t>Gemma Davies on behalf of Emma Milne </a:t>
            </a:r>
          </a:p>
          <a:p>
            <a:pPr>
              <a:buNone/>
            </a:pPr>
            <a:r>
              <a:rPr lang="en-GB" dirty="0"/>
              <a:t>Friday  25 October 2024</a:t>
            </a:r>
          </a:p>
        </p:txBody>
      </p:sp>
    </p:spTree>
    <p:extLst>
      <p:ext uri="{BB962C8B-B14F-4D97-AF65-F5344CB8AC3E}">
        <p14:creationId xmlns:p14="http://schemas.microsoft.com/office/powerpoint/2010/main" val="894051124"/>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66E32-51FB-7047-BE92-D1EED9CB3D50}"/>
              </a:ext>
            </a:extLst>
          </p:cNvPr>
          <p:cNvSpPr>
            <a:spLocks noGrp="1"/>
          </p:cNvSpPr>
          <p:nvPr>
            <p:ph type="title"/>
          </p:nvPr>
        </p:nvSpPr>
        <p:spPr>
          <a:xfrm>
            <a:off x="685800" y="609600"/>
            <a:ext cx="7772400" cy="746126"/>
          </a:xfrm>
        </p:spPr>
        <p:txBody>
          <a:bodyPr/>
          <a:lstStyle/>
          <a:p>
            <a:r>
              <a:rPr lang="en-GB" dirty="0"/>
              <a:t>By the end of this lecture, you should be able to:</a:t>
            </a:r>
          </a:p>
        </p:txBody>
      </p:sp>
      <p:sp>
        <p:nvSpPr>
          <p:cNvPr id="5" name="Content Placeholder 4">
            <a:extLst>
              <a:ext uri="{FF2B5EF4-FFF2-40B4-BE49-F238E27FC236}">
                <a16:creationId xmlns:a16="http://schemas.microsoft.com/office/drawing/2014/main" id="{3D596522-E147-F641-85E6-3666106EB69D}"/>
              </a:ext>
            </a:extLst>
          </p:cNvPr>
          <p:cNvSpPr>
            <a:spLocks noGrp="1"/>
          </p:cNvSpPr>
          <p:nvPr>
            <p:ph idx="1"/>
          </p:nvPr>
        </p:nvSpPr>
        <p:spPr>
          <a:xfrm>
            <a:off x="684212" y="1772816"/>
            <a:ext cx="8131175" cy="4359696"/>
          </a:xfrm>
        </p:spPr>
        <p:txBody>
          <a:bodyPr/>
          <a:lstStyle/>
          <a:p>
            <a:r>
              <a:rPr lang="en-GB" dirty="0"/>
              <a:t>Explain and apply the key concepts and principles of </a:t>
            </a:r>
            <a:r>
              <a:rPr lang="en-GB" dirty="0" err="1"/>
              <a:t>mens</a:t>
            </a:r>
            <a:r>
              <a:rPr lang="en-GB" dirty="0"/>
              <a:t> rea.</a:t>
            </a:r>
          </a:p>
          <a:p>
            <a:pPr lvl="1"/>
            <a:r>
              <a:rPr lang="en-GB" sz="1800" dirty="0"/>
              <a:t>Intention</a:t>
            </a:r>
          </a:p>
          <a:p>
            <a:pPr lvl="1"/>
            <a:r>
              <a:rPr lang="en-GB" sz="1800" dirty="0"/>
              <a:t>Knowledge</a:t>
            </a:r>
          </a:p>
          <a:p>
            <a:pPr lvl="1"/>
            <a:r>
              <a:rPr lang="en-GB" sz="1800" dirty="0"/>
              <a:t>Belief</a:t>
            </a:r>
          </a:p>
          <a:p>
            <a:pPr lvl="1"/>
            <a:r>
              <a:rPr lang="en-GB" sz="1800" dirty="0"/>
              <a:t>Recklessness</a:t>
            </a:r>
          </a:p>
          <a:p>
            <a:pPr lvl="1"/>
            <a:r>
              <a:rPr lang="en-GB" sz="1800" dirty="0"/>
              <a:t>Wilfulness</a:t>
            </a:r>
          </a:p>
          <a:p>
            <a:pPr marL="284400" marR="0" lvl="0" indent="-284400"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r>
              <a:rPr kumimoji="0" lang="en-GB" sz="2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Consider how these concepts may impact MR</a:t>
            </a:r>
            <a:endParaRPr lang="en-GB" sz="1800" dirty="0"/>
          </a:p>
          <a:p>
            <a:pPr lvl="1"/>
            <a:r>
              <a:rPr lang="en-GB" sz="1800" dirty="0"/>
              <a:t>Strict Liability </a:t>
            </a:r>
          </a:p>
          <a:p>
            <a:pPr lvl="1"/>
            <a:r>
              <a:rPr lang="en-GB" sz="1800" dirty="0"/>
              <a:t>Mistake</a:t>
            </a:r>
          </a:p>
          <a:p>
            <a:pPr lvl="1"/>
            <a:r>
              <a:rPr lang="en-GB" sz="1800" dirty="0"/>
              <a:t>Transferred malice</a:t>
            </a:r>
          </a:p>
          <a:p>
            <a:pPr lvl="1"/>
            <a:r>
              <a:rPr lang="en-GB" sz="1800" dirty="0"/>
              <a:t>Constructive Liability and Coincidence in Time</a:t>
            </a:r>
          </a:p>
          <a:p>
            <a:pPr lvl="1"/>
            <a:endParaRPr lang="en-GB" sz="1800" dirty="0"/>
          </a:p>
          <a:p>
            <a:pPr lvl="1"/>
            <a:endParaRPr lang="en-GB" sz="1800" dirty="0"/>
          </a:p>
        </p:txBody>
      </p:sp>
    </p:spTree>
    <p:extLst>
      <p:ext uri="{BB962C8B-B14F-4D97-AF65-F5344CB8AC3E}">
        <p14:creationId xmlns:p14="http://schemas.microsoft.com/office/powerpoint/2010/main" val="391920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C79D-901C-4D4D-BD5E-8CA43795E24A}"/>
              </a:ext>
            </a:extLst>
          </p:cNvPr>
          <p:cNvSpPr>
            <a:spLocks noGrp="1"/>
          </p:cNvSpPr>
          <p:nvPr>
            <p:ph type="title"/>
          </p:nvPr>
        </p:nvSpPr>
        <p:spPr/>
        <p:txBody>
          <a:bodyPr/>
          <a:lstStyle/>
          <a:p>
            <a:r>
              <a:rPr lang="en-GB" dirty="0"/>
              <a:t>Forms of </a:t>
            </a:r>
            <a:r>
              <a:rPr lang="en-GB" dirty="0" err="1"/>
              <a:t>mens</a:t>
            </a:r>
            <a:r>
              <a:rPr lang="en-GB" dirty="0"/>
              <a:t> rea: culpability</a:t>
            </a:r>
          </a:p>
        </p:txBody>
      </p:sp>
      <p:graphicFrame>
        <p:nvGraphicFramePr>
          <p:cNvPr id="4" name="Content Placeholder 3">
            <a:extLst>
              <a:ext uri="{FF2B5EF4-FFF2-40B4-BE49-F238E27FC236}">
                <a16:creationId xmlns:a16="http://schemas.microsoft.com/office/drawing/2014/main" id="{1102F71C-DB38-4BAF-8E2A-C62536462244}"/>
              </a:ext>
            </a:extLst>
          </p:cNvPr>
          <p:cNvGraphicFramePr>
            <a:graphicFrameLocks noGrp="1"/>
          </p:cNvGraphicFramePr>
          <p:nvPr>
            <p:ph idx="1"/>
            <p:extLst>
              <p:ext uri="{D42A27DB-BD31-4B8C-83A1-F6EECF244321}">
                <p14:modId xmlns:p14="http://schemas.microsoft.com/office/powerpoint/2010/main" val="840777988"/>
              </p:ext>
            </p:extLst>
          </p:nvPr>
        </p:nvGraphicFramePr>
        <p:xfrm>
          <a:off x="684213" y="1989138"/>
          <a:ext cx="7772400" cy="38163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225B4A4B-396D-4E54-AE29-9645DEA72C09}"/>
              </a:ext>
            </a:extLst>
          </p:cNvPr>
          <p:cNvSpPr txBox="1"/>
          <p:nvPr/>
        </p:nvSpPr>
        <p:spPr>
          <a:xfrm>
            <a:off x="684213" y="3510987"/>
            <a:ext cx="1800200"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400" b="1" i="0" u="none" strike="noStrike" kern="1200" cap="none" spc="0" normalizeH="0" baseline="0" noProof="0" dirty="0">
                <a:ln>
                  <a:noFill/>
                </a:ln>
                <a:solidFill>
                  <a:srgbClr val="000000"/>
                </a:solidFill>
                <a:effectLst/>
                <a:uLnTx/>
                <a:uFillTx/>
                <a:latin typeface="Times" pitchFamily="18" charset="0"/>
                <a:ea typeface="+mn-ea"/>
                <a:cs typeface="+mn-cs"/>
              </a:rPr>
              <a:t>Culpability</a:t>
            </a:r>
          </a:p>
        </p:txBody>
      </p:sp>
      <p:sp>
        <p:nvSpPr>
          <p:cNvPr id="7" name="TextBox 6">
            <a:extLst>
              <a:ext uri="{FF2B5EF4-FFF2-40B4-BE49-F238E27FC236}">
                <a16:creationId xmlns:a16="http://schemas.microsoft.com/office/drawing/2014/main" id="{997F3C7E-7B8A-42EE-844E-7A90A79A4C10}"/>
              </a:ext>
            </a:extLst>
          </p:cNvPr>
          <p:cNvSpPr txBox="1"/>
          <p:nvPr/>
        </p:nvSpPr>
        <p:spPr>
          <a:xfrm>
            <a:off x="684213" y="2069233"/>
            <a:ext cx="1152128"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srgbClr val="000000"/>
                </a:solidFill>
                <a:effectLst/>
                <a:uLnTx/>
                <a:uFillTx/>
                <a:latin typeface="Times" pitchFamily="18" charset="0"/>
                <a:ea typeface="+mn-ea"/>
                <a:cs typeface="+mn-cs"/>
              </a:rPr>
              <a:t>High</a:t>
            </a:r>
          </a:p>
        </p:txBody>
      </p:sp>
      <p:sp>
        <p:nvSpPr>
          <p:cNvPr id="8" name="TextBox 7">
            <a:extLst>
              <a:ext uri="{FF2B5EF4-FFF2-40B4-BE49-F238E27FC236}">
                <a16:creationId xmlns:a16="http://schemas.microsoft.com/office/drawing/2014/main" id="{B2E47C79-739B-474E-9BFC-4F66E32B9BDE}"/>
              </a:ext>
            </a:extLst>
          </p:cNvPr>
          <p:cNvSpPr txBox="1"/>
          <p:nvPr/>
        </p:nvSpPr>
        <p:spPr>
          <a:xfrm>
            <a:off x="684213" y="5117673"/>
            <a:ext cx="1008112"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2400" b="0" i="0" u="none" strike="noStrike" kern="1200" cap="none" spc="0" normalizeH="0" baseline="0" noProof="0" dirty="0">
                <a:ln>
                  <a:noFill/>
                </a:ln>
                <a:solidFill>
                  <a:srgbClr val="000000"/>
                </a:solidFill>
                <a:effectLst/>
                <a:uLnTx/>
                <a:uFillTx/>
                <a:latin typeface="Times" pitchFamily="18" charset="0"/>
                <a:ea typeface="+mn-ea"/>
                <a:cs typeface="+mn-cs"/>
              </a:rPr>
              <a:t>Low</a:t>
            </a:r>
          </a:p>
        </p:txBody>
      </p:sp>
      <p:pic>
        <p:nvPicPr>
          <p:cNvPr id="10" name="Graphic 9" descr="Arrow: Clockwise curve">
            <a:extLst>
              <a:ext uri="{FF2B5EF4-FFF2-40B4-BE49-F238E27FC236}">
                <a16:creationId xmlns:a16="http://schemas.microsoft.com/office/drawing/2014/main" id="{FAF81E5F-4ACC-4889-8FFD-4273A8E5FA5D}"/>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2431" y="2540262"/>
            <a:ext cx="914400" cy="914400"/>
          </a:xfrm>
          <a:prstGeom prst="rect">
            <a:avLst/>
          </a:prstGeom>
        </p:spPr>
      </p:pic>
      <p:pic>
        <p:nvPicPr>
          <p:cNvPr id="12" name="Graphic 11" descr="Arrow: Rotate right">
            <a:extLst>
              <a:ext uri="{FF2B5EF4-FFF2-40B4-BE49-F238E27FC236}">
                <a16:creationId xmlns:a16="http://schemas.microsoft.com/office/drawing/2014/main" id="{BF9F45E4-2BC4-42CB-BBC4-D16F84429134}"/>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9913" y="4142483"/>
            <a:ext cx="914400" cy="914400"/>
          </a:xfrm>
          <a:prstGeom prst="rect">
            <a:avLst/>
          </a:prstGeom>
        </p:spPr>
      </p:pic>
    </p:spTree>
    <p:extLst>
      <p:ext uri="{BB962C8B-B14F-4D97-AF65-F5344CB8AC3E}">
        <p14:creationId xmlns:p14="http://schemas.microsoft.com/office/powerpoint/2010/main" val="3157614623"/>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6406E-3772-A147-AE47-E88E62CCA4AE}"/>
              </a:ext>
            </a:extLst>
          </p:cNvPr>
          <p:cNvSpPr>
            <a:spLocks noGrp="1"/>
          </p:cNvSpPr>
          <p:nvPr>
            <p:ph type="title"/>
          </p:nvPr>
        </p:nvSpPr>
        <p:spPr/>
        <p:txBody>
          <a:bodyPr/>
          <a:lstStyle/>
          <a:p>
            <a:r>
              <a:rPr lang="en-GB" dirty="0"/>
              <a:t>Objective and Subjective MR</a:t>
            </a:r>
          </a:p>
        </p:txBody>
      </p:sp>
      <p:sp>
        <p:nvSpPr>
          <p:cNvPr id="3" name="Content Placeholder 2">
            <a:extLst>
              <a:ext uri="{FF2B5EF4-FFF2-40B4-BE49-F238E27FC236}">
                <a16:creationId xmlns:a16="http://schemas.microsoft.com/office/drawing/2014/main" id="{E884C12A-929F-7E4C-9C53-F891F388AC14}"/>
              </a:ext>
            </a:extLst>
          </p:cNvPr>
          <p:cNvSpPr>
            <a:spLocks noGrp="1"/>
          </p:cNvSpPr>
          <p:nvPr>
            <p:ph idx="1"/>
          </p:nvPr>
        </p:nvSpPr>
        <p:spPr/>
        <p:txBody>
          <a:bodyPr>
            <a:normAutofit/>
          </a:bodyPr>
          <a:lstStyle/>
          <a:p>
            <a:pPr lvl="0">
              <a:buFont typeface="Arial" panose="020B0604020202020204" pitchFamily="34" charset="0"/>
              <a:buChar char="•"/>
            </a:pPr>
            <a:endParaRPr lang="en-GB" dirty="0"/>
          </a:p>
          <a:p>
            <a:pPr lvl="0">
              <a:buFont typeface="Arial" panose="020B0604020202020204" pitchFamily="34" charset="0"/>
              <a:buChar char="•"/>
            </a:pPr>
            <a:r>
              <a:rPr lang="en-GB" b="1" dirty="0"/>
              <a:t>Subjective MR</a:t>
            </a:r>
            <a:r>
              <a:rPr lang="en-GB" dirty="0"/>
              <a:t>: indicates MR requirement that is looking (internally) to the mind of D:</a:t>
            </a:r>
          </a:p>
          <a:p>
            <a:pPr lvl="1">
              <a:buFont typeface="Arial" panose="020B0604020202020204" pitchFamily="34" charset="0"/>
              <a:buChar char="•"/>
            </a:pPr>
            <a:r>
              <a:rPr lang="en-GB" dirty="0"/>
              <a:t>What did D foresee?</a:t>
            </a:r>
          </a:p>
          <a:p>
            <a:pPr lvl="1">
              <a:buFont typeface="Arial" panose="020B0604020202020204" pitchFamily="34" charset="0"/>
              <a:buChar char="•"/>
            </a:pPr>
            <a:r>
              <a:rPr lang="en-GB" dirty="0"/>
              <a:t>What did D know?</a:t>
            </a:r>
          </a:p>
          <a:p>
            <a:pPr marL="457200" lvl="1" indent="0">
              <a:buNone/>
            </a:pPr>
            <a:endParaRPr lang="en-GB" dirty="0"/>
          </a:p>
          <a:p>
            <a:pPr lvl="0">
              <a:buFont typeface="Arial" panose="020B0604020202020204" pitchFamily="34" charset="0"/>
              <a:buChar char="•"/>
            </a:pPr>
            <a:r>
              <a:rPr lang="en-GB" b="1" dirty="0"/>
              <a:t>Objective MR</a:t>
            </a:r>
            <a:r>
              <a:rPr lang="en-GB" dirty="0"/>
              <a:t>: indicates an MR requirement that need </a:t>
            </a:r>
            <a:r>
              <a:rPr lang="en-GB" u="sng" dirty="0"/>
              <a:t>not</a:t>
            </a:r>
            <a:r>
              <a:rPr lang="en-GB" i="1" dirty="0"/>
              <a:t> </a:t>
            </a:r>
            <a:r>
              <a:rPr lang="en-GB" dirty="0"/>
              <a:t>identify a certain state of mind held by D, but rather D is judged next to an external standard – the ‘reasonable person’ </a:t>
            </a:r>
          </a:p>
          <a:p>
            <a:pPr lvl="1">
              <a:buFont typeface="Arial" panose="020B0604020202020204" pitchFamily="34" charset="0"/>
              <a:buChar char="•"/>
            </a:pPr>
            <a:r>
              <a:rPr lang="en-GB" dirty="0"/>
              <a:t>What would a reasonable person in D’s situation have foreseen?</a:t>
            </a:r>
          </a:p>
          <a:p>
            <a:pPr lvl="1">
              <a:buFont typeface="Arial" panose="020B0604020202020204" pitchFamily="34" charset="0"/>
              <a:buChar char="•"/>
            </a:pPr>
            <a:r>
              <a:rPr lang="en-GB" dirty="0"/>
              <a:t>What would a reasonable person in D’s situation have known?</a:t>
            </a:r>
          </a:p>
        </p:txBody>
      </p:sp>
    </p:spTree>
    <p:extLst>
      <p:ext uri="{BB962C8B-B14F-4D97-AF65-F5344CB8AC3E}">
        <p14:creationId xmlns:p14="http://schemas.microsoft.com/office/powerpoint/2010/main" val="2509862531"/>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BC669-CD55-C145-94D3-BB02D6E50B23}"/>
              </a:ext>
            </a:extLst>
          </p:cNvPr>
          <p:cNvSpPr>
            <a:spLocks noGrp="1"/>
          </p:cNvSpPr>
          <p:nvPr>
            <p:ph type="title"/>
          </p:nvPr>
        </p:nvSpPr>
        <p:spPr/>
        <p:txBody>
          <a:bodyPr/>
          <a:lstStyle/>
          <a:p>
            <a:r>
              <a:rPr lang="en-US" dirty="0"/>
              <a:t>Intention</a:t>
            </a:r>
          </a:p>
        </p:txBody>
      </p:sp>
      <p:sp>
        <p:nvSpPr>
          <p:cNvPr id="3" name="Content Placeholder 2">
            <a:extLst>
              <a:ext uri="{FF2B5EF4-FFF2-40B4-BE49-F238E27FC236}">
                <a16:creationId xmlns:a16="http://schemas.microsoft.com/office/drawing/2014/main" id="{8F6F4DE1-93A1-094C-AB33-A19748BCD242}"/>
              </a:ext>
            </a:extLst>
          </p:cNvPr>
          <p:cNvSpPr>
            <a:spLocks noGrp="1"/>
          </p:cNvSpPr>
          <p:nvPr>
            <p:ph idx="1"/>
          </p:nvPr>
        </p:nvSpPr>
        <p:spPr/>
        <p:txBody>
          <a:bodyPr/>
          <a:lstStyle/>
          <a:p>
            <a:r>
              <a:rPr lang="en-GB" dirty="0"/>
              <a:t>Intention is concerned with the law of evidence, not substantive law per se: </a:t>
            </a:r>
          </a:p>
          <a:p>
            <a:r>
              <a:rPr lang="en-GB" dirty="0"/>
              <a:t>	</a:t>
            </a:r>
          </a:p>
          <a:p>
            <a:pPr marL="457200" lvl="1" indent="0">
              <a:buNone/>
            </a:pPr>
            <a:r>
              <a:rPr lang="en-GB" i="1" dirty="0"/>
              <a:t>“The </a:t>
            </a:r>
            <a:r>
              <a:rPr lang="en-GB" i="1" dirty="0">
                <a:highlight>
                  <a:srgbClr val="FFFF00"/>
                </a:highlight>
              </a:rPr>
              <a:t>Golden Rule </a:t>
            </a:r>
            <a:r>
              <a:rPr lang="en-GB" i="1" dirty="0"/>
              <a:t>should be that, when directing a jury on the mental element necessary in a crime of specific intent, the judge should avoid any elaboration or paraphrase of what is meant by intent and </a:t>
            </a:r>
            <a:r>
              <a:rPr lang="en-GB" b="1" i="1" dirty="0"/>
              <a:t>leave it to the jury’s good sense </a:t>
            </a:r>
            <a:r>
              <a:rPr lang="en-GB" i="1" dirty="0"/>
              <a:t>to decide whether the accused acted with the necessary intent.”</a:t>
            </a:r>
          </a:p>
          <a:p>
            <a:endParaRPr lang="en-GB" dirty="0"/>
          </a:p>
          <a:p>
            <a:pPr algn="r"/>
            <a:r>
              <a:rPr lang="en-GB" i="1" dirty="0"/>
              <a:t> </a:t>
            </a:r>
            <a:r>
              <a:rPr lang="en-GB" i="1" dirty="0" err="1"/>
              <a:t>Moloney</a:t>
            </a:r>
            <a:r>
              <a:rPr lang="en-GB" i="1" dirty="0"/>
              <a:t> </a:t>
            </a:r>
            <a:r>
              <a:rPr lang="en-GB" dirty="0"/>
              <a:t>[1985] 1 All ER 1025 (Lord Bridge)</a:t>
            </a:r>
          </a:p>
          <a:p>
            <a:endParaRPr lang="en-US" dirty="0"/>
          </a:p>
        </p:txBody>
      </p:sp>
    </p:spTree>
    <p:extLst>
      <p:ext uri="{BB962C8B-B14F-4D97-AF65-F5344CB8AC3E}">
        <p14:creationId xmlns:p14="http://schemas.microsoft.com/office/powerpoint/2010/main" val="3234480295"/>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24EDA-5377-754D-AB9C-4C5C91AFC1C0}"/>
              </a:ext>
            </a:extLst>
          </p:cNvPr>
          <p:cNvSpPr>
            <a:spLocks noGrp="1"/>
          </p:cNvSpPr>
          <p:nvPr>
            <p:ph type="title"/>
          </p:nvPr>
        </p:nvSpPr>
        <p:spPr/>
        <p:txBody>
          <a:bodyPr/>
          <a:lstStyle/>
          <a:p>
            <a:r>
              <a:rPr lang="en-US" dirty="0"/>
              <a:t>Intention: current position in law</a:t>
            </a:r>
          </a:p>
        </p:txBody>
      </p:sp>
      <p:sp>
        <p:nvSpPr>
          <p:cNvPr id="3" name="Content Placeholder 2">
            <a:extLst>
              <a:ext uri="{FF2B5EF4-FFF2-40B4-BE49-F238E27FC236}">
                <a16:creationId xmlns:a16="http://schemas.microsoft.com/office/drawing/2014/main" id="{41EF48A7-855A-644A-8CD7-4D894C7A285A}"/>
              </a:ext>
            </a:extLst>
          </p:cNvPr>
          <p:cNvSpPr>
            <a:spLocks noGrp="1"/>
          </p:cNvSpPr>
          <p:nvPr>
            <p:ph idx="1"/>
          </p:nvPr>
        </p:nvSpPr>
        <p:spPr/>
        <p:txBody>
          <a:bodyPr/>
          <a:lstStyle/>
          <a:p>
            <a:pPr>
              <a:buAutoNum type="arabicParenBoth"/>
            </a:pPr>
            <a:endParaRPr lang="en-GB" dirty="0"/>
          </a:p>
          <a:p>
            <a:pPr>
              <a:buAutoNum type="arabicParenBoth"/>
            </a:pPr>
            <a:r>
              <a:rPr lang="en-GB" dirty="0"/>
              <a:t>DIRECT INTENTION - A result is intended when it is the actor’s aim or purpose to cause it.</a:t>
            </a:r>
          </a:p>
          <a:p>
            <a:pPr>
              <a:buAutoNum type="arabicParenBoth"/>
            </a:pPr>
            <a:endParaRPr lang="en-GB" dirty="0"/>
          </a:p>
          <a:p>
            <a:pPr>
              <a:buAutoNum type="arabicParenBoth"/>
            </a:pPr>
            <a:r>
              <a:rPr lang="en-GB" dirty="0"/>
              <a:t>INDIRECT/OBLIQUE INTENTION - A court or jury may also find that a result is intended, though it is not the actor’s purpose to cause it, when: </a:t>
            </a:r>
          </a:p>
          <a:p>
            <a:pPr marL="800100" lvl="1" indent="-342900">
              <a:buFont typeface="+mj-lt"/>
              <a:buAutoNum type="alphaLcParenR"/>
            </a:pPr>
            <a:r>
              <a:rPr lang="en-GB" dirty="0"/>
              <a:t>The result is a virtually certain consequence of their act, and</a:t>
            </a:r>
          </a:p>
          <a:p>
            <a:pPr marL="800100" lvl="1" indent="-342900">
              <a:buFont typeface="+mj-lt"/>
              <a:buAutoNum type="alphaLcParenR"/>
            </a:pPr>
            <a:r>
              <a:rPr lang="en-GB" dirty="0"/>
              <a:t>The actor knows it is a virtually certain consequence</a:t>
            </a:r>
            <a:endParaRPr lang="en-US" dirty="0"/>
          </a:p>
        </p:txBody>
      </p:sp>
    </p:spTree>
    <p:extLst>
      <p:ext uri="{BB962C8B-B14F-4D97-AF65-F5344CB8AC3E}">
        <p14:creationId xmlns:p14="http://schemas.microsoft.com/office/powerpoint/2010/main" val="2733515286"/>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61FC0-ECFE-BB4F-B53D-98297410926D}"/>
              </a:ext>
            </a:extLst>
          </p:cNvPr>
          <p:cNvSpPr>
            <a:spLocks noGrp="1"/>
          </p:cNvSpPr>
          <p:nvPr>
            <p:ph type="title"/>
          </p:nvPr>
        </p:nvSpPr>
        <p:spPr/>
        <p:txBody>
          <a:bodyPr/>
          <a:lstStyle/>
          <a:p>
            <a:r>
              <a:rPr lang="en-GB" dirty="0"/>
              <a:t>Direct intention</a:t>
            </a:r>
          </a:p>
        </p:txBody>
      </p:sp>
      <p:sp>
        <p:nvSpPr>
          <p:cNvPr id="5" name="Content Placeholder 4">
            <a:extLst>
              <a:ext uri="{FF2B5EF4-FFF2-40B4-BE49-F238E27FC236}">
                <a16:creationId xmlns:a16="http://schemas.microsoft.com/office/drawing/2014/main" id="{1DC664F5-7C1F-504B-870E-7E5274A88598}"/>
              </a:ext>
            </a:extLst>
          </p:cNvPr>
          <p:cNvSpPr>
            <a:spLocks noGrp="1"/>
          </p:cNvSpPr>
          <p:nvPr>
            <p:ph idx="1"/>
          </p:nvPr>
        </p:nvSpPr>
        <p:spPr/>
        <p:txBody>
          <a:bodyPr>
            <a:normAutofit/>
          </a:bodyPr>
          <a:lstStyle/>
          <a:p>
            <a:pPr>
              <a:buFont typeface="Arial" panose="020B0604020202020204" pitchFamily="34" charset="0"/>
              <a:buChar char="•"/>
            </a:pPr>
            <a:r>
              <a:rPr lang="en-GB" sz="2000" dirty="0"/>
              <a:t>Forms part of their purpose or aim</a:t>
            </a:r>
          </a:p>
          <a:p>
            <a:pPr lvl="1">
              <a:buFont typeface="Arial" panose="020B0604020202020204" pitchFamily="34" charset="0"/>
              <a:buChar char="•"/>
            </a:pPr>
            <a:r>
              <a:rPr lang="en-GB" sz="1800" i="1" dirty="0"/>
              <a:t>Moloney</a:t>
            </a:r>
            <a:r>
              <a:rPr lang="en-GB" sz="1800" dirty="0"/>
              <a:t> [1985] 1 All ER 1025</a:t>
            </a:r>
            <a:endParaRPr lang="en-GB" sz="2000" dirty="0"/>
          </a:p>
          <a:p>
            <a:pPr>
              <a:buFont typeface="Arial" panose="020B0604020202020204" pitchFamily="34" charset="0"/>
              <a:buChar char="•"/>
            </a:pPr>
            <a:r>
              <a:rPr lang="en-GB" sz="2000" dirty="0"/>
              <a:t>Does not require pre-meditation, planning, or motive, but must be present at the time of the AR element</a:t>
            </a:r>
          </a:p>
          <a:p>
            <a:pPr lvl="1">
              <a:buFont typeface="Arial" panose="020B0604020202020204" pitchFamily="34" charset="0"/>
              <a:buChar char="•"/>
            </a:pPr>
            <a:r>
              <a:rPr lang="en-GB" sz="1800" dirty="0"/>
              <a:t>So, D could be reluctant, or not want to do something, or could be sad about doing it, but they could still act with purpose – this would be direct intent.</a:t>
            </a:r>
          </a:p>
          <a:p>
            <a:pPr>
              <a:buFont typeface="Arial" panose="020B0604020202020204" pitchFamily="34" charset="0"/>
              <a:buChar char="•"/>
            </a:pPr>
            <a:endParaRPr lang="en-GB" sz="2000" dirty="0"/>
          </a:p>
          <a:p>
            <a:pPr>
              <a:buFont typeface="Arial" panose="020B0604020202020204" pitchFamily="34" charset="0"/>
              <a:buChar char="•"/>
            </a:pPr>
            <a:r>
              <a:rPr lang="en-GB" sz="2000" dirty="0"/>
              <a:t>Does not matter if D believes they will fail in their actions</a:t>
            </a:r>
          </a:p>
          <a:p>
            <a:endParaRPr lang="en-GB" dirty="0"/>
          </a:p>
        </p:txBody>
      </p:sp>
    </p:spTree>
    <p:extLst>
      <p:ext uri="{BB962C8B-B14F-4D97-AF65-F5344CB8AC3E}">
        <p14:creationId xmlns:p14="http://schemas.microsoft.com/office/powerpoint/2010/main" val="3936424044"/>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BF85C-6E92-464E-81DF-8208EA9F66C5}"/>
              </a:ext>
            </a:extLst>
          </p:cNvPr>
          <p:cNvSpPr>
            <a:spLocks noGrp="1"/>
          </p:cNvSpPr>
          <p:nvPr>
            <p:ph type="title"/>
          </p:nvPr>
        </p:nvSpPr>
        <p:spPr/>
        <p:txBody>
          <a:bodyPr/>
          <a:lstStyle/>
          <a:p>
            <a:r>
              <a:rPr lang="en-GB" dirty="0"/>
              <a:t>Oblique intention</a:t>
            </a:r>
          </a:p>
        </p:txBody>
      </p:sp>
      <p:sp>
        <p:nvSpPr>
          <p:cNvPr id="3" name="Content Placeholder 2">
            <a:extLst>
              <a:ext uri="{FF2B5EF4-FFF2-40B4-BE49-F238E27FC236}">
                <a16:creationId xmlns:a16="http://schemas.microsoft.com/office/drawing/2014/main" id="{0E577DBA-DEE6-6740-998A-66DADC068409}"/>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GB" dirty="0"/>
              <a:t>Provides the jury with an alternative way to find intention, filling a gap for the prosecution</a:t>
            </a:r>
          </a:p>
          <a:p>
            <a:pPr marL="0" indent="0"/>
            <a:endParaRPr lang="en-US" sz="1600" i="1" dirty="0"/>
          </a:p>
          <a:p>
            <a:pPr marL="285750" indent="-285750">
              <a:buFont typeface="Arial" panose="020B0604020202020204" pitchFamily="34" charset="0"/>
              <a:buChar char="•"/>
            </a:pPr>
            <a:r>
              <a:rPr lang="en-US" sz="1600" i="1" dirty="0" err="1"/>
              <a:t>Woollin</a:t>
            </a:r>
            <a:r>
              <a:rPr lang="en-US" sz="1600" dirty="0"/>
              <a:t> [1999] AC 82</a:t>
            </a:r>
          </a:p>
          <a:p>
            <a:pPr marL="400050" lvl="1" indent="0">
              <a:buNone/>
            </a:pPr>
            <a:endParaRPr lang="en-GB" i="1" dirty="0">
              <a:ea typeface="Gill Sans MT" charset="0"/>
              <a:cs typeface="Gill Sans MT" charset="0"/>
            </a:endParaRPr>
          </a:p>
          <a:p>
            <a:pPr marL="400050" lvl="1" indent="0">
              <a:buNone/>
            </a:pPr>
            <a:r>
              <a:rPr lang="en-GB" i="1" dirty="0">
                <a:ea typeface="Gill Sans MT" charset="0"/>
                <a:cs typeface="Gill Sans MT" charset="0"/>
              </a:rPr>
              <a:t>“Members of the jury, you are not entitled to find the necessary intention unless you feel sure that death or serious bodily harm was </a:t>
            </a:r>
            <a:r>
              <a:rPr lang="en-GB" b="1" i="1" dirty="0">
                <a:ea typeface="Gill Sans MT" charset="0"/>
                <a:cs typeface="Gill Sans MT" charset="0"/>
              </a:rPr>
              <a:t>a virtual certainty </a:t>
            </a:r>
            <a:r>
              <a:rPr lang="en-GB" i="1" dirty="0">
                <a:ea typeface="Gill Sans MT" charset="0"/>
                <a:cs typeface="Gill Sans MT" charset="0"/>
              </a:rPr>
              <a:t>(barring some unforeseen intervention) and </a:t>
            </a:r>
            <a:r>
              <a:rPr lang="en-GB" b="1" i="1" dirty="0">
                <a:ea typeface="Gill Sans MT" charset="0"/>
                <a:cs typeface="Gill Sans MT" charset="0"/>
              </a:rPr>
              <a:t>D foresaw it</a:t>
            </a:r>
            <a:r>
              <a:rPr lang="en-GB" i="1" dirty="0">
                <a:ea typeface="Gill Sans MT" charset="0"/>
                <a:cs typeface="Gill Sans MT" charset="0"/>
              </a:rPr>
              <a:t> as such. The decision is one for to be reached on a consideration of the all of the evidence.”</a:t>
            </a:r>
          </a:p>
          <a:p>
            <a:pPr lvl="1">
              <a:buFont typeface="Arial" panose="020B0604020202020204" pitchFamily="34" charset="0"/>
              <a:buChar char="•"/>
            </a:pPr>
            <a:endParaRPr lang="en-GB" dirty="0"/>
          </a:p>
          <a:p>
            <a:pPr lvl="0">
              <a:buFont typeface="Arial" panose="020B0604020202020204" pitchFamily="34" charset="0"/>
              <a:buChar char="•"/>
            </a:pPr>
            <a:r>
              <a:rPr lang="en-GB" dirty="0"/>
              <a:t>D obliquely intends an actus reus element where it is:</a:t>
            </a:r>
          </a:p>
          <a:p>
            <a:pPr lvl="1">
              <a:buFont typeface="Arial" panose="020B0604020202020204" pitchFamily="34" charset="0"/>
              <a:buChar char="•"/>
            </a:pPr>
            <a:r>
              <a:rPr lang="en-GB" dirty="0"/>
              <a:t>virtually certain to arise (barring some unforeseen intervention);</a:t>
            </a:r>
          </a:p>
          <a:p>
            <a:pPr lvl="1">
              <a:buFont typeface="Arial" panose="020B0604020202020204" pitchFamily="34" charset="0"/>
              <a:buChar char="•"/>
            </a:pPr>
            <a:r>
              <a:rPr lang="en-GB" dirty="0"/>
              <a:t>D recognises that it is virtually certain to arise; and </a:t>
            </a:r>
          </a:p>
          <a:p>
            <a:pPr lvl="1">
              <a:buFont typeface="Arial" panose="020B0604020202020204" pitchFamily="34" charset="0"/>
              <a:buChar char="•"/>
            </a:pPr>
            <a:r>
              <a:rPr lang="en-GB" dirty="0"/>
              <a:t>the jury find that this recognition amounts to an intention</a:t>
            </a:r>
          </a:p>
          <a:p>
            <a:pPr>
              <a:buFont typeface="Arial" panose="020B0604020202020204" pitchFamily="34" charset="0"/>
              <a:buChar char="•"/>
            </a:pPr>
            <a:endParaRPr lang="en-GB" dirty="0"/>
          </a:p>
          <a:p>
            <a:pPr>
              <a:buFont typeface="Arial" panose="020B0604020202020204" pitchFamily="34" charset="0"/>
              <a:buChar char="•"/>
            </a:pPr>
            <a:r>
              <a:rPr lang="en-GB" dirty="0"/>
              <a:t>Jury does not have to find direct intent (Matthews 2003).</a:t>
            </a:r>
            <a:endParaRPr lang="en-GB" sz="1600" dirty="0"/>
          </a:p>
        </p:txBody>
      </p:sp>
    </p:spTree>
    <p:extLst>
      <p:ext uri="{BB962C8B-B14F-4D97-AF65-F5344CB8AC3E}">
        <p14:creationId xmlns:p14="http://schemas.microsoft.com/office/powerpoint/2010/main" val="311979134"/>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CBA4F-4F69-6F48-AD46-7BCE0CE29A2A}"/>
              </a:ext>
            </a:extLst>
          </p:cNvPr>
          <p:cNvSpPr>
            <a:spLocks noGrp="1"/>
          </p:cNvSpPr>
          <p:nvPr>
            <p:ph type="title"/>
          </p:nvPr>
        </p:nvSpPr>
        <p:spPr/>
        <p:txBody>
          <a:bodyPr/>
          <a:lstStyle/>
          <a:p>
            <a:r>
              <a:rPr lang="en-GB" dirty="0"/>
              <a:t>Knowledge</a:t>
            </a:r>
          </a:p>
        </p:txBody>
      </p:sp>
      <p:sp>
        <p:nvSpPr>
          <p:cNvPr id="3" name="Content Placeholder 2">
            <a:extLst>
              <a:ext uri="{FF2B5EF4-FFF2-40B4-BE49-F238E27FC236}">
                <a16:creationId xmlns:a16="http://schemas.microsoft.com/office/drawing/2014/main" id="{CCD8B506-638F-8F48-AB8A-AD90030669C3}"/>
              </a:ext>
            </a:extLst>
          </p:cNvPr>
          <p:cNvSpPr>
            <a:spLocks noGrp="1"/>
          </p:cNvSpPr>
          <p:nvPr>
            <p:ph idx="1"/>
          </p:nvPr>
        </p:nvSpPr>
        <p:spPr/>
        <p:txBody>
          <a:bodyPr>
            <a:normAutofit/>
          </a:bodyPr>
          <a:lstStyle/>
          <a:p>
            <a:pPr>
              <a:buFont typeface="Arial" panose="020B0604020202020204" pitchFamily="34" charset="0"/>
              <a:buChar char="•"/>
            </a:pPr>
            <a:r>
              <a:rPr lang="en-GB" dirty="0"/>
              <a:t>‘Knowledge’ is generally seen as equivalent to ‘intention’ in terms of culpability</a:t>
            </a:r>
          </a:p>
          <a:p>
            <a:pPr>
              <a:buFont typeface="Arial" panose="020B0604020202020204" pitchFamily="34" charset="0"/>
              <a:buChar char="•"/>
            </a:pPr>
            <a:r>
              <a:rPr lang="en-GB" dirty="0"/>
              <a:t>D has knowledge of an element of an offence if,</a:t>
            </a:r>
          </a:p>
          <a:p>
            <a:pPr lvl="1">
              <a:buFont typeface="Arial" panose="020B0604020202020204" pitchFamily="34" charset="0"/>
              <a:buChar char="•"/>
            </a:pPr>
            <a:r>
              <a:rPr lang="en-GB" dirty="0"/>
              <a:t>They believe that it is the case; and (subjective)</a:t>
            </a:r>
          </a:p>
          <a:p>
            <a:pPr lvl="2"/>
            <a:r>
              <a:rPr lang="en-GB" dirty="0"/>
              <a:t>not satisfied by belief that something ‘may be the case’</a:t>
            </a:r>
          </a:p>
          <a:p>
            <a:pPr lvl="2"/>
            <a:r>
              <a:rPr lang="en-GB" dirty="0"/>
              <a:t>‘the word “know” should be interpreted strictly and not watered down. In this context knowledge means true belief …’ (at 24)</a:t>
            </a:r>
          </a:p>
          <a:p>
            <a:pPr lvl="2"/>
            <a:r>
              <a:rPr lang="en-GB" i="1" dirty="0" err="1"/>
              <a:t>Saik</a:t>
            </a:r>
            <a:r>
              <a:rPr lang="en-GB" i="1" dirty="0"/>
              <a:t> </a:t>
            </a:r>
            <a:r>
              <a:rPr lang="en-GB" dirty="0"/>
              <a:t>[2006] UKHL 18</a:t>
            </a:r>
          </a:p>
          <a:p>
            <a:pPr lvl="1">
              <a:buFont typeface="Arial" panose="020B0604020202020204" pitchFamily="34" charset="0"/>
              <a:buChar char="•"/>
            </a:pPr>
            <a:r>
              <a:rPr lang="en-GB" dirty="0"/>
              <a:t>They are correct in that belief (Objective)</a:t>
            </a:r>
          </a:p>
          <a:p>
            <a:pPr lvl="2">
              <a:buFont typeface="Arial" panose="020B0604020202020204" pitchFamily="34" charset="0"/>
              <a:buChar char="•"/>
            </a:pPr>
            <a:r>
              <a:rPr lang="en-GB" i="1" dirty="0" err="1"/>
              <a:t>Montila</a:t>
            </a:r>
            <a:r>
              <a:rPr lang="en-GB" dirty="0"/>
              <a:t> [2004] 1 WLR 3141:</a:t>
            </a:r>
          </a:p>
          <a:p>
            <a:pPr marL="914400" lvl="2" indent="0">
              <a:buNone/>
            </a:pPr>
            <a:r>
              <a:rPr lang="en-GB" dirty="0"/>
              <a:t>‘A person cannot know that something is A when in fact it is B. The proposition that a person knows that something is A is based on the premise that it is true that it is A. The fact that the property is A provides the starting point. Then there is the question whether the person knows that the property is A’ (at 27)</a:t>
            </a:r>
          </a:p>
        </p:txBody>
      </p:sp>
    </p:spTree>
    <p:extLst>
      <p:ext uri="{BB962C8B-B14F-4D97-AF65-F5344CB8AC3E}">
        <p14:creationId xmlns:p14="http://schemas.microsoft.com/office/powerpoint/2010/main" val="1549184716"/>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3A74B-09C2-F141-A0B0-86F206E4C6A4}"/>
              </a:ext>
            </a:extLst>
          </p:cNvPr>
          <p:cNvSpPr>
            <a:spLocks noGrp="1"/>
          </p:cNvSpPr>
          <p:nvPr>
            <p:ph type="title"/>
          </p:nvPr>
        </p:nvSpPr>
        <p:spPr/>
        <p:txBody>
          <a:bodyPr/>
          <a:lstStyle/>
          <a:p>
            <a:r>
              <a:rPr lang="en-GB" dirty="0"/>
              <a:t>Belief</a:t>
            </a:r>
          </a:p>
        </p:txBody>
      </p:sp>
      <p:sp>
        <p:nvSpPr>
          <p:cNvPr id="3" name="Content Placeholder 2">
            <a:extLst>
              <a:ext uri="{FF2B5EF4-FFF2-40B4-BE49-F238E27FC236}">
                <a16:creationId xmlns:a16="http://schemas.microsoft.com/office/drawing/2014/main" id="{2360EA0E-4BBF-AB43-A440-5CDE998D6DCA}"/>
              </a:ext>
            </a:extLst>
          </p:cNvPr>
          <p:cNvSpPr>
            <a:spLocks noGrp="1"/>
          </p:cNvSpPr>
          <p:nvPr>
            <p:ph idx="1"/>
          </p:nvPr>
        </p:nvSpPr>
        <p:spPr/>
        <p:txBody>
          <a:bodyPr>
            <a:normAutofit/>
          </a:bodyPr>
          <a:lstStyle/>
          <a:p>
            <a:pPr lvl="0">
              <a:buFont typeface="Arial" panose="020B0604020202020204" pitchFamily="34" charset="0"/>
              <a:buChar char="•"/>
            </a:pPr>
            <a:r>
              <a:rPr lang="en-GB" dirty="0"/>
              <a:t>Belief is short of knowledge</a:t>
            </a:r>
          </a:p>
          <a:p>
            <a:pPr lvl="1"/>
            <a:r>
              <a:rPr lang="en-GB" dirty="0"/>
              <a:t>belief that a circumstance exists</a:t>
            </a:r>
          </a:p>
          <a:p>
            <a:pPr lvl="1"/>
            <a:r>
              <a:rPr lang="en-GB" dirty="0"/>
              <a:t>belief that a result will be caused</a:t>
            </a:r>
          </a:p>
          <a:p>
            <a:pPr lvl="0">
              <a:buFont typeface="Arial" panose="020B0604020202020204" pitchFamily="34" charset="0"/>
              <a:buChar char="•"/>
            </a:pPr>
            <a:r>
              <a:rPr lang="en-GB" dirty="0"/>
              <a:t>Belief means that D foresees it as highly likely</a:t>
            </a:r>
          </a:p>
          <a:p>
            <a:pPr lvl="0">
              <a:buFont typeface="Arial" panose="020B0604020202020204" pitchFamily="34" charset="0"/>
              <a:buChar char="•"/>
            </a:pPr>
            <a:r>
              <a:rPr lang="en-GB" dirty="0"/>
              <a:t>Just one limb of this test:</a:t>
            </a:r>
          </a:p>
          <a:p>
            <a:pPr lvl="1"/>
            <a:r>
              <a:rPr lang="en-GB" dirty="0"/>
              <a:t>Subjective: Focuses on D’s state of mind – must believe the offence element is the case. The focus here is on what D actually believes, not what D should have believed, or what a reasonable person would believe (which would be an objective test)</a:t>
            </a:r>
          </a:p>
          <a:p>
            <a:pPr lvl="1"/>
            <a:r>
              <a:rPr lang="en-GB" dirty="0"/>
              <a:t>No objective limb. So, no requirement that D is correct in his/her belief</a:t>
            </a:r>
          </a:p>
          <a:p>
            <a:pPr>
              <a:buFont typeface="Arial" panose="020B0604020202020204" pitchFamily="34" charset="0"/>
              <a:buChar char="•"/>
            </a:pPr>
            <a:r>
              <a:rPr lang="en-GB" dirty="0"/>
              <a:t>Note that belief is </a:t>
            </a:r>
            <a:r>
              <a:rPr lang="en-GB" i="1" dirty="0"/>
              <a:t>generally</a:t>
            </a:r>
            <a:r>
              <a:rPr lang="en-GB" dirty="0"/>
              <a:t> only used in the context of circumstance element.</a:t>
            </a:r>
          </a:p>
          <a:p>
            <a:endParaRPr lang="en-GB" dirty="0"/>
          </a:p>
        </p:txBody>
      </p:sp>
    </p:spTree>
    <p:extLst>
      <p:ext uri="{BB962C8B-B14F-4D97-AF65-F5344CB8AC3E}">
        <p14:creationId xmlns:p14="http://schemas.microsoft.com/office/powerpoint/2010/main" val="3053313510"/>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DA66A-BD2E-A84B-BD52-B1FCD912778A}"/>
              </a:ext>
            </a:extLst>
          </p:cNvPr>
          <p:cNvSpPr>
            <a:spLocks noGrp="1"/>
          </p:cNvSpPr>
          <p:nvPr>
            <p:ph type="title"/>
          </p:nvPr>
        </p:nvSpPr>
        <p:spPr/>
        <p:txBody>
          <a:bodyPr/>
          <a:lstStyle/>
          <a:p>
            <a:r>
              <a:rPr lang="en-GB" dirty="0"/>
              <a:t>Recklessness: </a:t>
            </a:r>
            <a:r>
              <a:rPr lang="en-US" dirty="0"/>
              <a:t>current test</a:t>
            </a:r>
            <a:endParaRPr lang="en-GB" dirty="0"/>
          </a:p>
        </p:txBody>
      </p:sp>
      <p:sp>
        <p:nvSpPr>
          <p:cNvPr id="3" name="Content Placeholder 2">
            <a:extLst>
              <a:ext uri="{FF2B5EF4-FFF2-40B4-BE49-F238E27FC236}">
                <a16:creationId xmlns:a16="http://schemas.microsoft.com/office/drawing/2014/main" id="{DA1B1912-9501-CD4D-9593-AB93D3D1AA1E}"/>
              </a:ext>
            </a:extLst>
          </p:cNvPr>
          <p:cNvSpPr>
            <a:spLocks noGrp="1"/>
          </p:cNvSpPr>
          <p:nvPr>
            <p:ph idx="1"/>
          </p:nvPr>
        </p:nvSpPr>
        <p:spPr/>
        <p:txBody>
          <a:bodyPr>
            <a:normAutofit lnSpcReduction="10000"/>
          </a:bodyPr>
          <a:lstStyle/>
          <a:p>
            <a:r>
              <a:rPr lang="en-GB" sz="2000" b="1" i="1" dirty="0"/>
              <a:t>R v G </a:t>
            </a:r>
            <a:r>
              <a:rPr lang="en-GB" sz="2000" b="1" dirty="0"/>
              <a:t>[2003] UKHL 50</a:t>
            </a:r>
          </a:p>
          <a:p>
            <a:endParaRPr lang="en-GB" sz="2000" dirty="0"/>
          </a:p>
          <a:p>
            <a:r>
              <a:rPr lang="en-GB" sz="2000" u="sng" dirty="0"/>
              <a:t>General principle</a:t>
            </a:r>
            <a:r>
              <a:rPr lang="en-GB" sz="2000" dirty="0"/>
              <a:t>:</a:t>
            </a:r>
          </a:p>
          <a:p>
            <a:endParaRPr lang="en-GB" sz="2000" dirty="0"/>
          </a:p>
          <a:p>
            <a:pPr>
              <a:buFont typeface="Arial" panose="020B0604020202020204" pitchFamily="34" charset="0"/>
              <a:buChar char="•"/>
            </a:pPr>
            <a:r>
              <a:rPr lang="en-GB" sz="2000" dirty="0"/>
              <a:t>The test for recklessness has a subjective limb </a:t>
            </a:r>
            <a:r>
              <a:rPr lang="en-GB" sz="2000" u="sng" dirty="0"/>
              <a:t>and then</a:t>
            </a:r>
            <a:r>
              <a:rPr lang="en-GB" sz="2000" dirty="0"/>
              <a:t> an objective limb; both must be satisfied:</a:t>
            </a:r>
          </a:p>
          <a:p>
            <a:pPr marL="800100" lvl="1" indent="-342900">
              <a:buFont typeface="+mj-lt"/>
              <a:buAutoNum type="alphaLcParenR"/>
            </a:pPr>
            <a:r>
              <a:rPr lang="en-GB" sz="1800" dirty="0"/>
              <a:t>D must foresee a risk of the relevant element of the AR; and</a:t>
            </a:r>
          </a:p>
          <a:p>
            <a:pPr marL="800100" lvl="1" indent="-342900">
              <a:buFont typeface="+mj-lt"/>
              <a:buAutoNum type="alphaLcParenR"/>
            </a:pPr>
            <a:r>
              <a:rPr lang="en-GB" sz="1800" dirty="0"/>
              <a:t>D must unreasonably continue to take that risk</a:t>
            </a:r>
          </a:p>
          <a:p>
            <a:pPr>
              <a:buFont typeface="Arial" panose="020B0604020202020204" pitchFamily="34" charset="0"/>
              <a:buChar char="•"/>
            </a:pPr>
            <a:endParaRPr lang="en-GB" sz="2000" dirty="0"/>
          </a:p>
          <a:p>
            <a:pPr>
              <a:buFont typeface="Arial" panose="020B0604020202020204" pitchFamily="34" charset="0"/>
              <a:buChar char="•"/>
            </a:pPr>
            <a:r>
              <a:rPr lang="en-GB" sz="2000" dirty="0"/>
              <a:t>This is known as the</a:t>
            </a:r>
            <a:r>
              <a:rPr lang="en-GB" sz="2000" i="1" dirty="0"/>
              <a:t> ‘</a:t>
            </a:r>
            <a:r>
              <a:rPr lang="en-GB" sz="2000" dirty="0"/>
              <a:t>Cunningham subjective recklessness’ test</a:t>
            </a:r>
          </a:p>
          <a:p>
            <a:pPr lvl="1">
              <a:buFont typeface="Arial" panose="020B0604020202020204" pitchFamily="34" charset="0"/>
              <a:buChar char="•"/>
            </a:pPr>
            <a:r>
              <a:rPr lang="en-GB" sz="1800" i="1" dirty="0"/>
              <a:t>Cunningham</a:t>
            </a:r>
            <a:r>
              <a:rPr lang="en-GB" sz="1800" dirty="0"/>
              <a:t> [1957] 2 QB 396</a:t>
            </a:r>
          </a:p>
          <a:p>
            <a:endParaRPr lang="en-GB" dirty="0"/>
          </a:p>
        </p:txBody>
      </p:sp>
    </p:spTree>
    <p:extLst>
      <p:ext uri="{BB962C8B-B14F-4D97-AF65-F5344CB8AC3E}">
        <p14:creationId xmlns:p14="http://schemas.microsoft.com/office/powerpoint/2010/main" val="2704152104"/>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34E4A-FC89-2340-919B-A361895E2A65}"/>
              </a:ext>
            </a:extLst>
          </p:cNvPr>
          <p:cNvSpPr>
            <a:spLocks noGrp="1"/>
          </p:cNvSpPr>
          <p:nvPr>
            <p:ph type="title"/>
          </p:nvPr>
        </p:nvSpPr>
        <p:spPr/>
        <p:txBody>
          <a:bodyPr/>
          <a:lstStyle/>
          <a:p>
            <a:r>
              <a:rPr lang="en-GB" dirty="0"/>
              <a:t>(a) Subjective limb</a:t>
            </a:r>
          </a:p>
        </p:txBody>
      </p:sp>
      <p:sp>
        <p:nvSpPr>
          <p:cNvPr id="3" name="Content Placeholder 2">
            <a:extLst>
              <a:ext uri="{FF2B5EF4-FFF2-40B4-BE49-F238E27FC236}">
                <a16:creationId xmlns:a16="http://schemas.microsoft.com/office/drawing/2014/main" id="{4BFD7725-56F1-744D-903E-381FF52DBD04}"/>
              </a:ext>
            </a:extLst>
          </p:cNvPr>
          <p:cNvSpPr>
            <a:spLocks noGrp="1"/>
          </p:cNvSpPr>
          <p:nvPr>
            <p:ph idx="1"/>
          </p:nvPr>
        </p:nvSpPr>
        <p:spPr/>
        <p:txBody>
          <a:bodyPr>
            <a:normAutofit lnSpcReduction="10000"/>
          </a:bodyPr>
          <a:lstStyle/>
          <a:p>
            <a:pPr>
              <a:buFont typeface="Arial" panose="020B0604020202020204" pitchFamily="34" charset="0"/>
              <a:buChar char="•"/>
            </a:pPr>
            <a:endParaRPr lang="en-GB" dirty="0"/>
          </a:p>
          <a:p>
            <a:pPr>
              <a:buFont typeface="Arial" panose="020B0604020202020204" pitchFamily="34" charset="0"/>
              <a:buChar char="•"/>
            </a:pPr>
            <a:r>
              <a:rPr lang="en-GB" sz="2000" b="1" dirty="0"/>
              <a:t>D must foresee a risk of the relevant AR element:</a:t>
            </a:r>
          </a:p>
          <a:p>
            <a:pPr lvl="1">
              <a:buFont typeface="Arial" panose="020B0604020202020204" pitchFamily="34" charset="0"/>
              <a:buChar char="•"/>
            </a:pPr>
            <a:r>
              <a:rPr lang="en-GB" sz="1800" dirty="0"/>
              <a:t>D must have subjectively foreseen a risk of the relevant circumstance or result element</a:t>
            </a:r>
          </a:p>
          <a:p>
            <a:pPr lvl="2"/>
            <a:r>
              <a:rPr lang="en-GB" sz="1600" dirty="0"/>
              <a:t>The focus of this limb is on D’s state of mind alone</a:t>
            </a:r>
          </a:p>
          <a:p>
            <a:pPr lvl="1">
              <a:buFont typeface="Arial" panose="020B0604020202020204" pitchFamily="34" charset="0"/>
              <a:buChar char="•"/>
            </a:pPr>
            <a:r>
              <a:rPr lang="en-GB" sz="1800" dirty="0"/>
              <a:t>It is irrelevant what level of risk D has foreseen:</a:t>
            </a:r>
          </a:p>
          <a:p>
            <a:pPr lvl="2"/>
            <a:r>
              <a:rPr lang="en-GB" sz="1600" dirty="0"/>
              <a:t>See </a:t>
            </a:r>
            <a:r>
              <a:rPr lang="en-GB" sz="1600" i="1" dirty="0"/>
              <a:t>Brady</a:t>
            </a:r>
            <a:r>
              <a:rPr lang="en-GB" sz="1600" dirty="0"/>
              <a:t> [2006] EWCA Crim 2413 – foresight of any risk is sufficient for recklessness</a:t>
            </a:r>
          </a:p>
          <a:p>
            <a:pPr lvl="1">
              <a:buFont typeface="Arial" panose="020B0604020202020204" pitchFamily="34" charset="0"/>
              <a:buChar char="•"/>
            </a:pPr>
            <a:r>
              <a:rPr lang="en-GB" sz="1800" dirty="0"/>
              <a:t>The extent of D’s consideration of the presence of the risk is irrelevant</a:t>
            </a:r>
          </a:p>
          <a:p>
            <a:pPr lvl="2">
              <a:buFont typeface="Arial" panose="020B0604020202020204" pitchFamily="34" charset="0"/>
              <a:buChar char="•"/>
            </a:pPr>
            <a:r>
              <a:rPr lang="en-GB" sz="1600" dirty="0"/>
              <a:t>Does not matter if D supressed the risk or it was ‘driven out’ by emotion </a:t>
            </a:r>
          </a:p>
          <a:p>
            <a:pPr lvl="2">
              <a:buFont typeface="Arial" panose="020B0604020202020204" pitchFamily="34" charset="0"/>
              <a:buChar char="•"/>
            </a:pPr>
            <a:r>
              <a:rPr lang="en-GB" sz="1600" dirty="0"/>
              <a:t>See</a:t>
            </a:r>
            <a:r>
              <a:rPr lang="en-GB" sz="1600" i="1" dirty="0"/>
              <a:t> Parker </a:t>
            </a:r>
            <a:r>
              <a:rPr lang="en-GB" sz="1600" dirty="0"/>
              <a:t>[1977] 1 WLR 600; </a:t>
            </a:r>
            <a:r>
              <a:rPr lang="en-GB" sz="1600" i="1" dirty="0"/>
              <a:t>Stephenson</a:t>
            </a:r>
            <a:r>
              <a:rPr lang="en-GB" sz="1600" dirty="0"/>
              <a:t> [1979] 3 WLR 193</a:t>
            </a:r>
          </a:p>
          <a:p>
            <a:pPr lvl="1">
              <a:buFont typeface="Arial" panose="020B0604020202020204" pitchFamily="34" charset="0"/>
              <a:buChar char="•"/>
            </a:pPr>
            <a:r>
              <a:rPr lang="en-GB" sz="1800" dirty="0"/>
              <a:t>D’s attitude to the risk is irrelevant</a:t>
            </a:r>
          </a:p>
          <a:p>
            <a:endParaRPr lang="en-GB" dirty="0"/>
          </a:p>
        </p:txBody>
      </p:sp>
    </p:spTree>
    <p:extLst>
      <p:ext uri="{BB962C8B-B14F-4D97-AF65-F5344CB8AC3E}">
        <p14:creationId xmlns:p14="http://schemas.microsoft.com/office/powerpoint/2010/main" val="26376470"/>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230B5-F2A5-1245-8FC5-B42F1010E621}"/>
              </a:ext>
            </a:extLst>
          </p:cNvPr>
          <p:cNvSpPr>
            <a:spLocks noGrp="1"/>
          </p:cNvSpPr>
          <p:nvPr>
            <p:ph type="title"/>
          </p:nvPr>
        </p:nvSpPr>
        <p:spPr/>
        <p:txBody>
          <a:bodyPr/>
          <a:lstStyle/>
          <a:p>
            <a:r>
              <a:rPr lang="en-GB" dirty="0"/>
              <a:t>(b) Objective limb</a:t>
            </a:r>
          </a:p>
        </p:txBody>
      </p:sp>
      <p:sp>
        <p:nvSpPr>
          <p:cNvPr id="3" name="Content Placeholder 2">
            <a:extLst>
              <a:ext uri="{FF2B5EF4-FFF2-40B4-BE49-F238E27FC236}">
                <a16:creationId xmlns:a16="http://schemas.microsoft.com/office/drawing/2014/main" id="{E664B5C3-7793-C44C-90D7-409832140BF5}"/>
              </a:ext>
            </a:extLst>
          </p:cNvPr>
          <p:cNvSpPr>
            <a:spLocks noGrp="1"/>
          </p:cNvSpPr>
          <p:nvPr>
            <p:ph idx="1"/>
          </p:nvPr>
        </p:nvSpPr>
        <p:spPr/>
        <p:txBody>
          <a:bodyPr>
            <a:normAutofit/>
          </a:bodyPr>
          <a:lstStyle/>
          <a:p>
            <a:pPr>
              <a:buFont typeface="Arial" panose="020B0604020202020204" pitchFamily="34" charset="0"/>
              <a:buChar char="•"/>
            </a:pPr>
            <a:endParaRPr lang="en-GB" dirty="0"/>
          </a:p>
          <a:p>
            <a:pPr>
              <a:buFont typeface="Arial" panose="020B0604020202020204" pitchFamily="34" charset="0"/>
              <a:buChar char="•"/>
            </a:pPr>
            <a:r>
              <a:rPr lang="en-GB" sz="2000" b="1" dirty="0"/>
              <a:t>D must unreasonably continue to take that risk:</a:t>
            </a:r>
          </a:p>
          <a:p>
            <a:pPr lvl="1">
              <a:buFont typeface="Arial" panose="020B0604020202020204" pitchFamily="34" charset="0"/>
              <a:buChar char="•"/>
            </a:pPr>
            <a:r>
              <a:rPr lang="en-GB" sz="1800" dirty="0"/>
              <a:t>Standards of a reasonable person acting in D’s circumstance</a:t>
            </a:r>
          </a:p>
          <a:p>
            <a:pPr lvl="1">
              <a:buFont typeface="Arial" panose="020B0604020202020204" pitchFamily="34" charset="0"/>
              <a:buChar char="•"/>
            </a:pPr>
            <a:r>
              <a:rPr lang="en-GB" sz="1800" dirty="0"/>
              <a:t>The law does not discourage socially useful activities, such as a doctor performing surgery, for example:</a:t>
            </a:r>
          </a:p>
          <a:p>
            <a:pPr lvl="2"/>
            <a:r>
              <a:rPr lang="en-GB" sz="1600" dirty="0"/>
              <a:t>D foresees the risk of harm; but</a:t>
            </a:r>
          </a:p>
          <a:p>
            <a:pPr lvl="2"/>
            <a:r>
              <a:rPr lang="en-GB" sz="1600" dirty="0"/>
              <a:t>It is not unreasonable to run that risk</a:t>
            </a:r>
          </a:p>
          <a:p>
            <a:endParaRPr lang="en-GB" dirty="0"/>
          </a:p>
        </p:txBody>
      </p:sp>
    </p:spTree>
    <p:extLst>
      <p:ext uri="{BB962C8B-B14F-4D97-AF65-F5344CB8AC3E}">
        <p14:creationId xmlns:p14="http://schemas.microsoft.com/office/powerpoint/2010/main" val="265032861"/>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CF234-6C01-424F-9486-1994BFBCEDAE}"/>
              </a:ext>
            </a:extLst>
          </p:cNvPr>
          <p:cNvSpPr>
            <a:spLocks noGrp="1"/>
          </p:cNvSpPr>
          <p:nvPr>
            <p:ph type="title"/>
          </p:nvPr>
        </p:nvSpPr>
        <p:spPr/>
        <p:txBody>
          <a:bodyPr/>
          <a:lstStyle/>
          <a:p>
            <a:r>
              <a:rPr lang="en-GB" dirty="0"/>
              <a:t>Wilfulness</a:t>
            </a:r>
          </a:p>
        </p:txBody>
      </p:sp>
      <p:sp>
        <p:nvSpPr>
          <p:cNvPr id="3" name="Content Placeholder 2">
            <a:extLst>
              <a:ext uri="{FF2B5EF4-FFF2-40B4-BE49-F238E27FC236}">
                <a16:creationId xmlns:a16="http://schemas.microsoft.com/office/drawing/2014/main" id="{C0E7CB1F-E379-044A-8702-4348A6218237}"/>
              </a:ext>
            </a:extLst>
          </p:cNvPr>
          <p:cNvSpPr>
            <a:spLocks noGrp="1"/>
          </p:cNvSpPr>
          <p:nvPr>
            <p:ph idx="1"/>
          </p:nvPr>
        </p:nvSpPr>
        <p:spPr/>
        <p:txBody>
          <a:bodyPr/>
          <a:lstStyle/>
          <a:p>
            <a:pPr lvl="0">
              <a:buFont typeface="Arial" panose="020B0604020202020204" pitchFamily="34" charset="0"/>
              <a:buChar char="•"/>
            </a:pPr>
            <a:endParaRPr lang="en-GB" dirty="0"/>
          </a:p>
          <a:p>
            <a:pPr lvl="0">
              <a:buFont typeface="Arial" panose="020B0604020202020204" pitchFamily="34" charset="0"/>
              <a:buChar char="•"/>
            </a:pPr>
            <a:r>
              <a:rPr lang="en-GB" sz="2000" dirty="0"/>
              <a:t>“Maliciously” and “wilfully” </a:t>
            </a:r>
          </a:p>
          <a:p>
            <a:pPr lvl="1">
              <a:buFont typeface="Arial" panose="020B0604020202020204" pitchFamily="34" charset="0"/>
              <a:buChar char="•"/>
            </a:pPr>
            <a:r>
              <a:rPr lang="en-GB" sz="1800" dirty="0"/>
              <a:t>These are </a:t>
            </a:r>
            <a:r>
              <a:rPr lang="en-GB" sz="1800" dirty="0" err="1"/>
              <a:t>mens</a:t>
            </a:r>
            <a:r>
              <a:rPr lang="en-GB" sz="1800" dirty="0"/>
              <a:t> rea terms that still exist in older pieces of statute</a:t>
            </a:r>
          </a:p>
          <a:p>
            <a:pPr lvl="1">
              <a:buFont typeface="Arial" panose="020B0604020202020204" pitchFamily="34" charset="0"/>
              <a:buChar char="•"/>
            </a:pPr>
            <a:r>
              <a:rPr lang="en-GB" sz="1800" dirty="0"/>
              <a:t>Where the terms are applied in the circumstance or result element, it is now settled that both ‘maliciously’ and ‘wilfully’ mean the same as ‘recklessness’. See AG’s Reference (No. 3 of 2003) [2004] EWCA Crim 868</a:t>
            </a:r>
          </a:p>
          <a:p>
            <a:pPr lvl="1">
              <a:buFont typeface="Arial" panose="020B0604020202020204" pitchFamily="34" charset="0"/>
              <a:buChar char="•"/>
            </a:pPr>
            <a:r>
              <a:rPr lang="en-GB" sz="1800" dirty="0"/>
              <a:t>(for ‘maliciously’ see </a:t>
            </a:r>
            <a:r>
              <a:rPr lang="en-GB" sz="1800" i="1" dirty="0"/>
              <a:t>Cunningham</a:t>
            </a:r>
            <a:r>
              <a:rPr lang="en-GB" sz="1800" dirty="0"/>
              <a:t> [1957] 2 QB 396; for ‘wilfully’ see </a:t>
            </a:r>
            <a:r>
              <a:rPr lang="en-GB" sz="1800" i="1" dirty="0"/>
              <a:t>D </a:t>
            </a:r>
            <a:r>
              <a:rPr lang="en-GB" sz="1800" dirty="0"/>
              <a:t>[2008] EWCA Crim 2360).</a:t>
            </a:r>
          </a:p>
          <a:p>
            <a:pPr lvl="1">
              <a:buFont typeface="Arial" panose="020B0604020202020204" pitchFamily="34" charset="0"/>
              <a:buChar char="•"/>
            </a:pPr>
            <a:r>
              <a:rPr lang="en-GB" sz="1800" dirty="0"/>
              <a:t>Sheppard [1981] AC 394 </a:t>
            </a:r>
          </a:p>
          <a:p>
            <a:endParaRPr lang="en-GB" dirty="0"/>
          </a:p>
        </p:txBody>
      </p:sp>
    </p:spTree>
    <p:extLst>
      <p:ext uri="{BB962C8B-B14F-4D97-AF65-F5344CB8AC3E}">
        <p14:creationId xmlns:p14="http://schemas.microsoft.com/office/powerpoint/2010/main" val="3863615295"/>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1D2DE-A56D-F241-924F-B9987FB0BD51}"/>
              </a:ext>
            </a:extLst>
          </p:cNvPr>
          <p:cNvSpPr>
            <a:spLocks noGrp="1"/>
          </p:cNvSpPr>
          <p:nvPr>
            <p:ph type="title"/>
          </p:nvPr>
        </p:nvSpPr>
        <p:spPr/>
        <p:txBody>
          <a:bodyPr/>
          <a:lstStyle/>
          <a:p>
            <a:r>
              <a:rPr lang="en-GB" dirty="0"/>
              <a:t>Negligence</a:t>
            </a:r>
          </a:p>
        </p:txBody>
      </p:sp>
      <p:sp>
        <p:nvSpPr>
          <p:cNvPr id="3" name="Content Placeholder 2">
            <a:extLst>
              <a:ext uri="{FF2B5EF4-FFF2-40B4-BE49-F238E27FC236}">
                <a16:creationId xmlns:a16="http://schemas.microsoft.com/office/drawing/2014/main" id="{2BC3E05B-ABD2-6A49-A65A-DD6BDA822D90}"/>
              </a:ext>
            </a:extLst>
          </p:cNvPr>
          <p:cNvSpPr>
            <a:spLocks noGrp="1"/>
          </p:cNvSpPr>
          <p:nvPr>
            <p:ph idx="1"/>
          </p:nvPr>
        </p:nvSpPr>
        <p:spPr/>
        <p:txBody>
          <a:bodyPr/>
          <a:lstStyle/>
          <a:p>
            <a:pPr>
              <a:buFont typeface="Arial" panose="020B0604020202020204" pitchFamily="34" charset="0"/>
              <a:buChar char="•"/>
            </a:pPr>
            <a:endParaRPr lang="en-GB" dirty="0"/>
          </a:p>
          <a:p>
            <a:pPr>
              <a:buFont typeface="Arial" panose="020B0604020202020204" pitchFamily="34" charset="0"/>
              <a:buChar char="•"/>
            </a:pPr>
            <a:r>
              <a:rPr lang="en-GB" sz="2000" dirty="0"/>
              <a:t>Negligence does not focus on D’s state of mind, rather it is simply asking whether D’s behaviour in relation to a risk was reasonable:</a:t>
            </a:r>
          </a:p>
          <a:p>
            <a:pPr marL="800100" lvl="1" indent="-342900">
              <a:buFont typeface="+mj-lt"/>
              <a:buAutoNum type="alphaLcParenR"/>
            </a:pPr>
            <a:r>
              <a:rPr lang="en-GB" sz="1800" dirty="0"/>
              <a:t>What was D’s duty of care?</a:t>
            </a:r>
          </a:p>
          <a:p>
            <a:pPr marL="800100" lvl="1" indent="-342900">
              <a:buFont typeface="+mj-lt"/>
              <a:buAutoNum type="alphaLcParenR"/>
            </a:pPr>
            <a:r>
              <a:rPr lang="en-GB" sz="1800" dirty="0"/>
              <a:t>Did D breach that duty of care</a:t>
            </a:r>
          </a:p>
          <a:p>
            <a:pPr>
              <a:buFont typeface="Arial" panose="020B0604020202020204" pitchFamily="34" charset="0"/>
              <a:buChar char="•"/>
            </a:pPr>
            <a:endParaRPr lang="en-GB" sz="2000" dirty="0"/>
          </a:p>
          <a:p>
            <a:pPr>
              <a:buFont typeface="Arial" panose="020B0604020202020204" pitchFamily="34" charset="0"/>
              <a:buChar char="•"/>
            </a:pPr>
            <a:r>
              <a:rPr lang="en-GB" sz="2000" dirty="0"/>
              <a:t>Distinguished from recklessness:</a:t>
            </a:r>
          </a:p>
          <a:p>
            <a:pPr lvl="1"/>
            <a:r>
              <a:rPr lang="en-GB" sz="1800" dirty="0"/>
              <a:t>‘Recklessness’ is the conscious taking of an unjustifiable risk</a:t>
            </a:r>
          </a:p>
          <a:p>
            <a:pPr lvl="1"/>
            <a:r>
              <a:rPr lang="en-GB" sz="1800" dirty="0"/>
              <a:t>‘Negligence’ is the inadvertent taking of an unjustifiable risk</a:t>
            </a:r>
          </a:p>
          <a:p>
            <a:endParaRPr lang="en-GB" dirty="0"/>
          </a:p>
        </p:txBody>
      </p:sp>
    </p:spTree>
    <p:extLst>
      <p:ext uri="{BB962C8B-B14F-4D97-AF65-F5344CB8AC3E}">
        <p14:creationId xmlns:p14="http://schemas.microsoft.com/office/powerpoint/2010/main" val="2075284810"/>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D33A5-81F0-5686-571F-F2052FBE3DE2}"/>
              </a:ext>
            </a:extLst>
          </p:cNvPr>
          <p:cNvSpPr>
            <a:spLocks noGrp="1"/>
          </p:cNvSpPr>
          <p:nvPr>
            <p:ph type="title"/>
          </p:nvPr>
        </p:nvSpPr>
        <p:spPr/>
        <p:txBody>
          <a:bodyPr/>
          <a:lstStyle/>
          <a:p>
            <a:r>
              <a:rPr lang="en-GB" dirty="0"/>
              <a:t>Strict Liability</a:t>
            </a:r>
          </a:p>
        </p:txBody>
      </p:sp>
      <p:sp>
        <p:nvSpPr>
          <p:cNvPr id="3" name="Content Placeholder 2">
            <a:extLst>
              <a:ext uri="{FF2B5EF4-FFF2-40B4-BE49-F238E27FC236}">
                <a16:creationId xmlns:a16="http://schemas.microsoft.com/office/drawing/2014/main" id="{21587760-ED8A-480C-D5AC-BC8B0A981196}"/>
              </a:ext>
            </a:extLst>
          </p:cNvPr>
          <p:cNvSpPr>
            <a:spLocks noGrp="1"/>
          </p:cNvSpPr>
          <p:nvPr>
            <p:ph idx="1"/>
          </p:nvPr>
        </p:nvSpPr>
        <p:spPr/>
        <p:txBody>
          <a:bodyPr/>
          <a:lstStyle/>
          <a:p>
            <a:pPr>
              <a:buFont typeface="Arial" panose="020B0604020202020204" pitchFamily="34" charset="0"/>
              <a:buChar char="•"/>
            </a:pPr>
            <a:r>
              <a:rPr lang="en-GB" dirty="0"/>
              <a:t>Some statutory offences do not require </a:t>
            </a:r>
            <a:r>
              <a:rPr lang="en-GB" dirty="0" err="1"/>
              <a:t>mens</a:t>
            </a:r>
            <a:r>
              <a:rPr lang="en-GB" dirty="0"/>
              <a:t> rea: they need not be committed intentionally, knowingly, or recklessly. </a:t>
            </a:r>
          </a:p>
          <a:p>
            <a:pPr>
              <a:buFont typeface="Arial" panose="020B0604020202020204" pitchFamily="34" charset="0"/>
              <a:buChar char="•"/>
            </a:pPr>
            <a:r>
              <a:rPr lang="en-GB" dirty="0"/>
              <a:t>These are known as absolute or strict liability offences. </a:t>
            </a:r>
          </a:p>
          <a:p>
            <a:pPr>
              <a:buFont typeface="Arial" panose="020B0604020202020204" pitchFamily="34" charset="0"/>
              <a:buChar char="•"/>
            </a:pPr>
            <a:r>
              <a:rPr lang="en-GB" dirty="0"/>
              <a:t>There is a rebuttable presumption that an offence requires </a:t>
            </a:r>
            <a:r>
              <a:rPr lang="en-GB" dirty="0" err="1"/>
              <a:t>mens</a:t>
            </a:r>
            <a:r>
              <a:rPr lang="en-GB" dirty="0"/>
              <a:t> rea. See Sweet v Parsley [1970] AC 132</a:t>
            </a:r>
          </a:p>
          <a:p>
            <a:pPr>
              <a:buFont typeface="Arial" panose="020B0604020202020204" pitchFamily="34" charset="0"/>
              <a:buChar char="•"/>
            </a:pPr>
            <a:r>
              <a:rPr lang="en-GB" dirty="0"/>
              <a:t>Factors that may rebut the presumption include:</a:t>
            </a:r>
          </a:p>
          <a:p>
            <a:pPr lvl="1">
              <a:buFont typeface="Arial" panose="020B0604020202020204" pitchFamily="34" charset="0"/>
              <a:buChar char="•"/>
            </a:pPr>
            <a:r>
              <a:rPr lang="en-GB" dirty="0"/>
              <a:t>Whether the language of the statute suggests strict liability</a:t>
            </a:r>
          </a:p>
          <a:p>
            <a:pPr lvl="1">
              <a:buFont typeface="Arial" panose="020B0604020202020204" pitchFamily="34" charset="0"/>
              <a:buChar char="•"/>
            </a:pPr>
            <a:r>
              <a:rPr lang="en-GB" dirty="0"/>
              <a:t>The existence of any defences (e.g. due diligence)</a:t>
            </a:r>
          </a:p>
          <a:p>
            <a:pPr lvl="1">
              <a:buFont typeface="Arial" panose="020B0604020202020204" pitchFamily="34" charset="0"/>
              <a:buChar char="•"/>
            </a:pPr>
            <a:r>
              <a:rPr lang="en-GB" dirty="0"/>
              <a:t>Whether any of the actus reus elements imply </a:t>
            </a:r>
            <a:r>
              <a:rPr lang="en-GB" dirty="0" err="1"/>
              <a:t>mens</a:t>
            </a:r>
            <a:r>
              <a:rPr lang="en-GB" dirty="0"/>
              <a:t> rea (e.g. possession: see R v Warner [1969] 2 AC 256)</a:t>
            </a:r>
          </a:p>
          <a:p>
            <a:pPr lvl="1">
              <a:buFont typeface="Arial" panose="020B0604020202020204" pitchFamily="34" charset="0"/>
              <a:buChar char="•"/>
            </a:pPr>
            <a:r>
              <a:rPr lang="en-GB" dirty="0"/>
              <a:t>Whether strict liability is necessary to achieve the policy of the statute</a:t>
            </a:r>
          </a:p>
          <a:p>
            <a:pPr>
              <a:buFont typeface="Arial" panose="020B0604020202020204" pitchFamily="34" charset="0"/>
              <a:buChar char="•"/>
            </a:pPr>
            <a:r>
              <a:rPr lang="en-GB" dirty="0"/>
              <a:t>EXAMPLES: driving offences and regulatory crimes</a:t>
            </a:r>
          </a:p>
        </p:txBody>
      </p:sp>
    </p:spTree>
    <p:extLst>
      <p:ext uri="{BB962C8B-B14F-4D97-AF65-F5344CB8AC3E}">
        <p14:creationId xmlns:p14="http://schemas.microsoft.com/office/powerpoint/2010/main" val="2062634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546A6-6FD3-4CFA-AE2B-AEE0CA12CA0A}"/>
              </a:ext>
            </a:extLst>
          </p:cNvPr>
          <p:cNvSpPr>
            <a:spLocks noGrp="1"/>
          </p:cNvSpPr>
          <p:nvPr>
            <p:ph type="title"/>
          </p:nvPr>
        </p:nvSpPr>
        <p:spPr/>
        <p:txBody>
          <a:bodyPr/>
          <a:lstStyle/>
          <a:p>
            <a:r>
              <a:rPr lang="en-GB" dirty="0"/>
              <a:t>Mistake</a:t>
            </a:r>
          </a:p>
        </p:txBody>
      </p:sp>
      <p:sp>
        <p:nvSpPr>
          <p:cNvPr id="3" name="Content Placeholder 2">
            <a:extLst>
              <a:ext uri="{FF2B5EF4-FFF2-40B4-BE49-F238E27FC236}">
                <a16:creationId xmlns:a16="http://schemas.microsoft.com/office/drawing/2014/main" id="{B7185056-0073-4581-B722-70145807325E}"/>
              </a:ext>
            </a:extLst>
          </p:cNvPr>
          <p:cNvSpPr>
            <a:spLocks noGrp="1"/>
          </p:cNvSpPr>
          <p:nvPr>
            <p:ph idx="1"/>
          </p:nvPr>
        </p:nvSpPr>
        <p:spPr/>
        <p:txBody>
          <a:bodyPr/>
          <a:lstStyle/>
          <a:p>
            <a:endParaRPr lang="en-GB" dirty="0"/>
          </a:p>
          <a:p>
            <a:pPr>
              <a:buFont typeface="Arial" panose="020B0604020202020204" pitchFamily="34" charset="0"/>
              <a:buChar char="•"/>
            </a:pPr>
            <a:r>
              <a:rPr lang="en-GB" dirty="0"/>
              <a:t>A mistake may be relevant where it relates to either a definitional element of the offence or an excusatory claim. </a:t>
            </a:r>
          </a:p>
          <a:p>
            <a:pPr>
              <a:buFont typeface="Arial" panose="020B0604020202020204" pitchFamily="34" charset="0"/>
              <a:buChar char="•"/>
            </a:pPr>
            <a:r>
              <a:rPr lang="en-GB" dirty="0"/>
              <a:t>Following </a:t>
            </a:r>
            <a:r>
              <a:rPr lang="en-GB" b="1" dirty="0"/>
              <a:t>DPP v Morgan </a:t>
            </a:r>
            <a:r>
              <a:rPr lang="en-GB" dirty="0"/>
              <a:t>[1976] AC 182 – an honest (subjective) mistake can negate </a:t>
            </a:r>
            <a:r>
              <a:rPr lang="en-GB" dirty="0" err="1"/>
              <a:t>mens</a:t>
            </a:r>
            <a:r>
              <a:rPr lang="en-GB" dirty="0"/>
              <a:t> rea. </a:t>
            </a:r>
          </a:p>
          <a:p>
            <a:pPr>
              <a:buFont typeface="Arial" panose="020B0604020202020204" pitchFamily="34" charset="0"/>
              <a:buChar char="•"/>
            </a:pPr>
            <a:r>
              <a:rPr lang="en-GB" dirty="0"/>
              <a:t>The House of Lords held that an honest but mistaken belief that the victim was consenting would provide a complete defence; the basis for that belief did not need to be objectively reasonable so long as the jury were satisfied that the defendant honestly believed it.</a:t>
            </a:r>
          </a:p>
          <a:p>
            <a:pPr>
              <a:buFont typeface="Arial" panose="020B0604020202020204" pitchFamily="34" charset="0"/>
              <a:buChar char="•"/>
            </a:pPr>
            <a:r>
              <a:rPr lang="en-GB" dirty="0"/>
              <a:t>Mistake relating to justificatory claims to be considered later in the course in self-defence, duress, and intoxication.</a:t>
            </a:r>
          </a:p>
          <a:p>
            <a:pPr>
              <a:buFont typeface="Arial" panose="020B0604020202020204" pitchFamily="34" charset="0"/>
              <a:buChar char="•"/>
            </a:pPr>
            <a:r>
              <a:rPr lang="en-GB" dirty="0"/>
              <a:t>Mistake or ignorance as to the law is irrelevant.</a:t>
            </a:r>
          </a:p>
          <a:p>
            <a:endParaRPr lang="en-GB" dirty="0"/>
          </a:p>
        </p:txBody>
      </p:sp>
    </p:spTree>
    <p:extLst>
      <p:ext uri="{BB962C8B-B14F-4D97-AF65-F5344CB8AC3E}">
        <p14:creationId xmlns:p14="http://schemas.microsoft.com/office/powerpoint/2010/main" val="148486026"/>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75C46-8229-498E-43AE-23C23B65691A}"/>
              </a:ext>
            </a:extLst>
          </p:cNvPr>
          <p:cNvSpPr>
            <a:spLocks noGrp="1"/>
          </p:cNvSpPr>
          <p:nvPr>
            <p:ph type="title"/>
          </p:nvPr>
        </p:nvSpPr>
        <p:spPr/>
        <p:txBody>
          <a:bodyPr/>
          <a:lstStyle/>
          <a:p>
            <a:r>
              <a:rPr lang="en-GB" dirty="0"/>
              <a:t>Transferred Malice</a:t>
            </a:r>
          </a:p>
        </p:txBody>
      </p:sp>
      <p:sp>
        <p:nvSpPr>
          <p:cNvPr id="3" name="Content Placeholder 2">
            <a:extLst>
              <a:ext uri="{FF2B5EF4-FFF2-40B4-BE49-F238E27FC236}">
                <a16:creationId xmlns:a16="http://schemas.microsoft.com/office/drawing/2014/main" id="{5CD971A8-CA98-830B-9C1C-A7313E8A66BC}"/>
              </a:ext>
            </a:extLst>
          </p:cNvPr>
          <p:cNvSpPr>
            <a:spLocks noGrp="1"/>
          </p:cNvSpPr>
          <p:nvPr>
            <p:ph idx="1"/>
          </p:nvPr>
        </p:nvSpPr>
        <p:spPr/>
        <p:txBody>
          <a:bodyPr/>
          <a:lstStyle/>
          <a:p>
            <a:pPr>
              <a:buFont typeface="Arial" panose="020B0604020202020204" pitchFamily="34" charset="0"/>
              <a:buChar char="•"/>
            </a:pPr>
            <a:r>
              <a:rPr lang="en-GB" dirty="0"/>
              <a:t>Refers to liability for unintended victims. </a:t>
            </a:r>
          </a:p>
          <a:p>
            <a:pPr>
              <a:buFont typeface="Arial" panose="020B0604020202020204" pitchFamily="34" charset="0"/>
              <a:buChar char="•"/>
            </a:pPr>
            <a:r>
              <a:rPr lang="en-GB" dirty="0"/>
              <a:t>i.e. A shoots B, intending to kill him. However, misses and kills C.</a:t>
            </a:r>
          </a:p>
          <a:p>
            <a:pPr>
              <a:buFont typeface="Arial" panose="020B0604020202020204" pitchFamily="34" charset="0"/>
              <a:buChar char="•"/>
            </a:pPr>
            <a:r>
              <a:rPr lang="en-GB" dirty="0"/>
              <a:t>The rule in the common law is that A’s MR in relation to B transfers to C. Meaning A is guilty of the murder of C.</a:t>
            </a:r>
          </a:p>
          <a:p>
            <a:pPr>
              <a:buFont typeface="Arial" panose="020B0604020202020204" pitchFamily="34" charset="0"/>
              <a:buChar char="•"/>
            </a:pPr>
            <a:r>
              <a:rPr lang="en-GB" dirty="0"/>
              <a:t>The AR and MR must be for the same offence – See Latimer (1886) 17 QBD 359</a:t>
            </a:r>
          </a:p>
          <a:p>
            <a:pPr>
              <a:buFont typeface="Arial" panose="020B0604020202020204" pitchFamily="34" charset="0"/>
              <a:buChar char="•"/>
            </a:pPr>
            <a:r>
              <a:rPr lang="en-GB" dirty="0"/>
              <a:t>This is a concept you will see again when considering homicide.</a:t>
            </a:r>
          </a:p>
          <a:p>
            <a:pPr>
              <a:buFont typeface="Arial" panose="020B0604020202020204" pitchFamily="34" charset="0"/>
              <a:buChar char="•"/>
            </a:pPr>
            <a:r>
              <a:rPr lang="en-GB" dirty="0"/>
              <a:t>Transferred malice does not operate where the crime which occurred was different from that intended.</a:t>
            </a:r>
          </a:p>
          <a:p>
            <a:pPr>
              <a:buFont typeface="Arial" panose="020B0604020202020204" pitchFamily="34" charset="0"/>
              <a:buChar char="•"/>
            </a:pPr>
            <a:r>
              <a:rPr lang="en-GB" dirty="0"/>
              <a:t>R v </a:t>
            </a:r>
            <a:r>
              <a:rPr lang="en-GB" dirty="0" err="1"/>
              <a:t>Pembliton</a:t>
            </a:r>
            <a:r>
              <a:rPr lang="en-GB" dirty="0"/>
              <a:t> (1874) LR 2CCR</a:t>
            </a:r>
          </a:p>
          <a:p>
            <a:pPr>
              <a:buFont typeface="Arial" panose="020B0604020202020204" pitchFamily="34" charset="0"/>
              <a:buChar char="•"/>
            </a:pPr>
            <a:r>
              <a:rPr lang="en-GB" dirty="0"/>
              <a:t>Attorney-General’s Reference (No 3 of 1994) [1997] UKHL 31</a:t>
            </a:r>
          </a:p>
          <a:p>
            <a:pPr>
              <a:buFont typeface="Arial" panose="020B0604020202020204" pitchFamily="34" charset="0"/>
              <a:buChar char="•"/>
            </a:pPr>
            <a:endParaRPr lang="en-GB" dirty="0"/>
          </a:p>
        </p:txBody>
      </p:sp>
    </p:spTree>
    <p:extLst>
      <p:ext uri="{BB962C8B-B14F-4D97-AF65-F5344CB8AC3E}">
        <p14:creationId xmlns:p14="http://schemas.microsoft.com/office/powerpoint/2010/main" val="226227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5FC2-16A7-FE4C-9DEF-50769B4DB054}"/>
              </a:ext>
            </a:extLst>
          </p:cNvPr>
          <p:cNvSpPr>
            <a:spLocks noGrp="1"/>
          </p:cNvSpPr>
          <p:nvPr>
            <p:ph type="title"/>
          </p:nvPr>
        </p:nvSpPr>
        <p:spPr/>
        <p:txBody>
          <a:bodyPr/>
          <a:lstStyle/>
          <a:p>
            <a:r>
              <a:rPr lang="en-GB" dirty="0"/>
              <a:t>Constructed liability</a:t>
            </a:r>
          </a:p>
        </p:txBody>
      </p:sp>
      <p:sp>
        <p:nvSpPr>
          <p:cNvPr id="3" name="Content Placeholder 2">
            <a:extLst>
              <a:ext uri="{FF2B5EF4-FFF2-40B4-BE49-F238E27FC236}">
                <a16:creationId xmlns:a16="http://schemas.microsoft.com/office/drawing/2014/main" id="{2CE193A7-472B-694C-B634-B954FB461E98}"/>
              </a:ext>
            </a:extLst>
          </p:cNvPr>
          <p:cNvSpPr>
            <a:spLocks noGrp="1"/>
          </p:cNvSpPr>
          <p:nvPr>
            <p:ph idx="1"/>
          </p:nvPr>
        </p:nvSpPr>
        <p:spPr/>
        <p:txBody>
          <a:bodyPr>
            <a:normAutofit/>
          </a:bodyPr>
          <a:lstStyle/>
          <a:p>
            <a:pPr>
              <a:buFont typeface="Arial" panose="020B0604020202020204" pitchFamily="34" charset="0"/>
              <a:buChar char="•"/>
            </a:pPr>
            <a:r>
              <a:rPr lang="en-GB" dirty="0"/>
              <a:t>Assault Occasioning Actual Bodily Harm is a form of a constructive crime (lack of correspondence between AR and MR).</a:t>
            </a:r>
          </a:p>
          <a:p>
            <a:endParaRPr lang="en-GB" dirty="0"/>
          </a:p>
          <a:p>
            <a:endParaRPr lang="en-GB" dirty="0"/>
          </a:p>
          <a:p>
            <a:endParaRPr lang="en-GB" dirty="0"/>
          </a:p>
          <a:p>
            <a:endParaRPr lang="en-GB" dirty="0"/>
          </a:p>
        </p:txBody>
      </p:sp>
      <p:graphicFrame>
        <p:nvGraphicFramePr>
          <p:cNvPr id="4" name="Table 4">
            <a:extLst>
              <a:ext uri="{FF2B5EF4-FFF2-40B4-BE49-F238E27FC236}">
                <a16:creationId xmlns:a16="http://schemas.microsoft.com/office/drawing/2014/main" id="{2234D60B-3653-5A45-80A7-FBF95C6E301E}"/>
              </a:ext>
            </a:extLst>
          </p:cNvPr>
          <p:cNvGraphicFramePr>
            <a:graphicFrameLocks/>
          </p:cNvGraphicFramePr>
          <p:nvPr>
            <p:extLst>
              <p:ext uri="{D42A27DB-BD31-4B8C-83A1-F6EECF244321}">
                <p14:modId xmlns:p14="http://schemas.microsoft.com/office/powerpoint/2010/main" val="3019644149"/>
              </p:ext>
            </p:extLst>
          </p:nvPr>
        </p:nvGraphicFramePr>
        <p:xfrm>
          <a:off x="1113316" y="2636912"/>
          <a:ext cx="6914193" cy="2759511"/>
        </p:xfrm>
        <a:graphic>
          <a:graphicData uri="http://schemas.openxmlformats.org/drawingml/2006/table">
            <a:tbl>
              <a:tblPr firstRow="1" firstCol="1">
                <a:tableStyleId>{93296810-A885-4BE3-A3E7-6D5BEEA58F35}</a:tableStyleId>
              </a:tblPr>
              <a:tblGrid>
                <a:gridCol w="2304731">
                  <a:extLst>
                    <a:ext uri="{9D8B030D-6E8A-4147-A177-3AD203B41FA5}">
                      <a16:colId xmlns:a16="http://schemas.microsoft.com/office/drawing/2014/main" val="1021476374"/>
                    </a:ext>
                  </a:extLst>
                </a:gridCol>
                <a:gridCol w="2304731">
                  <a:extLst>
                    <a:ext uri="{9D8B030D-6E8A-4147-A177-3AD203B41FA5}">
                      <a16:colId xmlns:a16="http://schemas.microsoft.com/office/drawing/2014/main" val="2140463186"/>
                    </a:ext>
                  </a:extLst>
                </a:gridCol>
                <a:gridCol w="2304731">
                  <a:extLst>
                    <a:ext uri="{9D8B030D-6E8A-4147-A177-3AD203B41FA5}">
                      <a16:colId xmlns:a16="http://schemas.microsoft.com/office/drawing/2014/main" val="1960672023"/>
                    </a:ext>
                  </a:extLst>
                </a:gridCol>
              </a:tblGrid>
              <a:tr h="808822">
                <a:tc>
                  <a:txBody>
                    <a:bodyPr/>
                    <a:lstStyle/>
                    <a:p>
                      <a:endParaRPr lang="en-GB" sz="2400" dirty="0">
                        <a:latin typeface="Arial" panose="020B0604020202020204" pitchFamily="34" charset="0"/>
                        <a:cs typeface="Arial" panose="020B0604020202020204" pitchFamily="34" charset="0"/>
                      </a:endParaRPr>
                    </a:p>
                  </a:txBody>
                  <a:tcPr>
                    <a:solidFill>
                      <a:srgbClr val="663366"/>
                    </a:solidFill>
                  </a:tcPr>
                </a:tc>
                <a:tc>
                  <a:txBody>
                    <a:bodyPr/>
                    <a:lstStyle/>
                    <a:p>
                      <a:r>
                        <a:rPr lang="en-GB" sz="2400" dirty="0">
                          <a:latin typeface="Arial" panose="020B0604020202020204" pitchFamily="34" charset="0"/>
                          <a:cs typeface="Arial" panose="020B0604020202020204" pitchFamily="34" charset="0"/>
                        </a:rPr>
                        <a:t>Actus reus</a:t>
                      </a:r>
                    </a:p>
                  </a:txBody>
                  <a:tcPr>
                    <a:solidFill>
                      <a:srgbClr val="663366"/>
                    </a:solidFill>
                  </a:tcPr>
                </a:tc>
                <a:tc>
                  <a:txBody>
                    <a:bodyPr/>
                    <a:lstStyle/>
                    <a:p>
                      <a:r>
                        <a:rPr lang="en-GB" sz="2400" dirty="0" err="1">
                          <a:latin typeface="Arial" panose="020B0604020202020204" pitchFamily="34" charset="0"/>
                          <a:cs typeface="Arial" panose="020B0604020202020204" pitchFamily="34" charset="0"/>
                        </a:rPr>
                        <a:t>Mens</a:t>
                      </a:r>
                      <a:r>
                        <a:rPr lang="en-GB" sz="2400" dirty="0">
                          <a:latin typeface="Arial" panose="020B0604020202020204" pitchFamily="34" charset="0"/>
                          <a:cs typeface="Arial" panose="020B0604020202020204" pitchFamily="34" charset="0"/>
                        </a:rPr>
                        <a:t> rea</a:t>
                      </a:r>
                    </a:p>
                  </a:txBody>
                  <a:tcPr>
                    <a:solidFill>
                      <a:srgbClr val="663366"/>
                    </a:solidFill>
                  </a:tcPr>
                </a:tc>
                <a:extLst>
                  <a:ext uri="{0D108BD9-81ED-4DB2-BD59-A6C34878D82A}">
                    <a16:rowId xmlns:a16="http://schemas.microsoft.com/office/drawing/2014/main" val="129563225"/>
                  </a:ext>
                </a:extLst>
              </a:tr>
              <a:tr h="1950689">
                <a:tc>
                  <a:txBody>
                    <a:bodyPr/>
                    <a:lstStyle/>
                    <a:p>
                      <a:r>
                        <a:rPr lang="en-GB" sz="2400" dirty="0">
                          <a:latin typeface="Arial" panose="020B0604020202020204" pitchFamily="34" charset="0"/>
                          <a:cs typeface="Arial" panose="020B0604020202020204" pitchFamily="34" charset="0"/>
                        </a:rPr>
                        <a:t>Result element</a:t>
                      </a:r>
                    </a:p>
                  </a:txBody>
                  <a:tcPr>
                    <a:solidFill>
                      <a:srgbClr val="663366"/>
                    </a:solidFill>
                  </a:tcPr>
                </a:tc>
                <a:tc>
                  <a:txBody>
                    <a:bodyPr/>
                    <a:lstStyle/>
                    <a:p>
                      <a:r>
                        <a:rPr lang="en-GB" sz="2400" dirty="0">
                          <a:latin typeface="Arial" panose="020B0604020202020204" pitchFamily="34" charset="0"/>
                          <a:cs typeface="Arial" panose="020B0604020202020204" pitchFamily="34" charset="0"/>
                        </a:rPr>
                        <a:t>Assault or battery which causes ABH</a:t>
                      </a:r>
                    </a:p>
                  </a:txBody>
                  <a:tcPr/>
                </a:tc>
                <a:tc>
                  <a:txBody>
                    <a:bodyPr/>
                    <a:lstStyle/>
                    <a:p>
                      <a:r>
                        <a:rPr lang="en-GB" sz="2400" b="0" dirty="0">
                          <a:latin typeface="Arial" panose="020B0604020202020204" pitchFamily="34" charset="0"/>
                          <a:cs typeface="Arial" panose="020B0604020202020204" pitchFamily="34" charset="0"/>
                        </a:rPr>
                        <a:t>The same as assault or battery</a:t>
                      </a:r>
                    </a:p>
                  </a:txBody>
                  <a:tcPr/>
                </a:tc>
                <a:extLst>
                  <a:ext uri="{0D108BD9-81ED-4DB2-BD59-A6C34878D82A}">
                    <a16:rowId xmlns:a16="http://schemas.microsoft.com/office/drawing/2014/main" val="236050657"/>
                  </a:ext>
                </a:extLst>
              </a:tr>
            </a:tbl>
          </a:graphicData>
        </a:graphic>
      </p:graphicFrame>
    </p:spTree>
    <p:extLst>
      <p:ext uri="{BB962C8B-B14F-4D97-AF65-F5344CB8AC3E}">
        <p14:creationId xmlns:p14="http://schemas.microsoft.com/office/powerpoint/2010/main" val="1615785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8B03A-D478-0540-9BD4-22FBC71BB293}"/>
              </a:ext>
            </a:extLst>
          </p:cNvPr>
          <p:cNvSpPr>
            <a:spLocks noGrp="1"/>
          </p:cNvSpPr>
          <p:nvPr>
            <p:ph type="title"/>
          </p:nvPr>
        </p:nvSpPr>
        <p:spPr>
          <a:xfrm>
            <a:off x="685800" y="609600"/>
            <a:ext cx="7772400" cy="746126"/>
          </a:xfrm>
        </p:spPr>
        <p:txBody>
          <a:bodyPr/>
          <a:lstStyle/>
          <a:p>
            <a:r>
              <a:rPr lang="en-GB" dirty="0"/>
              <a:t>Coincidence in time</a:t>
            </a:r>
          </a:p>
        </p:txBody>
      </p:sp>
      <p:sp>
        <p:nvSpPr>
          <p:cNvPr id="3" name="Content Placeholder 2">
            <a:extLst>
              <a:ext uri="{FF2B5EF4-FFF2-40B4-BE49-F238E27FC236}">
                <a16:creationId xmlns:a16="http://schemas.microsoft.com/office/drawing/2014/main" id="{FDAE4A38-231B-D646-9136-250EB7B814CB}"/>
              </a:ext>
            </a:extLst>
          </p:cNvPr>
          <p:cNvSpPr>
            <a:spLocks noGrp="1"/>
          </p:cNvSpPr>
          <p:nvPr>
            <p:ph idx="1"/>
          </p:nvPr>
        </p:nvSpPr>
        <p:spPr>
          <a:xfrm>
            <a:off x="684212" y="1587501"/>
            <a:ext cx="8131175" cy="4545011"/>
          </a:xfrm>
        </p:spPr>
        <p:txBody>
          <a:bodyPr/>
          <a:lstStyle/>
          <a:p>
            <a:pPr lvl="1"/>
            <a:r>
              <a:rPr lang="en-GB" sz="2400" dirty="0"/>
              <a:t>Coincidence is an absolute rule of law to which there are no exceptions – a lack of coincidence will mean a lack of liability. </a:t>
            </a:r>
          </a:p>
          <a:p>
            <a:pPr lvl="2"/>
            <a:r>
              <a:rPr lang="en-GB" sz="2400" dirty="0"/>
              <a:t>However, there are several cases where the courts have been ‘ingenious’</a:t>
            </a:r>
          </a:p>
          <a:p>
            <a:pPr lvl="2"/>
            <a:r>
              <a:rPr lang="en-GB" sz="1600" dirty="0"/>
              <a:t>For example, is this murder?:</a:t>
            </a:r>
          </a:p>
          <a:p>
            <a:pPr lvl="2"/>
            <a:r>
              <a:rPr lang="en-GB" sz="1600" dirty="0"/>
              <a:t>D shoots V – at the time of shooting (committing the AR conduct element), D holds the MR for the result element of murder (intent to kill).</a:t>
            </a:r>
          </a:p>
          <a:p>
            <a:pPr lvl="2"/>
            <a:r>
              <a:rPr lang="en-GB" sz="1600" dirty="0"/>
              <a:t>D thinks V is dead, so disposes of V’s body. </a:t>
            </a:r>
          </a:p>
          <a:p>
            <a:pPr lvl="2"/>
            <a:r>
              <a:rPr lang="en-GB" sz="1600" dirty="0"/>
              <a:t>V is not actually dead, but the actions taken by D to dispose of V’s body (burying V) cause V to die.</a:t>
            </a:r>
          </a:p>
          <a:p>
            <a:pPr lvl="2"/>
            <a:r>
              <a:rPr lang="en-GB" sz="1600" dirty="0"/>
              <a:t>At the time of actually killing V (the AR result element of murder) D does not hold the required MR for the result. </a:t>
            </a:r>
          </a:p>
          <a:p>
            <a:pPr lvl="2"/>
            <a:endParaRPr lang="en-GB" sz="2400" dirty="0"/>
          </a:p>
        </p:txBody>
      </p:sp>
    </p:spTree>
    <p:extLst>
      <p:ext uri="{BB962C8B-B14F-4D97-AF65-F5344CB8AC3E}">
        <p14:creationId xmlns:p14="http://schemas.microsoft.com/office/powerpoint/2010/main" val="1487331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D5612-9883-AD46-A9BB-59272E2355A4}"/>
              </a:ext>
            </a:extLst>
          </p:cNvPr>
          <p:cNvSpPr>
            <a:spLocks noGrp="1"/>
          </p:cNvSpPr>
          <p:nvPr>
            <p:ph type="title"/>
          </p:nvPr>
        </p:nvSpPr>
        <p:spPr>
          <a:xfrm>
            <a:off x="685800" y="609600"/>
            <a:ext cx="7772400" cy="659160"/>
          </a:xfrm>
        </p:spPr>
        <p:txBody>
          <a:bodyPr/>
          <a:lstStyle/>
          <a:p>
            <a:r>
              <a:rPr lang="en-GB" dirty="0"/>
              <a:t>Answer: yes</a:t>
            </a:r>
          </a:p>
        </p:txBody>
      </p:sp>
      <p:sp>
        <p:nvSpPr>
          <p:cNvPr id="3" name="Content Placeholder 2">
            <a:extLst>
              <a:ext uri="{FF2B5EF4-FFF2-40B4-BE49-F238E27FC236}">
                <a16:creationId xmlns:a16="http://schemas.microsoft.com/office/drawing/2014/main" id="{B85DAAD2-E3D1-314B-885C-C2F400C8BA1A}"/>
              </a:ext>
            </a:extLst>
          </p:cNvPr>
          <p:cNvSpPr>
            <a:spLocks noGrp="1"/>
          </p:cNvSpPr>
          <p:nvPr>
            <p:ph idx="1"/>
          </p:nvPr>
        </p:nvSpPr>
        <p:spPr>
          <a:xfrm>
            <a:off x="684212" y="1355727"/>
            <a:ext cx="8131175" cy="4776786"/>
          </a:xfrm>
        </p:spPr>
        <p:txBody>
          <a:bodyPr>
            <a:normAutofit/>
          </a:bodyPr>
          <a:lstStyle/>
          <a:p>
            <a:r>
              <a:rPr lang="en-GB" i="1" dirty="0"/>
              <a:t>Thabo </a:t>
            </a:r>
            <a:r>
              <a:rPr lang="en-GB" i="1" dirty="0" err="1"/>
              <a:t>Meli</a:t>
            </a:r>
            <a:r>
              <a:rPr lang="en-GB" dirty="0"/>
              <a:t> [1954] 1 All ER 373:</a:t>
            </a:r>
          </a:p>
          <a:p>
            <a:pPr lvl="1"/>
            <a:r>
              <a:rPr lang="en-GB" dirty="0"/>
              <a:t>Cannot divide up what is actually a series of acts.</a:t>
            </a:r>
          </a:p>
          <a:p>
            <a:pPr lvl="1"/>
            <a:r>
              <a:rPr lang="en-GB" dirty="0"/>
              <a:t>Antecedent plan.</a:t>
            </a:r>
          </a:p>
          <a:p>
            <a:r>
              <a:rPr lang="en-GB" i="1" dirty="0"/>
              <a:t>Church</a:t>
            </a:r>
            <a:r>
              <a:rPr lang="en-GB" dirty="0"/>
              <a:t> [1966] 1 QB 59:</a:t>
            </a:r>
          </a:p>
          <a:p>
            <a:pPr lvl="1"/>
            <a:r>
              <a:rPr lang="en-GB" dirty="0"/>
              <a:t>Similar events (different times for AR and MR element).</a:t>
            </a:r>
          </a:p>
          <a:p>
            <a:pPr lvl="1"/>
            <a:r>
              <a:rPr lang="en-GB" dirty="0"/>
              <a:t>No antecedent plan. </a:t>
            </a:r>
          </a:p>
          <a:p>
            <a:pPr lvl="1"/>
            <a:r>
              <a:rPr lang="en-GB" dirty="0"/>
              <a:t>D’s conduct constituted ‘a series of acts which culminated in [V’s] death’. </a:t>
            </a:r>
          </a:p>
          <a:p>
            <a:r>
              <a:rPr lang="en-GB" i="1" dirty="0"/>
              <a:t>Le Brun</a:t>
            </a:r>
            <a:r>
              <a:rPr lang="en-GB" dirty="0"/>
              <a:t> [1992] QB 61:</a:t>
            </a:r>
          </a:p>
          <a:p>
            <a:pPr lvl="1"/>
            <a:r>
              <a:rPr lang="en-GB" dirty="0"/>
              <a:t>Held it was immaterial that there was no preconceived plan. Principles from </a:t>
            </a:r>
            <a:r>
              <a:rPr lang="en-GB" i="1" dirty="0"/>
              <a:t>Church</a:t>
            </a:r>
            <a:r>
              <a:rPr lang="en-GB" dirty="0"/>
              <a:t> apply to murder as well as manslaughter. </a:t>
            </a:r>
          </a:p>
          <a:p>
            <a:pPr lvl="1"/>
            <a:r>
              <a:rPr lang="en-GB" dirty="0"/>
              <a:t>D knocked his wife unconscious and while attempting to drag her body he dropped and killed her. </a:t>
            </a:r>
          </a:p>
          <a:p>
            <a:pPr lvl="1"/>
            <a:r>
              <a:rPr lang="en-GB" dirty="0"/>
              <a:t>Ruled it would be murder as long as D had intent to cause death or GBH when he first struck her. </a:t>
            </a:r>
          </a:p>
          <a:p>
            <a:endParaRPr lang="en-GB" dirty="0"/>
          </a:p>
        </p:txBody>
      </p:sp>
    </p:spTree>
    <p:extLst>
      <p:ext uri="{BB962C8B-B14F-4D97-AF65-F5344CB8AC3E}">
        <p14:creationId xmlns:p14="http://schemas.microsoft.com/office/powerpoint/2010/main" val="2491037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E2C19-E219-9C8B-F3D7-37CF0164BDFB}"/>
              </a:ext>
            </a:extLst>
          </p:cNvPr>
          <p:cNvSpPr>
            <a:spLocks noGrp="1"/>
          </p:cNvSpPr>
          <p:nvPr>
            <p:ph type="title"/>
          </p:nvPr>
        </p:nvSpPr>
        <p:spPr/>
        <p:txBody>
          <a:bodyPr/>
          <a:lstStyle/>
          <a:p>
            <a:r>
              <a:rPr lang="en-GB" dirty="0"/>
              <a:t>Summary: Intention</a:t>
            </a:r>
          </a:p>
        </p:txBody>
      </p:sp>
      <p:sp>
        <p:nvSpPr>
          <p:cNvPr id="3" name="Content Placeholder 2">
            <a:extLst>
              <a:ext uri="{FF2B5EF4-FFF2-40B4-BE49-F238E27FC236}">
                <a16:creationId xmlns:a16="http://schemas.microsoft.com/office/drawing/2014/main" id="{C702EFF1-5C12-54C1-ADFD-0CDA7F432AB6}"/>
              </a:ext>
            </a:extLst>
          </p:cNvPr>
          <p:cNvSpPr>
            <a:spLocks noGrp="1"/>
          </p:cNvSpPr>
          <p:nvPr>
            <p:ph idx="1"/>
          </p:nvPr>
        </p:nvSpPr>
        <p:spPr/>
        <p:txBody>
          <a:bodyPr/>
          <a:lstStyle/>
          <a:p>
            <a:r>
              <a:rPr lang="en-GB" b="1" dirty="0"/>
              <a:t>Question 1</a:t>
            </a:r>
            <a:r>
              <a:rPr lang="en-GB" dirty="0"/>
              <a:t>: was the outcome the defendant’s main aim or purpose? (Moloney)</a:t>
            </a:r>
          </a:p>
          <a:p>
            <a:r>
              <a:rPr lang="en-GB" dirty="0"/>
              <a:t>•	If yes, they intended that outcome</a:t>
            </a:r>
          </a:p>
          <a:p>
            <a:r>
              <a:rPr lang="en-GB" dirty="0"/>
              <a:t>•	If no, go to question 2</a:t>
            </a:r>
          </a:p>
          <a:p>
            <a:endParaRPr lang="en-GB" dirty="0"/>
          </a:p>
          <a:p>
            <a:r>
              <a:rPr lang="en-GB" b="1" dirty="0"/>
              <a:t>Question 2: </a:t>
            </a:r>
            <a:r>
              <a:rPr lang="en-GB" dirty="0"/>
              <a:t>was the outcome a virtually certain consequence of the defendant’s actions and did the defendant realise that the result was a virtually certain consequence? (</a:t>
            </a:r>
            <a:r>
              <a:rPr lang="en-GB" dirty="0" err="1"/>
              <a:t>Woollin</a:t>
            </a:r>
            <a:r>
              <a:rPr lang="en-GB" dirty="0"/>
              <a:t>)</a:t>
            </a:r>
          </a:p>
          <a:p>
            <a:r>
              <a:rPr lang="en-GB" dirty="0"/>
              <a:t>•	If yes, the jury may, but are not obliged to, find that the defendant intended that outcome (Matthews)</a:t>
            </a:r>
          </a:p>
          <a:p>
            <a:r>
              <a:rPr lang="en-GB" dirty="0"/>
              <a:t>•	If no, the defendant did not intend it</a:t>
            </a:r>
          </a:p>
          <a:p>
            <a:endParaRPr lang="en-GB" dirty="0"/>
          </a:p>
        </p:txBody>
      </p:sp>
    </p:spTree>
    <p:extLst>
      <p:ext uri="{BB962C8B-B14F-4D97-AF65-F5344CB8AC3E}">
        <p14:creationId xmlns:p14="http://schemas.microsoft.com/office/powerpoint/2010/main" val="3455869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1A7F6-6D1E-519D-F7EF-CF8CC4F264E6}"/>
              </a:ext>
            </a:extLst>
          </p:cNvPr>
          <p:cNvSpPr>
            <a:spLocks noGrp="1"/>
          </p:cNvSpPr>
          <p:nvPr>
            <p:ph type="title"/>
          </p:nvPr>
        </p:nvSpPr>
        <p:spPr/>
        <p:txBody>
          <a:bodyPr/>
          <a:lstStyle/>
          <a:p>
            <a:r>
              <a:rPr lang="en-GB" dirty="0"/>
              <a:t>Summary: Recklessness </a:t>
            </a:r>
          </a:p>
        </p:txBody>
      </p:sp>
      <p:sp>
        <p:nvSpPr>
          <p:cNvPr id="3" name="Content Placeholder 2">
            <a:extLst>
              <a:ext uri="{FF2B5EF4-FFF2-40B4-BE49-F238E27FC236}">
                <a16:creationId xmlns:a16="http://schemas.microsoft.com/office/drawing/2014/main" id="{D7137ECC-B58A-0473-4A42-94A4F185DD2A}"/>
              </a:ext>
            </a:extLst>
          </p:cNvPr>
          <p:cNvSpPr>
            <a:spLocks noGrp="1"/>
          </p:cNvSpPr>
          <p:nvPr>
            <p:ph idx="1"/>
          </p:nvPr>
        </p:nvSpPr>
        <p:spPr/>
        <p:txBody>
          <a:bodyPr/>
          <a:lstStyle/>
          <a:p>
            <a:pPr>
              <a:buFont typeface="Arial" panose="020B0604020202020204" pitchFamily="34" charset="0"/>
              <a:buChar char="•"/>
            </a:pPr>
            <a:r>
              <a:rPr lang="en-GB" sz="2000" dirty="0"/>
              <a:t>Recklessness has a subjective meaning, following </a:t>
            </a:r>
            <a:r>
              <a:rPr lang="en-GB" sz="2000" b="1" dirty="0"/>
              <a:t>R v G (2003). </a:t>
            </a:r>
          </a:p>
          <a:p>
            <a:pPr>
              <a:buFont typeface="Arial" panose="020B0604020202020204" pitchFamily="34" charset="0"/>
              <a:buChar char="•"/>
            </a:pPr>
            <a:r>
              <a:rPr lang="en-GB" sz="2000" dirty="0"/>
              <a:t>A person acts recklessly with respect to a circumstance when he is: </a:t>
            </a:r>
          </a:p>
          <a:p>
            <a:pPr lvl="1">
              <a:buFont typeface="Arial" panose="020B0604020202020204" pitchFamily="34" charset="0"/>
              <a:buChar char="•"/>
            </a:pPr>
            <a:r>
              <a:rPr lang="en-GB" sz="2000" dirty="0"/>
              <a:t>a) </a:t>
            </a:r>
            <a:r>
              <a:rPr lang="en-GB" sz="2000" b="1" dirty="0"/>
              <a:t>aware of a risk </a:t>
            </a:r>
            <a:r>
              <a:rPr lang="en-GB" sz="2000" dirty="0"/>
              <a:t>that it exists or will exist and with respect to a result when he is aware of a risk that it will occur, </a:t>
            </a:r>
          </a:p>
          <a:p>
            <a:pPr lvl="1">
              <a:buFont typeface="Arial" panose="020B0604020202020204" pitchFamily="34" charset="0"/>
              <a:buChar char="•"/>
            </a:pPr>
            <a:r>
              <a:rPr lang="en-GB" sz="2000" dirty="0"/>
              <a:t>b) it is in the circumstances known to him </a:t>
            </a:r>
            <a:r>
              <a:rPr lang="en-GB" sz="2000" b="1" dirty="0"/>
              <a:t>unreasonable to take the risk.</a:t>
            </a:r>
          </a:p>
          <a:p>
            <a:pPr>
              <a:buFont typeface="Arial" panose="020B0604020202020204" pitchFamily="34" charset="0"/>
              <a:buChar char="•"/>
            </a:pPr>
            <a:r>
              <a:rPr lang="en-GB" sz="2000" dirty="0"/>
              <a:t>‘Wilfully’ and ‘maliciously’ have the same meaning as recklessly. </a:t>
            </a:r>
          </a:p>
          <a:p>
            <a:pPr marL="457200" lvl="1" indent="0">
              <a:buNone/>
            </a:pPr>
            <a:endParaRPr lang="en-GB" sz="2000" dirty="0"/>
          </a:p>
        </p:txBody>
      </p:sp>
    </p:spTree>
    <p:extLst>
      <p:ext uri="{BB962C8B-B14F-4D97-AF65-F5344CB8AC3E}">
        <p14:creationId xmlns:p14="http://schemas.microsoft.com/office/powerpoint/2010/main" val="616996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DA1A7-8729-6CC9-2906-3ADEE9E2087F}"/>
              </a:ext>
            </a:extLst>
          </p:cNvPr>
          <p:cNvSpPr>
            <a:spLocks noGrp="1"/>
          </p:cNvSpPr>
          <p:nvPr>
            <p:ph type="title"/>
          </p:nvPr>
        </p:nvSpPr>
        <p:spPr/>
        <p:txBody>
          <a:bodyPr/>
          <a:lstStyle/>
          <a:p>
            <a:r>
              <a:rPr lang="en-GB" dirty="0"/>
              <a:t>Summary: Other factors</a:t>
            </a:r>
          </a:p>
        </p:txBody>
      </p:sp>
      <p:sp>
        <p:nvSpPr>
          <p:cNvPr id="3" name="Content Placeholder 2">
            <a:extLst>
              <a:ext uri="{FF2B5EF4-FFF2-40B4-BE49-F238E27FC236}">
                <a16:creationId xmlns:a16="http://schemas.microsoft.com/office/drawing/2014/main" id="{8928E2F6-FB3D-2B97-BF9A-0292E0322A17}"/>
              </a:ext>
            </a:extLst>
          </p:cNvPr>
          <p:cNvSpPr>
            <a:spLocks noGrp="1"/>
          </p:cNvSpPr>
          <p:nvPr>
            <p:ph idx="1"/>
          </p:nvPr>
        </p:nvSpPr>
        <p:spPr/>
        <p:txBody>
          <a:bodyPr/>
          <a:lstStyle/>
          <a:p>
            <a:pPr>
              <a:buFont typeface="Arial" panose="020B0604020202020204" pitchFamily="34" charset="0"/>
              <a:buChar char="•"/>
            </a:pPr>
            <a:r>
              <a:rPr lang="en-GB" sz="1600" b="1" dirty="0"/>
              <a:t>Strict Liability </a:t>
            </a:r>
          </a:p>
          <a:p>
            <a:pPr>
              <a:buFont typeface="Arial" panose="020B0604020202020204" pitchFamily="34" charset="0"/>
              <a:buChar char="•"/>
            </a:pPr>
            <a:r>
              <a:rPr lang="en-GB" sz="1600" dirty="0"/>
              <a:t>There is a presumption that MR is required but this can be rebutted. Refers to the small number of offences that can be committed without any MR. </a:t>
            </a:r>
          </a:p>
          <a:p>
            <a:pPr>
              <a:buFont typeface="Arial" panose="020B0604020202020204" pitchFamily="34" charset="0"/>
              <a:buChar char="•"/>
            </a:pPr>
            <a:r>
              <a:rPr lang="en-GB" sz="1600" b="1" dirty="0"/>
              <a:t>Mistake</a:t>
            </a:r>
          </a:p>
          <a:p>
            <a:pPr>
              <a:buFont typeface="Arial" panose="020B0604020202020204" pitchFamily="34" charset="0"/>
              <a:buChar char="•"/>
            </a:pPr>
            <a:r>
              <a:rPr lang="en-GB" sz="1600" dirty="0"/>
              <a:t>A mistake </a:t>
            </a:r>
            <a:r>
              <a:rPr lang="en-GB" sz="1600" i="1" dirty="0"/>
              <a:t>may</a:t>
            </a:r>
            <a:r>
              <a:rPr lang="en-GB" sz="1600" dirty="0"/>
              <a:t> negate liability where D has a genuine, honest belief about the existence of an element of the actus reus.</a:t>
            </a:r>
          </a:p>
          <a:p>
            <a:pPr>
              <a:buFont typeface="Arial" panose="020B0604020202020204" pitchFamily="34" charset="0"/>
              <a:buChar char="•"/>
            </a:pPr>
            <a:r>
              <a:rPr lang="en-GB" sz="1600" dirty="0"/>
              <a:t>Ignorance of mistake as to the law is irrelevant.</a:t>
            </a:r>
          </a:p>
          <a:p>
            <a:pPr>
              <a:buFont typeface="Arial" panose="020B0604020202020204" pitchFamily="34" charset="0"/>
              <a:buChar char="•"/>
            </a:pPr>
            <a:r>
              <a:rPr lang="en-GB" sz="1600" b="1" dirty="0"/>
              <a:t>Transferred malice</a:t>
            </a:r>
          </a:p>
          <a:p>
            <a:pPr>
              <a:buFont typeface="Arial" panose="020B0604020202020204" pitchFamily="34" charset="0"/>
              <a:buChar char="•"/>
            </a:pPr>
            <a:r>
              <a:rPr lang="en-GB" sz="1600" dirty="0"/>
              <a:t>If D acts with MR that MR will transfer if the AR is the same offence even if the object or subject of the offence is different to that originally intended by D. </a:t>
            </a:r>
          </a:p>
          <a:p>
            <a:pPr>
              <a:buFont typeface="Arial" panose="020B0604020202020204" pitchFamily="34" charset="0"/>
              <a:buChar char="•"/>
            </a:pPr>
            <a:r>
              <a:rPr lang="en-GB" sz="1600" b="1" dirty="0"/>
              <a:t>Constructive </a:t>
            </a:r>
            <a:r>
              <a:rPr lang="en-GB" sz="1600" b="1" dirty="0" err="1"/>
              <a:t>mens</a:t>
            </a:r>
            <a:r>
              <a:rPr lang="en-GB" sz="1600" b="1" dirty="0"/>
              <a:t> rea</a:t>
            </a:r>
          </a:p>
          <a:p>
            <a:pPr>
              <a:buFont typeface="Arial" panose="020B0604020202020204" pitchFamily="34" charset="0"/>
              <a:buChar char="•"/>
            </a:pPr>
            <a:r>
              <a:rPr lang="en-GB" sz="1600" dirty="0"/>
              <a:t>A small number of offences require the </a:t>
            </a:r>
            <a:r>
              <a:rPr lang="en-GB" sz="1600" dirty="0" err="1"/>
              <a:t>mens</a:t>
            </a:r>
            <a:r>
              <a:rPr lang="en-GB" sz="1600" dirty="0"/>
              <a:t> rea for a ‘lesser’ offence than the one committed. This is usually when the injury is greater than that intended. </a:t>
            </a:r>
          </a:p>
          <a:p>
            <a:pPr>
              <a:buFont typeface="Arial" panose="020B0604020202020204" pitchFamily="34" charset="0"/>
              <a:buChar char="•"/>
            </a:pPr>
            <a:r>
              <a:rPr lang="en-GB" sz="1600" b="1" dirty="0"/>
              <a:t>Coincidence as to time</a:t>
            </a:r>
          </a:p>
          <a:p>
            <a:pPr>
              <a:buFont typeface="Arial" panose="020B0604020202020204" pitchFamily="34" charset="0"/>
              <a:buChar char="•"/>
            </a:pPr>
            <a:r>
              <a:rPr lang="en-GB" sz="1600" dirty="0"/>
              <a:t>Generally the AR and MR must coincide but see cases where this is stretched.</a:t>
            </a:r>
          </a:p>
          <a:p>
            <a:endParaRPr lang="en-GB" dirty="0"/>
          </a:p>
        </p:txBody>
      </p:sp>
    </p:spTree>
    <p:extLst>
      <p:ext uri="{BB962C8B-B14F-4D97-AF65-F5344CB8AC3E}">
        <p14:creationId xmlns:p14="http://schemas.microsoft.com/office/powerpoint/2010/main" val="3365945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AA703-AA14-FC8E-5715-F9476BDFB003}"/>
              </a:ext>
            </a:extLst>
          </p:cNvPr>
          <p:cNvSpPr>
            <a:spLocks noGrp="1"/>
          </p:cNvSpPr>
          <p:nvPr>
            <p:ph type="title"/>
          </p:nvPr>
        </p:nvSpPr>
        <p:spPr/>
        <p:txBody>
          <a:bodyPr/>
          <a:lstStyle/>
          <a:p>
            <a:r>
              <a:rPr lang="en-GB" dirty="0"/>
              <a:t>Assessment preparation</a:t>
            </a:r>
          </a:p>
        </p:txBody>
      </p:sp>
      <p:sp>
        <p:nvSpPr>
          <p:cNvPr id="3" name="Content Placeholder 2">
            <a:extLst>
              <a:ext uri="{FF2B5EF4-FFF2-40B4-BE49-F238E27FC236}">
                <a16:creationId xmlns:a16="http://schemas.microsoft.com/office/drawing/2014/main" id="{6C8060D5-C50C-8DB6-3276-ACAB6233871E}"/>
              </a:ext>
            </a:extLst>
          </p:cNvPr>
          <p:cNvSpPr>
            <a:spLocks noGrp="1"/>
          </p:cNvSpPr>
          <p:nvPr>
            <p:ph idx="1"/>
          </p:nvPr>
        </p:nvSpPr>
        <p:spPr/>
        <p:txBody>
          <a:bodyPr/>
          <a:lstStyle/>
          <a:p>
            <a:pPr>
              <a:buFont typeface="Arial" panose="020B0604020202020204" pitchFamily="34" charset="0"/>
              <a:buChar char="•"/>
            </a:pPr>
            <a:r>
              <a:rPr lang="en-GB" dirty="0"/>
              <a:t>Understanding MR is essential to all aspects of the Criminal law.</a:t>
            </a:r>
          </a:p>
          <a:p>
            <a:pPr>
              <a:buFont typeface="Arial" panose="020B0604020202020204" pitchFamily="34" charset="0"/>
              <a:buChar char="•"/>
            </a:pPr>
            <a:r>
              <a:rPr lang="en-GB" dirty="0"/>
              <a:t>In a problem-based question you will always need to have considered MR in detail.</a:t>
            </a:r>
          </a:p>
          <a:p>
            <a:pPr>
              <a:buFont typeface="Arial" panose="020B0604020202020204" pitchFamily="34" charset="0"/>
              <a:buChar char="•"/>
            </a:pPr>
            <a:r>
              <a:rPr lang="en-GB" dirty="0"/>
              <a:t>Make sure you discuss the different possible basis on which MR may be established along with case law and apply the law to the factual scenario.</a:t>
            </a:r>
          </a:p>
          <a:p>
            <a:pPr>
              <a:buFont typeface="Arial" panose="020B0604020202020204" pitchFamily="34" charset="0"/>
              <a:buChar char="•"/>
            </a:pPr>
            <a:r>
              <a:rPr lang="en-GB" dirty="0"/>
              <a:t>As essay-based question is unlikely to focus solely on MR but may be very relevant to how the law operates in relation to all other areas that you will study on the course.</a:t>
            </a:r>
          </a:p>
        </p:txBody>
      </p:sp>
    </p:spTree>
    <p:extLst>
      <p:ext uri="{BB962C8B-B14F-4D97-AF65-F5344CB8AC3E}">
        <p14:creationId xmlns:p14="http://schemas.microsoft.com/office/powerpoint/2010/main" val="413390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D35F9-5E87-4104-962C-D5121ED11633}"/>
              </a:ext>
            </a:extLst>
          </p:cNvPr>
          <p:cNvSpPr>
            <a:spLocks noGrp="1"/>
          </p:cNvSpPr>
          <p:nvPr>
            <p:ph type="title"/>
          </p:nvPr>
        </p:nvSpPr>
        <p:spPr/>
        <p:txBody>
          <a:bodyPr/>
          <a:lstStyle/>
          <a:p>
            <a:r>
              <a:rPr lang="en-GB" dirty="0"/>
              <a:t>Non-fatal offences against the person</a:t>
            </a:r>
          </a:p>
        </p:txBody>
      </p:sp>
      <p:sp>
        <p:nvSpPr>
          <p:cNvPr id="3" name="Text Placeholder 2">
            <a:extLst>
              <a:ext uri="{FF2B5EF4-FFF2-40B4-BE49-F238E27FC236}">
                <a16:creationId xmlns:a16="http://schemas.microsoft.com/office/drawing/2014/main" id="{47C31061-94A1-4602-906F-C9490ED36D02}"/>
              </a:ext>
            </a:extLst>
          </p:cNvPr>
          <p:cNvSpPr>
            <a:spLocks noGrp="1"/>
          </p:cNvSpPr>
          <p:nvPr>
            <p:ph type="body" idx="1"/>
          </p:nvPr>
        </p:nvSpPr>
        <p:spPr/>
        <p:txBody>
          <a:bodyPr/>
          <a:lstStyle/>
          <a:p>
            <a:r>
              <a:rPr lang="en-GB" dirty="0"/>
              <a:t>Next Week: Dr Emma Milne</a:t>
            </a:r>
          </a:p>
        </p:txBody>
      </p:sp>
    </p:spTree>
    <p:extLst>
      <p:ext uri="{BB962C8B-B14F-4D97-AF65-F5344CB8AC3E}">
        <p14:creationId xmlns:p14="http://schemas.microsoft.com/office/powerpoint/2010/main" val="2664227356"/>
      </p:ext>
    </p:extLst>
  </p:cSld>
  <p:clrMapOvr>
    <a:masterClrMapping/>
  </p:clrMapOvr>
  <p:transition spd="med">
    <p:pull/>
  </p:transition>
</p:sld>
</file>

<file path=ppt/theme/theme1.xml><?xml version="1.0" encoding="utf-8"?>
<a:theme xmlns:a="http://schemas.openxmlformats.org/drawingml/2006/main" name="Lecture 1">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pen Day Presentation">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1</Template>
  <TotalTime>11626</TotalTime>
  <Words>2427</Words>
  <Application>Microsoft Macintosh PowerPoint</Application>
  <PresentationFormat>On-screen Show (4:3)</PresentationFormat>
  <Paragraphs>224</Paragraphs>
  <Slides>26</Slides>
  <Notes>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26</vt:i4>
      </vt:variant>
    </vt:vector>
  </HeadingPairs>
  <TitlesOfParts>
    <vt:vector size="32" baseType="lpstr">
      <vt:lpstr>Arial</vt:lpstr>
      <vt:lpstr>Gill Sans MT</vt:lpstr>
      <vt:lpstr>Times</vt:lpstr>
      <vt:lpstr>Times New Roman</vt:lpstr>
      <vt:lpstr>Lecture 1</vt:lpstr>
      <vt:lpstr>Open Day Presentation</vt:lpstr>
      <vt:lpstr>Lecture 3: Mens Rea</vt:lpstr>
      <vt:lpstr>By the end of this lecture, you should be able to:</vt:lpstr>
      <vt:lpstr>Forms of mens rea: culpability</vt:lpstr>
      <vt:lpstr>Objective and Subjective MR</vt:lpstr>
      <vt:lpstr>Intention</vt:lpstr>
      <vt:lpstr>Intention: current position in law</vt:lpstr>
      <vt:lpstr>Direct intention</vt:lpstr>
      <vt:lpstr>Oblique intention</vt:lpstr>
      <vt:lpstr>Knowledge</vt:lpstr>
      <vt:lpstr>Belief</vt:lpstr>
      <vt:lpstr>Recklessness: current test</vt:lpstr>
      <vt:lpstr>(a) Subjective limb</vt:lpstr>
      <vt:lpstr>(b) Objective limb</vt:lpstr>
      <vt:lpstr>Wilfulness</vt:lpstr>
      <vt:lpstr>Negligence</vt:lpstr>
      <vt:lpstr>Strict Liability</vt:lpstr>
      <vt:lpstr>Mistake</vt:lpstr>
      <vt:lpstr>Transferred Malice</vt:lpstr>
      <vt:lpstr>Constructed liability</vt:lpstr>
      <vt:lpstr>Coincidence in time</vt:lpstr>
      <vt:lpstr>Answer: yes</vt:lpstr>
      <vt:lpstr>Summary: Intention</vt:lpstr>
      <vt:lpstr>Summary: Recklessness </vt:lpstr>
      <vt:lpstr>Summary: Other factors</vt:lpstr>
      <vt:lpstr>Assessment preparation</vt:lpstr>
      <vt:lpstr>Non-fatal offences against the person</vt:lpstr>
    </vt:vector>
  </TitlesOfParts>
  <Company>Durham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Fatal  Offences Against the Person</dc:title>
  <dc:creator>Jonathan Doak</dc:creator>
  <cp:lastModifiedBy>Emma Milne</cp:lastModifiedBy>
  <cp:revision>108</cp:revision>
  <cp:lastPrinted>2022-09-28T11:18:09Z</cp:lastPrinted>
  <dcterms:created xsi:type="dcterms:W3CDTF">2012-10-25T14:10:47Z</dcterms:created>
  <dcterms:modified xsi:type="dcterms:W3CDTF">2024-09-30T16:14:34Z</dcterms:modified>
</cp:coreProperties>
</file>